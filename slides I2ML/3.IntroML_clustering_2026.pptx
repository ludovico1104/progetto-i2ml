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slides/slide6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Layouts/slideLayout13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3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2.xml" ContentType="application/vnd.openxmlformats-officedocument.presentationml.notesSlide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4" r:id="rId1"/>
  </p:sldMasterIdLst>
  <p:notesMasterIdLst>
    <p:notesMasterId r:id="rId68"/>
  </p:notesMasterIdLst>
  <p:handoutMasterIdLst>
    <p:handoutMasterId r:id="rId69"/>
  </p:handoutMasterIdLst>
  <p:sldIdLst>
    <p:sldId id="1168" r:id="rId2"/>
    <p:sldId id="51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1189" r:id="rId13"/>
    <p:sldId id="545" r:id="rId14"/>
    <p:sldId id="517" r:id="rId15"/>
    <p:sldId id="518" r:id="rId16"/>
    <p:sldId id="519" r:id="rId17"/>
    <p:sldId id="520" r:id="rId18"/>
    <p:sldId id="521" r:id="rId19"/>
    <p:sldId id="522" r:id="rId20"/>
    <p:sldId id="550" r:id="rId21"/>
    <p:sldId id="523" r:id="rId22"/>
    <p:sldId id="524" r:id="rId23"/>
    <p:sldId id="525" r:id="rId24"/>
    <p:sldId id="526" r:id="rId25"/>
    <p:sldId id="552" r:id="rId26"/>
    <p:sldId id="551" r:id="rId27"/>
    <p:sldId id="555" r:id="rId28"/>
    <p:sldId id="664" r:id="rId29"/>
    <p:sldId id="556" r:id="rId30"/>
    <p:sldId id="654" r:id="rId31"/>
    <p:sldId id="658" r:id="rId32"/>
    <p:sldId id="557" r:id="rId33"/>
    <p:sldId id="561" r:id="rId34"/>
    <p:sldId id="558" r:id="rId35"/>
    <p:sldId id="659" r:id="rId36"/>
    <p:sldId id="660" r:id="rId37"/>
    <p:sldId id="661" r:id="rId38"/>
    <p:sldId id="662" r:id="rId39"/>
    <p:sldId id="565" r:id="rId40"/>
    <p:sldId id="566" r:id="rId41"/>
    <p:sldId id="567" r:id="rId42"/>
    <p:sldId id="568" r:id="rId43"/>
    <p:sldId id="569" r:id="rId44"/>
    <p:sldId id="287" r:id="rId45"/>
    <p:sldId id="647" r:id="rId46"/>
    <p:sldId id="648" r:id="rId47"/>
    <p:sldId id="651" r:id="rId48"/>
    <p:sldId id="649" r:id="rId49"/>
    <p:sldId id="652" r:id="rId50"/>
    <p:sldId id="650" r:id="rId51"/>
    <p:sldId id="653" r:id="rId52"/>
    <p:sldId id="572" r:id="rId53"/>
    <p:sldId id="288" r:id="rId54"/>
    <p:sldId id="1188" r:id="rId55"/>
    <p:sldId id="740" r:id="rId56"/>
    <p:sldId id="741" r:id="rId57"/>
    <p:sldId id="742" r:id="rId58"/>
    <p:sldId id="743" r:id="rId59"/>
    <p:sldId id="744" r:id="rId60"/>
    <p:sldId id="745" r:id="rId61"/>
    <p:sldId id="746" r:id="rId62"/>
    <p:sldId id="747" r:id="rId63"/>
    <p:sldId id="748" r:id="rId64"/>
    <p:sldId id="749" r:id="rId65"/>
    <p:sldId id="750" r:id="rId66"/>
    <p:sldId id="751" r:id="rId6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193"/>
    <a:srgbClr val="0096FF"/>
    <a:srgbClr val="00FB92"/>
    <a:srgbClr val="FF2F92"/>
    <a:srgbClr val="FF8AD8"/>
    <a:srgbClr val="FF8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Stile chi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2DE63D5-997A-4646-A377-4702673A728D}" styleName="Stile chiaro 2 - Color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93D81CF-94F2-401A-BA57-92F5A7B2D0C5}" styleName="Stile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97" autoAdjust="0"/>
    <p:restoredTop sz="86374" autoAdjust="0"/>
  </p:normalViewPr>
  <p:slideViewPr>
    <p:cSldViewPr snapToGrid="0" snapToObjects="1">
      <p:cViewPr varScale="1">
        <p:scale>
          <a:sx n="138" d="100"/>
          <a:sy n="138" d="100"/>
        </p:scale>
        <p:origin x="392" y="1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  <p:sld r:id="rId24" collapse="1"/>
      <p:sld r:id="rId25" collapse="1"/>
      <p:sld r:id="rId26" collapse="1"/>
      <p:sld r:id="rId27" collapse="1"/>
      <p:sld r:id="rId28" collapse="1"/>
      <p:sld r:id="rId29" collapse="1"/>
      <p:sld r:id="rId30" collapse="1"/>
      <p:sld r:id="rId31" collapse="1"/>
      <p:sld r:id="rId32" collapse="1"/>
      <p:sld r:id="rId33" collapse="1"/>
      <p:sld r:id="rId34" collapse="1"/>
      <p:sld r:id="rId35" collapse="1"/>
      <p:sld r:id="rId36" collapse="1"/>
    </p:sldLst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5" d="100"/>
        <a:sy n="145" d="100"/>
      </p:scale>
      <p:origin x="0" y="0"/>
    </p:cViewPr>
  </p:sorterViewPr>
  <p:notesViewPr>
    <p:cSldViewPr snapToGrid="0" snapToObjects="1">
      <p:cViewPr varScale="1">
        <p:scale>
          <a:sx n="80" d="100"/>
          <a:sy n="80" d="100"/>
        </p:scale>
        <p:origin x="-3462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customXml" Target="../customXml/item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75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customXml" Target="../customXml/item3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13" Type="http://schemas.openxmlformats.org/officeDocument/2006/relationships/slide" Target="slides/slide25.xml"/><Relationship Id="rId18" Type="http://schemas.openxmlformats.org/officeDocument/2006/relationships/slide" Target="slides/slide33.xml"/><Relationship Id="rId26" Type="http://schemas.openxmlformats.org/officeDocument/2006/relationships/slide" Target="slides/slide41.xml"/><Relationship Id="rId3" Type="http://schemas.openxmlformats.org/officeDocument/2006/relationships/slide" Target="slides/slide14.xml"/><Relationship Id="rId21" Type="http://schemas.openxmlformats.org/officeDocument/2006/relationships/slide" Target="slides/slide36.xml"/><Relationship Id="rId34" Type="http://schemas.openxmlformats.org/officeDocument/2006/relationships/slide" Target="slides/slide50.xml"/><Relationship Id="rId7" Type="http://schemas.openxmlformats.org/officeDocument/2006/relationships/slide" Target="slides/slide18.xml"/><Relationship Id="rId12" Type="http://schemas.openxmlformats.org/officeDocument/2006/relationships/slide" Target="slides/slide24.xml"/><Relationship Id="rId17" Type="http://schemas.openxmlformats.org/officeDocument/2006/relationships/slide" Target="slides/slide32.xml"/><Relationship Id="rId25" Type="http://schemas.openxmlformats.org/officeDocument/2006/relationships/slide" Target="slides/slide40.xml"/><Relationship Id="rId33" Type="http://schemas.openxmlformats.org/officeDocument/2006/relationships/slide" Target="slides/slide49.xml"/><Relationship Id="rId2" Type="http://schemas.openxmlformats.org/officeDocument/2006/relationships/slide" Target="slides/slide12.xml"/><Relationship Id="rId16" Type="http://schemas.openxmlformats.org/officeDocument/2006/relationships/slide" Target="slides/slide31.xml"/><Relationship Id="rId20" Type="http://schemas.openxmlformats.org/officeDocument/2006/relationships/slide" Target="slides/slide35.xml"/><Relationship Id="rId29" Type="http://schemas.openxmlformats.org/officeDocument/2006/relationships/slide" Target="slides/slide45.xml"/><Relationship Id="rId1" Type="http://schemas.openxmlformats.org/officeDocument/2006/relationships/slide" Target="slides/slide2.xml"/><Relationship Id="rId6" Type="http://schemas.openxmlformats.org/officeDocument/2006/relationships/slide" Target="slides/slide17.xml"/><Relationship Id="rId11" Type="http://schemas.openxmlformats.org/officeDocument/2006/relationships/slide" Target="slides/slide23.xml"/><Relationship Id="rId24" Type="http://schemas.openxmlformats.org/officeDocument/2006/relationships/slide" Target="slides/slide39.xml"/><Relationship Id="rId32" Type="http://schemas.openxmlformats.org/officeDocument/2006/relationships/slide" Target="slides/slide48.xml"/><Relationship Id="rId5" Type="http://schemas.openxmlformats.org/officeDocument/2006/relationships/slide" Target="slides/slide16.xml"/><Relationship Id="rId15" Type="http://schemas.openxmlformats.org/officeDocument/2006/relationships/slide" Target="slides/slide30.xml"/><Relationship Id="rId23" Type="http://schemas.openxmlformats.org/officeDocument/2006/relationships/slide" Target="slides/slide38.xml"/><Relationship Id="rId28" Type="http://schemas.openxmlformats.org/officeDocument/2006/relationships/slide" Target="slides/slide43.xml"/><Relationship Id="rId36" Type="http://schemas.openxmlformats.org/officeDocument/2006/relationships/slide" Target="slides/slide52.xml"/><Relationship Id="rId10" Type="http://schemas.openxmlformats.org/officeDocument/2006/relationships/slide" Target="slides/slide22.xml"/><Relationship Id="rId19" Type="http://schemas.openxmlformats.org/officeDocument/2006/relationships/slide" Target="slides/slide34.xml"/><Relationship Id="rId31" Type="http://schemas.openxmlformats.org/officeDocument/2006/relationships/slide" Target="slides/slide47.xml"/><Relationship Id="rId4" Type="http://schemas.openxmlformats.org/officeDocument/2006/relationships/slide" Target="slides/slide15.xml"/><Relationship Id="rId9" Type="http://schemas.openxmlformats.org/officeDocument/2006/relationships/slide" Target="slides/slide21.xml"/><Relationship Id="rId14" Type="http://schemas.openxmlformats.org/officeDocument/2006/relationships/slide" Target="slides/slide29.xml"/><Relationship Id="rId22" Type="http://schemas.openxmlformats.org/officeDocument/2006/relationships/slide" Target="slides/slide37.xml"/><Relationship Id="rId27" Type="http://schemas.openxmlformats.org/officeDocument/2006/relationships/slide" Target="slides/slide42.xml"/><Relationship Id="rId30" Type="http://schemas.openxmlformats.org/officeDocument/2006/relationships/slide" Target="slides/slide46.xml"/><Relationship Id="rId35" Type="http://schemas.openxmlformats.org/officeDocument/2006/relationships/slide" Target="slides/slide51.xml"/><Relationship Id="rId8" Type="http://schemas.openxmlformats.org/officeDocument/2006/relationships/slide" Target="slides/slide1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4F6E6D-E6D8-4C83-A38E-BFB06991A8DA}" type="datetimeFigureOut">
              <a:rPr lang="en-US" smtClean="0"/>
              <a:t>3/16/26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E01FBA-0126-406C-BE32-94E8E08112CC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49041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7AB91D-D08F-F14D-AE19-84E96A5339C3}" type="datetimeFigureOut">
              <a:rPr lang="en-US" smtClean="0"/>
              <a:t>3/16/26</a:t>
            </a:fld>
            <a:endParaRPr lang="en-US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F71684-922B-C647-B005-6CA642B2C4B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92404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73075" y="728663"/>
            <a:ext cx="6372225" cy="3584575"/>
          </a:xfrm>
          <a:ln/>
        </p:spPr>
      </p:sp>
      <p:sp>
        <p:nvSpPr>
          <p:cNvPr id="11366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71489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Per ogni K molti esperimenti (con </a:t>
            </a:r>
            <a:r>
              <a:rPr lang="it-IT" dirty="0" err="1"/>
              <a:t>centroidi</a:t>
            </a:r>
            <a:r>
              <a:rPr lang="it-IT" dirty="0"/>
              <a:t> iniziai diversi) si plotta la SSE migliore. Aumentando il K la SSE migliora ma ad un certo punto rallenta tantissimo.  Il K migliore è quello sul gomito della curva</a:t>
            </a:r>
          </a:p>
        </p:txBody>
      </p:sp>
    </p:spTree>
    <p:extLst>
      <p:ext uri="{BB962C8B-B14F-4D97-AF65-F5344CB8AC3E}">
        <p14:creationId xmlns:p14="http://schemas.microsoft.com/office/powerpoint/2010/main" val="19873426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162195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CDBE0CA-5111-D04D-8D12-935552D94F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36BC96A-9426-4A41-862F-AE5D98B4FE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CDEE8EA-B811-484E-9AD4-125197A0E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9E66D-B003-4C4E-864A-E43A8D2280BD}" type="datetime1">
              <a:rPr lang="it-IT" smtClean="0"/>
              <a:t>16/03/26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0A87B73-2633-AA49-BD18-F8F801EAC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</a:p>
        </p:txBody>
      </p:sp>
    </p:spTree>
    <p:extLst>
      <p:ext uri="{BB962C8B-B14F-4D97-AF65-F5344CB8AC3E}">
        <p14:creationId xmlns:p14="http://schemas.microsoft.com/office/powerpoint/2010/main" val="1225103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C0DF7A-92CF-2848-9DB4-1B5627B91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942309D-38BE-FB4A-A153-E7BF232DC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2A7E30A-C665-904E-811B-93A46D9D5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8F26437-C4B7-604C-861E-5D3C0D33BE5F}" type="datetime1">
              <a:rPr lang="it-IT" smtClean="0"/>
              <a:t>16/03/26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06F7EE2-4B79-B948-8ACA-1A13A30CB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  <a:endParaRPr lang="en-US" dirty="0"/>
          </a:p>
        </p:txBody>
      </p: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97C08697-B432-D649-AD79-87B7574B2E35}"/>
              </a:ext>
            </a:extLst>
          </p:cNvPr>
          <p:cNvCxnSpPr/>
          <p:nvPr userDrawn="1"/>
        </p:nvCxnSpPr>
        <p:spPr>
          <a:xfrm>
            <a:off x="0" y="1332881"/>
            <a:ext cx="11353800" cy="0"/>
          </a:xfrm>
          <a:prstGeom prst="line">
            <a:avLst/>
          </a:prstGeom>
          <a:ln w="76200">
            <a:solidFill>
              <a:srgbClr val="009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5926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BBB1760-1D6E-514E-BBBA-90A5FFA11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00AE6B2-F4ED-8C4E-84AB-8DC3DD570E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D395726-958D-3549-89E0-A190673A4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1C28B9B-7C80-B543-BDBB-A92A7AEFD72F}" type="datetime1">
              <a:rPr lang="it-IT" smtClean="0"/>
              <a:t>16/03/26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4EACAE3-5BD7-D34D-91E6-6EB901BE9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  <a:endParaRPr lang="en-US" dirty="0"/>
          </a:p>
        </p:txBody>
      </p:sp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EF479E78-DA7B-C944-8244-979118C4A42C}"/>
              </a:ext>
            </a:extLst>
          </p:cNvPr>
          <p:cNvCxnSpPr/>
          <p:nvPr userDrawn="1"/>
        </p:nvCxnSpPr>
        <p:spPr>
          <a:xfrm>
            <a:off x="0" y="4568262"/>
            <a:ext cx="11353800" cy="0"/>
          </a:xfrm>
          <a:prstGeom prst="line">
            <a:avLst/>
          </a:prstGeom>
          <a:ln w="76200">
            <a:solidFill>
              <a:srgbClr val="009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9265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D7BC0BA-3DD1-6F4D-958D-0CFF774B7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8821535-ED3B-1E4C-9BBE-4E2F63316E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6C8D277-1C2D-6A43-9A64-CF03C6DADF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A6A55CF-0328-2042-8867-0545FCFCD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8C9651-A614-D546-8E5D-E84C7A0F43D0}" type="datetime1">
              <a:rPr lang="it-IT" smtClean="0"/>
              <a:t>16/03/26</a:t>
            </a:fld>
            <a:endParaRPr lang="en-US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3E56001-C03F-CE40-B8BD-AD028CAD3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  <a:endParaRPr lang="en-US" dirty="0"/>
          </a:p>
        </p:txBody>
      </p:sp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3EA728E4-6B64-4E40-811F-04DF1CBB7D31}"/>
              </a:ext>
            </a:extLst>
          </p:cNvPr>
          <p:cNvCxnSpPr/>
          <p:nvPr userDrawn="1"/>
        </p:nvCxnSpPr>
        <p:spPr>
          <a:xfrm>
            <a:off x="0" y="1332881"/>
            <a:ext cx="11353800" cy="0"/>
          </a:xfrm>
          <a:prstGeom prst="line">
            <a:avLst/>
          </a:prstGeom>
          <a:ln w="76200">
            <a:solidFill>
              <a:srgbClr val="009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2931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F6ABA12-78D7-6048-8681-A36AC099A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C04B37B-2090-8D41-B9BF-D88C3E98E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BDC3BAF-954D-8E4C-A6EB-B3ADEB1C2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BB0CDEC-EF4F-6540-9159-D69B5F79B7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698BE13-F69E-1A45-8586-E81C6FD52E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20F0C53D-183A-FC4B-9702-71A74ADCB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4F22444-9F01-A64E-BA90-B0526793B5AE}" type="datetime1">
              <a:rPr lang="it-IT" smtClean="0"/>
              <a:t>16/03/26</a:t>
            </a:fld>
            <a:endParaRPr lang="en-US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5835C857-F677-FE40-AFFD-96E8C3DFD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  <a:endParaRPr lang="en-US" dirty="0"/>
          </a:p>
        </p:txBody>
      </p:sp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0891173D-1780-9E40-A31D-CFB5D057907D}"/>
              </a:ext>
            </a:extLst>
          </p:cNvPr>
          <p:cNvCxnSpPr/>
          <p:nvPr userDrawn="1"/>
        </p:nvCxnSpPr>
        <p:spPr>
          <a:xfrm>
            <a:off x="0" y="1332881"/>
            <a:ext cx="11353800" cy="0"/>
          </a:xfrm>
          <a:prstGeom prst="line">
            <a:avLst/>
          </a:prstGeom>
          <a:ln w="76200">
            <a:solidFill>
              <a:srgbClr val="009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9116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94FAAE9-4446-224F-A5F9-DD4D37B4D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932027A-979A-0147-B957-23F6E4E45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1E2C575-4E74-CB45-AA63-265EDD3F4832}" type="datetime1">
              <a:rPr lang="it-IT" smtClean="0"/>
              <a:t>16/03/26</a:t>
            </a:fld>
            <a:endParaRPr lang="en-US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569AC3D-0D57-8446-B251-CDE0E3A6B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  <a:endParaRPr lang="en-US" dirty="0"/>
          </a:p>
        </p:txBody>
      </p:sp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04EB78F9-ACE7-AD48-AC0A-3615A1AC3B39}"/>
              </a:ext>
            </a:extLst>
          </p:cNvPr>
          <p:cNvCxnSpPr/>
          <p:nvPr userDrawn="1"/>
        </p:nvCxnSpPr>
        <p:spPr>
          <a:xfrm>
            <a:off x="0" y="1332881"/>
            <a:ext cx="11353800" cy="0"/>
          </a:xfrm>
          <a:prstGeom prst="line">
            <a:avLst/>
          </a:prstGeom>
          <a:ln w="76200">
            <a:solidFill>
              <a:srgbClr val="009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7670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D7CCD44-38AF-2748-9927-0AF5DEAF6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687C649-8927-E144-A3AA-F7E863ABE54D}" type="datetime1">
              <a:rPr lang="it-IT" smtClean="0"/>
              <a:t>16/03/26</a:t>
            </a:fld>
            <a:endParaRPr lang="en-US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90ECF18-5B6D-0E46-8351-479B96D48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160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DF3A5D9-CE4F-6F49-B7F4-45A75BFFD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AACBE50-3DDC-5D47-8266-FF7265729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50F3E9B-90C3-E044-9151-5A48304D71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96F02DC-9538-7B4C-8AEC-00FD62F10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DCE9C45-2ACA-2146-A9BA-1A8801DF3D90}" type="datetime1">
              <a:rPr lang="it-IT" smtClean="0"/>
              <a:t>16/03/26</a:t>
            </a:fld>
            <a:endParaRPr lang="en-US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61039E8-E9EA-1F47-A455-118B30785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744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29C229-E370-0C4E-84BE-990E328ED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83911D92-876D-1D49-8C85-0314159E6C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A241640-23F2-9847-A7E4-8FDAE2B6A1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EFE7DC9-F86D-4C42-BBB5-65A619654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957C8EA-2611-3F4A-8E99-618C2757CF42}" type="datetime1">
              <a:rPr lang="it-IT" smtClean="0"/>
              <a:t>16/03/26</a:t>
            </a:fld>
            <a:endParaRPr lang="en-US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1B8BFF4-DFD9-E941-A9EA-E6FD29ECC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411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79B98E-8402-EE4F-A656-DCC6A48EA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C7ED7AD-51E7-F740-93FD-1025332C0D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C297406-BB99-2640-B389-5F24A3DC8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D2041F-5EF3-3145-A49B-0814F547AEF9}" type="datetime1">
              <a:rPr lang="it-IT" smtClean="0"/>
              <a:t>16/03/26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F519D53-C423-8F45-AA29-CDE0650DB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  <a:endParaRPr lang="en-US" dirty="0"/>
          </a:p>
        </p:txBody>
      </p: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112DD419-0A67-9744-B3B9-809AFC711840}"/>
              </a:ext>
            </a:extLst>
          </p:cNvPr>
          <p:cNvCxnSpPr/>
          <p:nvPr userDrawn="1"/>
        </p:nvCxnSpPr>
        <p:spPr>
          <a:xfrm>
            <a:off x="0" y="1332881"/>
            <a:ext cx="11353800" cy="0"/>
          </a:xfrm>
          <a:prstGeom prst="line">
            <a:avLst/>
          </a:prstGeom>
          <a:ln w="76200">
            <a:solidFill>
              <a:srgbClr val="00FB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8936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A99B30F2-9DD7-A449-8E34-650F9CFCFC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69B78D2-A881-6F42-89DA-8AC00B2381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7511472-DCCA-1F4E-80B9-8E99EC281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D0F37EA-E13C-9545-99A5-5937716205AB}" type="datetime1">
              <a:rPr lang="it-IT" smtClean="0"/>
              <a:t>16/03/26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CA25BF8-9292-B945-8562-F53E73BEA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3347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2"/>
          <p:cNvGrpSpPr/>
          <p:nvPr/>
        </p:nvGrpSpPr>
        <p:grpSpPr>
          <a:xfrm>
            <a:off x="406400" y="838200"/>
            <a:ext cx="11379200" cy="152400"/>
            <a:chOff x="0" y="0"/>
            <a:chExt cx="8534400" cy="152399"/>
          </a:xfrm>
        </p:grpSpPr>
        <p:sp>
          <p:nvSpPr>
            <p:cNvPr id="10" name="Shape 10"/>
            <p:cNvSpPr/>
            <p:nvPr/>
          </p:nvSpPr>
          <p:spPr>
            <a:xfrm>
              <a:off x="0" y="0"/>
              <a:ext cx="8534400" cy="74971"/>
            </a:xfrm>
            <a:prstGeom prst="rect">
              <a:avLst/>
            </a:prstGeom>
            <a:gradFill flip="none" rotWithShape="1">
              <a:gsLst>
                <a:gs pos="0">
                  <a:srgbClr val="000000"/>
                </a:gs>
                <a:gs pos="100000">
                  <a:srgbClr val="0E9BBA"/>
                </a:gs>
              </a:gsLst>
              <a:lin ang="162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 b="0"/>
              </a:pPr>
              <a:endParaRPr sz="1800"/>
            </a:p>
          </p:txBody>
        </p:sp>
        <p:sp>
          <p:nvSpPr>
            <p:cNvPr id="11" name="Shape 11"/>
            <p:cNvSpPr/>
            <p:nvPr/>
          </p:nvSpPr>
          <p:spPr>
            <a:xfrm>
              <a:off x="0" y="114299"/>
              <a:ext cx="8534400" cy="38101"/>
            </a:xfrm>
            <a:prstGeom prst="rect">
              <a:avLst/>
            </a:prstGeom>
            <a:gradFill flip="none" rotWithShape="1">
              <a:gsLst>
                <a:gs pos="0">
                  <a:srgbClr val="000000"/>
                </a:gs>
                <a:gs pos="100000">
                  <a:srgbClr val="B200B2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 b="0"/>
              </a:pPr>
              <a:endParaRPr sz="1800"/>
            </a:p>
          </p:txBody>
        </p:sp>
      </p:grpSp>
      <p:sp>
        <p:nvSpPr>
          <p:cNvPr id="13" name="Shape 1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40062869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ree Blank, 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9345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B931ADDB-CF09-4C4A-A381-EBEAEC869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F631CBA-384C-8F47-AD02-D9465EAF86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6AB79F8-8BC7-EA4F-A539-66731CC399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9946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422C14-3BC9-D542-B4D4-B9E4C141C801}" type="datetime1">
              <a:rPr lang="it-IT" smtClean="0"/>
              <a:t>16/03/26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82DF6E6-74CD-BD43-9A7F-E93E6BAD2F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9946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Wurzburg, Germany, ECML-PKDD 2019, Tutorial on XKDD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8527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wmf"/><Relationship Id="rId4" Type="http://schemas.openxmlformats.org/officeDocument/2006/relationships/oleObject" Target="../embeddings/oleObject4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7" Type="http://schemas.openxmlformats.org/officeDocument/2006/relationships/image" Target="../media/image22.wmf"/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7" Type="http://schemas.openxmlformats.org/officeDocument/2006/relationships/image" Target="../media/image22.wmf"/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7" Type="http://schemas.openxmlformats.org/officeDocument/2006/relationships/image" Target="../media/image22.wmf"/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7" Type="http://schemas.openxmlformats.org/officeDocument/2006/relationships/image" Target="../media/image22.wmf"/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4" Type="http://schemas.openxmlformats.org/officeDocument/2006/relationships/image" Target="../media/image30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4" Type="http://schemas.openxmlformats.org/officeDocument/2006/relationships/image" Target="../media/image30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wmf"/><Relationship Id="rId4" Type="http://schemas.openxmlformats.org/officeDocument/2006/relationships/image" Target="../media/image35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wmf"/><Relationship Id="rId4" Type="http://schemas.openxmlformats.org/officeDocument/2006/relationships/image" Target="../media/image35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wmf"/><Relationship Id="rId4" Type="http://schemas.openxmlformats.org/officeDocument/2006/relationships/image" Target="../media/image39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wmf"/><Relationship Id="rId4" Type="http://schemas.openxmlformats.org/officeDocument/2006/relationships/image" Target="../media/image39.wmf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2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itolo 1">
            <a:extLst>
              <a:ext uri="{FF2B5EF4-FFF2-40B4-BE49-F238E27FC236}">
                <a16:creationId xmlns:a16="http://schemas.microsoft.com/office/drawing/2014/main" id="{2049DDC2-98BF-114B-9610-797A7F450CD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19300" y="2489200"/>
            <a:ext cx="8020050" cy="1697038"/>
          </a:xfrm>
        </p:spPr>
        <p:txBody>
          <a:bodyPr>
            <a:normAutofit fontScale="90000"/>
          </a:bodyPr>
          <a:lstStyle/>
          <a:p>
            <a:r>
              <a:rPr lang="en-US" altLang="it-IT" dirty="0">
                <a:ea typeface="ＭＳ Ｐゴシック" panose="020B0600070205080204" pitchFamily="34" charset="-128"/>
              </a:rPr>
              <a:t>Intro-Machine Learning  mod. 1</a:t>
            </a:r>
            <a:br>
              <a:rPr lang="en-US" altLang="it-IT" dirty="0">
                <a:ea typeface="ＭＳ Ｐゴシック" panose="020B0600070205080204" pitchFamily="34" charset="-128"/>
              </a:rPr>
            </a:br>
            <a:r>
              <a:rPr lang="en-US" sz="9600" b="1" dirty="0"/>
              <a:t>Clustering (1)</a:t>
            </a:r>
            <a:br>
              <a:rPr lang="en-US" altLang="it-IT" dirty="0">
                <a:ea typeface="ＭＳ Ｐゴシック" panose="020B0600070205080204" pitchFamily="34" charset="-128"/>
              </a:rPr>
            </a:br>
            <a:endParaRPr lang="en-US" altLang="it-IT" sz="2100" dirty="0">
              <a:ea typeface="ＭＳ Ｐゴシック" panose="020B0600070205080204" pitchFamily="34" charset="-128"/>
            </a:endParaRPr>
          </a:p>
        </p:txBody>
      </p:sp>
      <p:sp>
        <p:nvSpPr>
          <p:cNvPr id="7" name="Sottotitolo 6">
            <a:extLst>
              <a:ext uri="{FF2B5EF4-FFF2-40B4-BE49-F238E27FC236}">
                <a16:creationId xmlns:a16="http://schemas.microsoft.com/office/drawing/2014/main" id="{CB410B35-8954-DD43-9110-6ADE4CCB1E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19514" y="4402138"/>
            <a:ext cx="7557786" cy="1293812"/>
          </a:xfrm>
        </p:spPr>
        <p:txBody>
          <a:bodyPr>
            <a:normAutofit fontScale="92500" lnSpcReduction="20000"/>
          </a:bodyPr>
          <a:lstStyle/>
          <a:p>
            <a:pPr algn="l">
              <a:spcBef>
                <a:spcPts val="0"/>
              </a:spcBef>
              <a:defRPr/>
            </a:pPr>
            <a:r>
              <a:rPr lang="en-IE" dirty="0" err="1"/>
              <a:t>Fosca</a:t>
            </a:r>
            <a:r>
              <a:rPr lang="en-IE" dirty="0"/>
              <a:t> Giannotti</a:t>
            </a:r>
          </a:p>
          <a:p>
            <a:pPr algn="l">
              <a:spcBef>
                <a:spcPts val="0"/>
              </a:spcBef>
              <a:defRPr/>
            </a:pPr>
            <a:endParaRPr lang="en-IE" dirty="0"/>
          </a:p>
          <a:p>
            <a:pPr algn="l">
              <a:spcBef>
                <a:spcPts val="0"/>
              </a:spcBef>
              <a:defRPr/>
            </a:pPr>
            <a:endParaRPr lang="en-IE" dirty="0"/>
          </a:p>
          <a:p>
            <a:pPr algn="l">
              <a:spcBef>
                <a:spcPts val="0"/>
              </a:spcBef>
              <a:defRPr/>
            </a:pPr>
            <a:r>
              <a:rPr lang="en-IE" dirty="0"/>
              <a:t>Revisited slides from Lecture Notes for Chapter 7 “Introduction to Data Mining”, 2nd Edition by Tan, Steinbach, </a:t>
            </a:r>
            <a:r>
              <a:rPr lang="en-IE" dirty="0" err="1"/>
              <a:t>Karpatne</a:t>
            </a:r>
            <a:r>
              <a:rPr lang="en-IE" dirty="0"/>
              <a:t>, Kumar</a:t>
            </a:r>
          </a:p>
          <a:p>
            <a:pPr algn="l">
              <a:spcBef>
                <a:spcPts val="0"/>
              </a:spcBef>
              <a:defRPr/>
            </a:pPr>
            <a:endParaRPr lang="en-IE" dirty="0"/>
          </a:p>
          <a:p>
            <a:pPr algn="l">
              <a:spcBef>
                <a:spcPts val="0"/>
              </a:spcBef>
              <a:defRPr/>
            </a:pPr>
            <a:endParaRPr lang="en-IE" sz="1500" dirty="0"/>
          </a:p>
          <a:p>
            <a:pPr algn="l">
              <a:spcBef>
                <a:spcPts val="0"/>
              </a:spcBef>
              <a:defRPr/>
            </a:pPr>
            <a:endParaRPr lang="en-IE" dirty="0" err="1"/>
          </a:p>
        </p:txBody>
      </p:sp>
      <p:cxnSp>
        <p:nvCxnSpPr>
          <p:cNvPr id="17" name="Connettore 1 16">
            <a:extLst>
              <a:ext uri="{FF2B5EF4-FFF2-40B4-BE49-F238E27FC236}">
                <a16:creationId xmlns:a16="http://schemas.microsoft.com/office/drawing/2014/main" id="{B82972A0-DDAE-854D-9F60-9EB358419B52}"/>
              </a:ext>
            </a:extLst>
          </p:cNvPr>
          <p:cNvCxnSpPr/>
          <p:nvPr/>
        </p:nvCxnSpPr>
        <p:spPr>
          <a:xfrm>
            <a:off x="1524000" y="4283075"/>
            <a:ext cx="8515350" cy="0"/>
          </a:xfrm>
          <a:prstGeom prst="line">
            <a:avLst/>
          </a:prstGeom>
          <a:ln w="76200">
            <a:solidFill>
              <a:srgbClr val="009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0930" name="Picture 2" descr="Home">
            <a:extLst>
              <a:ext uri="{FF2B5EF4-FFF2-40B4-BE49-F238E27FC236}">
                <a16:creationId xmlns:a16="http://schemas.microsoft.com/office/drawing/2014/main" id="{9F14C34F-7A6A-5D45-8F47-4DFA74CDFC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8804936" y="4908886"/>
            <a:ext cx="1691615" cy="9926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What is Cluster Analysis?</a:t>
            </a:r>
          </a:p>
        </p:txBody>
      </p:sp>
      <p:sp>
        <p:nvSpPr>
          <p:cNvPr id="3075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Finding groups of objects such that the objects in a group will be similar (or related) to one another and different from (or unrelated to) the objects in other groups</a:t>
            </a:r>
          </a:p>
        </p:txBody>
      </p:sp>
      <p:grpSp>
        <p:nvGrpSpPr>
          <p:cNvPr id="3076" name="Group 6"/>
          <p:cNvGrpSpPr>
            <a:grpSpLocks/>
          </p:cNvGrpSpPr>
          <p:nvPr/>
        </p:nvGrpSpPr>
        <p:grpSpPr bwMode="auto">
          <a:xfrm>
            <a:off x="4800600" y="3570288"/>
            <a:ext cx="3048000" cy="2678112"/>
            <a:chOff x="2160" y="2544"/>
            <a:chExt cx="1920" cy="1687"/>
          </a:xfrm>
        </p:grpSpPr>
        <p:sp>
          <p:nvSpPr>
            <p:cNvPr id="3087" name="Line 7"/>
            <p:cNvSpPr>
              <a:spLocks noChangeShapeType="1"/>
            </p:cNvSpPr>
            <p:nvPr/>
          </p:nvSpPr>
          <p:spPr bwMode="auto">
            <a:xfrm>
              <a:off x="2736" y="2544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400"/>
            </a:p>
          </p:txBody>
        </p:sp>
        <p:sp>
          <p:nvSpPr>
            <p:cNvPr id="3088" name="Line 8"/>
            <p:cNvSpPr>
              <a:spLocks noChangeShapeType="1"/>
            </p:cNvSpPr>
            <p:nvPr/>
          </p:nvSpPr>
          <p:spPr bwMode="auto">
            <a:xfrm>
              <a:off x="2736" y="3696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400"/>
            </a:p>
          </p:txBody>
        </p:sp>
        <p:sp>
          <p:nvSpPr>
            <p:cNvPr id="3089" name="Freeform 9"/>
            <p:cNvSpPr>
              <a:spLocks/>
            </p:cNvSpPr>
            <p:nvPr/>
          </p:nvSpPr>
          <p:spPr bwMode="auto">
            <a:xfrm>
              <a:off x="2226" y="3696"/>
              <a:ext cx="510" cy="535"/>
            </a:xfrm>
            <a:custGeom>
              <a:avLst/>
              <a:gdLst>
                <a:gd name="T0" fmla="*/ 510 w 510"/>
                <a:gd name="T1" fmla="*/ 0 h 535"/>
                <a:gd name="T2" fmla="*/ 0 w 510"/>
                <a:gd name="T3" fmla="*/ 535 h 535"/>
                <a:gd name="T4" fmla="*/ 0 60000 65536"/>
                <a:gd name="T5" fmla="*/ 0 60000 65536"/>
                <a:gd name="T6" fmla="*/ 0 w 510"/>
                <a:gd name="T7" fmla="*/ 0 h 535"/>
                <a:gd name="T8" fmla="*/ 510 w 510"/>
                <a:gd name="T9" fmla="*/ 535 h 53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10" h="535">
                  <a:moveTo>
                    <a:pt x="510" y="0"/>
                  </a:moveTo>
                  <a:lnTo>
                    <a:pt x="0" y="535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/>
            </a:p>
          </p:txBody>
        </p:sp>
        <p:sp>
          <p:nvSpPr>
            <p:cNvPr id="3090" name="AutoShape 10"/>
            <p:cNvSpPr>
              <a:spLocks noChangeArrowheads="1"/>
            </p:cNvSpPr>
            <p:nvPr/>
          </p:nvSpPr>
          <p:spPr bwMode="auto">
            <a:xfrm>
              <a:off x="3264" y="288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1" name="AutoShape 11"/>
            <p:cNvSpPr>
              <a:spLocks noChangeArrowheads="1"/>
            </p:cNvSpPr>
            <p:nvPr/>
          </p:nvSpPr>
          <p:spPr bwMode="auto">
            <a:xfrm>
              <a:off x="3408" y="288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2" name="AutoShape 12"/>
            <p:cNvSpPr>
              <a:spLocks noChangeArrowheads="1"/>
            </p:cNvSpPr>
            <p:nvPr/>
          </p:nvSpPr>
          <p:spPr bwMode="auto">
            <a:xfrm>
              <a:off x="3360" y="273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3" name="AutoShape 13"/>
            <p:cNvSpPr>
              <a:spLocks noChangeArrowheads="1"/>
            </p:cNvSpPr>
            <p:nvPr/>
          </p:nvSpPr>
          <p:spPr bwMode="auto">
            <a:xfrm>
              <a:off x="3360" y="3024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4" name="AutoShape 14"/>
            <p:cNvSpPr>
              <a:spLocks noChangeArrowheads="1"/>
            </p:cNvSpPr>
            <p:nvPr/>
          </p:nvSpPr>
          <p:spPr bwMode="auto">
            <a:xfrm>
              <a:off x="3600" y="288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5" name="AutoShape 15"/>
            <p:cNvSpPr>
              <a:spLocks noChangeArrowheads="1"/>
            </p:cNvSpPr>
            <p:nvPr/>
          </p:nvSpPr>
          <p:spPr bwMode="auto">
            <a:xfrm>
              <a:off x="3504" y="2784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6" name="AutoShape 16"/>
            <p:cNvSpPr>
              <a:spLocks noChangeArrowheads="1"/>
            </p:cNvSpPr>
            <p:nvPr/>
          </p:nvSpPr>
          <p:spPr bwMode="auto">
            <a:xfrm>
              <a:off x="3168" y="273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7" name="AutoShape 17"/>
            <p:cNvSpPr>
              <a:spLocks noChangeArrowheads="1"/>
            </p:cNvSpPr>
            <p:nvPr/>
          </p:nvSpPr>
          <p:spPr bwMode="auto">
            <a:xfrm>
              <a:off x="3504" y="297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8" name="AutoShape 18"/>
            <p:cNvSpPr>
              <a:spLocks noChangeArrowheads="1"/>
            </p:cNvSpPr>
            <p:nvPr/>
          </p:nvSpPr>
          <p:spPr bwMode="auto">
            <a:xfrm>
              <a:off x="3168" y="297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9" name="AutoShape 19"/>
            <p:cNvSpPr>
              <a:spLocks noChangeArrowheads="1"/>
            </p:cNvSpPr>
            <p:nvPr/>
          </p:nvSpPr>
          <p:spPr bwMode="auto">
            <a:xfrm>
              <a:off x="2160" y="3264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0" name="AutoShape 20"/>
            <p:cNvSpPr>
              <a:spLocks noChangeArrowheads="1"/>
            </p:cNvSpPr>
            <p:nvPr/>
          </p:nvSpPr>
          <p:spPr bwMode="auto">
            <a:xfrm>
              <a:off x="2304" y="3312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1" name="AutoShape 21"/>
            <p:cNvSpPr>
              <a:spLocks noChangeArrowheads="1"/>
            </p:cNvSpPr>
            <p:nvPr/>
          </p:nvSpPr>
          <p:spPr bwMode="auto">
            <a:xfrm>
              <a:off x="2304" y="3456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2" name="AutoShape 22"/>
            <p:cNvSpPr>
              <a:spLocks noChangeArrowheads="1"/>
            </p:cNvSpPr>
            <p:nvPr/>
          </p:nvSpPr>
          <p:spPr bwMode="auto">
            <a:xfrm>
              <a:off x="2448" y="3312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3" name="AutoShape 23"/>
            <p:cNvSpPr>
              <a:spLocks noChangeArrowheads="1"/>
            </p:cNvSpPr>
            <p:nvPr/>
          </p:nvSpPr>
          <p:spPr bwMode="auto">
            <a:xfrm>
              <a:off x="2352" y="3168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4" name="AutoShape 24"/>
            <p:cNvSpPr>
              <a:spLocks noChangeArrowheads="1"/>
            </p:cNvSpPr>
            <p:nvPr/>
          </p:nvSpPr>
          <p:spPr bwMode="auto">
            <a:xfrm>
              <a:off x="2448" y="3456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5" name="AutoShape 25"/>
            <p:cNvSpPr>
              <a:spLocks noChangeArrowheads="1"/>
            </p:cNvSpPr>
            <p:nvPr/>
          </p:nvSpPr>
          <p:spPr bwMode="auto">
            <a:xfrm>
              <a:off x="2160" y="3408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6" name="AutoShape 26"/>
            <p:cNvSpPr>
              <a:spLocks noChangeArrowheads="1"/>
            </p:cNvSpPr>
            <p:nvPr/>
          </p:nvSpPr>
          <p:spPr bwMode="auto">
            <a:xfrm>
              <a:off x="3504" y="3552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7" name="AutoShape 27"/>
            <p:cNvSpPr>
              <a:spLocks noChangeArrowheads="1"/>
            </p:cNvSpPr>
            <p:nvPr/>
          </p:nvSpPr>
          <p:spPr bwMode="auto">
            <a:xfrm>
              <a:off x="3792" y="360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8" name="AutoShape 28"/>
            <p:cNvSpPr>
              <a:spLocks noChangeArrowheads="1"/>
            </p:cNvSpPr>
            <p:nvPr/>
          </p:nvSpPr>
          <p:spPr bwMode="auto">
            <a:xfrm>
              <a:off x="3648" y="369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9" name="AutoShape 29"/>
            <p:cNvSpPr>
              <a:spLocks noChangeArrowheads="1"/>
            </p:cNvSpPr>
            <p:nvPr/>
          </p:nvSpPr>
          <p:spPr bwMode="auto">
            <a:xfrm>
              <a:off x="3504" y="3792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10" name="AutoShape 30"/>
            <p:cNvSpPr>
              <a:spLocks noChangeArrowheads="1"/>
            </p:cNvSpPr>
            <p:nvPr/>
          </p:nvSpPr>
          <p:spPr bwMode="auto">
            <a:xfrm>
              <a:off x="3696" y="3792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11" name="AutoShape 31"/>
            <p:cNvSpPr>
              <a:spLocks noChangeArrowheads="1"/>
            </p:cNvSpPr>
            <p:nvPr/>
          </p:nvSpPr>
          <p:spPr bwMode="auto">
            <a:xfrm flipV="1">
              <a:off x="3504" y="3648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12" name="AutoShape 32"/>
            <p:cNvSpPr>
              <a:spLocks noChangeArrowheads="1"/>
            </p:cNvSpPr>
            <p:nvPr/>
          </p:nvSpPr>
          <p:spPr bwMode="auto">
            <a:xfrm>
              <a:off x="3696" y="3504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3" name="Group 33"/>
          <p:cNvGrpSpPr>
            <a:grpSpLocks/>
          </p:cNvGrpSpPr>
          <p:nvPr/>
        </p:nvGrpSpPr>
        <p:grpSpPr bwMode="auto">
          <a:xfrm>
            <a:off x="6781800" y="2667000"/>
            <a:ext cx="3048000" cy="2514600"/>
            <a:chOff x="3312" y="1584"/>
            <a:chExt cx="1920" cy="1584"/>
          </a:xfrm>
        </p:grpSpPr>
        <p:sp>
          <p:nvSpPr>
            <p:cNvPr id="3085" name="Line 34"/>
            <p:cNvSpPr>
              <a:spLocks noChangeShapeType="1"/>
            </p:cNvSpPr>
            <p:nvPr/>
          </p:nvSpPr>
          <p:spPr bwMode="auto">
            <a:xfrm flipH="1" flipV="1">
              <a:off x="3312" y="2736"/>
              <a:ext cx="144" cy="432"/>
            </a:xfrm>
            <a:prstGeom prst="line">
              <a:avLst/>
            </a:prstGeom>
            <a:noFill/>
            <a:ln w="25400">
              <a:solidFill>
                <a:srgbClr val="CC66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3086" name="AutoShape 35"/>
            <p:cNvSpPr>
              <a:spLocks noChangeArrowheads="1"/>
            </p:cNvSpPr>
            <p:nvPr/>
          </p:nvSpPr>
          <p:spPr bwMode="auto">
            <a:xfrm>
              <a:off x="3984" y="1584"/>
              <a:ext cx="1248" cy="672"/>
            </a:xfrm>
            <a:prstGeom prst="wedgeRectCallout">
              <a:avLst>
                <a:gd name="adj1" fmla="val -93509"/>
                <a:gd name="adj2" fmla="val 150894"/>
              </a:avLst>
            </a:prstGeom>
            <a:solidFill>
              <a:srgbClr val="00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2000" b="0">
                  <a:latin typeface="Tahoma" pitchFamily="34" charset="0"/>
                </a:rPr>
                <a:t>Inter-cluster distances are maximized</a:t>
              </a:r>
            </a:p>
          </p:txBody>
        </p:sp>
      </p:grpSp>
      <p:grpSp>
        <p:nvGrpSpPr>
          <p:cNvPr id="4" name="Group 36"/>
          <p:cNvGrpSpPr>
            <a:grpSpLocks/>
          </p:cNvGrpSpPr>
          <p:nvPr/>
        </p:nvGrpSpPr>
        <p:grpSpPr bwMode="auto">
          <a:xfrm>
            <a:off x="4419600" y="3657600"/>
            <a:ext cx="3276600" cy="2286000"/>
            <a:chOff x="1824" y="2208"/>
            <a:chExt cx="2064" cy="1440"/>
          </a:xfrm>
        </p:grpSpPr>
        <p:sp>
          <p:nvSpPr>
            <p:cNvPr id="3082" name="Oval 37"/>
            <p:cNvSpPr>
              <a:spLocks noChangeArrowheads="1"/>
            </p:cNvSpPr>
            <p:nvPr/>
          </p:nvSpPr>
          <p:spPr bwMode="auto">
            <a:xfrm>
              <a:off x="1824" y="2592"/>
              <a:ext cx="816" cy="720"/>
            </a:xfrm>
            <a:prstGeom prst="ellips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83" name="Oval 38"/>
            <p:cNvSpPr>
              <a:spLocks noChangeArrowheads="1"/>
            </p:cNvSpPr>
            <p:nvPr/>
          </p:nvSpPr>
          <p:spPr bwMode="auto">
            <a:xfrm>
              <a:off x="2928" y="2208"/>
              <a:ext cx="720" cy="624"/>
            </a:xfrm>
            <a:prstGeom prst="ellips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84" name="Oval 39"/>
            <p:cNvSpPr>
              <a:spLocks noChangeArrowheads="1"/>
            </p:cNvSpPr>
            <p:nvPr/>
          </p:nvSpPr>
          <p:spPr bwMode="auto">
            <a:xfrm>
              <a:off x="3216" y="3024"/>
              <a:ext cx="672" cy="624"/>
            </a:xfrm>
            <a:prstGeom prst="ellips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5" name="Group 40"/>
          <p:cNvGrpSpPr>
            <a:grpSpLocks/>
          </p:cNvGrpSpPr>
          <p:nvPr/>
        </p:nvGrpSpPr>
        <p:grpSpPr bwMode="auto">
          <a:xfrm>
            <a:off x="2819400" y="2971800"/>
            <a:ext cx="2286000" cy="1676400"/>
            <a:chOff x="816" y="1776"/>
            <a:chExt cx="1440" cy="1056"/>
          </a:xfrm>
        </p:grpSpPr>
        <p:sp>
          <p:nvSpPr>
            <p:cNvPr id="3080" name="Line 41"/>
            <p:cNvSpPr>
              <a:spLocks noChangeShapeType="1"/>
            </p:cNvSpPr>
            <p:nvPr/>
          </p:nvSpPr>
          <p:spPr bwMode="auto">
            <a:xfrm flipV="1">
              <a:off x="2064" y="2736"/>
              <a:ext cx="192" cy="96"/>
            </a:xfrm>
            <a:prstGeom prst="line">
              <a:avLst/>
            </a:prstGeom>
            <a:noFill/>
            <a:ln w="25400">
              <a:solidFill>
                <a:srgbClr val="CC66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3081" name="AutoShape 42"/>
            <p:cNvSpPr>
              <a:spLocks noChangeArrowheads="1"/>
            </p:cNvSpPr>
            <p:nvPr/>
          </p:nvSpPr>
          <p:spPr bwMode="auto">
            <a:xfrm>
              <a:off x="816" y="1776"/>
              <a:ext cx="1248" cy="672"/>
            </a:xfrm>
            <a:prstGeom prst="wedgeRectCallout">
              <a:avLst>
                <a:gd name="adj1" fmla="val 56250"/>
                <a:gd name="adj2" fmla="val 92856"/>
              </a:avLst>
            </a:prstGeom>
            <a:solidFill>
              <a:srgbClr val="00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2000" b="0">
                  <a:latin typeface="Tahoma" pitchFamily="34" charset="0"/>
                </a:rPr>
                <a:t>Intra-cluster distances are minimized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96665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>
            <a:spLocks noGrp="1"/>
          </p:cNvSpPr>
          <p:nvPr>
            <p:ph type="title" idx="4294967295"/>
          </p:nvPr>
        </p:nvSpPr>
        <p:spPr>
          <a:xfrm>
            <a:off x="1523999" y="0"/>
            <a:ext cx="9144002" cy="8382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pPr lvl="0">
              <a:defRPr sz="1800" b="0"/>
            </a:pPr>
            <a:r>
              <a:rPr lang="it-IT" sz="3200" b="1" dirty="0"/>
              <a:t>Preliminary concepts: </a:t>
            </a:r>
            <a:r>
              <a:rPr sz="3200" b="1" dirty="0"/>
              <a:t>Similarity and Dissimilarity</a:t>
            </a:r>
          </a:p>
        </p:txBody>
      </p:sp>
      <p:sp>
        <p:nvSpPr>
          <p:cNvPr id="132" name="Shape 132"/>
          <p:cNvSpPr>
            <a:spLocks noGrp="1"/>
          </p:cNvSpPr>
          <p:nvPr>
            <p:ph type="body" idx="4294967295"/>
          </p:nvPr>
        </p:nvSpPr>
        <p:spPr>
          <a:xfrm>
            <a:off x="1400537" y="1609845"/>
            <a:ext cx="9734309" cy="484882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305180" indent="-305180" defTabSz="813816">
              <a:spcBef>
                <a:spcPts val="500"/>
              </a:spcBef>
              <a:buChar char=""/>
              <a:defRPr sz="1800" b="0"/>
            </a:pPr>
            <a:r>
              <a:rPr sz="2492" b="1" dirty="0"/>
              <a:t>Similarity</a:t>
            </a:r>
          </a:p>
          <a:p>
            <a:pPr marL="661225" lvl="1" indent="-254317" defTabSz="813816">
              <a:defRPr sz="1800" b="0"/>
            </a:pPr>
            <a:r>
              <a:rPr sz="2136" b="1" dirty="0"/>
              <a:t>Numerical measure of how alike two data objects are.</a:t>
            </a:r>
          </a:p>
          <a:p>
            <a:pPr marL="661225" lvl="1" indent="-254317" defTabSz="813816">
              <a:defRPr sz="1800" b="0"/>
            </a:pPr>
            <a:r>
              <a:rPr sz="2136" b="1" dirty="0"/>
              <a:t>Is higher when objects are more alike.</a:t>
            </a:r>
          </a:p>
          <a:p>
            <a:pPr marL="661225" lvl="1" indent="-254317" defTabSz="813816">
              <a:defRPr sz="1800" b="0"/>
            </a:pPr>
            <a:r>
              <a:rPr sz="2136" b="1" dirty="0"/>
              <a:t>Often falls in the range [0,1]</a:t>
            </a:r>
          </a:p>
          <a:p>
            <a:pPr marL="305180" indent="-305180" defTabSz="813816">
              <a:spcBef>
                <a:spcPts val="500"/>
              </a:spcBef>
              <a:buChar char=""/>
              <a:defRPr sz="1800" b="0"/>
            </a:pPr>
            <a:r>
              <a:rPr sz="2492" b="1" dirty="0"/>
              <a:t>Dissimilarity</a:t>
            </a:r>
          </a:p>
          <a:p>
            <a:pPr marL="661225" lvl="1" indent="-254317" defTabSz="813816">
              <a:defRPr sz="1800" b="0"/>
            </a:pPr>
            <a:r>
              <a:rPr sz="2136" b="1" dirty="0"/>
              <a:t>Numerical measure of how different are two data objects</a:t>
            </a:r>
          </a:p>
          <a:p>
            <a:pPr marL="661225" lvl="1" indent="-254317" defTabSz="813816">
              <a:defRPr sz="1800" b="0"/>
            </a:pPr>
            <a:r>
              <a:rPr sz="2136" b="1" dirty="0"/>
              <a:t>Lower when objects are more alike</a:t>
            </a:r>
          </a:p>
          <a:p>
            <a:pPr marL="661225" lvl="1" indent="-254317" defTabSz="813816">
              <a:defRPr sz="1800" b="0"/>
            </a:pPr>
            <a:r>
              <a:rPr sz="2136" b="1" dirty="0"/>
              <a:t>Minimum dissimilarity is often 0</a:t>
            </a:r>
          </a:p>
          <a:p>
            <a:pPr marL="661225" lvl="1" indent="-254317" defTabSz="813816">
              <a:defRPr sz="1800" b="0"/>
            </a:pPr>
            <a:r>
              <a:rPr sz="2136" b="1" dirty="0"/>
              <a:t>Upper limit varies</a:t>
            </a:r>
          </a:p>
          <a:p>
            <a:pPr marL="305180" indent="-305180" defTabSz="813816">
              <a:spcBef>
                <a:spcPts val="500"/>
              </a:spcBef>
              <a:buChar char=""/>
              <a:defRPr sz="1800" b="0"/>
            </a:pPr>
            <a:r>
              <a:rPr sz="2492" b="1" dirty="0"/>
              <a:t>Proximity refers to a similarity or dissimilarity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>
            <a:spLocks noGrp="1"/>
          </p:cNvSpPr>
          <p:nvPr>
            <p:ph type="title" idx="4294967295"/>
          </p:nvPr>
        </p:nvSpPr>
        <p:spPr>
          <a:xfrm>
            <a:off x="1905000" y="152400"/>
            <a:ext cx="8280400" cy="55245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sz="2800"/>
            </a:lvl1pPr>
          </a:lstStyle>
          <a:p>
            <a:pPr lvl="0">
              <a:defRPr sz="1800" b="0"/>
            </a:pPr>
            <a:r>
              <a:rPr lang="it-IT" sz="3200" b="1" dirty="0"/>
              <a:t>Preliminary concepts: </a:t>
            </a:r>
            <a:r>
              <a:rPr sz="3200" b="1" dirty="0"/>
              <a:t>Euclidean Distance</a:t>
            </a:r>
          </a:p>
        </p:txBody>
      </p:sp>
      <p:sp>
        <p:nvSpPr>
          <p:cNvPr id="135" name="Shape 135"/>
          <p:cNvSpPr>
            <a:spLocks noGrp="1"/>
          </p:cNvSpPr>
          <p:nvPr>
            <p:ph type="body" idx="4294967295"/>
          </p:nvPr>
        </p:nvSpPr>
        <p:spPr>
          <a:xfrm>
            <a:off x="694481" y="1350760"/>
            <a:ext cx="10868627" cy="493429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117565" indent="-117565" defTabSz="365760">
              <a:spcBef>
                <a:spcPts val="200"/>
              </a:spcBef>
              <a:buChar char=""/>
              <a:defRPr sz="1800" b="0"/>
            </a:pPr>
            <a:r>
              <a:rPr sz="2400" b="1" dirty="0"/>
              <a:t>Euclidean Distance</a:t>
            </a:r>
          </a:p>
          <a:p>
            <a:pPr marL="114300" lvl="1" indent="68580" defTabSz="365760">
              <a:spcBef>
                <a:spcPts val="100"/>
              </a:spcBef>
              <a:buNone/>
              <a:defRPr sz="1800" b="0"/>
            </a:pPr>
            <a:endParaRPr sz="2000" b="1" dirty="0"/>
          </a:p>
          <a:p>
            <a:pPr marL="114300" lvl="1" indent="68580" defTabSz="365760">
              <a:spcBef>
                <a:spcPts val="100"/>
              </a:spcBef>
              <a:buNone/>
              <a:defRPr sz="1800" b="0"/>
            </a:pPr>
            <a:r>
              <a:rPr sz="2000" b="1" dirty="0"/>
              <a:t>   Where </a:t>
            </a:r>
            <a:r>
              <a:rPr sz="2000" b="1" i="1" dirty="0"/>
              <a:t>n</a:t>
            </a:r>
            <a:r>
              <a:rPr sz="2000" b="1" dirty="0"/>
              <a:t> is the number of dimensions (attributes) and </a:t>
            </a:r>
            <a:r>
              <a:rPr sz="2000" b="1" i="1" dirty="0"/>
              <a:t>p</a:t>
            </a:r>
            <a:r>
              <a:rPr sz="2000" b="1" i="1" baseline="-53499" dirty="0"/>
              <a:t>k</a:t>
            </a:r>
            <a:r>
              <a:rPr sz="2000" b="1" dirty="0"/>
              <a:t> and </a:t>
            </a:r>
            <a:r>
              <a:rPr sz="2000" b="1" i="1" dirty="0" err="1"/>
              <a:t>q</a:t>
            </a:r>
            <a:r>
              <a:rPr sz="2000" b="1" i="1" baseline="-53499" dirty="0" err="1"/>
              <a:t>k</a:t>
            </a:r>
            <a:r>
              <a:rPr sz="2000" b="1" dirty="0"/>
              <a:t> are, respectively, the k</a:t>
            </a:r>
            <a:r>
              <a:rPr sz="2000" b="1" baseline="27000" dirty="0"/>
              <a:t>th</a:t>
            </a:r>
            <a:r>
              <a:rPr sz="2000" b="1" dirty="0"/>
              <a:t> attributes (components) or data objects </a:t>
            </a:r>
            <a:r>
              <a:rPr sz="2000" b="1" i="1" dirty="0"/>
              <a:t>p</a:t>
            </a:r>
            <a:r>
              <a:rPr sz="2000" b="1" dirty="0"/>
              <a:t> and </a:t>
            </a:r>
            <a:r>
              <a:rPr sz="2000" b="1" i="1" dirty="0"/>
              <a:t>q</a:t>
            </a:r>
            <a:r>
              <a:rPr sz="2000" b="1" dirty="0"/>
              <a:t>.</a:t>
            </a:r>
          </a:p>
          <a:p>
            <a:pPr marL="114300" lvl="1" indent="68580" defTabSz="365760">
              <a:spcBef>
                <a:spcPts val="200"/>
              </a:spcBef>
              <a:buNone/>
              <a:defRPr sz="1800" b="0"/>
            </a:pPr>
            <a:endParaRPr sz="2000" b="1" dirty="0"/>
          </a:p>
          <a:p>
            <a:pPr marL="117565" indent="-117565" defTabSz="365760">
              <a:spcBef>
                <a:spcPts val="200"/>
              </a:spcBef>
              <a:buChar char=""/>
              <a:defRPr sz="1800" b="0"/>
            </a:pPr>
            <a:r>
              <a:rPr sz="2400" b="1" dirty="0"/>
              <a:t>Standardization is necessary, if scales differ.</a:t>
            </a:r>
          </a:p>
        </p:txBody>
      </p:sp>
      <p:pic>
        <p:nvPicPr>
          <p:cNvPr id="136" name="image.pdf"/>
          <p:cNvPicPr/>
          <p:nvPr/>
        </p:nvPicPr>
        <p:blipFill>
          <a:blip r:embed="rId2"/>
          <a:stretch>
            <a:fillRect/>
          </a:stretch>
        </p:blipFill>
        <p:spPr>
          <a:xfrm>
            <a:off x="3324748" y="4441825"/>
            <a:ext cx="3854450" cy="127317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138"/>
          <p:cNvSpPr>
            <a:spLocks noGrp="1"/>
          </p:cNvSpPr>
          <p:nvPr>
            <p:ph type="title" idx="4294967295"/>
          </p:nvPr>
        </p:nvSpPr>
        <p:spPr>
          <a:xfrm>
            <a:off x="1222093" y="173039"/>
            <a:ext cx="8280400" cy="55245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sz="2800"/>
            </a:lvl1pPr>
          </a:lstStyle>
          <a:p>
            <a:pPr>
              <a:defRPr sz="1800" b="0"/>
            </a:pPr>
            <a:r>
              <a:rPr sz="3200" b="1" dirty="0"/>
              <a:t>Euclidean Distance</a:t>
            </a:r>
          </a:p>
        </p:txBody>
      </p:sp>
      <p:pic>
        <p:nvPicPr>
          <p:cNvPr id="139" name="image.pdf"/>
          <p:cNvPicPr/>
          <p:nvPr/>
        </p:nvPicPr>
        <p:blipFill>
          <a:blip r:embed="rId2"/>
          <a:stretch>
            <a:fillRect/>
          </a:stretch>
        </p:blipFill>
        <p:spPr>
          <a:xfrm>
            <a:off x="1905001" y="1295400"/>
            <a:ext cx="3635375" cy="2654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40" name="image.pdf"/>
          <p:cNvPicPr/>
          <p:nvPr/>
        </p:nvPicPr>
        <p:blipFill>
          <a:blip r:embed="rId3"/>
          <a:stretch>
            <a:fillRect/>
          </a:stretch>
        </p:blipFill>
        <p:spPr>
          <a:xfrm>
            <a:off x="6172201" y="1828801"/>
            <a:ext cx="2962275" cy="1363663"/>
          </a:xfrm>
          <a:prstGeom prst="rect">
            <a:avLst/>
          </a:prstGeom>
          <a:ln w="12700">
            <a:miter lim="400000"/>
          </a:ln>
        </p:spPr>
      </p:pic>
      <p:sp>
        <p:nvSpPr>
          <p:cNvPr id="141" name="Shape 141"/>
          <p:cNvSpPr/>
          <p:nvPr/>
        </p:nvSpPr>
        <p:spPr>
          <a:xfrm>
            <a:off x="4724400" y="5638800"/>
            <a:ext cx="2133600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200"/>
              </a:spcBef>
              <a:defRPr sz="2000" b="0"/>
            </a:lvl1pPr>
          </a:lstStyle>
          <a:p>
            <a:pPr lvl="0">
              <a:defRPr sz="1800"/>
            </a:pPr>
            <a:r>
              <a:t>Distance Matrix</a:t>
            </a:r>
          </a:p>
        </p:txBody>
      </p:sp>
      <p:pic>
        <p:nvPicPr>
          <p:cNvPr id="142" name="image.pdf"/>
          <p:cNvPicPr/>
          <p:nvPr/>
        </p:nvPicPr>
        <p:blipFill>
          <a:blip r:embed="rId4"/>
          <a:stretch>
            <a:fillRect/>
          </a:stretch>
        </p:blipFill>
        <p:spPr>
          <a:xfrm>
            <a:off x="3429000" y="4038600"/>
            <a:ext cx="4927600" cy="13652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>
            <a:spLocks noGrp="1"/>
          </p:cNvSpPr>
          <p:nvPr>
            <p:ph type="title" idx="4294967295"/>
          </p:nvPr>
        </p:nvSpPr>
        <p:spPr>
          <a:xfrm>
            <a:off x="1905000" y="152400"/>
            <a:ext cx="8280400" cy="55245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sz="2800"/>
            </a:lvl1pPr>
          </a:lstStyle>
          <a:p>
            <a:pPr lvl="0">
              <a:defRPr sz="1800" b="0"/>
            </a:pPr>
            <a:r>
              <a:rPr sz="3200" b="1" dirty="0" err="1"/>
              <a:t>Minkowski</a:t>
            </a:r>
            <a:r>
              <a:rPr sz="3200" b="1" dirty="0"/>
              <a:t> Distance</a:t>
            </a:r>
          </a:p>
        </p:txBody>
      </p:sp>
      <p:sp>
        <p:nvSpPr>
          <p:cNvPr id="145" name="Shape 145"/>
          <p:cNvSpPr>
            <a:spLocks noGrp="1"/>
          </p:cNvSpPr>
          <p:nvPr>
            <p:ph type="body" idx="4294967295"/>
          </p:nvPr>
        </p:nvSpPr>
        <p:spPr>
          <a:xfrm>
            <a:off x="995424" y="1395815"/>
            <a:ext cx="8440136" cy="2286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117565" indent="-117565" defTabSz="365760">
              <a:spcBef>
                <a:spcPts val="200"/>
              </a:spcBef>
              <a:buChar char=""/>
              <a:defRPr sz="1800" b="0"/>
            </a:pPr>
            <a:r>
              <a:rPr sz="2000" b="1" dirty="0" err="1"/>
              <a:t>Minkowski</a:t>
            </a:r>
            <a:r>
              <a:rPr sz="2000" b="1" dirty="0"/>
              <a:t> Distance is a generalization of Euclidean Distance</a:t>
            </a:r>
          </a:p>
          <a:p>
            <a:pPr marL="297179" lvl="1" indent="-114300" defTabSz="365760">
              <a:spcBef>
                <a:spcPts val="200"/>
              </a:spcBef>
              <a:defRPr sz="1800" b="0"/>
            </a:pPr>
            <a:endParaRPr sz="1800" b="1" dirty="0"/>
          </a:p>
          <a:p>
            <a:pPr marL="137160" indent="-137160" defTabSz="365760">
              <a:spcBef>
                <a:spcPts val="200"/>
              </a:spcBef>
              <a:buChar char=""/>
              <a:defRPr sz="1800" b="0"/>
            </a:pPr>
            <a:endParaRPr sz="2000" b="1" dirty="0"/>
          </a:p>
          <a:p>
            <a:pPr marL="137160" indent="-137160" defTabSz="365760">
              <a:spcBef>
                <a:spcPts val="200"/>
              </a:spcBef>
              <a:buChar char=""/>
              <a:defRPr sz="1800" b="0"/>
            </a:pPr>
            <a:endParaRPr sz="2000" b="1" dirty="0"/>
          </a:p>
          <a:p>
            <a:pPr marL="114300" lvl="1" indent="68580" defTabSz="365760">
              <a:spcBef>
                <a:spcPts val="100"/>
              </a:spcBef>
              <a:buNone/>
              <a:defRPr sz="1800" b="0"/>
            </a:pPr>
            <a:r>
              <a:rPr sz="1800" b="1" dirty="0"/>
              <a:t>   </a:t>
            </a:r>
          </a:p>
          <a:p>
            <a:pPr marL="114300" lvl="1" indent="68580" defTabSz="365760">
              <a:spcBef>
                <a:spcPts val="100"/>
              </a:spcBef>
              <a:buNone/>
              <a:defRPr sz="1800" b="0"/>
            </a:pPr>
            <a:r>
              <a:rPr sz="1800" b="1" dirty="0"/>
              <a:t>   Where </a:t>
            </a:r>
            <a:r>
              <a:rPr sz="1800" b="1" i="1" dirty="0"/>
              <a:t>r</a:t>
            </a:r>
            <a:r>
              <a:rPr sz="1800" b="1" dirty="0"/>
              <a:t> is a parameter, </a:t>
            </a:r>
            <a:r>
              <a:rPr sz="1800" b="1" i="1" dirty="0"/>
              <a:t>n</a:t>
            </a:r>
            <a:r>
              <a:rPr sz="1800" b="1" dirty="0"/>
              <a:t> is the number of dimensions (attributes) and </a:t>
            </a:r>
            <a:r>
              <a:rPr sz="1800" b="1" i="1" dirty="0"/>
              <a:t>p</a:t>
            </a:r>
            <a:r>
              <a:rPr sz="1800" b="1" i="1" baseline="-53499" dirty="0"/>
              <a:t>k</a:t>
            </a:r>
            <a:r>
              <a:rPr sz="1800" b="1" dirty="0"/>
              <a:t> and </a:t>
            </a:r>
            <a:r>
              <a:rPr sz="1800" b="1" i="1" dirty="0" err="1"/>
              <a:t>q</a:t>
            </a:r>
            <a:r>
              <a:rPr sz="1800" b="1" i="1" baseline="-53499" dirty="0" err="1"/>
              <a:t>k</a:t>
            </a:r>
            <a:r>
              <a:rPr sz="1800" b="1" dirty="0"/>
              <a:t> are, respectively, the kth attributes (components) or data objects </a:t>
            </a:r>
            <a:r>
              <a:rPr sz="1800" b="1" i="1" dirty="0"/>
              <a:t>p</a:t>
            </a:r>
            <a:r>
              <a:rPr sz="1800" b="1" dirty="0"/>
              <a:t> and </a:t>
            </a:r>
            <a:r>
              <a:rPr sz="1800" b="1" i="1" dirty="0"/>
              <a:t>q</a:t>
            </a:r>
            <a:r>
              <a:rPr sz="1800" b="1" dirty="0"/>
              <a:t>.</a:t>
            </a:r>
          </a:p>
        </p:txBody>
      </p:sp>
      <p:pic>
        <p:nvPicPr>
          <p:cNvPr id="146" name="image.pdf"/>
          <p:cNvPicPr/>
          <p:nvPr/>
        </p:nvPicPr>
        <p:blipFill>
          <a:blip r:embed="rId2"/>
          <a:stretch>
            <a:fillRect/>
          </a:stretch>
        </p:blipFill>
        <p:spPr>
          <a:xfrm>
            <a:off x="2644191" y="3681815"/>
            <a:ext cx="4314826" cy="149066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/>
          </p:cNvSpPr>
          <p:nvPr>
            <p:ph type="title" idx="4294967295"/>
          </p:nvPr>
        </p:nvSpPr>
        <p:spPr>
          <a:xfrm>
            <a:off x="1453587" y="256572"/>
            <a:ext cx="8280400" cy="55245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sz="2800"/>
            </a:lvl1pPr>
          </a:lstStyle>
          <a:p>
            <a:pPr lvl="0">
              <a:defRPr sz="1800" b="0"/>
            </a:pPr>
            <a:r>
              <a:rPr sz="3200" b="1" dirty="0" err="1"/>
              <a:t>Minkowski</a:t>
            </a:r>
            <a:r>
              <a:rPr sz="3200" b="1" dirty="0"/>
              <a:t> Distance: Examples</a:t>
            </a:r>
          </a:p>
        </p:txBody>
      </p:sp>
      <p:sp>
        <p:nvSpPr>
          <p:cNvPr id="149" name="Shape 149"/>
          <p:cNvSpPr>
            <a:spLocks noGrp="1"/>
          </p:cNvSpPr>
          <p:nvPr>
            <p:ph type="body" idx="4294967295"/>
          </p:nvPr>
        </p:nvSpPr>
        <p:spPr>
          <a:xfrm>
            <a:off x="1275787" y="1397643"/>
            <a:ext cx="8458200" cy="4495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293914" indent="-293914">
              <a:spcBef>
                <a:spcPts val="500"/>
              </a:spcBef>
              <a:buChar char=""/>
              <a:defRPr sz="1800" b="0"/>
            </a:pPr>
            <a:r>
              <a:rPr sz="2400" b="1" i="1" dirty="0"/>
              <a:t>r</a:t>
            </a:r>
            <a:r>
              <a:rPr sz="2400" b="1" dirty="0"/>
              <a:t> = 1.  City block (Manhattan, taxicab, L</a:t>
            </a:r>
            <a:r>
              <a:rPr sz="2400" b="1" baseline="-30000" dirty="0"/>
              <a:t>1</a:t>
            </a:r>
            <a:r>
              <a:rPr sz="2400" b="1" dirty="0"/>
              <a:t> norm) distance. </a:t>
            </a:r>
          </a:p>
          <a:p>
            <a:pPr marL="671512" lvl="1" indent="-214312">
              <a:spcBef>
                <a:spcPts val="400"/>
              </a:spcBef>
              <a:defRPr sz="1800" b="0"/>
            </a:pPr>
            <a:r>
              <a:rPr b="1" dirty="0"/>
              <a:t>A common example of this is the Hamming distance, which is just the number of bits that are different between two binary vectors</a:t>
            </a:r>
          </a:p>
          <a:p>
            <a:pPr lvl="4">
              <a:spcBef>
                <a:spcPts val="400"/>
              </a:spcBef>
              <a:buFontTx/>
              <a:defRPr sz="1800" b="0"/>
            </a:pPr>
            <a:endParaRPr sz="1600" dirty="0"/>
          </a:p>
          <a:p>
            <a:pPr marL="293914" indent="-293914">
              <a:spcBef>
                <a:spcPts val="500"/>
              </a:spcBef>
              <a:buChar char=""/>
              <a:defRPr sz="1800" b="0"/>
            </a:pPr>
            <a:r>
              <a:rPr sz="2400" b="1" i="1" dirty="0"/>
              <a:t>r</a:t>
            </a:r>
            <a:r>
              <a:rPr sz="2400" b="1" dirty="0"/>
              <a:t> = 2.  Euclidean distance</a:t>
            </a:r>
          </a:p>
          <a:p>
            <a:pPr lvl="4">
              <a:spcBef>
                <a:spcPts val="400"/>
              </a:spcBef>
              <a:buFontTx/>
              <a:defRPr sz="1800" b="0"/>
            </a:pPr>
            <a:endParaRPr sz="2400" b="1" dirty="0"/>
          </a:p>
          <a:p>
            <a:pPr marL="293914" indent="-293914">
              <a:spcBef>
                <a:spcPts val="500"/>
              </a:spcBef>
              <a:buChar char=""/>
              <a:defRPr sz="1800" b="0"/>
            </a:pPr>
            <a:r>
              <a:rPr sz="2400" b="1" i="1" dirty="0"/>
              <a:t>r</a:t>
            </a:r>
            <a:r>
              <a:rPr sz="2400" b="1" dirty="0"/>
              <a:t> </a:t>
            </a:r>
            <a:r>
              <a:rPr sz="2400" dirty="0">
                <a:latin typeface="Symbol"/>
                <a:ea typeface="Symbol"/>
                <a:cs typeface="Symbol"/>
                <a:sym typeface="Symbol"/>
              </a:rPr>
              <a:t>→</a:t>
            </a:r>
            <a:r>
              <a:rPr sz="2400" b="1" dirty="0"/>
              <a:t> </a:t>
            </a:r>
            <a:r>
              <a:rPr sz="2400" dirty="0">
                <a:latin typeface="Symbol"/>
                <a:ea typeface="Symbol"/>
                <a:cs typeface="Symbol"/>
                <a:sym typeface="Symbol"/>
              </a:rPr>
              <a:t>∞</a:t>
            </a:r>
            <a:r>
              <a:rPr sz="2400" b="1" dirty="0"/>
              <a:t>.  “supremum” (</a:t>
            </a:r>
            <a:r>
              <a:rPr sz="2400" b="1" dirty="0" err="1"/>
              <a:t>L</a:t>
            </a:r>
            <a:r>
              <a:rPr sz="2400" b="1" baseline="-30000" dirty="0" err="1"/>
              <a:t>max</a:t>
            </a:r>
            <a:r>
              <a:rPr sz="2400" b="1" baseline="-30000" dirty="0"/>
              <a:t> </a:t>
            </a:r>
            <a:r>
              <a:rPr sz="2400" b="1" dirty="0"/>
              <a:t>norm, L</a:t>
            </a:r>
            <a:r>
              <a:rPr sz="2400" baseline="-30000" dirty="0">
                <a:latin typeface="Symbol"/>
                <a:ea typeface="Symbol"/>
                <a:cs typeface="Symbol"/>
                <a:sym typeface="Symbol"/>
              </a:rPr>
              <a:t>∞</a:t>
            </a:r>
            <a:r>
              <a:rPr sz="2400" b="1" baseline="-30000" dirty="0"/>
              <a:t> </a:t>
            </a:r>
            <a:r>
              <a:rPr sz="2400" b="1" dirty="0"/>
              <a:t>norm) distance. </a:t>
            </a:r>
          </a:p>
          <a:p>
            <a:pPr marL="671512" lvl="1" indent="-214312">
              <a:spcBef>
                <a:spcPts val="400"/>
              </a:spcBef>
              <a:defRPr sz="1800" b="0"/>
            </a:pPr>
            <a:r>
              <a:rPr b="1" dirty="0"/>
              <a:t>This is the maximum difference between any component of the vectors</a:t>
            </a:r>
          </a:p>
          <a:p>
            <a:pPr lvl="4">
              <a:spcBef>
                <a:spcPts val="400"/>
              </a:spcBef>
              <a:buFontTx/>
              <a:defRPr sz="1800" b="0"/>
            </a:pPr>
            <a:endParaRPr sz="1600" dirty="0"/>
          </a:p>
          <a:p>
            <a:pPr marL="293914" indent="-293914">
              <a:spcBef>
                <a:spcPts val="500"/>
              </a:spcBef>
              <a:buChar char=""/>
              <a:defRPr sz="1800" b="0"/>
            </a:pPr>
            <a:r>
              <a:rPr sz="2400" b="1" dirty="0"/>
              <a:t>Do not confuse </a:t>
            </a:r>
            <a:r>
              <a:rPr sz="2400" b="1" i="1" dirty="0"/>
              <a:t>r</a:t>
            </a:r>
            <a:r>
              <a:rPr sz="2400" b="1" dirty="0"/>
              <a:t> with </a:t>
            </a:r>
            <a:r>
              <a:rPr sz="2400" b="1" i="1" dirty="0"/>
              <a:t>n</a:t>
            </a:r>
            <a:r>
              <a:rPr sz="2400" b="1" dirty="0"/>
              <a:t>, i.e., all these distances are defined for all numbers of dimensions.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151"/>
          <p:cNvSpPr>
            <a:spLocks noGrp="1"/>
          </p:cNvSpPr>
          <p:nvPr>
            <p:ph type="title" idx="4294967295"/>
          </p:nvPr>
        </p:nvSpPr>
        <p:spPr>
          <a:xfrm>
            <a:off x="1905000" y="152400"/>
            <a:ext cx="8280400" cy="55245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defTabSz="850391">
              <a:defRPr sz="2976"/>
            </a:lvl1pPr>
          </a:lstStyle>
          <a:p>
            <a:pPr lvl="0">
              <a:defRPr sz="1800" b="0"/>
            </a:pPr>
            <a:r>
              <a:rPr sz="3200" b="1" dirty="0" err="1"/>
              <a:t>Minkowski</a:t>
            </a:r>
            <a:r>
              <a:rPr b="1" dirty="0"/>
              <a:t> </a:t>
            </a:r>
            <a:r>
              <a:rPr sz="3200" b="1" dirty="0"/>
              <a:t>Distance</a:t>
            </a:r>
          </a:p>
        </p:txBody>
      </p:sp>
      <p:sp>
        <p:nvSpPr>
          <p:cNvPr id="152" name="Shape 152"/>
          <p:cNvSpPr/>
          <p:nvPr/>
        </p:nvSpPr>
        <p:spPr>
          <a:xfrm>
            <a:off x="6400800" y="5867400"/>
            <a:ext cx="2133600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200"/>
              </a:spcBef>
              <a:defRPr sz="2000" b="0"/>
            </a:lvl1pPr>
          </a:lstStyle>
          <a:p>
            <a:pPr lvl="0">
              <a:defRPr sz="1800"/>
            </a:pPr>
            <a:r>
              <a:t>Distance Matrix</a:t>
            </a:r>
          </a:p>
        </p:txBody>
      </p:sp>
      <p:pic>
        <p:nvPicPr>
          <p:cNvPr id="153" name="image.pdf"/>
          <p:cNvPicPr/>
          <p:nvPr/>
        </p:nvPicPr>
        <p:blipFill>
          <a:blip r:embed="rId2"/>
          <a:stretch>
            <a:fillRect/>
          </a:stretch>
        </p:blipFill>
        <p:spPr>
          <a:xfrm>
            <a:off x="1828801" y="2587626"/>
            <a:ext cx="2962275" cy="13636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54" name="image.pdf"/>
          <p:cNvPicPr/>
          <p:nvPr/>
        </p:nvPicPr>
        <p:blipFill>
          <a:blip r:embed="rId3"/>
          <a:stretch>
            <a:fillRect/>
          </a:stretch>
        </p:blipFill>
        <p:spPr>
          <a:xfrm>
            <a:off x="5334000" y="1142999"/>
            <a:ext cx="4927600" cy="1365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155" name="image.pdf"/>
          <p:cNvPicPr/>
          <p:nvPr/>
        </p:nvPicPr>
        <p:blipFill>
          <a:blip r:embed="rId4"/>
          <a:stretch>
            <a:fillRect/>
          </a:stretch>
        </p:blipFill>
        <p:spPr>
          <a:xfrm>
            <a:off x="5334000" y="2816225"/>
            <a:ext cx="4927600" cy="1365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156" name="image.pdf"/>
          <p:cNvPicPr/>
          <p:nvPr/>
        </p:nvPicPr>
        <p:blipFill>
          <a:blip r:embed="rId5"/>
          <a:stretch>
            <a:fillRect/>
          </a:stretch>
        </p:blipFill>
        <p:spPr>
          <a:xfrm>
            <a:off x="5334000" y="4340226"/>
            <a:ext cx="4872038" cy="137477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58"/>
          <p:cNvSpPr>
            <a:spLocks noGrp="1"/>
          </p:cNvSpPr>
          <p:nvPr>
            <p:ph type="title" idx="4294967295"/>
          </p:nvPr>
        </p:nvSpPr>
        <p:spPr>
          <a:xfrm>
            <a:off x="1905000" y="152400"/>
            <a:ext cx="8280400" cy="552450"/>
          </a:xfrm>
          <a:prstGeom prst="rect">
            <a:avLst/>
          </a:prstGeom>
        </p:spPr>
        <p:txBody>
          <a:bodyPr vert="horz" lIns="0" tIns="0" rIns="0" bIns="0" rtlCol="0" anchor="ctr">
            <a:normAutofit fontScale="90000"/>
          </a:bodyPr>
          <a:lstStyle>
            <a:lvl1pPr defTabSz="850391">
              <a:defRPr sz="2976"/>
            </a:lvl1pPr>
          </a:lstStyle>
          <a:p>
            <a:pPr lvl="0">
              <a:defRPr sz="1800" b="0"/>
            </a:pPr>
            <a:r>
              <a:rPr sz="4400" b="1" dirty="0"/>
              <a:t>Similarity Between Binary Vectors</a:t>
            </a:r>
          </a:p>
        </p:txBody>
      </p:sp>
      <p:sp>
        <p:nvSpPr>
          <p:cNvPr id="159" name="Shape 159"/>
          <p:cNvSpPr>
            <a:spLocks noGrp="1"/>
          </p:cNvSpPr>
          <p:nvPr>
            <p:ph type="body" idx="4294967295"/>
          </p:nvPr>
        </p:nvSpPr>
        <p:spPr>
          <a:xfrm>
            <a:off x="995423" y="1142999"/>
            <a:ext cx="10451939" cy="5442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429768" indent="-429768" defTabSz="859536">
              <a:lnSpc>
                <a:spcPct val="80000"/>
              </a:lnSpc>
              <a:spcBef>
                <a:spcPts val="500"/>
              </a:spcBef>
              <a:buChar char=""/>
              <a:defRPr sz="1800" b="0"/>
            </a:pPr>
            <a:r>
              <a:rPr sz="2256" b="1" dirty="0"/>
              <a:t>Common situation is that objects, </a:t>
            </a:r>
            <a:r>
              <a:rPr sz="2256" b="1" i="1" dirty="0"/>
              <a:t>p</a:t>
            </a:r>
            <a:r>
              <a:rPr sz="2256" b="1" dirty="0"/>
              <a:t> and </a:t>
            </a:r>
            <a:r>
              <a:rPr sz="2256" b="1" i="1" dirty="0"/>
              <a:t>q</a:t>
            </a:r>
            <a:r>
              <a:rPr sz="2256" b="1" dirty="0"/>
              <a:t>, have only binary attributes</a:t>
            </a:r>
          </a:p>
          <a:p>
            <a:pPr marL="2041398" lvl="4" indent="-322325" defTabSz="859536">
              <a:lnSpc>
                <a:spcPct val="80000"/>
              </a:lnSpc>
              <a:spcBef>
                <a:spcPts val="400"/>
              </a:spcBef>
              <a:buFontTx/>
              <a:defRPr sz="1800" b="0"/>
            </a:pPr>
            <a:endParaRPr sz="752" dirty="0"/>
          </a:p>
          <a:p>
            <a:pPr marL="429768" indent="-429768" defTabSz="859536">
              <a:lnSpc>
                <a:spcPct val="80000"/>
              </a:lnSpc>
              <a:spcBef>
                <a:spcPts val="500"/>
              </a:spcBef>
              <a:buChar char=""/>
              <a:defRPr sz="1800" b="0"/>
            </a:pPr>
            <a:r>
              <a:rPr sz="2256" b="1" dirty="0"/>
              <a:t>Compute similarities using the following quantities</a:t>
            </a:r>
          </a:p>
          <a:p>
            <a:pPr marL="501395" indent="-501395" defTabSz="859536">
              <a:lnSpc>
                <a:spcPct val="80000"/>
              </a:lnSpc>
              <a:spcBef>
                <a:spcPts val="400"/>
              </a:spcBef>
              <a:buNone/>
              <a:defRPr sz="1800" b="0"/>
            </a:pPr>
            <a:r>
              <a:rPr sz="1692" b="1" dirty="0">
                <a:latin typeface="CMMI10"/>
                <a:ea typeface="CMMI10"/>
                <a:cs typeface="CMMI10"/>
                <a:sym typeface="CMMI10"/>
              </a:rPr>
              <a:t>	M</a:t>
            </a:r>
            <a:r>
              <a:rPr sz="1692" b="1" baseline="-26212" dirty="0">
                <a:latin typeface="CMR7"/>
                <a:ea typeface="CMR7"/>
                <a:cs typeface="CMR7"/>
                <a:sym typeface="CMR7"/>
              </a:rPr>
              <a:t>01</a:t>
            </a:r>
            <a:r>
              <a:rPr sz="1692" b="1" dirty="0">
                <a:latin typeface="CMR7"/>
                <a:ea typeface="CMR7"/>
                <a:cs typeface="CMR7"/>
                <a:sym typeface="CMR7"/>
              </a:rPr>
              <a:t> </a:t>
            </a:r>
            <a:r>
              <a:rPr sz="1692" b="1" dirty="0">
                <a:latin typeface="cmr10"/>
                <a:ea typeface="cmr10"/>
                <a:cs typeface="cmr10"/>
                <a:sym typeface="cmr10"/>
              </a:rPr>
              <a:t>= the number of attributes where </a:t>
            </a:r>
            <a:r>
              <a:rPr sz="1692" b="1" dirty="0">
                <a:latin typeface="CMMI10"/>
                <a:ea typeface="CMMI10"/>
                <a:cs typeface="CMMI10"/>
                <a:sym typeface="CMMI10"/>
              </a:rPr>
              <a:t>p </a:t>
            </a:r>
            <a:r>
              <a:rPr sz="1692" b="1" dirty="0">
                <a:latin typeface="cmr10"/>
                <a:ea typeface="cmr10"/>
                <a:cs typeface="cmr10"/>
                <a:sym typeface="cmr10"/>
              </a:rPr>
              <a:t>was 0 and </a:t>
            </a:r>
            <a:r>
              <a:rPr sz="1692" b="1" dirty="0">
                <a:latin typeface="CMMI10"/>
                <a:ea typeface="CMMI10"/>
                <a:cs typeface="CMMI10"/>
                <a:sym typeface="CMMI10"/>
              </a:rPr>
              <a:t>q </a:t>
            </a:r>
            <a:r>
              <a:rPr sz="1692" b="1" dirty="0">
                <a:latin typeface="cmr10"/>
                <a:ea typeface="cmr10"/>
                <a:cs typeface="cmr10"/>
                <a:sym typeface="cmr10"/>
              </a:rPr>
              <a:t>was 1</a:t>
            </a:r>
          </a:p>
          <a:p>
            <a:pPr marL="501395" indent="-501395" defTabSz="859536">
              <a:lnSpc>
                <a:spcPct val="80000"/>
              </a:lnSpc>
              <a:spcBef>
                <a:spcPts val="400"/>
              </a:spcBef>
              <a:buNone/>
              <a:defRPr sz="1800" b="0"/>
            </a:pPr>
            <a:r>
              <a:rPr sz="1692" b="1" dirty="0">
                <a:latin typeface="CMMI10"/>
                <a:ea typeface="CMMI10"/>
                <a:cs typeface="CMMI10"/>
                <a:sym typeface="CMMI10"/>
              </a:rPr>
              <a:t>	M</a:t>
            </a:r>
            <a:r>
              <a:rPr sz="1692" b="1" baseline="-26212" dirty="0">
                <a:latin typeface="CMR7"/>
                <a:ea typeface="CMR7"/>
                <a:cs typeface="CMR7"/>
                <a:sym typeface="CMR7"/>
              </a:rPr>
              <a:t>10 </a:t>
            </a:r>
            <a:r>
              <a:rPr sz="1692" b="1" dirty="0">
                <a:latin typeface="cmr10"/>
                <a:ea typeface="cmr10"/>
                <a:cs typeface="cmr10"/>
                <a:sym typeface="cmr10"/>
              </a:rPr>
              <a:t>= the number of attributes where </a:t>
            </a:r>
            <a:r>
              <a:rPr sz="1692" b="1" dirty="0">
                <a:latin typeface="CMMI10"/>
                <a:ea typeface="CMMI10"/>
                <a:cs typeface="CMMI10"/>
                <a:sym typeface="CMMI10"/>
              </a:rPr>
              <a:t>p </a:t>
            </a:r>
            <a:r>
              <a:rPr sz="1692" b="1" dirty="0">
                <a:latin typeface="cmr10"/>
                <a:ea typeface="cmr10"/>
                <a:cs typeface="cmr10"/>
                <a:sym typeface="cmr10"/>
              </a:rPr>
              <a:t>was 1 and </a:t>
            </a:r>
            <a:r>
              <a:rPr sz="1692" b="1" dirty="0">
                <a:latin typeface="CMMI10"/>
                <a:ea typeface="CMMI10"/>
                <a:cs typeface="CMMI10"/>
                <a:sym typeface="CMMI10"/>
              </a:rPr>
              <a:t>q </a:t>
            </a:r>
            <a:r>
              <a:rPr sz="1692" b="1" dirty="0">
                <a:latin typeface="cmr10"/>
                <a:ea typeface="cmr10"/>
                <a:cs typeface="cmr10"/>
                <a:sym typeface="cmr10"/>
              </a:rPr>
              <a:t>was 0</a:t>
            </a:r>
          </a:p>
          <a:p>
            <a:pPr marL="501395" indent="-501395" defTabSz="859536">
              <a:lnSpc>
                <a:spcPct val="80000"/>
              </a:lnSpc>
              <a:spcBef>
                <a:spcPts val="400"/>
              </a:spcBef>
              <a:buNone/>
              <a:defRPr sz="1800" b="0"/>
            </a:pPr>
            <a:r>
              <a:rPr sz="1692" b="1" dirty="0">
                <a:latin typeface="CMMI10"/>
                <a:ea typeface="CMMI10"/>
                <a:cs typeface="CMMI10"/>
                <a:sym typeface="CMMI10"/>
              </a:rPr>
              <a:t>	M</a:t>
            </a:r>
            <a:r>
              <a:rPr sz="1692" b="1" baseline="-26212" dirty="0">
                <a:latin typeface="CMR7"/>
                <a:ea typeface="CMR7"/>
                <a:cs typeface="CMR7"/>
                <a:sym typeface="CMR7"/>
              </a:rPr>
              <a:t>00</a:t>
            </a:r>
            <a:r>
              <a:rPr sz="1692" b="1" dirty="0">
                <a:latin typeface="CMR7"/>
                <a:ea typeface="CMR7"/>
                <a:cs typeface="CMR7"/>
                <a:sym typeface="CMR7"/>
              </a:rPr>
              <a:t> </a:t>
            </a:r>
            <a:r>
              <a:rPr sz="1692" b="1" dirty="0">
                <a:latin typeface="cmr10"/>
                <a:ea typeface="cmr10"/>
                <a:cs typeface="cmr10"/>
                <a:sym typeface="cmr10"/>
              </a:rPr>
              <a:t>= the number of attributes where </a:t>
            </a:r>
            <a:r>
              <a:rPr sz="1692" b="1" dirty="0">
                <a:latin typeface="CMMI10"/>
                <a:ea typeface="CMMI10"/>
                <a:cs typeface="CMMI10"/>
                <a:sym typeface="CMMI10"/>
              </a:rPr>
              <a:t>p </a:t>
            </a:r>
            <a:r>
              <a:rPr sz="1692" b="1" dirty="0">
                <a:latin typeface="cmr10"/>
                <a:ea typeface="cmr10"/>
                <a:cs typeface="cmr10"/>
                <a:sym typeface="cmr10"/>
              </a:rPr>
              <a:t>was 0 and </a:t>
            </a:r>
            <a:r>
              <a:rPr sz="1692" b="1" dirty="0">
                <a:latin typeface="CMMI10"/>
                <a:ea typeface="CMMI10"/>
                <a:cs typeface="CMMI10"/>
                <a:sym typeface="CMMI10"/>
              </a:rPr>
              <a:t>q </a:t>
            </a:r>
            <a:r>
              <a:rPr sz="1692" b="1" dirty="0">
                <a:latin typeface="cmr10"/>
                <a:ea typeface="cmr10"/>
                <a:cs typeface="cmr10"/>
                <a:sym typeface="cmr10"/>
              </a:rPr>
              <a:t>was 0</a:t>
            </a:r>
          </a:p>
          <a:p>
            <a:pPr marL="501395" indent="-501395" defTabSz="859536">
              <a:lnSpc>
                <a:spcPct val="80000"/>
              </a:lnSpc>
              <a:spcBef>
                <a:spcPts val="400"/>
              </a:spcBef>
              <a:buNone/>
              <a:defRPr sz="1800" b="0"/>
            </a:pPr>
            <a:r>
              <a:rPr sz="1692" b="1" dirty="0">
                <a:latin typeface="CMMI10"/>
                <a:ea typeface="CMMI10"/>
                <a:cs typeface="CMMI10"/>
                <a:sym typeface="CMMI10"/>
              </a:rPr>
              <a:t>	M</a:t>
            </a:r>
            <a:r>
              <a:rPr sz="1692" b="1" baseline="-26212" dirty="0">
                <a:latin typeface="CMR7"/>
                <a:ea typeface="CMR7"/>
                <a:cs typeface="CMR7"/>
                <a:sym typeface="CMR7"/>
              </a:rPr>
              <a:t>11</a:t>
            </a:r>
            <a:r>
              <a:rPr sz="1692" b="1" dirty="0">
                <a:latin typeface="CMR7"/>
                <a:ea typeface="CMR7"/>
                <a:cs typeface="CMR7"/>
                <a:sym typeface="CMR7"/>
              </a:rPr>
              <a:t> </a:t>
            </a:r>
            <a:r>
              <a:rPr sz="1692" b="1" dirty="0">
                <a:latin typeface="cmr10"/>
                <a:ea typeface="cmr10"/>
                <a:cs typeface="cmr10"/>
                <a:sym typeface="cmr10"/>
              </a:rPr>
              <a:t>= the number of attributes where </a:t>
            </a:r>
            <a:r>
              <a:rPr sz="1692" b="1" dirty="0">
                <a:latin typeface="CMMI10"/>
                <a:ea typeface="CMMI10"/>
                <a:cs typeface="CMMI10"/>
                <a:sym typeface="CMMI10"/>
              </a:rPr>
              <a:t>p </a:t>
            </a:r>
            <a:r>
              <a:rPr sz="1692" b="1" dirty="0">
                <a:latin typeface="cmr10"/>
                <a:ea typeface="cmr10"/>
                <a:cs typeface="cmr10"/>
                <a:sym typeface="cmr10"/>
              </a:rPr>
              <a:t>was 1 and </a:t>
            </a:r>
            <a:r>
              <a:rPr sz="1692" b="1" dirty="0">
                <a:latin typeface="CMMI10"/>
                <a:ea typeface="CMMI10"/>
                <a:cs typeface="CMMI10"/>
                <a:sym typeface="CMMI10"/>
              </a:rPr>
              <a:t>q </a:t>
            </a:r>
            <a:r>
              <a:rPr sz="1692" b="1" dirty="0">
                <a:latin typeface="cmr10"/>
                <a:ea typeface="cmr10"/>
                <a:cs typeface="cmr10"/>
                <a:sym typeface="cmr10"/>
              </a:rPr>
              <a:t>was 1</a:t>
            </a:r>
          </a:p>
          <a:p>
            <a:pPr marL="501395" indent="-501395" defTabSz="859536">
              <a:lnSpc>
                <a:spcPct val="80000"/>
              </a:lnSpc>
              <a:buNone/>
              <a:defRPr sz="1800" b="0"/>
            </a:pPr>
            <a:endParaRPr sz="752" b="1" dirty="0">
              <a:latin typeface="CMMI10"/>
              <a:ea typeface="CMMI10"/>
              <a:cs typeface="CMMI10"/>
              <a:sym typeface="CMMI10"/>
            </a:endParaRPr>
          </a:p>
          <a:p>
            <a:pPr marL="429768" indent="-429768" defTabSz="859536">
              <a:lnSpc>
                <a:spcPct val="80000"/>
              </a:lnSpc>
              <a:spcBef>
                <a:spcPts val="500"/>
              </a:spcBef>
              <a:buChar char=""/>
              <a:defRPr sz="1800" b="0"/>
            </a:pPr>
            <a:r>
              <a:rPr sz="2256" b="1" dirty="0"/>
              <a:t>Simple Matching and Jaccard Coefficients </a:t>
            </a:r>
          </a:p>
          <a:p>
            <a:pPr marL="501395" indent="-501395" defTabSz="859536">
              <a:lnSpc>
                <a:spcPct val="80000"/>
              </a:lnSpc>
              <a:spcBef>
                <a:spcPts val="500"/>
              </a:spcBef>
              <a:buNone/>
              <a:defRPr sz="1800" b="0"/>
            </a:pPr>
            <a:r>
              <a:rPr sz="1316" b="1" dirty="0"/>
              <a:t>	</a:t>
            </a:r>
            <a:endParaRPr lang="it-IT" sz="1316" b="1" dirty="0"/>
          </a:p>
          <a:p>
            <a:pPr marL="501395" indent="-501395" defTabSz="859536">
              <a:lnSpc>
                <a:spcPct val="80000"/>
              </a:lnSpc>
              <a:spcBef>
                <a:spcPts val="500"/>
              </a:spcBef>
              <a:buNone/>
              <a:defRPr sz="1800" b="0"/>
            </a:pPr>
            <a:r>
              <a:rPr lang="it-IT" sz="1316" b="1" baseline="-26212" dirty="0"/>
              <a:t>	</a:t>
            </a:r>
            <a:r>
              <a:rPr sz="2256" b="1" baseline="-26212" dirty="0"/>
              <a:t>SMC =  number of matches / number of attributes </a:t>
            </a:r>
          </a:p>
          <a:p>
            <a:pPr marL="501395" indent="-501395" defTabSz="859536">
              <a:lnSpc>
                <a:spcPct val="80000"/>
              </a:lnSpc>
              <a:spcBef>
                <a:spcPts val="500"/>
              </a:spcBef>
              <a:buNone/>
              <a:defRPr sz="1800" b="0"/>
            </a:pPr>
            <a:r>
              <a:rPr sz="2256" b="1" baseline="-26212" dirty="0"/>
              <a:t>         		 =  (M11 + M00) / (M01 + M10 + M11 + M00)</a:t>
            </a:r>
          </a:p>
          <a:p>
            <a:pPr marL="501395" indent="-501395" defTabSz="859536">
              <a:lnSpc>
                <a:spcPct val="80000"/>
              </a:lnSpc>
              <a:buNone/>
              <a:defRPr sz="1800" b="0"/>
            </a:pPr>
            <a:endParaRPr sz="2632" b="1" baseline="-26212" dirty="0"/>
          </a:p>
          <a:p>
            <a:pPr marL="501395" indent="-501395" defTabSz="859536">
              <a:lnSpc>
                <a:spcPct val="80000"/>
              </a:lnSpc>
              <a:buNone/>
              <a:defRPr sz="1800" b="0"/>
            </a:pPr>
            <a:r>
              <a:rPr sz="2632" b="1" baseline="-26212" dirty="0"/>
              <a:t>	J</a:t>
            </a:r>
            <a:r>
              <a:rPr lang="it-IT" sz="2632" b="1" baseline="-26212" dirty="0" err="1"/>
              <a:t>accard</a:t>
            </a:r>
            <a:r>
              <a:rPr sz="2632" b="1" baseline="-26212" dirty="0"/>
              <a:t> = number of 11 matches / number of not-both-zero attributes values</a:t>
            </a:r>
          </a:p>
          <a:p>
            <a:pPr marL="501395" indent="-501395" defTabSz="859536">
              <a:lnSpc>
                <a:spcPct val="80000"/>
              </a:lnSpc>
              <a:buNone/>
              <a:defRPr sz="1800" b="0"/>
            </a:pPr>
            <a:r>
              <a:rPr sz="2632" b="1" baseline="-26212" dirty="0"/>
              <a:t>   	   = (M11) / (M01 + M10 + M11) 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>
            <a:spLocks noGrp="1"/>
          </p:cNvSpPr>
          <p:nvPr>
            <p:ph type="title" idx="4294967295"/>
          </p:nvPr>
        </p:nvSpPr>
        <p:spPr>
          <a:xfrm>
            <a:off x="1884364" y="55562"/>
            <a:ext cx="8280400" cy="55245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defTabSz="850391">
              <a:defRPr sz="2976"/>
            </a:lvl1pPr>
          </a:lstStyle>
          <a:p>
            <a:pPr lvl="0">
              <a:defRPr sz="1800" b="0"/>
            </a:pPr>
            <a:r>
              <a:rPr sz="4400" b="1" dirty="0"/>
              <a:t>SMC versus Jaccard: Example</a:t>
            </a:r>
          </a:p>
        </p:txBody>
      </p:sp>
      <p:sp>
        <p:nvSpPr>
          <p:cNvPr id="162" name="Shape 162"/>
          <p:cNvSpPr>
            <a:spLocks noGrp="1"/>
          </p:cNvSpPr>
          <p:nvPr>
            <p:ph type="body" idx="4294967295"/>
          </p:nvPr>
        </p:nvSpPr>
        <p:spPr>
          <a:xfrm>
            <a:off x="1179915" y="1235597"/>
            <a:ext cx="8984849" cy="510698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533400" indent="-533400">
              <a:spcBef>
                <a:spcPts val="500"/>
              </a:spcBef>
              <a:buNone/>
              <a:defRPr sz="1800" b="0"/>
            </a:pPr>
            <a:r>
              <a:rPr sz="2400" b="1" i="1" dirty="0"/>
              <a:t>p</a:t>
            </a:r>
            <a:r>
              <a:rPr sz="2400" b="1" dirty="0"/>
              <a:t> =  1 0 0 0 0 0 0 0 0 0    	</a:t>
            </a:r>
            <a:r>
              <a:rPr sz="2400" b="1" i="1" dirty="0"/>
              <a:t>	</a:t>
            </a:r>
            <a:endParaRPr sz="2400" b="1" dirty="0"/>
          </a:p>
          <a:p>
            <a:pPr marL="533400" indent="-533400">
              <a:spcBef>
                <a:spcPts val="500"/>
              </a:spcBef>
              <a:buNone/>
              <a:defRPr sz="1800" b="0"/>
            </a:pPr>
            <a:r>
              <a:rPr sz="2400" b="1" i="1" dirty="0"/>
              <a:t>q</a:t>
            </a:r>
            <a:r>
              <a:rPr sz="2400" b="1" dirty="0"/>
              <a:t> =  0 0 0 0 0 0 1 0 0 1</a:t>
            </a:r>
            <a:r>
              <a:rPr sz="2400" b="1" i="1" dirty="0"/>
              <a:t> </a:t>
            </a:r>
          </a:p>
          <a:p>
            <a:pPr marL="533400" indent="-533400">
              <a:buNone/>
              <a:defRPr sz="1800" b="0"/>
            </a:pPr>
            <a:endParaRPr sz="2400" b="1" i="1" dirty="0"/>
          </a:p>
          <a:p>
            <a:pPr marL="533400" indent="-533400">
              <a:spcBef>
                <a:spcPts val="400"/>
              </a:spcBef>
              <a:buNone/>
              <a:defRPr sz="1800" b="0"/>
            </a:pPr>
            <a:r>
              <a:rPr b="1" dirty="0">
                <a:latin typeface="CMMI10"/>
                <a:ea typeface="CMMI10"/>
                <a:cs typeface="CMMI10"/>
                <a:sym typeface="CMMI10"/>
              </a:rPr>
              <a:t>M</a:t>
            </a:r>
            <a:r>
              <a:rPr b="1" baseline="-25000" dirty="0">
                <a:latin typeface="CMR7"/>
                <a:ea typeface="CMR7"/>
                <a:cs typeface="CMR7"/>
                <a:sym typeface="CMR7"/>
              </a:rPr>
              <a:t>01</a:t>
            </a:r>
            <a:r>
              <a:rPr b="1" dirty="0">
                <a:latin typeface="CMR7"/>
                <a:ea typeface="CMR7"/>
                <a:cs typeface="CMR7"/>
                <a:sym typeface="CMR7"/>
              </a:rPr>
              <a:t> </a:t>
            </a:r>
            <a:r>
              <a:rPr b="1" dirty="0">
                <a:latin typeface="cmr10"/>
                <a:ea typeface="cmr10"/>
                <a:cs typeface="cmr10"/>
                <a:sym typeface="cmr10"/>
              </a:rPr>
              <a:t>= 2   (the number of attributes where </a:t>
            </a:r>
            <a:r>
              <a:rPr b="1" dirty="0">
                <a:latin typeface="CMMI10"/>
                <a:ea typeface="CMMI10"/>
                <a:cs typeface="CMMI10"/>
                <a:sym typeface="CMMI10"/>
              </a:rPr>
              <a:t>p </a:t>
            </a:r>
            <a:r>
              <a:rPr b="1" dirty="0">
                <a:latin typeface="cmr10"/>
                <a:ea typeface="cmr10"/>
                <a:cs typeface="cmr10"/>
                <a:sym typeface="cmr10"/>
              </a:rPr>
              <a:t>was 0 and </a:t>
            </a:r>
            <a:r>
              <a:rPr b="1" dirty="0">
                <a:latin typeface="CMMI10"/>
                <a:ea typeface="CMMI10"/>
                <a:cs typeface="CMMI10"/>
                <a:sym typeface="CMMI10"/>
              </a:rPr>
              <a:t>q </a:t>
            </a:r>
            <a:r>
              <a:rPr b="1" dirty="0">
                <a:latin typeface="cmr10"/>
                <a:ea typeface="cmr10"/>
                <a:cs typeface="cmr10"/>
                <a:sym typeface="cmr10"/>
              </a:rPr>
              <a:t>was 1)</a:t>
            </a:r>
          </a:p>
          <a:p>
            <a:pPr marL="533400" indent="-533400">
              <a:spcBef>
                <a:spcPts val="400"/>
              </a:spcBef>
              <a:buNone/>
              <a:defRPr sz="1800" b="0"/>
            </a:pPr>
            <a:r>
              <a:rPr b="1" dirty="0">
                <a:latin typeface="CMMI10"/>
                <a:ea typeface="CMMI10"/>
                <a:cs typeface="CMMI10"/>
                <a:sym typeface="CMMI10"/>
              </a:rPr>
              <a:t>M</a:t>
            </a:r>
            <a:r>
              <a:rPr b="1" baseline="-25000" dirty="0">
                <a:latin typeface="CMR7"/>
                <a:ea typeface="CMR7"/>
                <a:cs typeface="CMR7"/>
                <a:sym typeface="CMR7"/>
              </a:rPr>
              <a:t>10</a:t>
            </a:r>
            <a:r>
              <a:rPr b="1" dirty="0">
                <a:latin typeface="CMR7"/>
                <a:ea typeface="CMR7"/>
                <a:cs typeface="CMR7"/>
                <a:sym typeface="CMR7"/>
              </a:rPr>
              <a:t> </a:t>
            </a:r>
            <a:r>
              <a:rPr b="1" dirty="0">
                <a:latin typeface="cmr10"/>
                <a:ea typeface="cmr10"/>
                <a:cs typeface="cmr10"/>
                <a:sym typeface="cmr10"/>
              </a:rPr>
              <a:t>= 1   (the number of attributes where </a:t>
            </a:r>
            <a:r>
              <a:rPr b="1" dirty="0">
                <a:latin typeface="CMMI10"/>
                <a:ea typeface="CMMI10"/>
                <a:cs typeface="CMMI10"/>
                <a:sym typeface="CMMI10"/>
              </a:rPr>
              <a:t>p </a:t>
            </a:r>
            <a:r>
              <a:rPr b="1" dirty="0">
                <a:latin typeface="cmr10"/>
                <a:ea typeface="cmr10"/>
                <a:cs typeface="cmr10"/>
                <a:sym typeface="cmr10"/>
              </a:rPr>
              <a:t>was 1 and </a:t>
            </a:r>
            <a:r>
              <a:rPr b="1" dirty="0">
                <a:latin typeface="CMMI10"/>
                <a:ea typeface="CMMI10"/>
                <a:cs typeface="CMMI10"/>
                <a:sym typeface="CMMI10"/>
              </a:rPr>
              <a:t>q </a:t>
            </a:r>
            <a:r>
              <a:rPr b="1" dirty="0">
                <a:latin typeface="cmr10"/>
                <a:ea typeface="cmr10"/>
                <a:cs typeface="cmr10"/>
                <a:sym typeface="cmr10"/>
              </a:rPr>
              <a:t>was 0)</a:t>
            </a:r>
          </a:p>
          <a:p>
            <a:pPr marL="533400" indent="-533400">
              <a:spcBef>
                <a:spcPts val="400"/>
              </a:spcBef>
              <a:buNone/>
              <a:defRPr sz="1800" b="0"/>
            </a:pPr>
            <a:r>
              <a:rPr b="1" dirty="0">
                <a:latin typeface="CMMI10"/>
                <a:ea typeface="CMMI10"/>
                <a:cs typeface="CMMI10"/>
                <a:sym typeface="CMMI10"/>
              </a:rPr>
              <a:t>M</a:t>
            </a:r>
            <a:r>
              <a:rPr b="1" baseline="-25000" dirty="0">
                <a:latin typeface="CMR7"/>
                <a:ea typeface="CMR7"/>
                <a:cs typeface="CMR7"/>
                <a:sym typeface="CMR7"/>
              </a:rPr>
              <a:t>00</a:t>
            </a:r>
            <a:r>
              <a:rPr b="1" dirty="0">
                <a:latin typeface="CMR7"/>
                <a:ea typeface="CMR7"/>
                <a:cs typeface="CMR7"/>
                <a:sym typeface="CMR7"/>
              </a:rPr>
              <a:t> </a:t>
            </a:r>
            <a:r>
              <a:rPr b="1" dirty="0">
                <a:latin typeface="cmr10"/>
                <a:ea typeface="cmr10"/>
                <a:cs typeface="cmr10"/>
                <a:sym typeface="cmr10"/>
              </a:rPr>
              <a:t>= 7   (the number of attributes where </a:t>
            </a:r>
            <a:r>
              <a:rPr b="1" dirty="0">
                <a:latin typeface="CMMI10"/>
                <a:ea typeface="CMMI10"/>
                <a:cs typeface="CMMI10"/>
                <a:sym typeface="CMMI10"/>
              </a:rPr>
              <a:t>p </a:t>
            </a:r>
            <a:r>
              <a:rPr b="1" dirty="0">
                <a:latin typeface="cmr10"/>
                <a:ea typeface="cmr10"/>
                <a:cs typeface="cmr10"/>
                <a:sym typeface="cmr10"/>
              </a:rPr>
              <a:t>was 0 and </a:t>
            </a:r>
            <a:r>
              <a:rPr b="1" dirty="0">
                <a:latin typeface="CMMI10"/>
                <a:ea typeface="CMMI10"/>
                <a:cs typeface="CMMI10"/>
                <a:sym typeface="CMMI10"/>
              </a:rPr>
              <a:t>q </a:t>
            </a:r>
            <a:r>
              <a:rPr b="1" dirty="0">
                <a:latin typeface="cmr10"/>
                <a:ea typeface="cmr10"/>
                <a:cs typeface="cmr10"/>
                <a:sym typeface="cmr10"/>
              </a:rPr>
              <a:t>was 0)</a:t>
            </a:r>
          </a:p>
          <a:p>
            <a:pPr marL="533400" indent="-533400">
              <a:spcBef>
                <a:spcPts val="400"/>
              </a:spcBef>
              <a:buNone/>
              <a:defRPr sz="1800" b="0"/>
            </a:pPr>
            <a:r>
              <a:rPr b="1" dirty="0">
                <a:latin typeface="CMMI10"/>
                <a:ea typeface="CMMI10"/>
                <a:cs typeface="CMMI10"/>
                <a:sym typeface="CMMI10"/>
              </a:rPr>
              <a:t>M</a:t>
            </a:r>
            <a:r>
              <a:rPr b="1" baseline="-25000" dirty="0">
                <a:latin typeface="CMR7"/>
                <a:ea typeface="CMR7"/>
                <a:cs typeface="CMR7"/>
                <a:sym typeface="CMR7"/>
              </a:rPr>
              <a:t>11</a:t>
            </a:r>
            <a:r>
              <a:rPr b="1" dirty="0">
                <a:latin typeface="CMR7"/>
                <a:ea typeface="CMR7"/>
                <a:cs typeface="CMR7"/>
                <a:sym typeface="CMR7"/>
              </a:rPr>
              <a:t> </a:t>
            </a:r>
            <a:r>
              <a:rPr b="1" dirty="0">
                <a:latin typeface="cmr10"/>
                <a:ea typeface="cmr10"/>
                <a:cs typeface="cmr10"/>
                <a:sym typeface="cmr10"/>
              </a:rPr>
              <a:t>= 0   (the number of attributes where </a:t>
            </a:r>
            <a:r>
              <a:rPr b="1" dirty="0">
                <a:latin typeface="CMMI10"/>
                <a:ea typeface="CMMI10"/>
                <a:cs typeface="CMMI10"/>
                <a:sym typeface="CMMI10"/>
              </a:rPr>
              <a:t>p </a:t>
            </a:r>
            <a:r>
              <a:rPr b="1" dirty="0">
                <a:latin typeface="cmr10"/>
                <a:ea typeface="cmr10"/>
                <a:cs typeface="cmr10"/>
                <a:sym typeface="cmr10"/>
              </a:rPr>
              <a:t>was 1 and </a:t>
            </a:r>
            <a:r>
              <a:rPr b="1" dirty="0">
                <a:latin typeface="CMMI10"/>
                <a:ea typeface="CMMI10"/>
                <a:cs typeface="CMMI10"/>
                <a:sym typeface="CMMI10"/>
              </a:rPr>
              <a:t>q </a:t>
            </a:r>
            <a:r>
              <a:rPr b="1" dirty="0">
                <a:latin typeface="cmr10"/>
                <a:ea typeface="cmr10"/>
                <a:cs typeface="cmr10"/>
                <a:sym typeface="cmr10"/>
              </a:rPr>
              <a:t>was 1)</a:t>
            </a:r>
            <a:endParaRPr b="1" dirty="0">
              <a:latin typeface="CMMI10"/>
              <a:ea typeface="CMMI10"/>
              <a:cs typeface="CMMI10"/>
              <a:sym typeface="CMMI10"/>
            </a:endParaRPr>
          </a:p>
          <a:p>
            <a:pPr marL="533400" indent="-533400">
              <a:spcBef>
                <a:spcPts val="500"/>
              </a:spcBef>
              <a:buNone/>
              <a:defRPr sz="1800" b="0"/>
            </a:pPr>
            <a:r>
              <a:rPr sz="2400" b="1" i="1" dirty="0"/>
              <a:t>	</a:t>
            </a:r>
          </a:p>
          <a:p>
            <a:pPr marL="533400" indent="-533400">
              <a:spcBef>
                <a:spcPts val="500"/>
              </a:spcBef>
              <a:buNone/>
              <a:defRPr sz="1800" b="0"/>
            </a:pPr>
            <a:r>
              <a:rPr sz="2000" b="1" dirty="0"/>
              <a:t>SMC = (M</a:t>
            </a:r>
            <a:r>
              <a:rPr sz="2000" b="1" baseline="-30000" dirty="0"/>
              <a:t>11</a:t>
            </a:r>
            <a:r>
              <a:rPr sz="2000" b="1" dirty="0"/>
              <a:t> + M</a:t>
            </a:r>
            <a:r>
              <a:rPr sz="2000" b="1" baseline="-30000" dirty="0"/>
              <a:t>00</a:t>
            </a:r>
            <a:r>
              <a:rPr sz="2000" b="1" dirty="0"/>
              <a:t>)/(M</a:t>
            </a:r>
            <a:r>
              <a:rPr sz="2000" b="1" baseline="-30000" dirty="0"/>
              <a:t>01</a:t>
            </a:r>
            <a:r>
              <a:rPr sz="2000" b="1" dirty="0"/>
              <a:t> + M</a:t>
            </a:r>
            <a:r>
              <a:rPr sz="2000" b="1" baseline="-30000" dirty="0"/>
              <a:t>10</a:t>
            </a:r>
            <a:r>
              <a:rPr sz="2000" b="1" dirty="0"/>
              <a:t> + M</a:t>
            </a:r>
            <a:r>
              <a:rPr sz="2000" b="1" baseline="-30000" dirty="0"/>
              <a:t>11</a:t>
            </a:r>
            <a:r>
              <a:rPr sz="2000" b="1" dirty="0"/>
              <a:t> + M</a:t>
            </a:r>
            <a:r>
              <a:rPr sz="2000" b="1" baseline="-30000" dirty="0"/>
              <a:t>00</a:t>
            </a:r>
            <a:r>
              <a:rPr sz="2000" b="1" dirty="0"/>
              <a:t>) = (0+7) / (2+1+0+7) = 0.7</a:t>
            </a:r>
            <a:r>
              <a:rPr sz="2400" b="1" dirty="0"/>
              <a:t> </a:t>
            </a:r>
          </a:p>
          <a:p>
            <a:pPr marL="533400" indent="-533400">
              <a:buNone/>
              <a:defRPr sz="1800" b="0"/>
            </a:pPr>
            <a:endParaRPr sz="2400" b="1" dirty="0"/>
          </a:p>
          <a:p>
            <a:pPr marL="533400" indent="-533400">
              <a:buNone/>
              <a:defRPr sz="1800" b="0"/>
            </a:pPr>
            <a:r>
              <a:rPr sz="2000" b="1" dirty="0"/>
              <a:t>J = (M</a:t>
            </a:r>
            <a:r>
              <a:rPr sz="2000" b="1" baseline="-30000" dirty="0"/>
              <a:t>11</a:t>
            </a:r>
            <a:r>
              <a:rPr sz="2000" b="1" dirty="0"/>
              <a:t>) / (M</a:t>
            </a:r>
            <a:r>
              <a:rPr sz="2000" b="1" baseline="-30000" dirty="0"/>
              <a:t>01</a:t>
            </a:r>
            <a:r>
              <a:rPr sz="2000" b="1" dirty="0"/>
              <a:t> + M</a:t>
            </a:r>
            <a:r>
              <a:rPr sz="2000" b="1" baseline="-30000" dirty="0"/>
              <a:t>10</a:t>
            </a:r>
            <a:r>
              <a:rPr sz="2000" b="1" dirty="0"/>
              <a:t> + M</a:t>
            </a:r>
            <a:r>
              <a:rPr sz="2000" b="1" baseline="-30000" dirty="0"/>
              <a:t>11</a:t>
            </a:r>
            <a:r>
              <a:rPr sz="2000" b="1" dirty="0"/>
              <a:t>) = 0 / (2 + 1 + 0) = 0</a:t>
            </a:r>
            <a:r>
              <a:rPr b="1" dirty="0"/>
              <a:t> 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64"/>
          <p:cNvSpPr>
            <a:spLocks noGrp="1"/>
          </p:cNvSpPr>
          <p:nvPr>
            <p:ph type="title" idx="4294967295"/>
          </p:nvPr>
        </p:nvSpPr>
        <p:spPr>
          <a:xfrm>
            <a:off x="1905000" y="152400"/>
            <a:ext cx="8280400" cy="55245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defTabSz="850391">
              <a:defRPr sz="2976"/>
            </a:lvl1pPr>
          </a:lstStyle>
          <a:p>
            <a:pPr lvl="0">
              <a:defRPr sz="1800" b="0"/>
            </a:pPr>
            <a:r>
              <a:rPr sz="4400" b="1" dirty="0"/>
              <a:t>Cosine Similarity</a:t>
            </a:r>
          </a:p>
        </p:txBody>
      </p:sp>
      <p:sp>
        <p:nvSpPr>
          <p:cNvPr id="165" name="Shape 165"/>
          <p:cNvSpPr>
            <a:spLocks noGrp="1"/>
          </p:cNvSpPr>
          <p:nvPr>
            <p:ph type="body" idx="4294967295"/>
          </p:nvPr>
        </p:nvSpPr>
        <p:spPr>
          <a:xfrm>
            <a:off x="706056" y="1143000"/>
            <a:ext cx="11485944" cy="5715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0" indent="0" algn="just">
              <a:spcBef>
                <a:spcPts val="400"/>
              </a:spcBef>
              <a:buChar char=""/>
              <a:defRPr sz="1800" b="0"/>
            </a:pPr>
            <a:r>
              <a:rPr sz="2000" b="1" dirty="0"/>
              <a:t> If </a:t>
            </a:r>
            <a:r>
              <a:rPr sz="2000" b="1" i="1" dirty="0"/>
              <a:t>d</a:t>
            </a:r>
            <a:r>
              <a:rPr sz="2000" b="1" i="1" baseline="-30000" dirty="0"/>
              <a:t>1</a:t>
            </a:r>
            <a:r>
              <a:rPr sz="2000" b="1" dirty="0"/>
              <a:t> and </a:t>
            </a:r>
            <a:r>
              <a:rPr sz="2000" b="1" i="1" dirty="0"/>
              <a:t>d</a:t>
            </a:r>
            <a:r>
              <a:rPr sz="2000" b="1" i="1" baseline="-30000" dirty="0"/>
              <a:t>2</a:t>
            </a:r>
            <a:r>
              <a:rPr sz="2000" b="1" dirty="0"/>
              <a:t> are two document vectors, then</a:t>
            </a:r>
          </a:p>
          <a:p>
            <a:pPr marL="0" indent="0" algn="just">
              <a:spcBef>
                <a:spcPts val="400"/>
              </a:spcBef>
              <a:buNone/>
              <a:defRPr sz="1800" b="0"/>
            </a:pPr>
            <a:r>
              <a:rPr sz="2000" b="1" dirty="0"/>
              <a:t>             cos( </a:t>
            </a:r>
            <a:r>
              <a:rPr sz="2000" b="1" i="1" dirty="0"/>
              <a:t>d</a:t>
            </a:r>
            <a:r>
              <a:rPr sz="2000" b="1" i="1" baseline="-30000" dirty="0"/>
              <a:t>1</a:t>
            </a:r>
            <a:r>
              <a:rPr sz="2000" b="1" i="1" dirty="0"/>
              <a:t>, d</a:t>
            </a:r>
            <a:r>
              <a:rPr sz="2000" b="1" i="1" baseline="-30000" dirty="0"/>
              <a:t>2</a:t>
            </a:r>
            <a:r>
              <a:rPr sz="2000" b="1" dirty="0"/>
              <a:t> ) =  (</a:t>
            </a:r>
            <a:r>
              <a:rPr sz="2000" b="1" i="1" dirty="0"/>
              <a:t>d</a:t>
            </a:r>
            <a:r>
              <a:rPr sz="2000" b="1" i="1" baseline="-30000" dirty="0"/>
              <a:t>1</a:t>
            </a:r>
            <a:r>
              <a:rPr sz="2000" b="1" dirty="0"/>
              <a:t> </a:t>
            </a:r>
            <a:r>
              <a:rPr sz="2000" dirty="0">
                <a:latin typeface="Symbol"/>
                <a:ea typeface="Symbol"/>
                <a:cs typeface="Symbol"/>
                <a:sym typeface="Symbol"/>
              </a:rPr>
              <a:t>•</a:t>
            </a:r>
            <a:r>
              <a:rPr sz="2000" b="1" dirty="0"/>
              <a:t> </a:t>
            </a:r>
            <a:r>
              <a:rPr sz="2000" b="1" i="1" dirty="0"/>
              <a:t>d</a:t>
            </a:r>
            <a:r>
              <a:rPr sz="2000" b="1" i="1" baseline="-30000" dirty="0"/>
              <a:t>2</a:t>
            </a:r>
            <a:r>
              <a:rPr sz="2000" b="1" dirty="0"/>
              <a:t>) / ||</a:t>
            </a:r>
            <a:r>
              <a:rPr sz="2000" b="1" i="1" dirty="0"/>
              <a:t>d</a:t>
            </a:r>
            <a:r>
              <a:rPr sz="2000" b="1" i="1" baseline="-30000" dirty="0"/>
              <a:t>1</a:t>
            </a:r>
            <a:r>
              <a:rPr sz="2000" b="1" dirty="0"/>
              <a:t>|| ||</a:t>
            </a:r>
            <a:r>
              <a:rPr sz="2000" b="1" i="1" dirty="0"/>
              <a:t>d</a:t>
            </a:r>
            <a:r>
              <a:rPr sz="2000" b="1" i="1" baseline="-30000" dirty="0"/>
              <a:t>2</a:t>
            </a:r>
            <a:r>
              <a:rPr sz="2000" b="1" dirty="0"/>
              <a:t>|| , </a:t>
            </a:r>
          </a:p>
          <a:p>
            <a:pPr marL="0" indent="0" algn="just">
              <a:spcBef>
                <a:spcPts val="400"/>
              </a:spcBef>
              <a:buNone/>
              <a:defRPr sz="1800" b="0"/>
            </a:pPr>
            <a:r>
              <a:rPr sz="2400" b="1" dirty="0"/>
              <a:t>   where </a:t>
            </a:r>
            <a:r>
              <a:rPr sz="2400" dirty="0">
                <a:latin typeface="Symbol"/>
                <a:ea typeface="Symbol"/>
                <a:cs typeface="Symbol"/>
                <a:sym typeface="Symbol"/>
              </a:rPr>
              <a:t>•</a:t>
            </a:r>
            <a:r>
              <a:rPr sz="2400" b="1" dirty="0"/>
              <a:t> indicates vector dot product and || </a:t>
            </a:r>
            <a:r>
              <a:rPr sz="2400" b="1" i="1" dirty="0"/>
              <a:t>d </a:t>
            </a:r>
            <a:r>
              <a:rPr sz="2400" b="1" dirty="0"/>
              <a:t>|| is  the   length of vector </a:t>
            </a:r>
            <a:r>
              <a:rPr sz="2400" b="1" i="1" dirty="0"/>
              <a:t>d</a:t>
            </a:r>
            <a:r>
              <a:rPr sz="2400" b="1" dirty="0"/>
              <a:t>.</a:t>
            </a:r>
            <a:r>
              <a:rPr sz="2000" b="1" dirty="0"/>
              <a:t>  </a:t>
            </a:r>
          </a:p>
          <a:p>
            <a:pPr marL="2514600" lvl="4" indent="-342900" algn="just">
              <a:spcBef>
                <a:spcPts val="400"/>
              </a:spcBef>
              <a:buFontTx/>
              <a:defRPr sz="1800" b="0"/>
            </a:pPr>
            <a:endParaRPr lang="it-IT" sz="2400" dirty="0"/>
          </a:p>
          <a:p>
            <a:pPr marL="2514600" lvl="4" indent="-342900" algn="just">
              <a:spcBef>
                <a:spcPts val="400"/>
              </a:spcBef>
              <a:buFontTx/>
              <a:defRPr sz="1800" b="0"/>
            </a:pPr>
            <a:endParaRPr lang="it-IT" sz="2400" dirty="0"/>
          </a:p>
          <a:p>
            <a:pPr marL="2514600" lvl="4" indent="-342900" algn="just">
              <a:spcBef>
                <a:spcPts val="400"/>
              </a:spcBef>
              <a:buFontTx/>
              <a:defRPr sz="1800" b="0"/>
            </a:pPr>
            <a:endParaRPr sz="2400" dirty="0"/>
          </a:p>
          <a:p>
            <a:pPr marL="0" indent="0" algn="just">
              <a:spcBef>
                <a:spcPts val="400"/>
              </a:spcBef>
              <a:buChar char=""/>
              <a:defRPr sz="1800" b="0"/>
            </a:pPr>
            <a:r>
              <a:rPr sz="2000" b="1" dirty="0"/>
              <a:t> Example: </a:t>
            </a:r>
          </a:p>
          <a:p>
            <a:pPr marL="0" indent="0">
              <a:spcBef>
                <a:spcPts val="400"/>
              </a:spcBef>
              <a:buNone/>
              <a:defRPr sz="1800" b="0"/>
            </a:pPr>
            <a:r>
              <a:rPr lang="it-IT" sz="1200" b="1" dirty="0"/>
              <a:t>	</a:t>
            </a:r>
            <a:r>
              <a:rPr b="1" i="1" dirty="0"/>
              <a:t>d</a:t>
            </a:r>
            <a:r>
              <a:rPr b="1" i="1" baseline="-30000" dirty="0"/>
              <a:t>1</a:t>
            </a:r>
            <a:r>
              <a:rPr b="1" i="1" dirty="0"/>
              <a:t> </a:t>
            </a:r>
            <a:r>
              <a:rPr b="1" dirty="0"/>
              <a:t>=  3 2 0 5 0 0 0 2 0 0 	</a:t>
            </a:r>
          </a:p>
          <a:p>
            <a:pPr marL="0" indent="0">
              <a:spcBef>
                <a:spcPts val="400"/>
              </a:spcBef>
              <a:buNone/>
              <a:defRPr sz="1800" b="0"/>
            </a:pPr>
            <a:r>
              <a:rPr b="1" i="1" dirty="0"/>
              <a:t>   	d</a:t>
            </a:r>
            <a:r>
              <a:rPr b="1" i="1" baseline="-30000" dirty="0"/>
              <a:t>2</a:t>
            </a:r>
            <a:r>
              <a:rPr b="1" dirty="0"/>
              <a:t> =  1 0 0 0 0 0 0 1 0 2 </a:t>
            </a:r>
          </a:p>
          <a:p>
            <a:pPr marL="0" indent="0">
              <a:buNone/>
              <a:defRPr sz="1800" b="0"/>
            </a:pPr>
            <a:endParaRPr b="1" dirty="0"/>
          </a:p>
          <a:p>
            <a:pPr marL="0" indent="0">
              <a:spcBef>
                <a:spcPts val="300"/>
              </a:spcBef>
              <a:buNone/>
              <a:defRPr sz="1800" b="0"/>
            </a:pPr>
            <a:r>
              <a:rPr sz="2400" b="1" i="1" dirty="0"/>
              <a:t>    d</a:t>
            </a:r>
            <a:r>
              <a:rPr sz="2400" b="1" i="1" baseline="-30000" dirty="0"/>
              <a:t>1</a:t>
            </a:r>
            <a:r>
              <a:rPr sz="2400" b="1" dirty="0"/>
              <a:t> </a:t>
            </a:r>
            <a:r>
              <a:rPr sz="2400" dirty="0">
                <a:latin typeface="Symbol"/>
                <a:ea typeface="Symbol"/>
                <a:cs typeface="Symbol"/>
                <a:sym typeface="Symbol"/>
              </a:rPr>
              <a:t>•</a:t>
            </a:r>
            <a:r>
              <a:rPr sz="2400" b="1" dirty="0"/>
              <a:t> </a:t>
            </a:r>
            <a:r>
              <a:rPr sz="2400" b="1" i="1" dirty="0"/>
              <a:t>d</a:t>
            </a:r>
            <a:r>
              <a:rPr sz="2400" b="1" i="1" baseline="-30000" dirty="0"/>
              <a:t>2</a:t>
            </a:r>
            <a:r>
              <a:rPr sz="2400" b="1" dirty="0"/>
              <a:t>=  3*1 + 2*0 + 0*0 + 5*0 + 0*0 + 0*0 + 0*0 + 2*1 + 0*0 + 0*2 = 5</a:t>
            </a:r>
          </a:p>
          <a:p>
            <a:pPr marL="0" indent="0">
              <a:spcBef>
                <a:spcPts val="400"/>
              </a:spcBef>
              <a:buNone/>
              <a:defRPr sz="1800" b="0"/>
            </a:pPr>
            <a:r>
              <a:rPr sz="2000" b="1" dirty="0"/>
              <a:t>   </a:t>
            </a:r>
            <a:r>
              <a:rPr sz="2400" b="1" dirty="0"/>
              <a:t>||</a:t>
            </a:r>
            <a:r>
              <a:rPr sz="2400" b="1" i="1" dirty="0"/>
              <a:t>d</a:t>
            </a:r>
            <a:r>
              <a:rPr sz="2400" b="1" i="1" baseline="-30000" dirty="0"/>
              <a:t>1</a:t>
            </a:r>
            <a:r>
              <a:rPr sz="2400" b="1" dirty="0"/>
              <a:t>|| = (3*3+2*2+0*0+5*5+0*0+0*0+0*0+2*2+0*0+0*0)</a:t>
            </a:r>
            <a:r>
              <a:rPr sz="2400" b="1" baseline="30000" dirty="0"/>
              <a:t>0.5</a:t>
            </a:r>
            <a:r>
              <a:rPr sz="2400" b="1" dirty="0"/>
              <a:t> =  (42) </a:t>
            </a:r>
            <a:r>
              <a:rPr sz="2400" b="1" baseline="30000" dirty="0"/>
              <a:t>0.5</a:t>
            </a:r>
            <a:r>
              <a:rPr sz="2400" b="1" dirty="0"/>
              <a:t> = 6.481</a:t>
            </a:r>
          </a:p>
          <a:p>
            <a:pPr marL="0" indent="0">
              <a:spcBef>
                <a:spcPts val="300"/>
              </a:spcBef>
              <a:buNone/>
              <a:defRPr sz="1800" b="0"/>
            </a:pPr>
            <a:r>
              <a:rPr sz="2400" b="1" dirty="0"/>
              <a:t>    ||</a:t>
            </a:r>
            <a:r>
              <a:rPr sz="2400" b="1" i="1" dirty="0"/>
              <a:t>d</a:t>
            </a:r>
            <a:r>
              <a:rPr sz="2400" b="1" i="1" baseline="-30000" dirty="0"/>
              <a:t>2</a:t>
            </a:r>
            <a:r>
              <a:rPr sz="2400" b="1" dirty="0"/>
              <a:t>|| = (1*1+0*0+0*0+0*0+0*0+0*0+0*0+1*1+0*0+2*2)</a:t>
            </a:r>
            <a:r>
              <a:rPr sz="2400" b="1" baseline="30000" dirty="0"/>
              <a:t> 0.5 </a:t>
            </a:r>
            <a:r>
              <a:rPr sz="2400" b="1" dirty="0"/>
              <a:t>= (6) </a:t>
            </a:r>
            <a:r>
              <a:rPr sz="2400" b="1" baseline="30000" dirty="0"/>
              <a:t>0.5</a:t>
            </a:r>
            <a:r>
              <a:rPr sz="2400" b="1" dirty="0"/>
              <a:t> = 2.245</a:t>
            </a:r>
          </a:p>
          <a:p>
            <a:pPr marL="0" indent="0">
              <a:spcBef>
                <a:spcPts val="400"/>
              </a:spcBef>
              <a:buNone/>
              <a:defRPr sz="1800" b="0"/>
            </a:pPr>
            <a:endParaRPr lang="it-IT" sz="2400" b="1" dirty="0"/>
          </a:p>
          <a:p>
            <a:pPr marL="0" indent="0">
              <a:spcBef>
                <a:spcPts val="400"/>
              </a:spcBef>
              <a:buNone/>
              <a:defRPr sz="1800" b="0"/>
            </a:pPr>
            <a:r>
              <a:rPr b="1" dirty="0"/>
              <a:t>cos( </a:t>
            </a:r>
            <a:r>
              <a:rPr b="1" i="1" dirty="0"/>
              <a:t>d</a:t>
            </a:r>
            <a:r>
              <a:rPr b="1" i="1" baseline="-30000" dirty="0"/>
              <a:t>1</a:t>
            </a:r>
            <a:r>
              <a:rPr b="1" i="1" dirty="0"/>
              <a:t>, d</a:t>
            </a:r>
            <a:r>
              <a:rPr b="1" i="1" baseline="-30000" dirty="0"/>
              <a:t>2</a:t>
            </a:r>
            <a:r>
              <a:rPr b="1" dirty="0"/>
              <a:t> ) = .3150</a:t>
            </a:r>
          </a:p>
        </p:txBody>
      </p:sp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2980FAE9-8580-6B1F-F4FC-3055F4547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2185869"/>
            <a:ext cx="7772400" cy="173256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What is Cluster Analysis?</a:t>
            </a:r>
          </a:p>
        </p:txBody>
      </p:sp>
      <p:sp>
        <p:nvSpPr>
          <p:cNvPr id="3075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Finding groups of objects such that the objects in a group will be similar (or related) to one another and different from (or unrelated to) the objects in other groups</a:t>
            </a:r>
          </a:p>
        </p:txBody>
      </p:sp>
      <p:grpSp>
        <p:nvGrpSpPr>
          <p:cNvPr id="3076" name="Group 6"/>
          <p:cNvGrpSpPr>
            <a:grpSpLocks/>
          </p:cNvGrpSpPr>
          <p:nvPr/>
        </p:nvGrpSpPr>
        <p:grpSpPr bwMode="auto">
          <a:xfrm>
            <a:off x="4800600" y="3570288"/>
            <a:ext cx="3048000" cy="2678112"/>
            <a:chOff x="2160" y="2544"/>
            <a:chExt cx="1920" cy="1687"/>
          </a:xfrm>
        </p:grpSpPr>
        <p:sp>
          <p:nvSpPr>
            <p:cNvPr id="3087" name="Line 7"/>
            <p:cNvSpPr>
              <a:spLocks noChangeShapeType="1"/>
            </p:cNvSpPr>
            <p:nvPr/>
          </p:nvSpPr>
          <p:spPr bwMode="auto">
            <a:xfrm>
              <a:off x="2736" y="2544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400"/>
            </a:p>
          </p:txBody>
        </p:sp>
        <p:sp>
          <p:nvSpPr>
            <p:cNvPr id="3088" name="Line 8"/>
            <p:cNvSpPr>
              <a:spLocks noChangeShapeType="1"/>
            </p:cNvSpPr>
            <p:nvPr/>
          </p:nvSpPr>
          <p:spPr bwMode="auto">
            <a:xfrm>
              <a:off x="2736" y="3696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400"/>
            </a:p>
          </p:txBody>
        </p:sp>
        <p:sp>
          <p:nvSpPr>
            <p:cNvPr id="3089" name="Freeform 9"/>
            <p:cNvSpPr>
              <a:spLocks/>
            </p:cNvSpPr>
            <p:nvPr/>
          </p:nvSpPr>
          <p:spPr bwMode="auto">
            <a:xfrm>
              <a:off x="2226" y="3696"/>
              <a:ext cx="510" cy="535"/>
            </a:xfrm>
            <a:custGeom>
              <a:avLst/>
              <a:gdLst>
                <a:gd name="T0" fmla="*/ 510 w 510"/>
                <a:gd name="T1" fmla="*/ 0 h 535"/>
                <a:gd name="T2" fmla="*/ 0 w 510"/>
                <a:gd name="T3" fmla="*/ 535 h 535"/>
                <a:gd name="T4" fmla="*/ 0 60000 65536"/>
                <a:gd name="T5" fmla="*/ 0 60000 65536"/>
                <a:gd name="T6" fmla="*/ 0 w 510"/>
                <a:gd name="T7" fmla="*/ 0 h 535"/>
                <a:gd name="T8" fmla="*/ 510 w 510"/>
                <a:gd name="T9" fmla="*/ 535 h 53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10" h="535">
                  <a:moveTo>
                    <a:pt x="510" y="0"/>
                  </a:moveTo>
                  <a:lnTo>
                    <a:pt x="0" y="535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/>
            </a:p>
          </p:txBody>
        </p:sp>
        <p:sp>
          <p:nvSpPr>
            <p:cNvPr id="3090" name="AutoShape 10"/>
            <p:cNvSpPr>
              <a:spLocks noChangeArrowheads="1"/>
            </p:cNvSpPr>
            <p:nvPr/>
          </p:nvSpPr>
          <p:spPr bwMode="auto">
            <a:xfrm>
              <a:off x="3264" y="288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1" name="AutoShape 11"/>
            <p:cNvSpPr>
              <a:spLocks noChangeArrowheads="1"/>
            </p:cNvSpPr>
            <p:nvPr/>
          </p:nvSpPr>
          <p:spPr bwMode="auto">
            <a:xfrm>
              <a:off x="3408" y="288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2" name="AutoShape 12"/>
            <p:cNvSpPr>
              <a:spLocks noChangeArrowheads="1"/>
            </p:cNvSpPr>
            <p:nvPr/>
          </p:nvSpPr>
          <p:spPr bwMode="auto">
            <a:xfrm>
              <a:off x="3360" y="273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3" name="AutoShape 13"/>
            <p:cNvSpPr>
              <a:spLocks noChangeArrowheads="1"/>
            </p:cNvSpPr>
            <p:nvPr/>
          </p:nvSpPr>
          <p:spPr bwMode="auto">
            <a:xfrm>
              <a:off x="3360" y="3024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4" name="AutoShape 14"/>
            <p:cNvSpPr>
              <a:spLocks noChangeArrowheads="1"/>
            </p:cNvSpPr>
            <p:nvPr/>
          </p:nvSpPr>
          <p:spPr bwMode="auto">
            <a:xfrm>
              <a:off x="3600" y="288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5" name="AutoShape 15"/>
            <p:cNvSpPr>
              <a:spLocks noChangeArrowheads="1"/>
            </p:cNvSpPr>
            <p:nvPr/>
          </p:nvSpPr>
          <p:spPr bwMode="auto">
            <a:xfrm>
              <a:off x="3504" y="2784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6" name="AutoShape 16"/>
            <p:cNvSpPr>
              <a:spLocks noChangeArrowheads="1"/>
            </p:cNvSpPr>
            <p:nvPr/>
          </p:nvSpPr>
          <p:spPr bwMode="auto">
            <a:xfrm>
              <a:off x="3168" y="273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7" name="AutoShape 17"/>
            <p:cNvSpPr>
              <a:spLocks noChangeArrowheads="1"/>
            </p:cNvSpPr>
            <p:nvPr/>
          </p:nvSpPr>
          <p:spPr bwMode="auto">
            <a:xfrm>
              <a:off x="3504" y="297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8" name="AutoShape 18"/>
            <p:cNvSpPr>
              <a:spLocks noChangeArrowheads="1"/>
            </p:cNvSpPr>
            <p:nvPr/>
          </p:nvSpPr>
          <p:spPr bwMode="auto">
            <a:xfrm>
              <a:off x="3168" y="297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99" name="AutoShape 19"/>
            <p:cNvSpPr>
              <a:spLocks noChangeArrowheads="1"/>
            </p:cNvSpPr>
            <p:nvPr/>
          </p:nvSpPr>
          <p:spPr bwMode="auto">
            <a:xfrm>
              <a:off x="2160" y="3264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0" name="AutoShape 20"/>
            <p:cNvSpPr>
              <a:spLocks noChangeArrowheads="1"/>
            </p:cNvSpPr>
            <p:nvPr/>
          </p:nvSpPr>
          <p:spPr bwMode="auto">
            <a:xfrm>
              <a:off x="2304" y="3312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1" name="AutoShape 21"/>
            <p:cNvSpPr>
              <a:spLocks noChangeArrowheads="1"/>
            </p:cNvSpPr>
            <p:nvPr/>
          </p:nvSpPr>
          <p:spPr bwMode="auto">
            <a:xfrm>
              <a:off x="2304" y="3456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2" name="AutoShape 22"/>
            <p:cNvSpPr>
              <a:spLocks noChangeArrowheads="1"/>
            </p:cNvSpPr>
            <p:nvPr/>
          </p:nvSpPr>
          <p:spPr bwMode="auto">
            <a:xfrm>
              <a:off x="2448" y="3312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3" name="AutoShape 23"/>
            <p:cNvSpPr>
              <a:spLocks noChangeArrowheads="1"/>
            </p:cNvSpPr>
            <p:nvPr/>
          </p:nvSpPr>
          <p:spPr bwMode="auto">
            <a:xfrm>
              <a:off x="2352" y="3168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4" name="AutoShape 24"/>
            <p:cNvSpPr>
              <a:spLocks noChangeArrowheads="1"/>
            </p:cNvSpPr>
            <p:nvPr/>
          </p:nvSpPr>
          <p:spPr bwMode="auto">
            <a:xfrm>
              <a:off x="2448" y="3456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5" name="AutoShape 25"/>
            <p:cNvSpPr>
              <a:spLocks noChangeArrowheads="1"/>
            </p:cNvSpPr>
            <p:nvPr/>
          </p:nvSpPr>
          <p:spPr bwMode="auto">
            <a:xfrm>
              <a:off x="2160" y="3408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6" name="AutoShape 26"/>
            <p:cNvSpPr>
              <a:spLocks noChangeArrowheads="1"/>
            </p:cNvSpPr>
            <p:nvPr/>
          </p:nvSpPr>
          <p:spPr bwMode="auto">
            <a:xfrm>
              <a:off x="3504" y="3552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7" name="AutoShape 27"/>
            <p:cNvSpPr>
              <a:spLocks noChangeArrowheads="1"/>
            </p:cNvSpPr>
            <p:nvPr/>
          </p:nvSpPr>
          <p:spPr bwMode="auto">
            <a:xfrm>
              <a:off x="3792" y="360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8" name="AutoShape 28"/>
            <p:cNvSpPr>
              <a:spLocks noChangeArrowheads="1"/>
            </p:cNvSpPr>
            <p:nvPr/>
          </p:nvSpPr>
          <p:spPr bwMode="auto">
            <a:xfrm>
              <a:off x="3648" y="369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09" name="AutoShape 29"/>
            <p:cNvSpPr>
              <a:spLocks noChangeArrowheads="1"/>
            </p:cNvSpPr>
            <p:nvPr/>
          </p:nvSpPr>
          <p:spPr bwMode="auto">
            <a:xfrm>
              <a:off x="3504" y="3792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10" name="AutoShape 30"/>
            <p:cNvSpPr>
              <a:spLocks noChangeArrowheads="1"/>
            </p:cNvSpPr>
            <p:nvPr/>
          </p:nvSpPr>
          <p:spPr bwMode="auto">
            <a:xfrm>
              <a:off x="3696" y="3792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11" name="AutoShape 31"/>
            <p:cNvSpPr>
              <a:spLocks noChangeArrowheads="1"/>
            </p:cNvSpPr>
            <p:nvPr/>
          </p:nvSpPr>
          <p:spPr bwMode="auto">
            <a:xfrm flipV="1">
              <a:off x="3504" y="3648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12" name="AutoShape 32"/>
            <p:cNvSpPr>
              <a:spLocks noChangeArrowheads="1"/>
            </p:cNvSpPr>
            <p:nvPr/>
          </p:nvSpPr>
          <p:spPr bwMode="auto">
            <a:xfrm>
              <a:off x="3696" y="3504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3" name="Group 33"/>
          <p:cNvGrpSpPr>
            <a:grpSpLocks/>
          </p:cNvGrpSpPr>
          <p:nvPr/>
        </p:nvGrpSpPr>
        <p:grpSpPr bwMode="auto">
          <a:xfrm>
            <a:off x="6781800" y="2667000"/>
            <a:ext cx="3048000" cy="2514600"/>
            <a:chOff x="3312" y="1584"/>
            <a:chExt cx="1920" cy="1584"/>
          </a:xfrm>
        </p:grpSpPr>
        <p:sp>
          <p:nvSpPr>
            <p:cNvPr id="3085" name="Line 34"/>
            <p:cNvSpPr>
              <a:spLocks noChangeShapeType="1"/>
            </p:cNvSpPr>
            <p:nvPr/>
          </p:nvSpPr>
          <p:spPr bwMode="auto">
            <a:xfrm flipH="1" flipV="1">
              <a:off x="3312" y="2736"/>
              <a:ext cx="144" cy="432"/>
            </a:xfrm>
            <a:prstGeom prst="line">
              <a:avLst/>
            </a:prstGeom>
            <a:noFill/>
            <a:ln w="25400">
              <a:solidFill>
                <a:srgbClr val="CC66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3086" name="AutoShape 35"/>
            <p:cNvSpPr>
              <a:spLocks noChangeArrowheads="1"/>
            </p:cNvSpPr>
            <p:nvPr/>
          </p:nvSpPr>
          <p:spPr bwMode="auto">
            <a:xfrm>
              <a:off x="3984" y="1584"/>
              <a:ext cx="1248" cy="672"/>
            </a:xfrm>
            <a:prstGeom prst="wedgeRectCallout">
              <a:avLst>
                <a:gd name="adj1" fmla="val -93509"/>
                <a:gd name="adj2" fmla="val 150894"/>
              </a:avLst>
            </a:prstGeom>
            <a:solidFill>
              <a:srgbClr val="00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2000" b="0">
                  <a:latin typeface="Tahoma" pitchFamily="34" charset="0"/>
                </a:rPr>
                <a:t>Inter-cluster distances are maximized</a:t>
              </a:r>
            </a:p>
          </p:txBody>
        </p:sp>
      </p:grpSp>
      <p:grpSp>
        <p:nvGrpSpPr>
          <p:cNvPr id="4" name="Group 36"/>
          <p:cNvGrpSpPr>
            <a:grpSpLocks/>
          </p:cNvGrpSpPr>
          <p:nvPr/>
        </p:nvGrpSpPr>
        <p:grpSpPr bwMode="auto">
          <a:xfrm>
            <a:off x="4419600" y="3657600"/>
            <a:ext cx="3276600" cy="2286000"/>
            <a:chOff x="1824" y="2208"/>
            <a:chExt cx="2064" cy="1440"/>
          </a:xfrm>
        </p:grpSpPr>
        <p:sp>
          <p:nvSpPr>
            <p:cNvPr id="3082" name="Oval 37"/>
            <p:cNvSpPr>
              <a:spLocks noChangeArrowheads="1"/>
            </p:cNvSpPr>
            <p:nvPr/>
          </p:nvSpPr>
          <p:spPr bwMode="auto">
            <a:xfrm>
              <a:off x="1824" y="2592"/>
              <a:ext cx="816" cy="720"/>
            </a:xfrm>
            <a:prstGeom prst="ellips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83" name="Oval 38"/>
            <p:cNvSpPr>
              <a:spLocks noChangeArrowheads="1"/>
            </p:cNvSpPr>
            <p:nvPr/>
          </p:nvSpPr>
          <p:spPr bwMode="auto">
            <a:xfrm>
              <a:off x="2928" y="2208"/>
              <a:ext cx="720" cy="624"/>
            </a:xfrm>
            <a:prstGeom prst="ellips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84" name="Oval 39"/>
            <p:cNvSpPr>
              <a:spLocks noChangeArrowheads="1"/>
            </p:cNvSpPr>
            <p:nvPr/>
          </p:nvSpPr>
          <p:spPr bwMode="auto">
            <a:xfrm>
              <a:off x="3216" y="3024"/>
              <a:ext cx="672" cy="624"/>
            </a:xfrm>
            <a:prstGeom prst="ellips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5" name="Group 40"/>
          <p:cNvGrpSpPr>
            <a:grpSpLocks/>
          </p:cNvGrpSpPr>
          <p:nvPr/>
        </p:nvGrpSpPr>
        <p:grpSpPr bwMode="auto">
          <a:xfrm>
            <a:off x="2819400" y="2971800"/>
            <a:ext cx="2286000" cy="1676400"/>
            <a:chOff x="816" y="1776"/>
            <a:chExt cx="1440" cy="1056"/>
          </a:xfrm>
        </p:grpSpPr>
        <p:sp>
          <p:nvSpPr>
            <p:cNvPr id="3080" name="Line 41"/>
            <p:cNvSpPr>
              <a:spLocks noChangeShapeType="1"/>
            </p:cNvSpPr>
            <p:nvPr/>
          </p:nvSpPr>
          <p:spPr bwMode="auto">
            <a:xfrm flipV="1">
              <a:off x="2064" y="2736"/>
              <a:ext cx="192" cy="96"/>
            </a:xfrm>
            <a:prstGeom prst="line">
              <a:avLst/>
            </a:prstGeom>
            <a:noFill/>
            <a:ln w="25400">
              <a:solidFill>
                <a:srgbClr val="CC66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3081" name="AutoShape 42"/>
            <p:cNvSpPr>
              <a:spLocks noChangeArrowheads="1"/>
            </p:cNvSpPr>
            <p:nvPr/>
          </p:nvSpPr>
          <p:spPr bwMode="auto">
            <a:xfrm>
              <a:off x="816" y="1776"/>
              <a:ext cx="1248" cy="672"/>
            </a:xfrm>
            <a:prstGeom prst="wedgeRectCallout">
              <a:avLst>
                <a:gd name="adj1" fmla="val 56250"/>
                <a:gd name="adj2" fmla="val 92856"/>
              </a:avLst>
            </a:prstGeom>
            <a:solidFill>
              <a:srgbClr val="00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2000" b="0">
                  <a:latin typeface="Tahoma" pitchFamily="34" charset="0"/>
                </a:rPr>
                <a:t>Intra-cluster distances are minimized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19915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Applications of Cluster Analysis</a:t>
            </a:r>
          </a:p>
        </p:txBody>
      </p:sp>
      <p:graphicFrame>
        <p:nvGraphicFramePr>
          <p:cNvPr id="4100" name="Object 1028"/>
          <p:cNvGraphicFramePr>
            <a:graphicFrameLocks noGrp="1" noChangeAspect="1"/>
          </p:cNvGraphicFramePr>
          <p:nvPr>
            <p:ph idx="1"/>
          </p:nvPr>
        </p:nvGraphicFramePr>
        <p:xfrm>
          <a:off x="6070600" y="1549400"/>
          <a:ext cx="4800600" cy="266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620181" imgH="3122232" progId="Word.Document.8">
                  <p:embed/>
                </p:oleObj>
              </mc:Choice>
              <mc:Fallback>
                <p:oleObj name="Document" r:id="rId2" imgW="5620181" imgH="3122232" progId="Word.Document.8">
                  <p:embed/>
                  <p:pic>
                    <p:nvPicPr>
                      <p:cNvPr id="4100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0600" y="1549400"/>
                        <a:ext cx="4800600" cy="266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9" name="Rectangle 1027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03200" y="1498600"/>
            <a:ext cx="5444067" cy="5181600"/>
          </a:xfrm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altLang="en-US" sz="2400" b="1" dirty="0"/>
              <a:t>Understanding</a:t>
            </a:r>
          </a:p>
          <a:p>
            <a:pPr lvl="1">
              <a:spcBef>
                <a:spcPct val="20000"/>
              </a:spcBef>
            </a:pPr>
            <a:r>
              <a:rPr lang="en-US" altLang="en-US" sz="2000" dirty="0"/>
              <a:t>Group related documents for browsing, group genes and proteins that have similar functionality, or group stocks with similar price fluctuations</a:t>
            </a:r>
            <a:endParaRPr lang="en-US" altLang="en-US" sz="2000" b="1" dirty="0"/>
          </a:p>
          <a:p>
            <a:pPr>
              <a:spcBef>
                <a:spcPct val="20000"/>
              </a:spcBef>
            </a:pPr>
            <a:endParaRPr lang="en-US" altLang="en-US" sz="2400" b="1" dirty="0"/>
          </a:p>
          <a:p>
            <a:pPr>
              <a:spcBef>
                <a:spcPct val="20000"/>
              </a:spcBef>
            </a:pPr>
            <a:r>
              <a:rPr lang="en-US" altLang="en-US" sz="2400" b="1" dirty="0"/>
              <a:t>Summarization</a:t>
            </a:r>
          </a:p>
          <a:p>
            <a:pPr lvl="1">
              <a:spcBef>
                <a:spcPct val="20000"/>
              </a:spcBef>
            </a:pPr>
            <a:r>
              <a:rPr lang="en-US" altLang="en-US" sz="2000" dirty="0"/>
              <a:t>Reduce the size of large data sets</a:t>
            </a:r>
          </a:p>
          <a:p>
            <a:endParaRPr lang="en-US" altLang="en-US" sz="2400" dirty="0"/>
          </a:p>
        </p:txBody>
      </p:sp>
      <p:pic>
        <p:nvPicPr>
          <p:cNvPr id="4101" name="Picture 1030" descr="precip_aust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64" t="12122" r="11072" b="18182"/>
          <a:stretch>
            <a:fillRect/>
          </a:stretch>
        </p:blipFill>
        <p:spPr>
          <a:xfrm>
            <a:off x="6400800" y="4323439"/>
            <a:ext cx="3657600" cy="2474384"/>
          </a:xfrm>
          <a:noFill/>
        </p:spPr>
      </p:pic>
      <p:sp>
        <p:nvSpPr>
          <p:cNvPr id="4102" name="Text Box 1032"/>
          <p:cNvSpPr txBox="1">
            <a:spLocks noChangeArrowheads="1"/>
          </p:cNvSpPr>
          <p:nvPr/>
        </p:nvSpPr>
        <p:spPr bwMode="auto">
          <a:xfrm>
            <a:off x="4114800" y="6091914"/>
            <a:ext cx="2209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Clustering precipitation in Australia</a:t>
            </a:r>
          </a:p>
        </p:txBody>
      </p:sp>
    </p:spTree>
    <p:extLst>
      <p:ext uri="{BB962C8B-B14F-4D97-AF65-F5344CB8AC3E}">
        <p14:creationId xmlns:p14="http://schemas.microsoft.com/office/powerpoint/2010/main" val="38220115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What is not Cluster Analysis?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2891" indent="-342891">
              <a:lnSpc>
                <a:spcPct val="80000"/>
              </a:lnSpc>
              <a:spcBef>
                <a:spcPct val="20000"/>
              </a:spcBef>
            </a:pPr>
            <a:r>
              <a:rPr lang="en-US" altLang="en-US"/>
              <a:t>Simple segmentation</a:t>
            </a:r>
          </a:p>
          <a:p>
            <a:pPr marL="742932" lvl="1" indent="-285744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/>
              <a:t>Dividing students into different registration groups alphabetically, by last name</a:t>
            </a:r>
          </a:p>
          <a:p>
            <a:pPr lvl="4">
              <a:lnSpc>
                <a:spcPct val="80000"/>
              </a:lnSpc>
            </a:pPr>
            <a:endParaRPr lang="en-US" altLang="en-US"/>
          </a:p>
          <a:p>
            <a:pPr marL="342891" indent="-342891">
              <a:lnSpc>
                <a:spcPct val="80000"/>
              </a:lnSpc>
              <a:spcBef>
                <a:spcPct val="20000"/>
              </a:spcBef>
            </a:pPr>
            <a:r>
              <a:rPr lang="en-US" altLang="en-US"/>
              <a:t>Results of a query</a:t>
            </a:r>
          </a:p>
          <a:p>
            <a:pPr marL="742932" lvl="1" indent="-285744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/>
              <a:t>Groupings are a result of an external specification</a:t>
            </a:r>
          </a:p>
          <a:p>
            <a:pPr marL="742932" lvl="1" indent="-285744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/>
              <a:t>Clustering is a grouping of objects based on the data</a:t>
            </a:r>
          </a:p>
          <a:p>
            <a:pPr lvl="4">
              <a:lnSpc>
                <a:spcPct val="80000"/>
              </a:lnSpc>
            </a:pPr>
            <a:endParaRPr lang="en-US" altLang="en-US"/>
          </a:p>
          <a:p>
            <a:pPr marL="342891" indent="-342891">
              <a:lnSpc>
                <a:spcPct val="80000"/>
              </a:lnSpc>
              <a:spcBef>
                <a:spcPct val="20000"/>
              </a:spcBef>
            </a:pPr>
            <a:r>
              <a:rPr lang="en-US" altLang="en-US"/>
              <a:t>Supervised classification</a:t>
            </a:r>
          </a:p>
          <a:p>
            <a:pPr marL="742932" lvl="1" indent="-285744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/>
              <a:t>Have class label information</a:t>
            </a:r>
          </a:p>
          <a:p>
            <a:pPr lvl="4">
              <a:lnSpc>
                <a:spcPct val="80000"/>
              </a:lnSpc>
            </a:pPr>
            <a:endParaRPr lang="en-US" altLang="en-US"/>
          </a:p>
          <a:p>
            <a:pPr marL="342891" indent="-342891">
              <a:lnSpc>
                <a:spcPct val="80000"/>
              </a:lnSpc>
              <a:spcBef>
                <a:spcPct val="20000"/>
              </a:spcBef>
            </a:pPr>
            <a:r>
              <a:rPr lang="en-US" altLang="en-US"/>
              <a:t>Association Analysis</a:t>
            </a:r>
          </a:p>
          <a:p>
            <a:pPr marL="742932" lvl="1" indent="-285744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/>
              <a:t>Local vs. global connections</a:t>
            </a:r>
          </a:p>
        </p:txBody>
      </p:sp>
    </p:spTree>
    <p:extLst>
      <p:ext uri="{BB962C8B-B14F-4D97-AF65-F5344CB8AC3E}">
        <p14:creationId xmlns:p14="http://schemas.microsoft.com/office/powerpoint/2010/main" val="36801430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Notion of a Cluster can be Ambiguous</a:t>
            </a:r>
          </a:p>
        </p:txBody>
      </p:sp>
      <p:grpSp>
        <p:nvGrpSpPr>
          <p:cNvPr id="6147" name="Group 91"/>
          <p:cNvGrpSpPr>
            <a:grpSpLocks/>
          </p:cNvGrpSpPr>
          <p:nvPr/>
        </p:nvGrpSpPr>
        <p:grpSpPr bwMode="auto">
          <a:xfrm>
            <a:off x="2209802" y="1905001"/>
            <a:ext cx="3344863" cy="1512889"/>
            <a:chOff x="432" y="1200"/>
            <a:chExt cx="2107" cy="953"/>
          </a:xfrm>
        </p:grpSpPr>
        <p:grpSp>
          <p:nvGrpSpPr>
            <p:cNvPr id="6217" name="Group 3"/>
            <p:cNvGrpSpPr>
              <a:grpSpLocks noChangeAspect="1"/>
            </p:cNvGrpSpPr>
            <p:nvPr/>
          </p:nvGrpSpPr>
          <p:grpSpPr bwMode="auto">
            <a:xfrm>
              <a:off x="432" y="1200"/>
              <a:ext cx="2107" cy="516"/>
              <a:chOff x="2464" y="2296"/>
              <a:chExt cx="2634" cy="646"/>
            </a:xfrm>
          </p:grpSpPr>
          <p:sp>
            <p:nvSpPr>
              <p:cNvPr id="6219" name="Oval 4"/>
              <p:cNvSpPr>
                <a:spLocks noChangeAspect="1" noChangeArrowheads="1"/>
              </p:cNvSpPr>
              <p:nvPr/>
            </p:nvSpPr>
            <p:spPr bwMode="auto">
              <a:xfrm>
                <a:off x="4564" y="2730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0" name="Oval 5"/>
              <p:cNvSpPr>
                <a:spLocks noChangeAspect="1" noChangeArrowheads="1"/>
              </p:cNvSpPr>
              <p:nvPr/>
            </p:nvSpPr>
            <p:spPr bwMode="auto">
              <a:xfrm>
                <a:off x="4312" y="2842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1" name="Oval 6"/>
              <p:cNvSpPr>
                <a:spLocks noChangeAspect="1" noChangeArrowheads="1"/>
              </p:cNvSpPr>
              <p:nvPr/>
            </p:nvSpPr>
            <p:spPr bwMode="auto">
              <a:xfrm>
                <a:off x="4466" y="285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2" name="Oval 7"/>
              <p:cNvSpPr>
                <a:spLocks noChangeAspect="1" noChangeArrowheads="1"/>
              </p:cNvSpPr>
              <p:nvPr/>
            </p:nvSpPr>
            <p:spPr bwMode="auto">
              <a:xfrm>
                <a:off x="4410" y="2744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3" name="Oval 8"/>
              <p:cNvSpPr>
                <a:spLocks noChangeAspect="1" noChangeArrowheads="1"/>
              </p:cNvSpPr>
              <p:nvPr/>
            </p:nvSpPr>
            <p:spPr bwMode="auto">
              <a:xfrm>
                <a:off x="4326" y="2478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4" name="Oval 9"/>
              <p:cNvSpPr>
                <a:spLocks noChangeAspect="1" noChangeArrowheads="1"/>
              </p:cNvSpPr>
              <p:nvPr/>
            </p:nvSpPr>
            <p:spPr bwMode="auto">
              <a:xfrm>
                <a:off x="4158" y="2422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5" name="Oval 10"/>
              <p:cNvSpPr>
                <a:spLocks noChangeAspect="1" noChangeArrowheads="1"/>
              </p:cNvSpPr>
              <p:nvPr/>
            </p:nvSpPr>
            <p:spPr bwMode="auto">
              <a:xfrm>
                <a:off x="4242" y="229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6" name="Oval 11"/>
              <p:cNvSpPr>
                <a:spLocks noChangeAspect="1" noChangeArrowheads="1"/>
              </p:cNvSpPr>
              <p:nvPr/>
            </p:nvSpPr>
            <p:spPr bwMode="auto">
              <a:xfrm>
                <a:off x="4788" y="271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7" name="Oval 12"/>
              <p:cNvSpPr>
                <a:spLocks noChangeAspect="1" noChangeArrowheads="1"/>
              </p:cNvSpPr>
              <p:nvPr/>
            </p:nvSpPr>
            <p:spPr bwMode="auto">
              <a:xfrm>
                <a:off x="5012" y="2618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8" name="Oval 13"/>
              <p:cNvSpPr>
                <a:spLocks noChangeAspect="1" noChangeArrowheads="1"/>
              </p:cNvSpPr>
              <p:nvPr/>
            </p:nvSpPr>
            <p:spPr bwMode="auto">
              <a:xfrm>
                <a:off x="4788" y="2534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9" name="Oval 14"/>
              <p:cNvSpPr>
                <a:spLocks noChangeAspect="1" noChangeArrowheads="1"/>
              </p:cNvSpPr>
              <p:nvPr/>
            </p:nvSpPr>
            <p:spPr bwMode="auto">
              <a:xfrm flipV="1">
                <a:off x="2870" y="2422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0" name="Oval 15"/>
              <p:cNvSpPr>
                <a:spLocks noChangeAspect="1" noChangeArrowheads="1"/>
              </p:cNvSpPr>
              <p:nvPr/>
            </p:nvSpPr>
            <p:spPr bwMode="auto">
              <a:xfrm flipV="1">
                <a:off x="2618" y="2310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1" name="Oval 16"/>
              <p:cNvSpPr>
                <a:spLocks noChangeAspect="1" noChangeArrowheads="1"/>
              </p:cNvSpPr>
              <p:nvPr/>
            </p:nvSpPr>
            <p:spPr bwMode="auto">
              <a:xfrm flipV="1">
                <a:off x="2772" y="229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2" name="Oval 17"/>
              <p:cNvSpPr>
                <a:spLocks noChangeAspect="1" noChangeArrowheads="1"/>
              </p:cNvSpPr>
              <p:nvPr/>
            </p:nvSpPr>
            <p:spPr bwMode="auto">
              <a:xfrm flipV="1">
                <a:off x="2716" y="2408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3" name="Oval 18"/>
              <p:cNvSpPr>
                <a:spLocks noChangeAspect="1" noChangeArrowheads="1"/>
              </p:cNvSpPr>
              <p:nvPr/>
            </p:nvSpPr>
            <p:spPr bwMode="auto">
              <a:xfrm flipV="1">
                <a:off x="2632" y="2674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4" name="Oval 19"/>
              <p:cNvSpPr>
                <a:spLocks noChangeAspect="1" noChangeArrowheads="1"/>
              </p:cNvSpPr>
              <p:nvPr/>
            </p:nvSpPr>
            <p:spPr bwMode="auto">
              <a:xfrm flipV="1">
                <a:off x="2464" y="2730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5" name="Oval 20"/>
              <p:cNvSpPr>
                <a:spLocks noChangeAspect="1" noChangeArrowheads="1"/>
              </p:cNvSpPr>
              <p:nvPr/>
            </p:nvSpPr>
            <p:spPr bwMode="auto">
              <a:xfrm flipV="1">
                <a:off x="2548" y="285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6" name="Oval 21"/>
              <p:cNvSpPr>
                <a:spLocks noChangeAspect="1" noChangeArrowheads="1"/>
              </p:cNvSpPr>
              <p:nvPr/>
            </p:nvSpPr>
            <p:spPr bwMode="auto">
              <a:xfrm flipV="1">
                <a:off x="3094" y="243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7" name="Oval 22"/>
              <p:cNvSpPr>
                <a:spLocks noChangeAspect="1" noChangeArrowheads="1"/>
              </p:cNvSpPr>
              <p:nvPr/>
            </p:nvSpPr>
            <p:spPr bwMode="auto">
              <a:xfrm flipV="1">
                <a:off x="3318" y="2534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8" name="Oval 23"/>
              <p:cNvSpPr>
                <a:spLocks noChangeAspect="1" noChangeArrowheads="1"/>
              </p:cNvSpPr>
              <p:nvPr/>
            </p:nvSpPr>
            <p:spPr bwMode="auto">
              <a:xfrm flipV="1">
                <a:off x="3094" y="2618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6218" name="Rectangle 87"/>
            <p:cNvSpPr>
              <a:spLocks noChangeArrowheads="1"/>
            </p:cNvSpPr>
            <p:nvPr/>
          </p:nvSpPr>
          <p:spPr bwMode="auto">
            <a:xfrm>
              <a:off x="624" y="1920"/>
              <a:ext cx="144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800" b="0">
                  <a:cs typeface="Times New Roman" pitchFamily="18" charset="0"/>
                </a:rPr>
                <a:t>How many clusters?</a:t>
              </a:r>
              <a:endParaRPr lang="en-US" altLang="en-US" sz="1800" b="0"/>
            </a:p>
          </p:txBody>
        </p:sp>
      </p:grpSp>
      <p:grpSp>
        <p:nvGrpSpPr>
          <p:cNvPr id="4" name="Group 94"/>
          <p:cNvGrpSpPr>
            <a:grpSpLocks/>
          </p:cNvGrpSpPr>
          <p:nvPr/>
        </p:nvGrpSpPr>
        <p:grpSpPr bwMode="auto">
          <a:xfrm>
            <a:off x="6484938" y="4114799"/>
            <a:ext cx="3344863" cy="1404938"/>
            <a:chOff x="3125" y="2592"/>
            <a:chExt cx="2107" cy="885"/>
          </a:xfrm>
        </p:grpSpPr>
        <p:grpSp>
          <p:nvGrpSpPr>
            <p:cNvPr id="6195" name="Group 66"/>
            <p:cNvGrpSpPr>
              <a:grpSpLocks/>
            </p:cNvGrpSpPr>
            <p:nvPr/>
          </p:nvGrpSpPr>
          <p:grpSpPr bwMode="auto">
            <a:xfrm>
              <a:off x="3125" y="2592"/>
              <a:ext cx="2107" cy="518"/>
              <a:chOff x="3125" y="2592"/>
              <a:chExt cx="2107" cy="518"/>
            </a:xfrm>
          </p:grpSpPr>
          <p:sp>
            <p:nvSpPr>
              <p:cNvPr id="6197" name="AutoShape 67"/>
              <p:cNvSpPr>
                <a:spLocks noChangeAspect="1" noChangeArrowheads="1"/>
              </p:cNvSpPr>
              <p:nvPr/>
            </p:nvSpPr>
            <p:spPr bwMode="auto">
              <a:xfrm>
                <a:off x="4805" y="2940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8" name="AutoShape 68"/>
              <p:cNvSpPr>
                <a:spLocks noChangeAspect="1" noChangeArrowheads="1"/>
              </p:cNvSpPr>
              <p:nvPr/>
            </p:nvSpPr>
            <p:spPr bwMode="auto">
              <a:xfrm>
                <a:off x="4603" y="3030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9" name="AutoShape 69"/>
              <p:cNvSpPr>
                <a:spLocks noChangeAspect="1" noChangeArrowheads="1"/>
              </p:cNvSpPr>
              <p:nvPr/>
            </p:nvSpPr>
            <p:spPr bwMode="auto">
              <a:xfrm>
                <a:off x="4726" y="3041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00" name="AutoShape 70"/>
              <p:cNvSpPr>
                <a:spLocks noChangeAspect="1" noChangeArrowheads="1"/>
              </p:cNvSpPr>
              <p:nvPr/>
            </p:nvSpPr>
            <p:spPr bwMode="auto">
              <a:xfrm>
                <a:off x="4682" y="2951"/>
                <a:ext cx="68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537095" name="AutoShape 71"/>
              <p:cNvSpPr>
                <a:spLocks noChangeAspect="1" noChangeArrowheads="1"/>
              </p:cNvSpPr>
              <p:nvPr/>
            </p:nvSpPr>
            <p:spPr bwMode="auto">
              <a:xfrm>
                <a:off x="4614" y="2738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400"/>
              </a:p>
            </p:txBody>
          </p:sp>
          <p:sp>
            <p:nvSpPr>
              <p:cNvPr id="1537096" name="AutoShape 72"/>
              <p:cNvSpPr>
                <a:spLocks noChangeAspect="1" noChangeArrowheads="1"/>
              </p:cNvSpPr>
              <p:nvPr/>
            </p:nvSpPr>
            <p:spPr bwMode="auto">
              <a:xfrm>
                <a:off x="4480" y="2693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400"/>
              </a:p>
            </p:txBody>
          </p:sp>
          <p:sp>
            <p:nvSpPr>
              <p:cNvPr id="1537097" name="AutoShape 73"/>
              <p:cNvSpPr>
                <a:spLocks noChangeAspect="1" noChangeArrowheads="1"/>
              </p:cNvSpPr>
              <p:nvPr/>
            </p:nvSpPr>
            <p:spPr bwMode="auto">
              <a:xfrm>
                <a:off x="4547" y="2592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400"/>
              </a:p>
            </p:txBody>
          </p:sp>
          <p:sp>
            <p:nvSpPr>
              <p:cNvPr id="6204" name="AutoShape 74"/>
              <p:cNvSpPr>
                <a:spLocks noChangeAspect="1" noChangeArrowheads="1"/>
              </p:cNvSpPr>
              <p:nvPr/>
            </p:nvSpPr>
            <p:spPr bwMode="auto">
              <a:xfrm>
                <a:off x="4984" y="2929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05" name="AutoShape 75"/>
              <p:cNvSpPr>
                <a:spLocks noChangeAspect="1" noChangeArrowheads="1"/>
              </p:cNvSpPr>
              <p:nvPr/>
            </p:nvSpPr>
            <p:spPr bwMode="auto">
              <a:xfrm>
                <a:off x="5163" y="2850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06" name="AutoShape 76"/>
              <p:cNvSpPr>
                <a:spLocks noChangeAspect="1" noChangeArrowheads="1"/>
              </p:cNvSpPr>
              <p:nvPr/>
            </p:nvSpPr>
            <p:spPr bwMode="auto">
              <a:xfrm>
                <a:off x="4984" y="2783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07" name="AutoShape 77"/>
              <p:cNvSpPr>
                <a:spLocks noChangeAspect="1" noChangeArrowheads="1"/>
              </p:cNvSpPr>
              <p:nvPr/>
            </p:nvSpPr>
            <p:spPr bwMode="auto">
              <a:xfrm flipV="1">
                <a:off x="3450" y="2693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08" name="AutoShape 78"/>
              <p:cNvSpPr>
                <a:spLocks noChangeAspect="1" noChangeArrowheads="1"/>
              </p:cNvSpPr>
              <p:nvPr/>
            </p:nvSpPr>
            <p:spPr bwMode="auto">
              <a:xfrm flipV="1">
                <a:off x="3248" y="2603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09" name="AutoShape 79"/>
              <p:cNvSpPr>
                <a:spLocks noChangeAspect="1" noChangeArrowheads="1"/>
              </p:cNvSpPr>
              <p:nvPr/>
            </p:nvSpPr>
            <p:spPr bwMode="auto">
              <a:xfrm flipV="1">
                <a:off x="3371" y="2592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0" name="AutoShape 80"/>
              <p:cNvSpPr>
                <a:spLocks noChangeAspect="1" noChangeArrowheads="1"/>
              </p:cNvSpPr>
              <p:nvPr/>
            </p:nvSpPr>
            <p:spPr bwMode="auto">
              <a:xfrm flipV="1">
                <a:off x="3327" y="2682"/>
                <a:ext cx="68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1" name="AutoShape 81"/>
              <p:cNvSpPr>
                <a:spLocks noChangeAspect="1" noChangeArrowheads="1"/>
              </p:cNvSpPr>
              <p:nvPr/>
            </p:nvSpPr>
            <p:spPr bwMode="auto">
              <a:xfrm flipV="1">
                <a:off x="3259" y="2895"/>
                <a:ext cx="69" cy="69"/>
              </a:xfrm>
              <a:prstGeom prst="flowChartExtract">
                <a:avLst/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2" name="AutoShape 82"/>
              <p:cNvSpPr>
                <a:spLocks noChangeAspect="1" noChangeArrowheads="1"/>
              </p:cNvSpPr>
              <p:nvPr/>
            </p:nvSpPr>
            <p:spPr bwMode="auto">
              <a:xfrm flipV="1">
                <a:off x="3125" y="2940"/>
                <a:ext cx="69" cy="69"/>
              </a:xfrm>
              <a:prstGeom prst="flowChartExtract">
                <a:avLst/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3" name="AutoShape 83"/>
              <p:cNvSpPr>
                <a:spLocks noChangeAspect="1" noChangeArrowheads="1"/>
              </p:cNvSpPr>
              <p:nvPr/>
            </p:nvSpPr>
            <p:spPr bwMode="auto">
              <a:xfrm flipV="1">
                <a:off x="3192" y="3041"/>
                <a:ext cx="69" cy="69"/>
              </a:xfrm>
              <a:prstGeom prst="flowChartExtract">
                <a:avLst/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4" name="AutoShape 84"/>
              <p:cNvSpPr>
                <a:spLocks noChangeAspect="1" noChangeArrowheads="1"/>
              </p:cNvSpPr>
              <p:nvPr/>
            </p:nvSpPr>
            <p:spPr bwMode="auto">
              <a:xfrm flipV="1">
                <a:off x="3629" y="2704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5" name="AutoShape 85"/>
              <p:cNvSpPr>
                <a:spLocks noChangeAspect="1" noChangeArrowheads="1"/>
              </p:cNvSpPr>
              <p:nvPr/>
            </p:nvSpPr>
            <p:spPr bwMode="auto">
              <a:xfrm flipV="1">
                <a:off x="3808" y="2783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6" name="AutoShape 86"/>
              <p:cNvSpPr>
                <a:spLocks noChangeAspect="1" noChangeArrowheads="1"/>
              </p:cNvSpPr>
              <p:nvPr/>
            </p:nvSpPr>
            <p:spPr bwMode="auto">
              <a:xfrm flipV="1">
                <a:off x="3629" y="2850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6196" name="Rectangle 88"/>
            <p:cNvSpPr>
              <a:spLocks noChangeArrowheads="1"/>
            </p:cNvSpPr>
            <p:nvPr/>
          </p:nvSpPr>
          <p:spPr bwMode="auto">
            <a:xfrm>
              <a:off x="3413" y="3244"/>
              <a:ext cx="144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800" b="0">
                  <a:cs typeface="Times New Roman" pitchFamily="18" charset="0"/>
                </a:rPr>
                <a:t>Four Clusters</a:t>
              </a:r>
              <a:r>
                <a:rPr lang="en-US" altLang="en-US" sz="1800" b="0"/>
                <a:t> </a:t>
              </a:r>
            </a:p>
          </p:txBody>
        </p:sp>
      </p:grpSp>
      <p:grpSp>
        <p:nvGrpSpPr>
          <p:cNvPr id="6" name="Group 93"/>
          <p:cNvGrpSpPr>
            <a:grpSpLocks/>
          </p:cNvGrpSpPr>
          <p:nvPr/>
        </p:nvGrpSpPr>
        <p:grpSpPr bwMode="auto">
          <a:xfrm>
            <a:off x="2209802" y="4114799"/>
            <a:ext cx="3344863" cy="1404938"/>
            <a:chOff x="432" y="2592"/>
            <a:chExt cx="2107" cy="885"/>
          </a:xfrm>
        </p:grpSpPr>
        <p:grpSp>
          <p:nvGrpSpPr>
            <p:cNvPr id="6173" name="Group 45"/>
            <p:cNvGrpSpPr>
              <a:grpSpLocks/>
            </p:cNvGrpSpPr>
            <p:nvPr/>
          </p:nvGrpSpPr>
          <p:grpSpPr bwMode="auto">
            <a:xfrm>
              <a:off x="432" y="2592"/>
              <a:ext cx="2107" cy="516"/>
              <a:chOff x="432" y="2592"/>
              <a:chExt cx="2107" cy="516"/>
            </a:xfrm>
          </p:grpSpPr>
          <p:sp>
            <p:nvSpPr>
              <p:cNvPr id="6175" name="AutoShape 46"/>
              <p:cNvSpPr>
                <a:spLocks noChangeAspect="1" noChangeArrowheads="1"/>
              </p:cNvSpPr>
              <p:nvPr/>
            </p:nvSpPr>
            <p:spPr bwMode="auto">
              <a:xfrm>
                <a:off x="2112" y="2939"/>
                <a:ext cx="69" cy="68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6" name="AutoShape 47"/>
              <p:cNvSpPr>
                <a:spLocks noChangeAspect="1" noChangeArrowheads="1"/>
              </p:cNvSpPr>
              <p:nvPr/>
            </p:nvSpPr>
            <p:spPr bwMode="auto">
              <a:xfrm>
                <a:off x="1910" y="3028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7" name="AutoShape 48"/>
              <p:cNvSpPr>
                <a:spLocks noChangeAspect="1" noChangeArrowheads="1"/>
              </p:cNvSpPr>
              <p:nvPr/>
            </p:nvSpPr>
            <p:spPr bwMode="auto">
              <a:xfrm>
                <a:off x="2033" y="3039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8" name="AutoShape 49"/>
              <p:cNvSpPr>
                <a:spLocks noChangeAspect="1" noChangeArrowheads="1"/>
              </p:cNvSpPr>
              <p:nvPr/>
            </p:nvSpPr>
            <p:spPr bwMode="auto">
              <a:xfrm>
                <a:off x="1989" y="2950"/>
                <a:ext cx="68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9" name="AutoShape 50"/>
              <p:cNvSpPr>
                <a:spLocks noChangeAspect="1" noChangeArrowheads="1"/>
              </p:cNvSpPr>
              <p:nvPr/>
            </p:nvSpPr>
            <p:spPr bwMode="auto">
              <a:xfrm>
                <a:off x="1921" y="2737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0" name="AutoShape 51"/>
              <p:cNvSpPr>
                <a:spLocks noChangeAspect="1" noChangeArrowheads="1"/>
              </p:cNvSpPr>
              <p:nvPr/>
            </p:nvSpPr>
            <p:spPr bwMode="auto">
              <a:xfrm>
                <a:off x="1787" y="2693"/>
                <a:ext cx="69" cy="68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1" name="AutoShape 52"/>
              <p:cNvSpPr>
                <a:spLocks noChangeAspect="1" noChangeArrowheads="1"/>
              </p:cNvSpPr>
              <p:nvPr/>
            </p:nvSpPr>
            <p:spPr bwMode="auto">
              <a:xfrm>
                <a:off x="1854" y="2592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2" name="AutoShape 53"/>
              <p:cNvSpPr>
                <a:spLocks noChangeAspect="1" noChangeArrowheads="1"/>
              </p:cNvSpPr>
              <p:nvPr/>
            </p:nvSpPr>
            <p:spPr bwMode="auto">
              <a:xfrm>
                <a:off x="2291" y="2927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3" name="AutoShape 54"/>
              <p:cNvSpPr>
                <a:spLocks noChangeAspect="1" noChangeArrowheads="1"/>
              </p:cNvSpPr>
              <p:nvPr/>
            </p:nvSpPr>
            <p:spPr bwMode="auto">
              <a:xfrm>
                <a:off x="2470" y="2849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4" name="AutoShape 55"/>
              <p:cNvSpPr>
                <a:spLocks noChangeAspect="1" noChangeArrowheads="1"/>
              </p:cNvSpPr>
              <p:nvPr/>
            </p:nvSpPr>
            <p:spPr bwMode="auto">
              <a:xfrm>
                <a:off x="2291" y="2782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5" name="Rectangle 56"/>
              <p:cNvSpPr>
                <a:spLocks noChangeAspect="1" noChangeArrowheads="1"/>
              </p:cNvSpPr>
              <p:nvPr/>
            </p:nvSpPr>
            <p:spPr bwMode="auto">
              <a:xfrm flipV="1">
                <a:off x="757" y="2693"/>
                <a:ext cx="69" cy="68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6" name="Rectangle 57"/>
              <p:cNvSpPr>
                <a:spLocks noChangeAspect="1" noChangeArrowheads="1"/>
              </p:cNvSpPr>
              <p:nvPr/>
            </p:nvSpPr>
            <p:spPr bwMode="auto">
              <a:xfrm flipV="1">
                <a:off x="555" y="2603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7" name="Rectangle 58"/>
              <p:cNvSpPr>
                <a:spLocks noChangeAspect="1" noChangeArrowheads="1"/>
              </p:cNvSpPr>
              <p:nvPr/>
            </p:nvSpPr>
            <p:spPr bwMode="auto">
              <a:xfrm flipV="1">
                <a:off x="678" y="2592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8" name="Rectangle 59"/>
              <p:cNvSpPr>
                <a:spLocks noChangeAspect="1" noChangeArrowheads="1"/>
              </p:cNvSpPr>
              <p:nvPr/>
            </p:nvSpPr>
            <p:spPr bwMode="auto">
              <a:xfrm flipV="1">
                <a:off x="634" y="2681"/>
                <a:ext cx="68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9" name="Rectangle 60"/>
              <p:cNvSpPr>
                <a:spLocks noChangeAspect="1" noChangeArrowheads="1"/>
              </p:cNvSpPr>
              <p:nvPr/>
            </p:nvSpPr>
            <p:spPr bwMode="auto">
              <a:xfrm flipV="1">
                <a:off x="566" y="2894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0" name="Rectangle 61"/>
              <p:cNvSpPr>
                <a:spLocks noChangeAspect="1" noChangeArrowheads="1"/>
              </p:cNvSpPr>
              <p:nvPr/>
            </p:nvSpPr>
            <p:spPr bwMode="auto">
              <a:xfrm flipV="1">
                <a:off x="432" y="2939"/>
                <a:ext cx="69" cy="68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1" name="Rectangle 62"/>
              <p:cNvSpPr>
                <a:spLocks noChangeAspect="1" noChangeArrowheads="1"/>
              </p:cNvSpPr>
              <p:nvPr/>
            </p:nvSpPr>
            <p:spPr bwMode="auto">
              <a:xfrm flipV="1">
                <a:off x="499" y="3039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2" name="Rectangle 63"/>
              <p:cNvSpPr>
                <a:spLocks noChangeAspect="1" noChangeArrowheads="1"/>
              </p:cNvSpPr>
              <p:nvPr/>
            </p:nvSpPr>
            <p:spPr bwMode="auto">
              <a:xfrm flipV="1">
                <a:off x="936" y="2704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3" name="Rectangle 64"/>
              <p:cNvSpPr>
                <a:spLocks noChangeAspect="1" noChangeArrowheads="1"/>
              </p:cNvSpPr>
              <p:nvPr/>
            </p:nvSpPr>
            <p:spPr bwMode="auto">
              <a:xfrm flipV="1">
                <a:off x="1115" y="2782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4" name="Rectangle 65"/>
              <p:cNvSpPr>
                <a:spLocks noChangeAspect="1" noChangeArrowheads="1"/>
              </p:cNvSpPr>
              <p:nvPr/>
            </p:nvSpPr>
            <p:spPr bwMode="auto">
              <a:xfrm flipV="1">
                <a:off x="936" y="2849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6174" name="Rectangle 89"/>
            <p:cNvSpPr>
              <a:spLocks noChangeArrowheads="1"/>
            </p:cNvSpPr>
            <p:nvPr/>
          </p:nvSpPr>
          <p:spPr bwMode="auto">
            <a:xfrm>
              <a:off x="624" y="3244"/>
              <a:ext cx="144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800" b="0">
                  <a:cs typeface="Times New Roman" pitchFamily="18" charset="0"/>
                </a:rPr>
                <a:t>Two Clusters</a:t>
              </a:r>
              <a:r>
                <a:rPr lang="en-US" altLang="en-US" sz="1800" b="0"/>
                <a:t> </a:t>
              </a:r>
            </a:p>
          </p:txBody>
        </p:sp>
      </p:grpSp>
      <p:grpSp>
        <p:nvGrpSpPr>
          <p:cNvPr id="8" name="Group 92"/>
          <p:cNvGrpSpPr>
            <a:grpSpLocks/>
          </p:cNvGrpSpPr>
          <p:nvPr/>
        </p:nvGrpSpPr>
        <p:grpSpPr bwMode="auto">
          <a:xfrm>
            <a:off x="6484938" y="1905000"/>
            <a:ext cx="3344863" cy="1512888"/>
            <a:chOff x="3125" y="1200"/>
            <a:chExt cx="2107" cy="953"/>
          </a:xfrm>
        </p:grpSpPr>
        <p:grpSp>
          <p:nvGrpSpPr>
            <p:cNvPr id="6151" name="Group 24"/>
            <p:cNvGrpSpPr>
              <a:grpSpLocks/>
            </p:cNvGrpSpPr>
            <p:nvPr/>
          </p:nvGrpSpPr>
          <p:grpSpPr bwMode="auto">
            <a:xfrm>
              <a:off x="3125" y="1200"/>
              <a:ext cx="2107" cy="518"/>
              <a:chOff x="3125" y="1200"/>
              <a:chExt cx="2107" cy="518"/>
            </a:xfrm>
          </p:grpSpPr>
          <p:sp>
            <p:nvSpPr>
              <p:cNvPr id="6153" name="AutoShape 25"/>
              <p:cNvSpPr>
                <a:spLocks noChangeAspect="1" noChangeArrowheads="1"/>
              </p:cNvSpPr>
              <p:nvPr/>
            </p:nvSpPr>
            <p:spPr bwMode="auto">
              <a:xfrm>
                <a:off x="4805" y="1548"/>
                <a:ext cx="69" cy="69"/>
              </a:xfrm>
              <a:prstGeom prst="diamond">
                <a:avLst/>
              </a:prstGeom>
              <a:solidFill>
                <a:srgbClr val="FF99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54" name="AutoShape 26"/>
              <p:cNvSpPr>
                <a:spLocks noChangeAspect="1" noChangeArrowheads="1"/>
              </p:cNvSpPr>
              <p:nvPr/>
            </p:nvSpPr>
            <p:spPr bwMode="auto">
              <a:xfrm>
                <a:off x="4603" y="1638"/>
                <a:ext cx="69" cy="69"/>
              </a:xfrm>
              <a:prstGeom prst="diamond">
                <a:avLst/>
              </a:prstGeom>
              <a:solidFill>
                <a:srgbClr val="FF99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55" name="AutoShape 27"/>
              <p:cNvSpPr>
                <a:spLocks noChangeAspect="1" noChangeArrowheads="1"/>
              </p:cNvSpPr>
              <p:nvPr/>
            </p:nvSpPr>
            <p:spPr bwMode="auto">
              <a:xfrm>
                <a:off x="4726" y="1649"/>
                <a:ext cx="69" cy="69"/>
              </a:xfrm>
              <a:prstGeom prst="diamond">
                <a:avLst/>
              </a:prstGeom>
              <a:solidFill>
                <a:srgbClr val="FF99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56" name="AutoShape 28"/>
              <p:cNvSpPr>
                <a:spLocks noChangeAspect="1" noChangeArrowheads="1"/>
              </p:cNvSpPr>
              <p:nvPr/>
            </p:nvSpPr>
            <p:spPr bwMode="auto">
              <a:xfrm>
                <a:off x="4682" y="1559"/>
                <a:ext cx="68" cy="69"/>
              </a:xfrm>
              <a:prstGeom prst="diamond">
                <a:avLst/>
              </a:prstGeom>
              <a:solidFill>
                <a:srgbClr val="FF99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537053" name="AutoShape 29"/>
              <p:cNvSpPr>
                <a:spLocks noChangeAspect="1" noChangeArrowheads="1"/>
              </p:cNvSpPr>
              <p:nvPr/>
            </p:nvSpPr>
            <p:spPr bwMode="auto">
              <a:xfrm>
                <a:off x="4614" y="1346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400"/>
              </a:p>
            </p:txBody>
          </p:sp>
          <p:sp>
            <p:nvSpPr>
              <p:cNvPr id="1537054" name="AutoShape 30"/>
              <p:cNvSpPr>
                <a:spLocks noChangeAspect="1" noChangeArrowheads="1"/>
              </p:cNvSpPr>
              <p:nvPr/>
            </p:nvSpPr>
            <p:spPr bwMode="auto">
              <a:xfrm>
                <a:off x="4480" y="1301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400"/>
              </a:p>
            </p:txBody>
          </p:sp>
          <p:sp>
            <p:nvSpPr>
              <p:cNvPr id="1537055" name="AutoShape 31"/>
              <p:cNvSpPr>
                <a:spLocks noChangeAspect="1" noChangeArrowheads="1"/>
              </p:cNvSpPr>
              <p:nvPr/>
            </p:nvSpPr>
            <p:spPr bwMode="auto">
              <a:xfrm>
                <a:off x="4547" y="1200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400"/>
              </a:p>
            </p:txBody>
          </p:sp>
          <p:sp>
            <p:nvSpPr>
              <p:cNvPr id="6160" name="Rectangle 32"/>
              <p:cNvSpPr>
                <a:spLocks noChangeAspect="1" noChangeArrowheads="1"/>
              </p:cNvSpPr>
              <p:nvPr/>
            </p:nvSpPr>
            <p:spPr bwMode="auto">
              <a:xfrm>
                <a:off x="4984" y="1537"/>
                <a:ext cx="69" cy="6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1" name="Rectangle 33"/>
              <p:cNvSpPr>
                <a:spLocks noChangeAspect="1" noChangeArrowheads="1"/>
              </p:cNvSpPr>
              <p:nvPr/>
            </p:nvSpPr>
            <p:spPr bwMode="auto">
              <a:xfrm>
                <a:off x="5163" y="1458"/>
                <a:ext cx="69" cy="6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2" name="Rectangle 34"/>
              <p:cNvSpPr>
                <a:spLocks noChangeAspect="1" noChangeArrowheads="1"/>
              </p:cNvSpPr>
              <p:nvPr/>
            </p:nvSpPr>
            <p:spPr bwMode="auto">
              <a:xfrm>
                <a:off x="4984" y="1391"/>
                <a:ext cx="69" cy="6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3" name="AutoShape 35"/>
              <p:cNvSpPr>
                <a:spLocks noChangeAspect="1" noChangeArrowheads="1"/>
              </p:cNvSpPr>
              <p:nvPr/>
            </p:nvSpPr>
            <p:spPr bwMode="auto">
              <a:xfrm flipV="1">
                <a:off x="3450" y="1301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4" name="AutoShape 36"/>
              <p:cNvSpPr>
                <a:spLocks noChangeAspect="1" noChangeArrowheads="1"/>
              </p:cNvSpPr>
              <p:nvPr/>
            </p:nvSpPr>
            <p:spPr bwMode="auto">
              <a:xfrm flipV="1">
                <a:off x="3248" y="1211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5" name="AutoShape 37"/>
              <p:cNvSpPr>
                <a:spLocks noChangeAspect="1" noChangeArrowheads="1"/>
              </p:cNvSpPr>
              <p:nvPr/>
            </p:nvSpPr>
            <p:spPr bwMode="auto">
              <a:xfrm flipV="1">
                <a:off x="3371" y="1200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6" name="AutoShape 38"/>
              <p:cNvSpPr>
                <a:spLocks noChangeAspect="1" noChangeArrowheads="1"/>
              </p:cNvSpPr>
              <p:nvPr/>
            </p:nvSpPr>
            <p:spPr bwMode="auto">
              <a:xfrm flipV="1">
                <a:off x="3327" y="1290"/>
                <a:ext cx="68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7" name="AutoShape 39"/>
              <p:cNvSpPr>
                <a:spLocks noChangeAspect="1" noChangeArrowheads="1"/>
              </p:cNvSpPr>
              <p:nvPr/>
            </p:nvSpPr>
            <p:spPr bwMode="auto">
              <a:xfrm flipV="1">
                <a:off x="3259" y="1503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00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8" name="AutoShape 40"/>
              <p:cNvSpPr>
                <a:spLocks noChangeAspect="1" noChangeArrowheads="1"/>
              </p:cNvSpPr>
              <p:nvPr/>
            </p:nvSpPr>
            <p:spPr bwMode="auto">
              <a:xfrm flipV="1">
                <a:off x="3125" y="1548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00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9" name="AutoShape 41"/>
              <p:cNvSpPr>
                <a:spLocks noChangeAspect="1" noChangeArrowheads="1"/>
              </p:cNvSpPr>
              <p:nvPr/>
            </p:nvSpPr>
            <p:spPr bwMode="auto">
              <a:xfrm flipV="1">
                <a:off x="3192" y="1649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00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0" name="Oval 42"/>
              <p:cNvSpPr>
                <a:spLocks noChangeAspect="1" noChangeArrowheads="1"/>
              </p:cNvSpPr>
              <p:nvPr/>
            </p:nvSpPr>
            <p:spPr bwMode="auto">
              <a:xfrm flipV="1">
                <a:off x="3629" y="1312"/>
                <a:ext cx="69" cy="69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1" name="Oval 43"/>
              <p:cNvSpPr>
                <a:spLocks noChangeAspect="1" noChangeArrowheads="1"/>
              </p:cNvSpPr>
              <p:nvPr/>
            </p:nvSpPr>
            <p:spPr bwMode="auto">
              <a:xfrm flipV="1">
                <a:off x="3808" y="1391"/>
                <a:ext cx="69" cy="69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2" name="Oval 44"/>
              <p:cNvSpPr>
                <a:spLocks noChangeAspect="1" noChangeArrowheads="1"/>
              </p:cNvSpPr>
              <p:nvPr/>
            </p:nvSpPr>
            <p:spPr bwMode="auto">
              <a:xfrm flipV="1">
                <a:off x="3629" y="1458"/>
                <a:ext cx="69" cy="69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6152" name="Rectangle 90"/>
            <p:cNvSpPr>
              <a:spLocks noChangeArrowheads="1"/>
            </p:cNvSpPr>
            <p:nvPr/>
          </p:nvSpPr>
          <p:spPr bwMode="auto">
            <a:xfrm>
              <a:off x="3413" y="1920"/>
              <a:ext cx="144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800" b="0">
                  <a:cs typeface="Times New Roman" pitchFamily="18" charset="0"/>
                </a:rPr>
                <a:t>Six Clusters</a:t>
              </a:r>
              <a:r>
                <a:rPr lang="en-US" altLang="en-US" sz="1600" b="0">
                  <a:latin typeface="Times New Roman" pitchFamily="18" charset="0"/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77457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Types of Clusterings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2891" indent="-342891">
              <a:spcBef>
                <a:spcPct val="20000"/>
              </a:spcBef>
            </a:pPr>
            <a:r>
              <a:rPr lang="en-US" altLang="en-US"/>
              <a:t>A </a:t>
            </a:r>
            <a:r>
              <a:rPr lang="en-US" altLang="en-US">
                <a:solidFill>
                  <a:srgbClr val="FF0000"/>
                </a:solidFill>
              </a:rPr>
              <a:t>clustering</a:t>
            </a:r>
            <a:r>
              <a:rPr lang="en-US" altLang="en-US"/>
              <a:t> is a set of clusters</a:t>
            </a:r>
          </a:p>
          <a:p>
            <a:pPr marL="342891" indent="-342891">
              <a:spcBef>
                <a:spcPct val="20000"/>
              </a:spcBef>
            </a:pPr>
            <a:endParaRPr lang="en-US" altLang="en-US" sz="1200"/>
          </a:p>
          <a:p>
            <a:pPr marL="342891" indent="-342891">
              <a:spcBef>
                <a:spcPct val="20000"/>
              </a:spcBef>
            </a:pPr>
            <a:r>
              <a:rPr lang="en-US" altLang="en-US"/>
              <a:t>Important distinction between </a:t>
            </a:r>
            <a:r>
              <a:rPr lang="en-US" altLang="en-US">
                <a:solidFill>
                  <a:srgbClr val="FF0000"/>
                </a:solidFill>
              </a:rPr>
              <a:t>hierarchical</a:t>
            </a:r>
            <a:r>
              <a:rPr lang="en-US" altLang="en-US"/>
              <a:t> and </a:t>
            </a:r>
            <a:r>
              <a:rPr lang="en-US" altLang="en-US">
                <a:solidFill>
                  <a:srgbClr val="FF0000"/>
                </a:solidFill>
              </a:rPr>
              <a:t>partitional</a:t>
            </a:r>
            <a:r>
              <a:rPr lang="en-US" altLang="en-US">
                <a:solidFill>
                  <a:srgbClr val="FFCC00"/>
                </a:solidFill>
              </a:rPr>
              <a:t> </a:t>
            </a:r>
            <a:r>
              <a:rPr lang="en-US" altLang="en-US"/>
              <a:t>sets of clusters </a:t>
            </a:r>
            <a:endParaRPr lang="en-US" altLang="en-US">
              <a:solidFill>
                <a:srgbClr val="FFCC00"/>
              </a:solidFill>
            </a:endParaRPr>
          </a:p>
          <a:p>
            <a:pPr marL="342891" indent="-342891">
              <a:spcBef>
                <a:spcPct val="20000"/>
              </a:spcBef>
            </a:pPr>
            <a:endParaRPr lang="en-US" altLang="en-US" sz="1200">
              <a:solidFill>
                <a:srgbClr val="FFCC00"/>
              </a:solidFill>
            </a:endParaRPr>
          </a:p>
          <a:p>
            <a:pPr marL="342891" indent="-342891">
              <a:spcBef>
                <a:spcPct val="20000"/>
              </a:spcBef>
            </a:pPr>
            <a:r>
              <a:rPr lang="en-US" altLang="en-US"/>
              <a:t>Partitional Clustering</a:t>
            </a:r>
          </a:p>
          <a:p>
            <a:pPr marL="742932" lvl="1" indent="-285744">
              <a:spcBef>
                <a:spcPct val="20000"/>
              </a:spcBef>
            </a:pPr>
            <a:r>
              <a:rPr lang="en-US" altLang="en-US" sz="2000"/>
              <a:t>A division of data objects into non-overlapping subsets (clusters) such that each data object is in exactly one subset</a:t>
            </a:r>
          </a:p>
          <a:p>
            <a:pPr marL="742932" lvl="1" indent="-285744">
              <a:spcBef>
                <a:spcPct val="20000"/>
              </a:spcBef>
            </a:pPr>
            <a:endParaRPr lang="en-US" altLang="en-US" sz="1000">
              <a:solidFill>
                <a:srgbClr val="FFCC00"/>
              </a:solidFill>
            </a:endParaRPr>
          </a:p>
          <a:p>
            <a:pPr marL="342891" indent="-342891">
              <a:spcBef>
                <a:spcPct val="20000"/>
              </a:spcBef>
            </a:pPr>
            <a:r>
              <a:rPr lang="en-US" altLang="en-US"/>
              <a:t>Hierarchical clustering</a:t>
            </a:r>
          </a:p>
          <a:p>
            <a:pPr marL="742932" lvl="1" indent="-285744">
              <a:spcBef>
                <a:spcPct val="20000"/>
              </a:spcBef>
            </a:pPr>
            <a:r>
              <a:rPr lang="en-US" altLang="en-US" sz="2000"/>
              <a:t>A set of nested clusters organized as a hierarchical tree </a:t>
            </a:r>
          </a:p>
        </p:txBody>
      </p:sp>
    </p:spTree>
    <p:extLst>
      <p:ext uri="{BB962C8B-B14F-4D97-AF65-F5344CB8AC3E}">
        <p14:creationId xmlns:p14="http://schemas.microsoft.com/office/powerpoint/2010/main" val="4198073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Partitional Clustering</a:t>
            </a:r>
          </a:p>
        </p:txBody>
      </p:sp>
      <p:sp>
        <p:nvSpPr>
          <p:cNvPr id="8195" name="Freeform 4"/>
          <p:cNvSpPr>
            <a:spLocks/>
          </p:cNvSpPr>
          <p:nvPr/>
        </p:nvSpPr>
        <p:spPr bwMode="auto">
          <a:xfrm>
            <a:off x="2778126" y="2517775"/>
            <a:ext cx="96839" cy="101600"/>
          </a:xfrm>
          <a:custGeom>
            <a:avLst/>
            <a:gdLst>
              <a:gd name="T0" fmla="*/ 2147483647 w 61"/>
              <a:gd name="T1" fmla="*/ 2147483647 h 64"/>
              <a:gd name="T2" fmla="*/ 2147483647 w 61"/>
              <a:gd name="T3" fmla="*/ 2147483647 h 64"/>
              <a:gd name="T4" fmla="*/ 2147483647 w 61"/>
              <a:gd name="T5" fmla="*/ 2147483647 h 64"/>
              <a:gd name="T6" fmla="*/ 2147483647 w 61"/>
              <a:gd name="T7" fmla="*/ 2147483647 h 64"/>
              <a:gd name="T8" fmla="*/ 2147483647 w 61"/>
              <a:gd name="T9" fmla="*/ 2147483647 h 64"/>
              <a:gd name="T10" fmla="*/ 0 w 61"/>
              <a:gd name="T11" fmla="*/ 2147483647 h 64"/>
              <a:gd name="T12" fmla="*/ 0 w 61"/>
              <a:gd name="T13" fmla="*/ 2147483647 h 64"/>
              <a:gd name="T14" fmla="*/ 2147483647 w 61"/>
              <a:gd name="T15" fmla="*/ 2147483647 h 64"/>
              <a:gd name="T16" fmla="*/ 2147483647 w 61"/>
              <a:gd name="T17" fmla="*/ 0 h 64"/>
              <a:gd name="T18" fmla="*/ 2147483647 w 61"/>
              <a:gd name="T19" fmla="*/ 2147483647 h 64"/>
              <a:gd name="T20" fmla="*/ 2147483647 w 61"/>
              <a:gd name="T21" fmla="*/ 2147483647 h 64"/>
              <a:gd name="T22" fmla="*/ 2147483647 w 61"/>
              <a:gd name="T23" fmla="*/ 2147483647 h 64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4"/>
              <a:gd name="T38" fmla="*/ 61 w 61"/>
              <a:gd name="T39" fmla="*/ 64 h 64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4">
                <a:moveTo>
                  <a:pt x="61" y="30"/>
                </a:moveTo>
                <a:lnTo>
                  <a:pt x="55" y="49"/>
                </a:lnTo>
                <a:lnTo>
                  <a:pt x="43" y="61"/>
                </a:lnTo>
                <a:lnTo>
                  <a:pt x="24" y="64"/>
                </a:lnTo>
                <a:lnTo>
                  <a:pt x="9" y="55"/>
                </a:lnTo>
                <a:lnTo>
                  <a:pt x="0" y="39"/>
                </a:lnTo>
                <a:lnTo>
                  <a:pt x="0" y="24"/>
                </a:lnTo>
                <a:lnTo>
                  <a:pt x="9" y="9"/>
                </a:lnTo>
                <a:lnTo>
                  <a:pt x="24" y="0"/>
                </a:lnTo>
                <a:lnTo>
                  <a:pt x="43" y="3"/>
                </a:lnTo>
                <a:lnTo>
                  <a:pt x="55" y="15"/>
                </a:lnTo>
                <a:lnTo>
                  <a:pt x="61" y="30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 sz="1400"/>
          </a:p>
        </p:txBody>
      </p:sp>
      <p:sp>
        <p:nvSpPr>
          <p:cNvPr id="8196" name="Freeform 5"/>
          <p:cNvSpPr>
            <a:spLocks/>
          </p:cNvSpPr>
          <p:nvPr/>
        </p:nvSpPr>
        <p:spPr bwMode="auto">
          <a:xfrm>
            <a:off x="2778126" y="2716214"/>
            <a:ext cx="96839" cy="98425"/>
          </a:xfrm>
          <a:custGeom>
            <a:avLst/>
            <a:gdLst>
              <a:gd name="T0" fmla="*/ 2147483647 w 61"/>
              <a:gd name="T1" fmla="*/ 2147483647 h 62"/>
              <a:gd name="T2" fmla="*/ 2147483647 w 61"/>
              <a:gd name="T3" fmla="*/ 2147483647 h 62"/>
              <a:gd name="T4" fmla="*/ 2147483647 w 61"/>
              <a:gd name="T5" fmla="*/ 2147483647 h 62"/>
              <a:gd name="T6" fmla="*/ 2147483647 w 61"/>
              <a:gd name="T7" fmla="*/ 2147483647 h 62"/>
              <a:gd name="T8" fmla="*/ 2147483647 w 61"/>
              <a:gd name="T9" fmla="*/ 2147483647 h 62"/>
              <a:gd name="T10" fmla="*/ 0 w 61"/>
              <a:gd name="T11" fmla="*/ 2147483647 h 62"/>
              <a:gd name="T12" fmla="*/ 0 w 61"/>
              <a:gd name="T13" fmla="*/ 2147483647 h 62"/>
              <a:gd name="T14" fmla="*/ 2147483647 w 61"/>
              <a:gd name="T15" fmla="*/ 2147483647 h 62"/>
              <a:gd name="T16" fmla="*/ 2147483647 w 61"/>
              <a:gd name="T17" fmla="*/ 0 h 62"/>
              <a:gd name="T18" fmla="*/ 2147483647 w 61"/>
              <a:gd name="T19" fmla="*/ 2147483647 h 62"/>
              <a:gd name="T20" fmla="*/ 2147483647 w 61"/>
              <a:gd name="T21" fmla="*/ 2147483647 h 62"/>
              <a:gd name="T22" fmla="*/ 2147483647 w 61"/>
              <a:gd name="T23" fmla="*/ 2147483647 h 6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2"/>
              <a:gd name="T38" fmla="*/ 61 w 61"/>
              <a:gd name="T39" fmla="*/ 62 h 62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2">
                <a:moveTo>
                  <a:pt x="61" y="31"/>
                </a:moveTo>
                <a:lnTo>
                  <a:pt x="55" y="49"/>
                </a:lnTo>
                <a:lnTo>
                  <a:pt x="43" y="62"/>
                </a:lnTo>
                <a:lnTo>
                  <a:pt x="24" y="62"/>
                </a:lnTo>
                <a:lnTo>
                  <a:pt x="9" y="55"/>
                </a:lnTo>
                <a:lnTo>
                  <a:pt x="0" y="40"/>
                </a:lnTo>
                <a:lnTo>
                  <a:pt x="0" y="22"/>
                </a:lnTo>
                <a:lnTo>
                  <a:pt x="9" y="9"/>
                </a:lnTo>
                <a:lnTo>
                  <a:pt x="24" y="0"/>
                </a:lnTo>
                <a:lnTo>
                  <a:pt x="43" y="3"/>
                </a:lnTo>
                <a:lnTo>
                  <a:pt x="55" y="16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 sz="1400"/>
          </a:p>
        </p:txBody>
      </p:sp>
      <p:sp>
        <p:nvSpPr>
          <p:cNvPr id="8197" name="Freeform 6"/>
          <p:cNvSpPr>
            <a:spLocks/>
          </p:cNvSpPr>
          <p:nvPr/>
        </p:nvSpPr>
        <p:spPr bwMode="auto">
          <a:xfrm>
            <a:off x="3475039" y="4711701"/>
            <a:ext cx="96837" cy="98425"/>
          </a:xfrm>
          <a:custGeom>
            <a:avLst/>
            <a:gdLst>
              <a:gd name="T0" fmla="*/ 2147483647 w 61"/>
              <a:gd name="T1" fmla="*/ 2147483647 h 62"/>
              <a:gd name="T2" fmla="*/ 2147483647 w 61"/>
              <a:gd name="T3" fmla="*/ 2147483647 h 62"/>
              <a:gd name="T4" fmla="*/ 2147483647 w 61"/>
              <a:gd name="T5" fmla="*/ 2147483647 h 62"/>
              <a:gd name="T6" fmla="*/ 2147483647 w 61"/>
              <a:gd name="T7" fmla="*/ 2147483647 h 62"/>
              <a:gd name="T8" fmla="*/ 2147483647 w 61"/>
              <a:gd name="T9" fmla="*/ 2147483647 h 62"/>
              <a:gd name="T10" fmla="*/ 0 w 61"/>
              <a:gd name="T11" fmla="*/ 2147483647 h 62"/>
              <a:gd name="T12" fmla="*/ 0 w 61"/>
              <a:gd name="T13" fmla="*/ 2147483647 h 62"/>
              <a:gd name="T14" fmla="*/ 2147483647 w 61"/>
              <a:gd name="T15" fmla="*/ 2147483647 h 62"/>
              <a:gd name="T16" fmla="*/ 2147483647 w 61"/>
              <a:gd name="T17" fmla="*/ 0 h 62"/>
              <a:gd name="T18" fmla="*/ 2147483647 w 61"/>
              <a:gd name="T19" fmla="*/ 0 h 62"/>
              <a:gd name="T20" fmla="*/ 2147483647 w 61"/>
              <a:gd name="T21" fmla="*/ 2147483647 h 62"/>
              <a:gd name="T22" fmla="*/ 2147483647 w 61"/>
              <a:gd name="T23" fmla="*/ 2147483647 h 6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2"/>
              <a:gd name="T38" fmla="*/ 61 w 61"/>
              <a:gd name="T39" fmla="*/ 62 h 62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2">
                <a:moveTo>
                  <a:pt x="61" y="31"/>
                </a:moveTo>
                <a:lnTo>
                  <a:pt x="55" y="46"/>
                </a:lnTo>
                <a:lnTo>
                  <a:pt x="43" y="59"/>
                </a:lnTo>
                <a:lnTo>
                  <a:pt x="24" y="62"/>
                </a:lnTo>
                <a:lnTo>
                  <a:pt x="9" y="53"/>
                </a:lnTo>
                <a:lnTo>
                  <a:pt x="0" y="40"/>
                </a:lnTo>
                <a:lnTo>
                  <a:pt x="0" y="22"/>
                </a:lnTo>
                <a:lnTo>
                  <a:pt x="9" y="7"/>
                </a:lnTo>
                <a:lnTo>
                  <a:pt x="24" y="0"/>
                </a:lnTo>
                <a:lnTo>
                  <a:pt x="43" y="0"/>
                </a:lnTo>
                <a:lnTo>
                  <a:pt x="55" y="13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 sz="1400"/>
          </a:p>
        </p:txBody>
      </p:sp>
      <p:sp>
        <p:nvSpPr>
          <p:cNvPr id="8198" name="Freeform 7"/>
          <p:cNvSpPr>
            <a:spLocks/>
          </p:cNvSpPr>
          <p:nvPr/>
        </p:nvSpPr>
        <p:spPr bwMode="auto">
          <a:xfrm>
            <a:off x="3074988" y="2619375"/>
            <a:ext cx="96837" cy="96839"/>
          </a:xfrm>
          <a:custGeom>
            <a:avLst/>
            <a:gdLst>
              <a:gd name="T0" fmla="*/ 2147483647 w 61"/>
              <a:gd name="T1" fmla="*/ 2147483647 h 61"/>
              <a:gd name="T2" fmla="*/ 2147483647 w 61"/>
              <a:gd name="T3" fmla="*/ 2147483647 h 61"/>
              <a:gd name="T4" fmla="*/ 2147483647 w 61"/>
              <a:gd name="T5" fmla="*/ 2147483647 h 61"/>
              <a:gd name="T6" fmla="*/ 2147483647 w 61"/>
              <a:gd name="T7" fmla="*/ 2147483647 h 61"/>
              <a:gd name="T8" fmla="*/ 2147483647 w 61"/>
              <a:gd name="T9" fmla="*/ 2147483647 h 61"/>
              <a:gd name="T10" fmla="*/ 0 w 61"/>
              <a:gd name="T11" fmla="*/ 2147483647 h 61"/>
              <a:gd name="T12" fmla="*/ 0 w 61"/>
              <a:gd name="T13" fmla="*/ 2147483647 h 61"/>
              <a:gd name="T14" fmla="*/ 2147483647 w 61"/>
              <a:gd name="T15" fmla="*/ 2147483647 h 61"/>
              <a:gd name="T16" fmla="*/ 2147483647 w 61"/>
              <a:gd name="T17" fmla="*/ 0 h 61"/>
              <a:gd name="T18" fmla="*/ 2147483647 w 61"/>
              <a:gd name="T19" fmla="*/ 2147483647 h 61"/>
              <a:gd name="T20" fmla="*/ 2147483647 w 61"/>
              <a:gd name="T21" fmla="*/ 2147483647 h 61"/>
              <a:gd name="T22" fmla="*/ 2147483647 w 61"/>
              <a:gd name="T23" fmla="*/ 2147483647 h 6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1"/>
              <a:gd name="T38" fmla="*/ 61 w 61"/>
              <a:gd name="T39" fmla="*/ 61 h 61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1">
                <a:moveTo>
                  <a:pt x="61" y="31"/>
                </a:moveTo>
                <a:lnTo>
                  <a:pt x="58" y="46"/>
                </a:lnTo>
                <a:lnTo>
                  <a:pt x="43" y="58"/>
                </a:lnTo>
                <a:lnTo>
                  <a:pt x="25" y="61"/>
                </a:lnTo>
                <a:lnTo>
                  <a:pt x="9" y="55"/>
                </a:lnTo>
                <a:lnTo>
                  <a:pt x="0" y="40"/>
                </a:lnTo>
                <a:lnTo>
                  <a:pt x="0" y="21"/>
                </a:lnTo>
                <a:lnTo>
                  <a:pt x="9" y="6"/>
                </a:lnTo>
                <a:lnTo>
                  <a:pt x="25" y="0"/>
                </a:lnTo>
                <a:lnTo>
                  <a:pt x="43" y="3"/>
                </a:lnTo>
                <a:lnTo>
                  <a:pt x="58" y="12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 sz="1400"/>
          </a:p>
        </p:txBody>
      </p:sp>
      <p:sp>
        <p:nvSpPr>
          <p:cNvPr id="8199" name="Freeform 8"/>
          <p:cNvSpPr>
            <a:spLocks/>
          </p:cNvSpPr>
          <p:nvPr/>
        </p:nvSpPr>
        <p:spPr bwMode="auto">
          <a:xfrm>
            <a:off x="3475039" y="3914775"/>
            <a:ext cx="96837" cy="96839"/>
          </a:xfrm>
          <a:custGeom>
            <a:avLst/>
            <a:gdLst>
              <a:gd name="T0" fmla="*/ 2147483647 w 61"/>
              <a:gd name="T1" fmla="*/ 2147483647 h 61"/>
              <a:gd name="T2" fmla="*/ 2147483647 w 61"/>
              <a:gd name="T3" fmla="*/ 2147483647 h 61"/>
              <a:gd name="T4" fmla="*/ 2147483647 w 61"/>
              <a:gd name="T5" fmla="*/ 2147483647 h 61"/>
              <a:gd name="T6" fmla="*/ 2147483647 w 61"/>
              <a:gd name="T7" fmla="*/ 2147483647 h 61"/>
              <a:gd name="T8" fmla="*/ 2147483647 w 61"/>
              <a:gd name="T9" fmla="*/ 2147483647 h 61"/>
              <a:gd name="T10" fmla="*/ 0 w 61"/>
              <a:gd name="T11" fmla="*/ 2147483647 h 61"/>
              <a:gd name="T12" fmla="*/ 0 w 61"/>
              <a:gd name="T13" fmla="*/ 2147483647 h 61"/>
              <a:gd name="T14" fmla="*/ 2147483647 w 61"/>
              <a:gd name="T15" fmla="*/ 2147483647 h 61"/>
              <a:gd name="T16" fmla="*/ 2147483647 w 61"/>
              <a:gd name="T17" fmla="*/ 0 h 61"/>
              <a:gd name="T18" fmla="*/ 2147483647 w 61"/>
              <a:gd name="T19" fmla="*/ 2147483647 h 61"/>
              <a:gd name="T20" fmla="*/ 2147483647 w 61"/>
              <a:gd name="T21" fmla="*/ 2147483647 h 61"/>
              <a:gd name="T22" fmla="*/ 2147483647 w 61"/>
              <a:gd name="T23" fmla="*/ 2147483647 h 6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1"/>
              <a:gd name="T38" fmla="*/ 61 w 61"/>
              <a:gd name="T39" fmla="*/ 61 h 61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1">
                <a:moveTo>
                  <a:pt x="61" y="30"/>
                </a:moveTo>
                <a:lnTo>
                  <a:pt x="55" y="46"/>
                </a:lnTo>
                <a:lnTo>
                  <a:pt x="43" y="58"/>
                </a:lnTo>
                <a:lnTo>
                  <a:pt x="24" y="61"/>
                </a:lnTo>
                <a:lnTo>
                  <a:pt x="9" y="55"/>
                </a:lnTo>
                <a:lnTo>
                  <a:pt x="0" y="39"/>
                </a:lnTo>
                <a:lnTo>
                  <a:pt x="0" y="21"/>
                </a:lnTo>
                <a:lnTo>
                  <a:pt x="9" y="6"/>
                </a:lnTo>
                <a:lnTo>
                  <a:pt x="24" y="0"/>
                </a:lnTo>
                <a:lnTo>
                  <a:pt x="43" y="3"/>
                </a:lnTo>
                <a:lnTo>
                  <a:pt x="55" y="12"/>
                </a:lnTo>
                <a:lnTo>
                  <a:pt x="61" y="30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 sz="1400"/>
          </a:p>
        </p:txBody>
      </p:sp>
      <p:sp>
        <p:nvSpPr>
          <p:cNvPr id="8200" name="Freeform 9"/>
          <p:cNvSpPr>
            <a:spLocks/>
          </p:cNvSpPr>
          <p:nvPr/>
        </p:nvSpPr>
        <p:spPr bwMode="auto">
          <a:xfrm>
            <a:off x="3644901" y="1825626"/>
            <a:ext cx="98425" cy="98425"/>
          </a:xfrm>
          <a:custGeom>
            <a:avLst/>
            <a:gdLst>
              <a:gd name="T0" fmla="*/ 2147483647 w 62"/>
              <a:gd name="T1" fmla="*/ 2147483647 h 62"/>
              <a:gd name="T2" fmla="*/ 2147483647 w 62"/>
              <a:gd name="T3" fmla="*/ 2147483647 h 62"/>
              <a:gd name="T4" fmla="*/ 2147483647 w 62"/>
              <a:gd name="T5" fmla="*/ 2147483647 h 62"/>
              <a:gd name="T6" fmla="*/ 2147483647 w 62"/>
              <a:gd name="T7" fmla="*/ 2147483647 h 62"/>
              <a:gd name="T8" fmla="*/ 2147483647 w 62"/>
              <a:gd name="T9" fmla="*/ 2147483647 h 62"/>
              <a:gd name="T10" fmla="*/ 0 w 62"/>
              <a:gd name="T11" fmla="*/ 2147483647 h 62"/>
              <a:gd name="T12" fmla="*/ 0 w 62"/>
              <a:gd name="T13" fmla="*/ 2147483647 h 62"/>
              <a:gd name="T14" fmla="*/ 2147483647 w 62"/>
              <a:gd name="T15" fmla="*/ 2147483647 h 62"/>
              <a:gd name="T16" fmla="*/ 2147483647 w 62"/>
              <a:gd name="T17" fmla="*/ 0 h 62"/>
              <a:gd name="T18" fmla="*/ 2147483647 w 62"/>
              <a:gd name="T19" fmla="*/ 2147483647 h 62"/>
              <a:gd name="T20" fmla="*/ 2147483647 w 62"/>
              <a:gd name="T21" fmla="*/ 2147483647 h 62"/>
              <a:gd name="T22" fmla="*/ 2147483647 w 62"/>
              <a:gd name="T23" fmla="*/ 2147483647 h 6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2"/>
              <a:gd name="T37" fmla="*/ 0 h 62"/>
              <a:gd name="T38" fmla="*/ 62 w 62"/>
              <a:gd name="T39" fmla="*/ 62 h 62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2" h="62">
                <a:moveTo>
                  <a:pt x="62" y="31"/>
                </a:moveTo>
                <a:lnTo>
                  <a:pt x="56" y="46"/>
                </a:lnTo>
                <a:lnTo>
                  <a:pt x="43" y="58"/>
                </a:lnTo>
                <a:lnTo>
                  <a:pt x="25" y="62"/>
                </a:lnTo>
                <a:lnTo>
                  <a:pt x="9" y="55"/>
                </a:lnTo>
                <a:lnTo>
                  <a:pt x="0" y="40"/>
                </a:lnTo>
                <a:lnTo>
                  <a:pt x="0" y="22"/>
                </a:lnTo>
                <a:lnTo>
                  <a:pt x="9" y="6"/>
                </a:lnTo>
                <a:lnTo>
                  <a:pt x="25" y="0"/>
                </a:lnTo>
                <a:lnTo>
                  <a:pt x="43" y="3"/>
                </a:lnTo>
                <a:lnTo>
                  <a:pt x="56" y="12"/>
                </a:lnTo>
                <a:lnTo>
                  <a:pt x="62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 sz="1400"/>
          </a:p>
        </p:txBody>
      </p:sp>
      <p:sp>
        <p:nvSpPr>
          <p:cNvPr id="8201" name="Freeform 10"/>
          <p:cNvSpPr>
            <a:spLocks/>
          </p:cNvSpPr>
          <p:nvPr/>
        </p:nvSpPr>
        <p:spPr bwMode="auto">
          <a:xfrm>
            <a:off x="3875088" y="2020888"/>
            <a:ext cx="96837" cy="96837"/>
          </a:xfrm>
          <a:custGeom>
            <a:avLst/>
            <a:gdLst>
              <a:gd name="T0" fmla="*/ 2147483647 w 61"/>
              <a:gd name="T1" fmla="*/ 2147483647 h 61"/>
              <a:gd name="T2" fmla="*/ 2147483647 w 61"/>
              <a:gd name="T3" fmla="*/ 2147483647 h 61"/>
              <a:gd name="T4" fmla="*/ 2147483647 w 61"/>
              <a:gd name="T5" fmla="*/ 2147483647 h 61"/>
              <a:gd name="T6" fmla="*/ 2147483647 w 61"/>
              <a:gd name="T7" fmla="*/ 2147483647 h 61"/>
              <a:gd name="T8" fmla="*/ 2147483647 w 61"/>
              <a:gd name="T9" fmla="*/ 2147483647 h 61"/>
              <a:gd name="T10" fmla="*/ 0 w 61"/>
              <a:gd name="T11" fmla="*/ 2147483647 h 61"/>
              <a:gd name="T12" fmla="*/ 0 w 61"/>
              <a:gd name="T13" fmla="*/ 2147483647 h 61"/>
              <a:gd name="T14" fmla="*/ 2147483647 w 61"/>
              <a:gd name="T15" fmla="*/ 2147483647 h 61"/>
              <a:gd name="T16" fmla="*/ 2147483647 w 61"/>
              <a:gd name="T17" fmla="*/ 0 h 61"/>
              <a:gd name="T18" fmla="*/ 2147483647 w 61"/>
              <a:gd name="T19" fmla="*/ 2147483647 h 61"/>
              <a:gd name="T20" fmla="*/ 2147483647 w 61"/>
              <a:gd name="T21" fmla="*/ 2147483647 h 61"/>
              <a:gd name="T22" fmla="*/ 2147483647 w 61"/>
              <a:gd name="T23" fmla="*/ 2147483647 h 6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1"/>
              <a:gd name="T38" fmla="*/ 61 w 61"/>
              <a:gd name="T39" fmla="*/ 61 h 61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1">
                <a:moveTo>
                  <a:pt x="61" y="31"/>
                </a:moveTo>
                <a:lnTo>
                  <a:pt x="55" y="49"/>
                </a:lnTo>
                <a:lnTo>
                  <a:pt x="43" y="58"/>
                </a:lnTo>
                <a:lnTo>
                  <a:pt x="24" y="61"/>
                </a:lnTo>
                <a:lnTo>
                  <a:pt x="9" y="55"/>
                </a:lnTo>
                <a:lnTo>
                  <a:pt x="0" y="40"/>
                </a:lnTo>
                <a:lnTo>
                  <a:pt x="0" y="21"/>
                </a:lnTo>
                <a:lnTo>
                  <a:pt x="9" y="6"/>
                </a:lnTo>
                <a:lnTo>
                  <a:pt x="24" y="0"/>
                </a:lnTo>
                <a:lnTo>
                  <a:pt x="43" y="3"/>
                </a:lnTo>
                <a:lnTo>
                  <a:pt x="55" y="15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 sz="1400"/>
          </a:p>
        </p:txBody>
      </p:sp>
      <p:sp>
        <p:nvSpPr>
          <p:cNvPr id="8202" name="Freeform 11"/>
          <p:cNvSpPr>
            <a:spLocks/>
          </p:cNvSpPr>
          <p:nvPr/>
        </p:nvSpPr>
        <p:spPr bwMode="auto">
          <a:xfrm>
            <a:off x="3971926" y="2317751"/>
            <a:ext cx="96839" cy="101600"/>
          </a:xfrm>
          <a:custGeom>
            <a:avLst/>
            <a:gdLst>
              <a:gd name="T0" fmla="*/ 2147483647 w 61"/>
              <a:gd name="T1" fmla="*/ 2147483647 h 64"/>
              <a:gd name="T2" fmla="*/ 2147483647 w 61"/>
              <a:gd name="T3" fmla="*/ 2147483647 h 64"/>
              <a:gd name="T4" fmla="*/ 2147483647 w 61"/>
              <a:gd name="T5" fmla="*/ 2147483647 h 64"/>
              <a:gd name="T6" fmla="*/ 2147483647 w 61"/>
              <a:gd name="T7" fmla="*/ 2147483647 h 64"/>
              <a:gd name="T8" fmla="*/ 2147483647 w 61"/>
              <a:gd name="T9" fmla="*/ 2147483647 h 64"/>
              <a:gd name="T10" fmla="*/ 0 w 61"/>
              <a:gd name="T11" fmla="*/ 2147483647 h 64"/>
              <a:gd name="T12" fmla="*/ 0 w 61"/>
              <a:gd name="T13" fmla="*/ 2147483647 h 64"/>
              <a:gd name="T14" fmla="*/ 2147483647 w 61"/>
              <a:gd name="T15" fmla="*/ 2147483647 h 64"/>
              <a:gd name="T16" fmla="*/ 2147483647 w 61"/>
              <a:gd name="T17" fmla="*/ 0 h 64"/>
              <a:gd name="T18" fmla="*/ 2147483647 w 61"/>
              <a:gd name="T19" fmla="*/ 2147483647 h 64"/>
              <a:gd name="T20" fmla="*/ 2147483647 w 61"/>
              <a:gd name="T21" fmla="*/ 2147483647 h 64"/>
              <a:gd name="T22" fmla="*/ 2147483647 w 61"/>
              <a:gd name="T23" fmla="*/ 2147483647 h 64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4"/>
              <a:gd name="T38" fmla="*/ 61 w 61"/>
              <a:gd name="T39" fmla="*/ 64 h 64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4">
                <a:moveTo>
                  <a:pt x="61" y="31"/>
                </a:moveTo>
                <a:lnTo>
                  <a:pt x="58" y="49"/>
                </a:lnTo>
                <a:lnTo>
                  <a:pt x="43" y="61"/>
                </a:lnTo>
                <a:lnTo>
                  <a:pt x="28" y="64"/>
                </a:lnTo>
                <a:lnTo>
                  <a:pt x="9" y="55"/>
                </a:lnTo>
                <a:lnTo>
                  <a:pt x="0" y="40"/>
                </a:lnTo>
                <a:lnTo>
                  <a:pt x="0" y="24"/>
                </a:lnTo>
                <a:lnTo>
                  <a:pt x="9" y="9"/>
                </a:lnTo>
                <a:lnTo>
                  <a:pt x="28" y="0"/>
                </a:lnTo>
                <a:lnTo>
                  <a:pt x="43" y="3"/>
                </a:lnTo>
                <a:lnTo>
                  <a:pt x="58" y="15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 sz="1400"/>
          </a:p>
        </p:txBody>
      </p:sp>
      <p:sp>
        <p:nvSpPr>
          <p:cNvPr id="8203" name="Freeform 12"/>
          <p:cNvSpPr>
            <a:spLocks/>
          </p:cNvSpPr>
          <p:nvPr/>
        </p:nvSpPr>
        <p:spPr bwMode="auto">
          <a:xfrm>
            <a:off x="4371975" y="2317751"/>
            <a:ext cx="96839" cy="101600"/>
          </a:xfrm>
          <a:custGeom>
            <a:avLst/>
            <a:gdLst>
              <a:gd name="T0" fmla="*/ 2147483647 w 61"/>
              <a:gd name="T1" fmla="*/ 2147483647 h 64"/>
              <a:gd name="T2" fmla="*/ 2147483647 w 61"/>
              <a:gd name="T3" fmla="*/ 2147483647 h 64"/>
              <a:gd name="T4" fmla="*/ 2147483647 w 61"/>
              <a:gd name="T5" fmla="*/ 2147483647 h 64"/>
              <a:gd name="T6" fmla="*/ 2147483647 w 61"/>
              <a:gd name="T7" fmla="*/ 2147483647 h 64"/>
              <a:gd name="T8" fmla="*/ 2147483647 w 61"/>
              <a:gd name="T9" fmla="*/ 2147483647 h 64"/>
              <a:gd name="T10" fmla="*/ 0 w 61"/>
              <a:gd name="T11" fmla="*/ 2147483647 h 64"/>
              <a:gd name="T12" fmla="*/ 0 w 61"/>
              <a:gd name="T13" fmla="*/ 2147483647 h 64"/>
              <a:gd name="T14" fmla="*/ 2147483647 w 61"/>
              <a:gd name="T15" fmla="*/ 2147483647 h 64"/>
              <a:gd name="T16" fmla="*/ 2147483647 w 61"/>
              <a:gd name="T17" fmla="*/ 0 h 64"/>
              <a:gd name="T18" fmla="*/ 2147483647 w 61"/>
              <a:gd name="T19" fmla="*/ 2147483647 h 64"/>
              <a:gd name="T20" fmla="*/ 2147483647 w 61"/>
              <a:gd name="T21" fmla="*/ 2147483647 h 64"/>
              <a:gd name="T22" fmla="*/ 2147483647 w 61"/>
              <a:gd name="T23" fmla="*/ 2147483647 h 64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4"/>
              <a:gd name="T38" fmla="*/ 61 w 61"/>
              <a:gd name="T39" fmla="*/ 64 h 64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4">
                <a:moveTo>
                  <a:pt x="61" y="31"/>
                </a:moveTo>
                <a:lnTo>
                  <a:pt x="58" y="49"/>
                </a:lnTo>
                <a:lnTo>
                  <a:pt x="43" y="61"/>
                </a:lnTo>
                <a:lnTo>
                  <a:pt x="27" y="64"/>
                </a:lnTo>
                <a:lnTo>
                  <a:pt x="9" y="55"/>
                </a:lnTo>
                <a:lnTo>
                  <a:pt x="0" y="40"/>
                </a:lnTo>
                <a:lnTo>
                  <a:pt x="0" y="24"/>
                </a:lnTo>
                <a:lnTo>
                  <a:pt x="9" y="9"/>
                </a:lnTo>
                <a:lnTo>
                  <a:pt x="27" y="0"/>
                </a:lnTo>
                <a:lnTo>
                  <a:pt x="43" y="3"/>
                </a:lnTo>
                <a:lnTo>
                  <a:pt x="58" y="15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 sz="1400"/>
          </a:p>
        </p:txBody>
      </p:sp>
      <p:sp>
        <p:nvSpPr>
          <p:cNvPr id="8204" name="Freeform 13"/>
          <p:cNvSpPr>
            <a:spLocks/>
          </p:cNvSpPr>
          <p:nvPr/>
        </p:nvSpPr>
        <p:spPr bwMode="auto">
          <a:xfrm>
            <a:off x="4171950" y="2117726"/>
            <a:ext cx="96839" cy="103188"/>
          </a:xfrm>
          <a:custGeom>
            <a:avLst/>
            <a:gdLst>
              <a:gd name="T0" fmla="*/ 2147483647 w 61"/>
              <a:gd name="T1" fmla="*/ 2147483647 h 65"/>
              <a:gd name="T2" fmla="*/ 2147483647 w 61"/>
              <a:gd name="T3" fmla="*/ 2147483647 h 65"/>
              <a:gd name="T4" fmla="*/ 2147483647 w 61"/>
              <a:gd name="T5" fmla="*/ 2147483647 h 65"/>
              <a:gd name="T6" fmla="*/ 2147483647 w 61"/>
              <a:gd name="T7" fmla="*/ 2147483647 h 65"/>
              <a:gd name="T8" fmla="*/ 2147483647 w 61"/>
              <a:gd name="T9" fmla="*/ 2147483647 h 65"/>
              <a:gd name="T10" fmla="*/ 0 w 61"/>
              <a:gd name="T11" fmla="*/ 2147483647 h 65"/>
              <a:gd name="T12" fmla="*/ 0 w 61"/>
              <a:gd name="T13" fmla="*/ 2147483647 h 65"/>
              <a:gd name="T14" fmla="*/ 2147483647 w 61"/>
              <a:gd name="T15" fmla="*/ 2147483647 h 65"/>
              <a:gd name="T16" fmla="*/ 2147483647 w 61"/>
              <a:gd name="T17" fmla="*/ 0 h 65"/>
              <a:gd name="T18" fmla="*/ 2147483647 w 61"/>
              <a:gd name="T19" fmla="*/ 2147483647 h 65"/>
              <a:gd name="T20" fmla="*/ 2147483647 w 61"/>
              <a:gd name="T21" fmla="*/ 2147483647 h 65"/>
              <a:gd name="T22" fmla="*/ 2147483647 w 61"/>
              <a:gd name="T23" fmla="*/ 2147483647 h 6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5"/>
              <a:gd name="T38" fmla="*/ 61 w 61"/>
              <a:gd name="T39" fmla="*/ 65 h 6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5">
                <a:moveTo>
                  <a:pt x="61" y="34"/>
                </a:moveTo>
                <a:lnTo>
                  <a:pt x="58" y="49"/>
                </a:lnTo>
                <a:lnTo>
                  <a:pt x="43" y="61"/>
                </a:lnTo>
                <a:lnTo>
                  <a:pt x="28" y="65"/>
                </a:lnTo>
                <a:lnTo>
                  <a:pt x="9" y="55"/>
                </a:lnTo>
                <a:lnTo>
                  <a:pt x="0" y="40"/>
                </a:lnTo>
                <a:lnTo>
                  <a:pt x="0" y="25"/>
                </a:lnTo>
                <a:lnTo>
                  <a:pt x="9" y="9"/>
                </a:lnTo>
                <a:lnTo>
                  <a:pt x="28" y="0"/>
                </a:lnTo>
                <a:lnTo>
                  <a:pt x="43" y="3"/>
                </a:lnTo>
                <a:lnTo>
                  <a:pt x="58" y="16"/>
                </a:lnTo>
                <a:lnTo>
                  <a:pt x="61" y="34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 sz="1400"/>
          </a:p>
        </p:txBody>
      </p:sp>
      <p:sp>
        <p:nvSpPr>
          <p:cNvPr id="8205" name="Freeform 14"/>
          <p:cNvSpPr>
            <a:spLocks/>
          </p:cNvSpPr>
          <p:nvPr/>
        </p:nvSpPr>
        <p:spPr bwMode="auto">
          <a:xfrm>
            <a:off x="4171950" y="1724026"/>
            <a:ext cx="96839" cy="96839"/>
          </a:xfrm>
          <a:custGeom>
            <a:avLst/>
            <a:gdLst>
              <a:gd name="T0" fmla="*/ 2147483647 w 61"/>
              <a:gd name="T1" fmla="*/ 2147483647 h 61"/>
              <a:gd name="T2" fmla="*/ 2147483647 w 61"/>
              <a:gd name="T3" fmla="*/ 2147483647 h 61"/>
              <a:gd name="T4" fmla="*/ 2147483647 w 61"/>
              <a:gd name="T5" fmla="*/ 2147483647 h 61"/>
              <a:gd name="T6" fmla="*/ 2147483647 w 61"/>
              <a:gd name="T7" fmla="*/ 2147483647 h 61"/>
              <a:gd name="T8" fmla="*/ 2147483647 w 61"/>
              <a:gd name="T9" fmla="*/ 2147483647 h 61"/>
              <a:gd name="T10" fmla="*/ 0 w 61"/>
              <a:gd name="T11" fmla="*/ 2147483647 h 61"/>
              <a:gd name="T12" fmla="*/ 0 w 61"/>
              <a:gd name="T13" fmla="*/ 2147483647 h 61"/>
              <a:gd name="T14" fmla="*/ 2147483647 w 61"/>
              <a:gd name="T15" fmla="*/ 2147483647 h 61"/>
              <a:gd name="T16" fmla="*/ 2147483647 w 61"/>
              <a:gd name="T17" fmla="*/ 0 h 61"/>
              <a:gd name="T18" fmla="*/ 2147483647 w 61"/>
              <a:gd name="T19" fmla="*/ 2147483647 h 61"/>
              <a:gd name="T20" fmla="*/ 2147483647 w 61"/>
              <a:gd name="T21" fmla="*/ 2147483647 h 61"/>
              <a:gd name="T22" fmla="*/ 2147483647 w 61"/>
              <a:gd name="T23" fmla="*/ 2147483647 h 6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1"/>
              <a:gd name="T38" fmla="*/ 61 w 61"/>
              <a:gd name="T39" fmla="*/ 61 h 61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1">
                <a:moveTo>
                  <a:pt x="61" y="30"/>
                </a:moveTo>
                <a:lnTo>
                  <a:pt x="58" y="49"/>
                </a:lnTo>
                <a:lnTo>
                  <a:pt x="43" y="61"/>
                </a:lnTo>
                <a:lnTo>
                  <a:pt x="28" y="61"/>
                </a:lnTo>
                <a:lnTo>
                  <a:pt x="9" y="55"/>
                </a:lnTo>
                <a:lnTo>
                  <a:pt x="0" y="40"/>
                </a:lnTo>
                <a:lnTo>
                  <a:pt x="0" y="21"/>
                </a:lnTo>
                <a:lnTo>
                  <a:pt x="9" y="9"/>
                </a:lnTo>
                <a:lnTo>
                  <a:pt x="28" y="0"/>
                </a:lnTo>
                <a:lnTo>
                  <a:pt x="43" y="3"/>
                </a:lnTo>
                <a:lnTo>
                  <a:pt x="58" y="15"/>
                </a:lnTo>
                <a:lnTo>
                  <a:pt x="61" y="30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 sz="1400"/>
          </a:p>
        </p:txBody>
      </p:sp>
      <p:sp>
        <p:nvSpPr>
          <p:cNvPr id="8206" name="Freeform 15"/>
          <p:cNvSpPr>
            <a:spLocks/>
          </p:cNvSpPr>
          <p:nvPr/>
        </p:nvSpPr>
        <p:spPr bwMode="auto">
          <a:xfrm>
            <a:off x="4868864" y="4711701"/>
            <a:ext cx="103187" cy="98425"/>
          </a:xfrm>
          <a:custGeom>
            <a:avLst/>
            <a:gdLst>
              <a:gd name="T0" fmla="*/ 2147483647 w 65"/>
              <a:gd name="T1" fmla="*/ 2147483647 h 62"/>
              <a:gd name="T2" fmla="*/ 2147483647 w 65"/>
              <a:gd name="T3" fmla="*/ 2147483647 h 62"/>
              <a:gd name="T4" fmla="*/ 2147483647 w 65"/>
              <a:gd name="T5" fmla="*/ 2147483647 h 62"/>
              <a:gd name="T6" fmla="*/ 2147483647 w 65"/>
              <a:gd name="T7" fmla="*/ 2147483647 h 62"/>
              <a:gd name="T8" fmla="*/ 2147483647 w 65"/>
              <a:gd name="T9" fmla="*/ 2147483647 h 62"/>
              <a:gd name="T10" fmla="*/ 0 w 65"/>
              <a:gd name="T11" fmla="*/ 2147483647 h 62"/>
              <a:gd name="T12" fmla="*/ 0 w 65"/>
              <a:gd name="T13" fmla="*/ 2147483647 h 62"/>
              <a:gd name="T14" fmla="*/ 2147483647 w 65"/>
              <a:gd name="T15" fmla="*/ 2147483647 h 62"/>
              <a:gd name="T16" fmla="*/ 2147483647 w 65"/>
              <a:gd name="T17" fmla="*/ 0 h 62"/>
              <a:gd name="T18" fmla="*/ 2147483647 w 65"/>
              <a:gd name="T19" fmla="*/ 0 h 62"/>
              <a:gd name="T20" fmla="*/ 2147483647 w 65"/>
              <a:gd name="T21" fmla="*/ 2147483647 h 62"/>
              <a:gd name="T22" fmla="*/ 2147483647 w 65"/>
              <a:gd name="T23" fmla="*/ 2147483647 h 6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5"/>
              <a:gd name="T37" fmla="*/ 0 h 62"/>
              <a:gd name="T38" fmla="*/ 65 w 65"/>
              <a:gd name="T39" fmla="*/ 62 h 62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5" h="62">
                <a:moveTo>
                  <a:pt x="65" y="31"/>
                </a:moveTo>
                <a:lnTo>
                  <a:pt x="58" y="46"/>
                </a:lnTo>
                <a:lnTo>
                  <a:pt x="46" y="59"/>
                </a:lnTo>
                <a:lnTo>
                  <a:pt x="28" y="62"/>
                </a:lnTo>
                <a:lnTo>
                  <a:pt x="12" y="53"/>
                </a:lnTo>
                <a:lnTo>
                  <a:pt x="0" y="40"/>
                </a:lnTo>
                <a:lnTo>
                  <a:pt x="0" y="22"/>
                </a:lnTo>
                <a:lnTo>
                  <a:pt x="12" y="7"/>
                </a:lnTo>
                <a:lnTo>
                  <a:pt x="28" y="0"/>
                </a:lnTo>
                <a:lnTo>
                  <a:pt x="46" y="0"/>
                </a:lnTo>
                <a:lnTo>
                  <a:pt x="58" y="13"/>
                </a:lnTo>
                <a:lnTo>
                  <a:pt x="65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 sz="1400"/>
          </a:p>
        </p:txBody>
      </p:sp>
      <p:sp>
        <p:nvSpPr>
          <p:cNvPr id="8207" name="Freeform 16"/>
          <p:cNvSpPr>
            <a:spLocks/>
          </p:cNvSpPr>
          <p:nvPr/>
        </p:nvSpPr>
        <p:spPr bwMode="auto">
          <a:xfrm>
            <a:off x="3074988" y="2220914"/>
            <a:ext cx="96837" cy="96837"/>
          </a:xfrm>
          <a:custGeom>
            <a:avLst/>
            <a:gdLst>
              <a:gd name="T0" fmla="*/ 2147483647 w 61"/>
              <a:gd name="T1" fmla="*/ 2147483647 h 61"/>
              <a:gd name="T2" fmla="*/ 2147483647 w 61"/>
              <a:gd name="T3" fmla="*/ 2147483647 h 61"/>
              <a:gd name="T4" fmla="*/ 2147483647 w 61"/>
              <a:gd name="T5" fmla="*/ 2147483647 h 61"/>
              <a:gd name="T6" fmla="*/ 2147483647 w 61"/>
              <a:gd name="T7" fmla="*/ 2147483647 h 61"/>
              <a:gd name="T8" fmla="*/ 2147483647 w 61"/>
              <a:gd name="T9" fmla="*/ 2147483647 h 61"/>
              <a:gd name="T10" fmla="*/ 0 w 61"/>
              <a:gd name="T11" fmla="*/ 2147483647 h 61"/>
              <a:gd name="T12" fmla="*/ 0 w 61"/>
              <a:gd name="T13" fmla="*/ 2147483647 h 61"/>
              <a:gd name="T14" fmla="*/ 2147483647 w 61"/>
              <a:gd name="T15" fmla="*/ 2147483647 h 61"/>
              <a:gd name="T16" fmla="*/ 2147483647 w 61"/>
              <a:gd name="T17" fmla="*/ 0 h 61"/>
              <a:gd name="T18" fmla="*/ 2147483647 w 61"/>
              <a:gd name="T19" fmla="*/ 2147483647 h 61"/>
              <a:gd name="T20" fmla="*/ 2147483647 w 61"/>
              <a:gd name="T21" fmla="*/ 2147483647 h 61"/>
              <a:gd name="T22" fmla="*/ 2147483647 w 61"/>
              <a:gd name="T23" fmla="*/ 2147483647 h 6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1"/>
              <a:gd name="T38" fmla="*/ 61 w 61"/>
              <a:gd name="T39" fmla="*/ 61 h 61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1">
                <a:moveTo>
                  <a:pt x="61" y="30"/>
                </a:moveTo>
                <a:lnTo>
                  <a:pt x="58" y="49"/>
                </a:lnTo>
                <a:lnTo>
                  <a:pt x="43" y="58"/>
                </a:lnTo>
                <a:lnTo>
                  <a:pt x="25" y="61"/>
                </a:lnTo>
                <a:lnTo>
                  <a:pt x="9" y="55"/>
                </a:lnTo>
                <a:lnTo>
                  <a:pt x="0" y="39"/>
                </a:lnTo>
                <a:lnTo>
                  <a:pt x="0" y="21"/>
                </a:lnTo>
                <a:lnTo>
                  <a:pt x="9" y="6"/>
                </a:lnTo>
                <a:lnTo>
                  <a:pt x="25" y="0"/>
                </a:lnTo>
                <a:lnTo>
                  <a:pt x="43" y="3"/>
                </a:lnTo>
                <a:lnTo>
                  <a:pt x="58" y="12"/>
                </a:lnTo>
                <a:lnTo>
                  <a:pt x="61" y="30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 sz="1400"/>
          </a:p>
        </p:txBody>
      </p:sp>
      <p:sp>
        <p:nvSpPr>
          <p:cNvPr id="8208" name="Freeform 17"/>
          <p:cNvSpPr>
            <a:spLocks/>
          </p:cNvSpPr>
          <p:nvPr/>
        </p:nvSpPr>
        <p:spPr bwMode="auto">
          <a:xfrm>
            <a:off x="2747965" y="4410077"/>
            <a:ext cx="98425" cy="98425"/>
          </a:xfrm>
          <a:custGeom>
            <a:avLst/>
            <a:gdLst>
              <a:gd name="T0" fmla="*/ 2147483647 w 62"/>
              <a:gd name="T1" fmla="*/ 2147483647 h 62"/>
              <a:gd name="T2" fmla="*/ 2147483647 w 62"/>
              <a:gd name="T3" fmla="*/ 2147483647 h 62"/>
              <a:gd name="T4" fmla="*/ 2147483647 w 62"/>
              <a:gd name="T5" fmla="*/ 2147483647 h 62"/>
              <a:gd name="T6" fmla="*/ 2147483647 w 62"/>
              <a:gd name="T7" fmla="*/ 2147483647 h 62"/>
              <a:gd name="T8" fmla="*/ 2147483647 w 62"/>
              <a:gd name="T9" fmla="*/ 2147483647 h 62"/>
              <a:gd name="T10" fmla="*/ 0 w 62"/>
              <a:gd name="T11" fmla="*/ 2147483647 h 62"/>
              <a:gd name="T12" fmla="*/ 0 w 62"/>
              <a:gd name="T13" fmla="*/ 2147483647 h 62"/>
              <a:gd name="T14" fmla="*/ 2147483647 w 62"/>
              <a:gd name="T15" fmla="*/ 2147483647 h 62"/>
              <a:gd name="T16" fmla="*/ 2147483647 w 62"/>
              <a:gd name="T17" fmla="*/ 0 h 62"/>
              <a:gd name="T18" fmla="*/ 2147483647 w 62"/>
              <a:gd name="T19" fmla="*/ 2147483647 h 62"/>
              <a:gd name="T20" fmla="*/ 2147483647 w 62"/>
              <a:gd name="T21" fmla="*/ 2147483647 h 62"/>
              <a:gd name="T22" fmla="*/ 2147483647 w 62"/>
              <a:gd name="T23" fmla="*/ 2147483647 h 6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2"/>
              <a:gd name="T37" fmla="*/ 0 h 62"/>
              <a:gd name="T38" fmla="*/ 62 w 62"/>
              <a:gd name="T39" fmla="*/ 62 h 62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2" h="62">
                <a:moveTo>
                  <a:pt x="62" y="31"/>
                </a:moveTo>
                <a:lnTo>
                  <a:pt x="56" y="49"/>
                </a:lnTo>
                <a:lnTo>
                  <a:pt x="43" y="62"/>
                </a:lnTo>
                <a:lnTo>
                  <a:pt x="25" y="62"/>
                </a:lnTo>
                <a:lnTo>
                  <a:pt x="9" y="55"/>
                </a:lnTo>
                <a:lnTo>
                  <a:pt x="0" y="40"/>
                </a:lnTo>
                <a:lnTo>
                  <a:pt x="0" y="22"/>
                </a:lnTo>
                <a:lnTo>
                  <a:pt x="9" y="10"/>
                </a:lnTo>
                <a:lnTo>
                  <a:pt x="25" y="0"/>
                </a:lnTo>
                <a:lnTo>
                  <a:pt x="43" y="3"/>
                </a:lnTo>
                <a:lnTo>
                  <a:pt x="56" y="16"/>
                </a:lnTo>
                <a:lnTo>
                  <a:pt x="62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 sz="1400"/>
          </a:p>
        </p:txBody>
      </p:sp>
      <p:sp>
        <p:nvSpPr>
          <p:cNvPr id="8209" name="Freeform 18"/>
          <p:cNvSpPr>
            <a:spLocks/>
          </p:cNvSpPr>
          <p:nvPr/>
        </p:nvSpPr>
        <p:spPr bwMode="auto">
          <a:xfrm>
            <a:off x="2778126" y="5008565"/>
            <a:ext cx="96839" cy="98425"/>
          </a:xfrm>
          <a:custGeom>
            <a:avLst/>
            <a:gdLst>
              <a:gd name="T0" fmla="*/ 2147483647 w 61"/>
              <a:gd name="T1" fmla="*/ 2147483647 h 62"/>
              <a:gd name="T2" fmla="*/ 2147483647 w 61"/>
              <a:gd name="T3" fmla="*/ 2147483647 h 62"/>
              <a:gd name="T4" fmla="*/ 2147483647 w 61"/>
              <a:gd name="T5" fmla="*/ 2147483647 h 62"/>
              <a:gd name="T6" fmla="*/ 2147483647 w 61"/>
              <a:gd name="T7" fmla="*/ 2147483647 h 62"/>
              <a:gd name="T8" fmla="*/ 2147483647 w 61"/>
              <a:gd name="T9" fmla="*/ 2147483647 h 62"/>
              <a:gd name="T10" fmla="*/ 0 w 61"/>
              <a:gd name="T11" fmla="*/ 2147483647 h 62"/>
              <a:gd name="T12" fmla="*/ 0 w 61"/>
              <a:gd name="T13" fmla="*/ 2147483647 h 62"/>
              <a:gd name="T14" fmla="*/ 2147483647 w 61"/>
              <a:gd name="T15" fmla="*/ 2147483647 h 62"/>
              <a:gd name="T16" fmla="*/ 2147483647 w 61"/>
              <a:gd name="T17" fmla="*/ 0 h 62"/>
              <a:gd name="T18" fmla="*/ 2147483647 w 61"/>
              <a:gd name="T19" fmla="*/ 2147483647 h 62"/>
              <a:gd name="T20" fmla="*/ 2147483647 w 61"/>
              <a:gd name="T21" fmla="*/ 2147483647 h 62"/>
              <a:gd name="T22" fmla="*/ 2147483647 w 61"/>
              <a:gd name="T23" fmla="*/ 2147483647 h 6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2"/>
              <a:gd name="T38" fmla="*/ 61 w 61"/>
              <a:gd name="T39" fmla="*/ 62 h 62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2">
                <a:moveTo>
                  <a:pt x="61" y="31"/>
                </a:moveTo>
                <a:lnTo>
                  <a:pt x="55" y="49"/>
                </a:lnTo>
                <a:lnTo>
                  <a:pt x="43" y="59"/>
                </a:lnTo>
                <a:lnTo>
                  <a:pt x="24" y="62"/>
                </a:lnTo>
                <a:lnTo>
                  <a:pt x="9" y="56"/>
                </a:lnTo>
                <a:lnTo>
                  <a:pt x="0" y="40"/>
                </a:lnTo>
                <a:lnTo>
                  <a:pt x="0" y="22"/>
                </a:lnTo>
                <a:lnTo>
                  <a:pt x="9" y="7"/>
                </a:lnTo>
                <a:lnTo>
                  <a:pt x="24" y="0"/>
                </a:lnTo>
                <a:lnTo>
                  <a:pt x="43" y="3"/>
                </a:lnTo>
                <a:lnTo>
                  <a:pt x="55" y="16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 sz="1400"/>
          </a:p>
        </p:txBody>
      </p:sp>
      <p:sp>
        <p:nvSpPr>
          <p:cNvPr id="8210" name="Freeform 19"/>
          <p:cNvSpPr>
            <a:spLocks/>
          </p:cNvSpPr>
          <p:nvPr/>
        </p:nvSpPr>
        <p:spPr bwMode="auto">
          <a:xfrm>
            <a:off x="3244852" y="1990726"/>
            <a:ext cx="98425" cy="98425"/>
          </a:xfrm>
          <a:custGeom>
            <a:avLst/>
            <a:gdLst>
              <a:gd name="T0" fmla="*/ 2147483647 w 62"/>
              <a:gd name="T1" fmla="*/ 2147483647 h 62"/>
              <a:gd name="T2" fmla="*/ 2147483647 w 62"/>
              <a:gd name="T3" fmla="*/ 2147483647 h 62"/>
              <a:gd name="T4" fmla="*/ 2147483647 w 62"/>
              <a:gd name="T5" fmla="*/ 2147483647 h 62"/>
              <a:gd name="T6" fmla="*/ 2147483647 w 62"/>
              <a:gd name="T7" fmla="*/ 2147483647 h 62"/>
              <a:gd name="T8" fmla="*/ 2147483647 w 62"/>
              <a:gd name="T9" fmla="*/ 2147483647 h 62"/>
              <a:gd name="T10" fmla="*/ 0 w 62"/>
              <a:gd name="T11" fmla="*/ 2147483647 h 62"/>
              <a:gd name="T12" fmla="*/ 0 w 62"/>
              <a:gd name="T13" fmla="*/ 2147483647 h 62"/>
              <a:gd name="T14" fmla="*/ 2147483647 w 62"/>
              <a:gd name="T15" fmla="*/ 2147483647 h 62"/>
              <a:gd name="T16" fmla="*/ 2147483647 w 62"/>
              <a:gd name="T17" fmla="*/ 0 h 62"/>
              <a:gd name="T18" fmla="*/ 2147483647 w 62"/>
              <a:gd name="T19" fmla="*/ 2147483647 h 62"/>
              <a:gd name="T20" fmla="*/ 2147483647 w 62"/>
              <a:gd name="T21" fmla="*/ 2147483647 h 62"/>
              <a:gd name="T22" fmla="*/ 2147483647 w 62"/>
              <a:gd name="T23" fmla="*/ 2147483647 h 6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2"/>
              <a:gd name="T37" fmla="*/ 0 h 62"/>
              <a:gd name="T38" fmla="*/ 62 w 62"/>
              <a:gd name="T39" fmla="*/ 62 h 62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2" h="62">
                <a:moveTo>
                  <a:pt x="62" y="31"/>
                </a:moveTo>
                <a:lnTo>
                  <a:pt x="56" y="46"/>
                </a:lnTo>
                <a:lnTo>
                  <a:pt x="43" y="59"/>
                </a:lnTo>
                <a:lnTo>
                  <a:pt x="25" y="62"/>
                </a:lnTo>
                <a:lnTo>
                  <a:pt x="10" y="56"/>
                </a:lnTo>
                <a:lnTo>
                  <a:pt x="0" y="40"/>
                </a:lnTo>
                <a:lnTo>
                  <a:pt x="0" y="22"/>
                </a:lnTo>
                <a:lnTo>
                  <a:pt x="10" y="7"/>
                </a:lnTo>
                <a:lnTo>
                  <a:pt x="25" y="0"/>
                </a:lnTo>
                <a:lnTo>
                  <a:pt x="43" y="4"/>
                </a:lnTo>
                <a:lnTo>
                  <a:pt x="56" y="13"/>
                </a:lnTo>
                <a:lnTo>
                  <a:pt x="62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 sz="1400"/>
          </a:p>
        </p:txBody>
      </p:sp>
      <p:sp>
        <p:nvSpPr>
          <p:cNvPr id="8211" name="Text Box 20"/>
          <p:cNvSpPr txBox="1">
            <a:spLocks noChangeArrowheads="1"/>
          </p:cNvSpPr>
          <p:nvPr/>
        </p:nvSpPr>
        <p:spPr bwMode="auto">
          <a:xfrm>
            <a:off x="2514600" y="5562601"/>
            <a:ext cx="2362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</a:p>
        </p:txBody>
      </p:sp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6248400" y="1295401"/>
            <a:ext cx="3581400" cy="4637090"/>
            <a:chOff x="2976" y="816"/>
            <a:chExt cx="2256" cy="2921"/>
          </a:xfrm>
        </p:grpSpPr>
        <p:graphicFrame>
          <p:nvGraphicFramePr>
            <p:cNvPr id="8213" name="Object 1024"/>
            <p:cNvGraphicFramePr>
              <a:graphicFrameLocks noChangeAspect="1"/>
            </p:cNvGraphicFramePr>
            <p:nvPr/>
          </p:nvGraphicFramePr>
          <p:xfrm>
            <a:off x="2976" y="816"/>
            <a:ext cx="2125" cy="28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1547102" imgH="2097084" progId="Visio.Drawing.6">
                    <p:embed/>
                  </p:oleObj>
                </mc:Choice>
                <mc:Fallback>
                  <p:oleObj name="VISIO" r:id="rId2" imgW="1547102" imgH="2097084" progId="Visio.Drawing.6">
                    <p:embed/>
                    <p:pic>
                      <p:nvPicPr>
                        <p:cNvPr id="8213" name="Object 10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6" y="816"/>
                          <a:ext cx="2125" cy="28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 xmlns="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xmlns="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 xmlns="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14" name="Text Box 21"/>
            <p:cNvSpPr txBox="1">
              <a:spLocks noChangeArrowheads="1"/>
            </p:cNvSpPr>
            <p:nvPr/>
          </p:nvSpPr>
          <p:spPr bwMode="auto">
            <a:xfrm>
              <a:off x="3456" y="3504"/>
              <a:ext cx="177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A Partitional  Clustering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36169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Hierarchical Clustering</a:t>
            </a:r>
          </a:p>
        </p:txBody>
      </p:sp>
      <p:graphicFrame>
        <p:nvGraphicFramePr>
          <p:cNvPr id="9220" name="Object 1025"/>
          <p:cNvGraphicFramePr>
            <a:graphicFrameLocks noChangeAspect="1"/>
          </p:cNvGraphicFramePr>
          <p:nvPr/>
        </p:nvGraphicFramePr>
        <p:xfrm>
          <a:off x="2438402" y="2605088"/>
          <a:ext cx="2760663" cy="179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756614" imgH="1795265" progId="Visio.Drawing.6">
                  <p:embed/>
                </p:oleObj>
              </mc:Choice>
              <mc:Fallback>
                <p:oleObj name="VISIO" r:id="rId2" imgW="2756614" imgH="1795265" progId="Visio.Drawing.6">
                  <p:embed/>
                  <p:pic>
                    <p:nvPicPr>
                      <p:cNvPr id="9220" name="Object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2" y="2605088"/>
                        <a:ext cx="2760663" cy="179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1" name="Object 1026"/>
          <p:cNvGraphicFramePr>
            <a:graphicFrameLocks noChangeAspect="1"/>
          </p:cNvGraphicFramePr>
          <p:nvPr/>
        </p:nvGraphicFramePr>
        <p:xfrm>
          <a:off x="6924675" y="2224088"/>
          <a:ext cx="1773239" cy="228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379425" imgH="1779615" progId="Visio.Drawing.6">
                  <p:embed/>
                </p:oleObj>
              </mc:Choice>
              <mc:Fallback>
                <p:oleObj name="VISIO" r:id="rId4" imgW="1379425" imgH="1779615" progId="Visio.Drawing.6">
                  <p:embed/>
                  <p:pic>
                    <p:nvPicPr>
                      <p:cNvPr id="9221" name="Object 1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4675" y="2224088"/>
                        <a:ext cx="1773239" cy="2284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905000" y="4357687"/>
            <a:ext cx="39624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Traditional Hierarchical Clustering</a:t>
            </a:r>
          </a:p>
        </p:txBody>
      </p:sp>
      <p:sp>
        <p:nvSpPr>
          <p:cNvPr id="9226" name="Text Box 10"/>
          <p:cNvSpPr txBox="1">
            <a:spLocks noChangeArrowheads="1"/>
          </p:cNvSpPr>
          <p:nvPr/>
        </p:nvSpPr>
        <p:spPr bwMode="auto">
          <a:xfrm>
            <a:off x="6324600" y="4357687"/>
            <a:ext cx="33528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Traditional Dendrogram</a:t>
            </a:r>
          </a:p>
        </p:txBody>
      </p:sp>
    </p:spTree>
    <p:extLst>
      <p:ext uri="{BB962C8B-B14F-4D97-AF65-F5344CB8AC3E}">
        <p14:creationId xmlns:p14="http://schemas.microsoft.com/office/powerpoint/2010/main" val="20084051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733" dirty="0"/>
              <a:t>Other Distinctions Between Sets of Clusters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2891" indent="-342891">
              <a:lnSpc>
                <a:spcPct val="80000"/>
              </a:lnSpc>
              <a:spcBef>
                <a:spcPct val="20000"/>
              </a:spcBef>
            </a:pPr>
            <a:r>
              <a:rPr lang="en-US" altLang="en-US" dirty="0"/>
              <a:t>Exclusive versus non-exclusive</a:t>
            </a:r>
          </a:p>
          <a:p>
            <a:pPr marL="742932" lvl="1" indent="-285744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/>
              <a:t>In non-exclusive </a:t>
            </a:r>
            <a:r>
              <a:rPr lang="en-US" altLang="en-US" sz="2000" dirty="0" err="1"/>
              <a:t>clusterings</a:t>
            </a:r>
            <a:r>
              <a:rPr lang="en-US" altLang="en-US" sz="2000" dirty="0"/>
              <a:t>, </a:t>
            </a:r>
            <a:r>
              <a:rPr lang="en-US" altLang="en-US" sz="2000" b="1" dirty="0"/>
              <a:t>points may belong to multiple clusters.</a:t>
            </a:r>
          </a:p>
          <a:p>
            <a:pPr marL="742932" lvl="1" indent="-285744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/>
              <a:t>Can represent multiple classes or ‘</a:t>
            </a:r>
            <a:r>
              <a:rPr lang="en-US" altLang="en-US" sz="2000" b="1" dirty="0"/>
              <a:t>border</a:t>
            </a:r>
            <a:r>
              <a:rPr lang="en-US" altLang="en-US" sz="2000" dirty="0"/>
              <a:t>’ points</a:t>
            </a:r>
          </a:p>
          <a:p>
            <a:pPr marL="342891" indent="-342891">
              <a:lnSpc>
                <a:spcPct val="80000"/>
              </a:lnSpc>
              <a:spcBef>
                <a:spcPct val="20000"/>
              </a:spcBef>
            </a:pPr>
            <a:r>
              <a:rPr lang="en-US" altLang="en-US" dirty="0"/>
              <a:t>Fuzzy versus non-fuzzy</a:t>
            </a:r>
          </a:p>
          <a:p>
            <a:pPr marL="742932" lvl="1" indent="-285744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/>
              <a:t>In fuzzy clustering, a point belongs to every cluster with some weight between 0 and 1</a:t>
            </a:r>
          </a:p>
          <a:p>
            <a:pPr marL="742932" lvl="1" indent="-285744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/>
              <a:t>Weights must sum to 1</a:t>
            </a:r>
          </a:p>
          <a:p>
            <a:pPr marL="742932" lvl="1" indent="-285744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b="1" dirty="0"/>
              <a:t>Probabilistic</a:t>
            </a:r>
            <a:r>
              <a:rPr lang="en-US" altLang="en-US" sz="2000" dirty="0"/>
              <a:t> clustering has similar characteristics</a:t>
            </a:r>
          </a:p>
          <a:p>
            <a:pPr marL="342891" indent="-342891">
              <a:lnSpc>
                <a:spcPct val="80000"/>
              </a:lnSpc>
              <a:spcBef>
                <a:spcPct val="20000"/>
              </a:spcBef>
            </a:pPr>
            <a:r>
              <a:rPr lang="en-US" altLang="en-US" dirty="0"/>
              <a:t>Partial versus complete</a:t>
            </a:r>
          </a:p>
          <a:p>
            <a:pPr marL="742932" lvl="1" indent="-285744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/>
              <a:t>In some cases, we only want to cluster some of the data</a:t>
            </a:r>
          </a:p>
          <a:p>
            <a:pPr marL="342891" indent="-342891">
              <a:lnSpc>
                <a:spcPct val="80000"/>
              </a:lnSpc>
              <a:spcBef>
                <a:spcPct val="20000"/>
              </a:spcBef>
            </a:pPr>
            <a:r>
              <a:rPr lang="en-US" altLang="en-US" dirty="0"/>
              <a:t>Heterogeneous versus homogeneous</a:t>
            </a:r>
          </a:p>
          <a:p>
            <a:pPr marL="742932" lvl="1" indent="-285744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/>
              <a:t>Clusters of widely different sizes, shapes, and densities</a:t>
            </a:r>
          </a:p>
          <a:p>
            <a:pPr marL="742932" lvl="1" indent="-285744">
              <a:lnSpc>
                <a:spcPct val="80000"/>
              </a:lnSpc>
              <a:spcBef>
                <a:spcPct val="20000"/>
              </a:spcBef>
            </a:pP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9986595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Types of Clusters</a:t>
            </a:r>
          </a:p>
        </p:txBody>
      </p:sp>
      <p:sp>
        <p:nvSpPr>
          <p:cNvPr id="11267" name="Rectangle 1027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400" dirty="0"/>
              <a:t> Well-separated clusters</a:t>
            </a:r>
          </a:p>
          <a:p>
            <a:endParaRPr lang="en-US" altLang="en-US" sz="2400" dirty="0"/>
          </a:p>
          <a:p>
            <a:r>
              <a:rPr lang="en-US" altLang="en-US" sz="2400" dirty="0"/>
              <a:t> Center-based clusters</a:t>
            </a:r>
          </a:p>
          <a:p>
            <a:endParaRPr lang="en-US" altLang="en-US" sz="2400" dirty="0"/>
          </a:p>
          <a:p>
            <a:r>
              <a:rPr lang="en-US" altLang="en-US" sz="2400" dirty="0"/>
              <a:t> Contiguous clusters</a:t>
            </a:r>
          </a:p>
          <a:p>
            <a:endParaRPr lang="en-US" altLang="en-US" sz="2400" dirty="0"/>
          </a:p>
          <a:p>
            <a:r>
              <a:rPr lang="en-US" altLang="en-US" sz="2400" dirty="0"/>
              <a:t> Density-based clusters</a:t>
            </a:r>
          </a:p>
          <a:p>
            <a:pPr marL="0" indent="0">
              <a:buNone/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5583574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800" dirty="0"/>
              <a:t>Types of Clusters: Well-Separated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2891" indent="-342891">
              <a:spcBef>
                <a:spcPct val="20000"/>
              </a:spcBef>
            </a:pPr>
            <a:r>
              <a:rPr lang="en-US" altLang="en-US"/>
              <a:t>Well-Separated Clusters: </a:t>
            </a:r>
          </a:p>
          <a:p>
            <a:pPr marL="742932" lvl="1" indent="-285744">
              <a:spcBef>
                <a:spcPct val="20000"/>
              </a:spcBef>
            </a:pPr>
            <a:r>
              <a:rPr lang="en-US" altLang="en-US" sz="2000"/>
              <a:t>A cluster is a set of points such that any point in a cluster is closer (or more similar) to every other point in the cluster than to any point not in the cluster. </a:t>
            </a:r>
          </a:p>
          <a:p>
            <a:pPr marL="342891" indent="-342891">
              <a:spcBef>
                <a:spcPct val="20000"/>
              </a:spcBef>
            </a:pPr>
            <a:endParaRPr lang="en-US" altLang="en-US" sz="2400"/>
          </a:p>
        </p:txBody>
      </p:sp>
      <p:sp>
        <p:nvSpPr>
          <p:cNvPr id="12292" name="Oval 4"/>
          <p:cNvSpPr>
            <a:spLocks noChangeAspect="1" noChangeArrowheads="1"/>
          </p:cNvSpPr>
          <p:nvPr/>
        </p:nvSpPr>
        <p:spPr bwMode="auto">
          <a:xfrm>
            <a:off x="2971800" y="4570413"/>
            <a:ext cx="1143000" cy="1143000"/>
          </a:xfrm>
          <a:prstGeom prst="ellipse">
            <a:avLst/>
          </a:pr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2293" name="Oval 5"/>
          <p:cNvSpPr>
            <a:spLocks noChangeAspect="1" noChangeArrowheads="1"/>
          </p:cNvSpPr>
          <p:nvPr/>
        </p:nvSpPr>
        <p:spPr bwMode="auto">
          <a:xfrm>
            <a:off x="7542213" y="4570413"/>
            <a:ext cx="1143000" cy="1143000"/>
          </a:xfrm>
          <a:prstGeom prst="ellipse">
            <a:avLst/>
          </a:prstGeom>
          <a:solidFill>
            <a:srgbClr val="00FF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2294" name="Oval 6"/>
          <p:cNvSpPr>
            <a:spLocks noChangeAspect="1" noChangeArrowheads="1"/>
          </p:cNvSpPr>
          <p:nvPr/>
        </p:nvSpPr>
        <p:spPr bwMode="auto">
          <a:xfrm>
            <a:off x="5030788" y="2971800"/>
            <a:ext cx="1143000" cy="11430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2295" name="Text Box 7"/>
          <p:cNvSpPr txBox="1">
            <a:spLocks noChangeArrowheads="1"/>
          </p:cNvSpPr>
          <p:nvPr/>
        </p:nvSpPr>
        <p:spPr bwMode="auto">
          <a:xfrm>
            <a:off x="4495800" y="5791201"/>
            <a:ext cx="32004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3 well-separated clusters</a:t>
            </a:r>
          </a:p>
        </p:txBody>
      </p:sp>
    </p:spTree>
    <p:extLst>
      <p:ext uri="{BB962C8B-B14F-4D97-AF65-F5344CB8AC3E}">
        <p14:creationId xmlns:p14="http://schemas.microsoft.com/office/powerpoint/2010/main" val="2231062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800" dirty="0"/>
              <a:t>Types of Clusters: Center-Based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2891" indent="-342891">
              <a:spcBef>
                <a:spcPct val="20000"/>
              </a:spcBef>
            </a:pPr>
            <a:r>
              <a:rPr lang="en-US" altLang="en-US"/>
              <a:t>Center-based</a:t>
            </a:r>
          </a:p>
          <a:p>
            <a:pPr marL="742932" lvl="1" indent="-285744">
              <a:spcBef>
                <a:spcPct val="20000"/>
              </a:spcBef>
            </a:pPr>
            <a:r>
              <a:rPr lang="en-US" altLang="en-US" sz="2000"/>
              <a:t> A cluster is a set of objects such that an object in a cluster is closer (more similar) to the “center” of a cluster, than to the center of any other cluster  </a:t>
            </a:r>
          </a:p>
          <a:p>
            <a:pPr marL="742932" lvl="1" indent="-285744">
              <a:spcBef>
                <a:spcPct val="20000"/>
              </a:spcBef>
            </a:pPr>
            <a:r>
              <a:rPr lang="en-US" altLang="en-US" sz="2000"/>
              <a:t>The center of a cluster is often a </a:t>
            </a:r>
            <a:r>
              <a:rPr lang="en-US" altLang="en-US" sz="2000">
                <a:solidFill>
                  <a:srgbClr val="FF0000"/>
                </a:solidFill>
              </a:rPr>
              <a:t>centroid</a:t>
            </a:r>
            <a:r>
              <a:rPr lang="en-US" altLang="en-US" sz="2000"/>
              <a:t>, the average of all the points in the cluster, or a </a:t>
            </a:r>
            <a:r>
              <a:rPr lang="en-US" altLang="en-US" sz="2000">
                <a:solidFill>
                  <a:srgbClr val="FF0000"/>
                </a:solidFill>
              </a:rPr>
              <a:t>medoid</a:t>
            </a:r>
            <a:r>
              <a:rPr lang="en-US" altLang="en-US" sz="2000"/>
              <a:t>, the most “representative” point of a cluster </a:t>
            </a:r>
          </a:p>
          <a:p>
            <a:pPr marL="342891" indent="-342891">
              <a:spcBef>
                <a:spcPct val="20000"/>
              </a:spcBef>
            </a:pPr>
            <a:endParaRPr lang="en-US" altLang="en-US"/>
          </a:p>
        </p:txBody>
      </p:sp>
      <p:sp>
        <p:nvSpPr>
          <p:cNvPr id="13316" name="Oval 4"/>
          <p:cNvSpPr>
            <a:spLocks noChangeAspect="1" noChangeArrowheads="1"/>
          </p:cNvSpPr>
          <p:nvPr/>
        </p:nvSpPr>
        <p:spPr bwMode="auto">
          <a:xfrm>
            <a:off x="2667000" y="4191000"/>
            <a:ext cx="1371600" cy="1371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3317" name="Oval 5"/>
          <p:cNvSpPr>
            <a:spLocks noChangeAspect="1" noChangeArrowheads="1"/>
          </p:cNvSpPr>
          <p:nvPr/>
        </p:nvSpPr>
        <p:spPr bwMode="auto">
          <a:xfrm>
            <a:off x="4038600" y="4191000"/>
            <a:ext cx="1371600" cy="1371600"/>
          </a:xfrm>
          <a:prstGeom prst="ellipse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3318" name="Oval 6"/>
          <p:cNvSpPr>
            <a:spLocks noChangeAspect="1" noChangeArrowheads="1"/>
          </p:cNvSpPr>
          <p:nvPr/>
        </p:nvSpPr>
        <p:spPr bwMode="auto">
          <a:xfrm>
            <a:off x="6846889" y="4329114"/>
            <a:ext cx="1166812" cy="1100137"/>
          </a:xfrm>
          <a:prstGeom prst="ellipse">
            <a:avLst/>
          </a:prstGeom>
          <a:solidFill>
            <a:srgbClr val="00FF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3319" name="Oval 7"/>
          <p:cNvSpPr>
            <a:spLocks noChangeAspect="1" noChangeArrowheads="1"/>
          </p:cNvSpPr>
          <p:nvPr/>
        </p:nvSpPr>
        <p:spPr bwMode="auto">
          <a:xfrm>
            <a:off x="8218489" y="4329114"/>
            <a:ext cx="1166812" cy="1100137"/>
          </a:xfrm>
          <a:prstGeom prst="ellipse">
            <a:avLst/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3320" name="Text Box 8"/>
          <p:cNvSpPr txBox="1">
            <a:spLocks noChangeArrowheads="1"/>
          </p:cNvSpPr>
          <p:nvPr/>
        </p:nvSpPr>
        <p:spPr bwMode="auto">
          <a:xfrm>
            <a:off x="4495800" y="5791201"/>
            <a:ext cx="32004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4 center-based clusters</a:t>
            </a:r>
          </a:p>
        </p:txBody>
      </p:sp>
    </p:spTree>
    <p:extLst>
      <p:ext uri="{BB962C8B-B14F-4D97-AF65-F5344CB8AC3E}">
        <p14:creationId xmlns:p14="http://schemas.microsoft.com/office/powerpoint/2010/main" val="4583826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800" dirty="0"/>
              <a:t>Types of Clusters: Contiguity-Based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2891" indent="-342891">
              <a:spcBef>
                <a:spcPct val="20000"/>
              </a:spcBef>
            </a:pPr>
            <a:r>
              <a:rPr lang="en-US" altLang="en-US" dirty="0"/>
              <a:t>Contiguous Cluster (Nearest neighbor or Transitive)</a:t>
            </a:r>
          </a:p>
          <a:p>
            <a:pPr marL="742932" lvl="1" indent="-285744">
              <a:spcBef>
                <a:spcPct val="20000"/>
              </a:spcBef>
            </a:pPr>
            <a:r>
              <a:rPr lang="en-US" sz="2000" dirty="0"/>
              <a:t>Each point is closer to at least one point in its cluster than to any point in another cluster. </a:t>
            </a:r>
            <a:endParaRPr lang="en-US" altLang="en-US" sz="2000" dirty="0"/>
          </a:p>
          <a:p>
            <a:pPr marL="742932" lvl="1" indent="-285744">
              <a:spcBef>
                <a:spcPct val="20000"/>
              </a:spcBef>
            </a:pPr>
            <a:r>
              <a:rPr lang="en-US" altLang="en-US" sz="2000" dirty="0"/>
              <a:t>Graph based clustering</a:t>
            </a:r>
          </a:p>
          <a:p>
            <a:pPr marL="342891" indent="-342891">
              <a:spcBef>
                <a:spcPct val="20000"/>
              </a:spcBef>
            </a:pPr>
            <a:endParaRPr lang="en-US" sz="2400" dirty="0"/>
          </a:p>
          <a:p>
            <a:pPr marL="342891" indent="-342891">
              <a:spcBef>
                <a:spcPct val="20000"/>
              </a:spcBef>
            </a:pPr>
            <a:endParaRPr lang="en-US" sz="2400" dirty="0"/>
          </a:p>
          <a:p>
            <a:pPr marL="342891" indent="-342891">
              <a:spcBef>
                <a:spcPct val="20000"/>
              </a:spcBef>
            </a:pPr>
            <a:endParaRPr lang="en-US" sz="2400" dirty="0"/>
          </a:p>
          <a:p>
            <a:pPr marL="342891" indent="-342891">
              <a:spcBef>
                <a:spcPct val="20000"/>
              </a:spcBef>
            </a:pPr>
            <a:endParaRPr lang="en-US" sz="2400" dirty="0"/>
          </a:p>
          <a:p>
            <a:pPr marL="342891" indent="-342891">
              <a:spcBef>
                <a:spcPct val="20000"/>
              </a:spcBef>
            </a:pPr>
            <a:r>
              <a:rPr lang="en-US" sz="2000" dirty="0"/>
              <a:t>This approach can </a:t>
            </a:r>
            <a:r>
              <a:rPr lang="en-US" sz="2000" b="1" dirty="0"/>
              <a:t>have trouble when noise is present </a:t>
            </a:r>
            <a:r>
              <a:rPr lang="en-US" sz="2000" dirty="0"/>
              <a:t>since a small bridge of points can </a:t>
            </a:r>
            <a:r>
              <a:rPr lang="en-US" sz="2000" b="1" dirty="0"/>
              <a:t>merge two distinct clusters</a:t>
            </a:r>
            <a:r>
              <a:rPr lang="en-US" sz="2000" dirty="0"/>
              <a:t> </a:t>
            </a:r>
          </a:p>
          <a:p>
            <a:pPr marL="342891" indent="-342891">
              <a:spcBef>
                <a:spcPct val="20000"/>
              </a:spcBef>
            </a:pPr>
            <a:endParaRPr lang="en-US" altLang="en-US" sz="2400" dirty="0"/>
          </a:p>
        </p:txBody>
      </p:sp>
      <p:grpSp>
        <p:nvGrpSpPr>
          <p:cNvPr id="14340" name="Group 15"/>
          <p:cNvGrpSpPr>
            <a:grpSpLocks/>
          </p:cNvGrpSpPr>
          <p:nvPr/>
        </p:nvGrpSpPr>
        <p:grpSpPr bwMode="auto">
          <a:xfrm>
            <a:off x="1905000" y="3276600"/>
            <a:ext cx="8534400" cy="1219200"/>
            <a:chOff x="950" y="2544"/>
            <a:chExt cx="4106" cy="576"/>
          </a:xfrm>
        </p:grpSpPr>
        <p:sp>
          <p:nvSpPr>
            <p:cNvPr id="14342" name="Freeform 4" descr="Large grid"/>
            <p:cNvSpPr>
              <a:spLocks noChangeAspect="1"/>
            </p:cNvSpPr>
            <p:nvPr/>
          </p:nvSpPr>
          <p:spPr bwMode="auto">
            <a:xfrm>
              <a:off x="950" y="2552"/>
              <a:ext cx="267" cy="457"/>
            </a:xfrm>
            <a:custGeom>
              <a:avLst/>
              <a:gdLst>
                <a:gd name="T0" fmla="*/ 39 w 432"/>
                <a:gd name="T1" fmla="*/ 0 h 744"/>
                <a:gd name="T2" fmla="*/ 23 w 432"/>
                <a:gd name="T3" fmla="*/ 1 h 744"/>
                <a:gd name="T4" fmla="*/ 20 w 432"/>
                <a:gd name="T5" fmla="*/ 4 h 744"/>
                <a:gd name="T6" fmla="*/ 15 w 432"/>
                <a:gd name="T7" fmla="*/ 16 h 744"/>
                <a:gd name="T8" fmla="*/ 17 w 432"/>
                <a:gd name="T9" fmla="*/ 28 h 744"/>
                <a:gd name="T10" fmla="*/ 27 w 432"/>
                <a:gd name="T11" fmla="*/ 44 h 744"/>
                <a:gd name="T12" fmla="*/ 27 w 432"/>
                <a:gd name="T13" fmla="*/ 62 h 744"/>
                <a:gd name="T14" fmla="*/ 22 w 432"/>
                <a:gd name="T15" fmla="*/ 63 h 744"/>
                <a:gd name="T16" fmla="*/ 0 w 432"/>
                <a:gd name="T17" fmla="*/ 65 h 74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32"/>
                <a:gd name="T28" fmla="*/ 0 h 744"/>
                <a:gd name="T29" fmla="*/ 432 w 432"/>
                <a:gd name="T30" fmla="*/ 744 h 74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32" h="744">
                  <a:moveTo>
                    <a:pt x="432" y="0"/>
                  </a:moveTo>
                  <a:cubicBezTo>
                    <a:pt x="376" y="4"/>
                    <a:pt x="319" y="2"/>
                    <a:pt x="264" y="12"/>
                  </a:cubicBezTo>
                  <a:cubicBezTo>
                    <a:pt x="250" y="15"/>
                    <a:pt x="236" y="24"/>
                    <a:pt x="228" y="36"/>
                  </a:cubicBezTo>
                  <a:cubicBezTo>
                    <a:pt x="224" y="43"/>
                    <a:pt x="173" y="164"/>
                    <a:pt x="168" y="180"/>
                  </a:cubicBezTo>
                  <a:cubicBezTo>
                    <a:pt x="172" y="228"/>
                    <a:pt x="174" y="276"/>
                    <a:pt x="180" y="324"/>
                  </a:cubicBezTo>
                  <a:cubicBezTo>
                    <a:pt x="190" y="397"/>
                    <a:pt x="262" y="447"/>
                    <a:pt x="300" y="504"/>
                  </a:cubicBezTo>
                  <a:cubicBezTo>
                    <a:pt x="318" y="577"/>
                    <a:pt x="333" y="615"/>
                    <a:pt x="300" y="708"/>
                  </a:cubicBezTo>
                  <a:cubicBezTo>
                    <a:pt x="294" y="724"/>
                    <a:pt x="268" y="717"/>
                    <a:pt x="252" y="720"/>
                  </a:cubicBezTo>
                  <a:cubicBezTo>
                    <a:pt x="169" y="737"/>
                    <a:pt x="84" y="744"/>
                    <a:pt x="0" y="744"/>
                  </a:cubicBezTo>
                </a:path>
              </a:pathLst>
            </a:custGeom>
            <a:noFill/>
            <a:ln w="19050">
              <a:solidFill>
                <a:srgbClr val="99CC00"/>
              </a:solidFill>
              <a:prstDash val="lgDashDot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14343" name="Freeform 5" descr="Large grid"/>
            <p:cNvSpPr>
              <a:spLocks noChangeAspect="1"/>
            </p:cNvSpPr>
            <p:nvPr/>
          </p:nvSpPr>
          <p:spPr bwMode="auto">
            <a:xfrm>
              <a:off x="1061" y="2618"/>
              <a:ext cx="267" cy="459"/>
            </a:xfrm>
            <a:custGeom>
              <a:avLst/>
              <a:gdLst>
                <a:gd name="T0" fmla="*/ 39 w 432"/>
                <a:gd name="T1" fmla="*/ 0 h 744"/>
                <a:gd name="T2" fmla="*/ 23 w 432"/>
                <a:gd name="T3" fmla="*/ 1 h 744"/>
                <a:gd name="T4" fmla="*/ 20 w 432"/>
                <a:gd name="T5" fmla="*/ 4 h 744"/>
                <a:gd name="T6" fmla="*/ 15 w 432"/>
                <a:gd name="T7" fmla="*/ 16 h 744"/>
                <a:gd name="T8" fmla="*/ 17 w 432"/>
                <a:gd name="T9" fmla="*/ 29 h 744"/>
                <a:gd name="T10" fmla="*/ 27 w 432"/>
                <a:gd name="T11" fmla="*/ 45 h 744"/>
                <a:gd name="T12" fmla="*/ 27 w 432"/>
                <a:gd name="T13" fmla="*/ 64 h 744"/>
                <a:gd name="T14" fmla="*/ 22 w 432"/>
                <a:gd name="T15" fmla="*/ 64 h 744"/>
                <a:gd name="T16" fmla="*/ 0 w 432"/>
                <a:gd name="T17" fmla="*/ 67 h 74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32"/>
                <a:gd name="T28" fmla="*/ 0 h 744"/>
                <a:gd name="T29" fmla="*/ 432 w 432"/>
                <a:gd name="T30" fmla="*/ 744 h 74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32" h="744">
                  <a:moveTo>
                    <a:pt x="432" y="0"/>
                  </a:moveTo>
                  <a:cubicBezTo>
                    <a:pt x="376" y="4"/>
                    <a:pt x="319" y="2"/>
                    <a:pt x="264" y="12"/>
                  </a:cubicBezTo>
                  <a:cubicBezTo>
                    <a:pt x="250" y="15"/>
                    <a:pt x="236" y="24"/>
                    <a:pt x="228" y="36"/>
                  </a:cubicBezTo>
                  <a:cubicBezTo>
                    <a:pt x="224" y="43"/>
                    <a:pt x="173" y="164"/>
                    <a:pt x="168" y="180"/>
                  </a:cubicBezTo>
                  <a:cubicBezTo>
                    <a:pt x="172" y="228"/>
                    <a:pt x="174" y="276"/>
                    <a:pt x="180" y="324"/>
                  </a:cubicBezTo>
                  <a:cubicBezTo>
                    <a:pt x="190" y="397"/>
                    <a:pt x="262" y="447"/>
                    <a:pt x="300" y="504"/>
                  </a:cubicBezTo>
                  <a:cubicBezTo>
                    <a:pt x="318" y="577"/>
                    <a:pt x="333" y="615"/>
                    <a:pt x="300" y="708"/>
                  </a:cubicBezTo>
                  <a:cubicBezTo>
                    <a:pt x="294" y="724"/>
                    <a:pt x="268" y="717"/>
                    <a:pt x="252" y="720"/>
                  </a:cubicBezTo>
                  <a:cubicBezTo>
                    <a:pt x="169" y="737"/>
                    <a:pt x="84" y="744"/>
                    <a:pt x="0" y="744"/>
                  </a:cubicBezTo>
                </a:path>
              </a:pathLst>
            </a:custGeom>
            <a:noFill/>
            <a:ln w="19050" cap="rnd">
              <a:solidFill>
                <a:srgbClr val="0000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14344" name="Freeform 6" descr="Large grid"/>
            <p:cNvSpPr>
              <a:spLocks noChangeAspect="1"/>
            </p:cNvSpPr>
            <p:nvPr/>
          </p:nvSpPr>
          <p:spPr bwMode="auto">
            <a:xfrm>
              <a:off x="1195" y="2663"/>
              <a:ext cx="267" cy="457"/>
            </a:xfrm>
            <a:custGeom>
              <a:avLst/>
              <a:gdLst>
                <a:gd name="T0" fmla="*/ 39 w 432"/>
                <a:gd name="T1" fmla="*/ 0 h 744"/>
                <a:gd name="T2" fmla="*/ 23 w 432"/>
                <a:gd name="T3" fmla="*/ 1 h 744"/>
                <a:gd name="T4" fmla="*/ 20 w 432"/>
                <a:gd name="T5" fmla="*/ 4 h 744"/>
                <a:gd name="T6" fmla="*/ 15 w 432"/>
                <a:gd name="T7" fmla="*/ 16 h 744"/>
                <a:gd name="T8" fmla="*/ 17 w 432"/>
                <a:gd name="T9" fmla="*/ 28 h 744"/>
                <a:gd name="T10" fmla="*/ 27 w 432"/>
                <a:gd name="T11" fmla="*/ 44 h 744"/>
                <a:gd name="T12" fmla="*/ 27 w 432"/>
                <a:gd name="T13" fmla="*/ 62 h 744"/>
                <a:gd name="T14" fmla="*/ 22 w 432"/>
                <a:gd name="T15" fmla="*/ 63 h 744"/>
                <a:gd name="T16" fmla="*/ 0 w 432"/>
                <a:gd name="T17" fmla="*/ 65 h 74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32"/>
                <a:gd name="T28" fmla="*/ 0 h 744"/>
                <a:gd name="T29" fmla="*/ 432 w 432"/>
                <a:gd name="T30" fmla="*/ 744 h 74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32" h="744">
                  <a:moveTo>
                    <a:pt x="432" y="0"/>
                  </a:moveTo>
                  <a:cubicBezTo>
                    <a:pt x="376" y="4"/>
                    <a:pt x="319" y="2"/>
                    <a:pt x="264" y="12"/>
                  </a:cubicBezTo>
                  <a:cubicBezTo>
                    <a:pt x="250" y="15"/>
                    <a:pt x="236" y="24"/>
                    <a:pt x="228" y="36"/>
                  </a:cubicBezTo>
                  <a:cubicBezTo>
                    <a:pt x="224" y="43"/>
                    <a:pt x="173" y="164"/>
                    <a:pt x="168" y="180"/>
                  </a:cubicBezTo>
                  <a:cubicBezTo>
                    <a:pt x="172" y="228"/>
                    <a:pt x="174" y="276"/>
                    <a:pt x="180" y="324"/>
                  </a:cubicBezTo>
                  <a:cubicBezTo>
                    <a:pt x="190" y="397"/>
                    <a:pt x="262" y="447"/>
                    <a:pt x="300" y="504"/>
                  </a:cubicBezTo>
                  <a:cubicBezTo>
                    <a:pt x="318" y="577"/>
                    <a:pt x="333" y="615"/>
                    <a:pt x="300" y="708"/>
                  </a:cubicBezTo>
                  <a:cubicBezTo>
                    <a:pt x="294" y="724"/>
                    <a:pt x="268" y="717"/>
                    <a:pt x="252" y="720"/>
                  </a:cubicBezTo>
                  <a:cubicBezTo>
                    <a:pt x="169" y="737"/>
                    <a:pt x="84" y="744"/>
                    <a:pt x="0" y="744"/>
                  </a:cubicBezTo>
                </a:path>
              </a:pathLst>
            </a:custGeom>
            <a:noFill/>
            <a:ln w="19050">
              <a:solidFill>
                <a:srgbClr val="FF7C8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14345" name="Oval 7"/>
            <p:cNvSpPr>
              <a:spLocks noChangeAspect="1" noChangeArrowheads="1"/>
            </p:cNvSpPr>
            <p:nvPr/>
          </p:nvSpPr>
          <p:spPr bwMode="auto">
            <a:xfrm>
              <a:off x="2171" y="2750"/>
              <a:ext cx="134" cy="134"/>
            </a:xfrm>
            <a:prstGeom prst="ellipse">
              <a:avLst/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46" name="AutoShape 8"/>
            <p:cNvSpPr>
              <a:spLocks noChangeAspect="1" noChangeArrowheads="1"/>
            </p:cNvSpPr>
            <p:nvPr/>
          </p:nvSpPr>
          <p:spPr bwMode="auto">
            <a:xfrm rot="-5400000">
              <a:off x="1942" y="2382"/>
              <a:ext cx="525" cy="86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1351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5625" y="13616"/>
                  </a:moveTo>
                  <a:cubicBezTo>
                    <a:pt x="5154" y="12752"/>
                    <a:pt x="4908" y="11784"/>
                    <a:pt x="4908" y="10800"/>
                  </a:cubicBezTo>
                  <a:cubicBezTo>
                    <a:pt x="4908" y="7545"/>
                    <a:pt x="7545" y="4908"/>
                    <a:pt x="10800" y="4908"/>
                  </a:cubicBezTo>
                  <a:cubicBezTo>
                    <a:pt x="14054" y="4908"/>
                    <a:pt x="16692" y="7545"/>
                    <a:pt x="16692" y="10800"/>
                  </a:cubicBezTo>
                  <a:cubicBezTo>
                    <a:pt x="16692" y="11784"/>
                    <a:pt x="16445" y="12752"/>
                    <a:pt x="15974" y="13616"/>
                  </a:cubicBezTo>
                  <a:lnTo>
                    <a:pt x="20285" y="15963"/>
                  </a:lnTo>
                  <a:cubicBezTo>
                    <a:pt x="21148" y="14379"/>
                    <a:pt x="21600" y="12603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-1" y="12603"/>
                    <a:pt x="451" y="14379"/>
                    <a:pt x="1314" y="15963"/>
                  </a:cubicBezTo>
                  <a:lnTo>
                    <a:pt x="5625" y="1361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14347" name="Oval 9"/>
            <p:cNvSpPr>
              <a:spLocks noChangeAspect="1" noChangeArrowheads="1"/>
            </p:cNvSpPr>
            <p:nvPr/>
          </p:nvSpPr>
          <p:spPr bwMode="auto">
            <a:xfrm>
              <a:off x="2504" y="2750"/>
              <a:ext cx="134" cy="134"/>
            </a:xfrm>
            <a:prstGeom prst="ellipse">
              <a:avLst/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48" name="Line 10"/>
            <p:cNvSpPr>
              <a:spLocks noChangeAspect="1" noChangeShapeType="1"/>
            </p:cNvSpPr>
            <p:nvPr/>
          </p:nvSpPr>
          <p:spPr bwMode="auto">
            <a:xfrm>
              <a:off x="2305" y="2818"/>
              <a:ext cx="199" cy="0"/>
            </a:xfrm>
            <a:prstGeom prst="line">
              <a:avLst/>
            </a:prstGeom>
            <a:noFill/>
            <a:ln w="19050">
              <a:solidFill>
                <a:srgbClr val="00CC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14349" name="Oval 11"/>
            <p:cNvSpPr>
              <a:spLocks noChangeAspect="1" noChangeArrowheads="1"/>
            </p:cNvSpPr>
            <p:nvPr/>
          </p:nvSpPr>
          <p:spPr bwMode="auto">
            <a:xfrm>
              <a:off x="4236" y="2633"/>
              <a:ext cx="376" cy="355"/>
            </a:xfrm>
            <a:prstGeom prst="ellipse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50" name="Oval 12"/>
            <p:cNvSpPr>
              <a:spLocks noChangeAspect="1" noChangeArrowheads="1"/>
            </p:cNvSpPr>
            <p:nvPr/>
          </p:nvSpPr>
          <p:spPr bwMode="auto">
            <a:xfrm>
              <a:off x="4680" y="2633"/>
              <a:ext cx="376" cy="355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51" name="Oval 13"/>
            <p:cNvSpPr>
              <a:spLocks noChangeAspect="1" noChangeArrowheads="1"/>
            </p:cNvSpPr>
            <p:nvPr/>
          </p:nvSpPr>
          <p:spPr bwMode="auto">
            <a:xfrm>
              <a:off x="2992" y="2544"/>
              <a:ext cx="444" cy="444"/>
            </a:xfrm>
            <a:prstGeom prst="ellipse">
              <a:avLst/>
            </a:pr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52" name="Oval 14"/>
            <p:cNvSpPr>
              <a:spLocks noChangeAspect="1" noChangeArrowheads="1"/>
            </p:cNvSpPr>
            <p:nvPr/>
          </p:nvSpPr>
          <p:spPr bwMode="auto">
            <a:xfrm>
              <a:off x="3391" y="2544"/>
              <a:ext cx="444" cy="444"/>
            </a:xfrm>
            <a:prstGeom prst="ellipse">
              <a:avLst/>
            </a:pr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14341" name="Text Box 16"/>
          <p:cNvSpPr txBox="1">
            <a:spLocks noChangeArrowheads="1"/>
          </p:cNvSpPr>
          <p:nvPr/>
        </p:nvSpPr>
        <p:spPr bwMode="auto">
          <a:xfrm>
            <a:off x="4495800" y="5791201"/>
            <a:ext cx="32004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8 contiguous clusters</a:t>
            </a:r>
          </a:p>
        </p:txBody>
      </p:sp>
    </p:spTree>
    <p:extLst>
      <p:ext uri="{BB962C8B-B14F-4D97-AF65-F5344CB8AC3E}">
        <p14:creationId xmlns:p14="http://schemas.microsoft.com/office/powerpoint/2010/main" val="1019968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800" dirty="0"/>
              <a:t>Types of Clusters: Density-Based</a:t>
            </a:r>
          </a:p>
        </p:txBody>
      </p:sp>
      <p:sp>
        <p:nvSpPr>
          <p:cNvPr id="15363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2891" indent="-342891">
              <a:spcBef>
                <a:spcPct val="20000"/>
              </a:spcBef>
            </a:pPr>
            <a:r>
              <a:rPr lang="en-US" altLang="en-US" dirty="0"/>
              <a:t>Density-based</a:t>
            </a:r>
          </a:p>
          <a:p>
            <a:pPr marL="742932" lvl="1" indent="-285744">
              <a:spcBef>
                <a:spcPct val="20000"/>
              </a:spcBef>
            </a:pPr>
            <a:r>
              <a:rPr lang="en-US" altLang="en-US" sz="2000" dirty="0"/>
              <a:t>A cluster is a dense region of points, which is separated by low-density regions, from other regions of high density. </a:t>
            </a:r>
          </a:p>
          <a:p>
            <a:pPr marL="742932" lvl="1" indent="-285744">
              <a:spcBef>
                <a:spcPct val="20000"/>
              </a:spcBef>
            </a:pPr>
            <a:r>
              <a:rPr lang="en-US" altLang="en-US" sz="2000" dirty="0"/>
              <a:t>Used when the clusters are irregular or intertwined, and when noise and outliers are present. </a:t>
            </a:r>
          </a:p>
        </p:txBody>
      </p:sp>
      <p:grpSp>
        <p:nvGrpSpPr>
          <p:cNvPr id="15364" name="Group 12"/>
          <p:cNvGrpSpPr>
            <a:grpSpLocks/>
          </p:cNvGrpSpPr>
          <p:nvPr/>
        </p:nvGrpSpPr>
        <p:grpSpPr bwMode="auto">
          <a:xfrm>
            <a:off x="1828800" y="3657600"/>
            <a:ext cx="8610600" cy="1676400"/>
            <a:chOff x="1056" y="3072"/>
            <a:chExt cx="3840" cy="720"/>
          </a:xfrm>
        </p:grpSpPr>
        <p:sp>
          <p:nvSpPr>
            <p:cNvPr id="15366" name="Rectangle 2"/>
            <p:cNvSpPr>
              <a:spLocks noChangeArrowheads="1"/>
            </p:cNvSpPr>
            <p:nvPr/>
          </p:nvSpPr>
          <p:spPr bwMode="auto">
            <a:xfrm>
              <a:off x="1056" y="3072"/>
              <a:ext cx="3840" cy="720"/>
            </a:xfrm>
            <a:prstGeom prst="rect">
              <a:avLst/>
            </a:prstGeom>
            <a:pattFill prst="pct10">
              <a:fgClr>
                <a:schemeClr val="tx1"/>
              </a:fgClr>
              <a:bgClr>
                <a:srgbClr val="FFFFFF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367" name="Oval 5"/>
            <p:cNvSpPr>
              <a:spLocks noChangeAspect="1" noChangeArrowheads="1"/>
            </p:cNvSpPr>
            <p:nvPr/>
          </p:nvSpPr>
          <p:spPr bwMode="auto">
            <a:xfrm>
              <a:off x="1599" y="3374"/>
              <a:ext cx="134" cy="134"/>
            </a:xfrm>
            <a:prstGeom prst="ellipse">
              <a:avLst/>
            </a:prstGeom>
            <a:solidFill>
              <a:srgbClr val="333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368" name="AutoShape 6"/>
            <p:cNvSpPr>
              <a:spLocks noChangeAspect="1" noChangeArrowheads="1"/>
            </p:cNvSpPr>
            <p:nvPr/>
          </p:nvSpPr>
          <p:spPr bwMode="auto">
            <a:xfrm rot="-5400000">
              <a:off x="1370" y="3006"/>
              <a:ext cx="525" cy="86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1351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5625" y="13616"/>
                  </a:moveTo>
                  <a:cubicBezTo>
                    <a:pt x="5154" y="12752"/>
                    <a:pt x="4908" y="11784"/>
                    <a:pt x="4908" y="10800"/>
                  </a:cubicBezTo>
                  <a:cubicBezTo>
                    <a:pt x="4908" y="7545"/>
                    <a:pt x="7545" y="4908"/>
                    <a:pt x="10800" y="4908"/>
                  </a:cubicBezTo>
                  <a:cubicBezTo>
                    <a:pt x="14054" y="4908"/>
                    <a:pt x="16692" y="7545"/>
                    <a:pt x="16692" y="10800"/>
                  </a:cubicBezTo>
                  <a:cubicBezTo>
                    <a:pt x="16692" y="11784"/>
                    <a:pt x="16445" y="12752"/>
                    <a:pt x="15974" y="13616"/>
                  </a:cubicBezTo>
                  <a:lnTo>
                    <a:pt x="20285" y="15963"/>
                  </a:lnTo>
                  <a:cubicBezTo>
                    <a:pt x="21148" y="14379"/>
                    <a:pt x="21600" y="12603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-1" y="12603"/>
                    <a:pt x="451" y="14379"/>
                    <a:pt x="1314" y="15963"/>
                  </a:cubicBezTo>
                  <a:lnTo>
                    <a:pt x="5625" y="1361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15369" name="Oval 7"/>
            <p:cNvSpPr>
              <a:spLocks noChangeAspect="1" noChangeArrowheads="1"/>
            </p:cNvSpPr>
            <p:nvPr/>
          </p:nvSpPr>
          <p:spPr bwMode="auto">
            <a:xfrm>
              <a:off x="1932" y="3374"/>
              <a:ext cx="134" cy="134"/>
            </a:xfrm>
            <a:prstGeom prst="ellipse">
              <a:avLst/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370" name="Oval 8"/>
            <p:cNvSpPr>
              <a:spLocks noChangeAspect="1" noChangeArrowheads="1"/>
            </p:cNvSpPr>
            <p:nvPr/>
          </p:nvSpPr>
          <p:spPr bwMode="auto">
            <a:xfrm>
              <a:off x="3664" y="3257"/>
              <a:ext cx="376" cy="355"/>
            </a:xfrm>
            <a:prstGeom prst="ellipse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371" name="Oval 9"/>
            <p:cNvSpPr>
              <a:spLocks noChangeAspect="1" noChangeArrowheads="1"/>
            </p:cNvSpPr>
            <p:nvPr/>
          </p:nvSpPr>
          <p:spPr bwMode="auto">
            <a:xfrm>
              <a:off x="4108" y="3257"/>
              <a:ext cx="376" cy="355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372" name="Oval 10"/>
            <p:cNvSpPr>
              <a:spLocks noChangeAspect="1" noChangeArrowheads="1"/>
            </p:cNvSpPr>
            <p:nvPr/>
          </p:nvSpPr>
          <p:spPr bwMode="auto">
            <a:xfrm>
              <a:off x="2420" y="3168"/>
              <a:ext cx="444" cy="444"/>
            </a:xfrm>
            <a:prstGeom prst="ellipse">
              <a:avLst/>
            </a:pr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373" name="Oval 11"/>
            <p:cNvSpPr>
              <a:spLocks noChangeAspect="1" noChangeArrowheads="1"/>
            </p:cNvSpPr>
            <p:nvPr/>
          </p:nvSpPr>
          <p:spPr bwMode="auto">
            <a:xfrm>
              <a:off x="2819" y="3168"/>
              <a:ext cx="444" cy="444"/>
            </a:xfrm>
            <a:prstGeom prst="ellipse">
              <a:avLst/>
            </a:pr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15365" name="Text Box 13"/>
          <p:cNvSpPr txBox="1">
            <a:spLocks noChangeArrowheads="1"/>
          </p:cNvSpPr>
          <p:nvPr/>
        </p:nvSpPr>
        <p:spPr bwMode="auto">
          <a:xfrm>
            <a:off x="4495800" y="5791201"/>
            <a:ext cx="32004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6 density-based clusters</a:t>
            </a:r>
          </a:p>
        </p:txBody>
      </p:sp>
    </p:spTree>
    <p:extLst>
      <p:ext uri="{BB962C8B-B14F-4D97-AF65-F5344CB8AC3E}">
        <p14:creationId xmlns:p14="http://schemas.microsoft.com/office/powerpoint/2010/main" val="6272407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800" dirty="0"/>
              <a:t>Types of Clusters: Objective Function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20000"/>
              </a:spcBef>
            </a:pPr>
            <a:r>
              <a:rPr lang="en-US" altLang="en-US" dirty="0"/>
              <a:t>Clusters Defined by an Objective Function</a:t>
            </a:r>
          </a:p>
          <a:p>
            <a:pPr lvl="1">
              <a:spcBef>
                <a:spcPct val="20000"/>
              </a:spcBef>
            </a:pPr>
            <a:r>
              <a:rPr lang="en-US" altLang="en-US" dirty="0"/>
              <a:t>Finds clusters that </a:t>
            </a:r>
            <a:r>
              <a:rPr lang="en-US" altLang="en-US" b="1" dirty="0"/>
              <a:t>minimize</a:t>
            </a:r>
            <a:r>
              <a:rPr lang="en-US" altLang="en-US" dirty="0"/>
              <a:t> or </a:t>
            </a:r>
            <a:r>
              <a:rPr lang="en-US" altLang="en-US" b="1" dirty="0"/>
              <a:t>maximize</a:t>
            </a:r>
            <a:r>
              <a:rPr lang="en-US" altLang="en-US" dirty="0"/>
              <a:t> </a:t>
            </a:r>
            <a:r>
              <a:rPr lang="en-US" altLang="en-US" b="1" dirty="0"/>
              <a:t>an objective function</a:t>
            </a:r>
            <a:r>
              <a:rPr lang="en-US" altLang="en-US" dirty="0"/>
              <a:t>. </a:t>
            </a:r>
          </a:p>
          <a:p>
            <a:pPr lvl="1"/>
            <a:r>
              <a:rPr lang="en-US" altLang="en-US" dirty="0"/>
              <a:t>Enumerate all possible ways of dividing the points into clusters and evaluate the `goodness' of each potential set of clusters by using the given objective function.  (NP Hard)</a:t>
            </a:r>
          </a:p>
          <a:p>
            <a:pPr lvl="1"/>
            <a:r>
              <a:rPr lang="en-US" altLang="en-US" dirty="0"/>
              <a:t> Can have global or local objectives.</a:t>
            </a:r>
          </a:p>
          <a:p>
            <a:pPr lvl="2"/>
            <a:r>
              <a:rPr lang="en-US" altLang="en-US" dirty="0"/>
              <a:t> Hierarchical clustering algorithms typically have local objectives</a:t>
            </a:r>
          </a:p>
          <a:p>
            <a:pPr lvl="2"/>
            <a:r>
              <a:rPr lang="en-US" altLang="en-US" dirty="0"/>
              <a:t> </a:t>
            </a:r>
            <a:r>
              <a:rPr lang="en-US" altLang="en-US" dirty="0" err="1"/>
              <a:t>Partitional</a:t>
            </a:r>
            <a:r>
              <a:rPr lang="en-US" altLang="en-US" dirty="0"/>
              <a:t> algorithms typically have global objectives</a:t>
            </a:r>
          </a:p>
        </p:txBody>
      </p:sp>
    </p:spTree>
    <p:extLst>
      <p:ext uri="{BB962C8B-B14F-4D97-AF65-F5344CB8AC3E}">
        <p14:creationId xmlns:p14="http://schemas.microsoft.com/office/powerpoint/2010/main" val="24837304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733" dirty="0"/>
              <a:t>Characteristics of the Input Data Are Important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sz="2400" dirty="0"/>
              <a:t>Type of proximity or density measure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Central to clustering 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Depends on data and application </a:t>
            </a:r>
          </a:p>
          <a:p>
            <a:pPr lvl="1">
              <a:lnSpc>
                <a:spcPct val="90000"/>
              </a:lnSpc>
            </a:pPr>
            <a:endParaRPr lang="en-US" altLang="en-US" sz="1800" dirty="0"/>
          </a:p>
          <a:p>
            <a:pPr>
              <a:lnSpc>
                <a:spcPct val="90000"/>
              </a:lnSpc>
            </a:pPr>
            <a:r>
              <a:rPr lang="en-US" altLang="en-US" sz="2200" dirty="0"/>
              <a:t>Data characteristics that affect proximity and/or density are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Dimensionality</a:t>
            </a:r>
          </a:p>
          <a:p>
            <a:pPr marL="1147734" lvl="2" indent="-233357"/>
            <a:r>
              <a:rPr lang="en-US" altLang="en-US" sz="1400" dirty="0"/>
              <a:t>Sparseness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Attribute type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Special relationships in the data</a:t>
            </a:r>
          </a:p>
          <a:p>
            <a:pPr marL="1147734" lvl="2" indent="-233357"/>
            <a:r>
              <a:rPr lang="en-US" altLang="en-US" sz="1400" dirty="0"/>
              <a:t>For example, autocorrelation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Distribution of the data</a:t>
            </a:r>
          </a:p>
          <a:p>
            <a:pPr lvl="1">
              <a:lnSpc>
                <a:spcPct val="90000"/>
              </a:lnSpc>
            </a:pP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400" dirty="0"/>
              <a:t>Noise and Outliers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Often interfere with the operation of the clustering algorithm</a:t>
            </a:r>
          </a:p>
          <a:p>
            <a:pPr>
              <a:lnSpc>
                <a:spcPct val="90000"/>
              </a:lnSpc>
            </a:pPr>
            <a:endParaRPr lang="en-US" altLang="en-US" sz="2400" dirty="0"/>
          </a:p>
          <a:p>
            <a:pPr lvl="1">
              <a:lnSpc>
                <a:spcPct val="90000"/>
              </a:lnSpc>
              <a:buFont typeface="Arial" charset="0"/>
              <a:buNone/>
            </a:pP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281529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Clustering Algorithms</a:t>
            </a:r>
          </a:p>
        </p:txBody>
      </p:sp>
      <p:sp>
        <p:nvSpPr>
          <p:cNvPr id="20483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K-means and its variants</a:t>
            </a:r>
          </a:p>
          <a:p>
            <a:pPr lvl="4"/>
            <a:endParaRPr lang="en-US" altLang="en-US"/>
          </a:p>
          <a:p>
            <a:r>
              <a:rPr lang="en-US" altLang="en-US"/>
              <a:t>Hierarchical clustering</a:t>
            </a:r>
          </a:p>
          <a:p>
            <a:pPr lvl="4"/>
            <a:endParaRPr lang="en-US" altLang="en-US"/>
          </a:p>
          <a:p>
            <a:r>
              <a:rPr lang="en-US" altLang="en-US"/>
              <a:t>Density-based clustering</a:t>
            </a:r>
          </a:p>
          <a:p>
            <a:pPr lvl="4"/>
            <a:endParaRPr lang="en-US" altLang="en-US"/>
          </a:p>
          <a:p>
            <a:pPr lvl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5408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99728F70-BEFF-084B-B2BA-383936CBB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333" dirty="0"/>
              <a:t>K-Means</a:t>
            </a:r>
          </a:p>
        </p:txBody>
      </p:sp>
    </p:spTree>
    <p:extLst>
      <p:ext uri="{BB962C8B-B14F-4D97-AF65-F5344CB8AC3E}">
        <p14:creationId xmlns:p14="http://schemas.microsoft.com/office/powerpoint/2010/main" val="1905494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800" dirty="0"/>
              <a:t>K-means Clustering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33387" indent="-533387">
              <a:spcBef>
                <a:spcPct val="20000"/>
              </a:spcBef>
            </a:pPr>
            <a:r>
              <a:rPr lang="en-US" altLang="en-US" sz="2200" dirty="0" err="1"/>
              <a:t>Partitional</a:t>
            </a:r>
            <a:r>
              <a:rPr lang="en-US" altLang="en-US" sz="2200" dirty="0"/>
              <a:t> clustering approach </a:t>
            </a:r>
          </a:p>
          <a:p>
            <a:pPr marL="533387" indent="-533387">
              <a:spcBef>
                <a:spcPct val="20000"/>
              </a:spcBef>
            </a:pPr>
            <a:r>
              <a:rPr lang="en-US" altLang="en-US" sz="2200" dirty="0"/>
              <a:t>Number of clusters, K, must be specified</a:t>
            </a:r>
          </a:p>
          <a:p>
            <a:pPr marL="533387" indent="-533387">
              <a:spcBef>
                <a:spcPct val="20000"/>
              </a:spcBef>
            </a:pPr>
            <a:r>
              <a:rPr lang="en-US" altLang="en-US" sz="2200" dirty="0"/>
              <a:t>Each cluster is associated with a </a:t>
            </a:r>
            <a:r>
              <a:rPr lang="en-US" altLang="en-US" sz="2200" b="1" dirty="0">
                <a:solidFill>
                  <a:schemeClr val="accent1">
                    <a:lumMod val="75000"/>
                  </a:schemeClr>
                </a:solidFill>
              </a:rPr>
              <a:t>centroid</a:t>
            </a:r>
            <a:r>
              <a:rPr lang="en-US" altLang="en-US" sz="2200" dirty="0">
                <a:solidFill>
                  <a:srgbClr val="ED1C24"/>
                </a:solidFill>
              </a:rPr>
              <a:t> </a:t>
            </a:r>
            <a:r>
              <a:rPr lang="en-US" altLang="en-US" sz="2200" dirty="0"/>
              <a:t>(center point) </a:t>
            </a:r>
          </a:p>
          <a:p>
            <a:pPr marL="533387" indent="-533387">
              <a:spcBef>
                <a:spcPct val="20000"/>
              </a:spcBef>
            </a:pPr>
            <a:r>
              <a:rPr lang="en-US" altLang="en-US" sz="2200" dirty="0"/>
              <a:t>Each point is assigned to the cluster with the </a:t>
            </a:r>
            <a:r>
              <a:rPr lang="en-US" altLang="en-US" sz="2200" b="1" dirty="0"/>
              <a:t>closest centroid</a:t>
            </a:r>
          </a:p>
          <a:p>
            <a:pPr marL="533387" indent="-533387">
              <a:spcBef>
                <a:spcPct val="20000"/>
              </a:spcBef>
            </a:pPr>
            <a:r>
              <a:rPr lang="en-US" altLang="en-US" sz="2200" dirty="0"/>
              <a:t>The basic algorithm is very simple</a:t>
            </a:r>
          </a:p>
        </p:txBody>
      </p:sp>
      <p:graphicFrame>
        <p:nvGraphicFramePr>
          <p:cNvPr id="21508" name="Object 1024"/>
          <p:cNvGraphicFramePr>
            <a:graphicFrameLocks noChangeAspect="1"/>
          </p:cNvGraphicFramePr>
          <p:nvPr/>
        </p:nvGraphicFramePr>
        <p:xfrm>
          <a:off x="1981200" y="4133850"/>
          <a:ext cx="8153400" cy="2114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9784928" imgH="3177815" progId="Paint.Picture">
                  <p:embed/>
                </p:oleObj>
              </mc:Choice>
              <mc:Fallback>
                <p:oleObj name="Bitmap Image" r:id="rId2" imgW="9784928" imgH="3177815" progId="Paint.Picture">
                  <p:embed/>
                  <p:pic>
                    <p:nvPicPr>
                      <p:cNvPr id="21508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20143"/>
                      <a:stretch>
                        <a:fillRect/>
                      </a:stretch>
                    </p:blipFill>
                    <p:spPr bwMode="auto">
                      <a:xfrm>
                        <a:off x="1981200" y="4133850"/>
                        <a:ext cx="8153400" cy="21145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876391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-114300"/>
            <a:ext cx="9042400" cy="1017271"/>
          </a:xfrm>
        </p:spPr>
        <p:txBody>
          <a:bodyPr/>
          <a:lstStyle/>
          <a:p>
            <a:r>
              <a:rPr lang="en-US" altLang="en-US" dirty="0"/>
              <a:t>Example of K-means Clustering</a:t>
            </a:r>
          </a:p>
        </p:txBody>
      </p:sp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9F830F58-7FA6-9E49-940C-7253C4832E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2" y="838201"/>
            <a:ext cx="7916863" cy="5938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67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2" y="838201"/>
            <a:ext cx="7916863" cy="5938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677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2" y="838201"/>
            <a:ext cx="7916863" cy="5938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677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2" y="838201"/>
            <a:ext cx="7916863" cy="5938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6775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2" y="838201"/>
            <a:ext cx="7916863" cy="5938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6776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2" y="838201"/>
            <a:ext cx="7916863" cy="5938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61736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6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6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6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6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6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280400" cy="552451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Example of K-means Clustering</a:t>
            </a:r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2133600" y="4419601"/>
            <a:ext cx="80010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1143001"/>
            <a:ext cx="3043239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1" y="1143001"/>
            <a:ext cx="3043239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1" y="1143001"/>
            <a:ext cx="3043239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9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3886201"/>
            <a:ext cx="3043239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0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1" y="3886201"/>
            <a:ext cx="3043239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1" name="Picture 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1" y="3886201"/>
            <a:ext cx="3043239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749653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800" dirty="0"/>
              <a:t>K-means Clustering – Details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33387" indent="-533387">
              <a:spcBef>
                <a:spcPct val="20000"/>
              </a:spcBef>
            </a:pPr>
            <a:r>
              <a:rPr lang="en-US" altLang="en-US" sz="2200" dirty="0"/>
              <a:t>Initial centroids are often chosen randomly.</a:t>
            </a:r>
          </a:p>
          <a:p>
            <a:pPr marL="990575" lvl="1" indent="-533387">
              <a:spcBef>
                <a:spcPct val="20000"/>
              </a:spcBef>
            </a:pPr>
            <a:r>
              <a:rPr lang="en-US" altLang="en-US" sz="1800" dirty="0"/>
              <a:t>Clusters produced vary from one run to another.</a:t>
            </a:r>
          </a:p>
          <a:p>
            <a:pPr marL="533387" indent="-533387">
              <a:spcBef>
                <a:spcPct val="20000"/>
              </a:spcBef>
            </a:pPr>
            <a:r>
              <a:rPr lang="en-US" altLang="en-US" sz="2200" dirty="0"/>
              <a:t>The centroid is (typically) the mean of the points in the cluster.</a:t>
            </a:r>
          </a:p>
          <a:p>
            <a:pPr marL="533387" indent="-533387">
              <a:spcBef>
                <a:spcPct val="20000"/>
              </a:spcBef>
            </a:pPr>
            <a:r>
              <a:rPr lang="en-US" altLang="en-US" sz="2200" dirty="0"/>
              <a:t>‘Closeness’ is measured by Euclidean distance, cosine similarity, correlation, etc.</a:t>
            </a:r>
          </a:p>
          <a:p>
            <a:pPr marL="533387" indent="-533387">
              <a:spcBef>
                <a:spcPct val="20000"/>
              </a:spcBef>
            </a:pPr>
            <a:r>
              <a:rPr lang="en-US" altLang="en-US" sz="2200" dirty="0"/>
              <a:t>K-means will converge for common similarity measures mentioned above.</a:t>
            </a:r>
          </a:p>
          <a:p>
            <a:pPr marL="533387" indent="-533387">
              <a:spcBef>
                <a:spcPct val="20000"/>
              </a:spcBef>
            </a:pPr>
            <a:r>
              <a:rPr lang="en-US" altLang="en-US" sz="2200" dirty="0"/>
              <a:t>Most of the convergence happens in the first few iterations.</a:t>
            </a:r>
          </a:p>
          <a:p>
            <a:pPr marL="990575" lvl="1" indent="-533387">
              <a:spcBef>
                <a:spcPct val="20000"/>
              </a:spcBef>
            </a:pPr>
            <a:r>
              <a:rPr lang="en-US" altLang="en-US" sz="1800" dirty="0"/>
              <a:t>Often the stopping condition is changed to ‘Until relatively few points change clusters’</a:t>
            </a:r>
          </a:p>
          <a:p>
            <a:pPr marL="533387" indent="-533387">
              <a:spcBef>
                <a:spcPct val="20000"/>
              </a:spcBef>
            </a:pPr>
            <a:r>
              <a:rPr lang="en-US" altLang="en-US" sz="2200" dirty="0"/>
              <a:t>Complexity is O( n * K * I * d )</a:t>
            </a:r>
          </a:p>
          <a:p>
            <a:pPr marL="990575" lvl="1" indent="-533387">
              <a:spcBef>
                <a:spcPct val="20000"/>
              </a:spcBef>
            </a:pPr>
            <a:r>
              <a:rPr lang="en-US" altLang="en-US" sz="1800" dirty="0"/>
              <a:t>n = number of points, K = number of clusters, </a:t>
            </a:r>
            <a:br>
              <a:rPr lang="en-US" altLang="en-US" sz="1800" dirty="0"/>
            </a:br>
            <a:r>
              <a:rPr lang="en-US" altLang="en-US" sz="1800" dirty="0"/>
              <a:t>I = number of iterations, d = number of attributes</a:t>
            </a:r>
          </a:p>
        </p:txBody>
      </p:sp>
    </p:spTree>
    <p:extLst>
      <p:ext uri="{BB962C8B-B14F-4D97-AF65-F5344CB8AC3E}">
        <p14:creationId xmlns:p14="http://schemas.microsoft.com/office/powerpoint/2010/main" val="8358460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Evaluating  K-means Clusters</a:t>
            </a:r>
          </a:p>
        </p:txBody>
      </p:sp>
      <p:pic>
        <p:nvPicPr>
          <p:cNvPr id="2" name="Immagine 1" descr="Screenshot 2018-10-02 23.20.22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6447" y="1962431"/>
            <a:ext cx="2946435" cy="2446244"/>
          </a:xfrm>
          <a:prstGeom prst="rect">
            <a:avLst/>
          </a:prstGeom>
        </p:spPr>
      </p:pic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A690ED70-DE33-E24E-A676-65A5D7460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10464800" cy="4775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2400" dirty="0"/>
              <a:t>Most common measure and objective function  is Sum of Squared Error (SSE)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For each point, the error is the distance to the nearest centroid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To get SSE, we square these errors and sum them.</a:t>
            </a:r>
          </a:p>
          <a:p>
            <a:pPr lvl="1">
              <a:lnSpc>
                <a:spcPct val="90000"/>
              </a:lnSpc>
            </a:pPr>
            <a:endParaRPr lang="en-US" altLang="en-US" sz="1800" dirty="0"/>
          </a:p>
          <a:p>
            <a:pPr marL="0" lvl="1" indent="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None/>
            </a:pPr>
            <a:endParaRPr lang="en-US" altLang="en-US" sz="1800" dirty="0"/>
          </a:p>
          <a:p>
            <a:pPr marL="0" lvl="1" indent="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None/>
            </a:pPr>
            <a:endParaRPr lang="en-US" altLang="en-US" sz="1800" dirty="0"/>
          </a:p>
          <a:p>
            <a:pPr marL="0" lvl="1" indent="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None/>
            </a:pPr>
            <a:endParaRPr lang="en-US" altLang="en-US" sz="1800" dirty="0"/>
          </a:p>
          <a:p>
            <a:pPr marL="380990" lvl="1" indent="-38099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</a:pPr>
            <a:r>
              <a:rPr lang="en-US" altLang="en-US" sz="1800" dirty="0"/>
              <a:t>x is a data point in cluster C</a:t>
            </a:r>
            <a:r>
              <a:rPr lang="en-US" altLang="en-US" sz="1800" baseline="-25000" dirty="0"/>
              <a:t>i</a:t>
            </a:r>
            <a:r>
              <a:rPr lang="en-US" altLang="en-US" sz="1800" dirty="0"/>
              <a:t> and m</a:t>
            </a:r>
            <a:r>
              <a:rPr lang="en-US" altLang="en-US" sz="1800" baseline="-25000" dirty="0"/>
              <a:t>i</a:t>
            </a:r>
            <a:r>
              <a:rPr lang="en-US" altLang="en-US" sz="1800" dirty="0"/>
              <a:t> is the representative point for cluster Ci </a:t>
            </a:r>
          </a:p>
          <a:p>
            <a:pPr marL="746741" lvl="2" indent="-38099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</a:pPr>
            <a:r>
              <a:rPr lang="en-US" altLang="en-US" sz="1600" dirty="0"/>
              <a:t>can show that mi corresponds to the center (mean) of the cluster</a:t>
            </a:r>
          </a:p>
          <a:p>
            <a:pPr marL="380990" lvl="1" indent="-38099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</a:pPr>
            <a:r>
              <a:rPr lang="en-US" altLang="en-US" sz="2000" dirty="0"/>
              <a:t>Given two sets of clusters, we prefer the one with the smallest error</a:t>
            </a:r>
          </a:p>
          <a:p>
            <a:pPr marL="380990" lvl="1" indent="-38099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</a:pPr>
            <a:r>
              <a:rPr lang="en-US" altLang="en-US" sz="1800" dirty="0"/>
              <a:t>One easy way to reduce SSE is to increase K, the number of clusters</a:t>
            </a:r>
          </a:p>
          <a:p>
            <a:pPr marL="380990" lvl="1" indent="-38099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</a:pPr>
            <a:r>
              <a:rPr lang="en-US" altLang="en-US" dirty="0"/>
              <a:t>A good clustering with smaller K can have a lower SSE than a poor clustering with higher K</a:t>
            </a:r>
          </a:p>
          <a:p>
            <a:pPr lvl="1">
              <a:lnSpc>
                <a:spcPct val="90000"/>
              </a:lnSpc>
              <a:buFont typeface="Arial" charset="0"/>
              <a:buNone/>
            </a:pPr>
            <a:endParaRPr lang="en-US" altLang="en-US" dirty="0"/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endParaRPr lang="en-US" dirty="0"/>
          </a:p>
        </p:txBody>
      </p:sp>
      <p:graphicFrame>
        <p:nvGraphicFramePr>
          <p:cNvPr id="9" name="Object 4">
            <a:extLst>
              <a:ext uri="{FF2B5EF4-FFF2-40B4-BE49-F238E27FC236}">
                <a16:creationId xmlns:a16="http://schemas.microsoft.com/office/drawing/2014/main" id="{DA842975-056D-F54B-AC75-7A8780778D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56000" y="2616201"/>
          <a:ext cx="3175000" cy="9609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11300" imgH="457200" progId="Equation.3">
                  <p:embed/>
                </p:oleObj>
              </mc:Choice>
              <mc:Fallback>
                <p:oleObj name="Equation" r:id="rId3" imgW="1511300" imgH="457200" progId="Equation.3">
                  <p:embed/>
                  <p:pic>
                    <p:nvPicPr>
                      <p:cNvPr id="9" name="Object 4">
                        <a:extLst>
                          <a:ext uri="{FF2B5EF4-FFF2-40B4-BE49-F238E27FC236}">
                            <a16:creationId xmlns:a16="http://schemas.microsoft.com/office/drawing/2014/main" id="{DA842975-056D-F54B-AC75-7A8780778D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6000" y="2616201"/>
                        <a:ext cx="3175000" cy="9609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463146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800" dirty="0"/>
              <a:t>Two different K-means </a:t>
            </a:r>
            <a:r>
              <a:rPr lang="en-US" altLang="en-US" sz="4800" dirty="0" err="1"/>
              <a:t>Clusterings</a:t>
            </a:r>
            <a:endParaRPr lang="en-US" altLang="en-US" sz="4800" dirty="0"/>
          </a:p>
        </p:txBody>
      </p:sp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964" y="1193801"/>
            <a:ext cx="3043237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8" name="Text Box 4"/>
          <p:cNvSpPr txBox="1">
            <a:spLocks noChangeArrowheads="1"/>
          </p:cNvSpPr>
          <p:nvPr/>
        </p:nvSpPr>
        <p:spPr bwMode="auto">
          <a:xfrm>
            <a:off x="2133600" y="4419601"/>
            <a:ext cx="80010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26629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3403600"/>
            <a:ext cx="365601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0" name="Text Box 7"/>
          <p:cNvSpPr txBox="1">
            <a:spLocks noChangeArrowheads="1"/>
          </p:cNvSpPr>
          <p:nvPr/>
        </p:nvSpPr>
        <p:spPr bwMode="auto">
          <a:xfrm>
            <a:off x="6934200" y="6084889"/>
            <a:ext cx="2743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Sub-optimal Clustering</a:t>
            </a:r>
          </a:p>
        </p:txBody>
      </p:sp>
      <p:pic>
        <p:nvPicPr>
          <p:cNvPr id="26631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3403600"/>
            <a:ext cx="365601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2" name="Text Box 10"/>
          <p:cNvSpPr txBox="1">
            <a:spLocks noChangeArrowheads="1"/>
          </p:cNvSpPr>
          <p:nvPr/>
        </p:nvSpPr>
        <p:spPr bwMode="auto">
          <a:xfrm>
            <a:off x="2971800" y="6084889"/>
            <a:ext cx="2286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Optimal Clustering</a:t>
            </a:r>
          </a:p>
        </p:txBody>
      </p:sp>
      <p:sp>
        <p:nvSpPr>
          <p:cNvPr id="26633" name="Text Box 11"/>
          <p:cNvSpPr txBox="1">
            <a:spLocks noChangeArrowheads="1"/>
          </p:cNvSpPr>
          <p:nvPr/>
        </p:nvSpPr>
        <p:spPr bwMode="auto">
          <a:xfrm>
            <a:off x="6781800" y="1727201"/>
            <a:ext cx="22098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</a:p>
        </p:txBody>
      </p:sp>
    </p:spTree>
    <p:extLst>
      <p:ext uri="{BB962C8B-B14F-4D97-AF65-F5344CB8AC3E}">
        <p14:creationId xmlns:p14="http://schemas.microsoft.com/office/powerpoint/2010/main" val="23212524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280400" cy="552451"/>
          </a:xfrm>
        </p:spPr>
        <p:txBody>
          <a:bodyPr>
            <a:normAutofit fontScale="90000"/>
          </a:bodyPr>
          <a:lstStyle/>
          <a:p>
            <a:r>
              <a:rPr lang="en-US" altLang="en-US" sz="3733" dirty="0"/>
              <a:t>Importance of Choosing Initial Centroids</a:t>
            </a:r>
          </a:p>
        </p:txBody>
      </p:sp>
      <p:pic>
        <p:nvPicPr>
          <p:cNvPr id="348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2" y="838201"/>
            <a:ext cx="7916863" cy="5938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0496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2" y="838201"/>
            <a:ext cx="7916863" cy="5938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0496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2" y="838201"/>
            <a:ext cx="7916863" cy="5938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04966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2" y="838201"/>
            <a:ext cx="7916863" cy="5938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04967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2" y="838201"/>
            <a:ext cx="7916863" cy="5938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04968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2" y="838201"/>
            <a:ext cx="7916863" cy="5938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32084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4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4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4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4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4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280400" cy="552451"/>
          </a:xfrm>
        </p:spPr>
        <p:txBody>
          <a:bodyPr>
            <a:normAutofit fontScale="90000"/>
          </a:bodyPr>
          <a:lstStyle/>
          <a:p>
            <a:r>
              <a:rPr lang="en-US" altLang="en-US" sz="3733" dirty="0"/>
              <a:t>Importance of Choosing Initial Centroids</a:t>
            </a:r>
          </a:p>
        </p:txBody>
      </p:sp>
      <p:sp>
        <p:nvSpPr>
          <p:cNvPr id="35843" name="Text Box 3"/>
          <p:cNvSpPr txBox="1">
            <a:spLocks noChangeArrowheads="1"/>
          </p:cNvSpPr>
          <p:nvPr/>
        </p:nvSpPr>
        <p:spPr bwMode="auto">
          <a:xfrm>
            <a:off x="2133600" y="4419601"/>
            <a:ext cx="80010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1143001"/>
            <a:ext cx="3043239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1" y="1143001"/>
            <a:ext cx="3043239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6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1" y="1143001"/>
            <a:ext cx="3043239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7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3886201"/>
            <a:ext cx="3043239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8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1" y="3886201"/>
            <a:ext cx="3043239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9" name="Picture 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1" y="3886201"/>
            <a:ext cx="3043239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864053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280400" cy="552451"/>
          </a:xfrm>
        </p:spPr>
        <p:txBody>
          <a:bodyPr/>
          <a:lstStyle/>
          <a:p>
            <a:r>
              <a:rPr lang="en-US" altLang="en-US" sz="3200" dirty="0"/>
              <a:t>Importance of Choosing Initial Centroids …</a:t>
            </a:r>
          </a:p>
        </p:txBody>
      </p:sp>
      <p:pic>
        <p:nvPicPr>
          <p:cNvPr id="368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2" y="914401"/>
            <a:ext cx="7916863" cy="594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0701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2" y="914401"/>
            <a:ext cx="7916863" cy="594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0701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2" y="914401"/>
            <a:ext cx="7916863" cy="594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0701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2" y="914401"/>
            <a:ext cx="7916863" cy="594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07015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2" y="914401"/>
            <a:ext cx="7916863" cy="594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004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7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7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7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7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280400" cy="552451"/>
          </a:xfrm>
        </p:spPr>
        <p:txBody>
          <a:bodyPr/>
          <a:lstStyle/>
          <a:p>
            <a:r>
              <a:rPr lang="en-US" altLang="en-US" sz="3200" dirty="0"/>
              <a:t>Importance of Choosing Initial Centroids …</a:t>
            </a:r>
          </a:p>
        </p:txBody>
      </p:sp>
      <p:sp>
        <p:nvSpPr>
          <p:cNvPr id="37891" name="Text Box 3"/>
          <p:cNvSpPr txBox="1">
            <a:spLocks noChangeArrowheads="1"/>
          </p:cNvSpPr>
          <p:nvPr/>
        </p:nvSpPr>
        <p:spPr bwMode="auto">
          <a:xfrm>
            <a:off x="2133600" y="4419601"/>
            <a:ext cx="80010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3789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1" y="1219201"/>
            <a:ext cx="3043239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1" y="1219201"/>
            <a:ext cx="3043239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1" y="3810001"/>
            <a:ext cx="3043239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5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1" y="3810001"/>
            <a:ext cx="3043239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6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1" y="3810001"/>
            <a:ext cx="3043239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99583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280400" cy="552451"/>
          </a:xfrm>
        </p:spPr>
        <p:txBody>
          <a:bodyPr/>
          <a:lstStyle/>
          <a:p>
            <a:r>
              <a:rPr lang="en-US" altLang="en-US" sz="2800"/>
              <a:t>10 Clusters Example</a:t>
            </a:r>
          </a:p>
        </p:txBody>
      </p:sp>
      <p:pic>
        <p:nvPicPr>
          <p:cNvPr id="3993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6" t="28661" r="6615" b="28661"/>
          <a:stretch>
            <a:fillRect/>
          </a:stretch>
        </p:blipFill>
        <p:spPr bwMode="auto">
          <a:xfrm>
            <a:off x="2133601" y="1905000"/>
            <a:ext cx="822642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0154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6" t="28661" r="6615" b="28661"/>
          <a:stretch>
            <a:fillRect/>
          </a:stretch>
        </p:blipFill>
        <p:spPr bwMode="auto">
          <a:xfrm>
            <a:off x="2133601" y="1905000"/>
            <a:ext cx="822642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01542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6" t="28661" r="6615" b="28661"/>
          <a:stretch>
            <a:fillRect/>
          </a:stretch>
        </p:blipFill>
        <p:spPr bwMode="auto">
          <a:xfrm>
            <a:off x="2133601" y="1905000"/>
            <a:ext cx="822642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01543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6" t="28661" r="6615" b="28661"/>
          <a:stretch>
            <a:fillRect/>
          </a:stretch>
        </p:blipFill>
        <p:spPr bwMode="auto">
          <a:xfrm>
            <a:off x="2133601" y="1905000"/>
            <a:ext cx="822642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3" name="Text Box 8"/>
          <p:cNvSpPr txBox="1">
            <a:spLocks noChangeArrowheads="1"/>
          </p:cNvSpPr>
          <p:nvPr/>
        </p:nvSpPr>
        <p:spPr bwMode="auto">
          <a:xfrm>
            <a:off x="2209800" y="5957889"/>
            <a:ext cx="8001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Starting with two initial centroids in one cluster of each pair of clusters</a:t>
            </a:r>
          </a:p>
        </p:txBody>
      </p:sp>
    </p:spTree>
    <p:extLst>
      <p:ext uri="{BB962C8B-B14F-4D97-AF65-F5344CB8AC3E}">
        <p14:creationId xmlns:p14="http://schemas.microsoft.com/office/powerpoint/2010/main" val="809262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154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280400" cy="552451"/>
          </a:xfrm>
        </p:spPr>
        <p:txBody>
          <a:bodyPr/>
          <a:lstStyle/>
          <a:p>
            <a:r>
              <a:rPr lang="en-US" altLang="en-US" sz="2800"/>
              <a:t>10 Clusters Example</a:t>
            </a:r>
          </a:p>
        </p:txBody>
      </p:sp>
      <p:pic>
        <p:nvPicPr>
          <p:cNvPr id="4096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1" y="1063626"/>
            <a:ext cx="3354388" cy="251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1" y="1063626"/>
            <a:ext cx="3354388" cy="251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1" y="3502026"/>
            <a:ext cx="3354388" cy="251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6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1" y="3502026"/>
            <a:ext cx="3354388" cy="251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02567" name="Text Box 7"/>
          <p:cNvSpPr txBox="1">
            <a:spLocks noChangeArrowheads="1"/>
          </p:cNvSpPr>
          <p:nvPr/>
        </p:nvSpPr>
        <p:spPr bwMode="auto">
          <a:xfrm>
            <a:off x="2209800" y="5957889"/>
            <a:ext cx="8001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Starting with two initial centroids in one cluster of each pair of clusters</a:t>
            </a:r>
          </a:p>
        </p:txBody>
      </p:sp>
    </p:spTree>
    <p:extLst>
      <p:ext uri="{BB962C8B-B14F-4D97-AF65-F5344CB8AC3E}">
        <p14:creationId xmlns:p14="http://schemas.microsoft.com/office/powerpoint/2010/main" val="29095054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280400" cy="552451"/>
          </a:xfrm>
        </p:spPr>
        <p:txBody>
          <a:bodyPr/>
          <a:lstStyle/>
          <a:p>
            <a:r>
              <a:rPr lang="en-US" altLang="en-US" sz="2800"/>
              <a:t>10 Clusters Example</a:t>
            </a:r>
          </a:p>
        </p:txBody>
      </p:sp>
      <p:sp>
        <p:nvSpPr>
          <p:cNvPr id="41987" name="Text Box 3"/>
          <p:cNvSpPr txBox="1">
            <a:spLocks noChangeArrowheads="1"/>
          </p:cNvSpPr>
          <p:nvPr/>
        </p:nvSpPr>
        <p:spPr bwMode="auto">
          <a:xfrm>
            <a:off x="2590800" y="5943601"/>
            <a:ext cx="73152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41988" name="Text Box 4"/>
          <p:cNvSpPr txBox="1">
            <a:spLocks noChangeArrowheads="1"/>
          </p:cNvSpPr>
          <p:nvPr/>
        </p:nvSpPr>
        <p:spPr bwMode="auto">
          <a:xfrm>
            <a:off x="1752600" y="5410201"/>
            <a:ext cx="8763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Starting with some pairs of clusters having three initial centroids, while other have only one.</a:t>
            </a:r>
          </a:p>
        </p:txBody>
      </p:sp>
      <p:pic>
        <p:nvPicPr>
          <p:cNvPr id="4198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6" t="30865" r="8267" b="30865"/>
          <a:stretch>
            <a:fillRect/>
          </a:stretch>
        </p:blipFill>
        <p:spPr bwMode="auto">
          <a:xfrm>
            <a:off x="1752600" y="1447801"/>
            <a:ext cx="8620125" cy="328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0359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6" t="30865" r="8267" b="30865"/>
          <a:stretch>
            <a:fillRect/>
          </a:stretch>
        </p:blipFill>
        <p:spPr bwMode="auto">
          <a:xfrm>
            <a:off x="1752600" y="1447801"/>
            <a:ext cx="8620125" cy="328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03591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6" t="30865" r="8267" b="30865"/>
          <a:stretch>
            <a:fillRect/>
          </a:stretch>
        </p:blipFill>
        <p:spPr bwMode="auto">
          <a:xfrm>
            <a:off x="1752600" y="1447801"/>
            <a:ext cx="8620125" cy="328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03592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6" t="30865" r="8267" b="30865"/>
          <a:stretch>
            <a:fillRect/>
          </a:stretch>
        </p:blipFill>
        <p:spPr bwMode="auto">
          <a:xfrm>
            <a:off x="1752600" y="1447801"/>
            <a:ext cx="8620125" cy="328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4025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359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280400" cy="552451"/>
          </a:xfrm>
        </p:spPr>
        <p:txBody>
          <a:bodyPr/>
          <a:lstStyle/>
          <a:p>
            <a:r>
              <a:rPr lang="en-US" altLang="en-US" sz="2800"/>
              <a:t>10 Clusters Example</a:t>
            </a:r>
          </a:p>
        </p:txBody>
      </p:sp>
      <p:sp>
        <p:nvSpPr>
          <p:cNvPr id="43011" name="Text Box 3"/>
          <p:cNvSpPr txBox="1">
            <a:spLocks noChangeArrowheads="1"/>
          </p:cNvSpPr>
          <p:nvPr/>
        </p:nvSpPr>
        <p:spPr bwMode="auto">
          <a:xfrm>
            <a:off x="2590800" y="5943601"/>
            <a:ext cx="73152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43012" name="Text Box 4"/>
          <p:cNvSpPr txBox="1">
            <a:spLocks noChangeArrowheads="1"/>
          </p:cNvSpPr>
          <p:nvPr/>
        </p:nvSpPr>
        <p:spPr bwMode="auto">
          <a:xfrm>
            <a:off x="2209800" y="5957888"/>
            <a:ext cx="80010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Starting with some pairs of clusters having three initial centroids, while other have only one.</a:t>
            </a:r>
          </a:p>
        </p:txBody>
      </p:sp>
      <p:pic>
        <p:nvPicPr>
          <p:cNvPr id="4301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1" y="990602"/>
            <a:ext cx="3354388" cy="251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9213" y="990602"/>
            <a:ext cx="3354387" cy="251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5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1" y="3352802"/>
            <a:ext cx="3354388" cy="251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6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1" y="3352802"/>
            <a:ext cx="3354388" cy="251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979808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Solutions to Initial Centroids Problem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2400" dirty="0"/>
              <a:t>Multiple runs</a:t>
            </a:r>
          </a:p>
          <a:p>
            <a:pPr lvl="1">
              <a:lnSpc>
                <a:spcPct val="90000"/>
              </a:lnSpc>
              <a:defRPr/>
            </a:pPr>
            <a:r>
              <a:rPr lang="en-US" sz="2000" dirty="0"/>
              <a:t>Helps, but probability is not on your side</a:t>
            </a:r>
          </a:p>
          <a:p>
            <a:pPr>
              <a:lnSpc>
                <a:spcPct val="90000"/>
              </a:lnSpc>
              <a:defRPr/>
            </a:pPr>
            <a:r>
              <a:rPr lang="en-US" sz="2400" b="1" dirty="0"/>
              <a:t>Sample and use hierarchical clustering to determine initial centroids</a:t>
            </a:r>
          </a:p>
          <a:p>
            <a:pPr>
              <a:lnSpc>
                <a:spcPct val="90000"/>
              </a:lnSpc>
              <a:defRPr/>
            </a:pPr>
            <a:r>
              <a:rPr lang="en-US" sz="2400" dirty="0"/>
              <a:t>Select more than k initial centroids and then select among these initial centroids</a:t>
            </a:r>
          </a:p>
          <a:p>
            <a:pPr lvl="1">
              <a:lnSpc>
                <a:spcPct val="90000"/>
              </a:lnSpc>
              <a:defRPr/>
            </a:pPr>
            <a:r>
              <a:rPr lang="en-US" sz="2000" dirty="0"/>
              <a:t>Select most widely separated</a:t>
            </a:r>
          </a:p>
          <a:p>
            <a:pPr>
              <a:lnSpc>
                <a:spcPct val="90000"/>
              </a:lnSpc>
              <a:defRPr/>
            </a:pPr>
            <a:r>
              <a:rPr lang="en-US" sz="2400" dirty="0" err="1"/>
              <a:t>Postprocessing</a:t>
            </a:r>
            <a:endParaRPr lang="en-US" sz="2400" dirty="0"/>
          </a:p>
          <a:p>
            <a:pPr>
              <a:lnSpc>
                <a:spcPct val="90000"/>
              </a:lnSpc>
              <a:defRPr/>
            </a:pPr>
            <a:r>
              <a:rPr lang="en-US" sz="2400" dirty="0"/>
              <a:t>Generate a larger number of clusters and then perform a hierarchical clustering</a:t>
            </a:r>
          </a:p>
          <a:p>
            <a:pPr>
              <a:lnSpc>
                <a:spcPct val="90000"/>
              </a:lnSpc>
              <a:defRPr/>
            </a:pPr>
            <a:r>
              <a:rPr lang="en-US" sz="2400" dirty="0"/>
              <a:t>Bisecting K-means</a:t>
            </a:r>
          </a:p>
          <a:p>
            <a:pPr lvl="1">
              <a:lnSpc>
                <a:spcPct val="90000"/>
              </a:lnSpc>
              <a:defRPr/>
            </a:pPr>
            <a:r>
              <a:rPr lang="en-US" sz="2000" dirty="0"/>
              <a:t>Not as susceptible to initialization issues</a:t>
            </a:r>
          </a:p>
        </p:txBody>
      </p:sp>
    </p:spTree>
    <p:extLst>
      <p:ext uri="{BB962C8B-B14F-4D97-AF65-F5344CB8AC3E}">
        <p14:creationId xmlns:p14="http://schemas.microsoft.com/office/powerpoint/2010/main" val="17741894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Shape 434"/>
          <p:cNvSpPr>
            <a:spLocks noGrp="1"/>
          </p:cNvSpPr>
          <p:nvPr>
            <p:ph type="body" idx="4294967295"/>
          </p:nvPr>
        </p:nvSpPr>
        <p:spPr>
          <a:xfrm>
            <a:off x="1523999" y="990600"/>
            <a:ext cx="8915401" cy="5334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293914" indent="-293914">
              <a:spcBef>
                <a:spcPts val="500"/>
              </a:spcBef>
              <a:buChar char=""/>
              <a:defRPr sz="1800" b="0"/>
            </a:pPr>
            <a:r>
              <a:rPr sz="2400" b="1" dirty="0"/>
              <a:t>Clusters in more complicated figures aren’t well separated</a:t>
            </a:r>
          </a:p>
          <a:p>
            <a:pPr marL="269421" indent="-269421">
              <a:spcBef>
                <a:spcPts val="500"/>
              </a:spcBef>
              <a:buChar char=""/>
              <a:defRPr sz="1800" b="0"/>
            </a:pPr>
            <a:r>
              <a:rPr sz="2200" b="1" dirty="0"/>
              <a:t>Internal Index:  Used to measure the goodness of a clustering structure without respect to external information</a:t>
            </a:r>
          </a:p>
          <a:p>
            <a:pPr marL="695325" lvl="1" indent="-238125">
              <a:spcBef>
                <a:spcPts val="400"/>
              </a:spcBef>
              <a:defRPr sz="1800" b="0"/>
            </a:pPr>
            <a:r>
              <a:rPr sz="2000" b="1" dirty="0"/>
              <a:t>SSE</a:t>
            </a:r>
          </a:p>
          <a:p>
            <a:pPr marL="293914" indent="-293914">
              <a:spcBef>
                <a:spcPts val="500"/>
              </a:spcBef>
              <a:buChar char=""/>
              <a:defRPr sz="1800" b="0"/>
            </a:pPr>
            <a:r>
              <a:rPr sz="2400" b="1" dirty="0"/>
              <a:t>SSE is good for comparing two </a:t>
            </a:r>
            <a:r>
              <a:rPr sz="2400" b="1" dirty="0" err="1"/>
              <a:t>clusterings</a:t>
            </a:r>
            <a:r>
              <a:rPr sz="2400" b="1" dirty="0"/>
              <a:t> or two clusters (average SSE).</a:t>
            </a:r>
          </a:p>
          <a:p>
            <a:pPr marL="293914" indent="-293914">
              <a:spcBef>
                <a:spcPts val="500"/>
              </a:spcBef>
              <a:buChar char=""/>
              <a:defRPr sz="1800" b="0"/>
            </a:pPr>
            <a:r>
              <a:rPr sz="2400" b="1" dirty="0"/>
              <a:t>Can also be used to estimate the number of clusters</a:t>
            </a:r>
          </a:p>
        </p:txBody>
      </p:sp>
      <p:sp>
        <p:nvSpPr>
          <p:cNvPr id="435" name="Shape 435"/>
          <p:cNvSpPr>
            <a:spLocks noGrp="1"/>
          </p:cNvSpPr>
          <p:nvPr>
            <p:ph type="title" idx="4294967295"/>
          </p:nvPr>
        </p:nvSpPr>
        <p:spPr>
          <a:xfrm>
            <a:off x="1523999" y="0"/>
            <a:ext cx="9144002" cy="8382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pPr lvl="0">
              <a:defRPr sz="1800" b="0"/>
            </a:pPr>
            <a:r>
              <a:rPr lang="it-IT" sz="3200" b="1" dirty="0"/>
              <a:t>How </a:t>
            </a:r>
            <a:r>
              <a:rPr lang="it-IT" sz="3200" b="1" dirty="0" err="1"/>
              <a:t>many</a:t>
            </a:r>
            <a:r>
              <a:rPr lang="it-IT" sz="3200" b="1" dirty="0"/>
              <a:t> clusters? </a:t>
            </a:r>
            <a:r>
              <a:rPr lang="it-IT" sz="3200" b="1" dirty="0" err="1"/>
              <a:t>Choosing</a:t>
            </a:r>
            <a:r>
              <a:rPr lang="it-IT" sz="3200" b="1" dirty="0"/>
              <a:t> K</a:t>
            </a:r>
            <a:endParaRPr sz="3200" b="1" dirty="0"/>
          </a:p>
        </p:txBody>
      </p:sp>
      <p:pic>
        <p:nvPicPr>
          <p:cNvPr id="436" name="image.pdf"/>
          <p:cNvPicPr/>
          <p:nvPr/>
        </p:nvPicPr>
        <p:blipFill>
          <a:blip r:embed="rId3"/>
          <a:srcRect t="5555"/>
          <a:stretch>
            <a:fillRect/>
          </a:stretch>
        </p:blipFill>
        <p:spPr>
          <a:xfrm>
            <a:off x="6554788" y="3810000"/>
            <a:ext cx="3656013" cy="2590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37" name="image.pdf"/>
          <p:cNvPicPr/>
          <p:nvPr/>
        </p:nvPicPr>
        <p:blipFill>
          <a:blip r:embed="rId4"/>
          <a:srcRect t="5555" b="5555"/>
          <a:stretch>
            <a:fillRect/>
          </a:stretch>
        </p:blipFill>
        <p:spPr>
          <a:xfrm>
            <a:off x="2286001" y="3886200"/>
            <a:ext cx="3656013" cy="24384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16276945"/>
      </p:ext>
    </p:extLst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Limitations of K-means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K-means has problems when clusters are of differing </a:t>
            </a:r>
          </a:p>
          <a:p>
            <a:pPr lvl="1"/>
            <a:r>
              <a:rPr lang="en-US" altLang="en-US"/>
              <a:t>Sizes</a:t>
            </a:r>
          </a:p>
          <a:p>
            <a:pPr lvl="1"/>
            <a:r>
              <a:rPr lang="en-US" altLang="en-US"/>
              <a:t>Densities</a:t>
            </a:r>
          </a:p>
          <a:p>
            <a:pPr lvl="1"/>
            <a:r>
              <a:rPr lang="en-US" altLang="en-US"/>
              <a:t>Non-globular shapes</a:t>
            </a:r>
          </a:p>
          <a:p>
            <a:endParaRPr lang="en-US" altLang="en-US"/>
          </a:p>
          <a:p>
            <a:r>
              <a:rPr lang="en-US" altLang="en-US"/>
              <a:t>K-means has problems when the data contains outliers.</a:t>
            </a:r>
          </a:p>
        </p:txBody>
      </p:sp>
    </p:spTree>
    <p:extLst>
      <p:ext uri="{BB962C8B-B14F-4D97-AF65-F5344CB8AC3E}">
        <p14:creationId xmlns:p14="http://schemas.microsoft.com/office/powerpoint/2010/main" val="2934640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267" dirty="0"/>
              <a:t>Limitations of K-means: Differing Sizes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191000" y="1143000"/>
            <a:ext cx="8001000" cy="975784"/>
          </a:xfrm>
        </p:spPr>
        <p:txBody>
          <a:bodyPr/>
          <a:lstStyle/>
          <a:p>
            <a:pPr marL="533387" indent="-533387">
              <a:spcBef>
                <a:spcPct val="20000"/>
              </a:spcBef>
              <a:buNone/>
            </a:pPr>
            <a:endParaRPr lang="en-US" altLang="en-US"/>
          </a:p>
          <a:p>
            <a:pPr marL="990575" lvl="1" indent="-533387">
              <a:spcBef>
                <a:spcPct val="20000"/>
              </a:spcBef>
            </a:pPr>
            <a:endParaRPr lang="en-US" altLang="en-US"/>
          </a:p>
          <a:p>
            <a:pPr marL="990575" lvl="1" indent="-533387">
              <a:spcBef>
                <a:spcPct val="20000"/>
              </a:spcBef>
            </a:pPr>
            <a:endParaRPr lang="en-US" altLang="en-US" sz="2000"/>
          </a:p>
          <a:p>
            <a:pPr marL="990575" lvl="1" indent="-533387">
              <a:spcBef>
                <a:spcPct val="20000"/>
              </a:spcBef>
              <a:buNone/>
            </a:pPr>
            <a:endParaRPr lang="en-US" altLang="en-US" sz="2000"/>
          </a:p>
        </p:txBody>
      </p:sp>
      <p:pic>
        <p:nvPicPr>
          <p:cNvPr id="286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14478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06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1" y="14478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8" name="Text Box 6"/>
          <p:cNvSpPr txBox="1">
            <a:spLocks noChangeArrowheads="1"/>
          </p:cNvSpPr>
          <p:nvPr/>
        </p:nvSpPr>
        <p:spPr bwMode="auto">
          <a:xfrm>
            <a:off x="2286000" y="4953001"/>
            <a:ext cx="20574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</a:p>
        </p:txBody>
      </p:sp>
      <p:sp>
        <p:nvSpPr>
          <p:cNvPr id="1690631" name="Rectangle 7"/>
          <p:cNvSpPr>
            <a:spLocks noChangeArrowheads="1"/>
          </p:cNvSpPr>
          <p:nvPr/>
        </p:nvSpPr>
        <p:spPr bwMode="auto">
          <a:xfrm>
            <a:off x="6858000" y="4902200"/>
            <a:ext cx="249299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K-means (3 Clusters)</a:t>
            </a:r>
          </a:p>
        </p:txBody>
      </p:sp>
    </p:spTree>
    <p:extLst>
      <p:ext uri="{BB962C8B-B14F-4D97-AF65-F5344CB8AC3E}">
        <p14:creationId xmlns:p14="http://schemas.microsoft.com/office/powerpoint/2010/main" val="2492703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063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267" dirty="0"/>
              <a:t>Overcoming K-means Limitations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191000" y="1143000"/>
            <a:ext cx="8001000" cy="975784"/>
          </a:xfrm>
        </p:spPr>
        <p:txBody>
          <a:bodyPr/>
          <a:lstStyle/>
          <a:p>
            <a:pPr marL="533387" indent="-533387">
              <a:spcBef>
                <a:spcPct val="20000"/>
              </a:spcBef>
              <a:buNone/>
            </a:pPr>
            <a:endParaRPr lang="en-US" altLang="en-US"/>
          </a:p>
          <a:p>
            <a:pPr marL="990575" lvl="1" indent="-533387">
              <a:spcBef>
                <a:spcPct val="20000"/>
              </a:spcBef>
            </a:pPr>
            <a:endParaRPr lang="en-US" altLang="en-US"/>
          </a:p>
          <a:p>
            <a:pPr marL="990575" lvl="1" indent="-533387">
              <a:spcBef>
                <a:spcPct val="20000"/>
              </a:spcBef>
            </a:pPr>
            <a:endParaRPr lang="en-US" altLang="en-US" sz="2000"/>
          </a:p>
          <a:p>
            <a:pPr marL="990575" lvl="1" indent="-533387">
              <a:spcBef>
                <a:spcPct val="20000"/>
              </a:spcBef>
              <a:buNone/>
            </a:pPr>
            <a:endParaRPr lang="en-US" altLang="en-US" sz="2000"/>
          </a:p>
        </p:txBody>
      </p:sp>
      <p:pic>
        <p:nvPicPr>
          <p:cNvPr id="3174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14478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9" name="Text Box 5"/>
          <p:cNvSpPr txBox="1">
            <a:spLocks noChangeArrowheads="1"/>
          </p:cNvSpPr>
          <p:nvPr/>
        </p:nvSpPr>
        <p:spPr bwMode="auto">
          <a:xfrm>
            <a:off x="2286000" y="4953001"/>
            <a:ext cx="7696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				K-means Clusters</a:t>
            </a:r>
          </a:p>
        </p:txBody>
      </p:sp>
      <p:pic>
        <p:nvPicPr>
          <p:cNvPr id="3175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1" y="14478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51" name="Rectangle 7"/>
          <p:cNvSpPr>
            <a:spLocks noChangeArrowheads="1"/>
          </p:cNvSpPr>
          <p:nvPr/>
        </p:nvSpPr>
        <p:spPr bwMode="auto">
          <a:xfrm>
            <a:off x="2667000" y="5562601"/>
            <a:ext cx="65532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000" b="0"/>
              <a:t>One solution is to use many clusters.</a:t>
            </a:r>
          </a:p>
          <a:p>
            <a:pPr lvl="1"/>
            <a:r>
              <a:rPr lang="en-US" altLang="en-US" sz="2000" b="0"/>
              <a:t>Find parts of clusters, but need to put together.</a:t>
            </a:r>
          </a:p>
        </p:txBody>
      </p:sp>
    </p:spTree>
    <p:extLst>
      <p:ext uri="{BB962C8B-B14F-4D97-AF65-F5344CB8AC3E}">
        <p14:creationId xmlns:p14="http://schemas.microsoft.com/office/powerpoint/2010/main" val="126960539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267" dirty="0"/>
              <a:t>Limitations of K-means: Differing Density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33387" indent="-533387">
              <a:spcBef>
                <a:spcPct val="20000"/>
              </a:spcBef>
              <a:buNone/>
            </a:pPr>
            <a:endParaRPr lang="en-US" altLang="en-US"/>
          </a:p>
          <a:p>
            <a:pPr marL="990575" lvl="1" indent="-533387">
              <a:spcBef>
                <a:spcPct val="20000"/>
              </a:spcBef>
            </a:pPr>
            <a:endParaRPr lang="en-US" altLang="en-US"/>
          </a:p>
          <a:p>
            <a:pPr marL="990575" lvl="1" indent="-533387">
              <a:spcBef>
                <a:spcPct val="20000"/>
              </a:spcBef>
            </a:pPr>
            <a:endParaRPr lang="en-US" altLang="en-US" sz="2000"/>
          </a:p>
          <a:p>
            <a:pPr marL="990575" lvl="1" indent="-533387">
              <a:spcBef>
                <a:spcPct val="20000"/>
              </a:spcBef>
              <a:buNone/>
            </a:pPr>
            <a:endParaRPr lang="en-US" altLang="en-US" sz="2000"/>
          </a:p>
        </p:txBody>
      </p:sp>
      <p:sp>
        <p:nvSpPr>
          <p:cNvPr id="29700" name="Text Box 4"/>
          <p:cNvSpPr txBox="1">
            <a:spLocks noChangeArrowheads="1"/>
          </p:cNvSpPr>
          <p:nvPr/>
        </p:nvSpPr>
        <p:spPr bwMode="auto">
          <a:xfrm>
            <a:off x="2286000" y="4953001"/>
            <a:ext cx="2133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</a:p>
        </p:txBody>
      </p:sp>
      <p:pic>
        <p:nvPicPr>
          <p:cNvPr id="2970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14478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165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1" y="14478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91655" name="Rectangle 7"/>
          <p:cNvSpPr>
            <a:spLocks noChangeArrowheads="1"/>
          </p:cNvSpPr>
          <p:nvPr/>
        </p:nvSpPr>
        <p:spPr bwMode="auto">
          <a:xfrm>
            <a:off x="6858000" y="4902200"/>
            <a:ext cx="249299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K-means (3 Clusters)</a:t>
            </a:r>
          </a:p>
        </p:txBody>
      </p:sp>
    </p:spTree>
    <p:extLst>
      <p:ext uri="{BB962C8B-B14F-4D97-AF65-F5344CB8AC3E}">
        <p14:creationId xmlns:p14="http://schemas.microsoft.com/office/powerpoint/2010/main" val="3190193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165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267" dirty="0"/>
              <a:t>Overcoming K-means Limitations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33387" indent="-533387">
              <a:spcBef>
                <a:spcPct val="20000"/>
              </a:spcBef>
              <a:buNone/>
            </a:pPr>
            <a:endParaRPr lang="en-US" altLang="en-US"/>
          </a:p>
          <a:p>
            <a:pPr marL="990575" lvl="1" indent="-533387">
              <a:spcBef>
                <a:spcPct val="20000"/>
              </a:spcBef>
            </a:pPr>
            <a:endParaRPr lang="en-US" altLang="en-US"/>
          </a:p>
          <a:p>
            <a:pPr marL="990575" lvl="1" indent="-533387">
              <a:spcBef>
                <a:spcPct val="20000"/>
              </a:spcBef>
            </a:pPr>
            <a:endParaRPr lang="en-US" altLang="en-US" sz="2000"/>
          </a:p>
          <a:p>
            <a:pPr marL="990575" lvl="1" indent="-533387">
              <a:spcBef>
                <a:spcPct val="20000"/>
              </a:spcBef>
              <a:buNone/>
            </a:pPr>
            <a:endParaRPr lang="en-US" altLang="en-US" sz="2000"/>
          </a:p>
        </p:txBody>
      </p:sp>
      <p:sp>
        <p:nvSpPr>
          <p:cNvPr id="32772" name="Text Box 4"/>
          <p:cNvSpPr txBox="1">
            <a:spLocks noChangeArrowheads="1"/>
          </p:cNvSpPr>
          <p:nvPr/>
        </p:nvSpPr>
        <p:spPr bwMode="auto">
          <a:xfrm>
            <a:off x="2286000" y="4953001"/>
            <a:ext cx="7696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				K-means Clusters</a:t>
            </a:r>
          </a:p>
        </p:txBody>
      </p:sp>
      <p:pic>
        <p:nvPicPr>
          <p:cNvPr id="3277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14478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1" y="15240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5887518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733" dirty="0"/>
              <a:t>Limitations of K-means: Non-globular Shapes</a:t>
            </a:r>
          </a:p>
        </p:txBody>
      </p:sp>
      <p:sp>
        <p:nvSpPr>
          <p:cNvPr id="30723" name="Text Box 4"/>
          <p:cNvSpPr txBox="1">
            <a:spLocks noChangeArrowheads="1"/>
          </p:cNvSpPr>
          <p:nvPr/>
        </p:nvSpPr>
        <p:spPr bwMode="auto">
          <a:xfrm>
            <a:off x="2667000" y="4876801"/>
            <a:ext cx="20574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</a:p>
        </p:txBody>
      </p:sp>
      <p:pic>
        <p:nvPicPr>
          <p:cNvPr id="3072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1" y="12192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267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1" y="12192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92679" name="Rectangle 7"/>
          <p:cNvSpPr>
            <a:spLocks noChangeArrowheads="1"/>
          </p:cNvSpPr>
          <p:nvPr/>
        </p:nvSpPr>
        <p:spPr bwMode="auto">
          <a:xfrm>
            <a:off x="6858000" y="4902200"/>
            <a:ext cx="249299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K-means (2 Clusters)</a:t>
            </a:r>
          </a:p>
        </p:txBody>
      </p:sp>
    </p:spTree>
    <p:extLst>
      <p:ext uri="{BB962C8B-B14F-4D97-AF65-F5344CB8AC3E}">
        <p14:creationId xmlns:p14="http://schemas.microsoft.com/office/powerpoint/2010/main" val="3500412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2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2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2679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152400"/>
            <a:ext cx="8610600" cy="552451"/>
          </a:xfrm>
        </p:spPr>
        <p:txBody>
          <a:bodyPr/>
          <a:lstStyle/>
          <a:p>
            <a:r>
              <a:rPr lang="en-US" altLang="en-US" sz="2800"/>
              <a:t>Overcoming K-means Limitations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2163763" y="1143001"/>
            <a:ext cx="8001000" cy="976313"/>
          </a:xfrm>
        </p:spPr>
        <p:txBody>
          <a:bodyPr/>
          <a:lstStyle/>
          <a:p>
            <a:pPr marL="533387" indent="-533387">
              <a:spcBef>
                <a:spcPct val="20000"/>
              </a:spcBef>
              <a:buNone/>
            </a:pPr>
            <a:endParaRPr lang="en-US" altLang="en-US"/>
          </a:p>
          <a:p>
            <a:pPr marL="990575" lvl="1" indent="-533387">
              <a:spcBef>
                <a:spcPct val="20000"/>
              </a:spcBef>
            </a:pPr>
            <a:endParaRPr lang="en-US" altLang="en-US"/>
          </a:p>
          <a:p>
            <a:pPr marL="990575" lvl="1" indent="-533387">
              <a:spcBef>
                <a:spcPct val="20000"/>
              </a:spcBef>
            </a:pPr>
            <a:endParaRPr lang="en-US" altLang="en-US" sz="2000"/>
          </a:p>
          <a:p>
            <a:pPr marL="990575" lvl="1" indent="-533387">
              <a:spcBef>
                <a:spcPct val="20000"/>
              </a:spcBef>
              <a:buNone/>
            </a:pPr>
            <a:endParaRPr lang="en-US" altLang="en-US" sz="2000"/>
          </a:p>
        </p:txBody>
      </p:sp>
      <p:sp>
        <p:nvSpPr>
          <p:cNvPr id="33796" name="Text Box 4"/>
          <p:cNvSpPr txBox="1">
            <a:spLocks noChangeArrowheads="1"/>
          </p:cNvSpPr>
          <p:nvPr/>
        </p:nvSpPr>
        <p:spPr bwMode="auto">
          <a:xfrm>
            <a:off x="2667000" y="4876801"/>
            <a:ext cx="7696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				K-means Clusters</a:t>
            </a:r>
          </a:p>
        </p:txBody>
      </p:sp>
      <p:pic>
        <p:nvPicPr>
          <p:cNvPr id="3379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1" y="12192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9613" y="1219200"/>
            <a:ext cx="4268787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209479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Pre-processing and Post-processing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Pre-processing</a:t>
            </a:r>
          </a:p>
          <a:p>
            <a:pPr lvl="1"/>
            <a:r>
              <a:rPr lang="en-US" altLang="en-US" dirty="0"/>
              <a:t>Normalize the data</a:t>
            </a:r>
          </a:p>
          <a:p>
            <a:pPr lvl="1"/>
            <a:r>
              <a:rPr lang="en-US" altLang="en-US" dirty="0"/>
              <a:t>Eliminate outliers</a:t>
            </a:r>
          </a:p>
          <a:p>
            <a:pPr lvl="4"/>
            <a:endParaRPr lang="en-US" altLang="en-US" sz="800" dirty="0"/>
          </a:p>
          <a:p>
            <a:r>
              <a:rPr lang="en-US" altLang="en-US" dirty="0"/>
              <a:t>Post-processing</a:t>
            </a:r>
          </a:p>
          <a:p>
            <a:pPr lvl="1"/>
            <a:r>
              <a:rPr lang="en-US" altLang="en-US" dirty="0"/>
              <a:t>Eliminate small clusters that may represent outliers</a:t>
            </a:r>
          </a:p>
          <a:p>
            <a:pPr lvl="1"/>
            <a:r>
              <a:rPr lang="en-US" altLang="en-US" dirty="0"/>
              <a:t>Split ‘loose’ clusters, i.e., clusters with relatively high SSE</a:t>
            </a:r>
          </a:p>
          <a:p>
            <a:pPr lvl="1"/>
            <a:r>
              <a:rPr lang="en-US" altLang="en-US" dirty="0"/>
              <a:t>Merge clusters that are ‘close’ and that have relatively low SSE</a:t>
            </a:r>
          </a:p>
          <a:p>
            <a:pPr lvl="1"/>
            <a:r>
              <a:rPr lang="en-US" altLang="en-US" dirty="0"/>
              <a:t>Can use these steps during the clustering process</a:t>
            </a:r>
          </a:p>
          <a:p>
            <a:pPr lvl="2"/>
            <a:r>
              <a:rPr lang="en-US" altLang="en-US" dirty="0"/>
              <a:t> ISODATA</a:t>
            </a:r>
          </a:p>
        </p:txBody>
      </p:sp>
    </p:spTree>
    <p:extLst>
      <p:ext uri="{BB962C8B-B14F-4D97-AF65-F5344CB8AC3E}">
        <p14:creationId xmlns:p14="http://schemas.microsoft.com/office/powerpoint/2010/main" val="139281418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Shape 439"/>
          <p:cNvSpPr>
            <a:spLocks noGrp="1"/>
          </p:cNvSpPr>
          <p:nvPr>
            <p:ph type="body" idx="4294967295"/>
          </p:nvPr>
        </p:nvSpPr>
        <p:spPr>
          <a:xfrm>
            <a:off x="643360" y="1470949"/>
            <a:ext cx="9588660" cy="451316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>
              <a:buChar char=""/>
              <a:defRPr sz="1800" b="0"/>
            </a:pPr>
            <a:r>
              <a:rPr sz="2400" b="1" dirty="0"/>
              <a:t>K-means has problems when clusters are of differing </a:t>
            </a:r>
          </a:p>
          <a:p>
            <a:pPr marL="742950" lvl="1" indent="-285750">
              <a:defRPr sz="1800" b="0"/>
            </a:pPr>
            <a:r>
              <a:rPr sz="2000" b="1" dirty="0"/>
              <a:t>Sizes</a:t>
            </a:r>
          </a:p>
          <a:p>
            <a:pPr marL="742950" lvl="1" indent="-285750">
              <a:defRPr sz="1800" b="0"/>
            </a:pPr>
            <a:r>
              <a:rPr sz="2000" b="1" dirty="0"/>
              <a:t>Densities</a:t>
            </a:r>
          </a:p>
          <a:p>
            <a:pPr marL="742950" lvl="1" indent="-285750">
              <a:defRPr sz="1800" b="0"/>
            </a:pPr>
            <a:r>
              <a:rPr sz="2000" b="1" dirty="0"/>
              <a:t>Non-globular shapes</a:t>
            </a:r>
          </a:p>
          <a:p>
            <a:pPr lvl="0">
              <a:buChar char=""/>
              <a:defRPr sz="1800" b="0"/>
            </a:pPr>
            <a:endParaRPr sz="2000" b="1" dirty="0"/>
          </a:p>
          <a:p>
            <a:pPr lvl="0">
              <a:buChar char=""/>
              <a:defRPr sz="1800" b="0"/>
            </a:pPr>
            <a:r>
              <a:rPr sz="2400" b="1" dirty="0"/>
              <a:t>K-means has problems when the data contains outliers.</a:t>
            </a:r>
          </a:p>
        </p:txBody>
      </p:sp>
      <p:sp>
        <p:nvSpPr>
          <p:cNvPr id="440" name="Shape 440"/>
          <p:cNvSpPr>
            <a:spLocks noGrp="1"/>
          </p:cNvSpPr>
          <p:nvPr>
            <p:ph type="title" idx="4294967295"/>
          </p:nvPr>
        </p:nvSpPr>
        <p:spPr>
          <a:xfrm>
            <a:off x="1523999" y="0"/>
            <a:ext cx="9144002" cy="8382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pPr lvl="0">
              <a:defRPr sz="1800" b="0"/>
            </a:pPr>
            <a:r>
              <a:rPr sz="3200" b="1"/>
              <a:t>Limitations of K-means</a:t>
            </a:r>
          </a:p>
        </p:txBody>
      </p:sp>
    </p:spTree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3C3A3AC-3479-954B-8863-B2FCBFDCB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References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446C7E5-9491-8A4A-86AB-1AA2743CB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21605" cy="4351338"/>
          </a:xfrm>
        </p:spPr>
        <p:txBody>
          <a:bodyPr/>
          <a:lstStyle/>
          <a:p>
            <a:r>
              <a:rPr lang="en-US" noProof="0" dirty="0"/>
              <a:t>Clustering. </a:t>
            </a:r>
            <a:r>
              <a:rPr lang="en-US" noProof="0"/>
              <a:t>Chapter 7. </a:t>
            </a:r>
            <a:r>
              <a:rPr lang="en-US" noProof="0" dirty="0"/>
              <a:t>Introduction to Data Mining.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F7071210-6483-7E4C-BDE3-DBB7686DB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5800" y="2341563"/>
            <a:ext cx="3048000" cy="383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66117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57CE2CF-6A0E-3026-E06E-159EA200559A}"/>
              </a:ext>
            </a:extLst>
          </p:cNvPr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02FBB7-D520-90C3-555D-65185561D0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2189" y="4371976"/>
            <a:ext cx="51276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it-IT" sz="2400" dirty="0">
                <a:solidFill>
                  <a:schemeClr val="bg1"/>
                </a:solidFill>
                <a:latin typeface="Times New Roman" panose="02020603050405020304" pitchFamily="18" charset="0"/>
              </a:rPr>
              <a:t>Competitive Intelligence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BBE1529-7D1C-F51D-30A0-15C3AD36E27E}"/>
              </a:ext>
            </a:extLst>
          </p:cNvPr>
          <p:cNvSpPr/>
          <p:nvPr/>
        </p:nvSpPr>
        <p:spPr>
          <a:xfrm rot="2700000">
            <a:off x="6003132" y="5277645"/>
            <a:ext cx="171450" cy="1730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5D86994-03C0-F1C4-40E2-E4F2FE7A0CC2}"/>
              </a:ext>
            </a:extLst>
          </p:cNvPr>
          <p:cNvCxnSpPr/>
          <p:nvPr/>
        </p:nvCxnSpPr>
        <p:spPr>
          <a:xfrm flipH="1">
            <a:off x="4483101" y="5364163"/>
            <a:ext cx="136842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35BF245-A400-F0B5-EAD0-5D1AD04EFA70}"/>
              </a:ext>
            </a:extLst>
          </p:cNvPr>
          <p:cNvCxnSpPr/>
          <p:nvPr/>
        </p:nvCxnSpPr>
        <p:spPr>
          <a:xfrm flipH="1">
            <a:off x="6340476" y="5364163"/>
            <a:ext cx="131127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Pentagon 19">
            <a:extLst>
              <a:ext uri="{FF2B5EF4-FFF2-40B4-BE49-F238E27FC236}">
                <a16:creationId xmlns:a16="http://schemas.microsoft.com/office/drawing/2014/main" id="{5CFE1E8D-DC2F-4C35-226F-A59BEC4383B9}"/>
              </a:ext>
            </a:extLst>
          </p:cNvPr>
          <p:cNvSpPr/>
          <p:nvPr/>
        </p:nvSpPr>
        <p:spPr bwMode="auto">
          <a:xfrm rot="5400000">
            <a:off x="4619625" y="1603375"/>
            <a:ext cx="2952750" cy="2286000"/>
          </a:xfrm>
          <a:prstGeom prst="homePlate">
            <a:avLst/>
          </a:prstGeom>
          <a:solidFill>
            <a:schemeClr val="bg1">
              <a:lumMod val="95000"/>
            </a:scheme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algn="ctr">
              <a:defRPr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E56A9C65-4274-5A0F-5EDD-D64E26922DE4}"/>
              </a:ext>
            </a:extLst>
          </p:cNvPr>
          <p:cNvSpPr txBox="1">
            <a:spLocks/>
          </p:cNvSpPr>
          <p:nvPr/>
        </p:nvSpPr>
        <p:spPr>
          <a:xfrm>
            <a:off x="5809864" y="1762047"/>
            <a:ext cx="572272" cy="1354217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spcBef>
                <a:spcPct val="20000"/>
              </a:spcBef>
              <a:defRPr/>
            </a:pPr>
            <a:r>
              <a:rPr lang="en-US" sz="8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 animBg="1"/>
      <p:bldP spid="20" grpId="0" animBg="1"/>
      <p:bldP spid="1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1B45D317-A590-A904-063E-F6FED716821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0275" y="579438"/>
            <a:ext cx="7772400" cy="2387600"/>
          </a:xfrm>
        </p:spPr>
        <p:txBody>
          <a:bodyPr>
            <a:normAutofit fontScale="90000"/>
          </a:bodyPr>
          <a:lstStyle/>
          <a:p>
            <a:pPr>
              <a:defRPr/>
            </a:pPr>
            <a:br>
              <a:rPr lang="en-US" dirty="0"/>
            </a:br>
            <a:br>
              <a:rPr lang="en-US" dirty="0"/>
            </a:br>
            <a:r>
              <a:rPr lang="en-US" dirty="0"/>
              <a:t>competitive intelligence:</a:t>
            </a:r>
          </a:p>
        </p:txBody>
      </p:sp>
      <p:sp>
        <p:nvSpPr>
          <p:cNvPr id="172034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B35616E1-E7BC-11B0-C260-621C41C20B1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514600" y="3309938"/>
            <a:ext cx="7253288" cy="17526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>
                <a:latin typeface="Tahoma" charset="0"/>
              </a:rPr>
              <a:t>Source: DM@CINECA</a:t>
            </a:r>
          </a:p>
          <a:p>
            <a:pPr>
              <a:buFont typeface="Wingdings" charset="0"/>
              <a:buNone/>
              <a:defRPr/>
            </a:pPr>
            <a:r>
              <a:rPr lang="en-US" sz="2000">
                <a:latin typeface="Tahoma" charset="0"/>
              </a:rPr>
              <a:t>http://open.cineca.it/datamining/dmCineca/</a:t>
            </a:r>
          </a:p>
        </p:txBody>
      </p:sp>
    </p:spTree>
  </p:cSld>
  <p:clrMapOvr>
    <a:masterClrMapping/>
  </p:clrMapOvr>
  <p:transition spd="slow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0BED5798-4E64-D2F0-5165-CD8FB10781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 small example</a:t>
            </a:r>
          </a:p>
        </p:txBody>
      </p:sp>
      <p:sp>
        <p:nvSpPr>
          <p:cNvPr id="173059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67F371DC-71DE-3290-10B2-CD7428DB16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charset="0"/>
              <a:buChar char="l"/>
              <a:defRPr/>
            </a:pPr>
            <a:r>
              <a:rPr lang="en-US">
                <a:latin typeface="Tahoma" charset="0"/>
              </a:rPr>
              <a:t>Domain: </a:t>
            </a:r>
            <a:r>
              <a:rPr lang="en-US">
                <a:solidFill>
                  <a:schemeClr val="accent1"/>
                </a:solidFill>
                <a:latin typeface="Tahoma" charset="0"/>
              </a:rPr>
              <a:t>technology watch</a:t>
            </a:r>
            <a:r>
              <a:rPr lang="en-US">
                <a:latin typeface="Tahoma" charset="0"/>
              </a:rPr>
              <a:t> - a.k.a. competitive intelligence</a:t>
            </a:r>
          </a:p>
          <a:p>
            <a:pPr lvl="1">
              <a:buFont typeface="Arial" charset="0"/>
              <a:buChar char="–"/>
              <a:defRPr/>
            </a:pPr>
            <a:r>
              <a:rPr lang="en-US">
                <a:latin typeface="Tahoma" charset="0"/>
              </a:rPr>
              <a:t>Which are the emergent technologies? </a:t>
            </a:r>
          </a:p>
          <a:p>
            <a:pPr lvl="1">
              <a:buFont typeface="Arial" charset="0"/>
              <a:buChar char="–"/>
              <a:defRPr/>
            </a:pPr>
            <a:r>
              <a:rPr lang="en-US">
                <a:latin typeface="Tahoma" charset="0"/>
              </a:rPr>
              <a:t>Which competitors are investing on them?    </a:t>
            </a:r>
          </a:p>
          <a:p>
            <a:pPr lvl="1">
              <a:buFont typeface="Arial" charset="0"/>
              <a:buChar char="–"/>
              <a:defRPr/>
            </a:pPr>
            <a:r>
              <a:rPr lang="en-US">
                <a:latin typeface="Tahoma" charset="0"/>
              </a:rPr>
              <a:t>In which area are my competitors active?</a:t>
            </a:r>
          </a:p>
          <a:p>
            <a:pPr lvl="1">
              <a:buFont typeface="Arial" charset="0"/>
              <a:buChar char="–"/>
              <a:defRPr/>
            </a:pPr>
            <a:r>
              <a:rPr lang="en-US">
                <a:latin typeface="Tahoma" charset="0"/>
              </a:rPr>
              <a:t>Which area will my competitor drop in the near future?</a:t>
            </a:r>
          </a:p>
          <a:p>
            <a:pPr>
              <a:buFont typeface="Monotype Sorts" charset="0"/>
              <a:buChar char="l"/>
              <a:defRPr/>
            </a:pPr>
            <a:r>
              <a:rPr lang="en-US">
                <a:latin typeface="Tahoma" charset="0"/>
              </a:rPr>
              <a:t>Source of data:</a:t>
            </a:r>
          </a:p>
          <a:p>
            <a:pPr lvl="1">
              <a:buFont typeface="Arial" charset="0"/>
              <a:buChar char="–"/>
              <a:defRPr/>
            </a:pPr>
            <a:r>
              <a:rPr lang="en-US">
                <a:latin typeface="Tahoma" charset="0"/>
              </a:rPr>
              <a:t>public (on-line) databases</a:t>
            </a:r>
          </a:p>
        </p:txBody>
      </p:sp>
    </p:spTree>
  </p:cSld>
  <p:clrMapOvr>
    <a:masterClrMapping/>
  </p:clrMapOvr>
  <p:transition spd="slow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E4080F1E-DF60-9835-2242-DC86476B93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The Derwent database</a:t>
            </a:r>
          </a:p>
        </p:txBody>
      </p:sp>
      <p:sp>
        <p:nvSpPr>
          <p:cNvPr id="174083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6E82CB87-E400-5C78-DB91-18F8EBC59F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it-IT">
                <a:latin typeface="Tahoma" panose="020B0604030504040204" pitchFamily="34" charset="0"/>
                <a:ea typeface="ＭＳ Ｐゴシック" panose="020B0600070205080204" pitchFamily="34" charset="-128"/>
              </a:rPr>
              <a:t>Contains all </a:t>
            </a:r>
            <a:r>
              <a:rPr lang="en-US" altLang="it-IT">
                <a:solidFill>
                  <a:schemeClr val="accent1"/>
                </a:solidFill>
                <a:latin typeface="Tahoma" panose="020B0604030504040204" pitchFamily="34" charset="0"/>
                <a:ea typeface="ＭＳ Ｐゴシック" panose="020B0600070205080204" pitchFamily="34" charset="-128"/>
              </a:rPr>
              <a:t>patents</a:t>
            </a:r>
            <a:r>
              <a:rPr lang="en-US" altLang="it-IT">
                <a:latin typeface="Tahoma" panose="020B0604030504040204" pitchFamily="34" charset="0"/>
                <a:ea typeface="ＭＳ Ｐゴシック" panose="020B0600070205080204" pitchFamily="34" charset="-128"/>
              </a:rPr>
              <a:t> filed worldwide in last 10 years</a:t>
            </a:r>
          </a:p>
          <a:p>
            <a:pPr>
              <a:lnSpc>
                <a:spcPct val="90000"/>
              </a:lnSpc>
            </a:pPr>
            <a:r>
              <a:rPr lang="en-US" altLang="it-IT">
                <a:latin typeface="Tahoma" panose="020B0604030504040204" pitchFamily="34" charset="0"/>
                <a:ea typeface="ＭＳ Ｐゴシック" panose="020B0600070205080204" pitchFamily="34" charset="-128"/>
              </a:rPr>
              <a:t>Searching this database by keywords may yield thousands of documents</a:t>
            </a:r>
          </a:p>
          <a:p>
            <a:pPr>
              <a:lnSpc>
                <a:spcPct val="90000"/>
              </a:lnSpc>
            </a:pPr>
            <a:r>
              <a:rPr lang="en-US" altLang="it-IT">
                <a:latin typeface="Tahoma" panose="020B0604030504040204" pitchFamily="34" charset="0"/>
                <a:ea typeface="ＭＳ Ｐゴシック" panose="020B0600070205080204" pitchFamily="34" charset="-128"/>
              </a:rPr>
              <a:t>Derwent document are semi-structured: many long text fields</a:t>
            </a:r>
          </a:p>
          <a:p>
            <a:pPr>
              <a:lnSpc>
                <a:spcPct val="90000"/>
              </a:lnSpc>
            </a:pPr>
            <a:endParaRPr lang="en-US" altLang="it-IT">
              <a:latin typeface="Tahom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it-IT">
                <a:solidFill>
                  <a:schemeClr val="accent1"/>
                </a:solidFill>
                <a:latin typeface="Tahoma" panose="020B0604030504040204" pitchFamily="34" charset="0"/>
                <a:ea typeface="ＭＳ Ｐゴシック" panose="020B0600070205080204" pitchFamily="34" charset="-128"/>
              </a:rPr>
              <a:t>Goal</a:t>
            </a:r>
            <a:r>
              <a:rPr lang="en-US" altLang="it-IT">
                <a:latin typeface="Tahoma" panose="020B0604030504040204" pitchFamily="34" charset="0"/>
                <a:ea typeface="ＭＳ Ｐゴシック" panose="020B0600070205080204" pitchFamily="34" charset="-128"/>
              </a:rPr>
              <a:t>: analyze Derwent document to build a model of competitors’ strategy</a:t>
            </a:r>
          </a:p>
        </p:txBody>
      </p:sp>
    </p:spTree>
  </p:cSld>
  <p:clrMapOvr>
    <a:masterClrMapping/>
  </p:clrMapOvr>
  <p:transition spd="slow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3" descr="case1">
            <a:extLst>
              <a:ext uri="{FF2B5EF4-FFF2-40B4-BE49-F238E27FC236}">
                <a16:creationId xmlns:a16="http://schemas.microsoft.com/office/drawing/2014/main" id="{08FA58EB-0707-5D71-60C1-048881A644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663" y="725488"/>
            <a:ext cx="86106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14BA1C13-FE78-687C-4E82-CE456F76A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it-IT"/>
          </a:p>
        </p:txBody>
      </p:sp>
    </p:spTree>
  </p:cSld>
  <p:clrMapOvr>
    <a:masterClrMapping/>
  </p:clrMapOvr>
  <p:transition spd="slow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45ABCC2F-B3E2-2076-BE3C-FE78A5D2FA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Example dataset</a:t>
            </a:r>
          </a:p>
        </p:txBody>
      </p:sp>
      <p:sp>
        <p:nvSpPr>
          <p:cNvPr id="176131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95E00704-BD00-D4E2-AA5A-575CFDF1A6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charset="0"/>
              <a:buChar char="l"/>
              <a:defRPr/>
            </a:pPr>
            <a:r>
              <a:rPr lang="en-US">
                <a:latin typeface="Tahoma" charset="0"/>
              </a:rPr>
              <a:t>Patents in the area: cerotto medicale</a:t>
            </a:r>
          </a:p>
          <a:p>
            <a:pPr lvl="1">
              <a:buFont typeface="Arial" charset="0"/>
              <a:buChar char="–"/>
              <a:defRPr/>
            </a:pPr>
            <a:r>
              <a:rPr lang="en-US">
                <a:latin typeface="Tahoma" charset="0"/>
              </a:rPr>
              <a:t>105 companies from 12 countries </a:t>
            </a:r>
          </a:p>
          <a:p>
            <a:pPr lvl="1">
              <a:buFont typeface="Arial" charset="0"/>
              <a:buChar char="–"/>
              <a:defRPr/>
            </a:pPr>
            <a:r>
              <a:rPr lang="en-US">
                <a:latin typeface="Tahoma" charset="0"/>
              </a:rPr>
              <a:t>94 classification codes </a:t>
            </a:r>
          </a:p>
          <a:p>
            <a:pPr lvl="1">
              <a:buFont typeface="Arial" charset="0"/>
              <a:buChar char="–"/>
              <a:defRPr/>
            </a:pPr>
            <a:r>
              <a:rPr lang="en-US">
                <a:latin typeface="Tahoma" charset="0"/>
              </a:rPr>
              <a:t>52 Derwent codes</a:t>
            </a:r>
          </a:p>
        </p:txBody>
      </p:sp>
    </p:spTree>
  </p:cSld>
  <p:clrMapOvr>
    <a:masterClrMapping/>
  </p:clrMapOvr>
  <p:transition spd="slow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A9A762BE-C189-06F3-BC42-EE6CC65A96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78025" y="107951"/>
            <a:ext cx="7886700" cy="1325563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Data Preparation</a:t>
            </a:r>
          </a:p>
        </p:txBody>
      </p:sp>
      <p:pic>
        <p:nvPicPr>
          <p:cNvPr id="12290" name="Picture 3" descr="case2">
            <a:extLst>
              <a:ext uri="{FF2B5EF4-FFF2-40B4-BE49-F238E27FC236}">
                <a16:creationId xmlns:a16="http://schemas.microsoft.com/office/drawing/2014/main" id="{8BD9D7D3-05F9-DFC0-7ECC-CD86EE5179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371600"/>
            <a:ext cx="67056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Rectangle 4">
            <a:extLst>
              <a:ext uri="{FF2B5EF4-FFF2-40B4-BE49-F238E27FC236}">
                <a16:creationId xmlns:a16="http://schemas.microsoft.com/office/drawing/2014/main" id="{39620C96-C66D-DA93-2D52-C23E010438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1371600"/>
            <a:ext cx="2590800" cy="1447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</p:spTree>
  </p:cSld>
  <p:clrMapOvr>
    <a:masterClrMapping/>
  </p:clrMapOvr>
  <p:transition spd="slow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CA2A0B2C-147D-2CFC-00EA-A7367B2FFE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Clustering output</a:t>
            </a:r>
          </a:p>
        </p:txBody>
      </p:sp>
      <p:pic>
        <p:nvPicPr>
          <p:cNvPr id="13315" name="Picture 3" descr="case4">
            <a:extLst>
              <a:ext uri="{FF2B5EF4-FFF2-40B4-BE49-F238E27FC236}">
                <a16:creationId xmlns:a16="http://schemas.microsoft.com/office/drawing/2014/main" id="{D7A5B4DC-0BDB-B0A5-0B1C-27568D3766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524001"/>
            <a:ext cx="7086600" cy="466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A5831E9B-7B5D-DF60-B996-BFA508C6DB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Zoom on cluster 2</a:t>
            </a:r>
          </a:p>
        </p:txBody>
      </p:sp>
      <p:pic>
        <p:nvPicPr>
          <p:cNvPr id="14339" name="Picture 3" descr="case5">
            <a:extLst>
              <a:ext uri="{FF2B5EF4-FFF2-40B4-BE49-F238E27FC236}">
                <a16:creationId xmlns:a16="http://schemas.microsoft.com/office/drawing/2014/main" id="{942D4F33-7E7B-E623-CAC4-3FBEB0903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600200"/>
            <a:ext cx="7391400" cy="478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A4137C7E-E195-D53B-209E-399C1071B1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28800" y="381000"/>
            <a:ext cx="8280400" cy="5334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Zoom on cluster 2 - profiling competitors</a:t>
            </a:r>
          </a:p>
        </p:txBody>
      </p:sp>
      <p:pic>
        <p:nvPicPr>
          <p:cNvPr id="15363" name="Picture 3" descr="case6">
            <a:extLst>
              <a:ext uri="{FF2B5EF4-FFF2-40B4-BE49-F238E27FC236}">
                <a16:creationId xmlns:a16="http://schemas.microsoft.com/office/drawing/2014/main" id="{0D429532-E3A7-02E7-CB28-F6AC81B130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600200"/>
            <a:ext cx="7391400" cy="478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casenew1">
            <a:extLst>
              <a:ext uri="{FF2B5EF4-FFF2-40B4-BE49-F238E27FC236}">
                <a16:creationId xmlns:a16="http://schemas.microsoft.com/office/drawing/2014/main" id="{B2F5299B-442D-A0A0-66A1-AF1DFCA3E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838200"/>
            <a:ext cx="8686800" cy="551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5" name="Rectangle 3">
            <a:extLst>
              <a:ext uri="{FF2B5EF4-FFF2-40B4-BE49-F238E27FC236}">
                <a16:creationId xmlns:a16="http://schemas.microsoft.com/office/drawing/2014/main" id="{8D7E4CA7-0390-FDD7-0CFA-831D30C497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0510" y="21021"/>
            <a:ext cx="8569325" cy="1143000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Activity of competitors in the clusters</a:t>
            </a:r>
            <a:br>
              <a:rPr lang="en-US" sz="2800" dirty="0"/>
            </a:br>
            <a:endParaRPr lang="en-US" sz="2800" dirty="0"/>
          </a:p>
        </p:txBody>
      </p:sp>
    </p:spTree>
  </p:cSld>
  <p:clrMapOvr>
    <a:masterClrMapping/>
  </p:clrMapOvr>
  <p:transition spd="slow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casenew2">
            <a:extLst>
              <a:ext uri="{FF2B5EF4-FFF2-40B4-BE49-F238E27FC236}">
                <a16:creationId xmlns:a16="http://schemas.microsoft.com/office/drawing/2014/main" id="{36B47B00-8E59-A8AD-5264-DAA73F8FC1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0" y="768753"/>
            <a:ext cx="8001000" cy="561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19" name="Rectangle 3">
            <a:extLst>
              <a:ext uri="{FF2B5EF4-FFF2-40B4-BE49-F238E27FC236}">
                <a16:creationId xmlns:a16="http://schemas.microsoft.com/office/drawing/2014/main" id="{2DA2D074-0F22-C000-CED0-0EB2117390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Temporal analysis of clusters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utorial_template" id="{EADC5050-CE47-8043-A115-557F9EDEC139}" vid="{327DA43B-6BAE-AF4B-A031-340A272D65B2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B2F56ABDEDC3044B30E8C8676A91964" ma:contentTypeVersion="3" ma:contentTypeDescription="Creare un nuovo documento." ma:contentTypeScope="" ma:versionID="b2f94b8e34c7ac8eea718ce208f72eaa">
  <xsd:schema xmlns:xsd="http://www.w3.org/2001/XMLSchema" xmlns:xs="http://www.w3.org/2001/XMLSchema" xmlns:p="http://schemas.microsoft.com/office/2006/metadata/properties" xmlns:ns2="e17268a9-c167-4582-b3fd-10fdf2b0972b" targetNamespace="http://schemas.microsoft.com/office/2006/metadata/properties" ma:root="true" ma:fieldsID="2766200863a59431bcf671668b910c15" ns2:_="">
    <xsd:import namespace="e17268a9-c167-4582-b3fd-10fdf2b097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7268a9-c167-4582-b3fd-10fdf2b097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00CB35D-2CFE-4120-A0B3-66D0C84BBEA4}"/>
</file>

<file path=customXml/itemProps2.xml><?xml version="1.0" encoding="utf-8"?>
<ds:datastoreItem xmlns:ds="http://schemas.openxmlformats.org/officeDocument/2006/customXml" ds:itemID="{01B1592F-FF3C-4190-976D-E0318FB5BCCA}"/>
</file>

<file path=customXml/itemProps3.xml><?xml version="1.0" encoding="utf-8"?>
<ds:datastoreItem xmlns:ds="http://schemas.openxmlformats.org/officeDocument/2006/customXml" ds:itemID="{CF41835C-0407-492F-97EB-033C7C783B79}"/>
</file>

<file path=docProps/app.xml><?xml version="1.0" encoding="utf-8"?>
<Properties xmlns="http://schemas.openxmlformats.org/officeDocument/2006/extended-properties" xmlns:vt="http://schemas.openxmlformats.org/officeDocument/2006/docPropsVTypes">
  <Template>Tema di Office</Template>
  <TotalTime>11223</TotalTime>
  <Words>2445</Words>
  <Application>Microsoft Macintosh PowerPoint</Application>
  <PresentationFormat>Widescreen</PresentationFormat>
  <Paragraphs>359</Paragraphs>
  <Slides>66</Slides>
  <Notes>3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12</vt:i4>
      </vt:variant>
      <vt:variant>
        <vt:lpstr>Tema</vt:lpstr>
      </vt:variant>
      <vt:variant>
        <vt:i4>1</vt:i4>
      </vt:variant>
      <vt:variant>
        <vt:lpstr>Server OLE incorporati</vt:lpstr>
      </vt:variant>
      <vt:variant>
        <vt:i4>4</vt:i4>
      </vt:variant>
      <vt:variant>
        <vt:lpstr>Titoli diapositive</vt:lpstr>
      </vt:variant>
      <vt:variant>
        <vt:i4>66</vt:i4>
      </vt:variant>
    </vt:vector>
  </HeadingPairs>
  <TitlesOfParts>
    <vt:vector size="83" baseType="lpstr">
      <vt:lpstr>ＭＳ Ｐゴシック</vt:lpstr>
      <vt:lpstr>Arial</vt:lpstr>
      <vt:lpstr>Calibri</vt:lpstr>
      <vt:lpstr>Calibri Light</vt:lpstr>
      <vt:lpstr>CMMI10</vt:lpstr>
      <vt:lpstr>cmr10</vt:lpstr>
      <vt:lpstr>CMR7</vt:lpstr>
      <vt:lpstr>Monotype Sorts</vt:lpstr>
      <vt:lpstr>Symbol</vt:lpstr>
      <vt:lpstr>Tahoma</vt:lpstr>
      <vt:lpstr>Times New Roman</vt:lpstr>
      <vt:lpstr>Wingdings</vt:lpstr>
      <vt:lpstr>Tema di Office</vt:lpstr>
      <vt:lpstr>Document</vt:lpstr>
      <vt:lpstr>VISIO</vt:lpstr>
      <vt:lpstr>Bitmap Image</vt:lpstr>
      <vt:lpstr>Equation</vt:lpstr>
      <vt:lpstr>Intro-Machine Learning  mod. 1 Clustering (1) </vt:lpstr>
      <vt:lpstr>What is Cluster Analysis?</vt:lpstr>
      <vt:lpstr>Preliminary concepts: Similarity and Dissimilarity</vt:lpstr>
      <vt:lpstr>Preliminary concepts: Euclidean Distance</vt:lpstr>
      <vt:lpstr>Euclidean Distance</vt:lpstr>
      <vt:lpstr>Minkowski Distance</vt:lpstr>
      <vt:lpstr>Minkowski Distance: Examples</vt:lpstr>
      <vt:lpstr>Minkowski Distance</vt:lpstr>
      <vt:lpstr>Similarity Between Binary Vectors</vt:lpstr>
      <vt:lpstr>SMC versus Jaccard: Example</vt:lpstr>
      <vt:lpstr>Cosine Similarity</vt:lpstr>
      <vt:lpstr>What is Cluster Analysis?</vt:lpstr>
      <vt:lpstr>Applications of Cluster Analysis</vt:lpstr>
      <vt:lpstr>What is not Cluster Analysis?</vt:lpstr>
      <vt:lpstr>Notion of a Cluster can be Ambiguous</vt:lpstr>
      <vt:lpstr>Types of Clusterings</vt:lpstr>
      <vt:lpstr>Partitional Clustering</vt:lpstr>
      <vt:lpstr>Hierarchical Clustering</vt:lpstr>
      <vt:lpstr>Other Distinctions Between Sets of Clusters</vt:lpstr>
      <vt:lpstr>Types of Clusters</vt:lpstr>
      <vt:lpstr>Types of Clusters: Well-Separated</vt:lpstr>
      <vt:lpstr>Types of Clusters: Center-Based</vt:lpstr>
      <vt:lpstr>Types of Clusters: Contiguity-Based</vt:lpstr>
      <vt:lpstr>Types of Clusters: Density-Based</vt:lpstr>
      <vt:lpstr>Types of Clusters: Objective Function</vt:lpstr>
      <vt:lpstr>Characteristics of the Input Data Are Important</vt:lpstr>
      <vt:lpstr>Clustering Algorithms</vt:lpstr>
      <vt:lpstr>K-Means</vt:lpstr>
      <vt:lpstr>K-means Clustering</vt:lpstr>
      <vt:lpstr>Example of K-means Clustering</vt:lpstr>
      <vt:lpstr>Example of K-means Clustering</vt:lpstr>
      <vt:lpstr>K-means Clustering – Details</vt:lpstr>
      <vt:lpstr>Evaluating  K-means Clusters</vt:lpstr>
      <vt:lpstr>Two different K-means Clusterings</vt:lpstr>
      <vt:lpstr>Importance of Choosing Initial Centroids</vt:lpstr>
      <vt:lpstr>Importance of Choosing Initial Centroids</vt:lpstr>
      <vt:lpstr>Importance of Choosing Initial Centroids …</vt:lpstr>
      <vt:lpstr>Importance of Choosing Initial Centroids …</vt:lpstr>
      <vt:lpstr>10 Clusters Example</vt:lpstr>
      <vt:lpstr>10 Clusters Example</vt:lpstr>
      <vt:lpstr>10 Clusters Example</vt:lpstr>
      <vt:lpstr>10 Clusters Example</vt:lpstr>
      <vt:lpstr>Solutions to Initial Centroids Problem</vt:lpstr>
      <vt:lpstr>How many clusters? Choosing K</vt:lpstr>
      <vt:lpstr>Limitations of K-means</vt:lpstr>
      <vt:lpstr>Limitations of K-means: Differing Sizes</vt:lpstr>
      <vt:lpstr>Overcoming K-means Limitations</vt:lpstr>
      <vt:lpstr>Limitations of K-means: Differing Density</vt:lpstr>
      <vt:lpstr>Overcoming K-means Limitations</vt:lpstr>
      <vt:lpstr>Limitations of K-means: Non-globular Shapes</vt:lpstr>
      <vt:lpstr>Overcoming K-means Limitations</vt:lpstr>
      <vt:lpstr>Pre-processing and Post-processing</vt:lpstr>
      <vt:lpstr>Limitations of K-means</vt:lpstr>
      <vt:lpstr>References</vt:lpstr>
      <vt:lpstr>Presentazione standard di PowerPoint</vt:lpstr>
      <vt:lpstr>  competitive intelligence:</vt:lpstr>
      <vt:lpstr>A small example</vt:lpstr>
      <vt:lpstr>The Derwent database</vt:lpstr>
      <vt:lpstr>Presentazione standard di PowerPoint</vt:lpstr>
      <vt:lpstr>Example dataset</vt:lpstr>
      <vt:lpstr>Data Preparation</vt:lpstr>
      <vt:lpstr>Clustering output</vt:lpstr>
      <vt:lpstr>Zoom on cluster 2</vt:lpstr>
      <vt:lpstr>Zoom on cluster 2 - profiling competitors</vt:lpstr>
      <vt:lpstr>Activity of competitors in the clusters </vt:lpstr>
      <vt:lpstr>Temporal analysis of clusters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Costabello, Luca</dc:creator>
  <cp:lastModifiedBy>FG-ITALY</cp:lastModifiedBy>
  <cp:revision>460</cp:revision>
  <cp:lastPrinted>2019-01-27T07:43:21Z</cp:lastPrinted>
  <dcterms:created xsi:type="dcterms:W3CDTF">2018-12-18T18:14:00Z</dcterms:created>
  <dcterms:modified xsi:type="dcterms:W3CDTF">2026-03-16T09:30:23Z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0x010100BB2F56ABDEDC3044B30E8C8676A91964</vt:lpwstr>
  </property>
</Properties>
</file>