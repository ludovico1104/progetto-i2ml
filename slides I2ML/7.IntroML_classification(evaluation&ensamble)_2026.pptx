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02"/>
  </p:notesMasterIdLst>
  <p:handoutMasterIdLst>
    <p:handoutMasterId r:id="rId103"/>
  </p:handoutMasterIdLst>
  <p:sldIdLst>
    <p:sldId id="1168" r:id="rId5"/>
    <p:sldId id="1331" r:id="rId6"/>
    <p:sldId id="1424" r:id="rId7"/>
    <p:sldId id="658" r:id="rId8"/>
    <p:sldId id="1422" r:id="rId9"/>
    <p:sldId id="1425" r:id="rId10"/>
    <p:sldId id="659" r:id="rId11"/>
    <p:sldId id="1423" r:id="rId12"/>
    <p:sldId id="1426" r:id="rId13"/>
    <p:sldId id="1436" r:id="rId14"/>
    <p:sldId id="1427" r:id="rId15"/>
    <p:sldId id="1428" r:id="rId16"/>
    <p:sldId id="1429" r:id="rId17"/>
    <p:sldId id="1430" r:id="rId18"/>
    <p:sldId id="1431" r:id="rId19"/>
    <p:sldId id="689" r:id="rId20"/>
    <p:sldId id="690" r:id="rId21"/>
    <p:sldId id="691" r:id="rId22"/>
    <p:sldId id="692" r:id="rId23"/>
    <p:sldId id="693" r:id="rId24"/>
    <p:sldId id="694" r:id="rId25"/>
    <p:sldId id="695" r:id="rId26"/>
    <p:sldId id="696" r:id="rId27"/>
    <p:sldId id="697" r:id="rId28"/>
    <p:sldId id="698" r:id="rId29"/>
    <p:sldId id="699" r:id="rId30"/>
    <p:sldId id="700" r:id="rId31"/>
    <p:sldId id="667" r:id="rId32"/>
    <p:sldId id="719" r:id="rId33"/>
    <p:sldId id="720" r:id="rId34"/>
    <p:sldId id="1432" r:id="rId35"/>
    <p:sldId id="668" r:id="rId36"/>
    <p:sldId id="669" r:id="rId37"/>
    <p:sldId id="670" r:id="rId38"/>
    <p:sldId id="722" r:id="rId39"/>
    <p:sldId id="723" r:id="rId40"/>
    <p:sldId id="688" r:id="rId41"/>
    <p:sldId id="671" r:id="rId42"/>
    <p:sldId id="1381" r:id="rId43"/>
    <p:sldId id="1435" r:id="rId44"/>
    <p:sldId id="1382" r:id="rId45"/>
    <p:sldId id="1437" r:id="rId46"/>
    <p:sldId id="1383" r:id="rId47"/>
    <p:sldId id="1384" r:id="rId48"/>
    <p:sldId id="1385" r:id="rId49"/>
    <p:sldId id="1386" r:id="rId50"/>
    <p:sldId id="1387" r:id="rId51"/>
    <p:sldId id="1388" r:id="rId52"/>
    <p:sldId id="680" r:id="rId53"/>
    <p:sldId id="1389" r:id="rId54"/>
    <p:sldId id="1390" r:id="rId55"/>
    <p:sldId id="1391" r:id="rId56"/>
    <p:sldId id="1392" r:id="rId57"/>
    <p:sldId id="1393" r:id="rId58"/>
    <p:sldId id="1332" r:id="rId59"/>
    <p:sldId id="1333" r:id="rId60"/>
    <p:sldId id="1335" r:id="rId61"/>
    <p:sldId id="1336" r:id="rId62"/>
    <p:sldId id="1337" r:id="rId63"/>
    <p:sldId id="1192" r:id="rId64"/>
    <p:sldId id="1193" r:id="rId65"/>
    <p:sldId id="1339" r:id="rId66"/>
    <p:sldId id="1197" r:id="rId67"/>
    <p:sldId id="1340" r:id="rId68"/>
    <p:sldId id="1341" r:id="rId69"/>
    <p:sldId id="1342" r:id="rId70"/>
    <p:sldId id="1343" r:id="rId71"/>
    <p:sldId id="1243" r:id="rId72"/>
    <p:sldId id="1199" r:id="rId73"/>
    <p:sldId id="1200" r:id="rId74"/>
    <p:sldId id="1202" r:id="rId75"/>
    <p:sldId id="1201" r:id="rId76"/>
    <p:sldId id="1344" r:id="rId77"/>
    <p:sldId id="1345" r:id="rId78"/>
    <p:sldId id="1244" r:id="rId79"/>
    <p:sldId id="1346" r:id="rId80"/>
    <p:sldId id="1347" r:id="rId81"/>
    <p:sldId id="1348" r:id="rId82"/>
    <p:sldId id="1349" r:id="rId83"/>
    <p:sldId id="681" r:id="rId84"/>
    <p:sldId id="682" r:id="rId85"/>
    <p:sldId id="683" r:id="rId86"/>
    <p:sldId id="684" r:id="rId87"/>
    <p:sldId id="685" r:id="rId88"/>
    <p:sldId id="1350" r:id="rId89"/>
    <p:sldId id="1351" r:id="rId90"/>
    <p:sldId id="1352" r:id="rId91"/>
    <p:sldId id="1353" r:id="rId92"/>
    <p:sldId id="1354" r:id="rId93"/>
    <p:sldId id="1355" r:id="rId94"/>
    <p:sldId id="1356" r:id="rId95"/>
    <p:sldId id="1357" r:id="rId96"/>
    <p:sldId id="1358" r:id="rId97"/>
    <p:sldId id="1359" r:id="rId98"/>
    <p:sldId id="1360" r:id="rId99"/>
    <p:sldId id="1362" r:id="rId100"/>
    <p:sldId id="1208" r:id="rId10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0096FF"/>
    <a:srgbClr val="00FB92"/>
    <a:srgbClr val="FF2F92"/>
    <a:srgbClr val="FF8AD8"/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68" autoAdjust="0"/>
    <p:restoredTop sz="86398" autoAdjust="0"/>
  </p:normalViewPr>
  <p:slideViewPr>
    <p:cSldViewPr snapToGrid="0" snapToObjects="1">
      <p:cViewPr varScale="1">
        <p:scale>
          <a:sx n="141" d="100"/>
          <a:sy n="141" d="100"/>
        </p:scale>
        <p:origin x="101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5" d="100"/>
        <a:sy n="145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-346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tableStyles" Target="tableStyle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F6E6D-E6D8-4C83-A38E-BFB06991A8D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01FBA-0126-406C-BE32-94E8E08112C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04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AB91D-D08F-F14D-AE19-84E96A5339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71684-922B-C647-B005-6CA642B2C4B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240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5331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F-measure</a:t>
            </a:r>
            <a:r>
              <a:rPr lang="it-IT" dirty="0"/>
              <a:t> è la media armonica, una nozione di media pessimistica, si avvicina più al valore inferiore</a:t>
            </a:r>
          </a:p>
        </p:txBody>
      </p:sp>
    </p:spTree>
    <p:extLst>
      <p:ext uri="{BB962C8B-B14F-4D97-AF65-F5344CB8AC3E}">
        <p14:creationId xmlns:p14="http://schemas.microsoft.com/office/powerpoint/2010/main" val="1206213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0728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Segnaposto immagine diapositiva 1">
            <a:extLst>
              <a:ext uri="{FF2B5EF4-FFF2-40B4-BE49-F238E27FC236}">
                <a16:creationId xmlns:a16="http://schemas.microsoft.com/office/drawing/2014/main" id="{4B192BCD-37A7-1144-B111-74E0766BED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ln/>
        </p:spPr>
      </p:sp>
      <p:sp>
        <p:nvSpPr>
          <p:cNvPr id="147458" name="Segnaposto note 2">
            <a:extLst>
              <a:ext uri="{FF2B5EF4-FFF2-40B4-BE49-F238E27FC236}">
                <a16:creationId xmlns:a16="http://schemas.microsoft.com/office/drawing/2014/main" id="{B3F60E3A-A498-734F-B47B-524C0EFEE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 altLang="it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4750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409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Slide Image Placeholder 1">
            <a:extLst>
              <a:ext uri="{FF2B5EF4-FFF2-40B4-BE49-F238E27FC236}">
                <a16:creationId xmlns:a16="http://schemas.microsoft.com/office/drawing/2014/main" id="{1E343FC0-BDE6-C440-BE0D-0045CF8F9F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ln/>
        </p:spPr>
      </p:sp>
      <p:sp>
        <p:nvSpPr>
          <p:cNvPr id="155650" name="Notes Placeholder 2">
            <a:extLst>
              <a:ext uri="{FF2B5EF4-FFF2-40B4-BE49-F238E27FC236}">
                <a16:creationId xmlns:a16="http://schemas.microsoft.com/office/drawing/2014/main" id="{1A4F6AE1-3A0D-0F4B-B08F-C6385178B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 altLang="it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3790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305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Segnaposto immagine diapositiva 1">
            <a:extLst>
              <a:ext uri="{FF2B5EF4-FFF2-40B4-BE49-F238E27FC236}">
                <a16:creationId xmlns:a16="http://schemas.microsoft.com/office/drawing/2014/main" id="{1EB98CB5-B9C6-F540-8781-6637EFF797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ln/>
        </p:spPr>
      </p:sp>
      <p:sp>
        <p:nvSpPr>
          <p:cNvPr id="166914" name="Segnaposto note 2">
            <a:extLst>
              <a:ext uri="{FF2B5EF4-FFF2-40B4-BE49-F238E27FC236}">
                <a16:creationId xmlns:a16="http://schemas.microsoft.com/office/drawing/2014/main" id="{B4AD40AF-1450-B04B-9795-1A287A08B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altLang="it-IT">
                <a:latin typeface="Arial" panose="020B0604020202020204" pitchFamily="34" charset="0"/>
                <a:ea typeface="ＭＳ Ｐゴシック" panose="020B0600070205080204" pitchFamily="34" charset="-128"/>
              </a:rPr>
              <a:t>where Zα/2 and Z1−α/2 are the upper and lower bounds obtained from a standard normal distribution at confidence level (1 − α).</a:t>
            </a:r>
          </a:p>
          <a:p>
            <a:endParaRPr lang="it-IT" altLang="it-IT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it-IT" altLang="it-IT">
                <a:latin typeface="Arial" panose="020B0604020202020204" pitchFamily="34" charset="0"/>
                <a:ea typeface="ＭＳ Ｐゴシック" panose="020B0600070205080204" pitchFamily="34" charset="-128"/>
              </a:rPr>
              <a:t> Since a standard normal distribution is symmetric around Z = 0, it follows that Zα/2 = Z1−α/2 then we have the interval for P</a:t>
            </a:r>
          </a:p>
          <a:p>
            <a:endParaRPr lang="it-IT" altLang="it-IT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it-IT" altLang="it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9120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Segnaposto immagine diapositiva 1">
            <a:extLst>
              <a:ext uri="{FF2B5EF4-FFF2-40B4-BE49-F238E27FC236}">
                <a16:creationId xmlns:a16="http://schemas.microsoft.com/office/drawing/2014/main" id="{9A129EAB-9C9E-1649-B7FB-BFBB230275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ln/>
        </p:spPr>
      </p:sp>
      <p:sp>
        <p:nvSpPr>
          <p:cNvPr id="168962" name="Segnaposto note 2">
            <a:extLst>
              <a:ext uri="{FF2B5EF4-FFF2-40B4-BE49-F238E27FC236}">
                <a16:creationId xmlns:a16="http://schemas.microsoft.com/office/drawing/2014/main" id="{DB3FA9C9-A9CF-1846-AB5B-D47AB1C0E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altLang="it-IT">
                <a:latin typeface="Arial" panose="020B0604020202020204" pitchFamily="34" charset="0"/>
                <a:ea typeface="ＭＳ Ｐゴシック" panose="020B0600070205080204" pitchFamily="34" charset="-128"/>
              </a:rPr>
              <a:t>Inserting this term into Equation 4.13 yields a confidence interval between 71.1% and 86.7%. </a:t>
            </a:r>
          </a:p>
          <a:p>
            <a:endParaRPr lang="it-IT" altLang="it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4502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Explainable-AI</a:t>
            </a:r>
            <a:r>
              <a:rPr lang="en-US" dirty="0"/>
              <a:t> explores and investigates methods to produce or complement </a:t>
            </a:r>
            <a:r>
              <a:rPr lang="en-US" b="1" dirty="0"/>
              <a:t>AI models </a:t>
            </a:r>
            <a:r>
              <a:rPr lang="en-US" dirty="0"/>
              <a:t>to make </a:t>
            </a:r>
            <a:r>
              <a:rPr lang="en-US" b="1" dirty="0"/>
              <a:t>accessible and interpretable </a:t>
            </a:r>
            <a:r>
              <a:rPr lang="en-US" dirty="0"/>
              <a:t>the internal logic and the outcome of the algorithms, making such process </a:t>
            </a:r>
            <a:r>
              <a:rPr lang="en-US" b="1" dirty="0"/>
              <a:t>understandable by humans</a:t>
            </a:r>
            <a:r>
              <a:rPr lang="en-US" dirty="0"/>
              <a:t>.</a:t>
            </a:r>
          </a:p>
          <a:p>
            <a:r>
              <a:rPr lang="en-US" b="1" dirty="0"/>
              <a:t>Explicability</a:t>
            </a:r>
            <a:r>
              <a:rPr lang="en-US" dirty="0"/>
              <a:t>, understood as incorporating both </a:t>
            </a:r>
            <a:r>
              <a:rPr lang="en-US" b="1" dirty="0"/>
              <a:t>intelligibility</a:t>
            </a:r>
            <a:r>
              <a:rPr lang="en-US" dirty="0"/>
              <a:t> </a:t>
            </a:r>
            <a:r>
              <a:rPr lang="en-US" i="1" dirty="0"/>
              <a:t>(“how does it work?”) </a:t>
            </a:r>
            <a:r>
              <a:rPr lang="en-US" dirty="0"/>
              <a:t>for non-experts, e.g., patients or business customers, and for experts, e.g., product designers or engineers) and </a:t>
            </a:r>
            <a:r>
              <a:rPr lang="en-US" b="1" dirty="0"/>
              <a:t>accountability</a:t>
            </a:r>
            <a:r>
              <a:rPr lang="en-US" dirty="0"/>
              <a:t> (</a:t>
            </a:r>
            <a:r>
              <a:rPr lang="en-US" i="1" dirty="0"/>
              <a:t>“who is responsible for”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31438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0477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Diagonal</a:t>
            </a:r>
            <a:r>
              <a:rPr lang="it-IT" dirty="0"/>
              <a:t> </a:t>
            </a:r>
            <a:r>
              <a:rPr lang="it-IT" dirty="0" err="1"/>
              <a:t>dashed</a:t>
            </a:r>
            <a:r>
              <a:rPr lang="it-IT" dirty="0"/>
              <a:t> line </a:t>
            </a:r>
            <a:r>
              <a:rPr lang="it-IT" dirty="0" err="1"/>
              <a:t>represent</a:t>
            </a:r>
            <a:r>
              <a:rPr lang="it-IT" dirty="0"/>
              <a:t> the case in </a:t>
            </a:r>
            <a:r>
              <a:rPr lang="it-IT" dirty="0" err="1"/>
              <a:t>which</a:t>
            </a:r>
            <a:r>
              <a:rPr lang="it-IT" dirty="0"/>
              <a:t> the base </a:t>
            </a:r>
            <a:r>
              <a:rPr lang="it-IT" dirty="0" err="1"/>
              <a:t>classifiers</a:t>
            </a:r>
            <a:r>
              <a:rPr lang="it-IT" dirty="0"/>
              <a:t> are </a:t>
            </a:r>
            <a:r>
              <a:rPr lang="it-IT" dirty="0" err="1"/>
              <a:t>identical</a:t>
            </a:r>
            <a:r>
              <a:rPr lang="it-IT" dirty="0"/>
              <a:t>, the </a:t>
            </a:r>
            <a:r>
              <a:rPr lang="it-IT" dirty="0" err="1"/>
              <a:t>solid</a:t>
            </a:r>
            <a:r>
              <a:rPr lang="it-IT" dirty="0"/>
              <a:t> line the case in </a:t>
            </a:r>
            <a:r>
              <a:rPr lang="it-IT" dirty="0" err="1"/>
              <a:t>which</a:t>
            </a:r>
            <a:r>
              <a:rPr lang="it-IT" dirty="0"/>
              <a:t> are </a:t>
            </a:r>
            <a:r>
              <a:rPr lang="it-IT"/>
              <a:t>independent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3435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600" dirty="0" err="1"/>
              <a:t>Manipulate</a:t>
            </a:r>
            <a:r>
              <a:rPr lang="it-IT" sz="1600" dirty="0"/>
              <a:t> data </a:t>
            </a:r>
            <a:r>
              <a:rPr lang="it-IT" sz="1600" dirty="0" err="1"/>
              <a:t>distribution</a:t>
            </a:r>
            <a:r>
              <a:rPr lang="it-IT" sz="1600" dirty="0"/>
              <a:t>: multiple </a:t>
            </a:r>
            <a:r>
              <a:rPr lang="it-IT" sz="1600" dirty="0" err="1"/>
              <a:t>trainign</a:t>
            </a:r>
            <a:r>
              <a:rPr lang="it-IT" sz="1600" dirty="0"/>
              <a:t> sets are </a:t>
            </a:r>
            <a:r>
              <a:rPr lang="it-IT" sz="1600" dirty="0" err="1"/>
              <a:t>created</a:t>
            </a:r>
            <a:r>
              <a:rPr lang="it-IT" sz="1600" dirty="0"/>
              <a:t> by </a:t>
            </a:r>
            <a:r>
              <a:rPr lang="it-IT" sz="1600" dirty="0" err="1"/>
              <a:t>resampling</a:t>
            </a:r>
            <a:r>
              <a:rPr lang="it-IT" sz="1600" dirty="0"/>
              <a:t> the </a:t>
            </a:r>
            <a:r>
              <a:rPr lang="it-IT" sz="1600" dirty="0" err="1"/>
              <a:t>original</a:t>
            </a:r>
            <a:r>
              <a:rPr lang="it-IT" sz="1600" dirty="0"/>
              <a:t> data </a:t>
            </a:r>
            <a:r>
              <a:rPr lang="it-IT" sz="1600" dirty="0" err="1"/>
              <a:t>according</a:t>
            </a:r>
            <a:r>
              <a:rPr lang="it-IT" sz="1600" dirty="0"/>
              <a:t> to </a:t>
            </a:r>
            <a:r>
              <a:rPr lang="it-IT" sz="1600" dirty="0" err="1"/>
              <a:t>soem</a:t>
            </a:r>
            <a:r>
              <a:rPr lang="it-IT" sz="1600" dirty="0"/>
              <a:t> </a:t>
            </a:r>
            <a:r>
              <a:rPr lang="it-IT" sz="1600" dirty="0" err="1"/>
              <a:t>sampling</a:t>
            </a:r>
            <a:r>
              <a:rPr lang="it-IT" sz="1600" dirty="0"/>
              <a:t> </a:t>
            </a:r>
            <a:r>
              <a:rPr lang="it-IT" sz="1600" dirty="0" err="1"/>
              <a:t>distribution</a:t>
            </a:r>
            <a:r>
              <a:rPr lang="it-IT" sz="160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600" dirty="0"/>
              <a:t>The </a:t>
            </a:r>
            <a:r>
              <a:rPr lang="it-IT" sz="1600" dirty="0" err="1"/>
              <a:t>resampling</a:t>
            </a:r>
            <a:r>
              <a:rPr lang="it-IT" sz="1600" dirty="0"/>
              <a:t> </a:t>
            </a:r>
            <a:r>
              <a:rPr lang="it-IT" sz="1600" dirty="0" err="1"/>
              <a:t>distribution</a:t>
            </a:r>
            <a:r>
              <a:rPr lang="it-IT" sz="1600" dirty="0"/>
              <a:t> </a:t>
            </a:r>
            <a:r>
              <a:rPr lang="it-IT" sz="1600" dirty="0" err="1"/>
              <a:t>determines</a:t>
            </a:r>
            <a:r>
              <a:rPr lang="it-IT" sz="1600" dirty="0"/>
              <a:t> </a:t>
            </a:r>
            <a:r>
              <a:rPr lang="it-IT" sz="1600" dirty="0" err="1"/>
              <a:t>how</a:t>
            </a:r>
            <a:r>
              <a:rPr lang="it-IT" sz="1600" dirty="0"/>
              <a:t> </a:t>
            </a:r>
            <a:r>
              <a:rPr lang="it-IT" sz="1600" dirty="0" err="1"/>
              <a:t>likely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an </a:t>
            </a:r>
            <a:r>
              <a:rPr lang="it-IT" sz="1600" dirty="0" err="1"/>
              <a:t>example</a:t>
            </a:r>
            <a:r>
              <a:rPr lang="it-IT" sz="1600" dirty="0"/>
              <a:t> </a:t>
            </a:r>
            <a:r>
              <a:rPr lang="it-IT" sz="1600" dirty="0" err="1"/>
              <a:t>will</a:t>
            </a:r>
            <a:r>
              <a:rPr lang="it-IT" sz="1600" dirty="0"/>
              <a:t> be </a:t>
            </a:r>
            <a:r>
              <a:rPr lang="it-IT" sz="1600" dirty="0" err="1"/>
              <a:t>selected</a:t>
            </a:r>
            <a:r>
              <a:rPr lang="it-IT" sz="1600" dirty="0"/>
              <a:t> for training, and </a:t>
            </a:r>
            <a:r>
              <a:rPr lang="it-IT" sz="1600" dirty="0" err="1"/>
              <a:t>it</a:t>
            </a:r>
            <a:r>
              <a:rPr lang="it-IT" sz="1600" dirty="0"/>
              <a:t> </a:t>
            </a:r>
            <a:r>
              <a:rPr lang="it-IT" sz="1600" dirty="0" err="1"/>
              <a:t>may</a:t>
            </a:r>
            <a:r>
              <a:rPr lang="it-IT" sz="1600" dirty="0"/>
              <a:t> </a:t>
            </a:r>
            <a:r>
              <a:rPr lang="it-IT" sz="1600" dirty="0" err="1"/>
              <a:t>vary</a:t>
            </a:r>
            <a:r>
              <a:rPr lang="it-IT" sz="1600" dirty="0"/>
              <a:t> from </a:t>
            </a:r>
            <a:r>
              <a:rPr lang="it-IT" sz="1600" dirty="0" err="1"/>
              <a:t>oen</a:t>
            </a:r>
            <a:r>
              <a:rPr lang="it-IT" sz="1600" dirty="0"/>
              <a:t> trial to </a:t>
            </a:r>
            <a:r>
              <a:rPr lang="it-IT" sz="1600" dirty="0" err="1"/>
              <a:t>another</a:t>
            </a:r>
            <a:r>
              <a:rPr lang="it-IT" sz="160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6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600" dirty="0" err="1"/>
              <a:t>Manipulate</a:t>
            </a:r>
            <a:r>
              <a:rPr lang="it-IT" sz="1600" dirty="0"/>
              <a:t> input </a:t>
            </a:r>
            <a:r>
              <a:rPr lang="it-IT" sz="1600" dirty="0" err="1"/>
              <a:t>features</a:t>
            </a:r>
            <a:r>
              <a:rPr lang="it-IT" sz="1600" dirty="0"/>
              <a:t>: a subset of input </a:t>
            </a:r>
            <a:r>
              <a:rPr lang="it-IT" sz="1600" dirty="0" err="1"/>
              <a:t>features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chosen</a:t>
            </a:r>
            <a:r>
              <a:rPr lang="it-IT" sz="1600" dirty="0"/>
              <a:t> to from </a:t>
            </a:r>
            <a:r>
              <a:rPr lang="it-IT" sz="1600" dirty="0" err="1"/>
              <a:t>each</a:t>
            </a:r>
            <a:r>
              <a:rPr lang="it-IT" sz="1600" dirty="0"/>
              <a:t> training set. The subset can be </a:t>
            </a:r>
            <a:r>
              <a:rPr lang="it-IT" sz="1600" dirty="0" err="1"/>
              <a:t>either</a:t>
            </a:r>
            <a:r>
              <a:rPr lang="it-IT" sz="1600" dirty="0"/>
              <a:t> </a:t>
            </a:r>
            <a:r>
              <a:rPr lang="it-IT" sz="1600" dirty="0" err="1"/>
              <a:t>chosen</a:t>
            </a:r>
            <a:r>
              <a:rPr lang="it-IT" sz="1600" dirty="0"/>
              <a:t> </a:t>
            </a:r>
            <a:r>
              <a:rPr lang="it-IT" sz="1600" dirty="0" err="1"/>
              <a:t>randomly</a:t>
            </a:r>
            <a:r>
              <a:rPr lang="it-IT" sz="1600" dirty="0"/>
              <a:t> or </a:t>
            </a:r>
            <a:r>
              <a:rPr lang="it-IT" sz="1600" dirty="0" err="1"/>
              <a:t>not</a:t>
            </a:r>
            <a:r>
              <a:rPr lang="it-IT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7694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3435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6343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DBE0CA-5111-D04D-8D12-935552D94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36BC96A-9426-4A41-862F-AE5D98B4F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DEE8EA-B811-484E-9AD4-125197A0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9E66D-B003-4C4E-864A-E43A8D2280BD}" type="datetime1">
              <a:rPr lang="it-IT" smtClean="0"/>
              <a:t>13/04/26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A87B73-2633-AA49-BD18-F8F801EA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</a:p>
        </p:txBody>
      </p:sp>
    </p:spTree>
    <p:extLst>
      <p:ext uri="{BB962C8B-B14F-4D97-AF65-F5344CB8AC3E}">
        <p14:creationId xmlns:p14="http://schemas.microsoft.com/office/powerpoint/2010/main" val="122510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C0DF7A-92CF-2848-9DB4-1B5627B9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42309D-38BE-FB4A-A153-E7BF232D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A7E30A-C665-904E-811B-93A46D9D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F26437-C4B7-604C-861E-5D3C0D33BE5F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6F7EE2-4B79-B948-8ACA-1A13A30C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97C08697-B432-D649-AD79-87B7574B2E35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2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BB1760-1D6E-514E-BBBA-90A5FFA1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0AE6B2-F4ED-8C4E-84AB-8DC3DD570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395726-958D-3549-89E0-A190673A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C28B9B-7C80-B543-BDBB-A92A7AEFD72F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EACAE3-5BD7-D34D-91E6-6EB901BE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EF479E78-DA7B-C944-8244-979118C4A42C}"/>
              </a:ext>
            </a:extLst>
          </p:cNvPr>
          <p:cNvCxnSpPr/>
          <p:nvPr userDrawn="1"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6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7BC0BA-3DD1-6F4D-958D-0CFF774B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21535-ED3B-1E4C-9BBE-4E2F63316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6C8D277-1C2D-6A43-9A64-CF03C6DAD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6A55CF-0328-2042-8867-0545FCFC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8C9651-A614-D546-8E5D-E84C7A0F43D0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3E56001-C03F-CE40-B8BD-AD028CAD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A728E4-6B64-4E40-811F-04DF1CBB7D31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93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6ABA12-78D7-6048-8681-A36AC099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04B37B-2090-8D41-B9BF-D88C3E98E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DC3BAF-954D-8E4C-A6EB-B3ADEB1C2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BB0CDEC-EF4F-6540-9159-D69B5F79B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698BE13-F69E-1A45-8586-E81C6FD52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0F0C53D-183A-FC4B-9702-71A74ADC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F22444-9F01-A64E-BA90-B0526793B5AE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35C857-F677-FE40-AFFD-96E8C3DF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0891173D-1780-9E40-A31D-CFB5D057907D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1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4FAAE9-4446-224F-A5F9-DD4D37B4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32027A-979A-0147-B957-23F6E4E4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E2C575-4E74-CB45-AA63-265EDD3F4832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569AC3D-0D57-8446-B251-CDE0E3A6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4EB78F9-ACE7-AD48-AC0A-3615A1AC3B39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7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D7CCD44-38AF-2748-9927-0AF5DEAF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7C649-8927-E144-A3AA-F7E863ABE54D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0ECF18-5B6D-0E46-8351-479B96D4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6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F3A5D9-CE4F-6F49-B7F4-45A75BFF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ACBE50-3DDC-5D47-8266-FF7265729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0F3E9B-90C3-E044-9151-5A48304D7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6F02DC-9538-7B4C-8AEC-00FD62F1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CE9C45-2ACA-2146-A9BA-1A8801DF3D90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1039E8-E9EA-1F47-A455-118B3078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4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29C229-E370-0C4E-84BE-990E328E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3911D92-876D-1D49-8C85-0314159E6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A241640-23F2-9847-A7E4-8FDAE2B6A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FE7DC9-F86D-4C42-BBB5-65A61965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57C8EA-2611-3F4A-8E99-618C2757CF42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B8BFF4-DFD9-E941-A9EA-E6FD29EC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1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79B98E-8402-EE4F-A656-DCC6A48E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C7ED7AD-51E7-F740-93FD-1025332C0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297406-BB99-2640-B389-5F24A3DC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D2041F-5EF3-3145-A49B-0814F547AEF9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19D53-C423-8F45-AA29-CDE0650D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12DD419-0A67-9744-B3B9-809AFC711840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FB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93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99B30F2-9DD7-A449-8E34-650F9CFCF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69B78D2-A881-6F42-89DA-8AC00B23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511472-DCCA-1F4E-80B9-8E99EC28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0F37EA-E13C-9545-99A5-5937716205AB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A25BF8-9292-B945-8562-F53E73BE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3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6912AA19-543F-0C4D-B30E-705307E425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8FE169F-F229-7B48-9D98-5DCA5F2232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C4B8C-6B23-E143-9946-3031804F1879}" type="slidenum">
              <a:rPr lang="en-US" altLang="en-IT"/>
              <a:pPr>
                <a:defRPr/>
              </a:pPr>
              <a:t>‹N›</a:t>
            </a:fld>
            <a:endParaRPr lang="en-US" altLang="en-IT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04236D8-66D7-DC4A-B7B9-683453FCCC1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B492D-E3BD-0740-B9BC-B11982F8EADD}" type="datetime1">
              <a:rPr lang="en-US" altLang="en-IT"/>
              <a:pPr>
                <a:defRPr/>
              </a:pPr>
              <a:t>4/13/26</a:t>
            </a:fld>
            <a:endParaRPr lang="en-US" altLang="en-IT"/>
          </a:p>
        </p:txBody>
      </p:sp>
    </p:spTree>
    <p:extLst>
      <p:ext uri="{BB962C8B-B14F-4D97-AF65-F5344CB8AC3E}">
        <p14:creationId xmlns:p14="http://schemas.microsoft.com/office/powerpoint/2010/main" val="117026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931ADDB-CF09-4C4A-A381-EBEAEC869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631CBA-384C-8F47-AD02-D9465EAF8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AB79F8-8BC7-EA4F-A539-66731CC39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94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22C14-3BC9-D542-B4D4-B9E4C141C801}" type="datetime1">
              <a:rPr lang="it-IT" smtClean="0"/>
              <a:t>13/04/26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2DF6E6-74CD-BD43-9A7F-E93E6BAD2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946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2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wardsdatascience.com/understanding-auc-roc-curve-68b2303cc9c5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3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5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7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41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25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25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53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e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52.emf"/><Relationship Id="rId4" Type="http://schemas.openxmlformats.org/officeDocument/2006/relationships/image" Target="../media/image49.emf"/><Relationship Id="rId9" Type="http://schemas.openxmlformats.org/officeDocument/2006/relationships/oleObject" Target="../embeddings/oleObject30.bin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60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emf"/><Relationship Id="rId4" Type="http://schemas.openxmlformats.org/officeDocument/2006/relationships/oleObject" Target="../embeddings/oleObject35.bin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emf"/><Relationship Id="rId4" Type="http://schemas.openxmlformats.org/officeDocument/2006/relationships/image" Target="../media/image63.emf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56805-27B6-9941-9623-EE2991DF1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07" y="2176424"/>
            <a:ext cx="10693993" cy="226180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9193"/>
                </a:solidFill>
              </a:rPr>
              <a:t>D</a:t>
            </a:r>
            <a:r>
              <a:rPr lang="en-US" b="1" dirty="0"/>
              <a:t>ATA</a:t>
            </a:r>
            <a:r>
              <a:rPr lang="en-US" b="1" dirty="0">
                <a:solidFill>
                  <a:srgbClr val="00FB92"/>
                </a:solidFill>
              </a:rPr>
              <a:t> </a:t>
            </a:r>
            <a:r>
              <a:rPr lang="en-US" b="1" dirty="0">
                <a:solidFill>
                  <a:srgbClr val="009193"/>
                </a:solidFill>
              </a:rPr>
              <a:t>M</a:t>
            </a:r>
            <a:r>
              <a:rPr lang="en-US" b="1" dirty="0"/>
              <a:t>INING &amp; </a:t>
            </a:r>
            <a:r>
              <a:rPr lang="en-US" b="1" dirty="0">
                <a:solidFill>
                  <a:srgbClr val="009193"/>
                </a:solidFill>
              </a:rPr>
              <a:t>M</a:t>
            </a:r>
            <a:r>
              <a:rPr lang="en-US" b="1" dirty="0"/>
              <a:t>ACHINE </a:t>
            </a:r>
            <a:r>
              <a:rPr lang="en-US" b="1" dirty="0">
                <a:solidFill>
                  <a:srgbClr val="009193"/>
                </a:solidFill>
              </a:rPr>
              <a:t>L</a:t>
            </a:r>
            <a:r>
              <a:rPr lang="en-US" b="1" dirty="0"/>
              <a:t>EARNING: </a:t>
            </a:r>
            <a:br>
              <a:rPr lang="en-US" sz="7200" b="1" dirty="0"/>
            </a:br>
            <a:r>
              <a:rPr lang="en-US" sz="9800" b="1" dirty="0"/>
              <a:t>Classification</a:t>
            </a:r>
            <a:endParaRPr lang="en-US" sz="2800" b="1" dirty="0"/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5F5693D1-C37C-884D-ABF4-994E895B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807" y="4727461"/>
            <a:ext cx="9144000" cy="1724851"/>
          </a:xfrm>
        </p:spPr>
        <p:txBody>
          <a:bodyPr>
            <a:norm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dirty="0" err="1"/>
              <a:t>Fosca</a:t>
            </a:r>
            <a:r>
              <a:rPr lang="en-IE" dirty="0"/>
              <a:t> Giannotti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dirty="0"/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sz="2000" dirty="0"/>
              <a:t>Revisited slides from Lecture Notes for Chapter 7 “Introduction to Data Mining”, 2nd Edition by Tan, Steinbach, </a:t>
            </a:r>
            <a:r>
              <a:rPr lang="en-IE" sz="2000" dirty="0" err="1"/>
              <a:t>Karpatne</a:t>
            </a:r>
            <a:r>
              <a:rPr lang="en-IE" sz="2000" dirty="0"/>
              <a:t>, Kumar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dirty="0" err="1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6F288DE-7B36-1745-8291-1D66544FBE52}"/>
              </a:ext>
            </a:extLst>
          </p:cNvPr>
          <p:cNvCxnSpPr/>
          <p:nvPr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71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3A3AC-3479-954B-8863-B2FCBFD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6C7E5-9491-8A4A-86AB-1AA2743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en-IE" dirty="0"/>
              <a:t>Chapter 7 “Introduction to Data Mining”, </a:t>
            </a:r>
          </a:p>
          <a:p>
            <a:r>
              <a:rPr lang="en-US" noProof="0" dirty="0"/>
              <a:t>Hands-on Machine Learning with Scikit-Learn, </a:t>
            </a:r>
            <a:r>
              <a:rPr lang="en-US" noProof="0" dirty="0" err="1"/>
              <a:t>Keras</a:t>
            </a:r>
            <a:r>
              <a:rPr lang="en-US" noProof="0" dirty="0"/>
              <a:t> &amp; </a:t>
            </a:r>
            <a:r>
              <a:rPr lang="en-US" noProof="0" dirty="0" err="1"/>
              <a:t>Tensorflow</a:t>
            </a:r>
            <a:r>
              <a:rPr lang="en-US" noProof="0" dirty="0"/>
              <a:t>. A practical handbook to start wrestling with Machine Learning models (2nd ed).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071210-6483-7E4C-BDE3-DBB7686D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356" y="1471061"/>
            <a:ext cx="1841458" cy="2317168"/>
          </a:xfrm>
          <a:prstGeom prst="rect">
            <a:avLst/>
          </a:prstGeom>
        </p:spPr>
      </p:pic>
      <p:pic>
        <p:nvPicPr>
          <p:cNvPr id="5" name="Immagine 4" descr="Immagine che contiene animale, rettile, lucertola&#10;&#10;Descrizione generata automaticamente">
            <a:extLst>
              <a:ext uri="{FF2B5EF4-FFF2-40B4-BE49-F238E27FC236}">
                <a16:creationId xmlns:a16="http://schemas.microsoft.com/office/drawing/2014/main" id="{FD3DC371-5F96-9846-B924-87DAAA98A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805" y="2830443"/>
            <a:ext cx="1905000" cy="249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3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56805-27B6-9941-9623-EE2991DF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br>
              <a:rPr lang="en-US" b="1" dirty="0">
                <a:solidFill>
                  <a:srgbClr val="00FB92"/>
                </a:solidFill>
              </a:rPr>
            </a:br>
            <a:r>
              <a:rPr lang="en-US" b="1" dirty="0"/>
              <a:t>Model Evaluation</a:t>
            </a:r>
            <a:endParaRPr lang="en-US" sz="3000" b="1" dirty="0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6F288DE-7B36-1745-8291-1D66544FBE52}"/>
              </a:ext>
            </a:extLst>
          </p:cNvPr>
          <p:cNvCxnSpPr/>
          <p:nvPr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334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38" name="Rectangle 2">
            <a:extLst>
              <a:ext uri="{FF2B5EF4-FFF2-40B4-BE49-F238E27FC236}">
                <a16:creationId xmlns:a16="http://schemas.microsoft.com/office/drawing/2014/main" id="{B070D7C2-39D4-AA4C-9198-8B429BC3A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Model Evaluation</a:t>
            </a:r>
          </a:p>
        </p:txBody>
      </p:sp>
      <p:sp>
        <p:nvSpPr>
          <p:cNvPr id="961539" name="Rectangle 3">
            <a:extLst>
              <a:ext uri="{FF2B5EF4-FFF2-40B4-BE49-F238E27FC236}">
                <a16:creationId xmlns:a16="http://schemas.microsoft.com/office/drawing/2014/main" id="{89BEAA93-ABA2-9E4E-B446-59B20BFED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Metrics for Performance Evaluation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evaluate the performance of a model?</a:t>
            </a:r>
          </a:p>
          <a:p>
            <a:pPr lvl="1">
              <a:buFont typeface="Arial" charset="0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Methods for Performance Evaluation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obtain reliable estimates?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Methods for Model Comparison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compare the relative performance among competing models?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59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56805-27B6-9941-9623-EE2991DF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br>
              <a:rPr lang="en-US" b="1" dirty="0">
                <a:solidFill>
                  <a:srgbClr val="00FB92"/>
                </a:solidFill>
              </a:rPr>
            </a:br>
            <a:r>
              <a:rPr lang="en-US" b="1" dirty="0"/>
              <a:t>Model Evaluation</a:t>
            </a:r>
            <a:endParaRPr lang="en-US" sz="3000" b="1" dirty="0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6F288DE-7B36-1745-8291-1D66544FBE52}"/>
              </a:ext>
            </a:extLst>
          </p:cNvPr>
          <p:cNvCxnSpPr/>
          <p:nvPr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11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38" name="Rectangle 2">
            <a:extLst>
              <a:ext uri="{FF2B5EF4-FFF2-40B4-BE49-F238E27FC236}">
                <a16:creationId xmlns:a16="http://schemas.microsoft.com/office/drawing/2014/main" id="{B070D7C2-39D4-AA4C-9198-8B429BC3A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Model Evaluation</a:t>
            </a:r>
          </a:p>
        </p:txBody>
      </p:sp>
      <p:sp>
        <p:nvSpPr>
          <p:cNvPr id="961539" name="Rectangle 3">
            <a:extLst>
              <a:ext uri="{FF2B5EF4-FFF2-40B4-BE49-F238E27FC236}">
                <a16:creationId xmlns:a16="http://schemas.microsoft.com/office/drawing/2014/main" id="{89BEAA93-ABA2-9E4E-B446-59B20BFED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Metrics for Performance Evaluation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evaluate the performance of a model?</a:t>
            </a:r>
          </a:p>
          <a:p>
            <a:pPr lvl="1">
              <a:buFont typeface="Arial" charset="0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Methods for Performance Evaluation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obtain reliable estimates?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Methods for Model Comparison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compare the relative performance among competing models?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99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>
            <a:extLst>
              <a:ext uri="{FF2B5EF4-FFF2-40B4-BE49-F238E27FC236}">
                <a16:creationId xmlns:a16="http://schemas.microsoft.com/office/drawing/2014/main" id="{ED2E04E3-3063-264F-896A-49BDA9BA1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Model Evaluation</a:t>
            </a:r>
          </a:p>
        </p:txBody>
      </p:sp>
      <p:sp>
        <p:nvSpPr>
          <p:cNvPr id="962563" name="Rectangle 3">
            <a:extLst>
              <a:ext uri="{FF2B5EF4-FFF2-40B4-BE49-F238E27FC236}">
                <a16:creationId xmlns:a16="http://schemas.microsoft.com/office/drawing/2014/main" id="{9C9E8D90-5973-6D43-9109-27F55C535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cs typeface="+mn-cs"/>
              </a:rPr>
              <a:t>Metrics for Performance Evaluation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evaluate the performance of a model?</a:t>
            </a:r>
          </a:p>
          <a:p>
            <a:pPr lvl="1">
              <a:buFont typeface="Arial" charset="0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Methods for Performance Evaluation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obtain reliable estimates?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Methods for Model Comparison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compare the relative performance among competing models?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68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>
            <a:extLst>
              <a:ext uri="{FF2B5EF4-FFF2-40B4-BE49-F238E27FC236}">
                <a16:creationId xmlns:a16="http://schemas.microsoft.com/office/drawing/2014/main" id="{B078759D-FB6F-AB4F-A1F2-FBD5EFA08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Metrics for Performance Evaluation</a:t>
            </a:r>
          </a:p>
        </p:txBody>
      </p:sp>
      <p:sp>
        <p:nvSpPr>
          <p:cNvPr id="963587" name="Rectangle 3">
            <a:extLst>
              <a:ext uri="{FF2B5EF4-FFF2-40B4-BE49-F238E27FC236}">
                <a16:creationId xmlns:a16="http://schemas.microsoft.com/office/drawing/2014/main" id="{C15D5469-43D9-8B4A-8C33-1B69CABD9A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Focus on the predictive capability of a model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Rather than how fast it takes to classify or build models, scalability, etc.</a:t>
            </a:r>
          </a:p>
          <a:p>
            <a:pPr>
              <a:defRPr/>
            </a:pPr>
            <a:r>
              <a:rPr lang="en-US" b="1" dirty="0">
                <a:cs typeface="+mn-cs"/>
              </a:rPr>
              <a:t>Confusion Matrix:</a:t>
            </a:r>
          </a:p>
        </p:txBody>
      </p:sp>
      <p:graphicFrame>
        <p:nvGraphicFramePr>
          <p:cNvPr id="963588" name="Group 4">
            <a:extLst>
              <a:ext uri="{FF2B5EF4-FFF2-40B4-BE49-F238E27FC236}">
                <a16:creationId xmlns:a16="http://schemas.microsoft.com/office/drawing/2014/main" id="{5935C665-4D2F-3B47-A835-8D6133623C56}"/>
              </a:ext>
            </a:extLst>
          </p:cNvPr>
          <p:cNvGraphicFramePr>
            <a:graphicFrameLocks noGrp="1"/>
          </p:cNvGraphicFramePr>
          <p:nvPr/>
        </p:nvGraphicFramePr>
        <p:xfrm>
          <a:off x="1905000" y="3378200"/>
          <a:ext cx="6096000" cy="2794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42782988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6177597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6907814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93804771"/>
                    </a:ext>
                  </a:extLst>
                </a:gridCol>
              </a:tblGrid>
              <a:tr h="6604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14117"/>
                  </a:ext>
                </a:extLst>
              </a:tr>
              <a:tr h="685800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endParaRPr kumimoji="0" lang="en-US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ACTUAL</a:t>
                      </a:r>
                      <a:b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it-IT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628744"/>
                  </a:ext>
                </a:extLst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724517"/>
                  </a:ext>
                </a:extLst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02821"/>
                  </a:ext>
                </a:extLst>
              </a:tr>
            </a:tbl>
          </a:graphicData>
        </a:graphic>
      </p:graphicFrame>
      <p:sp>
        <p:nvSpPr>
          <p:cNvPr id="963611" name="Text Box 27">
            <a:extLst>
              <a:ext uri="{FF2B5EF4-FFF2-40B4-BE49-F238E27FC236}">
                <a16:creationId xmlns:a16="http://schemas.microsoft.com/office/drawing/2014/main" id="{97B7799A-65F2-E145-8AB9-EC9EB950E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292600"/>
            <a:ext cx="3200400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latin typeface="Arial" charset="0"/>
                <a:ea typeface="ＭＳ Ｐゴシック" charset="0"/>
              </a:rPr>
              <a:t>a: TP (true positive)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latin typeface="Arial" charset="0"/>
                <a:ea typeface="ＭＳ Ｐゴシック" charset="0"/>
              </a:rPr>
              <a:t>b: FN (false negative)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latin typeface="Arial" charset="0"/>
                <a:ea typeface="ＭＳ Ｐゴシック" charset="0"/>
              </a:rPr>
              <a:t>c: FP (false positive)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latin typeface="Arial" charset="0"/>
                <a:ea typeface="ＭＳ Ｐゴシック" charset="0"/>
              </a:rPr>
              <a:t>d: TN (true negative)</a:t>
            </a:r>
          </a:p>
        </p:txBody>
      </p:sp>
    </p:spTree>
    <p:extLst>
      <p:ext uri="{BB962C8B-B14F-4D97-AF65-F5344CB8AC3E}">
        <p14:creationId xmlns:p14="http://schemas.microsoft.com/office/powerpoint/2010/main" val="434853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0" name="Rectangle 2">
            <a:extLst>
              <a:ext uri="{FF2B5EF4-FFF2-40B4-BE49-F238E27FC236}">
                <a16:creationId xmlns:a16="http://schemas.microsoft.com/office/drawing/2014/main" id="{17C9D24F-087A-9E4B-A340-66CC452FD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Metrics for Performance Evaluation…</a:t>
            </a:r>
          </a:p>
        </p:txBody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9FE9F55B-9CEC-CF43-8B0E-40106FF5E8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 marL="0" indent="0">
              <a:buNone/>
              <a:defRPr/>
            </a:pPr>
            <a:r>
              <a:rPr lang="en-US" dirty="0">
                <a:cs typeface="+mn-cs"/>
              </a:rPr>
              <a:t>Most widely-used metric:</a:t>
            </a: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</p:txBody>
      </p:sp>
      <p:graphicFrame>
        <p:nvGraphicFramePr>
          <p:cNvPr id="964612" name="Group 4">
            <a:extLst>
              <a:ext uri="{FF2B5EF4-FFF2-40B4-BE49-F238E27FC236}">
                <a16:creationId xmlns:a16="http://schemas.microsoft.com/office/drawing/2014/main" id="{A7623AD1-7810-384B-8B0E-37908A171545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1690688"/>
          <a:ext cx="6096000" cy="28225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322565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241974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766783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81491380"/>
                    </a:ext>
                  </a:extLst>
                </a:gridCol>
              </a:tblGrid>
              <a:tr h="6604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PREDICTED CLASS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487064"/>
                  </a:ext>
                </a:extLst>
              </a:tr>
              <a:tr h="685800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endParaRPr kumimoji="0" lang="en-US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ACTUAL</a:t>
                      </a:r>
                      <a:b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it-IT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498636"/>
                  </a:ext>
                </a:extLst>
              </a:tr>
              <a:tr h="7016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  <a:b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(TP)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b</a:t>
                      </a:r>
                      <a:b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(FN)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422138"/>
                  </a:ext>
                </a:extLst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  <a:b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(FP)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d</a:t>
                      </a:r>
                      <a:b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(TN)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764774"/>
                  </a:ext>
                </a:extLst>
              </a:tr>
            </a:tbl>
          </a:graphicData>
        </a:graphic>
      </p:graphicFrame>
      <p:graphicFrame>
        <p:nvGraphicFramePr>
          <p:cNvPr id="138266" name="Object 27">
            <a:extLst>
              <a:ext uri="{FF2B5EF4-FFF2-40B4-BE49-F238E27FC236}">
                <a16:creationId xmlns:a16="http://schemas.microsoft.com/office/drawing/2014/main" id="{ED8E55F9-AE1F-984A-8363-4B11EB6363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5105401"/>
          <a:ext cx="758348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492500" imgH="16675100" progId="Equation.3">
                  <p:embed/>
                </p:oleObj>
              </mc:Choice>
              <mc:Fallback>
                <p:oleObj name="Equation" r:id="rId2" imgW="130492500" imgH="16675100" progId="Equation.3">
                  <p:embed/>
                  <p:pic>
                    <p:nvPicPr>
                      <p:cNvPr id="138266" name="Object 27">
                        <a:extLst>
                          <a:ext uri="{FF2B5EF4-FFF2-40B4-BE49-F238E27FC236}">
                            <a16:creationId xmlns:a16="http://schemas.microsoft.com/office/drawing/2014/main" id="{ED8E55F9-AE1F-984A-8363-4B11EB636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05401"/>
                        <a:ext cx="7583488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9283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0" name="Rectangle 2">
            <a:extLst>
              <a:ext uri="{FF2B5EF4-FFF2-40B4-BE49-F238E27FC236}">
                <a16:creationId xmlns:a16="http://schemas.microsoft.com/office/drawing/2014/main" id="{17C9D24F-087A-9E4B-A340-66CC452FD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Metrics for Performance Evaluation…</a:t>
            </a:r>
          </a:p>
        </p:txBody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9FE9F55B-9CEC-CF43-8B0E-40106FF5E8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54045" y="-1238516"/>
            <a:ext cx="10515600" cy="4351338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 marL="0" indent="0">
              <a:buNone/>
              <a:defRPr/>
            </a:pPr>
            <a:r>
              <a:rPr lang="en-US" b="1" dirty="0"/>
              <a:t>Class-Dependent M</a:t>
            </a:r>
            <a:r>
              <a:rPr lang="en-US" b="1" dirty="0">
                <a:cs typeface="+mn-cs"/>
              </a:rPr>
              <a:t>etrics:</a:t>
            </a: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</p:txBody>
      </p:sp>
      <p:graphicFrame>
        <p:nvGraphicFramePr>
          <p:cNvPr id="964612" name="Group 4">
            <a:extLst>
              <a:ext uri="{FF2B5EF4-FFF2-40B4-BE49-F238E27FC236}">
                <a16:creationId xmlns:a16="http://schemas.microsoft.com/office/drawing/2014/main" id="{A7623AD1-7810-384B-8B0E-37908A171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428322"/>
              </p:ext>
            </p:extLst>
          </p:nvPr>
        </p:nvGraphicFramePr>
        <p:xfrm>
          <a:off x="264584" y="1920434"/>
          <a:ext cx="5831416" cy="3017131"/>
        </p:xfrm>
        <a:graphic>
          <a:graphicData uri="http://schemas.openxmlformats.org/drawingml/2006/table">
            <a:tbl>
              <a:tblPr/>
              <a:tblGrid>
                <a:gridCol w="1457854">
                  <a:extLst>
                    <a:ext uri="{9D8B030D-6E8A-4147-A177-3AD203B41FA5}">
                      <a16:colId xmlns:a16="http://schemas.microsoft.com/office/drawing/2014/main" val="3225650002"/>
                    </a:ext>
                  </a:extLst>
                </a:gridCol>
                <a:gridCol w="1457854">
                  <a:extLst>
                    <a:ext uri="{9D8B030D-6E8A-4147-A177-3AD203B41FA5}">
                      <a16:colId xmlns:a16="http://schemas.microsoft.com/office/drawing/2014/main" val="72419742"/>
                    </a:ext>
                  </a:extLst>
                </a:gridCol>
                <a:gridCol w="1457854">
                  <a:extLst>
                    <a:ext uri="{9D8B030D-6E8A-4147-A177-3AD203B41FA5}">
                      <a16:colId xmlns:a16="http://schemas.microsoft.com/office/drawing/2014/main" val="2276678341"/>
                    </a:ext>
                  </a:extLst>
                </a:gridCol>
                <a:gridCol w="1457854">
                  <a:extLst>
                    <a:ext uri="{9D8B030D-6E8A-4147-A177-3AD203B41FA5}">
                      <a16:colId xmlns:a16="http://schemas.microsoft.com/office/drawing/2014/main" val="1381491380"/>
                    </a:ext>
                  </a:extLst>
                </a:gridCol>
              </a:tblGrid>
              <a:tr h="682886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PREDICTED CLASS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487064"/>
                  </a:ext>
                </a:extLst>
              </a:tr>
              <a:tr h="766583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endParaRPr kumimoji="0" lang="en-US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ACTUAL</a:t>
                      </a:r>
                      <a:b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it-IT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498636"/>
                  </a:ext>
                </a:extLst>
              </a:tr>
              <a:tr h="7665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  <a:b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(TP)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b</a:t>
                      </a:r>
                      <a:b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(FN)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422138"/>
                  </a:ext>
                </a:extLst>
              </a:tr>
              <a:tr h="8010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  <a:b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(FP)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d</a:t>
                      </a:r>
                      <a:b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(TN)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764774"/>
                  </a:ext>
                </a:extLst>
              </a:tr>
            </a:tbl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0809B8DA-813B-E303-3C38-3BF6E5C3DC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5408421"/>
              </p:ext>
            </p:extLst>
          </p:nvPr>
        </p:nvGraphicFramePr>
        <p:xfrm>
          <a:off x="6462231" y="2305846"/>
          <a:ext cx="5831417" cy="294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400" imgH="1231900" progId="Equation.3">
                  <p:embed/>
                </p:oleObj>
              </mc:Choice>
              <mc:Fallback>
                <p:oleObj name="Equation" r:id="rId3" imgW="2438400" imgH="1231900" progId="Equation.3">
                  <p:embed/>
                  <p:pic>
                    <p:nvPicPr>
                      <p:cNvPr id="143362" name="Object 3">
                        <a:extLst>
                          <a:ext uri="{FF2B5EF4-FFF2-40B4-BE49-F238E27FC236}">
                            <a16:creationId xmlns:a16="http://schemas.microsoft.com/office/drawing/2014/main" id="{AC8E74DF-DA99-344C-905A-81B8C02A72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231" y="2305846"/>
                        <a:ext cx="5831417" cy="294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8362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4" name="Rectangle 2">
            <a:extLst>
              <a:ext uri="{FF2B5EF4-FFF2-40B4-BE49-F238E27FC236}">
                <a16:creationId xmlns:a16="http://schemas.microsoft.com/office/drawing/2014/main" id="{1D64C8C4-0CE5-9E4A-BA46-13EA0EF0D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Limitation of Accuracy</a:t>
            </a:r>
          </a:p>
        </p:txBody>
      </p:sp>
      <p:sp>
        <p:nvSpPr>
          <p:cNvPr id="965635" name="Rectangle 3">
            <a:extLst>
              <a:ext uri="{FF2B5EF4-FFF2-40B4-BE49-F238E27FC236}">
                <a16:creationId xmlns:a16="http://schemas.microsoft.com/office/drawing/2014/main" id="{401D6C3C-1E00-DB42-BEBC-6B0E324CE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Consider a 2-class problem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Number of Class 0 examples = 9990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Number of Class 1 examples = 10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If model predicts everything to be class 0, accuracy is 9990/10000 = 99.9 %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Accuracy is misleading because model does not detect any class 1 example</a:t>
            </a: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117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58" name="Rectangle 2">
            <a:extLst>
              <a:ext uri="{FF2B5EF4-FFF2-40B4-BE49-F238E27FC236}">
                <a16:creationId xmlns:a16="http://schemas.microsoft.com/office/drawing/2014/main" id="{6A9B5A16-BF76-C94C-BBCC-3678BDA374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Cost Matrix</a:t>
            </a:r>
          </a:p>
        </p:txBody>
      </p:sp>
      <p:graphicFrame>
        <p:nvGraphicFramePr>
          <p:cNvPr id="966659" name="Group 3">
            <a:extLst>
              <a:ext uri="{FF2B5EF4-FFF2-40B4-BE49-F238E27FC236}">
                <a16:creationId xmlns:a16="http://schemas.microsoft.com/office/drawing/2014/main" id="{A58F5C3A-E8E1-3F42-B916-750F2DD35374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1625600"/>
          <a:ext cx="6096000" cy="2794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131914309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7770041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7886939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61545231"/>
                    </a:ext>
                  </a:extLst>
                </a:gridCol>
              </a:tblGrid>
              <a:tr h="6604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      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315599"/>
                  </a:ext>
                </a:extLst>
              </a:tr>
              <a:tr h="685800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endParaRPr kumimoji="0" lang="en-US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ACTUAL</a:t>
                      </a:r>
                      <a:b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C(i|j)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101634"/>
                  </a:ext>
                </a:extLst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C(Yes|Yes)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C(No|Yes)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83083"/>
                  </a:ext>
                </a:extLst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C(Yes|No)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C(No|No)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166480"/>
                  </a:ext>
                </a:extLst>
              </a:tr>
            </a:tbl>
          </a:graphicData>
        </a:graphic>
      </p:graphicFrame>
      <p:sp>
        <p:nvSpPr>
          <p:cNvPr id="966682" name="Rectangle 26">
            <a:extLst>
              <a:ext uri="{FF2B5EF4-FFF2-40B4-BE49-F238E27FC236}">
                <a16:creationId xmlns:a16="http://schemas.microsoft.com/office/drawing/2014/main" id="{76C49C1C-2678-BD43-BFD6-CEB9F0F10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105400"/>
            <a:ext cx="7848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50000"/>
              </a:spcBef>
              <a:defRPr/>
            </a:pPr>
            <a:r>
              <a:rPr lang="en-US" sz="2400">
                <a:latin typeface="Arial" charset="0"/>
                <a:ea typeface="ＭＳ Ｐゴシック" charset="0"/>
              </a:rPr>
              <a:t>C(i|j): Cost of misclassifying class j example as class i</a:t>
            </a:r>
          </a:p>
        </p:txBody>
      </p:sp>
    </p:spTree>
    <p:extLst>
      <p:ext uri="{BB962C8B-B14F-4D97-AF65-F5344CB8AC3E}">
        <p14:creationId xmlns:p14="http://schemas.microsoft.com/office/powerpoint/2010/main" val="216193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1026">
            <a:extLst>
              <a:ext uri="{FF2B5EF4-FFF2-40B4-BE49-F238E27FC236}">
                <a16:creationId xmlns:a16="http://schemas.microsoft.com/office/drawing/2014/main" id="{C0A3B145-2E94-2F4E-B3EF-603108AB7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Computing Cost of Classification</a:t>
            </a:r>
          </a:p>
        </p:txBody>
      </p:sp>
      <p:graphicFrame>
        <p:nvGraphicFramePr>
          <p:cNvPr id="967683" name="Group 1027">
            <a:extLst>
              <a:ext uri="{FF2B5EF4-FFF2-40B4-BE49-F238E27FC236}">
                <a16:creationId xmlns:a16="http://schemas.microsoft.com/office/drawing/2014/main" id="{6DF5E451-3EA1-A645-9698-699CE4438267}"/>
              </a:ext>
            </a:extLst>
          </p:cNvPr>
          <p:cNvGraphicFramePr>
            <a:graphicFrameLocks noGrp="1"/>
          </p:cNvGraphicFramePr>
          <p:nvPr/>
        </p:nvGraphicFramePr>
        <p:xfrm>
          <a:off x="4305300" y="1598605"/>
          <a:ext cx="3581400" cy="183039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9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Cost Matrix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PREDICTED CLASS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52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C(i|j)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5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-1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09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7706" name="Group 1050">
            <a:extLst>
              <a:ext uri="{FF2B5EF4-FFF2-40B4-BE49-F238E27FC236}">
                <a16:creationId xmlns:a16="http://schemas.microsoft.com/office/drawing/2014/main" id="{BD05A177-A4AB-A449-9646-B6EEB020EE6F}"/>
              </a:ext>
            </a:extLst>
          </p:cNvPr>
          <p:cNvGraphicFramePr>
            <a:graphicFrameLocks noGrp="1"/>
          </p:cNvGraphicFramePr>
          <p:nvPr/>
        </p:nvGraphicFramePr>
        <p:xfrm>
          <a:off x="2095500" y="3732206"/>
          <a:ext cx="3581400" cy="176371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5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Model M</a:t>
                      </a:r>
                      <a:r>
                        <a:rPr kumimoji="0" lang="en-US" sz="1700" b="0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4032" marB="440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PREDICTED CLASS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89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b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</a:b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ACTUAL</a:t>
                      </a:r>
                      <a:b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</a:b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</a:t>
                      </a:r>
                    </a:p>
                  </a:txBody>
                  <a:tcPr marT="44032" marB="440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endParaRPr kumimoji="0" lang="it-IT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89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150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40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47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60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250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7729" name="Group 1073">
            <a:extLst>
              <a:ext uri="{FF2B5EF4-FFF2-40B4-BE49-F238E27FC236}">
                <a16:creationId xmlns:a16="http://schemas.microsoft.com/office/drawing/2014/main" id="{DCA9EA58-5030-F14F-B381-26FA8B2FEC92}"/>
              </a:ext>
            </a:extLst>
          </p:cNvPr>
          <p:cNvGraphicFramePr>
            <a:graphicFrameLocks noGrp="1"/>
          </p:cNvGraphicFramePr>
          <p:nvPr/>
        </p:nvGraphicFramePr>
        <p:xfrm>
          <a:off x="6362700" y="3732206"/>
          <a:ext cx="3581400" cy="176371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5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Model M</a:t>
                      </a:r>
                      <a:r>
                        <a:rPr kumimoji="0" lang="en-US" sz="1700" b="0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44032" marB="440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PREDICTED CLASS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89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b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</a:b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ACTUAL</a:t>
                      </a:r>
                      <a:b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</a:b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</a:t>
                      </a:r>
                    </a:p>
                  </a:txBody>
                  <a:tcPr marT="44032" marB="440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endParaRPr kumimoji="0" lang="it-IT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89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250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45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47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</a:t>
                      </a:r>
                    </a:p>
                  </a:txBody>
                  <a:tcPr marT="44032" marB="44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7752" name="Rectangle 1096">
            <a:extLst>
              <a:ext uri="{FF2B5EF4-FFF2-40B4-BE49-F238E27FC236}">
                <a16:creationId xmlns:a16="http://schemas.microsoft.com/office/drawing/2014/main" id="{28200DE7-B4DB-8B44-AF97-4B0A712D8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928" y="5688005"/>
            <a:ext cx="6435372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dirty="0">
                <a:latin typeface="Arial" charset="0"/>
                <a:ea typeface="ＭＳ Ｐゴシック" charset="0"/>
              </a:rPr>
              <a:t>Accuracy = (150+250)/ 500 = 80%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dirty="0">
                <a:latin typeface="Arial" charset="0"/>
                <a:ea typeface="ＭＳ Ｐゴシック" charset="0"/>
              </a:rPr>
              <a:t>Cost = 150*(-1) + 40*100+60+0=3910</a:t>
            </a:r>
          </a:p>
        </p:txBody>
      </p:sp>
      <p:sp>
        <p:nvSpPr>
          <p:cNvPr id="967753" name="Rectangle 1097">
            <a:extLst>
              <a:ext uri="{FF2B5EF4-FFF2-40B4-BE49-F238E27FC236}">
                <a16:creationId xmlns:a16="http://schemas.microsoft.com/office/drawing/2014/main" id="{13B347BC-5DE9-9940-BFA3-5985665A5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299" y="5789605"/>
            <a:ext cx="4449233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sz="1600" dirty="0">
                <a:latin typeface="Arial" charset="0"/>
                <a:ea typeface="ＭＳ Ｐゴシック" charset="0"/>
              </a:rPr>
              <a:t>Accuracy = (250+200)/500 =90%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sz="1600" dirty="0">
                <a:latin typeface="Arial" charset="0"/>
                <a:ea typeface="ＭＳ Ｐゴシック" charset="0"/>
              </a:rPr>
              <a:t>Cost = 4255</a:t>
            </a:r>
          </a:p>
        </p:txBody>
      </p:sp>
      <p:graphicFrame>
        <p:nvGraphicFramePr>
          <p:cNvPr id="9" name="Object 27">
            <a:extLst>
              <a:ext uri="{FF2B5EF4-FFF2-40B4-BE49-F238E27FC236}">
                <a16:creationId xmlns:a16="http://schemas.microsoft.com/office/drawing/2014/main" id="{B0CA1E90-F2DB-C8EA-B438-8CA1E55AA7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384089"/>
              </p:ext>
            </p:extLst>
          </p:nvPr>
        </p:nvGraphicFramePr>
        <p:xfrm>
          <a:off x="8153400" y="2806699"/>
          <a:ext cx="3668890" cy="515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492500" imgH="16675100" progId="Equation.3">
                  <p:embed/>
                </p:oleObj>
              </mc:Choice>
              <mc:Fallback>
                <p:oleObj name="Equation" r:id="rId3" imgW="130492500" imgH="16675100" progId="Equation.3">
                  <p:embed/>
                  <p:pic>
                    <p:nvPicPr>
                      <p:cNvPr id="138266" name="Object 27">
                        <a:extLst>
                          <a:ext uri="{FF2B5EF4-FFF2-40B4-BE49-F238E27FC236}">
                            <a16:creationId xmlns:a16="http://schemas.microsoft.com/office/drawing/2014/main" id="{ED8E55F9-AE1F-984A-8363-4B11EB636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2806699"/>
                        <a:ext cx="3668890" cy="515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031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>
            <a:extLst>
              <a:ext uri="{FF2B5EF4-FFF2-40B4-BE49-F238E27FC236}">
                <a16:creationId xmlns:a16="http://schemas.microsoft.com/office/drawing/2014/main" id="{033EE017-2595-DE4B-A759-DC660F716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cs typeface="+mj-cs"/>
              </a:rPr>
              <a:t>Cost vs Accuracy</a:t>
            </a:r>
          </a:p>
        </p:txBody>
      </p:sp>
      <p:graphicFrame>
        <p:nvGraphicFramePr>
          <p:cNvPr id="968707" name="Group 3">
            <a:extLst>
              <a:ext uri="{FF2B5EF4-FFF2-40B4-BE49-F238E27FC236}">
                <a16:creationId xmlns:a16="http://schemas.microsoft.com/office/drawing/2014/main" id="{1C610CF6-C066-C04F-930D-465F8101CC45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892301" y="1690688"/>
          <a:ext cx="4389437" cy="2243138"/>
        </p:xfrm>
        <a:graphic>
          <a:graphicData uri="http://schemas.openxmlformats.org/drawingml/2006/table">
            <a:tbl>
              <a:tblPr/>
              <a:tblGrid>
                <a:gridCol w="1096962">
                  <a:extLst>
                    <a:ext uri="{9D8B030D-6E8A-4147-A177-3AD203B41FA5}">
                      <a16:colId xmlns:a16="http://schemas.microsoft.com/office/drawing/2014/main" val="246486819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303478942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511606864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1870079565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583739"/>
                  </a:ext>
                </a:extLst>
              </a:tr>
              <a:tr h="565150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endParaRPr kumimoji="0" lang="en-US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ACTUAL</a:t>
                      </a:r>
                      <a:br>
                        <a:rPr kumimoji="0" lang="en-US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it-IT" altLang="it-IT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128737"/>
                  </a:ext>
                </a:extLst>
              </a:tr>
              <a:tr h="565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447839"/>
                  </a:ext>
                </a:extLst>
              </a:tr>
              <a:tr h="6556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496419"/>
                  </a:ext>
                </a:extLst>
              </a:tr>
            </a:tbl>
          </a:graphicData>
        </a:graphic>
      </p:graphicFrame>
      <p:graphicFrame>
        <p:nvGraphicFramePr>
          <p:cNvPr id="968730" name="Group 26">
            <a:extLst>
              <a:ext uri="{FF2B5EF4-FFF2-40B4-BE49-F238E27FC236}">
                <a16:creationId xmlns:a16="http://schemas.microsoft.com/office/drawing/2014/main" id="{A40DB57E-2804-5A47-9B7E-08B71DCAF87A}"/>
              </a:ext>
            </a:extLst>
          </p:cNvPr>
          <p:cNvGraphicFramePr>
            <a:graphicFrameLocks noGrp="1"/>
          </p:cNvGraphicFramePr>
          <p:nvPr/>
        </p:nvGraphicFramePr>
        <p:xfrm>
          <a:off x="1892300" y="4260056"/>
          <a:ext cx="4389438" cy="2243138"/>
        </p:xfrm>
        <a:graphic>
          <a:graphicData uri="http://schemas.openxmlformats.org/drawingml/2006/table">
            <a:tbl>
              <a:tblPr/>
              <a:tblGrid>
                <a:gridCol w="1096963">
                  <a:extLst>
                    <a:ext uri="{9D8B030D-6E8A-4147-A177-3AD203B41FA5}">
                      <a16:colId xmlns:a16="http://schemas.microsoft.com/office/drawing/2014/main" val="1591179724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670881107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428155387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1960432684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Cost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71295"/>
                  </a:ext>
                </a:extLst>
              </a:tr>
              <a:tr h="565150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endParaRPr kumimoji="0" lang="en-US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ACTUAL</a:t>
                      </a:r>
                      <a:br>
                        <a:rPr kumimoji="0" lang="en-US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</a:br>
                      <a:r>
                        <a:rPr kumimoji="0" lang="en-US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it-IT" altLang="it-IT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295015"/>
                  </a:ext>
                </a:extLst>
              </a:tr>
              <a:tr h="565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227280"/>
                  </a:ext>
                </a:extLst>
              </a:tr>
              <a:tr h="6556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085593"/>
                  </a:ext>
                </a:extLst>
              </a:tr>
            </a:tbl>
          </a:graphicData>
        </a:graphic>
      </p:graphicFrame>
      <p:grpSp>
        <p:nvGrpSpPr>
          <p:cNvPr id="968753" name="Group 49">
            <a:extLst>
              <a:ext uri="{FF2B5EF4-FFF2-40B4-BE49-F238E27FC236}">
                <a16:creationId xmlns:a16="http://schemas.microsoft.com/office/drawing/2014/main" id="{39554E2D-59F3-3A48-81E7-3ACD657BBA67}"/>
              </a:ext>
            </a:extLst>
          </p:cNvPr>
          <p:cNvGrpSpPr>
            <a:grpSpLocks/>
          </p:cNvGrpSpPr>
          <p:nvPr/>
        </p:nvGrpSpPr>
        <p:grpSpPr bwMode="auto">
          <a:xfrm>
            <a:off x="6616700" y="1516857"/>
            <a:ext cx="3733800" cy="4964113"/>
            <a:chOff x="3216" y="720"/>
            <a:chExt cx="2352" cy="3127"/>
          </a:xfrm>
        </p:grpSpPr>
        <p:sp>
          <p:nvSpPr>
            <p:cNvPr id="968754" name="Text Box 50">
              <a:extLst>
                <a:ext uri="{FF2B5EF4-FFF2-40B4-BE49-F238E27FC236}">
                  <a16:creationId xmlns:a16="http://schemas.microsoft.com/office/drawing/2014/main" id="{B5D89670-EA4E-CE48-913C-D41B04E07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2256" cy="2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800" b="0"/>
                <a:t>N = a + b + c + d</a:t>
              </a:r>
            </a:p>
            <a:p>
              <a:pPr>
                <a:spcBef>
                  <a:spcPct val="50000"/>
                </a:spcBef>
              </a:pPr>
              <a:endParaRPr lang="en-US" altLang="it-IT" sz="1800" b="0"/>
            </a:p>
            <a:p>
              <a:pPr>
                <a:spcBef>
                  <a:spcPct val="50000"/>
                </a:spcBef>
              </a:pPr>
              <a:r>
                <a:rPr lang="en-US" altLang="it-IT" sz="1800" b="0"/>
                <a:t>Accuracy = (a + d)/N</a:t>
              </a:r>
            </a:p>
            <a:p>
              <a:pPr>
                <a:spcBef>
                  <a:spcPct val="50000"/>
                </a:spcBef>
              </a:pPr>
              <a:endParaRPr lang="en-US" altLang="it-IT" sz="1800" b="0"/>
            </a:p>
            <a:p>
              <a:pPr>
                <a:spcBef>
                  <a:spcPct val="50000"/>
                </a:spcBef>
              </a:pPr>
              <a:r>
                <a:rPr lang="en-US" altLang="it-IT" sz="1800" b="0"/>
                <a:t>Cost = p (a + d) + q (b + c)</a:t>
              </a:r>
            </a:p>
            <a:p>
              <a:pPr>
                <a:spcBef>
                  <a:spcPct val="50000"/>
                </a:spcBef>
              </a:pPr>
              <a:r>
                <a:rPr lang="en-US" altLang="it-IT" sz="1800" b="0"/>
                <a:t>        = p (a + d) + q (N – a – d)</a:t>
              </a:r>
            </a:p>
            <a:p>
              <a:pPr>
                <a:spcBef>
                  <a:spcPct val="50000"/>
                </a:spcBef>
              </a:pPr>
              <a:r>
                <a:rPr lang="en-US" altLang="it-IT" sz="1800" b="0"/>
                <a:t>        = q N – (q – p)(a + d)</a:t>
              </a:r>
            </a:p>
            <a:p>
              <a:pPr>
                <a:spcBef>
                  <a:spcPct val="50000"/>
                </a:spcBef>
              </a:pPr>
              <a:r>
                <a:rPr lang="en-US" altLang="it-IT" sz="1800" b="0"/>
                <a:t>        = N [q – (q-p) </a:t>
              </a:r>
              <a:r>
                <a:rPr lang="en-US" altLang="it-IT" sz="1800" b="0">
                  <a:sym typeface="Symbol" pitchFamily="2" charset="2"/>
                </a:rPr>
                <a:t> </a:t>
              </a:r>
              <a:r>
                <a:rPr lang="en-US" altLang="it-IT" sz="1800" b="0"/>
                <a:t>Accuracy] </a:t>
              </a:r>
            </a:p>
            <a:p>
              <a:pPr>
                <a:spcBef>
                  <a:spcPct val="50000"/>
                </a:spcBef>
              </a:pPr>
              <a:endParaRPr lang="en-US" altLang="it-IT" sz="1800" b="0"/>
            </a:p>
          </p:txBody>
        </p:sp>
        <p:sp>
          <p:nvSpPr>
            <p:cNvPr id="968755" name="Rectangle 51">
              <a:extLst>
                <a:ext uri="{FF2B5EF4-FFF2-40B4-BE49-F238E27FC236}">
                  <a16:creationId xmlns:a16="http://schemas.microsoft.com/office/drawing/2014/main" id="{60450D6F-DE50-5C46-A090-F1C47BF2A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20"/>
              <a:ext cx="2352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>
                  <a:latin typeface="Arial" charset="0"/>
                  <a:ea typeface="ＭＳ Ｐゴシック" charset="0"/>
                </a:rPr>
                <a:t>Accuracy is proportional to cost if</a:t>
              </a:r>
              <a:br>
                <a:rPr lang="en-US">
                  <a:latin typeface="Arial" charset="0"/>
                  <a:ea typeface="ＭＳ Ｐゴシック" charset="0"/>
                </a:rPr>
              </a:br>
              <a:r>
                <a:rPr lang="en-US">
                  <a:latin typeface="Arial" charset="0"/>
                  <a:ea typeface="ＭＳ Ｐゴシック" charset="0"/>
                </a:rPr>
                <a:t>1. C(Yes|No)=C(No|Yes) = q </a:t>
              </a:r>
              <a:br>
                <a:rPr lang="en-US">
                  <a:latin typeface="Arial" charset="0"/>
                  <a:ea typeface="ＭＳ Ｐゴシック" charset="0"/>
                </a:rPr>
              </a:br>
              <a:r>
                <a:rPr lang="en-US">
                  <a:latin typeface="Arial" charset="0"/>
                  <a:ea typeface="ＭＳ Ｐゴシック" charset="0"/>
                </a:rPr>
                <a:t>2. C(Yes|Yes)=C(No|No) = 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427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2">
            <a:extLst>
              <a:ext uri="{FF2B5EF4-FFF2-40B4-BE49-F238E27FC236}">
                <a16:creationId xmlns:a16="http://schemas.microsoft.com/office/drawing/2014/main" id="{93DAD236-BA3F-B74C-BDD8-0CEEE4AF4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Cost-Sensitive Measures</a:t>
            </a:r>
          </a:p>
        </p:txBody>
      </p:sp>
      <p:graphicFrame>
        <p:nvGraphicFramePr>
          <p:cNvPr id="143362" name="Object 3">
            <a:extLst>
              <a:ext uri="{FF2B5EF4-FFF2-40B4-BE49-F238E27FC236}">
                <a16:creationId xmlns:a16="http://schemas.microsoft.com/office/drawing/2014/main" id="{AC8E74DF-DA99-344C-905A-81B8C02A72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3812" y="1447800"/>
          <a:ext cx="4524375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400" imgH="1231900" progId="Equation.3">
                  <p:embed/>
                </p:oleObj>
              </mc:Choice>
              <mc:Fallback>
                <p:oleObj name="Equation" r:id="rId2" imgW="2438400" imgH="1231900" progId="Equation.3">
                  <p:embed/>
                  <p:pic>
                    <p:nvPicPr>
                      <p:cNvPr id="143362" name="Object 3">
                        <a:extLst>
                          <a:ext uri="{FF2B5EF4-FFF2-40B4-BE49-F238E27FC236}">
                            <a16:creationId xmlns:a16="http://schemas.microsoft.com/office/drawing/2014/main" id="{AC8E74DF-DA99-344C-905A-81B8C02A72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812" y="1447800"/>
                        <a:ext cx="4524375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9732" name="Rectangle 4">
            <a:extLst>
              <a:ext uri="{FF2B5EF4-FFF2-40B4-BE49-F238E27FC236}">
                <a16:creationId xmlns:a16="http://schemas.microsoft.com/office/drawing/2014/main" id="{5711B3D8-3394-B24E-906D-939AF9B8D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962400"/>
            <a:ext cx="88392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0"/>
              <a:buChar char="l"/>
              <a:defRPr/>
            </a:pPr>
            <a:r>
              <a:rPr lang="en-US" sz="2400" dirty="0">
                <a:latin typeface="Arial" charset="0"/>
                <a:ea typeface="ＭＳ Ｐゴシック" charset="0"/>
              </a:rPr>
              <a:t>Precision is biased towards C(</a:t>
            </a:r>
            <a:r>
              <a:rPr lang="en-US" sz="2400" dirty="0" err="1">
                <a:latin typeface="Arial" charset="0"/>
                <a:ea typeface="ＭＳ Ｐゴシック" charset="0"/>
              </a:rPr>
              <a:t>Yes|Yes</a:t>
            </a:r>
            <a:r>
              <a:rPr lang="en-US" sz="2400" dirty="0">
                <a:latin typeface="Arial" charset="0"/>
                <a:ea typeface="ＭＳ Ｐゴシック" charset="0"/>
              </a:rPr>
              <a:t>) &amp; C(</a:t>
            </a:r>
            <a:r>
              <a:rPr lang="en-US" sz="2400" dirty="0" err="1">
                <a:latin typeface="Arial" charset="0"/>
                <a:ea typeface="ＭＳ Ｐゴシック" charset="0"/>
              </a:rPr>
              <a:t>Yes|No</a:t>
            </a:r>
            <a:r>
              <a:rPr lang="en-US" sz="2400" dirty="0">
                <a:latin typeface="Arial" charset="0"/>
                <a:ea typeface="ＭＳ Ｐゴシック" charset="0"/>
              </a:rPr>
              <a:t>)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0"/>
              <a:buChar char="l"/>
              <a:defRPr/>
            </a:pPr>
            <a:r>
              <a:rPr lang="en-US" sz="2400" dirty="0">
                <a:latin typeface="Arial" charset="0"/>
                <a:ea typeface="ＭＳ Ｐゴシック" charset="0"/>
              </a:rPr>
              <a:t>Recall is biased towards C(</a:t>
            </a:r>
            <a:r>
              <a:rPr lang="en-US" sz="2400" dirty="0" err="1">
                <a:latin typeface="Arial" charset="0"/>
                <a:ea typeface="ＭＳ Ｐゴシック" charset="0"/>
              </a:rPr>
              <a:t>Yes|Yes</a:t>
            </a:r>
            <a:r>
              <a:rPr lang="en-US" sz="2400" dirty="0">
                <a:latin typeface="Arial" charset="0"/>
                <a:ea typeface="ＭＳ Ｐゴシック" charset="0"/>
              </a:rPr>
              <a:t>) &amp; C(</a:t>
            </a:r>
            <a:r>
              <a:rPr lang="en-US" sz="2400" dirty="0" err="1">
                <a:latin typeface="Arial" charset="0"/>
                <a:ea typeface="ＭＳ Ｐゴシック" charset="0"/>
              </a:rPr>
              <a:t>No|Yes</a:t>
            </a:r>
            <a:r>
              <a:rPr lang="en-US" sz="2400" dirty="0">
                <a:latin typeface="Arial" charset="0"/>
                <a:ea typeface="ＭＳ Ｐゴシック" charset="0"/>
              </a:rPr>
              <a:t>)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0"/>
              <a:buChar char="l"/>
              <a:defRPr/>
            </a:pPr>
            <a:r>
              <a:rPr lang="en-US" sz="2400" dirty="0">
                <a:latin typeface="Arial" charset="0"/>
                <a:ea typeface="ＭＳ Ｐゴシック" charset="0"/>
              </a:rPr>
              <a:t>F-measure is biased towards all except C(</a:t>
            </a:r>
            <a:r>
              <a:rPr lang="en-US" sz="2400" dirty="0" err="1">
                <a:latin typeface="Arial" charset="0"/>
                <a:ea typeface="ＭＳ Ｐゴシック" charset="0"/>
              </a:rPr>
              <a:t>No|No</a:t>
            </a:r>
            <a:r>
              <a:rPr lang="en-US" sz="2400" dirty="0">
                <a:latin typeface="Arial" charset="0"/>
                <a:ea typeface="ＭＳ Ｐゴシック" charset="0"/>
              </a:rPr>
              <a:t>)</a:t>
            </a:r>
          </a:p>
        </p:txBody>
      </p:sp>
      <p:graphicFrame>
        <p:nvGraphicFramePr>
          <p:cNvPr id="143364" name="Object 5">
            <a:extLst>
              <a:ext uri="{FF2B5EF4-FFF2-40B4-BE49-F238E27FC236}">
                <a16:creationId xmlns:a16="http://schemas.microsoft.com/office/drawing/2014/main" id="{32C4E49B-8DC1-0747-B25E-D9EDB54632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5410200"/>
          <a:ext cx="6019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412000" imgH="18427700" progId="Equation.3">
                  <p:embed/>
                </p:oleObj>
              </mc:Choice>
              <mc:Fallback>
                <p:oleObj name="Equation" r:id="rId4" imgW="121412000" imgH="18427700" progId="Equation.3">
                  <p:embed/>
                  <p:pic>
                    <p:nvPicPr>
                      <p:cNvPr id="143364" name="Object 5">
                        <a:extLst>
                          <a:ext uri="{FF2B5EF4-FFF2-40B4-BE49-F238E27FC236}">
                            <a16:creationId xmlns:a16="http://schemas.microsoft.com/office/drawing/2014/main" id="{32C4E49B-8DC1-0747-B25E-D9EDB54632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410200"/>
                        <a:ext cx="6019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9535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D03DAD76-A3FF-A956-0745-60BAFFFF93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altLang="it-IT">
                <a:ea typeface="ＭＳ Ｐゴシック" panose="020B0600070205080204" pitchFamily="34" charset="-128"/>
              </a:rPr>
            </a:br>
            <a:r>
              <a:rPr lang="en-US" altLang="it-IT">
                <a:ea typeface="ＭＳ Ｐゴシック" panose="020B0600070205080204" pitchFamily="34" charset="-128"/>
              </a:rPr>
              <a:t>Fraud detection and audit planning </a:t>
            </a:r>
          </a:p>
        </p:txBody>
      </p:sp>
      <p:sp>
        <p:nvSpPr>
          <p:cNvPr id="34818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FB75C0E8-6B35-01E2-E5C1-153A8F2B1A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it-IT">
                <a:ea typeface="ＭＳ Ｐゴシック" panose="020B0600070205080204" pitchFamily="34" charset="-128"/>
              </a:rPr>
              <a:t>Source: Ministero delle Finanze</a:t>
            </a:r>
          </a:p>
          <a:p>
            <a:pPr>
              <a:buFont typeface="Wingdings" pitchFamily="2" charset="2"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Progetto Sogei, KDD Lab. Pisa</a:t>
            </a:r>
          </a:p>
          <a:p>
            <a:pPr>
              <a:buFont typeface="Wingdings" pitchFamily="2" charset="2"/>
              <a:buNone/>
            </a:pPr>
            <a:endParaRPr lang="en-US" altLang="it-IT" sz="2000">
              <a:ea typeface="ＭＳ Ｐゴシック" panose="020B0600070205080204" pitchFamily="34" charset="-128"/>
            </a:endParaRPr>
          </a:p>
        </p:txBody>
      </p:sp>
      <p:sp>
        <p:nvSpPr>
          <p:cNvPr id="34819" name="Footer Placeholder 1">
            <a:extLst>
              <a:ext uri="{FF2B5EF4-FFF2-40B4-BE49-F238E27FC236}">
                <a16:creationId xmlns:a16="http://schemas.microsoft.com/office/drawing/2014/main" id="{8F166947-828B-5ABC-2253-653C6259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4">
            <a:extLst>
              <a:ext uri="{FF2B5EF4-FFF2-40B4-BE49-F238E27FC236}">
                <a16:creationId xmlns:a16="http://schemas.microsoft.com/office/drawing/2014/main" id="{DA9F6EF7-AAE3-55FC-78EF-6A18ED6E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35842" name="Rectangle 2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2FD3AEB5-F648-CC9D-429F-014FA4AAF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915400" cy="4572000"/>
          </a:xfrm>
        </p:spPr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A major task in fraud detection is  constructing </a:t>
            </a:r>
            <a:r>
              <a:rPr lang="en-US" altLang="it-IT" i="1">
                <a:ea typeface="ＭＳ Ｐゴシック" panose="020B0600070205080204" pitchFamily="34" charset="-128"/>
              </a:rPr>
              <a:t>models  </a:t>
            </a:r>
            <a:r>
              <a:rPr lang="en-US" altLang="it-IT">
                <a:ea typeface="ＭＳ Ｐゴシック" panose="020B0600070205080204" pitchFamily="34" charset="-128"/>
              </a:rPr>
              <a:t>of fraudulent behavior, for: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preventing future frauds (</a:t>
            </a:r>
            <a:r>
              <a:rPr lang="en-US" altLang="it-IT" i="1">
                <a:ea typeface="ＭＳ Ｐゴシック" panose="020B0600070205080204" pitchFamily="34" charset="-128"/>
              </a:rPr>
              <a:t>on-line</a:t>
            </a:r>
            <a:r>
              <a:rPr lang="en-US" altLang="it-IT">
                <a:ea typeface="ＭＳ Ｐゴシック" panose="020B0600070205080204" pitchFamily="34" charset="-128"/>
              </a:rPr>
              <a:t> fraud detection)</a:t>
            </a:r>
          </a:p>
          <a:p>
            <a:pPr lvl="1" algn="just">
              <a:spcAft>
                <a:spcPts val="400"/>
              </a:spcAft>
            </a:pPr>
            <a:r>
              <a:rPr lang="en-US" altLang="it-IT">
                <a:solidFill>
                  <a:schemeClr val="accent1"/>
                </a:solidFill>
                <a:ea typeface="ＭＳ Ｐゴシック" panose="020B0600070205080204" pitchFamily="34" charset="-128"/>
              </a:rPr>
              <a:t>discovering past frauds</a:t>
            </a:r>
            <a:r>
              <a:rPr lang="en-US" altLang="it-IT">
                <a:ea typeface="ＭＳ Ｐゴシック" panose="020B0600070205080204" pitchFamily="34" charset="-128"/>
              </a:rPr>
              <a:t> (</a:t>
            </a:r>
            <a:r>
              <a:rPr lang="en-US" altLang="it-IT" i="1">
                <a:ea typeface="ＭＳ Ｐゴシック" panose="020B0600070205080204" pitchFamily="34" charset="-128"/>
              </a:rPr>
              <a:t>a posteriori</a:t>
            </a:r>
            <a:r>
              <a:rPr lang="en-US" altLang="it-IT">
                <a:ea typeface="ＭＳ Ｐゴシック" panose="020B0600070205080204" pitchFamily="34" charset="-128"/>
              </a:rPr>
              <a:t> fraud detection)</a:t>
            </a:r>
          </a:p>
          <a:p>
            <a:pPr algn="just">
              <a:spcAft>
                <a:spcPts val="400"/>
              </a:spcAft>
            </a:pPr>
            <a:r>
              <a:rPr lang="en-US" altLang="it-IT">
                <a:solidFill>
                  <a:schemeClr val="accent1"/>
                </a:solidFill>
                <a:ea typeface="ＭＳ Ｐゴシック" panose="020B0600070205080204" pitchFamily="34" charset="-128"/>
              </a:rPr>
              <a:t>analyze historical audit data to plan effective future audits</a:t>
            </a:r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D3A6B3D-414D-0C03-71BB-19C56D89C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Fraud detection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4">
            <a:extLst>
              <a:ext uri="{FF2B5EF4-FFF2-40B4-BE49-F238E27FC236}">
                <a16:creationId xmlns:a16="http://schemas.microsoft.com/office/drawing/2014/main" id="{E3245261-F765-AA3D-DB0D-14D4D5A1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8D10EAA6-EB0C-DC9F-9E5A-C4DB38BEA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Audit planning</a:t>
            </a:r>
          </a:p>
        </p:txBody>
      </p:sp>
      <p:sp>
        <p:nvSpPr>
          <p:cNvPr id="36867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7DDCC31C-BBF5-C09A-76E8-DCA73EC14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0" y="1828800"/>
            <a:ext cx="7848600" cy="3543300"/>
          </a:xfrm>
        </p:spPr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Need to face a trade-off between conflicting issues:</a:t>
            </a:r>
          </a:p>
          <a:p>
            <a:pPr lvl="1"/>
            <a:r>
              <a:rPr lang="en-US" altLang="it-IT" i="1">
                <a:solidFill>
                  <a:schemeClr val="accent1"/>
                </a:solidFill>
                <a:ea typeface="ＭＳ Ｐゴシック" panose="020B0600070205080204" pitchFamily="34" charset="-128"/>
              </a:rPr>
              <a:t>maximize audit benefits</a:t>
            </a:r>
            <a:r>
              <a:rPr lang="en-US" altLang="it-IT">
                <a:ea typeface="ＭＳ Ｐゴシック" panose="020B0600070205080204" pitchFamily="34" charset="-128"/>
              </a:rPr>
              <a:t>: select subjects to be audited to maximize the recovery of evaded tax</a:t>
            </a:r>
          </a:p>
          <a:p>
            <a:pPr lvl="1"/>
            <a:r>
              <a:rPr lang="en-US" altLang="it-IT" i="1">
                <a:solidFill>
                  <a:schemeClr val="accent1"/>
                </a:solidFill>
                <a:ea typeface="ＭＳ Ｐゴシック" panose="020B0600070205080204" pitchFamily="34" charset="-128"/>
              </a:rPr>
              <a:t>minimize audit costs</a:t>
            </a:r>
            <a:r>
              <a:rPr lang="en-US" altLang="it-IT">
                <a:ea typeface="ＭＳ Ｐゴシック" panose="020B0600070205080204" pitchFamily="34" charset="-128"/>
              </a:rPr>
              <a:t>: select subjects to be audited to minimize the resources needed to carry out the audits. </a:t>
            </a:r>
          </a:p>
          <a:p>
            <a:pPr lvl="1"/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4">
            <a:extLst>
              <a:ext uri="{FF2B5EF4-FFF2-40B4-BE49-F238E27FC236}">
                <a16:creationId xmlns:a16="http://schemas.microsoft.com/office/drawing/2014/main" id="{95A83809-BB49-132A-9F48-632D8F89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94A0C0E7-D9CA-C887-D4F4-18585C2FC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Available data sources</a:t>
            </a:r>
          </a:p>
        </p:txBody>
      </p:sp>
      <p:sp>
        <p:nvSpPr>
          <p:cNvPr id="37891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F812861A-0BAD-FB2F-31DB-6C92D26588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752600"/>
            <a:ext cx="8178800" cy="4114800"/>
          </a:xfrm>
        </p:spPr>
        <p:txBody>
          <a:bodyPr/>
          <a:lstStyle/>
          <a:p>
            <a:pPr algn="just">
              <a:spcAft>
                <a:spcPts val="400"/>
              </a:spcAft>
            </a:pPr>
            <a:r>
              <a:rPr lang="en-US" altLang="it-IT" sz="2400">
                <a:ea typeface="ＭＳ Ｐゴシック" panose="020B0600070205080204" pitchFamily="34" charset="-128"/>
              </a:rPr>
              <a:t>Dataset: </a:t>
            </a: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tax declarations</a:t>
            </a:r>
            <a:r>
              <a:rPr lang="en-US" altLang="it-IT" sz="2400">
                <a:ea typeface="ＭＳ Ｐゴシック" panose="020B0600070205080204" pitchFamily="34" charset="-128"/>
              </a:rPr>
              <a:t>, concerning a targeted class of Italian </a:t>
            </a: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companies</a:t>
            </a:r>
            <a:r>
              <a:rPr lang="en-US" altLang="it-IT" sz="2400">
                <a:ea typeface="ＭＳ Ｐゴシック" panose="020B0600070205080204" pitchFamily="34" charset="-128"/>
              </a:rPr>
              <a:t>, integrated with other sources:</a:t>
            </a:r>
          </a:p>
          <a:p>
            <a:pPr lvl="1" algn="just">
              <a:spcAft>
                <a:spcPts val="400"/>
              </a:spcAft>
            </a:pPr>
            <a:r>
              <a:rPr lang="en-US" altLang="it-IT" sz="2000">
                <a:ea typeface="ＭＳ Ｐゴシック" panose="020B0600070205080204" pitchFamily="34" charset="-128"/>
              </a:rPr>
              <a:t>social benefits to employees, official budget documents, electricity and telephone bills. </a:t>
            </a:r>
          </a:p>
          <a:p>
            <a:pPr algn="just">
              <a:spcAft>
                <a:spcPts val="400"/>
              </a:spcAft>
            </a:pPr>
            <a:r>
              <a:rPr lang="en-US" altLang="it-IT" sz="2400">
                <a:ea typeface="ＭＳ Ｐゴシック" panose="020B0600070205080204" pitchFamily="34" charset="-128"/>
              </a:rPr>
              <a:t>Size: </a:t>
            </a: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80 K</a:t>
            </a:r>
            <a:r>
              <a:rPr lang="en-US" altLang="it-IT" sz="2400">
                <a:ea typeface="ＭＳ Ｐゴシック" panose="020B0600070205080204" pitchFamily="34" charset="-128"/>
              </a:rPr>
              <a:t> tuples, 175 numeric attributes. </a:t>
            </a:r>
          </a:p>
          <a:p>
            <a:pPr algn="just">
              <a:spcAft>
                <a:spcPts val="400"/>
              </a:spcAft>
            </a:pPr>
            <a:r>
              <a:rPr lang="en-US" altLang="it-IT" sz="2400">
                <a:ea typeface="ＭＳ Ｐゴシック" panose="020B0600070205080204" pitchFamily="34" charset="-128"/>
              </a:rPr>
              <a:t>A subset of </a:t>
            </a: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4 K</a:t>
            </a:r>
            <a:r>
              <a:rPr lang="en-US" altLang="it-IT" sz="2400">
                <a:ea typeface="ＭＳ Ｐゴシック" panose="020B0600070205080204" pitchFamily="34" charset="-128"/>
              </a:rPr>
              <a:t> tuples corresponds to the </a:t>
            </a:r>
            <a:r>
              <a:rPr lang="en-US" altLang="it-IT" sz="2400" i="1">
                <a:solidFill>
                  <a:schemeClr val="accent1"/>
                </a:solidFill>
                <a:ea typeface="ＭＳ Ｐゴシック" panose="020B0600070205080204" pitchFamily="34" charset="-128"/>
              </a:rPr>
              <a:t>audited</a:t>
            </a:r>
            <a:r>
              <a:rPr lang="en-US" altLang="it-IT" sz="2400">
                <a:ea typeface="ＭＳ Ｐゴシック" panose="020B0600070205080204" pitchFamily="34" charset="-128"/>
              </a:rPr>
              <a:t> companies: </a:t>
            </a:r>
          </a:p>
          <a:p>
            <a:pPr lvl="1" algn="just">
              <a:spcAft>
                <a:spcPts val="400"/>
              </a:spcAft>
            </a:pPr>
            <a:r>
              <a:rPr lang="en-US" altLang="it-IT" sz="2000">
                <a:ea typeface="ＭＳ Ｐゴシック" panose="020B0600070205080204" pitchFamily="34" charset="-128"/>
              </a:rPr>
              <a:t>outcome of audits recorded as the </a:t>
            </a:r>
            <a:r>
              <a:rPr lang="en-US" altLang="it-IT" sz="2000" i="1">
                <a:solidFill>
                  <a:schemeClr val="accent1"/>
                </a:solidFill>
                <a:ea typeface="ＭＳ Ｐゴシック" panose="020B0600070205080204" pitchFamily="34" charset="-128"/>
              </a:rPr>
              <a:t>recovery</a:t>
            </a:r>
            <a:r>
              <a:rPr lang="en-US" altLang="it-IT" sz="2000">
                <a:solidFill>
                  <a:schemeClr val="accent1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it-IT" sz="2000">
                <a:ea typeface="ＭＳ Ｐゴシック" panose="020B0600070205080204" pitchFamily="34" charset="-128"/>
              </a:rPr>
              <a:t>attribute (=</a:t>
            </a:r>
            <a:r>
              <a:rPr lang="en-US" altLang="it-IT" sz="2000">
                <a:solidFill>
                  <a:schemeClr val="accent1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it-IT" sz="2000" i="1">
                <a:solidFill>
                  <a:schemeClr val="accent1"/>
                </a:solidFill>
                <a:ea typeface="ＭＳ Ｐゴシック" panose="020B0600070205080204" pitchFamily="34" charset="-128"/>
              </a:rPr>
              <a:t>amount of evaded tax ascertained</a:t>
            </a:r>
            <a:r>
              <a:rPr lang="en-US" altLang="it-IT" sz="2000" i="1">
                <a:ea typeface="ＭＳ Ｐゴシック" panose="020B0600070205080204" pitchFamily="34" charset="-128"/>
              </a:rPr>
              <a:t> </a:t>
            </a:r>
            <a:r>
              <a:rPr lang="en-US" altLang="it-IT" sz="2000">
                <a:ea typeface="ＭＳ Ｐゴシック" panose="020B0600070205080204" pitchFamily="34" charset="-128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4">
            <a:extLst>
              <a:ext uri="{FF2B5EF4-FFF2-40B4-BE49-F238E27FC236}">
                <a16:creationId xmlns:a16="http://schemas.microsoft.com/office/drawing/2014/main" id="{53307495-E97C-3089-5D6D-5572B4A9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D7E00E9-ABF3-95AF-38F3-828679DCA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Data preparation			</a:t>
            </a:r>
          </a:p>
        </p:txBody>
      </p:sp>
      <p:graphicFrame>
        <p:nvGraphicFramePr>
          <p:cNvPr id="38915" name="Object 3">
            <a:extLst>
              <a:ext uri="{FF2B5EF4-FFF2-40B4-BE49-F238E27FC236}">
                <a16:creationId xmlns:a16="http://schemas.microsoft.com/office/drawing/2014/main" id="{E6AAFAEF-76DE-436B-503D-49FE74B4D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6538" y="369888"/>
          <a:ext cx="2906712" cy="648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060700" imgH="6858000" progId="Word.Document.8">
                  <p:embed/>
                </p:oleObj>
              </mc:Choice>
              <mc:Fallback>
                <p:oleObj name="Document" r:id="rId2" imgW="3060700" imgH="6858000" progId="Word.Document.8">
                  <p:embed/>
                  <p:pic>
                    <p:nvPicPr>
                      <p:cNvPr id="38915" name="Object 3">
                        <a:extLst>
                          <a:ext uri="{FF2B5EF4-FFF2-40B4-BE49-F238E27FC236}">
                            <a16:creationId xmlns:a16="http://schemas.microsoft.com/office/drawing/2014/main" id="{E6AAFAEF-76DE-436B-503D-49FE74B4D3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6538" y="369888"/>
                        <a:ext cx="2906712" cy="648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6" name="Group 4">
            <a:extLst>
              <a:ext uri="{FF2B5EF4-FFF2-40B4-BE49-F238E27FC236}">
                <a16:creationId xmlns:a16="http://schemas.microsoft.com/office/drawing/2014/main" id="{2F49CE56-C2CE-B071-6DEE-D3C3D09565CD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371601"/>
            <a:ext cx="2362200" cy="2246313"/>
            <a:chOff x="1872" y="1824"/>
            <a:chExt cx="1488" cy="1415"/>
          </a:xfrm>
        </p:grpSpPr>
        <p:sp>
          <p:nvSpPr>
            <p:cNvPr id="425989" name="Oval 5">
              <a:extLst>
                <a:ext uri="{FF2B5EF4-FFF2-40B4-BE49-F238E27FC236}">
                  <a16:creationId xmlns:a16="http://schemas.microsoft.com/office/drawing/2014/main" id="{4ECE846E-0311-64E4-CA11-E15C04A07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510"/>
              <a:ext cx="1477" cy="729"/>
            </a:xfrm>
            <a:prstGeom prst="ellipse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5990" name="Oval 6">
              <a:extLst>
                <a:ext uri="{FF2B5EF4-FFF2-40B4-BE49-F238E27FC236}">
                  <a16:creationId xmlns:a16="http://schemas.microsoft.com/office/drawing/2014/main" id="{8EC3D765-3FA3-0F5E-E54D-BB4ABB285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3" y="2176"/>
              <a:ext cx="1477" cy="728"/>
            </a:xfrm>
            <a:prstGeom prst="ellipse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5991" name="Oval 7">
              <a:extLst>
                <a:ext uri="{FF2B5EF4-FFF2-40B4-BE49-F238E27FC236}">
                  <a16:creationId xmlns:a16="http://schemas.microsoft.com/office/drawing/2014/main" id="{32629010-3AF1-1930-7926-987A0743A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24"/>
              <a:ext cx="1477" cy="729"/>
            </a:xfrm>
            <a:prstGeom prst="ellipse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r>
                <a:rPr lang="it-IT" b="1">
                  <a:latin typeface="Comic Sans MS" charset="0"/>
                  <a:ea typeface="ＭＳ Ｐゴシック" charset="0"/>
                  <a:cs typeface="ＭＳ Ｐゴシック" charset="0"/>
                </a:rPr>
                <a:t>original</a:t>
              </a:r>
            </a:p>
            <a:p>
              <a:pPr>
                <a:defRPr/>
              </a:pPr>
              <a:r>
                <a:rPr lang="it-IT" b="1">
                  <a:latin typeface="Comic Sans MS" charset="0"/>
                  <a:ea typeface="ＭＳ Ｐゴシック" charset="0"/>
                  <a:cs typeface="ＭＳ Ｐゴシック" charset="0"/>
                </a:rPr>
                <a:t>dataset</a:t>
              </a:r>
            </a:p>
            <a:p>
              <a:pPr>
                <a:defRPr/>
              </a:pPr>
              <a:r>
                <a:rPr lang="it-IT" b="1">
                  <a:latin typeface="Comic Sans MS" charset="0"/>
                  <a:ea typeface="ＭＳ Ｐゴシック" charset="0"/>
                  <a:cs typeface="ＭＳ Ｐゴシック" charset="0"/>
                </a:rPr>
                <a:t>81 K</a:t>
              </a:r>
              <a:endParaRPr lang="it-IT" sz="1600"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38917" name="Group 8">
            <a:extLst>
              <a:ext uri="{FF2B5EF4-FFF2-40B4-BE49-F238E27FC236}">
                <a16:creationId xmlns:a16="http://schemas.microsoft.com/office/drawing/2014/main" id="{94A92557-1619-3188-14A5-7BB3BE05B585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4953000"/>
            <a:ext cx="1549400" cy="958850"/>
            <a:chOff x="4176" y="2304"/>
            <a:chExt cx="976" cy="604"/>
          </a:xfrm>
        </p:grpSpPr>
        <p:sp>
          <p:nvSpPr>
            <p:cNvPr id="425993" name="Oval 9">
              <a:extLst>
                <a:ext uri="{FF2B5EF4-FFF2-40B4-BE49-F238E27FC236}">
                  <a16:creationId xmlns:a16="http://schemas.microsoft.com/office/drawing/2014/main" id="{94408199-C549-4D46-3617-D9E0F0EF0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3" y="2501"/>
              <a:ext cx="969" cy="407"/>
            </a:xfrm>
            <a:prstGeom prst="ellipse">
              <a:avLst/>
            </a:prstGeom>
            <a:solidFill>
              <a:srgbClr val="99CC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5994" name="Oval 10">
              <a:extLst>
                <a:ext uri="{FF2B5EF4-FFF2-40B4-BE49-F238E27FC236}">
                  <a16:creationId xmlns:a16="http://schemas.microsoft.com/office/drawing/2014/main" id="{7A705107-C204-125D-62C3-C598D7353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304"/>
              <a:ext cx="969" cy="407"/>
            </a:xfrm>
            <a:prstGeom prst="ellipse">
              <a:avLst/>
            </a:prstGeom>
            <a:solidFill>
              <a:srgbClr val="99CC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r>
                <a:rPr lang="it-IT" b="1">
                  <a:latin typeface="Comic Sans MS" charset="0"/>
                  <a:ea typeface="ＭＳ Ｐゴシック" charset="0"/>
                  <a:cs typeface="ＭＳ Ｐゴシック" charset="0"/>
                </a:rPr>
                <a:t>audit</a:t>
              </a:r>
            </a:p>
            <a:p>
              <a:pPr>
                <a:defRPr/>
              </a:pPr>
              <a:r>
                <a:rPr lang="it-IT" b="1">
                  <a:latin typeface="Comic Sans MS" charset="0"/>
                  <a:ea typeface="ＭＳ Ｐゴシック" charset="0"/>
                  <a:cs typeface="ＭＳ Ｐゴシック" charset="0"/>
                </a:rPr>
                <a:t>outcomes</a:t>
              </a:r>
            </a:p>
            <a:p>
              <a:pPr>
                <a:defRPr/>
              </a:pPr>
              <a:r>
                <a:rPr lang="it-IT" b="1">
                  <a:latin typeface="Comic Sans MS" charset="0"/>
                  <a:ea typeface="ＭＳ Ｐゴシック" charset="0"/>
                  <a:cs typeface="ＭＳ Ｐゴシック" charset="0"/>
                </a:rPr>
                <a:t>4 K</a:t>
              </a:r>
              <a:endParaRPr lang="it-IT" sz="1600" b="1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25995" name="Rectangle 11">
            <a:extLst>
              <a:ext uri="{FF2B5EF4-FFF2-40B4-BE49-F238E27FC236}">
                <a16:creationId xmlns:a16="http://schemas.microsoft.com/office/drawing/2014/main" id="{7155C338-0D25-5E27-271E-99348B784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6" y="3295396"/>
            <a:ext cx="2399695" cy="972061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8112" tIns="69850" rIns="138112" bIns="69850" anchor="ctr">
            <a:spAutoFit/>
          </a:bodyPr>
          <a:lstStyle/>
          <a:p>
            <a:pPr defTabSz="2057400">
              <a:defRPr/>
            </a:pPr>
            <a:r>
              <a:rPr lang="it-IT" b="1">
                <a:solidFill>
                  <a:srgbClr val="41414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data consolidation</a:t>
            </a:r>
          </a:p>
          <a:p>
            <a:pPr defTabSz="2057400">
              <a:defRPr/>
            </a:pPr>
            <a:r>
              <a:rPr lang="it-IT" b="1">
                <a:solidFill>
                  <a:srgbClr val="41414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data cleaning</a:t>
            </a:r>
          </a:p>
          <a:p>
            <a:pPr defTabSz="2057400">
              <a:defRPr/>
            </a:pPr>
            <a:r>
              <a:rPr lang="it-IT" b="1">
                <a:solidFill>
                  <a:srgbClr val="41414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attribute selection</a:t>
            </a:r>
            <a:endParaRPr lang="it-IT" sz="2700">
              <a:solidFill>
                <a:srgbClr val="414141"/>
              </a:solidFill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25996" name="Line 12">
            <a:extLst>
              <a:ext uri="{FF2B5EF4-FFF2-40B4-BE49-F238E27FC236}">
                <a16:creationId xmlns:a16="http://schemas.microsoft.com/office/drawing/2014/main" id="{E4450513-96B6-EB9C-E525-64C0858E9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87032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25997" name="Line 13">
            <a:extLst>
              <a:ext uri="{FF2B5EF4-FFF2-40B4-BE49-F238E27FC236}">
                <a16:creationId xmlns:a16="http://schemas.microsoft.com/office/drawing/2014/main" id="{AA779353-ADAF-C5BC-02F8-55571AB593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641725"/>
            <a:ext cx="990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25998" name="Line 14">
            <a:extLst>
              <a:ext uri="{FF2B5EF4-FFF2-40B4-BE49-F238E27FC236}">
                <a16:creationId xmlns:a16="http://schemas.microsoft.com/office/drawing/2014/main" id="{68F3007E-FA11-C384-0516-5DE2325D44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098925"/>
            <a:ext cx="91440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4">
            <a:extLst>
              <a:ext uri="{FF2B5EF4-FFF2-40B4-BE49-F238E27FC236}">
                <a16:creationId xmlns:a16="http://schemas.microsoft.com/office/drawing/2014/main" id="{1B08C504-C18B-0730-9FF5-D7785F9D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6B9BDD64-8671-389B-2CC5-D6E92C2B2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Cost model</a:t>
            </a:r>
          </a:p>
        </p:txBody>
      </p:sp>
      <p:sp>
        <p:nvSpPr>
          <p:cNvPr id="39939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2CAA10B9-155D-F82B-6B58-DFAEDE20A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295400"/>
            <a:ext cx="8178800" cy="4229100"/>
          </a:xfrm>
        </p:spPr>
        <p:txBody>
          <a:bodyPr/>
          <a:lstStyle/>
          <a:p>
            <a:r>
              <a:rPr lang="en-US" altLang="it-IT">
                <a:solidFill>
                  <a:schemeClr val="tx2"/>
                </a:solidFill>
                <a:ea typeface="ＭＳ Ｐゴシック" panose="020B0600070205080204" pitchFamily="34" charset="-128"/>
              </a:rPr>
              <a:t>A derived attribute </a:t>
            </a:r>
            <a:r>
              <a:rPr lang="en-US" altLang="it-IT">
                <a:solidFill>
                  <a:schemeClr val="accent1"/>
                </a:solidFill>
                <a:ea typeface="ＭＳ Ｐゴシック" panose="020B0600070205080204" pitchFamily="34" charset="-128"/>
              </a:rPr>
              <a:t>audit_cost</a:t>
            </a:r>
            <a:r>
              <a:rPr lang="en-US" altLang="it-IT">
                <a:solidFill>
                  <a:schemeClr val="tx2"/>
                </a:solidFill>
                <a:ea typeface="ＭＳ Ｐゴシック" panose="020B0600070205080204" pitchFamily="34" charset="-128"/>
              </a:rPr>
              <a:t> is defined as a function of other attributes</a:t>
            </a:r>
          </a:p>
        </p:txBody>
      </p:sp>
      <p:grpSp>
        <p:nvGrpSpPr>
          <p:cNvPr id="39940" name="Group 4">
            <a:extLst>
              <a:ext uri="{FF2B5EF4-FFF2-40B4-BE49-F238E27FC236}">
                <a16:creationId xmlns:a16="http://schemas.microsoft.com/office/drawing/2014/main" id="{938F04DB-6AC2-269C-BCE5-9DEAD6C39C3B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2362200"/>
            <a:ext cx="5054600" cy="4135438"/>
            <a:chOff x="2304" y="1715"/>
            <a:chExt cx="3184" cy="2605"/>
          </a:xfrm>
        </p:grpSpPr>
        <p:graphicFrame>
          <p:nvGraphicFramePr>
            <p:cNvPr id="39941" name="Object 5">
              <a:extLst>
                <a:ext uri="{FF2B5EF4-FFF2-40B4-BE49-F238E27FC236}">
                  <a16:creationId xmlns:a16="http://schemas.microsoft.com/office/drawing/2014/main" id="{6F77ABCC-71CD-3B4C-1F46-8EE6FFC9BB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1715"/>
            <a:ext cx="1298" cy="2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22644100" imgH="45377100" progId="Word.Document.8">
                    <p:embed/>
                  </p:oleObj>
                </mc:Choice>
                <mc:Fallback>
                  <p:oleObj name="Document" r:id="rId2" imgW="22644100" imgH="45377100" progId="Word.Document.8">
                    <p:embed/>
                    <p:pic>
                      <p:nvPicPr>
                        <p:cNvPr id="39941" name="Object 5">
                          <a:extLst>
                            <a:ext uri="{FF2B5EF4-FFF2-40B4-BE49-F238E27FC236}">
                              <a16:creationId xmlns:a16="http://schemas.microsoft.com/office/drawing/2014/main" id="{6F77ABCC-71CD-3B4C-1F46-8EE6FFC9BB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715"/>
                          <a:ext cx="1298" cy="2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7014" name="Line 6">
              <a:extLst>
                <a:ext uri="{FF2B5EF4-FFF2-40B4-BE49-F238E27FC236}">
                  <a16:creationId xmlns:a16="http://schemas.microsoft.com/office/drawing/2014/main" id="{3CED6035-8390-17FB-DADC-14587FE50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64"/>
              <a:ext cx="48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7015" name="Line 7">
              <a:extLst>
                <a:ext uri="{FF2B5EF4-FFF2-40B4-BE49-F238E27FC236}">
                  <a16:creationId xmlns:a16="http://schemas.microsoft.com/office/drawing/2014/main" id="{1AF2B7DF-5DE4-9012-2CCB-7002ED026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592"/>
              <a:ext cx="48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7016" name="Line 8">
              <a:extLst>
                <a:ext uri="{FF2B5EF4-FFF2-40B4-BE49-F238E27FC236}">
                  <a16:creationId xmlns:a16="http://schemas.microsoft.com/office/drawing/2014/main" id="{2413AD0E-ECA4-F85B-BB88-80D0DA0CF1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2736"/>
              <a:ext cx="384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7017" name="Line 9">
              <a:extLst>
                <a:ext uri="{FF2B5EF4-FFF2-40B4-BE49-F238E27FC236}">
                  <a16:creationId xmlns:a16="http://schemas.microsoft.com/office/drawing/2014/main" id="{A500583B-5B18-A899-EDEC-57D0E5E7E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2784"/>
              <a:ext cx="480" cy="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7018" name="Oval 10">
              <a:extLst>
                <a:ext uri="{FF2B5EF4-FFF2-40B4-BE49-F238E27FC236}">
                  <a16:creationId xmlns:a16="http://schemas.microsoft.com/office/drawing/2014/main" id="{DB838DB5-A7A1-BCC4-3D88-51F173B6C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544"/>
              <a:ext cx="576" cy="480"/>
            </a:xfrm>
            <a:prstGeom prst="ellipse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3600" i="1">
                  <a:solidFill>
                    <a:schemeClr val="tx2"/>
                  </a:solidFill>
                  <a:latin typeface="Tahoma" charset="0"/>
                  <a:ea typeface="ＭＳ Ｐゴシック" charset="0"/>
                  <a:cs typeface="ＭＳ Ｐゴシック" charset="0"/>
                </a:rPr>
                <a:t>  f  </a:t>
              </a:r>
              <a:endParaRPr lang="en-US">
                <a:solidFill>
                  <a:schemeClr val="tx2"/>
                </a:solidFill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7019" name="Line 11">
              <a:extLst>
                <a:ext uri="{FF2B5EF4-FFF2-40B4-BE49-F238E27FC236}">
                  <a16:creationId xmlns:a16="http://schemas.microsoft.com/office/drawing/2014/main" id="{52C97D85-18C2-937F-3EE9-4F260F895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78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7020" name="Rectangle 12">
              <a:extLst>
                <a:ext uri="{FF2B5EF4-FFF2-40B4-BE49-F238E27FC236}">
                  <a16:creationId xmlns:a16="http://schemas.microsoft.com/office/drawing/2014/main" id="{B547E4D3-4414-CAF6-733B-760BFF50C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2668"/>
              <a:ext cx="873" cy="2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00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accent1"/>
                  </a:solidFill>
                  <a:latin typeface="Comic Sans MS" charset="0"/>
                  <a:ea typeface="ＭＳ Ｐゴシック" charset="0"/>
                  <a:cs typeface="ＭＳ Ｐゴシック" charset="0"/>
                </a:rPr>
                <a:t>audit_cost</a:t>
              </a:r>
              <a:endParaRPr lang="en-US">
                <a:solidFill>
                  <a:schemeClr val="tx2"/>
                </a:solidFill>
                <a:latin typeface="Tahoma" charset="0"/>
                <a:ea typeface="ＭＳ Ｐゴシック" charset="0"/>
                <a:cs typeface="ＭＳ Ｐゴシック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4">
            <a:extLst>
              <a:ext uri="{FF2B5EF4-FFF2-40B4-BE49-F238E27FC236}">
                <a16:creationId xmlns:a16="http://schemas.microsoft.com/office/drawing/2014/main" id="{0B9AF652-929C-F640-AA1C-970DB360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7AE96421-866C-3E92-F05C-607072934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Cost model and the target variable</a:t>
            </a:r>
          </a:p>
        </p:txBody>
      </p:sp>
      <p:sp>
        <p:nvSpPr>
          <p:cNvPr id="40963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AE6788E4-50E2-8740-86C3-623C58A3E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it-IT" sz="2400">
                <a:solidFill>
                  <a:schemeClr val="tx2"/>
                </a:solidFill>
                <a:ea typeface="ＭＳ Ｐゴシック" panose="020B0600070205080204" pitchFamily="34" charset="-128"/>
              </a:rPr>
              <a:t>recovery of an audit after the audit cost </a:t>
            </a: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actual_recovery </a:t>
            </a:r>
            <a:r>
              <a:rPr lang="en-US" altLang="it-IT" sz="2400">
                <a:ea typeface="ＭＳ Ｐゴシック" panose="020B0600070205080204" pitchFamily="34" charset="-128"/>
              </a:rPr>
              <a:t>=</a:t>
            </a: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 recovery </a:t>
            </a:r>
            <a:r>
              <a:rPr lang="en-US" altLang="it-IT" sz="2400">
                <a:ea typeface="ＭＳ Ｐゴシック" panose="020B0600070205080204" pitchFamily="34" charset="-128"/>
              </a:rPr>
              <a:t>-</a:t>
            </a: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 audit_cost</a:t>
            </a:r>
            <a:endParaRPr lang="en-US" altLang="it-IT" sz="2400">
              <a:solidFill>
                <a:schemeClr val="tx2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en-US" altLang="it-IT" sz="2400">
              <a:solidFill>
                <a:schemeClr val="tx2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en-US" altLang="it-IT" sz="2400">
                <a:solidFill>
                  <a:schemeClr val="tx2"/>
                </a:solidFill>
                <a:ea typeface="ＭＳ Ｐゴシック" panose="020B0600070205080204" pitchFamily="34" charset="-128"/>
              </a:rPr>
              <a:t>target variable (class label) of our analysis is set as the </a:t>
            </a: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Class of Actual Recovery</a:t>
            </a:r>
            <a:r>
              <a:rPr lang="en-US" altLang="it-IT" sz="240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it-IT" sz="2400">
                <a:ea typeface="ＭＳ Ｐゴシック" panose="020B0600070205080204" pitchFamily="34" charset="-128"/>
              </a:rPr>
              <a:t>(</a:t>
            </a: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c.a.r.</a:t>
            </a:r>
            <a:r>
              <a:rPr lang="en-US" altLang="it-IT" sz="2400">
                <a:ea typeface="ＭＳ Ｐゴシック" panose="020B0600070205080204" pitchFamily="34" charset="-128"/>
              </a:rPr>
              <a:t>):</a:t>
            </a:r>
          </a:p>
          <a:p>
            <a:pPr lvl="2">
              <a:lnSpc>
                <a:spcPct val="48000"/>
              </a:lnSpc>
              <a:spcAft>
                <a:spcPts val="400"/>
              </a:spcAft>
            </a:pPr>
            <a:endParaRPr lang="en-US" altLang="it-IT" i="1">
              <a:ea typeface="ＭＳ Ｐゴシック" panose="020B0600070205080204" pitchFamily="34" charset="-128"/>
            </a:endParaRPr>
          </a:p>
          <a:p>
            <a:pPr lvl="2">
              <a:lnSpc>
                <a:spcPct val="48000"/>
              </a:lnSpc>
              <a:spcAft>
                <a:spcPts val="400"/>
              </a:spcAft>
              <a:buNone/>
            </a:pPr>
            <a:r>
              <a:rPr lang="en-US" altLang="it-IT" i="1">
                <a:ea typeface="ＭＳ Ｐゴシック" panose="020B0600070205080204" pitchFamily="34" charset="-128"/>
              </a:rPr>
              <a:t>		negative 	</a:t>
            </a:r>
            <a:r>
              <a:rPr lang="en-US" altLang="it-IT" b="1" i="1">
                <a:ea typeface="ＭＳ Ｐゴシック" panose="020B0600070205080204" pitchFamily="34" charset="-128"/>
              </a:rPr>
              <a:t>if</a:t>
            </a:r>
            <a:r>
              <a:rPr lang="en-US" altLang="it-IT" i="1">
                <a:ea typeface="ＭＳ Ｐゴシック" panose="020B0600070205080204" pitchFamily="34" charset="-128"/>
              </a:rPr>
              <a:t>   </a:t>
            </a:r>
            <a:r>
              <a:rPr lang="en-US" altLang="it-IT" i="1">
                <a:solidFill>
                  <a:schemeClr val="accent1"/>
                </a:solidFill>
                <a:ea typeface="ＭＳ Ｐゴシック" panose="020B0600070205080204" pitchFamily="34" charset="-128"/>
              </a:rPr>
              <a:t>actual_recovery</a:t>
            </a:r>
            <a:r>
              <a:rPr lang="en-US" altLang="it-IT" i="1">
                <a:ea typeface="ＭＳ Ｐゴシック" panose="020B0600070205080204" pitchFamily="34" charset="-128"/>
              </a:rPr>
              <a:t> </a:t>
            </a:r>
            <a:r>
              <a:rPr lang="en-US" altLang="it-IT">
                <a:ea typeface="ＭＳ Ｐゴシック" panose="020B0600070205080204" pitchFamily="34" charset="-128"/>
                <a:sym typeface="Symbol" pitchFamily="2" charset="2"/>
              </a:rPr>
              <a:t></a:t>
            </a:r>
            <a:r>
              <a:rPr lang="en-US" altLang="it-IT" i="1">
                <a:ea typeface="ＭＳ Ｐゴシック" panose="020B0600070205080204" pitchFamily="34" charset="-128"/>
              </a:rPr>
              <a:t> 0 </a:t>
            </a:r>
            <a:endParaRPr lang="en-US" altLang="it-IT" sz="1800" i="1">
              <a:ea typeface="ＭＳ Ｐゴシック" panose="020B0600070205080204" pitchFamily="34" charset="-128"/>
            </a:endParaRPr>
          </a:p>
          <a:p>
            <a:pPr>
              <a:lnSpc>
                <a:spcPct val="48000"/>
              </a:lnSpc>
              <a:spcAft>
                <a:spcPts val="400"/>
              </a:spcAft>
            </a:pPr>
            <a:r>
              <a:rPr lang="en-US" altLang="it-IT" sz="2400" i="1">
                <a:solidFill>
                  <a:schemeClr val="accent1"/>
                </a:solidFill>
                <a:ea typeface="ＭＳ Ｐゴシック" panose="020B0600070205080204" pitchFamily="34" charset="-128"/>
              </a:rPr>
              <a:t>c.a.r.</a:t>
            </a:r>
            <a:r>
              <a:rPr lang="en-US" altLang="it-IT" sz="2400" i="1">
                <a:ea typeface="ＭＳ Ｐゴシック" panose="020B0600070205080204" pitchFamily="34" charset="-128"/>
              </a:rPr>
              <a:t> =</a:t>
            </a:r>
            <a:r>
              <a:rPr lang="en-US" altLang="it-IT" sz="2400">
                <a:ea typeface="ＭＳ Ｐゴシック" panose="020B0600070205080204" pitchFamily="34" charset="-128"/>
              </a:rPr>
              <a:t>	</a:t>
            </a:r>
            <a:r>
              <a:rPr lang="en-US" altLang="it-IT" sz="2400" i="1">
                <a:ea typeface="ＭＳ Ｐゴシック" panose="020B0600070205080204" pitchFamily="34" charset="-128"/>
              </a:rPr>
              <a:t>	</a:t>
            </a:r>
            <a:endParaRPr lang="en-US" altLang="it-IT" i="1">
              <a:ea typeface="ＭＳ Ｐゴシック" panose="020B0600070205080204" pitchFamily="34" charset="-128"/>
            </a:endParaRPr>
          </a:p>
          <a:p>
            <a:pPr lvl="2">
              <a:lnSpc>
                <a:spcPct val="48000"/>
              </a:lnSpc>
              <a:spcAft>
                <a:spcPts val="400"/>
              </a:spcAft>
              <a:buNone/>
            </a:pPr>
            <a:r>
              <a:rPr lang="en-US" altLang="it-IT" i="1">
                <a:ea typeface="ＭＳ Ｐゴシック" panose="020B0600070205080204" pitchFamily="34" charset="-128"/>
              </a:rPr>
              <a:t>		positive	</a:t>
            </a:r>
            <a:r>
              <a:rPr lang="en-US" altLang="it-IT" b="1" i="1">
                <a:ea typeface="ＭＳ Ｐゴシック" panose="020B0600070205080204" pitchFamily="34" charset="-128"/>
              </a:rPr>
              <a:t>if  </a:t>
            </a:r>
            <a:r>
              <a:rPr lang="en-US" altLang="it-IT" i="1">
                <a:solidFill>
                  <a:schemeClr val="accent1"/>
                </a:solidFill>
                <a:ea typeface="ＭＳ Ｐゴシック" panose="020B0600070205080204" pitchFamily="34" charset="-128"/>
              </a:rPr>
              <a:t>actual_recovery</a:t>
            </a:r>
            <a:r>
              <a:rPr lang="en-US" altLang="it-IT" i="1">
                <a:ea typeface="ＭＳ Ｐゴシック" panose="020B0600070205080204" pitchFamily="34" charset="-128"/>
              </a:rPr>
              <a:t> &gt; 0.</a:t>
            </a:r>
            <a:endParaRPr lang="en-US" altLang="it-IT"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Monotype Sorts" pitchFamily="2" charset="2"/>
              <a:buNone/>
            </a:pPr>
            <a:endParaRPr lang="en-US" altLang="it-IT" sz="240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4">
            <a:extLst>
              <a:ext uri="{FF2B5EF4-FFF2-40B4-BE49-F238E27FC236}">
                <a16:creationId xmlns:a16="http://schemas.microsoft.com/office/drawing/2014/main" id="{272113D2-C0B4-B985-D8A3-822528DA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73462B6-27DD-B91D-9EBF-EB4D74F11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Quality assessment indicators</a:t>
            </a:r>
          </a:p>
        </p:txBody>
      </p:sp>
      <p:sp>
        <p:nvSpPr>
          <p:cNvPr id="41987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98710128-DC32-BA45-86A1-F046C6B79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The obtained classifiers are evaluated according to several </a:t>
            </a:r>
            <a:r>
              <a:rPr lang="en-US" altLang="it-IT">
                <a:solidFill>
                  <a:schemeClr val="accent1"/>
                </a:solidFill>
                <a:ea typeface="ＭＳ Ｐゴシック" panose="020B0600070205080204" pitchFamily="34" charset="-128"/>
              </a:rPr>
              <a:t>indicators</a:t>
            </a:r>
            <a:r>
              <a:rPr lang="en-US" altLang="it-IT">
                <a:ea typeface="ＭＳ Ｐゴシック" panose="020B0600070205080204" pitchFamily="34" charset="-128"/>
              </a:rPr>
              <a:t>, or metrics</a:t>
            </a:r>
          </a:p>
          <a:p>
            <a:pPr>
              <a:lnSpc>
                <a:spcPct val="90000"/>
              </a:lnSpc>
            </a:pPr>
            <a:r>
              <a:rPr lang="en-US" altLang="it-IT">
                <a:solidFill>
                  <a:schemeClr val="accent1"/>
                </a:solidFill>
                <a:ea typeface="ＭＳ Ｐゴシック" panose="020B0600070205080204" pitchFamily="34" charset="-128"/>
              </a:rPr>
              <a:t>Domain-independent</a:t>
            </a:r>
            <a:r>
              <a:rPr lang="en-US" altLang="it-IT">
                <a:ea typeface="ＭＳ Ｐゴシック" panose="020B0600070205080204" pitchFamily="34" charset="-128"/>
              </a:rPr>
              <a:t> indicators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confusion matrix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misclassification rate</a:t>
            </a:r>
          </a:p>
          <a:p>
            <a:pPr>
              <a:lnSpc>
                <a:spcPct val="90000"/>
              </a:lnSpc>
            </a:pPr>
            <a:r>
              <a:rPr lang="en-US" altLang="it-IT">
                <a:solidFill>
                  <a:schemeClr val="accent1"/>
                </a:solidFill>
                <a:ea typeface="ＭＳ Ｐゴシック" panose="020B0600070205080204" pitchFamily="34" charset="-128"/>
              </a:rPr>
              <a:t>Domain-dependent</a:t>
            </a:r>
            <a:r>
              <a:rPr lang="en-US" altLang="it-IT">
                <a:ea typeface="ＭＳ Ｐゴシック" panose="020B0600070205080204" pitchFamily="34" charset="-128"/>
              </a:rPr>
              <a:t> indicators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audit #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actual recovery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profitability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relevance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4">
            <a:extLst>
              <a:ext uri="{FF2B5EF4-FFF2-40B4-BE49-F238E27FC236}">
                <a16:creationId xmlns:a16="http://schemas.microsoft.com/office/drawing/2014/main" id="{B32AD296-CDA5-3C12-6C52-2C15D0B0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27651E65-93E6-690E-7C85-602A9C957D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Domain-dependent quality indicators</a:t>
            </a:r>
          </a:p>
        </p:txBody>
      </p:sp>
      <p:sp>
        <p:nvSpPr>
          <p:cNvPr id="43011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AD94F6B4-D44D-EC3A-1851-D4C639DBB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447800"/>
            <a:ext cx="8178800" cy="914400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audit #</a:t>
            </a:r>
            <a:r>
              <a:rPr lang="en-US" altLang="it-IT" sz="2400">
                <a:ea typeface="ＭＳ Ｐゴシック" panose="020B0600070205080204" pitchFamily="34" charset="-128"/>
              </a:rPr>
              <a:t> (of a given classifier): number of tuples classified as positive =</a:t>
            </a:r>
            <a:br>
              <a:rPr lang="en-US" altLang="it-IT" sz="2400">
                <a:ea typeface="ＭＳ Ｐゴシック" panose="020B0600070205080204" pitchFamily="34" charset="-128"/>
              </a:rPr>
            </a:br>
            <a:r>
              <a:rPr lang="en-US" altLang="it-IT" sz="2400">
                <a:ea typeface="ＭＳ Ｐゴシック" panose="020B0600070205080204" pitchFamily="34" charset="-128"/>
              </a:rPr>
              <a:t>		# (</a:t>
            </a:r>
            <a:r>
              <a:rPr lang="en-US" altLang="it-IT" sz="2400">
                <a:solidFill>
                  <a:srgbClr val="CC00FF"/>
                </a:solidFill>
                <a:ea typeface="ＭＳ Ｐゴシック" panose="020B0600070205080204" pitchFamily="34" charset="-128"/>
              </a:rPr>
              <a:t>FP</a:t>
            </a:r>
            <a:r>
              <a:rPr lang="en-US" altLang="it-IT" sz="2400">
                <a:ea typeface="ＭＳ Ｐゴシック" panose="020B0600070205080204" pitchFamily="34" charset="-128"/>
              </a:rPr>
              <a:t> </a:t>
            </a:r>
            <a:r>
              <a:rPr lang="en-US" altLang="it-IT" sz="2400">
                <a:ea typeface="ＭＳ Ｐゴシック" panose="020B0600070205080204" pitchFamily="34" charset="-128"/>
                <a:sym typeface="Symbol" pitchFamily="2" charset="2"/>
              </a:rPr>
              <a:t> </a:t>
            </a:r>
            <a:r>
              <a:rPr lang="en-US" altLang="it-IT" sz="2400">
                <a:solidFill>
                  <a:srgbClr val="0000FF"/>
                </a:solidFill>
                <a:ea typeface="ＭＳ Ｐゴシック" panose="020B0600070205080204" pitchFamily="34" charset="-128"/>
              </a:rPr>
              <a:t>TP</a:t>
            </a:r>
            <a:r>
              <a:rPr lang="en-US" altLang="it-IT" sz="2400">
                <a:ea typeface="ＭＳ Ｐゴシック" panose="020B0600070205080204" pitchFamily="34" charset="-128"/>
              </a:rPr>
              <a:t>) </a:t>
            </a:r>
          </a:p>
          <a:p>
            <a:pPr>
              <a:lnSpc>
                <a:spcPct val="90000"/>
              </a:lnSpc>
            </a:pP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actual recovery</a:t>
            </a:r>
            <a:r>
              <a:rPr lang="en-US" altLang="it-IT" sz="2400">
                <a:ea typeface="ＭＳ Ｐゴシック" panose="020B0600070205080204" pitchFamily="34" charset="-128"/>
              </a:rPr>
              <a:t>: total amount of actual recovery for all tuples classified as positive</a:t>
            </a:r>
          </a:p>
          <a:p>
            <a:pPr>
              <a:lnSpc>
                <a:spcPct val="90000"/>
              </a:lnSpc>
            </a:pP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profitability</a:t>
            </a:r>
            <a:r>
              <a:rPr lang="en-US" altLang="it-IT" sz="2400">
                <a:ea typeface="ＭＳ Ｐゴシック" panose="020B0600070205080204" pitchFamily="34" charset="-128"/>
              </a:rPr>
              <a:t>: average actual recovery per audit</a:t>
            </a:r>
          </a:p>
          <a:p>
            <a:pPr>
              <a:lnSpc>
                <a:spcPct val="90000"/>
              </a:lnSpc>
            </a:pPr>
            <a:r>
              <a:rPr lang="en-US" altLang="it-IT" sz="2400">
                <a:solidFill>
                  <a:schemeClr val="accent1"/>
                </a:solidFill>
                <a:ea typeface="ＭＳ Ｐゴシック" panose="020B0600070205080204" pitchFamily="34" charset="-128"/>
              </a:rPr>
              <a:t>relevance</a:t>
            </a:r>
            <a:r>
              <a:rPr lang="en-US" altLang="it-IT" sz="2400">
                <a:ea typeface="ＭＳ Ｐゴシック" panose="020B0600070205080204" pitchFamily="34" charset="-128"/>
              </a:rPr>
              <a:t>: ratio between profitability and misclassification rate</a:t>
            </a:r>
          </a:p>
          <a:p>
            <a:pPr>
              <a:lnSpc>
                <a:spcPct val="90000"/>
              </a:lnSpc>
            </a:pPr>
            <a:endParaRPr lang="en-US" altLang="it-IT" sz="240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altLang="it-IT" sz="240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altLang="it-IT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oter Placeholder 4">
            <a:extLst>
              <a:ext uri="{FF2B5EF4-FFF2-40B4-BE49-F238E27FC236}">
                <a16:creationId xmlns:a16="http://schemas.microsoft.com/office/drawing/2014/main" id="{46097CDB-9BD3-AA8E-F0A5-DCB7EA102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CDFBB18E-D201-64CF-43FE-833D981125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The REAL case</a:t>
            </a:r>
          </a:p>
        </p:txBody>
      </p:sp>
      <p:sp>
        <p:nvSpPr>
          <p:cNvPr id="44035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EE215460-C88A-D84D-392D-96F26F867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Classifiers can be compared with the REAL case, consisting of the whole test-set:</a:t>
            </a:r>
          </a:p>
          <a:p>
            <a:endParaRPr lang="en-US" altLang="it-IT">
              <a:ea typeface="ＭＳ Ｐゴシック" panose="020B0600070205080204" pitchFamily="34" charset="-128"/>
            </a:endParaRPr>
          </a:p>
          <a:p>
            <a:r>
              <a:rPr lang="en-US" altLang="it-IT">
                <a:ea typeface="ＭＳ Ｐゴシック" panose="020B0600070205080204" pitchFamily="34" charset="-128"/>
              </a:rPr>
              <a:t>audit # (REAL) = 366</a:t>
            </a:r>
          </a:p>
          <a:p>
            <a:r>
              <a:rPr lang="en-US" altLang="it-IT">
                <a:ea typeface="ＭＳ Ｐゴシック" panose="020B0600070205080204" pitchFamily="34" charset="-128"/>
              </a:rPr>
              <a:t>actual recovery(REAL) = 159.6 M euro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4">
            <a:extLst>
              <a:ext uri="{FF2B5EF4-FFF2-40B4-BE49-F238E27FC236}">
                <a16:creationId xmlns:a16="http://schemas.microsoft.com/office/drawing/2014/main" id="{A5368986-F6B7-7228-9CCD-89E08C02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4123284-68DE-C33D-600D-DFE3280BD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Model evaluation: classifier 1 (min </a:t>
            </a:r>
            <a:r>
              <a:rPr lang="en-US" altLang="it-IT">
                <a:solidFill>
                  <a:srgbClr val="CC00FF"/>
                </a:solidFill>
                <a:ea typeface="ＭＳ Ｐゴシック" panose="020B0600070205080204" pitchFamily="34" charset="-128"/>
              </a:rPr>
              <a:t>FP</a:t>
            </a:r>
            <a:r>
              <a:rPr lang="en-US" altLang="it-IT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45059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A54F5B47-2A89-1BA6-5FDA-87D221C5A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5400" y="1447800"/>
            <a:ext cx="9372600" cy="1905000"/>
          </a:xfrm>
        </p:spPr>
        <p:txBody>
          <a:bodyPr>
            <a:normAutofit fontScale="62500" lnSpcReduction="20000"/>
          </a:bodyPr>
          <a:lstStyle/>
          <a:p>
            <a:pPr lvl="1">
              <a:lnSpc>
                <a:spcPct val="90000"/>
              </a:lnSpc>
            </a:pPr>
            <a:r>
              <a:rPr lang="en-US" altLang="it-IT" sz="2000">
                <a:ea typeface="ＭＳ Ｐゴシック" panose="020B0600070205080204" pitchFamily="34" charset="-128"/>
              </a:rPr>
              <a:t>no replication in training-set (unbalance towards negative)</a:t>
            </a:r>
          </a:p>
          <a:p>
            <a:pPr lvl="1">
              <a:lnSpc>
                <a:spcPct val="90000"/>
              </a:lnSpc>
            </a:pPr>
            <a:r>
              <a:rPr lang="en-US" altLang="it-IT" sz="2000">
                <a:ea typeface="ＭＳ Ｐゴシック" panose="020B0600070205080204" pitchFamily="34" charset="-128"/>
              </a:rPr>
              <a:t>10-trees adaptive boosting</a:t>
            </a:r>
          </a:p>
          <a:p>
            <a:pPr lvl="1">
              <a:lnSpc>
                <a:spcPct val="90000"/>
              </a:lnSpc>
            </a:pPr>
            <a:endParaRPr lang="en-US" altLang="it-IT" sz="200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US" altLang="it-IT" sz="200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US" altLang="it-IT" sz="200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it-IT" sz="2000" i="1">
                <a:ea typeface="ＭＳ Ｐゴシック" panose="020B0600070205080204" pitchFamily="34" charset="-128"/>
              </a:rPr>
              <a:t>misc. rate</a:t>
            </a:r>
            <a:r>
              <a:rPr lang="en-US" altLang="it-IT" sz="2000">
                <a:ea typeface="ＭＳ Ｐゴシック" panose="020B0600070205080204" pitchFamily="34" charset="-128"/>
              </a:rPr>
              <a:t> = 22%</a:t>
            </a:r>
          </a:p>
          <a:p>
            <a:pPr lvl="1">
              <a:lnSpc>
                <a:spcPct val="90000"/>
              </a:lnSpc>
            </a:pPr>
            <a:r>
              <a:rPr lang="en-US" altLang="it-IT" sz="2000" i="1">
                <a:ea typeface="ＭＳ Ｐゴシック" panose="020B0600070205080204" pitchFamily="34" charset="-128"/>
              </a:rPr>
              <a:t>audit # </a:t>
            </a:r>
            <a:r>
              <a:rPr lang="en-US" altLang="it-IT" sz="2000">
                <a:ea typeface="ＭＳ Ｐゴシック" panose="020B0600070205080204" pitchFamily="34" charset="-128"/>
              </a:rPr>
              <a:t>= 59 (11 </a:t>
            </a:r>
            <a:r>
              <a:rPr lang="en-US" altLang="it-IT" sz="2000">
                <a:solidFill>
                  <a:srgbClr val="CC00FF"/>
                </a:solidFill>
                <a:ea typeface="ＭＳ Ｐゴシック" panose="020B0600070205080204" pitchFamily="34" charset="-128"/>
              </a:rPr>
              <a:t>FP</a:t>
            </a:r>
            <a:r>
              <a:rPr lang="en-US" altLang="it-IT" sz="2000">
                <a:ea typeface="ＭＳ Ｐゴシック" panose="020B0600070205080204" pitchFamily="34" charset="-128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it-IT" sz="2000" i="1">
                <a:ea typeface="ＭＳ Ｐゴシック" panose="020B0600070205080204" pitchFamily="34" charset="-128"/>
              </a:rPr>
              <a:t>actual rec.</a:t>
            </a:r>
            <a:r>
              <a:rPr lang="en-US" altLang="it-IT" sz="2000">
                <a:ea typeface="ＭＳ Ｐゴシック" panose="020B0600070205080204" pitchFamily="34" charset="-128"/>
              </a:rPr>
              <a:t>= 141.7 Meuro</a:t>
            </a:r>
          </a:p>
          <a:p>
            <a:pPr lvl="1">
              <a:lnSpc>
                <a:spcPct val="90000"/>
              </a:lnSpc>
            </a:pPr>
            <a:r>
              <a:rPr lang="en-US" altLang="it-IT" sz="2000" i="1">
                <a:ea typeface="ＭＳ Ｐゴシック" panose="020B0600070205080204" pitchFamily="34" charset="-128"/>
              </a:rPr>
              <a:t>profitability</a:t>
            </a:r>
            <a:r>
              <a:rPr lang="en-US" altLang="it-IT" sz="2000">
                <a:ea typeface="ＭＳ Ｐゴシック" panose="020B0600070205080204" pitchFamily="34" charset="-128"/>
              </a:rPr>
              <a:t> = 2.401</a:t>
            </a:r>
          </a:p>
          <a:p>
            <a:pPr>
              <a:lnSpc>
                <a:spcPct val="90000"/>
              </a:lnSpc>
            </a:pPr>
            <a:endParaRPr lang="en-US" altLang="it-IT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45060" name="Object 4">
            <a:extLst>
              <a:ext uri="{FF2B5EF4-FFF2-40B4-BE49-F238E27FC236}">
                <a16:creationId xmlns:a16="http://schemas.microsoft.com/office/drawing/2014/main" id="{37E91412-F434-D03A-4DEA-6102243710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9275" y="2476500"/>
          <a:ext cx="5037138" cy="437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864100" imgH="4229100" progId="MSGraph.Chart.8">
                  <p:embed followColorScheme="full"/>
                </p:oleObj>
              </mc:Choice>
              <mc:Fallback>
                <p:oleObj name="Chart" r:id="rId2" imgW="4864100" imgH="4229100" progId="MSGraph.Chart.8">
                  <p:embed followColorScheme="full"/>
                  <p:pic>
                    <p:nvPicPr>
                      <p:cNvPr id="45060" name="Object 4">
                        <a:extLst>
                          <a:ext uri="{FF2B5EF4-FFF2-40B4-BE49-F238E27FC236}">
                            <a16:creationId xmlns:a16="http://schemas.microsoft.com/office/drawing/2014/main" id="{37E91412-F434-D03A-4DEA-6102243710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2476500"/>
                        <a:ext cx="5037138" cy="437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Footer Placeholder 4">
            <a:extLst>
              <a:ext uri="{FF2B5EF4-FFF2-40B4-BE49-F238E27FC236}">
                <a16:creationId xmlns:a16="http://schemas.microsoft.com/office/drawing/2014/main" id="{282AE28D-E8B9-AB63-EA1C-2306424B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400"/>
              <a:t>Master MAINS 2016</a:t>
            </a: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A0F7A563-3F8E-9A62-3196-CE96CEF16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Model evaluation: classifier 2 (min </a:t>
            </a:r>
            <a:r>
              <a:rPr lang="en-US" altLang="it-IT">
                <a:solidFill>
                  <a:srgbClr val="CC00FF"/>
                </a:solidFill>
                <a:ea typeface="ＭＳ Ｐゴシック" panose="020B0600070205080204" pitchFamily="34" charset="-128"/>
              </a:rPr>
              <a:t>FN</a:t>
            </a:r>
            <a:r>
              <a:rPr lang="en-US" altLang="it-IT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46083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8353479D-EE15-0219-8135-4D44B21C5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5400" y="1447800"/>
            <a:ext cx="9372600" cy="1905000"/>
          </a:xfrm>
        </p:spPr>
        <p:txBody>
          <a:bodyPr>
            <a:normAutofit fontScale="55000" lnSpcReduction="20000"/>
          </a:bodyPr>
          <a:lstStyle/>
          <a:p>
            <a:pPr lvl="1">
              <a:lnSpc>
                <a:spcPct val="90000"/>
              </a:lnSpc>
            </a:pPr>
            <a:r>
              <a:rPr lang="en-US" altLang="it-IT" sz="2000">
                <a:ea typeface="ＭＳ Ｐゴシック" panose="020B0600070205080204" pitchFamily="34" charset="-128"/>
              </a:rPr>
              <a:t>replication in training-set (balanced neg/pos)</a:t>
            </a:r>
          </a:p>
          <a:p>
            <a:pPr lvl="1">
              <a:lnSpc>
                <a:spcPct val="90000"/>
              </a:lnSpc>
            </a:pPr>
            <a:r>
              <a:rPr lang="en-US" altLang="it-IT" sz="2000">
                <a:ea typeface="ＭＳ Ｐゴシック" panose="020B0600070205080204" pitchFamily="34" charset="-128"/>
              </a:rPr>
              <a:t>misc. weights (trade 3 FP for 1 FN)</a:t>
            </a:r>
          </a:p>
          <a:p>
            <a:pPr lvl="1">
              <a:lnSpc>
                <a:spcPct val="90000"/>
              </a:lnSpc>
            </a:pPr>
            <a:r>
              <a:rPr lang="en-US" altLang="it-IT" sz="2000">
                <a:ea typeface="ＭＳ Ｐゴシック" panose="020B0600070205080204" pitchFamily="34" charset="-128"/>
              </a:rPr>
              <a:t>3-trees adaptive boosting</a:t>
            </a:r>
          </a:p>
          <a:p>
            <a:pPr lvl="1">
              <a:lnSpc>
                <a:spcPct val="90000"/>
              </a:lnSpc>
            </a:pPr>
            <a:endParaRPr lang="en-US" altLang="it-IT" sz="200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US" altLang="it-IT" sz="200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US" altLang="it-IT" sz="200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it-IT" sz="2000" i="1">
                <a:ea typeface="ＭＳ Ｐゴシック" panose="020B0600070205080204" pitchFamily="34" charset="-128"/>
              </a:rPr>
              <a:t>misc. rate</a:t>
            </a:r>
            <a:r>
              <a:rPr lang="en-US" altLang="it-IT" sz="2000">
                <a:ea typeface="ＭＳ Ｐゴシック" panose="020B0600070205080204" pitchFamily="34" charset="-128"/>
              </a:rPr>
              <a:t> = 34%</a:t>
            </a:r>
          </a:p>
          <a:p>
            <a:pPr lvl="1">
              <a:lnSpc>
                <a:spcPct val="90000"/>
              </a:lnSpc>
            </a:pPr>
            <a:r>
              <a:rPr lang="en-US" altLang="it-IT" sz="2000" i="1">
                <a:ea typeface="ＭＳ Ｐゴシック" panose="020B0600070205080204" pitchFamily="34" charset="-128"/>
              </a:rPr>
              <a:t>audit # </a:t>
            </a:r>
            <a:r>
              <a:rPr lang="en-US" altLang="it-IT" sz="2000">
                <a:ea typeface="ＭＳ Ｐゴシック" panose="020B0600070205080204" pitchFamily="34" charset="-128"/>
              </a:rPr>
              <a:t>= 188 (98 </a:t>
            </a:r>
            <a:r>
              <a:rPr lang="en-US" altLang="it-IT" sz="2000">
                <a:solidFill>
                  <a:srgbClr val="CC00FF"/>
                </a:solidFill>
                <a:ea typeface="ＭＳ Ｐゴシック" panose="020B0600070205080204" pitchFamily="34" charset="-128"/>
              </a:rPr>
              <a:t>FP</a:t>
            </a:r>
            <a:r>
              <a:rPr lang="en-US" altLang="it-IT" sz="2000">
                <a:ea typeface="ＭＳ Ｐゴシック" panose="020B0600070205080204" pitchFamily="34" charset="-128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it-IT" sz="2000" i="1">
                <a:ea typeface="ＭＳ Ｐゴシック" panose="020B0600070205080204" pitchFamily="34" charset="-128"/>
              </a:rPr>
              <a:t>actual rec.</a:t>
            </a:r>
            <a:r>
              <a:rPr lang="en-US" altLang="it-IT" sz="2000">
                <a:ea typeface="ＭＳ Ｐゴシック" panose="020B0600070205080204" pitchFamily="34" charset="-128"/>
              </a:rPr>
              <a:t>= 165.2 Meuro</a:t>
            </a:r>
          </a:p>
          <a:p>
            <a:pPr lvl="1">
              <a:lnSpc>
                <a:spcPct val="90000"/>
              </a:lnSpc>
            </a:pPr>
            <a:r>
              <a:rPr lang="en-US" altLang="it-IT" sz="2000" i="1">
                <a:ea typeface="ＭＳ Ｐゴシック" panose="020B0600070205080204" pitchFamily="34" charset="-128"/>
              </a:rPr>
              <a:t>profitability</a:t>
            </a:r>
            <a:r>
              <a:rPr lang="en-US" altLang="it-IT" sz="2000">
                <a:ea typeface="ＭＳ Ｐゴシック" panose="020B0600070205080204" pitchFamily="34" charset="-128"/>
              </a:rPr>
              <a:t> = 0.878</a:t>
            </a:r>
          </a:p>
          <a:p>
            <a:pPr>
              <a:lnSpc>
                <a:spcPct val="90000"/>
              </a:lnSpc>
            </a:pPr>
            <a:endParaRPr lang="en-US" altLang="it-IT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46084" name="Object 4">
            <a:extLst>
              <a:ext uri="{FF2B5EF4-FFF2-40B4-BE49-F238E27FC236}">
                <a16:creationId xmlns:a16="http://schemas.microsoft.com/office/drawing/2014/main" id="{7B53D967-C907-F660-2632-38F355752A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9275" y="2476500"/>
          <a:ext cx="5037138" cy="437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864100" imgH="4229100" progId="MSGraph.Chart.8">
                  <p:embed followColorScheme="full"/>
                </p:oleObj>
              </mc:Choice>
              <mc:Fallback>
                <p:oleObj name="Chart" r:id="rId2" imgW="4864100" imgH="4229100" progId="MSGraph.Chart.8">
                  <p:embed followColorScheme="full"/>
                  <p:pic>
                    <p:nvPicPr>
                      <p:cNvPr id="46084" name="Object 4">
                        <a:extLst>
                          <a:ext uri="{FF2B5EF4-FFF2-40B4-BE49-F238E27FC236}">
                            <a16:creationId xmlns:a16="http://schemas.microsoft.com/office/drawing/2014/main" id="{7B53D967-C907-F660-2632-38F355752A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2476500"/>
                        <a:ext cx="5037138" cy="437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2">
            <a:extLst>
              <a:ext uri="{FF2B5EF4-FFF2-40B4-BE49-F238E27FC236}">
                <a16:creationId xmlns:a16="http://schemas.microsoft.com/office/drawing/2014/main" id="{FF8B8E26-4E45-D147-A07F-7639234E12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Model Evaluation</a:t>
            </a:r>
          </a:p>
        </p:txBody>
      </p:sp>
      <p:sp>
        <p:nvSpPr>
          <p:cNvPr id="970755" name="Rectangle 3">
            <a:extLst>
              <a:ext uri="{FF2B5EF4-FFF2-40B4-BE49-F238E27FC236}">
                <a16:creationId xmlns:a16="http://schemas.microsoft.com/office/drawing/2014/main" id="{3180305C-D927-1841-9405-55CE2FA79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Metrics for Performance Evaluation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evaluate the performance of a model?</a:t>
            </a:r>
          </a:p>
          <a:p>
            <a:pPr lvl="1">
              <a:buFont typeface="Arial" charset="0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  <a:cs typeface="+mn-cs"/>
              </a:rPr>
              <a:t>Methods for Performance Evaluation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obtain reliable estimates?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Methods for Model Comparison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compare the relative performance among competing models?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93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Titolo 1">
            <a:extLst>
              <a:ext uri="{FF2B5EF4-FFF2-40B4-BE49-F238E27FC236}">
                <a16:creationId xmlns:a16="http://schemas.microsoft.com/office/drawing/2014/main" id="{A18E7552-8731-CE40-9A84-F7B9A3769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dirty="0" err="1">
                <a:ea typeface="ＭＳ Ｐゴシック" panose="020B0600070205080204" pitchFamily="34" charset="-128"/>
              </a:rPr>
              <a:t>Methods</a:t>
            </a:r>
            <a:r>
              <a:rPr lang="it-IT" altLang="it-IT" dirty="0">
                <a:ea typeface="ＭＳ Ｐゴシック" panose="020B0600070205080204" pitchFamily="34" charset="-128"/>
              </a:rPr>
              <a:t> for Evaluation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546F049-6701-3B43-A2A3-C44341D92E2F}"/>
              </a:ext>
            </a:extLst>
          </p:cNvPr>
          <p:cNvSpPr/>
          <p:nvPr/>
        </p:nvSpPr>
        <p:spPr>
          <a:xfrm>
            <a:off x="838200" y="2382592"/>
            <a:ext cx="1455312" cy="164849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     X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28AFEE6-2493-574B-B9FF-C3A11EE1BAAB}"/>
              </a:ext>
            </a:extLst>
          </p:cNvPr>
          <p:cNvCxnSpPr>
            <a:stCxn id="7" idx="3"/>
          </p:cNvCxnSpPr>
          <p:nvPr/>
        </p:nvCxnSpPr>
        <p:spPr>
          <a:xfrm flipV="1">
            <a:off x="2293512" y="2627290"/>
            <a:ext cx="848933" cy="5795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BA8D96B2-CB94-8A41-94BD-19171F21818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293512" y="3583882"/>
            <a:ext cx="848933" cy="6427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0B4A75AF-D914-FA42-8414-895B6A123F80}"/>
              </a:ext>
            </a:extLst>
          </p:cNvPr>
          <p:cNvSpPr/>
          <p:nvPr/>
        </p:nvSpPr>
        <p:spPr>
          <a:xfrm>
            <a:off x="3142445" y="1964508"/>
            <a:ext cx="1455312" cy="13255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</a:rPr>
              <a:t>X</a:t>
            </a:r>
            <a:r>
              <a:rPr lang="en-US" sz="2800" baseline="-25000" dirty="0" err="1">
                <a:solidFill>
                  <a:schemeClr val="tx1"/>
                </a:solidFill>
              </a:rPr>
              <a:t>train</a:t>
            </a:r>
            <a:endParaRPr lang="en-US" sz="2800" baseline="-25000" dirty="0">
              <a:solidFill>
                <a:schemeClr val="tx1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FDD49878-6B44-BB4E-ABDD-79781F81BE79}"/>
              </a:ext>
            </a:extLst>
          </p:cNvPr>
          <p:cNvSpPr/>
          <p:nvPr/>
        </p:nvSpPr>
        <p:spPr>
          <a:xfrm>
            <a:off x="3142445" y="3563891"/>
            <a:ext cx="1455312" cy="13255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</a:rPr>
              <a:t>X</a:t>
            </a:r>
            <a:r>
              <a:rPr lang="en-US" sz="2800" baseline="-25000" dirty="0" err="1">
                <a:solidFill>
                  <a:schemeClr val="tx1"/>
                </a:solidFill>
              </a:rPr>
              <a:t>test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9E4D5B7-4A8F-9C49-94FA-55D70777447E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597757" y="2627289"/>
            <a:ext cx="96591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BF50D55-19E1-4F4B-BAA3-CF48D5CDF1F7}"/>
              </a:ext>
            </a:extLst>
          </p:cNvPr>
          <p:cNvSpPr/>
          <p:nvPr/>
        </p:nvSpPr>
        <p:spPr>
          <a:xfrm>
            <a:off x="5563673" y="2103363"/>
            <a:ext cx="1901783" cy="10478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</a:t>
            </a:r>
          </a:p>
          <a:p>
            <a:pPr algn="ctr"/>
            <a:r>
              <a:rPr lang="en-US" sz="2800" dirty="0"/>
              <a:t>Learning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5C72F261-7EEA-C04A-A69D-9F757CCC263B}"/>
              </a:ext>
            </a:extLst>
          </p:cNvPr>
          <p:cNvCxnSpPr>
            <a:cxnSpLocks/>
          </p:cNvCxnSpPr>
          <p:nvPr/>
        </p:nvCxnSpPr>
        <p:spPr>
          <a:xfrm flipV="1">
            <a:off x="7465456" y="2627288"/>
            <a:ext cx="96591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tangolo con due angoli in diagonale arrotondati 14">
            <a:extLst>
              <a:ext uri="{FF2B5EF4-FFF2-40B4-BE49-F238E27FC236}">
                <a16:creationId xmlns:a16="http://schemas.microsoft.com/office/drawing/2014/main" id="{EA7212EC-A85E-A740-B002-E75072E669DD}"/>
              </a:ext>
            </a:extLst>
          </p:cNvPr>
          <p:cNvSpPr/>
          <p:nvPr/>
        </p:nvSpPr>
        <p:spPr>
          <a:xfrm>
            <a:off x="8431372" y="2189840"/>
            <a:ext cx="2013394" cy="961375"/>
          </a:xfrm>
          <a:prstGeom prst="round2Diag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i="1" dirty="0"/>
              <a:t>f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8AC70A44-9F45-0443-99A4-41CBA7637474}"/>
              </a:ext>
            </a:extLst>
          </p:cNvPr>
          <p:cNvSpPr/>
          <p:nvPr/>
        </p:nvSpPr>
        <p:spPr>
          <a:xfrm>
            <a:off x="8431372" y="3790500"/>
            <a:ext cx="2013393" cy="10478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</a:t>
            </a:r>
          </a:p>
          <a:p>
            <a:pPr algn="ctr"/>
            <a:r>
              <a:rPr lang="en-US" sz="2800" dirty="0"/>
              <a:t>Application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9D4455E6-3614-1B46-BF88-F8FA4C403EF1}"/>
              </a:ext>
            </a:extLst>
          </p:cNvPr>
          <p:cNvCxnSpPr>
            <a:cxnSpLocks/>
          </p:cNvCxnSpPr>
          <p:nvPr/>
        </p:nvCxnSpPr>
        <p:spPr>
          <a:xfrm flipV="1">
            <a:off x="4597757" y="4226672"/>
            <a:ext cx="3833615" cy="207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6C86B631-4147-2B49-BF54-30665B264045}"/>
              </a:ext>
            </a:extLst>
          </p:cNvPr>
          <p:cNvCxnSpPr>
            <a:cxnSpLocks/>
            <a:stCxn id="15" idx="1"/>
          </p:cNvCxnSpPr>
          <p:nvPr/>
        </p:nvCxnSpPr>
        <p:spPr>
          <a:xfrm>
            <a:off x="9438069" y="3151215"/>
            <a:ext cx="0" cy="639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FA15FB9E-3ECC-4C4E-A628-2855F2AF5BE2}"/>
              </a:ext>
            </a:extLst>
          </p:cNvPr>
          <p:cNvCxnSpPr>
            <a:cxnSpLocks/>
          </p:cNvCxnSpPr>
          <p:nvPr/>
        </p:nvCxnSpPr>
        <p:spPr>
          <a:xfrm>
            <a:off x="9438067" y="4838352"/>
            <a:ext cx="0" cy="639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7E5BE9CB-0899-7A4F-A04B-4A470CFBDBBC}"/>
              </a:ext>
            </a:extLst>
          </p:cNvPr>
          <p:cNvSpPr/>
          <p:nvPr/>
        </p:nvSpPr>
        <p:spPr>
          <a:xfrm>
            <a:off x="1972871" y="2382592"/>
            <a:ext cx="325706" cy="16484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Y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C7E0201-EDEF-E247-B6DD-05086CE8E3AC}"/>
              </a:ext>
            </a:extLst>
          </p:cNvPr>
          <p:cNvSpPr txBox="1"/>
          <p:nvPr/>
        </p:nvSpPr>
        <p:spPr>
          <a:xfrm>
            <a:off x="995988" y="1939934"/>
            <a:ext cx="1139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Dataset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93E324CE-D659-4F4D-BD80-5F242939EF81}"/>
              </a:ext>
            </a:extLst>
          </p:cNvPr>
          <p:cNvSpPr/>
          <p:nvPr/>
        </p:nvSpPr>
        <p:spPr>
          <a:xfrm>
            <a:off x="4272051" y="1964508"/>
            <a:ext cx="325706" cy="13255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5BE4CAA-669E-4543-8DB9-E708CE88FB57}"/>
              </a:ext>
            </a:extLst>
          </p:cNvPr>
          <p:cNvSpPr txBox="1"/>
          <p:nvPr/>
        </p:nvSpPr>
        <p:spPr>
          <a:xfrm>
            <a:off x="2820473" y="1522834"/>
            <a:ext cx="209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Training Set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AD99A12-F16D-844E-AA03-9B74A60333BB}"/>
              </a:ext>
            </a:extLst>
          </p:cNvPr>
          <p:cNvSpPr txBox="1"/>
          <p:nvPr/>
        </p:nvSpPr>
        <p:spPr>
          <a:xfrm>
            <a:off x="2513945" y="4889159"/>
            <a:ext cx="209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Test Set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930FB869-BC48-B24F-B2EF-183592DCD21B}"/>
              </a:ext>
            </a:extLst>
          </p:cNvPr>
          <p:cNvSpPr/>
          <p:nvPr/>
        </p:nvSpPr>
        <p:spPr>
          <a:xfrm>
            <a:off x="4266125" y="3573892"/>
            <a:ext cx="325706" cy="13255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46B1BC9-AFF9-CD4B-A467-034D88E30FA6}"/>
              </a:ext>
            </a:extLst>
          </p:cNvPr>
          <p:cNvSpPr txBox="1"/>
          <p:nvPr/>
        </p:nvSpPr>
        <p:spPr>
          <a:xfrm>
            <a:off x="8786286" y="1733886"/>
            <a:ext cx="1303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Classifier</a:t>
            </a:r>
            <a:endParaRPr lang="en-US" sz="2800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98EBD4C2-0C69-B74B-BAF6-7A099BF23D8A}"/>
              </a:ext>
            </a:extLst>
          </p:cNvPr>
          <p:cNvSpPr txBox="1"/>
          <p:nvPr/>
        </p:nvSpPr>
        <p:spPr>
          <a:xfrm>
            <a:off x="5829839" y="1654445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model fit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DC5E0B5-104D-0543-8D57-65C28EF2AA9B}"/>
              </a:ext>
            </a:extLst>
          </p:cNvPr>
          <p:cNvSpPr txBox="1"/>
          <p:nvPr/>
        </p:nvSpPr>
        <p:spPr>
          <a:xfrm>
            <a:off x="10541360" y="3831928"/>
            <a:ext cx="1068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model</a:t>
            </a:r>
          </a:p>
          <a:p>
            <a:r>
              <a:rPr lang="en-US" sz="2400" dirty="0"/>
              <a:t>predict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24EC11C-9DDB-A147-8CD9-3DFCC3E3D00D}"/>
              </a:ext>
            </a:extLst>
          </p:cNvPr>
          <p:cNvSpPr txBox="1"/>
          <p:nvPr/>
        </p:nvSpPr>
        <p:spPr>
          <a:xfrm>
            <a:off x="10468199" y="5827521"/>
            <a:ext cx="1459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Prediction</a:t>
            </a:r>
            <a:endParaRPr lang="en-US" dirty="0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2C64367F-C077-5A43-AC1C-5707D1388654}"/>
              </a:ext>
            </a:extLst>
          </p:cNvPr>
          <p:cNvSpPr/>
          <p:nvPr/>
        </p:nvSpPr>
        <p:spPr>
          <a:xfrm>
            <a:off x="9275213" y="5490517"/>
            <a:ext cx="409697" cy="132555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AE49FA2-5638-1F44-B189-A744CBF1DA6F}"/>
              </a:ext>
            </a:extLst>
          </p:cNvPr>
          <p:cNvSpPr txBox="1"/>
          <p:nvPr/>
        </p:nvSpPr>
        <p:spPr>
          <a:xfrm>
            <a:off x="4266125" y="2343468"/>
            <a:ext cx="805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Y</a:t>
            </a:r>
            <a:r>
              <a:rPr lang="en-US" sz="2800" baseline="-25000" dirty="0" err="1"/>
              <a:t>train</a:t>
            </a:r>
            <a:endParaRPr lang="en-US" sz="2400" baseline="-25000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AF2D22D1-E611-DD4F-AAF8-D90BF5DA9A63}"/>
              </a:ext>
            </a:extLst>
          </p:cNvPr>
          <p:cNvSpPr txBox="1"/>
          <p:nvPr/>
        </p:nvSpPr>
        <p:spPr>
          <a:xfrm>
            <a:off x="4254032" y="3975061"/>
            <a:ext cx="718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Y</a:t>
            </a:r>
            <a:r>
              <a:rPr lang="en-US" sz="2800" baseline="-25000" dirty="0" err="1"/>
              <a:t>test</a:t>
            </a:r>
            <a:endParaRPr lang="en-US" sz="2400" baseline="-25000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FC8C4C54-D9A5-A84B-A480-CE34DEB33458}"/>
              </a:ext>
            </a:extLst>
          </p:cNvPr>
          <p:cNvSpPr txBox="1"/>
          <p:nvPr/>
        </p:nvSpPr>
        <p:spPr>
          <a:xfrm>
            <a:off x="9275213" y="5827521"/>
            <a:ext cx="791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Y</a:t>
            </a:r>
            <a:r>
              <a:rPr lang="en-US" sz="2800" baseline="-25000" dirty="0" err="1"/>
              <a:t>pred</a:t>
            </a:r>
            <a:endParaRPr lang="en-US" sz="2400" baseline="-25000" dirty="0"/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44A8BA37-CA19-694F-9FDB-3086BB59C28D}"/>
              </a:ext>
            </a:extLst>
          </p:cNvPr>
          <p:cNvCxnSpPr>
            <a:cxnSpLocks/>
          </p:cNvCxnSpPr>
          <p:nvPr/>
        </p:nvCxnSpPr>
        <p:spPr>
          <a:xfrm flipH="1">
            <a:off x="5563673" y="6153296"/>
            <a:ext cx="37115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2A81BEFB-21DB-4A46-BC4C-F8B4BFCFACD5}"/>
              </a:ext>
            </a:extLst>
          </p:cNvPr>
          <p:cNvCxnSpPr>
            <a:cxnSpLocks/>
          </p:cNvCxnSpPr>
          <p:nvPr/>
        </p:nvCxnSpPr>
        <p:spPr>
          <a:xfrm>
            <a:off x="4428978" y="4899450"/>
            <a:ext cx="0" cy="639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8C1AE56E-EAE1-E34C-B6A5-BD7871265319}"/>
              </a:ext>
            </a:extLst>
          </p:cNvPr>
          <p:cNvSpPr/>
          <p:nvPr/>
        </p:nvSpPr>
        <p:spPr>
          <a:xfrm>
            <a:off x="3495066" y="5534184"/>
            <a:ext cx="2013393" cy="10478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</a:t>
            </a:r>
          </a:p>
          <a:p>
            <a:pPr algn="ctr"/>
            <a:r>
              <a:rPr lang="en-US" sz="2800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86183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5" grpId="0" animBg="1"/>
      <p:bldP spid="16" grpId="0" animBg="1"/>
      <p:bldP spid="22" grpId="0" animBg="1"/>
      <p:bldP spid="23" grpId="0"/>
      <p:bldP spid="24" grpId="0"/>
      <p:bldP spid="25" grpId="0" animBg="1"/>
      <p:bldP spid="26" grpId="0"/>
      <p:bldP spid="27" grpId="0"/>
      <p:bldP spid="28" grpId="0"/>
      <p:bldP spid="29" grpId="0"/>
      <p:bldP spid="30" grpId="0" animBg="1"/>
      <p:bldP spid="31" grpId="0"/>
      <p:bldP spid="32" grpId="0"/>
      <p:bldP spid="33" grpId="0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Titolo 1">
            <a:extLst>
              <a:ext uri="{FF2B5EF4-FFF2-40B4-BE49-F238E27FC236}">
                <a16:creationId xmlns:a16="http://schemas.microsoft.com/office/drawing/2014/main" id="{546FC4F1-24C3-044B-91F6-EB891ED12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Parameter Tuning </a:t>
            </a:r>
          </a:p>
        </p:txBody>
      </p:sp>
      <p:sp>
        <p:nvSpPr>
          <p:cNvPr id="146434" name="Segnaposto contenuto 2">
            <a:extLst>
              <a:ext uri="{FF2B5EF4-FFF2-40B4-BE49-F238E27FC236}">
                <a16:creationId xmlns:a16="http://schemas.microsoft.com/office/drawing/2014/main" id="{C592B28F-BF74-464C-890A-5DABC7E4C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sz="2000" dirty="0" err="1">
                <a:ea typeface="ＭＳ Ｐゴシック" panose="020B0600070205080204" pitchFamily="34" charset="-128"/>
              </a:rPr>
              <a:t>It</a:t>
            </a:r>
            <a:r>
              <a:rPr lang="it-IT" altLang="it-IT" sz="2000" dirty="0">
                <a:ea typeface="ＭＳ Ｐゴシック" panose="020B0600070205080204" pitchFamily="34" charset="-128"/>
              </a:rPr>
              <a:t>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is</a:t>
            </a:r>
            <a:r>
              <a:rPr lang="it-IT" altLang="it-IT" sz="2000" dirty="0">
                <a:ea typeface="ＭＳ Ｐゴシック" panose="020B0600070205080204" pitchFamily="34" charset="-128"/>
              </a:rPr>
              <a:t>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important</a:t>
            </a:r>
            <a:r>
              <a:rPr lang="it-IT" altLang="it-IT" sz="2000" dirty="0">
                <a:ea typeface="ＭＳ Ｐゴシック" panose="020B0600070205080204" pitchFamily="34" charset="-128"/>
              </a:rPr>
              <a:t>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that</a:t>
            </a:r>
            <a:r>
              <a:rPr lang="it-IT" altLang="it-IT" sz="2000" dirty="0">
                <a:ea typeface="ＭＳ Ｐゴシック" panose="020B0600070205080204" pitchFamily="34" charset="-128"/>
              </a:rPr>
              <a:t> the test data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is</a:t>
            </a:r>
            <a:r>
              <a:rPr lang="it-IT" altLang="it-IT" sz="2000" dirty="0">
                <a:ea typeface="ＭＳ Ｐゴシック" panose="020B0600070205080204" pitchFamily="34" charset="-128"/>
              </a:rPr>
              <a:t>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not</a:t>
            </a:r>
            <a:r>
              <a:rPr lang="it-IT" altLang="it-IT" sz="2000" dirty="0">
                <a:ea typeface="ＭＳ Ｐゴシック" panose="020B0600070205080204" pitchFamily="34" charset="-128"/>
              </a:rPr>
              <a:t>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used</a:t>
            </a:r>
            <a:r>
              <a:rPr lang="it-IT" altLang="it-IT" sz="2000" dirty="0">
                <a:ea typeface="ＭＳ Ｐゴシック" panose="020B0600070205080204" pitchFamily="34" charset="-128"/>
              </a:rPr>
              <a:t> in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any</a:t>
            </a:r>
            <a:r>
              <a:rPr lang="it-IT" altLang="it-IT" sz="2000" dirty="0">
                <a:ea typeface="ＭＳ Ｐゴシック" panose="020B0600070205080204" pitchFamily="34" charset="-128"/>
              </a:rPr>
              <a:t> way to create the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classifier</a:t>
            </a:r>
            <a:r>
              <a:rPr lang="it-IT" altLang="it-IT" sz="2000" dirty="0">
                <a:ea typeface="ＭＳ Ｐゴシック" panose="020B0600070205080204" pitchFamily="34" charset="-128"/>
              </a:rPr>
              <a:t> </a:t>
            </a:r>
          </a:p>
          <a:p>
            <a:r>
              <a:rPr lang="it-IT" altLang="it-IT" sz="2000" dirty="0">
                <a:ea typeface="ＭＳ Ｐゴシック" panose="020B0600070205080204" pitchFamily="34" charset="-128"/>
              </a:rPr>
              <a:t>Some learning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schemes</a:t>
            </a:r>
            <a:r>
              <a:rPr lang="it-IT" altLang="it-IT" sz="2000" dirty="0">
                <a:ea typeface="ＭＳ Ｐゴシック" panose="020B0600070205080204" pitchFamily="34" charset="-128"/>
              </a:rPr>
              <a:t> operate in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two</a:t>
            </a:r>
            <a:r>
              <a:rPr lang="it-IT" altLang="it-IT" sz="2000" dirty="0">
                <a:ea typeface="ＭＳ Ｐゴシック" panose="020B0600070205080204" pitchFamily="34" charset="-128"/>
              </a:rPr>
              <a:t> stages:</a:t>
            </a:r>
          </a:p>
          <a:p>
            <a:pPr lvl="1"/>
            <a:r>
              <a:rPr lang="it-IT" altLang="it-IT" sz="1800" b="1" dirty="0">
                <a:ea typeface="ＭＳ Ｐゴシック" panose="020B0600070205080204" pitchFamily="34" charset="-128"/>
              </a:rPr>
              <a:t>Stage 1</a:t>
            </a:r>
            <a:r>
              <a:rPr lang="it-IT" altLang="it-IT" sz="1800" dirty="0">
                <a:ea typeface="ＭＳ Ｐゴシック" panose="020B0600070205080204" pitchFamily="34" charset="-128"/>
              </a:rPr>
              <a:t>: builds the </a:t>
            </a:r>
            <a:r>
              <a:rPr lang="it-IT" altLang="it-IT" sz="1800" dirty="0" err="1">
                <a:ea typeface="ＭＳ Ｐゴシック" panose="020B0600070205080204" pitchFamily="34" charset="-128"/>
              </a:rPr>
              <a:t>basic</a:t>
            </a:r>
            <a:r>
              <a:rPr lang="it-IT" altLang="it-IT" sz="1800" dirty="0">
                <a:ea typeface="ＭＳ Ｐゴシック" panose="020B0600070205080204" pitchFamily="34" charset="-128"/>
              </a:rPr>
              <a:t> </a:t>
            </a:r>
            <a:r>
              <a:rPr lang="it-IT" altLang="it-IT" sz="1800" dirty="0" err="1">
                <a:ea typeface="ＭＳ Ｐゴシック" panose="020B0600070205080204" pitchFamily="34" charset="-128"/>
              </a:rPr>
              <a:t>structure</a:t>
            </a:r>
            <a:r>
              <a:rPr lang="it-IT" altLang="it-IT" sz="1800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it-IT" altLang="it-IT" sz="1800" b="1" dirty="0">
                <a:ea typeface="ＭＳ Ｐゴシック" panose="020B0600070205080204" pitchFamily="34" charset="-128"/>
              </a:rPr>
              <a:t>Stage 2</a:t>
            </a:r>
            <a:r>
              <a:rPr lang="it-IT" altLang="it-IT" sz="1800" dirty="0">
                <a:ea typeface="ＭＳ Ｐゴシック" panose="020B0600070205080204" pitchFamily="34" charset="-128"/>
              </a:rPr>
              <a:t>: </a:t>
            </a:r>
            <a:r>
              <a:rPr lang="it-IT" altLang="it-IT" sz="1800" dirty="0" err="1">
                <a:ea typeface="ＭＳ Ｐゴシック" panose="020B0600070205080204" pitchFamily="34" charset="-128"/>
              </a:rPr>
              <a:t>optimizes</a:t>
            </a:r>
            <a:r>
              <a:rPr lang="it-IT" altLang="it-IT" sz="1800" dirty="0">
                <a:ea typeface="ＭＳ Ｐゴシック" panose="020B0600070205080204" pitchFamily="34" charset="-128"/>
              </a:rPr>
              <a:t> </a:t>
            </a:r>
            <a:r>
              <a:rPr lang="it-IT" altLang="it-IT" sz="1800" dirty="0" err="1">
                <a:ea typeface="ＭＳ Ｐゴシック" panose="020B0600070205080204" pitchFamily="34" charset="-128"/>
              </a:rPr>
              <a:t>parameter</a:t>
            </a:r>
            <a:r>
              <a:rPr lang="it-IT" altLang="it-IT" sz="1800" dirty="0">
                <a:ea typeface="ＭＳ Ｐゴシック" panose="020B0600070205080204" pitchFamily="34" charset="-128"/>
              </a:rPr>
              <a:t> settings </a:t>
            </a:r>
          </a:p>
          <a:p>
            <a:pPr lvl="1"/>
            <a:r>
              <a:rPr lang="it-IT" altLang="it-IT" sz="1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 test data </a:t>
            </a:r>
            <a:r>
              <a:rPr lang="it-IT" altLang="it-IT" sz="1800" b="1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can’t</a:t>
            </a:r>
            <a:r>
              <a:rPr lang="it-IT" altLang="it-IT" sz="1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be </a:t>
            </a:r>
            <a:r>
              <a:rPr lang="it-IT" altLang="it-IT" sz="1800" b="1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used</a:t>
            </a:r>
            <a:r>
              <a:rPr lang="it-IT" altLang="it-IT" sz="1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for </a:t>
            </a:r>
            <a:r>
              <a:rPr lang="it-IT" altLang="it-IT" sz="1800" b="1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parameter</a:t>
            </a:r>
            <a:r>
              <a:rPr lang="it-IT" altLang="it-IT" sz="1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tuning! </a:t>
            </a:r>
          </a:p>
          <a:p>
            <a:pPr lvl="1"/>
            <a:r>
              <a:rPr lang="it-IT" altLang="it-IT" sz="1800" dirty="0" err="1">
                <a:ea typeface="ＭＳ Ｐゴシック" panose="020B0600070205080204" pitchFamily="34" charset="-128"/>
              </a:rPr>
              <a:t>Proper</a:t>
            </a:r>
            <a:r>
              <a:rPr lang="it-IT" altLang="it-IT" sz="1800" dirty="0">
                <a:ea typeface="ＭＳ Ｐゴシック" panose="020B0600070205080204" pitchFamily="34" charset="-128"/>
              </a:rPr>
              <a:t> procedure </a:t>
            </a:r>
            <a:r>
              <a:rPr lang="it-IT" altLang="it-IT" sz="1800" dirty="0" err="1">
                <a:ea typeface="ＭＳ Ｐゴシック" panose="020B0600070205080204" pitchFamily="34" charset="-128"/>
              </a:rPr>
              <a:t>uses</a:t>
            </a:r>
            <a:r>
              <a:rPr lang="it-IT" altLang="it-IT" sz="1800" dirty="0">
                <a:ea typeface="ＭＳ Ｐゴシック" panose="020B0600070205080204" pitchFamily="34" charset="-128"/>
              </a:rPr>
              <a:t> </a:t>
            </a:r>
            <a:r>
              <a:rPr lang="it-IT" altLang="it-IT" sz="1800" dirty="0" err="1">
                <a:ea typeface="ＭＳ Ｐゴシック" panose="020B0600070205080204" pitchFamily="34" charset="-128"/>
              </a:rPr>
              <a:t>three</a:t>
            </a:r>
            <a:r>
              <a:rPr lang="it-IT" altLang="it-IT" sz="1800" dirty="0">
                <a:ea typeface="ＭＳ Ｐゴシック" panose="020B0600070205080204" pitchFamily="34" charset="-128"/>
              </a:rPr>
              <a:t> sets:</a:t>
            </a:r>
          </a:p>
          <a:p>
            <a:pPr lvl="2"/>
            <a:r>
              <a:rPr lang="it-IT" altLang="it-IT" sz="1400" dirty="0">
                <a:ea typeface="ＭＳ Ｐゴシック" panose="020B0600070205080204" pitchFamily="34" charset="-128"/>
              </a:rPr>
              <a:t> training data, </a:t>
            </a:r>
          </a:p>
          <a:p>
            <a:pPr lvl="2"/>
            <a:r>
              <a:rPr lang="it-IT" altLang="it-IT" sz="1400" dirty="0">
                <a:ea typeface="ＭＳ Ｐゴシック" panose="020B0600070205080204" pitchFamily="34" charset="-128"/>
              </a:rPr>
              <a:t> </a:t>
            </a:r>
            <a:r>
              <a:rPr lang="it-IT" altLang="it-IT" sz="1400" dirty="0" err="1">
                <a:ea typeface="ＭＳ Ｐゴシック" panose="020B0600070205080204" pitchFamily="34" charset="-128"/>
              </a:rPr>
              <a:t>validation</a:t>
            </a:r>
            <a:r>
              <a:rPr lang="it-IT" altLang="it-IT" sz="1400" dirty="0">
                <a:ea typeface="ＭＳ Ｐゴシック" panose="020B0600070205080204" pitchFamily="34" charset="-128"/>
              </a:rPr>
              <a:t> data, </a:t>
            </a:r>
          </a:p>
          <a:p>
            <a:pPr lvl="2"/>
            <a:r>
              <a:rPr lang="it-IT" altLang="it-IT" sz="1400" dirty="0">
                <a:ea typeface="ＭＳ Ｐゴシック" panose="020B0600070205080204" pitchFamily="34" charset="-128"/>
              </a:rPr>
              <a:t> test data </a:t>
            </a:r>
          </a:p>
          <a:p>
            <a:pPr lvl="1"/>
            <a:r>
              <a:rPr lang="it-IT" altLang="it-IT" sz="1800" b="1" dirty="0" err="1">
                <a:ea typeface="ＭＳ Ｐゴシック" panose="020B0600070205080204" pitchFamily="34" charset="-128"/>
              </a:rPr>
              <a:t>Validation</a:t>
            </a:r>
            <a:r>
              <a:rPr lang="it-IT" altLang="it-IT" sz="1800" b="1" dirty="0">
                <a:ea typeface="ＭＳ Ｐゴシック" panose="020B0600070205080204" pitchFamily="34" charset="-128"/>
              </a:rPr>
              <a:t> data </a:t>
            </a:r>
            <a:r>
              <a:rPr lang="it-IT" altLang="it-IT" sz="1800" b="1" dirty="0" err="1">
                <a:ea typeface="ＭＳ Ｐゴシック" panose="020B0600070205080204" pitchFamily="34" charset="-128"/>
              </a:rPr>
              <a:t>is</a:t>
            </a:r>
            <a:r>
              <a:rPr lang="it-IT" altLang="it-IT" sz="1800" b="1" dirty="0">
                <a:ea typeface="ＭＳ Ｐゴシック" panose="020B0600070205080204" pitchFamily="34" charset="-128"/>
              </a:rPr>
              <a:t> </a:t>
            </a:r>
            <a:r>
              <a:rPr lang="it-IT" altLang="it-IT" sz="1800" b="1" dirty="0" err="1">
                <a:ea typeface="ＭＳ Ｐゴシック" panose="020B0600070205080204" pitchFamily="34" charset="-128"/>
              </a:rPr>
              <a:t>used</a:t>
            </a:r>
            <a:r>
              <a:rPr lang="it-IT" altLang="it-IT" sz="1800" b="1" dirty="0">
                <a:ea typeface="ＭＳ Ｐゴシック" panose="020B0600070205080204" pitchFamily="34" charset="-128"/>
              </a:rPr>
              <a:t> to </a:t>
            </a:r>
            <a:r>
              <a:rPr lang="it-IT" altLang="it-IT" sz="1800" b="1" dirty="0" err="1">
                <a:ea typeface="ＭＳ Ｐゴシック" panose="020B0600070205080204" pitchFamily="34" charset="-128"/>
              </a:rPr>
              <a:t>optimize</a:t>
            </a:r>
            <a:r>
              <a:rPr lang="it-IT" altLang="it-IT" sz="1800" b="1" dirty="0">
                <a:ea typeface="ＭＳ Ｐゴシック" panose="020B0600070205080204" pitchFamily="34" charset="-128"/>
              </a:rPr>
              <a:t> </a:t>
            </a:r>
            <a:r>
              <a:rPr lang="it-IT" altLang="it-IT" sz="1800" b="1" dirty="0" err="1">
                <a:ea typeface="ＭＳ Ｐゴシック" panose="020B0600070205080204" pitchFamily="34" charset="-128"/>
              </a:rPr>
              <a:t>parameters</a:t>
            </a:r>
            <a:endParaRPr lang="it-IT" altLang="it-IT" sz="1800" b="1" dirty="0">
              <a:ea typeface="ＭＳ Ｐゴシック" panose="020B0600070205080204" pitchFamily="34" charset="-128"/>
            </a:endParaRPr>
          </a:p>
          <a:p>
            <a:r>
              <a:rPr lang="it-IT" altLang="it-IT" sz="2000" dirty="0">
                <a:ea typeface="ＭＳ Ｐゴシック" panose="020B0600070205080204" pitchFamily="34" charset="-128"/>
              </a:rPr>
              <a:t>Once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evaluation</a:t>
            </a:r>
            <a:r>
              <a:rPr lang="it-IT" altLang="it-IT" sz="2000" dirty="0">
                <a:ea typeface="ＭＳ Ｐゴシック" panose="020B0600070205080204" pitchFamily="34" charset="-128"/>
              </a:rPr>
              <a:t>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is</a:t>
            </a:r>
            <a:r>
              <a:rPr lang="it-IT" altLang="it-IT" sz="2000" dirty="0">
                <a:ea typeface="ＭＳ Ｐゴシック" panose="020B0600070205080204" pitchFamily="34" charset="-128"/>
              </a:rPr>
              <a:t> complete,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all</a:t>
            </a:r>
            <a:r>
              <a:rPr lang="it-IT" altLang="it-IT" sz="2000" dirty="0">
                <a:ea typeface="ＭＳ Ｐゴシック" panose="020B0600070205080204" pitchFamily="34" charset="-128"/>
              </a:rPr>
              <a:t> the data can be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used</a:t>
            </a:r>
            <a:r>
              <a:rPr lang="it-IT" altLang="it-IT" sz="2000" dirty="0">
                <a:ea typeface="ＭＳ Ｐゴシック" panose="020B0600070205080204" pitchFamily="34" charset="-128"/>
              </a:rPr>
              <a:t> to build the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final</a:t>
            </a:r>
            <a:r>
              <a:rPr lang="it-IT" altLang="it-IT" sz="2000" dirty="0">
                <a:ea typeface="ＭＳ Ｐゴシック" panose="020B0600070205080204" pitchFamily="34" charset="-128"/>
              </a:rPr>
              <a:t>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classifier</a:t>
            </a:r>
            <a:r>
              <a:rPr lang="it-IT" altLang="it-IT" sz="2000" dirty="0">
                <a:ea typeface="ＭＳ Ｐゴシック" panose="020B0600070205080204" pitchFamily="34" charset="-128"/>
              </a:rPr>
              <a:t> </a:t>
            </a:r>
          </a:p>
          <a:p>
            <a:r>
              <a:rPr lang="it-IT" altLang="it-IT" sz="2000" dirty="0" err="1">
                <a:ea typeface="ＭＳ Ｐゴシック" panose="020B0600070205080204" pitchFamily="34" charset="-128"/>
              </a:rPr>
              <a:t>Generally</a:t>
            </a:r>
            <a:r>
              <a:rPr lang="it-IT" altLang="it-IT" sz="2000" dirty="0">
                <a:ea typeface="ＭＳ Ｐゴシック" panose="020B0600070205080204" pitchFamily="34" charset="-128"/>
              </a:rPr>
              <a:t>, the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larger</a:t>
            </a:r>
            <a:r>
              <a:rPr lang="it-IT" altLang="it-IT" sz="2000" dirty="0">
                <a:ea typeface="ＭＳ Ｐゴシック" panose="020B0600070205080204" pitchFamily="34" charset="-128"/>
              </a:rPr>
              <a:t> the training data the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better</a:t>
            </a:r>
            <a:r>
              <a:rPr lang="it-IT" altLang="it-IT" sz="2000" dirty="0">
                <a:ea typeface="ＭＳ Ｐゴシック" panose="020B0600070205080204" pitchFamily="34" charset="-128"/>
              </a:rPr>
              <a:t> the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classifier</a:t>
            </a:r>
            <a:r>
              <a:rPr lang="it-IT" altLang="it-IT" sz="2000" dirty="0">
                <a:ea typeface="ＭＳ Ｐゴシック" panose="020B0600070205080204" pitchFamily="34" charset="-128"/>
              </a:rPr>
              <a:t> </a:t>
            </a:r>
          </a:p>
          <a:p>
            <a:r>
              <a:rPr lang="it-IT" altLang="it-IT" sz="2000" dirty="0">
                <a:ea typeface="ＭＳ Ｐゴシック" panose="020B0600070205080204" pitchFamily="34" charset="-128"/>
              </a:rPr>
              <a:t>The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larger</a:t>
            </a:r>
            <a:r>
              <a:rPr lang="it-IT" altLang="it-IT" sz="2000" dirty="0">
                <a:ea typeface="ＭＳ Ｐゴシック" panose="020B0600070205080204" pitchFamily="34" charset="-128"/>
              </a:rPr>
              <a:t> the test data the more accurate the </a:t>
            </a:r>
            <a:r>
              <a:rPr lang="it-IT" altLang="it-IT" sz="2000" dirty="0" err="1">
                <a:ea typeface="ＭＳ Ｐゴシック" panose="020B0600070205080204" pitchFamily="34" charset="-128"/>
              </a:rPr>
              <a:t>error</a:t>
            </a:r>
            <a:r>
              <a:rPr lang="it-IT" altLang="it-IT" sz="2000" dirty="0">
                <a:ea typeface="ＭＳ Ｐゴシック" panose="020B0600070205080204" pitchFamily="34" charset="-128"/>
              </a:rPr>
              <a:t> estimate</a:t>
            </a:r>
          </a:p>
          <a:p>
            <a:pPr lvl="1"/>
            <a:endParaRPr lang="it-IT" altLang="it-IT" sz="2000" b="1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019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2DB3F4-586F-C84A-B8B4-A745B6E2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Partitioning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F6B58CD-4E77-BB4F-AAF5-FA23FA194063}"/>
              </a:ext>
            </a:extLst>
          </p:cNvPr>
          <p:cNvSpPr/>
          <p:nvPr/>
        </p:nvSpPr>
        <p:spPr>
          <a:xfrm>
            <a:off x="838200" y="1690688"/>
            <a:ext cx="8225790" cy="5838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Dataset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0B3C66C-9339-604E-98F9-B7ED77162E52}"/>
              </a:ext>
            </a:extLst>
          </p:cNvPr>
          <p:cNvSpPr/>
          <p:nvPr/>
        </p:nvSpPr>
        <p:spPr>
          <a:xfrm>
            <a:off x="838200" y="2409507"/>
            <a:ext cx="6271260" cy="5838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Train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B9544EF-B1D6-3A46-B2C3-35D586E33CCF}"/>
              </a:ext>
            </a:extLst>
          </p:cNvPr>
          <p:cNvSpPr/>
          <p:nvPr/>
        </p:nvSpPr>
        <p:spPr>
          <a:xfrm>
            <a:off x="7235190" y="2409507"/>
            <a:ext cx="1828800" cy="5838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Test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7FF0850-8F5D-054C-9E22-00D562595E86}"/>
              </a:ext>
            </a:extLst>
          </p:cNvPr>
          <p:cNvSpPr txBox="1"/>
          <p:nvPr/>
        </p:nvSpPr>
        <p:spPr>
          <a:xfrm>
            <a:off x="9189720" y="2532171"/>
            <a:ext cx="2004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/>
              <a:t>Holdout</a:t>
            </a:r>
            <a:r>
              <a:rPr lang="it-IT" sz="1600" dirty="0"/>
              <a:t> (e.g.70/30)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FE7D3F9-00C2-6C4D-8DBE-37B23FBD4887}"/>
              </a:ext>
            </a:extLst>
          </p:cNvPr>
          <p:cNvSpPr/>
          <p:nvPr/>
        </p:nvSpPr>
        <p:spPr>
          <a:xfrm>
            <a:off x="838200" y="3600133"/>
            <a:ext cx="4316730" cy="5838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Train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7F03831-696F-9E44-B6D3-AF5AA665E719}"/>
              </a:ext>
            </a:extLst>
          </p:cNvPr>
          <p:cNvSpPr/>
          <p:nvPr/>
        </p:nvSpPr>
        <p:spPr>
          <a:xfrm>
            <a:off x="7235190" y="3600133"/>
            <a:ext cx="1828800" cy="5838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Test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6861675-09F4-764F-A0DB-7CA9A68B8224}"/>
              </a:ext>
            </a:extLst>
          </p:cNvPr>
          <p:cNvSpPr/>
          <p:nvPr/>
        </p:nvSpPr>
        <p:spPr>
          <a:xfrm>
            <a:off x="5280660" y="3591400"/>
            <a:ext cx="1828800" cy="5838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Validation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C344681-603C-BF48-A022-4C5037436915}"/>
              </a:ext>
            </a:extLst>
          </p:cNvPr>
          <p:cNvSpPr txBox="1"/>
          <p:nvPr/>
        </p:nvSpPr>
        <p:spPr>
          <a:xfrm>
            <a:off x="838200" y="4327685"/>
            <a:ext cx="4316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Train the model for </a:t>
            </a:r>
            <a:r>
              <a:rPr lang="it-IT" sz="1600" dirty="0" err="1"/>
              <a:t>parameter</a:t>
            </a:r>
            <a:r>
              <a:rPr lang="it-IT" sz="1600" dirty="0"/>
              <a:t> </a:t>
            </a:r>
            <a:r>
              <a:rPr lang="it-IT" sz="1600" dirty="0" err="1"/>
              <a:t>selection</a:t>
            </a:r>
            <a:endParaRPr lang="it-IT" sz="16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4CB1C75-209D-D247-957E-7B071396BEAC}"/>
              </a:ext>
            </a:extLst>
          </p:cNvPr>
          <p:cNvSpPr txBox="1"/>
          <p:nvPr/>
        </p:nvSpPr>
        <p:spPr>
          <a:xfrm>
            <a:off x="5266189" y="4342172"/>
            <a:ext cx="18288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Validate the model (</a:t>
            </a:r>
            <a:r>
              <a:rPr lang="it-IT" sz="1600" dirty="0" err="1"/>
              <a:t>early</a:t>
            </a:r>
            <a:r>
              <a:rPr lang="it-IT" sz="1600" dirty="0"/>
              <a:t> </a:t>
            </a:r>
            <a:r>
              <a:rPr lang="it-IT" sz="1600" dirty="0" err="1"/>
              <a:t>stopping</a:t>
            </a:r>
            <a:r>
              <a:rPr lang="it-IT" sz="1600" dirty="0"/>
              <a:t>, </a:t>
            </a:r>
            <a:r>
              <a:rPr lang="it-IT" sz="1600" dirty="0" err="1"/>
              <a:t>parameter</a:t>
            </a:r>
            <a:r>
              <a:rPr lang="it-IT" sz="1600" dirty="0"/>
              <a:t> </a:t>
            </a:r>
            <a:r>
              <a:rPr lang="it-IT" sz="1600" dirty="0" err="1"/>
              <a:t>selection</a:t>
            </a:r>
            <a:r>
              <a:rPr lang="it-IT" sz="1600" dirty="0"/>
              <a:t>, etc.)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031AC37-A346-A34C-8067-F9644930B927}"/>
              </a:ext>
            </a:extLst>
          </p:cNvPr>
          <p:cNvSpPr txBox="1"/>
          <p:nvPr/>
        </p:nvSpPr>
        <p:spPr>
          <a:xfrm>
            <a:off x="7403680" y="4331477"/>
            <a:ext cx="22546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Test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Compare </a:t>
            </a:r>
            <a:r>
              <a:rPr lang="it-IT" sz="1600" dirty="0" err="1"/>
              <a:t>different</a:t>
            </a:r>
            <a:r>
              <a:rPr lang="it-IT" sz="1600" dirty="0"/>
              <a:t> </a:t>
            </a:r>
            <a:r>
              <a:rPr lang="it-IT" sz="1600" dirty="0" err="1"/>
              <a:t>models</a:t>
            </a:r>
            <a:r>
              <a:rPr lang="it-IT" sz="1600" dirty="0"/>
              <a:t> once </a:t>
            </a:r>
            <a:r>
              <a:rPr lang="it-IT" sz="1600" dirty="0" err="1"/>
              <a:t>parameters</a:t>
            </a:r>
            <a:r>
              <a:rPr lang="it-IT" sz="1600" dirty="0"/>
              <a:t> </a:t>
            </a:r>
            <a:r>
              <a:rPr lang="it-IT" sz="1600" dirty="0" err="1"/>
              <a:t>have</a:t>
            </a:r>
            <a:r>
              <a:rPr lang="it-IT" sz="1600" dirty="0"/>
              <a:t> </a:t>
            </a:r>
            <a:r>
              <a:rPr lang="it-IT" sz="1600" dirty="0" err="1"/>
              <a:t>been</a:t>
            </a:r>
            <a:r>
              <a:rPr lang="it-IT" sz="1600" dirty="0"/>
              <a:t> </a:t>
            </a:r>
            <a:r>
              <a:rPr lang="it-IT" sz="1600" dirty="0" err="1"/>
              <a:t>selected</a:t>
            </a:r>
            <a:endParaRPr lang="it-IT" sz="1600" dirty="0"/>
          </a:p>
        </p:txBody>
      </p:sp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71FF0AB2-512C-264A-B5F6-45617FCBB6B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21806"/>
          <a:ext cx="6271260" cy="57514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7126">
                  <a:extLst>
                    <a:ext uri="{9D8B030D-6E8A-4147-A177-3AD203B41FA5}">
                      <a16:colId xmlns:a16="http://schemas.microsoft.com/office/drawing/2014/main" val="1425848757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406840806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3779434581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3555289531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78076993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2566495608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2136986870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2002251115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686538822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3069563664"/>
                    </a:ext>
                  </a:extLst>
                </a:gridCol>
              </a:tblGrid>
              <a:tr h="57514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205556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E30727A-732C-8043-8897-CD49E2A31D9A}"/>
              </a:ext>
            </a:extLst>
          </p:cNvPr>
          <p:cNvSpPr txBox="1"/>
          <p:nvPr/>
        </p:nvSpPr>
        <p:spPr>
          <a:xfrm>
            <a:off x="2009350" y="6396955"/>
            <a:ext cx="4044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600" dirty="0"/>
              <a:t>Cross </a:t>
            </a:r>
            <a:r>
              <a:rPr lang="it-IT" sz="1600" dirty="0" err="1"/>
              <a:t>Validation</a:t>
            </a:r>
            <a:r>
              <a:rPr lang="it-IT" sz="1600" dirty="0"/>
              <a:t> (</a:t>
            </a:r>
            <a:r>
              <a:rPr lang="it-IT" sz="1600" dirty="0" err="1"/>
              <a:t>check</a:t>
            </a:r>
            <a:r>
              <a:rPr lang="it-IT" sz="1600" dirty="0"/>
              <a:t> </a:t>
            </a:r>
            <a:r>
              <a:rPr lang="it-IT" sz="1600" dirty="0" err="1"/>
              <a:t>potential</a:t>
            </a:r>
            <a:r>
              <a:rPr lang="it-IT" sz="1600" dirty="0"/>
              <a:t> </a:t>
            </a:r>
            <a:r>
              <a:rPr lang="it-IT" sz="1600" dirty="0" err="1"/>
              <a:t>dataset</a:t>
            </a:r>
            <a:r>
              <a:rPr lang="it-IT" sz="1600" dirty="0"/>
              <a:t> </a:t>
            </a:r>
            <a:r>
              <a:rPr lang="it-IT" sz="1600" dirty="0" err="1"/>
              <a:t>bias</a:t>
            </a:r>
            <a:r>
              <a:rPr lang="it-IT" sz="1600" dirty="0"/>
              <a:t>) 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7954B3C-0084-9F44-B417-C83F7739ED1E}"/>
              </a:ext>
            </a:extLst>
          </p:cNvPr>
          <p:cNvSpPr/>
          <p:nvPr/>
        </p:nvSpPr>
        <p:spPr>
          <a:xfrm>
            <a:off x="7235190" y="5813073"/>
            <a:ext cx="1828800" cy="5838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Test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C078146-8CEE-9E46-B248-611D8C8609C2}"/>
              </a:ext>
            </a:extLst>
          </p:cNvPr>
          <p:cNvSpPr txBox="1"/>
          <p:nvPr/>
        </p:nvSpPr>
        <p:spPr>
          <a:xfrm>
            <a:off x="2019131" y="3050755"/>
            <a:ext cx="4024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Train the model for </a:t>
            </a:r>
            <a:r>
              <a:rPr lang="it-IT" sz="1600" dirty="0" err="1"/>
              <a:t>final</a:t>
            </a:r>
            <a:r>
              <a:rPr lang="it-IT" sz="1600" dirty="0"/>
              <a:t> </a:t>
            </a:r>
            <a:r>
              <a:rPr lang="it-IT" sz="1600" dirty="0" err="1"/>
              <a:t>testing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1319844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78" name="Rectangle 2">
            <a:extLst>
              <a:ext uri="{FF2B5EF4-FFF2-40B4-BE49-F238E27FC236}">
                <a16:creationId xmlns:a16="http://schemas.microsoft.com/office/drawing/2014/main" id="{0CF4FC98-2DAE-6742-9C0F-804F57173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Methods for Performance Evaluation</a:t>
            </a:r>
          </a:p>
        </p:txBody>
      </p:sp>
      <p:sp>
        <p:nvSpPr>
          <p:cNvPr id="971779" name="Rectangle 3">
            <a:extLst>
              <a:ext uri="{FF2B5EF4-FFF2-40B4-BE49-F238E27FC236}">
                <a16:creationId xmlns:a16="http://schemas.microsoft.com/office/drawing/2014/main" id="{15715E28-24D2-E745-822F-FE0255D50C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How to obtain a reliable estimate of performance?</a:t>
            </a: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Performance of a model may depend on other factors besides the learning algorithm: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Class distribution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Cost of misclassification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Size of training and test sets</a:t>
            </a: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714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02" name="Rectangle 2">
            <a:extLst>
              <a:ext uri="{FF2B5EF4-FFF2-40B4-BE49-F238E27FC236}">
                <a16:creationId xmlns:a16="http://schemas.microsoft.com/office/drawing/2014/main" id="{0C677C86-3341-9F49-835A-8833BABE3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Learning Curve</a:t>
            </a:r>
          </a:p>
        </p:txBody>
      </p:sp>
      <p:grpSp>
        <p:nvGrpSpPr>
          <p:cNvPr id="150530" name="Group 3">
            <a:extLst>
              <a:ext uri="{FF2B5EF4-FFF2-40B4-BE49-F238E27FC236}">
                <a16:creationId xmlns:a16="http://schemas.microsoft.com/office/drawing/2014/main" id="{830C8EAA-E4E7-0940-8F7B-C118C9D6CBB3}"/>
              </a:ext>
            </a:extLst>
          </p:cNvPr>
          <p:cNvGrpSpPr>
            <a:grpSpLocks/>
          </p:cNvGrpSpPr>
          <p:nvPr/>
        </p:nvGrpSpPr>
        <p:grpSpPr bwMode="auto">
          <a:xfrm>
            <a:off x="1603310" y="1505339"/>
            <a:ext cx="5257800" cy="4114800"/>
            <a:chOff x="48" y="768"/>
            <a:chExt cx="3600" cy="3060"/>
          </a:xfrm>
        </p:grpSpPr>
        <p:pic>
          <p:nvPicPr>
            <p:cNvPr id="150533" name="Picture 4">
              <a:extLst>
                <a:ext uri="{FF2B5EF4-FFF2-40B4-BE49-F238E27FC236}">
                  <a16:creationId xmlns:a16="http://schemas.microsoft.com/office/drawing/2014/main" id="{755ABE3F-7F37-4142-BCA8-03A6297BCF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82" r="5882"/>
            <a:stretch>
              <a:fillRect/>
            </a:stretch>
          </p:blipFill>
          <p:spPr bwMode="auto">
            <a:xfrm>
              <a:off x="48" y="768"/>
              <a:ext cx="360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534" name="Line 5">
              <a:extLst>
                <a:ext uri="{FF2B5EF4-FFF2-40B4-BE49-F238E27FC236}">
                  <a16:creationId xmlns:a16="http://schemas.microsoft.com/office/drawing/2014/main" id="{1B667C63-2E4A-C348-A85E-87F92BF0F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214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0531" name="Rectangle 6">
            <a:extLst>
              <a:ext uri="{FF2B5EF4-FFF2-40B4-BE49-F238E27FC236}">
                <a16:creationId xmlns:a16="http://schemas.microsoft.com/office/drawing/2014/main" id="{7B643991-DF98-1143-AA2E-0E952DD2D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10" y="1581539"/>
            <a:ext cx="33528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sz="2000"/>
              <a:t>Learning curve shows how accuracy changes with varying sample size</a:t>
            </a:r>
          </a:p>
          <a:p>
            <a:r>
              <a:rPr lang="en-US" altLang="it-IT" sz="2000"/>
              <a:t>Requires a sampling schedule for creating learning curve:</a:t>
            </a:r>
          </a:p>
          <a:p>
            <a:pPr>
              <a:buFont typeface="Monotype Sorts" pitchFamily="2" charset="2"/>
              <a:buNone/>
            </a:pPr>
            <a:endParaRPr lang="en-US" altLang="it-IT" sz="2000"/>
          </a:p>
          <a:p>
            <a:pPr>
              <a:buFont typeface="Monotype Sorts" pitchFamily="2" charset="2"/>
              <a:buNone/>
            </a:pPr>
            <a:r>
              <a:rPr lang="en-US" altLang="it-IT" sz="1800"/>
              <a:t>Effect of small sample size:</a:t>
            </a:r>
          </a:p>
          <a:p>
            <a:pPr lvl="1">
              <a:buSzPct val="75000"/>
              <a:buFontTx/>
              <a:buChar char="-"/>
            </a:pPr>
            <a:r>
              <a:rPr lang="en-US" altLang="it-IT" sz="2000"/>
              <a:t>Bias in the estimate</a:t>
            </a:r>
          </a:p>
          <a:p>
            <a:pPr lvl="1">
              <a:buSzPct val="75000"/>
              <a:buFontTx/>
              <a:buChar char="-"/>
            </a:pPr>
            <a:r>
              <a:rPr lang="en-US" altLang="it-IT" sz="2000"/>
              <a:t>Variance of estimate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347DFD7-4EA0-4745-BA00-9969454DDD7E}"/>
              </a:ext>
            </a:extLst>
          </p:cNvPr>
          <p:cNvSpPr txBox="1"/>
          <p:nvPr/>
        </p:nvSpPr>
        <p:spPr>
          <a:xfrm>
            <a:off x="1603310" y="5772540"/>
            <a:ext cx="8534400" cy="13849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it-IT" sz="1600" dirty="0">
                <a:latin typeface="Arial" charset="0"/>
                <a:ea typeface="ＭＳ Ｐゴシック" charset="0"/>
                <a:cs typeface="ＭＳ Ｐゴシック" charset="0"/>
              </a:rPr>
              <a:t>How </a:t>
            </a:r>
            <a:r>
              <a:rPr lang="it-IT" sz="1600" dirty="0" err="1">
                <a:latin typeface="Arial" charset="0"/>
                <a:ea typeface="ＭＳ Ｐゴシック" charset="0"/>
                <a:cs typeface="ＭＳ Ｐゴシック" charset="0"/>
              </a:rPr>
              <a:t>much</a:t>
            </a:r>
            <a:r>
              <a:rPr lang="it-IT" sz="1600" dirty="0">
                <a:latin typeface="Arial" charset="0"/>
                <a:ea typeface="ＭＳ Ｐゴシック" charset="0"/>
                <a:cs typeface="ＭＳ Ｐゴシック" charset="0"/>
              </a:rPr>
              <a:t> a </a:t>
            </a:r>
            <a:r>
              <a:rPr lang="it-IT" sz="1600" dirty="0" err="1">
                <a:latin typeface="Arial" charset="0"/>
                <a:ea typeface="ＭＳ Ｐゴシック" charset="0"/>
                <a:cs typeface="ＭＳ Ｐゴシック" charset="0"/>
              </a:rPr>
              <a:t>classification</a:t>
            </a:r>
            <a:r>
              <a:rPr lang="it-IT" sz="1600" dirty="0">
                <a:latin typeface="Arial" charset="0"/>
                <a:ea typeface="ＭＳ Ｐゴシック" charset="0"/>
                <a:cs typeface="ＭＳ Ｐゴシック" charset="0"/>
              </a:rPr>
              <a:t> model benefits from </a:t>
            </a:r>
            <a:r>
              <a:rPr lang="it-IT" sz="1600" dirty="0" err="1">
                <a:latin typeface="Arial" charset="0"/>
                <a:ea typeface="ＭＳ Ｐゴシック" charset="0"/>
                <a:cs typeface="ＭＳ Ｐゴシック" charset="0"/>
              </a:rPr>
              <a:t>adding</a:t>
            </a:r>
            <a:r>
              <a:rPr lang="it-IT" sz="1600" dirty="0">
                <a:latin typeface="Arial" charset="0"/>
                <a:ea typeface="ＭＳ Ｐゴシック" charset="0"/>
                <a:cs typeface="ＭＳ Ｐゴシック" charset="0"/>
              </a:rPr>
              <a:t> more training data?</a:t>
            </a:r>
          </a:p>
          <a:p>
            <a:pPr marL="342900" indent="-342900">
              <a:buFont typeface="+mj-lt"/>
              <a:buAutoNum type="arabicPeriod"/>
              <a:defRPr/>
            </a:pPr>
            <a:endParaRPr lang="it-IT" sz="16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it-IT" sz="1600" dirty="0" err="1">
                <a:latin typeface="Arial" charset="0"/>
                <a:ea typeface="ＭＳ Ｐゴシック" charset="0"/>
                <a:cs typeface="ＭＳ Ｐゴシック" charset="0"/>
              </a:rPr>
              <a:t>Does</a:t>
            </a:r>
            <a:r>
              <a:rPr lang="it-IT" sz="1600" dirty="0">
                <a:latin typeface="Arial" charset="0"/>
                <a:ea typeface="ＭＳ Ｐゴシック" charset="0"/>
                <a:cs typeface="ＭＳ Ｐゴシック" charset="0"/>
              </a:rPr>
              <a:t> the model </a:t>
            </a:r>
            <a:r>
              <a:rPr lang="it-IT" sz="1600" dirty="0" err="1">
                <a:latin typeface="Arial" charset="0"/>
                <a:ea typeface="ＭＳ Ｐゴシック" charset="0"/>
                <a:cs typeface="ＭＳ Ｐゴシック" charset="0"/>
              </a:rPr>
              <a:t>suffer</a:t>
            </a:r>
            <a:r>
              <a:rPr lang="it-IT" sz="1600" dirty="0">
                <a:latin typeface="Arial" charset="0"/>
                <a:ea typeface="ＭＳ Ｐゴシック" charset="0"/>
                <a:cs typeface="ＭＳ Ｐゴシック" charset="0"/>
              </a:rPr>
              <a:t> from a </a:t>
            </a:r>
            <a:r>
              <a:rPr lang="it-IT" sz="1600" dirty="0" err="1">
                <a:latin typeface="Arial" charset="0"/>
                <a:ea typeface="ＭＳ Ｐゴシック" charset="0"/>
                <a:cs typeface="ＭＳ Ｐゴシック" charset="0"/>
              </a:rPr>
              <a:t>variance</a:t>
            </a:r>
            <a:r>
              <a:rPr lang="it-IT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1600" dirty="0" err="1">
                <a:latin typeface="Arial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1600" dirty="0">
                <a:latin typeface="Arial" charset="0"/>
                <a:ea typeface="ＭＳ Ｐゴシック" charset="0"/>
                <a:cs typeface="ＭＳ Ｐゴシック" charset="0"/>
              </a:rPr>
              <a:t> or a </a:t>
            </a:r>
            <a:r>
              <a:rPr lang="it-IT" sz="1600" dirty="0" err="1">
                <a:latin typeface="Arial" charset="0"/>
                <a:ea typeface="ＭＳ Ｐゴシック" charset="0"/>
                <a:cs typeface="ＭＳ Ｐゴシック" charset="0"/>
              </a:rPr>
              <a:t>bias</a:t>
            </a:r>
            <a:r>
              <a:rPr lang="it-IT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1600" dirty="0" err="1">
                <a:latin typeface="Arial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1600" dirty="0">
                <a:latin typeface="Arial" charset="0"/>
                <a:ea typeface="ＭＳ Ｐゴシック" charset="0"/>
                <a:cs typeface="ＭＳ Ｐゴシック" charset="0"/>
              </a:rPr>
              <a:t>?</a:t>
            </a:r>
          </a:p>
          <a:p>
            <a:pPr>
              <a:defRPr/>
            </a:pPr>
            <a:endParaRPr lang="it-IT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it-IT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6994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Rectangle 2">
            <a:extLst>
              <a:ext uri="{FF2B5EF4-FFF2-40B4-BE49-F238E27FC236}">
                <a16:creationId xmlns:a16="http://schemas.microsoft.com/office/drawing/2014/main" id="{589A8188-A52C-CC45-93DA-66B954443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Methods of Estimation</a:t>
            </a:r>
          </a:p>
        </p:txBody>
      </p:sp>
      <p:sp>
        <p:nvSpPr>
          <p:cNvPr id="973827" name="Rectangle 3">
            <a:extLst>
              <a:ext uri="{FF2B5EF4-FFF2-40B4-BE49-F238E27FC236}">
                <a16:creationId xmlns:a16="http://schemas.microsoft.com/office/drawing/2014/main" id="{E2979539-4D15-B64D-A0BF-489B76C2A9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2400" dirty="0"/>
              <a:t>Holdout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Reserve 2/3 for training and 1/3 for testing </a:t>
            </a:r>
          </a:p>
          <a:p>
            <a:pPr>
              <a:defRPr/>
            </a:pPr>
            <a:r>
              <a:rPr lang="en-US" sz="2400" dirty="0"/>
              <a:t>Random subsampling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Repeated holdout</a:t>
            </a:r>
          </a:p>
          <a:p>
            <a:pPr>
              <a:defRPr/>
            </a:pPr>
            <a:r>
              <a:rPr lang="en-US" sz="2400" dirty="0"/>
              <a:t>Cross validation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Partition data into k disjoint subsets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k-fold: train on k-1 partitions, test on the remaining one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Leave-one-out:   k=n</a:t>
            </a:r>
          </a:p>
          <a:p>
            <a:pPr>
              <a:defRPr/>
            </a:pPr>
            <a:r>
              <a:rPr lang="en-US" sz="2400" dirty="0"/>
              <a:t>Stratified sampling 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oversampling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 err="1"/>
              <a:t>undersampling</a:t>
            </a:r>
            <a:endParaRPr lang="en-US" dirty="0"/>
          </a:p>
          <a:p>
            <a:pPr>
              <a:defRPr/>
            </a:pPr>
            <a:r>
              <a:rPr lang="en-US" sz="2400" dirty="0"/>
              <a:t>Bootstrap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Sampling with replacement</a:t>
            </a:r>
          </a:p>
        </p:txBody>
      </p:sp>
    </p:spTree>
    <p:extLst>
      <p:ext uri="{BB962C8B-B14F-4D97-AF65-F5344CB8AC3E}">
        <p14:creationId xmlns:p14="http://schemas.microsoft.com/office/powerpoint/2010/main" val="3576002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Titolo 1">
            <a:extLst>
              <a:ext uri="{FF2B5EF4-FFF2-40B4-BE49-F238E27FC236}">
                <a16:creationId xmlns:a16="http://schemas.microsoft.com/office/drawing/2014/main" id="{2ABF4586-D8A5-D34C-BA7A-12C97B3C07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Small &amp; Unbalanced Data</a:t>
            </a:r>
          </a:p>
        </p:txBody>
      </p:sp>
      <p:sp>
        <p:nvSpPr>
          <p:cNvPr id="152578" name="Segnaposto contenuto 2">
            <a:extLst>
              <a:ext uri="{FF2B5EF4-FFF2-40B4-BE49-F238E27FC236}">
                <a16:creationId xmlns:a16="http://schemas.microsoft.com/office/drawing/2014/main" id="{89688BDB-D7DA-474F-AA70-5E5C2F81CC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altLang="it-IT" sz="2400" dirty="0">
                <a:ea typeface="ＭＳ Ｐゴシック" panose="020B0600070205080204" pitchFamily="34" charset="-128"/>
              </a:rPr>
              <a:t>The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holdout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method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reserves</a:t>
            </a:r>
            <a:r>
              <a:rPr lang="it-IT" altLang="it-IT" sz="2400" dirty="0">
                <a:ea typeface="ＭＳ Ｐゴシック" panose="020B0600070205080204" pitchFamily="34" charset="-128"/>
              </a:rPr>
              <a:t> a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certain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amount</a:t>
            </a:r>
            <a:r>
              <a:rPr lang="it-IT" altLang="it-IT" sz="2400" dirty="0">
                <a:ea typeface="ＭＳ Ｐゴシック" panose="020B0600070205080204" pitchFamily="34" charset="-128"/>
              </a:rPr>
              <a:t> for </a:t>
            </a:r>
            <a:r>
              <a:rPr lang="it-IT" altLang="it-IT" sz="2400" b="1" dirty="0" err="1">
                <a:ea typeface="ＭＳ Ｐゴシック" panose="020B0600070205080204" pitchFamily="34" charset="-128"/>
              </a:rPr>
              <a:t>testing</a:t>
            </a:r>
            <a:r>
              <a:rPr lang="it-IT" altLang="it-IT" sz="2400" dirty="0">
                <a:ea typeface="ＭＳ Ｐゴシック" panose="020B0600070205080204" pitchFamily="34" charset="-128"/>
              </a:rPr>
              <a:t> and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uses</a:t>
            </a:r>
            <a:r>
              <a:rPr lang="it-IT" altLang="it-IT" sz="2400" dirty="0">
                <a:ea typeface="ＭＳ Ｐゴシック" panose="020B0600070205080204" pitchFamily="34" charset="-128"/>
              </a:rPr>
              <a:t> the remainder for </a:t>
            </a:r>
            <a:r>
              <a:rPr lang="it-IT" altLang="it-IT" sz="2400" b="1" dirty="0">
                <a:ea typeface="ＭＳ Ｐゴシック" panose="020B0600070205080204" pitchFamily="34" charset="-128"/>
              </a:rPr>
              <a:t>training </a:t>
            </a:r>
            <a:endParaRPr lang="it-IT" altLang="it-IT" sz="2400" dirty="0">
              <a:ea typeface="ＭＳ Ｐゴシック" panose="020B0600070205080204" pitchFamily="34" charset="-128"/>
            </a:endParaRPr>
          </a:p>
          <a:p>
            <a:r>
              <a:rPr lang="it-IT" altLang="it-IT" sz="2400" dirty="0" err="1">
                <a:ea typeface="ＭＳ Ｐゴシック" panose="020B0600070205080204" pitchFamily="34" charset="-128"/>
              </a:rPr>
              <a:t>Usually</a:t>
            </a:r>
            <a:r>
              <a:rPr lang="it-IT" altLang="it-IT" sz="2400" dirty="0">
                <a:ea typeface="ＭＳ Ｐゴシック" panose="020B0600070205080204" pitchFamily="34" charset="-128"/>
              </a:rPr>
              <a:t>, </a:t>
            </a:r>
            <a:r>
              <a:rPr lang="it-IT" altLang="it-IT" sz="2400" b="1" dirty="0" err="1">
                <a:ea typeface="ＭＳ Ｐゴシック" panose="020B0600070205080204" pitchFamily="34" charset="-128"/>
              </a:rPr>
              <a:t>one</a:t>
            </a:r>
            <a:r>
              <a:rPr lang="it-IT" altLang="it-IT" sz="2400" b="1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b="1" dirty="0" err="1">
                <a:ea typeface="ＭＳ Ｐゴシック" panose="020B0600070205080204" pitchFamily="34" charset="-128"/>
              </a:rPr>
              <a:t>third</a:t>
            </a:r>
            <a:r>
              <a:rPr lang="it-IT" altLang="it-IT" sz="2400" b="1" dirty="0">
                <a:ea typeface="ＭＳ Ｐゴシック" panose="020B0600070205080204" pitchFamily="34" charset="-128"/>
              </a:rPr>
              <a:t> for </a:t>
            </a:r>
            <a:r>
              <a:rPr lang="it-IT" altLang="it-IT" sz="2400" b="1" dirty="0" err="1">
                <a:ea typeface="ＭＳ Ｐゴシック" panose="020B0600070205080204" pitchFamily="34" charset="-128"/>
              </a:rPr>
              <a:t>testing</a:t>
            </a:r>
            <a:r>
              <a:rPr lang="it-IT" altLang="it-IT" sz="2400" dirty="0">
                <a:ea typeface="ＭＳ Ｐゴシック" panose="020B0600070205080204" pitchFamily="34" charset="-128"/>
              </a:rPr>
              <a:t>, the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rest</a:t>
            </a:r>
            <a:r>
              <a:rPr lang="it-IT" altLang="it-IT" sz="2400" dirty="0">
                <a:ea typeface="ＭＳ Ｐゴシック" panose="020B0600070205080204" pitchFamily="34" charset="-128"/>
              </a:rPr>
              <a:t> for training </a:t>
            </a:r>
          </a:p>
          <a:p>
            <a:r>
              <a:rPr lang="it-IT" altLang="it-IT" sz="2400" dirty="0">
                <a:ea typeface="ＭＳ Ｐゴシック" panose="020B0600070205080204" pitchFamily="34" charset="-128"/>
              </a:rPr>
              <a:t>For small or “</a:t>
            </a:r>
            <a:r>
              <a:rPr lang="it-IT" altLang="ja-JP" sz="2400" dirty="0" err="1">
                <a:ea typeface="ＭＳ Ｐゴシック" panose="020B0600070205080204" pitchFamily="34" charset="-128"/>
              </a:rPr>
              <a:t>unbalanced</a:t>
            </a:r>
            <a:r>
              <a:rPr lang="it-IT" altLang="it-IT" sz="2400" dirty="0">
                <a:ea typeface="ＭＳ Ｐゴシック" panose="020B0600070205080204" pitchFamily="34" charset="-128"/>
              </a:rPr>
              <a:t>”</a:t>
            </a:r>
            <a:r>
              <a:rPr lang="it-IT" altLang="ja-JP" sz="2400" dirty="0">
                <a:ea typeface="ＭＳ Ｐゴシック" panose="020B0600070205080204" pitchFamily="34" charset="-128"/>
              </a:rPr>
              <a:t> </a:t>
            </a:r>
            <a:r>
              <a:rPr lang="it-IT" altLang="ja-JP" sz="2400" dirty="0" err="1">
                <a:ea typeface="ＭＳ Ｐゴシック" panose="020B0600070205080204" pitchFamily="34" charset="-128"/>
              </a:rPr>
              <a:t>datasets</a:t>
            </a:r>
            <a:r>
              <a:rPr lang="it-IT" altLang="ja-JP" sz="2400" dirty="0">
                <a:ea typeface="ＭＳ Ｐゴシック" panose="020B0600070205080204" pitchFamily="34" charset="-128"/>
              </a:rPr>
              <a:t>, </a:t>
            </a:r>
            <a:r>
              <a:rPr lang="it-IT" altLang="ja-JP" sz="2400" b="1" dirty="0" err="1">
                <a:ea typeface="ＭＳ Ｐゴシック" panose="020B0600070205080204" pitchFamily="34" charset="-128"/>
              </a:rPr>
              <a:t>samples</a:t>
            </a:r>
            <a:r>
              <a:rPr lang="it-IT" altLang="ja-JP" sz="2400" b="1" dirty="0">
                <a:ea typeface="ＭＳ Ｐゴシック" panose="020B0600070205080204" pitchFamily="34" charset="-128"/>
              </a:rPr>
              <a:t> </a:t>
            </a:r>
            <a:r>
              <a:rPr lang="it-IT" altLang="ja-JP" sz="2400" b="1" dirty="0" err="1">
                <a:ea typeface="ＭＳ Ｐゴシック" panose="020B0600070205080204" pitchFamily="34" charset="-128"/>
              </a:rPr>
              <a:t>might</a:t>
            </a:r>
            <a:r>
              <a:rPr lang="it-IT" altLang="ja-JP" sz="2400" b="1" dirty="0">
                <a:ea typeface="ＭＳ Ｐゴシック" panose="020B0600070205080204" pitchFamily="34" charset="-128"/>
              </a:rPr>
              <a:t> </a:t>
            </a:r>
            <a:r>
              <a:rPr lang="it-IT" altLang="ja-JP" sz="2400" b="1" dirty="0" err="1">
                <a:ea typeface="ＭＳ Ｐゴシック" panose="020B0600070205080204" pitchFamily="34" charset="-128"/>
              </a:rPr>
              <a:t>not</a:t>
            </a:r>
            <a:r>
              <a:rPr lang="it-IT" altLang="ja-JP" sz="2400" b="1" dirty="0">
                <a:ea typeface="ＭＳ Ｐゴシック" panose="020B0600070205080204" pitchFamily="34" charset="-128"/>
              </a:rPr>
              <a:t> be </a:t>
            </a:r>
            <a:r>
              <a:rPr lang="it-IT" altLang="ja-JP" sz="2400" b="1" dirty="0" err="1">
                <a:ea typeface="ＭＳ Ｐゴシック" panose="020B0600070205080204" pitchFamily="34" charset="-128"/>
              </a:rPr>
              <a:t>representative</a:t>
            </a:r>
            <a:r>
              <a:rPr lang="it-IT" altLang="ja-JP" sz="2400" b="1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it-IT" altLang="it-IT" dirty="0">
                <a:ea typeface="ＭＳ Ｐゴシック" panose="020B0600070205080204" pitchFamily="34" charset="-128"/>
              </a:rPr>
              <a:t>For </a:t>
            </a:r>
            <a:r>
              <a:rPr lang="it-IT" altLang="it-IT" dirty="0" err="1">
                <a:ea typeface="ＭＳ Ｐゴシック" panose="020B0600070205080204" pitchFamily="34" charset="-128"/>
              </a:rPr>
              <a:t>instance</a:t>
            </a:r>
            <a:r>
              <a:rPr lang="it-IT" altLang="it-IT" dirty="0">
                <a:ea typeface="ＭＳ Ｐゴシック" panose="020B0600070205080204" pitchFamily="34" charset="-128"/>
              </a:rPr>
              <a:t>, </a:t>
            </a:r>
            <a:r>
              <a:rPr lang="it-IT" altLang="it-IT" dirty="0" err="1">
                <a:ea typeface="ＭＳ Ｐゴシック" panose="020B0600070205080204" pitchFamily="34" charset="-128"/>
              </a:rPr>
              <a:t>few</a:t>
            </a:r>
            <a:r>
              <a:rPr lang="it-IT" altLang="it-IT" dirty="0">
                <a:ea typeface="ＭＳ Ｐゴシック" panose="020B0600070205080204" pitchFamily="34" charset="-128"/>
              </a:rPr>
              <a:t> or none </a:t>
            </a:r>
            <a:r>
              <a:rPr lang="it-IT" altLang="it-IT" dirty="0" err="1">
                <a:ea typeface="ＭＳ Ｐゴシック" panose="020B0600070205080204" pitchFamily="34" charset="-128"/>
              </a:rPr>
              <a:t>instances</a:t>
            </a:r>
            <a:r>
              <a:rPr lang="it-IT" altLang="it-IT" dirty="0">
                <a:ea typeface="ＭＳ Ｐゴシック" panose="020B0600070205080204" pitchFamily="34" charset="-128"/>
              </a:rPr>
              <a:t> of some </a:t>
            </a:r>
            <a:r>
              <a:rPr lang="it-IT" altLang="it-IT" dirty="0" err="1">
                <a:ea typeface="ＭＳ Ｐゴシック" panose="020B0600070205080204" pitchFamily="34" charset="-128"/>
              </a:rPr>
              <a:t>classes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endParaRPr lang="it-IT" altLang="it-IT" sz="2400" dirty="0">
              <a:ea typeface="ＭＳ Ｐゴシック" panose="020B0600070205080204" pitchFamily="34" charset="-128"/>
            </a:endParaRPr>
          </a:p>
          <a:p>
            <a:r>
              <a:rPr lang="it-IT" altLang="it-IT" sz="2400" dirty="0" err="1">
                <a:ea typeface="ＭＳ Ｐゴシック" panose="020B0600070205080204" pitchFamily="34" charset="-128"/>
              </a:rPr>
              <a:t>Stratified</a:t>
            </a:r>
            <a:r>
              <a:rPr lang="it-IT" altLang="it-IT" sz="2400" dirty="0">
                <a:ea typeface="ＭＳ Ｐゴシック" panose="020B0600070205080204" pitchFamily="34" charset="-128"/>
              </a:rPr>
              <a:t> sample </a:t>
            </a:r>
          </a:p>
          <a:p>
            <a:pPr lvl="1"/>
            <a:r>
              <a:rPr lang="it-IT" altLang="it-IT" b="1" dirty="0" err="1">
                <a:ea typeface="ＭＳ Ｐゴシック" panose="020B0600070205080204" pitchFamily="34" charset="-128"/>
              </a:rPr>
              <a:t>Balancing</a:t>
            </a:r>
            <a:r>
              <a:rPr lang="it-IT" altLang="it-IT" b="1" dirty="0">
                <a:ea typeface="ＭＳ Ｐゴシック" panose="020B0600070205080204" pitchFamily="34" charset="-128"/>
              </a:rPr>
              <a:t> the data </a:t>
            </a:r>
          </a:p>
          <a:p>
            <a:pPr lvl="1"/>
            <a:r>
              <a:rPr lang="it-IT" altLang="it-IT" dirty="0" err="1">
                <a:ea typeface="ＭＳ Ｐゴシック" panose="020B0600070205080204" pitchFamily="34" charset="-128"/>
              </a:rPr>
              <a:t>Make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sure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that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each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class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is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represented</a:t>
            </a:r>
            <a:r>
              <a:rPr lang="it-IT" altLang="it-IT" dirty="0">
                <a:ea typeface="ＭＳ Ｐゴシック" panose="020B0600070205080204" pitchFamily="34" charset="-128"/>
              </a:rPr>
              <a:t> with </a:t>
            </a:r>
            <a:r>
              <a:rPr lang="it-IT" altLang="it-IT" dirty="0" err="1">
                <a:ea typeface="ＭＳ Ｐゴシック" panose="020B0600070205080204" pitchFamily="34" charset="-128"/>
              </a:rPr>
              <a:t>approximately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equal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proportions</a:t>
            </a:r>
            <a:r>
              <a:rPr lang="it-IT" altLang="it-IT" dirty="0">
                <a:ea typeface="ＭＳ Ｐゴシック" panose="020B0600070205080204" pitchFamily="34" charset="-128"/>
              </a:rPr>
              <a:t> in </a:t>
            </a:r>
            <a:r>
              <a:rPr lang="it-IT" altLang="it-IT" dirty="0" err="1">
                <a:ea typeface="ＭＳ Ｐゴシック" panose="020B0600070205080204" pitchFamily="34" charset="-128"/>
              </a:rPr>
              <a:t>both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subsets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</a:p>
          <a:p>
            <a:endParaRPr lang="it-IT" altLang="it-IT" sz="32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3184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Titolo 1">
            <a:extLst>
              <a:ext uri="{FF2B5EF4-FFF2-40B4-BE49-F238E27FC236}">
                <a16:creationId xmlns:a16="http://schemas.microsoft.com/office/drawing/2014/main" id="{B3EFDFF5-6522-B34E-8BB0-BED7894DB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Repeated holdout method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5FAD95-2B0B-5A4E-95BD-4C71CC5B0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it-IT" sz="2400" dirty="0" err="1"/>
              <a:t>Holdout</a:t>
            </a:r>
            <a:r>
              <a:rPr lang="it-IT" sz="2400" dirty="0"/>
              <a:t> estimate can be made more </a:t>
            </a:r>
            <a:r>
              <a:rPr lang="it-IT" sz="2400" dirty="0" err="1"/>
              <a:t>reliable</a:t>
            </a:r>
            <a:r>
              <a:rPr lang="it-IT" sz="2400" dirty="0"/>
              <a:t> by </a:t>
            </a:r>
            <a:r>
              <a:rPr lang="it-IT" sz="2400" b="1" dirty="0" err="1"/>
              <a:t>repeating</a:t>
            </a:r>
            <a:r>
              <a:rPr lang="it-IT" sz="2400" b="1" dirty="0"/>
              <a:t> the </a:t>
            </a:r>
            <a:r>
              <a:rPr lang="it-IT" sz="2400" b="1" dirty="0" err="1"/>
              <a:t>process</a:t>
            </a:r>
            <a:r>
              <a:rPr lang="it-IT" sz="2400" b="1" dirty="0"/>
              <a:t> with </a:t>
            </a:r>
            <a:r>
              <a:rPr lang="it-IT" sz="2400" b="1" dirty="0" err="1"/>
              <a:t>different</a:t>
            </a:r>
            <a:r>
              <a:rPr lang="it-IT" sz="2400" b="1" dirty="0"/>
              <a:t> </a:t>
            </a:r>
            <a:r>
              <a:rPr lang="it-IT" sz="2400" b="1" dirty="0" err="1"/>
              <a:t>subsamples</a:t>
            </a:r>
            <a:endParaRPr lang="it-IT" sz="2400" b="1" dirty="0"/>
          </a:p>
          <a:p>
            <a:pPr>
              <a:buFont typeface="Monotype Sorts" charset="0"/>
              <a:buChar char="l"/>
              <a:defRPr/>
            </a:pPr>
            <a:endParaRPr lang="it-IT" sz="2400" dirty="0"/>
          </a:p>
          <a:p>
            <a:pPr lvl="1">
              <a:buFont typeface="Arial" charset="0"/>
              <a:buChar char="–"/>
              <a:defRPr/>
            </a:pPr>
            <a:r>
              <a:rPr lang="it-IT" dirty="0"/>
              <a:t>In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iteration</a:t>
            </a:r>
            <a:r>
              <a:rPr lang="it-IT" dirty="0"/>
              <a:t>, a </a:t>
            </a:r>
            <a:r>
              <a:rPr lang="it-IT" dirty="0" err="1"/>
              <a:t>certain</a:t>
            </a:r>
            <a:r>
              <a:rPr lang="it-IT" dirty="0"/>
              <a:t> </a:t>
            </a:r>
            <a:r>
              <a:rPr lang="it-IT" dirty="0" err="1"/>
              <a:t>proportion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b="1" dirty="0" err="1"/>
              <a:t>randomly</a:t>
            </a:r>
            <a:r>
              <a:rPr lang="it-IT" b="1" dirty="0"/>
              <a:t> </a:t>
            </a:r>
            <a:r>
              <a:rPr lang="it-IT" b="1" dirty="0" err="1"/>
              <a:t>selected</a:t>
            </a:r>
            <a:r>
              <a:rPr lang="it-IT" b="1" dirty="0"/>
              <a:t> for training</a:t>
            </a:r>
            <a:r>
              <a:rPr lang="it-IT" dirty="0"/>
              <a:t> (</a:t>
            </a:r>
            <a:r>
              <a:rPr lang="it-IT" dirty="0" err="1"/>
              <a:t>possibly</a:t>
            </a:r>
            <a:r>
              <a:rPr lang="it-IT" dirty="0"/>
              <a:t> with </a:t>
            </a:r>
            <a:r>
              <a:rPr lang="it-IT" dirty="0" err="1"/>
              <a:t>stratification</a:t>
            </a:r>
            <a:r>
              <a:rPr lang="it-IT" dirty="0"/>
              <a:t>) </a:t>
            </a:r>
          </a:p>
          <a:p>
            <a:pPr lvl="1">
              <a:buFont typeface="Arial" charset="0"/>
              <a:buChar char="–"/>
              <a:defRPr/>
            </a:pPr>
            <a:r>
              <a:rPr lang="it-IT" dirty="0"/>
              <a:t>The </a:t>
            </a:r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rates</a:t>
            </a:r>
            <a:r>
              <a:rPr lang="it-IT" dirty="0"/>
              <a:t> on the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iterations</a:t>
            </a:r>
            <a:r>
              <a:rPr lang="it-IT" dirty="0"/>
              <a:t> are </a:t>
            </a:r>
            <a:r>
              <a:rPr lang="it-IT" b="1" dirty="0" err="1"/>
              <a:t>averaged</a:t>
            </a:r>
            <a:r>
              <a:rPr lang="it-IT" dirty="0"/>
              <a:t> to </a:t>
            </a:r>
            <a:r>
              <a:rPr lang="it-IT" dirty="0" err="1"/>
              <a:t>yield</a:t>
            </a:r>
            <a:r>
              <a:rPr lang="it-IT" dirty="0"/>
              <a:t> an </a:t>
            </a:r>
            <a:r>
              <a:rPr lang="it-IT" dirty="0" err="1"/>
              <a:t>overall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rate </a:t>
            </a:r>
          </a:p>
          <a:p>
            <a:pPr lvl="1">
              <a:buFont typeface="Arial" charset="0"/>
              <a:buChar char="–"/>
              <a:defRPr/>
            </a:pPr>
            <a:endParaRPr lang="it-IT" dirty="0"/>
          </a:p>
          <a:p>
            <a:pPr>
              <a:defRPr/>
            </a:pP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called</a:t>
            </a:r>
            <a:r>
              <a:rPr lang="it-IT" sz="2400" dirty="0"/>
              <a:t> the </a:t>
            </a:r>
            <a:r>
              <a:rPr lang="it-IT" sz="2400" b="1" dirty="0" err="1">
                <a:solidFill>
                  <a:schemeClr val="accent5">
                    <a:lumMod val="50000"/>
                  </a:schemeClr>
                </a:solidFill>
              </a:rPr>
              <a:t>repeated</a:t>
            </a:r>
            <a:r>
              <a:rPr lang="it-IT" sz="2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it-IT" sz="2400" b="1" dirty="0" err="1">
                <a:solidFill>
                  <a:schemeClr val="accent5">
                    <a:lumMod val="50000"/>
                  </a:schemeClr>
                </a:solidFill>
              </a:rPr>
              <a:t>holdout</a:t>
            </a:r>
            <a:r>
              <a:rPr lang="it-IT" sz="2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it-IT" sz="2400" b="1" dirty="0" err="1">
                <a:solidFill>
                  <a:schemeClr val="accent5">
                    <a:lumMod val="50000"/>
                  </a:schemeClr>
                </a:solidFill>
              </a:rPr>
              <a:t>method</a:t>
            </a:r>
            <a:r>
              <a:rPr lang="it-IT" sz="2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>
              <a:defRPr/>
            </a:pPr>
            <a:r>
              <a:rPr lang="it-IT" sz="2400" dirty="0" err="1"/>
              <a:t>Still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optimum: the </a:t>
            </a:r>
            <a:r>
              <a:rPr lang="it-IT" sz="2400" dirty="0" err="1"/>
              <a:t>different</a:t>
            </a:r>
            <a:r>
              <a:rPr lang="it-IT" sz="2400" dirty="0"/>
              <a:t> test sets </a:t>
            </a:r>
            <a:r>
              <a:rPr lang="it-IT" sz="2400" dirty="0" err="1"/>
              <a:t>overlap</a:t>
            </a:r>
            <a:endParaRPr lang="it-IT" sz="2400" dirty="0"/>
          </a:p>
          <a:p>
            <a:pPr>
              <a:buFont typeface="Monotype Sorts" charset="0"/>
              <a:buChar char="l"/>
              <a:defRPr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3978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Title 1">
            <a:extLst>
              <a:ext uri="{FF2B5EF4-FFF2-40B4-BE49-F238E27FC236}">
                <a16:creationId xmlns:a16="http://schemas.microsoft.com/office/drawing/2014/main" id="{27672790-BE6F-EE45-881F-1082FCCC3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Cross Validation</a:t>
            </a:r>
          </a:p>
        </p:txBody>
      </p:sp>
      <p:sp>
        <p:nvSpPr>
          <p:cNvPr id="154626" name="Content Placeholder 2">
            <a:extLst>
              <a:ext uri="{FF2B5EF4-FFF2-40B4-BE49-F238E27FC236}">
                <a16:creationId xmlns:a16="http://schemas.microsoft.com/office/drawing/2014/main" id="{D8B7D1CB-EF74-4541-A361-CBE57EA30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t-IT" sz="2200">
                <a:ea typeface="ＭＳ Ｐゴシック" panose="020B0600070205080204" pitchFamily="34" charset="-128"/>
              </a:rPr>
              <a:t>Avoids overlapping test sets </a:t>
            </a:r>
          </a:p>
          <a:p>
            <a:pPr lvl="1"/>
            <a:r>
              <a:rPr lang="en-US" altLang="it-IT" sz="2000" b="1">
                <a:ea typeface="ＭＳ Ｐゴシック" panose="020B0600070205080204" pitchFamily="34" charset="-128"/>
              </a:rPr>
              <a:t>First step: </a:t>
            </a:r>
            <a:r>
              <a:rPr lang="en-US" altLang="it-IT" sz="2000">
                <a:ea typeface="ＭＳ Ｐゴシック" panose="020B0600070205080204" pitchFamily="34" charset="-128"/>
              </a:rPr>
              <a:t>data is split into k subsets of equal size</a:t>
            </a:r>
          </a:p>
          <a:p>
            <a:pPr lvl="1"/>
            <a:r>
              <a:rPr lang="en-US" altLang="it-IT" sz="2000" b="1">
                <a:ea typeface="ＭＳ Ｐゴシック" panose="020B0600070205080204" pitchFamily="34" charset="-128"/>
              </a:rPr>
              <a:t>Second step: </a:t>
            </a:r>
            <a:r>
              <a:rPr lang="en-US" altLang="it-IT" sz="2000">
                <a:ea typeface="ＭＳ Ｐゴシック" panose="020B0600070205080204" pitchFamily="34" charset="-128"/>
              </a:rPr>
              <a:t>each subset in turn is used for testing and the remainder for training </a:t>
            </a:r>
          </a:p>
          <a:p>
            <a:r>
              <a:rPr lang="en-US" altLang="it-IT" sz="2200">
                <a:ea typeface="ＭＳ Ｐゴシック" panose="020B0600070205080204" pitchFamily="34" charset="-128"/>
              </a:rPr>
              <a:t>This is called </a:t>
            </a:r>
            <a:r>
              <a:rPr lang="en-US" altLang="it-IT" sz="2200" b="1">
                <a:ea typeface="ＭＳ Ｐゴシック" panose="020B0600070205080204" pitchFamily="34" charset="-128"/>
              </a:rPr>
              <a:t>k-fold cross-validation </a:t>
            </a:r>
          </a:p>
          <a:p>
            <a:endParaRPr lang="en-US" altLang="it-IT" sz="1400">
              <a:ea typeface="ＭＳ Ｐゴシック" panose="020B0600070205080204" pitchFamily="34" charset="-128"/>
            </a:endParaRPr>
          </a:p>
          <a:p>
            <a:r>
              <a:rPr lang="en-US" altLang="it-IT" sz="2200">
                <a:ea typeface="ＭＳ Ｐゴシック" panose="020B0600070205080204" pitchFamily="34" charset="-128"/>
              </a:rPr>
              <a:t>Often the subsets are stratified before cross-validation is performed </a:t>
            </a:r>
          </a:p>
          <a:p>
            <a:endParaRPr lang="en-US" altLang="it-IT" sz="1600">
              <a:ea typeface="ＭＳ Ｐゴシック" panose="020B0600070205080204" pitchFamily="34" charset="-128"/>
            </a:endParaRPr>
          </a:p>
          <a:p>
            <a:r>
              <a:rPr lang="en-US" altLang="it-IT" sz="2200">
                <a:ea typeface="ＭＳ Ｐゴシック" panose="020B0600070205080204" pitchFamily="34" charset="-128"/>
              </a:rPr>
              <a:t>The </a:t>
            </a:r>
            <a:r>
              <a:rPr lang="en-US" altLang="it-IT" sz="2200" b="1">
                <a:ea typeface="ＭＳ Ｐゴシック" panose="020B0600070205080204" pitchFamily="34" charset="-128"/>
              </a:rPr>
              <a:t>error estimates </a:t>
            </a:r>
            <a:r>
              <a:rPr lang="en-US" altLang="it-IT" sz="2200">
                <a:ea typeface="ＭＳ Ｐゴシック" panose="020B0600070205080204" pitchFamily="34" charset="-128"/>
              </a:rPr>
              <a:t>are </a:t>
            </a:r>
            <a:r>
              <a:rPr lang="en-US" altLang="it-IT" sz="2200" b="1">
                <a:ea typeface="ＭＳ Ｐゴシック" panose="020B0600070205080204" pitchFamily="34" charset="-128"/>
              </a:rPr>
              <a:t>averaged</a:t>
            </a:r>
            <a:r>
              <a:rPr lang="en-US" altLang="it-IT" sz="2200">
                <a:ea typeface="ＭＳ Ｐゴシック" panose="020B0600070205080204" pitchFamily="34" charset="-128"/>
              </a:rPr>
              <a:t> to yield an overall error estimate </a:t>
            </a:r>
          </a:p>
          <a:p>
            <a:endParaRPr lang="en-US" altLang="it-IT" sz="1400">
              <a:ea typeface="ＭＳ Ｐゴシック" panose="020B0600070205080204" pitchFamily="34" charset="-128"/>
            </a:endParaRPr>
          </a:p>
          <a:p>
            <a:r>
              <a:rPr lang="en-US" altLang="it-IT" sz="2200" b="1">
                <a:ea typeface="ＭＳ Ｐゴシック" panose="020B0600070205080204" pitchFamily="34" charset="-128"/>
              </a:rPr>
              <a:t>Even better: </a:t>
            </a:r>
            <a:r>
              <a:rPr lang="en-US" altLang="it-IT" sz="2200">
                <a:ea typeface="ＭＳ Ｐゴシック" panose="020B0600070205080204" pitchFamily="34" charset="-128"/>
              </a:rPr>
              <a:t>repeated stratified cross-validation E.g. ten-fold cross-validation is repeated ten times and results are averaged (reduces the variance) </a:t>
            </a:r>
          </a:p>
          <a:p>
            <a:endParaRPr lang="en-US" altLang="it-IT" sz="2200">
              <a:ea typeface="ＭＳ Ｐゴシック" panose="020B0600070205080204" pitchFamily="34" charset="-128"/>
            </a:endParaRPr>
          </a:p>
          <a:p>
            <a:endParaRPr lang="en-US" altLang="it-IT" sz="2200">
              <a:ea typeface="ＭＳ Ｐゴシック" panose="020B0600070205080204" pitchFamily="34" charset="-128"/>
            </a:endParaRPr>
          </a:p>
          <a:p>
            <a:endParaRPr lang="en-US" altLang="it-IT" sz="2400">
              <a:ea typeface="ＭＳ Ｐゴシック" panose="020B0600070205080204" pitchFamily="34" charset="-128"/>
            </a:endParaRPr>
          </a:p>
        </p:txBody>
      </p:sp>
      <p:pic>
        <p:nvPicPr>
          <p:cNvPr id="154627" name="Picture 3">
            <a:extLst>
              <a:ext uri="{FF2B5EF4-FFF2-40B4-BE49-F238E27FC236}">
                <a16:creationId xmlns:a16="http://schemas.microsoft.com/office/drawing/2014/main" id="{9965930F-D844-9644-AB16-55E749CC3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102" y="246355"/>
            <a:ext cx="4131226" cy="215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40475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850" name="Rectangle 2">
            <a:extLst>
              <a:ext uri="{FF2B5EF4-FFF2-40B4-BE49-F238E27FC236}">
                <a16:creationId xmlns:a16="http://schemas.microsoft.com/office/drawing/2014/main" id="{4ADACEB4-2B01-204F-AFB8-0AA644694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Model Evaluation</a:t>
            </a:r>
          </a:p>
        </p:txBody>
      </p:sp>
      <p:sp>
        <p:nvSpPr>
          <p:cNvPr id="974851" name="Rectangle 3">
            <a:extLst>
              <a:ext uri="{FF2B5EF4-FFF2-40B4-BE49-F238E27FC236}">
                <a16:creationId xmlns:a16="http://schemas.microsoft.com/office/drawing/2014/main" id="{2B1CAAF3-D581-A743-883D-BFCCF24348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Metrics for Performance Evaluation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evaluate the performance of a model?</a:t>
            </a:r>
          </a:p>
          <a:p>
            <a:pPr lvl="1">
              <a:buFont typeface="Arial" charset="0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Methods for Performance Evaluation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obtain reliable estimates?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  <a:cs typeface="+mn-cs"/>
              </a:rPr>
              <a:t>Methods for Model Comparison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to compare the relative performance among competing models?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2731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874" name="Rectangle 2">
            <a:extLst>
              <a:ext uri="{FF2B5EF4-FFF2-40B4-BE49-F238E27FC236}">
                <a16:creationId xmlns:a16="http://schemas.microsoft.com/office/drawing/2014/main" id="{17DB6A0E-B3E4-534F-96F5-2615D28F7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cs typeface="+mj-cs"/>
              </a:rPr>
              <a:t>ROC (Receiver Operating Characteristic)</a:t>
            </a:r>
          </a:p>
        </p:txBody>
      </p:sp>
      <p:sp>
        <p:nvSpPr>
          <p:cNvPr id="975875" name="Rectangle 3">
            <a:extLst>
              <a:ext uri="{FF2B5EF4-FFF2-40B4-BE49-F238E27FC236}">
                <a16:creationId xmlns:a16="http://schemas.microsoft.com/office/drawing/2014/main" id="{8A875C64-297D-2F49-B383-931D3E307A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Developed in 1950s for signal detection theory to analyze noisy signals 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Characterize the trade-off between positive hits and false alarms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endParaRPr lang="en-US" dirty="0"/>
          </a:p>
          <a:p>
            <a:pPr>
              <a:defRPr/>
            </a:pPr>
            <a:r>
              <a:rPr lang="en-US" sz="2400" dirty="0"/>
              <a:t>ROC curve plots TP (on the y-axis) against FP (on the x-axis)</a:t>
            </a: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endParaRPr lang="en-US" sz="2400" dirty="0"/>
          </a:p>
          <a:p>
            <a:pPr>
              <a:defRPr/>
            </a:pPr>
            <a:r>
              <a:rPr lang="en-US" sz="2400" b="1" dirty="0"/>
              <a:t>Performance of each classifier represented as a point on the ROC curve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changing the threshold of algorithm, sample distribution or cost matrix changes the location of the point</a:t>
            </a: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85308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1822BE-51DB-8644-97BF-A590368C5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Receiver Operating Characteristic Curve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B6922E-D6E2-2649-8B7B-509DCB180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603435" cy="4879975"/>
          </a:xfrm>
        </p:spPr>
        <p:txBody>
          <a:bodyPr>
            <a:normAutofit/>
          </a:bodyPr>
          <a:lstStyle/>
          <a:p>
            <a:r>
              <a:rPr lang="en-US" noProof="0" dirty="0"/>
              <a:t>It illustrates the ability of a binary classifier as its discrimination threshold THR is varied.</a:t>
            </a:r>
          </a:p>
          <a:p>
            <a:r>
              <a:rPr lang="en-US" noProof="0" dirty="0"/>
              <a:t>The </a:t>
            </a:r>
            <a:r>
              <a:rPr lang="en-US" b="1" i="1" noProof="0" dirty="0"/>
              <a:t>ROC</a:t>
            </a:r>
            <a:r>
              <a:rPr lang="en-US" noProof="0" dirty="0"/>
              <a:t> curve is created by plotting the true positive rate (TPR) against the false positive rate (FPR) at various THR.</a:t>
            </a:r>
          </a:p>
          <a:p>
            <a:r>
              <a:rPr lang="en-US" noProof="0" dirty="0"/>
              <a:t>The TPR = TP / (TP + FN) is also known as </a:t>
            </a:r>
            <a:r>
              <a:rPr lang="en-US" b="1" i="1" noProof="0" dirty="0"/>
              <a:t>sensitivity</a:t>
            </a:r>
            <a:r>
              <a:rPr lang="en-US" noProof="0" dirty="0"/>
              <a:t>, </a:t>
            </a:r>
            <a:r>
              <a:rPr lang="en-US" b="1" i="1" noProof="0" dirty="0"/>
              <a:t>recall</a:t>
            </a:r>
            <a:r>
              <a:rPr lang="en-US" noProof="0" dirty="0"/>
              <a:t> or probability of detection. </a:t>
            </a:r>
          </a:p>
          <a:p>
            <a:r>
              <a:rPr lang="en-US" noProof="0" dirty="0"/>
              <a:t>The FPR = FP / (TN + FP) is also known as probability of </a:t>
            </a:r>
            <a:r>
              <a:rPr lang="en-US" b="1" i="1" noProof="0" dirty="0"/>
              <a:t>false alarm </a:t>
            </a:r>
            <a:r>
              <a:rPr lang="en-US" noProof="0" dirty="0"/>
              <a:t>and can be calculated as (1 − specificity).</a:t>
            </a:r>
          </a:p>
          <a:p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8E706D-4B0D-BE42-B4B6-52284A19D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734" y="1427921"/>
            <a:ext cx="3933902" cy="3687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8542388-E462-9D4C-9073-FB0E3E02F215}"/>
              </a:ext>
            </a:extLst>
          </p:cNvPr>
          <p:cNvSpPr txBox="1"/>
          <p:nvPr/>
        </p:nvSpPr>
        <p:spPr>
          <a:xfrm>
            <a:off x="838200" y="6352140"/>
            <a:ext cx="7455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linkClick r:id="rId4"/>
              </a:rPr>
              <a:t>https://towardsdatascience.com/understanding-auc-roc-curve-68b2303cc9c5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5868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898" name="Rectangle 2">
            <a:extLst>
              <a:ext uri="{FF2B5EF4-FFF2-40B4-BE49-F238E27FC236}">
                <a16:creationId xmlns:a16="http://schemas.microsoft.com/office/drawing/2014/main" id="{ABADC0CF-0144-DF4A-8C40-99BF0C5E46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ROC Curve</a:t>
            </a:r>
          </a:p>
        </p:txBody>
      </p:sp>
      <p:sp>
        <p:nvSpPr>
          <p:cNvPr id="158722" name="Text Box 9">
            <a:extLst>
              <a:ext uri="{FF2B5EF4-FFF2-40B4-BE49-F238E27FC236}">
                <a16:creationId xmlns:a16="http://schemas.microsoft.com/office/drawing/2014/main" id="{E42A0404-4789-BB4F-8CA6-89F4B30AE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371601"/>
            <a:ext cx="8229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- 1-dimensional data set containing 2 classes (positive and negative)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- any points located at x &gt; t is classified as positive</a:t>
            </a:r>
          </a:p>
        </p:txBody>
      </p:sp>
      <p:pic>
        <p:nvPicPr>
          <p:cNvPr id="158723" name="Picture 3">
            <a:extLst>
              <a:ext uri="{FF2B5EF4-FFF2-40B4-BE49-F238E27FC236}">
                <a16:creationId xmlns:a16="http://schemas.microsoft.com/office/drawing/2014/main" id="{C4D4B678-1FA4-404C-A00D-1D43A6E16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" r="5714"/>
          <a:stretch>
            <a:fillRect/>
          </a:stretch>
        </p:blipFill>
        <p:spPr bwMode="auto">
          <a:xfrm>
            <a:off x="1524000" y="2324100"/>
            <a:ext cx="43434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76901" name="Group 5">
            <a:extLst>
              <a:ext uri="{FF2B5EF4-FFF2-40B4-BE49-F238E27FC236}">
                <a16:creationId xmlns:a16="http://schemas.microsoft.com/office/drawing/2014/main" id="{75D985C8-92E8-F446-9EF0-B3B35C49E95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218853"/>
            <a:ext cx="8763000" cy="4648200"/>
            <a:chOff x="960" y="1066"/>
            <a:chExt cx="5520" cy="2928"/>
          </a:xfrm>
        </p:grpSpPr>
        <p:pic>
          <p:nvPicPr>
            <p:cNvPr id="158726" name="Picture 6">
              <a:extLst>
                <a:ext uri="{FF2B5EF4-FFF2-40B4-BE49-F238E27FC236}">
                  <a16:creationId xmlns:a16="http://schemas.microsoft.com/office/drawing/2014/main" id="{C6503960-066D-3043-B5CC-6F85FC8086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9" r="6557"/>
            <a:stretch>
              <a:fillRect/>
            </a:stretch>
          </p:blipFill>
          <p:spPr bwMode="auto">
            <a:xfrm>
              <a:off x="3552" y="1066"/>
              <a:ext cx="2928" cy="2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8727" name="Text Box 7">
              <a:extLst>
                <a:ext uri="{FF2B5EF4-FFF2-40B4-BE49-F238E27FC236}">
                  <a16:creationId xmlns:a16="http://schemas.microsoft.com/office/drawing/2014/main" id="{7876E36C-DD8F-D04E-B103-67E4B3E9D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322"/>
              <a:ext cx="3360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2000"/>
                <a:t>At threshold t:</a:t>
              </a:r>
            </a:p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2000"/>
                <a:t>TP=0.5, FN=0.5, FP=0.12, FN=0.88</a:t>
              </a:r>
            </a:p>
          </p:txBody>
        </p:sp>
        <p:sp>
          <p:nvSpPr>
            <p:cNvPr id="158728" name="Line 8">
              <a:extLst>
                <a:ext uri="{FF2B5EF4-FFF2-40B4-BE49-F238E27FC236}">
                  <a16:creationId xmlns:a16="http://schemas.microsoft.com/office/drawing/2014/main" id="{5BFD782D-51B1-9B40-B1C4-D652E1F656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410"/>
              <a:ext cx="1392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8725" name="Oval 4">
            <a:extLst>
              <a:ext uri="{FF2B5EF4-FFF2-40B4-BE49-F238E27FC236}">
                <a16:creationId xmlns:a16="http://schemas.microsoft.com/office/drawing/2014/main" id="{7BF3DEC5-3A34-7B48-AF95-92863596DC46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6751639" y="4343400"/>
            <a:ext cx="46037" cy="76200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</p:spTree>
    <p:extLst>
      <p:ext uri="{BB962C8B-B14F-4D97-AF65-F5344CB8AC3E}">
        <p14:creationId xmlns:p14="http://schemas.microsoft.com/office/powerpoint/2010/main" val="242153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802CBC-F5A6-BFE9-CFE0-BDC77806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026" name="Picture 2" descr="ROC Curve and AUC: Evaluating Model Performance | by İlyurek Kılıç | Medium">
            <a:extLst>
              <a:ext uri="{FF2B5EF4-FFF2-40B4-BE49-F238E27FC236}">
                <a16:creationId xmlns:a16="http://schemas.microsoft.com/office/drawing/2014/main" id="{7D1EA471-3AFF-4965-0F21-75474E0A4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587" y="20002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2A8C8D6-2839-FA1D-275D-E7FB02D24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311" y="2104103"/>
            <a:ext cx="2991207" cy="3755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6460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922" name="Rectangle 2">
            <a:extLst>
              <a:ext uri="{FF2B5EF4-FFF2-40B4-BE49-F238E27FC236}">
                <a16:creationId xmlns:a16="http://schemas.microsoft.com/office/drawing/2014/main" id="{03571E70-15EC-4546-A3FA-1ABA97A12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ROC Curve</a:t>
            </a:r>
          </a:p>
        </p:txBody>
      </p:sp>
      <p:sp>
        <p:nvSpPr>
          <p:cNvPr id="977923" name="Rectangle 3">
            <a:extLst>
              <a:ext uri="{FF2B5EF4-FFF2-40B4-BE49-F238E27FC236}">
                <a16:creationId xmlns:a16="http://schemas.microsoft.com/office/drawing/2014/main" id="{2A63E8A0-400E-C843-8172-1B5A4170A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8171" y="1572209"/>
            <a:ext cx="5296678" cy="5181600"/>
          </a:xfrm>
        </p:spPr>
        <p:txBody>
          <a:bodyPr/>
          <a:lstStyle/>
          <a:p>
            <a:pPr>
              <a:buFont typeface="Monotype Sorts" charset="0"/>
              <a:buNone/>
              <a:defRPr/>
            </a:pPr>
            <a:r>
              <a:rPr lang="en-US" sz="2400" dirty="0"/>
              <a:t>(TPR,FPR):</a:t>
            </a:r>
          </a:p>
          <a:p>
            <a:pPr>
              <a:defRPr/>
            </a:pPr>
            <a:r>
              <a:rPr lang="en-US" sz="2400" dirty="0"/>
              <a:t>(0,0): declare everything</a:t>
            </a:r>
            <a:br>
              <a:rPr lang="en-US" sz="2400" dirty="0"/>
            </a:br>
            <a:r>
              <a:rPr lang="en-US" sz="2400" dirty="0"/>
              <a:t>          to be negative class</a:t>
            </a:r>
          </a:p>
          <a:p>
            <a:pPr>
              <a:defRPr/>
            </a:pPr>
            <a:r>
              <a:rPr lang="en-US" sz="2400" dirty="0"/>
              <a:t>(1,1): declare everything</a:t>
            </a:r>
            <a:br>
              <a:rPr lang="en-US" sz="2400" dirty="0"/>
            </a:br>
            <a:r>
              <a:rPr lang="en-US" sz="2400" dirty="0"/>
              <a:t>         to be positive class</a:t>
            </a:r>
          </a:p>
          <a:p>
            <a:pPr>
              <a:defRPr/>
            </a:pPr>
            <a:r>
              <a:rPr lang="en-US" sz="2400" dirty="0"/>
              <a:t>(0,1): ideal</a:t>
            </a:r>
          </a:p>
          <a:p>
            <a:pPr>
              <a:buFont typeface="Monotype Sorts" charset="0"/>
              <a:buNone/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Diagonal line: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Random guessing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Below diagonal line:</a:t>
            </a:r>
          </a:p>
          <a:p>
            <a:pPr lvl="2">
              <a:defRPr/>
            </a:pPr>
            <a:r>
              <a:rPr lang="en-US" dirty="0"/>
              <a:t>prediction is opposite of the true class</a:t>
            </a:r>
          </a:p>
        </p:txBody>
      </p:sp>
      <p:pic>
        <p:nvPicPr>
          <p:cNvPr id="159747" name="Picture 4">
            <a:extLst>
              <a:ext uri="{FF2B5EF4-FFF2-40B4-BE49-F238E27FC236}">
                <a16:creationId xmlns:a16="http://schemas.microsoft.com/office/drawing/2014/main" id="{6254E6B5-8928-7048-B408-078484478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" r="6557"/>
          <a:stretch>
            <a:fillRect/>
          </a:stretch>
        </p:blipFill>
        <p:spPr bwMode="auto">
          <a:xfrm>
            <a:off x="6994849" y="1376266"/>
            <a:ext cx="4800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14826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946" name="Rectangle 2">
            <a:extLst>
              <a:ext uri="{FF2B5EF4-FFF2-40B4-BE49-F238E27FC236}">
                <a16:creationId xmlns:a16="http://schemas.microsoft.com/office/drawing/2014/main" id="{5E3F3E18-6343-D346-9ED3-351F92A551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Using ROC for Model Comparison</a:t>
            </a:r>
          </a:p>
        </p:txBody>
      </p:sp>
      <p:pic>
        <p:nvPicPr>
          <p:cNvPr id="160770" name="Picture 3">
            <a:extLst>
              <a:ext uri="{FF2B5EF4-FFF2-40B4-BE49-F238E27FC236}">
                <a16:creationId xmlns:a16="http://schemas.microsoft.com/office/drawing/2014/main" id="{D5A6E71A-F35A-634E-980D-82267AE51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2" r="8220"/>
          <a:stretch>
            <a:fillRect/>
          </a:stretch>
        </p:blipFill>
        <p:spPr bwMode="auto">
          <a:xfrm>
            <a:off x="1506894" y="1620417"/>
            <a:ext cx="525780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771" name="Rectangle 4">
            <a:extLst>
              <a:ext uri="{FF2B5EF4-FFF2-40B4-BE49-F238E27FC236}">
                <a16:creationId xmlns:a16="http://schemas.microsoft.com/office/drawing/2014/main" id="{ABB86CCD-2C50-F342-BA49-F250B5881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894" y="1544216"/>
            <a:ext cx="3581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sz="2400"/>
              <a:t>No model consistently outperform the other</a:t>
            </a:r>
          </a:p>
          <a:p>
            <a:pPr lvl="1">
              <a:buSzPct val="75000"/>
              <a:buFont typeface="Monotype Sorts" pitchFamily="2" charset="2"/>
              <a:buChar char="l"/>
            </a:pPr>
            <a:r>
              <a:rPr lang="en-US" altLang="it-IT" sz="2400"/>
              <a:t>M</a:t>
            </a:r>
            <a:r>
              <a:rPr lang="en-US" altLang="it-IT" sz="2400" baseline="-25000"/>
              <a:t>1</a:t>
            </a:r>
            <a:r>
              <a:rPr lang="en-US" altLang="it-IT" sz="2400"/>
              <a:t> is better for small FPR</a:t>
            </a:r>
          </a:p>
          <a:p>
            <a:pPr lvl="1">
              <a:buSzPct val="75000"/>
              <a:buFont typeface="Monotype Sorts" pitchFamily="2" charset="2"/>
              <a:buChar char="l"/>
            </a:pPr>
            <a:r>
              <a:rPr lang="en-US" altLang="it-IT" sz="2400"/>
              <a:t>M</a:t>
            </a:r>
            <a:r>
              <a:rPr lang="en-US" altLang="it-IT" sz="2400" baseline="-25000"/>
              <a:t>2</a:t>
            </a:r>
            <a:r>
              <a:rPr lang="en-US" altLang="it-IT" sz="2400"/>
              <a:t> is better for large FPR</a:t>
            </a:r>
          </a:p>
          <a:p>
            <a:pPr lvl="1">
              <a:buSzPct val="75000"/>
              <a:buFont typeface="Monotype Sorts" pitchFamily="2" charset="2"/>
              <a:buNone/>
            </a:pPr>
            <a:endParaRPr lang="en-US" altLang="it-IT" sz="1000"/>
          </a:p>
          <a:p>
            <a:r>
              <a:rPr lang="en-US" altLang="it-IT" sz="2400"/>
              <a:t>Area Under the ROC curve</a:t>
            </a:r>
          </a:p>
          <a:p>
            <a:pPr lvl="1">
              <a:buSzPct val="75000"/>
              <a:buFont typeface="Monotype Sorts" pitchFamily="2" charset="2"/>
              <a:buChar char="l"/>
            </a:pPr>
            <a:r>
              <a:rPr lang="en-US" altLang="it-IT" sz="1800"/>
              <a:t>Ideal: </a:t>
            </a:r>
          </a:p>
          <a:p>
            <a:pPr lvl="2">
              <a:buClr>
                <a:schemeClr val="tx1"/>
              </a:buClr>
              <a:buSzPct val="75000"/>
              <a:buFont typeface="Wingdings" pitchFamily="2" charset="2"/>
              <a:buChar char="§"/>
            </a:pPr>
            <a:r>
              <a:rPr lang="en-US" altLang="it-IT" sz="1800"/>
              <a:t> Area = 1</a:t>
            </a:r>
          </a:p>
          <a:p>
            <a:pPr lvl="1">
              <a:buSzPct val="75000"/>
              <a:buFont typeface="Monotype Sorts" pitchFamily="2" charset="2"/>
              <a:buChar char="l"/>
            </a:pPr>
            <a:r>
              <a:rPr lang="en-US" altLang="it-IT" sz="1800"/>
              <a:t>Random guess:</a:t>
            </a:r>
          </a:p>
          <a:p>
            <a:pPr lvl="2">
              <a:buClr>
                <a:schemeClr val="tx1"/>
              </a:buClr>
              <a:buSzPct val="75000"/>
              <a:buFont typeface="Wingdings" pitchFamily="2" charset="2"/>
              <a:buChar char="§"/>
            </a:pPr>
            <a:r>
              <a:rPr lang="en-US" altLang="it-IT" sz="1800"/>
              <a:t> Area = 0.5</a:t>
            </a:r>
          </a:p>
        </p:txBody>
      </p:sp>
    </p:spTree>
    <p:extLst>
      <p:ext uri="{BB962C8B-B14F-4D97-AF65-F5344CB8AC3E}">
        <p14:creationId xmlns:p14="http://schemas.microsoft.com/office/powerpoint/2010/main" val="73141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>
            <a:extLst>
              <a:ext uri="{FF2B5EF4-FFF2-40B4-BE49-F238E27FC236}">
                <a16:creationId xmlns:a16="http://schemas.microsoft.com/office/drawing/2014/main" id="{820F9512-903F-FE4F-A938-AEB8D2F832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How to Construct the ROC curve</a:t>
            </a:r>
          </a:p>
        </p:txBody>
      </p:sp>
      <p:graphicFrame>
        <p:nvGraphicFramePr>
          <p:cNvPr id="979971" name="Group 3">
            <a:extLst>
              <a:ext uri="{FF2B5EF4-FFF2-40B4-BE49-F238E27FC236}">
                <a16:creationId xmlns:a16="http://schemas.microsoft.com/office/drawing/2014/main" id="{1B8EBE0B-ACD4-1541-8B03-041831999FE1}"/>
              </a:ext>
            </a:extLst>
          </p:cNvPr>
          <p:cNvGraphicFramePr>
            <a:graphicFrameLocks noGrp="1"/>
          </p:cNvGraphicFramePr>
          <p:nvPr/>
        </p:nvGraphicFramePr>
        <p:xfrm>
          <a:off x="1905000" y="1719361"/>
          <a:ext cx="3886200" cy="4064004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Instance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P(+|A)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True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61844" name="Text Box 53">
            <a:extLst>
              <a:ext uri="{FF2B5EF4-FFF2-40B4-BE49-F238E27FC236}">
                <a16:creationId xmlns:a16="http://schemas.microsoft.com/office/drawing/2014/main" id="{7C648FA9-C28E-D24A-BBFA-75ACE63F2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414562"/>
            <a:ext cx="4343400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2400" dirty="0"/>
              <a:t> Use classifier that produces posterior probability for each test instance P(+|A)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2400" dirty="0"/>
              <a:t> Sort the instances according to P(+|A) in decreasing order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2400" dirty="0"/>
              <a:t> Apply threshold at each unique value of P(+|A)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2400" dirty="0"/>
              <a:t> Count the number of TP, FP, </a:t>
            </a:r>
            <a:br>
              <a:rPr lang="en-US" altLang="it-IT" sz="2400" dirty="0"/>
            </a:br>
            <a:r>
              <a:rPr lang="en-US" altLang="it-IT" sz="2400" dirty="0"/>
              <a:t>  TN, FN at each threshold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2400" dirty="0"/>
              <a:t> TP rate, TPR = TP/(TP+FN)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2400" dirty="0"/>
              <a:t> FP rate, FPR = FP/(FP + TN)</a:t>
            </a:r>
          </a:p>
        </p:txBody>
      </p:sp>
    </p:spTree>
    <p:extLst>
      <p:ext uri="{BB962C8B-B14F-4D97-AF65-F5344CB8AC3E}">
        <p14:creationId xmlns:p14="http://schemas.microsoft.com/office/powerpoint/2010/main" val="16311808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94" name="Rectangle 2">
            <a:extLst>
              <a:ext uri="{FF2B5EF4-FFF2-40B4-BE49-F238E27FC236}">
                <a16:creationId xmlns:a16="http://schemas.microsoft.com/office/drawing/2014/main" id="{AC96A04E-DDF5-6444-B5A3-E7AB306F0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How to Construct the ROC curve</a:t>
            </a:r>
          </a:p>
        </p:txBody>
      </p:sp>
      <p:graphicFrame>
        <p:nvGraphicFramePr>
          <p:cNvPr id="162818" name="Object 3">
            <a:extLst>
              <a:ext uri="{FF2B5EF4-FFF2-40B4-BE49-F238E27FC236}">
                <a16:creationId xmlns:a16="http://schemas.microsoft.com/office/drawing/2014/main" id="{625135DB-E15B-034F-B12B-B53151B05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534" y="1486677"/>
          <a:ext cx="6457950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63563500" imgH="23482300" progId="Word.Document.8">
                  <p:embed/>
                </p:oleObj>
              </mc:Choice>
              <mc:Fallback>
                <p:oleObj name="Documento" r:id="rId2" imgW="63563500" imgH="23482300" progId="Word.Document.8">
                  <p:embed/>
                  <p:pic>
                    <p:nvPicPr>
                      <p:cNvPr id="162818" name="Object 3">
                        <a:extLst>
                          <a:ext uri="{FF2B5EF4-FFF2-40B4-BE49-F238E27FC236}">
                            <a16:creationId xmlns:a16="http://schemas.microsoft.com/office/drawing/2014/main" id="{625135DB-E15B-034F-B12B-B53151B05E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534" y="1486677"/>
                        <a:ext cx="6457950" cy="238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2819" name="Picture 4">
            <a:extLst>
              <a:ext uri="{FF2B5EF4-FFF2-40B4-BE49-F238E27FC236}">
                <a16:creationId xmlns:a16="http://schemas.microsoft.com/office/drawing/2014/main" id="{28422265-18FB-0B4D-B908-EBC3C9770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9" t="5128" r="3847" b="5128"/>
          <a:stretch>
            <a:fillRect/>
          </a:stretch>
        </p:blipFill>
        <p:spPr bwMode="auto">
          <a:xfrm>
            <a:off x="2967134" y="3869515"/>
            <a:ext cx="3962400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820" name="Text Box 5">
            <a:extLst>
              <a:ext uri="{FF2B5EF4-FFF2-40B4-BE49-F238E27FC236}">
                <a16:creationId xmlns:a16="http://schemas.microsoft.com/office/drawing/2014/main" id="{5E03EEBD-E83C-334C-AF32-1B23589B6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734" y="1791477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Threshold &gt;= </a:t>
            </a:r>
          </a:p>
        </p:txBody>
      </p:sp>
      <p:sp>
        <p:nvSpPr>
          <p:cNvPr id="162821" name="Text Box 6">
            <a:extLst>
              <a:ext uri="{FF2B5EF4-FFF2-40B4-BE49-F238E27FC236}">
                <a16:creationId xmlns:a16="http://schemas.microsoft.com/office/drawing/2014/main" id="{45BF03D3-38E9-E843-8050-C3D328652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134" y="4991878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ROC Curve:</a:t>
            </a:r>
          </a:p>
        </p:txBody>
      </p:sp>
      <p:sp>
        <p:nvSpPr>
          <p:cNvPr id="162822" name="Line 7">
            <a:extLst>
              <a:ext uri="{FF2B5EF4-FFF2-40B4-BE49-F238E27FC236}">
                <a16:creationId xmlns:a16="http://schemas.microsoft.com/office/drawing/2014/main" id="{D2F4E35A-303E-F44F-8EA9-37B8F63FB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7934" y="3315477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823" name="Line 8">
            <a:extLst>
              <a:ext uri="{FF2B5EF4-FFF2-40B4-BE49-F238E27FC236}">
                <a16:creationId xmlns:a16="http://schemas.microsoft.com/office/drawing/2014/main" id="{E9C8DD6C-180E-0F47-9701-61CDA48B7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7934" y="3620277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" name="Group 3">
            <a:extLst>
              <a:ext uri="{FF2B5EF4-FFF2-40B4-BE49-F238E27FC236}">
                <a16:creationId xmlns:a16="http://schemas.microsoft.com/office/drawing/2014/main" id="{AD7B3D86-36D8-7645-8467-64489E18699B}"/>
              </a:ext>
            </a:extLst>
          </p:cNvPr>
          <p:cNvGraphicFramePr>
            <a:graphicFrameLocks noGrp="1"/>
          </p:cNvGraphicFramePr>
          <p:nvPr/>
        </p:nvGraphicFramePr>
        <p:xfrm>
          <a:off x="8939309" y="1943877"/>
          <a:ext cx="2038350" cy="4162651"/>
        </p:xfrm>
        <a:graphic>
          <a:graphicData uri="http://schemas.openxmlformats.org/drawingml/2006/table">
            <a:tbl>
              <a:tblPr/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2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Inst.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P(+|A)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True Class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0.95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0.93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0.87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7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0.76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8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0.53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9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0.43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-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0.25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+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0172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8" name="Rectangle 2">
            <a:extLst>
              <a:ext uri="{FF2B5EF4-FFF2-40B4-BE49-F238E27FC236}">
                <a16:creationId xmlns:a16="http://schemas.microsoft.com/office/drawing/2014/main" id="{CDFD91A6-1C9F-A94E-B19D-61BA7195F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Test of Significance</a:t>
            </a:r>
          </a:p>
        </p:txBody>
      </p:sp>
      <p:sp>
        <p:nvSpPr>
          <p:cNvPr id="982019" name="Rectangle 3">
            <a:extLst>
              <a:ext uri="{FF2B5EF4-FFF2-40B4-BE49-F238E27FC236}">
                <a16:creationId xmlns:a16="http://schemas.microsoft.com/office/drawing/2014/main" id="{012F13F0-B203-5848-98D2-2127570C0B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Given two models: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Model M1: accuracy = 85%, tested on 30 instances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Model M2: accuracy = 75%, tested on 5000 instances</a:t>
            </a:r>
          </a:p>
          <a:p>
            <a:pPr lvl="4">
              <a:defRPr/>
            </a:pPr>
            <a:endParaRPr lang="en-US" sz="2400" dirty="0"/>
          </a:p>
          <a:p>
            <a:pPr>
              <a:defRPr/>
            </a:pPr>
            <a:r>
              <a:rPr lang="en-US" dirty="0">
                <a:cs typeface="+mn-cs"/>
              </a:rPr>
              <a:t>Can we say M1 is better than M2?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How much confidence can we place on accuracy of M1 and M2?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Can the difference in performance measure be explained as a result of </a:t>
            </a:r>
            <a:r>
              <a:rPr lang="en-US" b="1" dirty="0"/>
              <a:t>random fluctuations</a:t>
            </a:r>
            <a:r>
              <a:rPr lang="en-US" dirty="0"/>
              <a:t> in the test set?</a:t>
            </a:r>
          </a:p>
        </p:txBody>
      </p:sp>
    </p:spTree>
    <p:extLst>
      <p:ext uri="{BB962C8B-B14F-4D97-AF65-F5344CB8AC3E}">
        <p14:creationId xmlns:p14="http://schemas.microsoft.com/office/powerpoint/2010/main" val="13186429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42" name="Rectangle 2">
            <a:extLst>
              <a:ext uri="{FF2B5EF4-FFF2-40B4-BE49-F238E27FC236}">
                <a16:creationId xmlns:a16="http://schemas.microsoft.com/office/drawing/2014/main" id="{48754DDE-D793-0147-A7B2-064D02F82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Confidence Interval for Accuracy</a:t>
            </a:r>
          </a:p>
        </p:txBody>
      </p:sp>
      <p:sp>
        <p:nvSpPr>
          <p:cNvPr id="983043" name="Rectangle 3">
            <a:extLst>
              <a:ext uri="{FF2B5EF4-FFF2-40B4-BE49-F238E27FC236}">
                <a16:creationId xmlns:a16="http://schemas.microsoft.com/office/drawing/2014/main" id="{B0379F44-A160-CB40-8924-DB5D4278D4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7219" y="1825625"/>
            <a:ext cx="11804781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cs typeface="+mn-cs"/>
              </a:rPr>
              <a:t>Prediction can be regarded as a Bernoulli trial (</a:t>
            </a:r>
            <a:r>
              <a:rPr lang="en-US" dirty="0"/>
              <a:t>binomial random experiment) </a:t>
            </a:r>
            <a:endParaRPr lang="en-US" dirty="0">
              <a:cs typeface="+mn-cs"/>
            </a:endParaRP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A Bernoulli trial has 2 possible outcomes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Possible outcomes for prediction: correct or wrong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Probability of success is constant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Collection of Bernoulli trials has a Binomial distribution:</a:t>
            </a:r>
          </a:p>
          <a:p>
            <a:pPr lvl="2">
              <a:defRPr/>
            </a:pPr>
            <a:r>
              <a:rPr lang="en-US" dirty="0"/>
              <a:t> x </a:t>
            </a:r>
            <a:r>
              <a:rPr lang="en-US" dirty="0">
                <a:sym typeface="Symbol" charset="0"/>
              </a:rPr>
              <a:t> Bin(N, p) </a:t>
            </a:r>
            <a:r>
              <a:rPr lang="en-US" b="1" dirty="0">
                <a:sym typeface="Symbol" charset="0"/>
              </a:rPr>
              <a:t> x: </a:t>
            </a:r>
            <a:r>
              <a:rPr lang="en-US" dirty="0">
                <a:sym typeface="Symbol" charset="0"/>
              </a:rPr>
              <a:t># of correct predictions, </a:t>
            </a:r>
            <a:r>
              <a:rPr lang="en-US" b="1" dirty="0">
                <a:sym typeface="Symbol" charset="0"/>
              </a:rPr>
              <a:t>N</a:t>
            </a:r>
            <a:r>
              <a:rPr lang="en-US" dirty="0">
                <a:sym typeface="Symbol" charset="0"/>
              </a:rPr>
              <a:t> trials,</a:t>
            </a:r>
            <a:r>
              <a:rPr lang="en-US" b="1" dirty="0">
                <a:sym typeface="Symbol" charset="0"/>
              </a:rPr>
              <a:t> p </a:t>
            </a:r>
            <a:r>
              <a:rPr lang="en-US" dirty="0">
                <a:sym typeface="Symbol" charset="0"/>
              </a:rPr>
              <a:t>constant prob.</a:t>
            </a:r>
          </a:p>
          <a:p>
            <a:pPr lvl="2">
              <a:defRPr/>
            </a:pP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e.g</a:t>
            </a:r>
            <a:r>
              <a:rPr lang="en-US" dirty="0">
                <a:sym typeface="Symbol" charset="0"/>
              </a:rPr>
              <a:t>:   Toss a fair coin 50 times, how many heads would turn up?</a:t>
            </a:r>
            <a:br>
              <a:rPr lang="en-US" dirty="0">
                <a:sym typeface="Symbol" charset="0"/>
              </a:rPr>
            </a:br>
            <a:r>
              <a:rPr lang="en-US" dirty="0">
                <a:sym typeface="Symbol" charset="0"/>
              </a:rPr>
              <a:t>  	   </a:t>
            </a:r>
            <a:r>
              <a:rPr lang="en-US" dirty="0"/>
              <a:t>Expected number of heads = </a:t>
            </a:r>
            <a:r>
              <a:rPr lang="en-US" dirty="0" err="1"/>
              <a:t>N</a:t>
            </a:r>
            <a:r>
              <a:rPr lang="en-US" dirty="0" err="1">
                <a:sym typeface="Symbol" charset="0"/>
              </a:rPr>
              <a:t></a:t>
            </a:r>
            <a:r>
              <a:rPr lang="en-US" dirty="0" err="1"/>
              <a:t>p</a:t>
            </a:r>
            <a:r>
              <a:rPr lang="en-US" dirty="0"/>
              <a:t> = 50 </a:t>
            </a:r>
            <a:r>
              <a:rPr lang="en-US" dirty="0">
                <a:sym typeface="Symbol" charset="0"/>
              </a:rPr>
              <a:t> 0.5 = 25</a:t>
            </a:r>
            <a:endParaRPr lang="en-US" dirty="0"/>
          </a:p>
          <a:p>
            <a:pPr marL="0" indent="0">
              <a:buNone/>
              <a:defRPr/>
            </a:pPr>
            <a:endParaRPr lang="en-US" sz="1100" dirty="0"/>
          </a:p>
          <a:p>
            <a:pPr marL="0" indent="0" algn="ctr">
              <a:buNone/>
              <a:defRPr/>
            </a:pPr>
            <a:r>
              <a:rPr lang="en-US" sz="2400" dirty="0"/>
              <a:t>Given x (# of correct predictions) or equivalently, </a:t>
            </a:r>
            <a:r>
              <a:rPr lang="en-US" sz="2400" dirty="0" err="1"/>
              <a:t>acc</a:t>
            </a:r>
            <a:r>
              <a:rPr lang="en-US" sz="2400" dirty="0"/>
              <a:t>=x/N, and N (# of test instances)</a:t>
            </a:r>
          </a:p>
          <a:p>
            <a:pPr marL="0" indent="0">
              <a:buNone/>
              <a:defRPr/>
            </a:pPr>
            <a:r>
              <a:rPr lang="en-US" dirty="0">
                <a:cs typeface="+mn-cs"/>
              </a:rPr>
              <a:t>	</a:t>
            </a:r>
            <a:r>
              <a:rPr lang="en-US" b="1" dirty="0">
                <a:cs typeface="+mn-cs"/>
              </a:rPr>
              <a:t>Can we predict p (true accuracy of model)?</a:t>
            </a:r>
          </a:p>
        </p:txBody>
      </p:sp>
      <p:sp>
        <p:nvSpPr>
          <p:cNvPr id="164867" name="Rettangolo 1">
            <a:extLst>
              <a:ext uri="{FF2B5EF4-FFF2-40B4-BE49-F238E27FC236}">
                <a16:creationId xmlns:a16="http://schemas.microsoft.com/office/drawing/2014/main" id="{6D5BB710-916E-4842-B1F3-2FA3F6CE4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330" y="4740275"/>
            <a:ext cx="10873274" cy="1752600"/>
          </a:xfrm>
          <a:prstGeom prst="rect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</p:spTree>
    <p:extLst>
      <p:ext uri="{BB962C8B-B14F-4D97-AF65-F5344CB8AC3E}">
        <p14:creationId xmlns:p14="http://schemas.microsoft.com/office/powerpoint/2010/main" val="37110900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>
            <a:extLst>
              <a:ext uri="{FF2B5EF4-FFF2-40B4-BE49-F238E27FC236}">
                <a16:creationId xmlns:a16="http://schemas.microsoft.com/office/drawing/2014/main" id="{FF64ACA5-9EBC-C04F-AB0B-91BC4E3003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Confidence Interval for Accuracy</a:t>
            </a:r>
          </a:p>
        </p:txBody>
      </p:sp>
      <p:sp>
        <p:nvSpPr>
          <p:cNvPr id="984067" name="Rectangle 3">
            <a:extLst>
              <a:ext uri="{FF2B5EF4-FFF2-40B4-BE49-F238E27FC236}">
                <a16:creationId xmlns:a16="http://schemas.microsoft.com/office/drawing/2014/main" id="{7981849B-C977-C04D-9629-ABC9D775B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1280" y="1534886"/>
            <a:ext cx="8318500" cy="51816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For large test sets (N &gt; 30), 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acc has a normal distribution </a:t>
            </a:r>
            <a:br>
              <a:rPr lang="en-US" dirty="0"/>
            </a:br>
            <a:r>
              <a:rPr lang="en-US" dirty="0"/>
              <a:t>with mean p and variance </a:t>
            </a:r>
            <a:br>
              <a:rPr lang="en-US" dirty="0"/>
            </a:br>
            <a:r>
              <a:rPr lang="en-US" dirty="0"/>
              <a:t>p(1-p)/N</a:t>
            </a:r>
            <a:endParaRPr lang="en-US" dirty="0">
              <a:sym typeface="Symbol" charset="0"/>
            </a:endParaRPr>
          </a:p>
          <a:p>
            <a:pPr lvl="1">
              <a:buFont typeface="Arial" charset="0"/>
              <a:buNone/>
              <a:defRPr/>
            </a:pPr>
            <a:endParaRPr lang="en-US" dirty="0">
              <a:sym typeface="Symbol" charset="0"/>
            </a:endParaRPr>
          </a:p>
          <a:p>
            <a:pPr lvl="1">
              <a:buFont typeface="Arial" charset="0"/>
              <a:buNone/>
              <a:defRPr/>
            </a:pPr>
            <a:endParaRPr lang="en-US" dirty="0">
              <a:sym typeface="Symbol" charset="0"/>
            </a:endParaRPr>
          </a:p>
          <a:p>
            <a:pPr lvl="1">
              <a:buFont typeface="Arial" charset="0"/>
              <a:buNone/>
              <a:defRPr/>
            </a:pPr>
            <a:endParaRPr lang="en-US" dirty="0">
              <a:sym typeface="Symbol" charset="0"/>
            </a:endParaRPr>
          </a:p>
          <a:p>
            <a:pPr lvl="3">
              <a:defRPr/>
            </a:pPr>
            <a:endParaRPr lang="en-US" dirty="0">
              <a:sym typeface="Symbol" charset="0"/>
            </a:endParaRPr>
          </a:p>
          <a:p>
            <a:pPr>
              <a:defRPr/>
            </a:pPr>
            <a:r>
              <a:rPr lang="en-US" dirty="0">
                <a:cs typeface="+mn-cs"/>
                <a:sym typeface="Symbol" charset="0"/>
              </a:rPr>
              <a:t>Confidence Interval for p:</a:t>
            </a:r>
            <a:endParaRPr lang="en-US" dirty="0">
              <a:cs typeface="+mn-cs"/>
            </a:endParaRPr>
          </a:p>
          <a:p>
            <a:pPr lvl="1">
              <a:buFont typeface="Arial" charset="0"/>
              <a:buNone/>
              <a:defRPr/>
            </a:pPr>
            <a:endParaRPr lang="en-US" dirty="0">
              <a:sym typeface="Symbol" charset="0"/>
            </a:endParaRPr>
          </a:p>
        </p:txBody>
      </p:sp>
      <p:graphicFrame>
        <p:nvGraphicFramePr>
          <p:cNvPr id="165891" name="Object 4">
            <a:extLst>
              <a:ext uri="{FF2B5EF4-FFF2-40B4-BE49-F238E27FC236}">
                <a16:creationId xmlns:a16="http://schemas.microsoft.com/office/drawing/2014/main" id="{AEC2BA60-F176-EB49-846C-62504B187B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4980" y="3439887"/>
          <a:ext cx="4110038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3388200" imgH="27495500" progId="Equation.3">
                  <p:embed/>
                </p:oleObj>
              </mc:Choice>
              <mc:Fallback>
                <p:oleObj name="Equation" r:id="rId3" imgW="83388200" imgH="27495500" progId="Equation.3">
                  <p:embed/>
                  <p:pic>
                    <p:nvPicPr>
                      <p:cNvPr id="165891" name="Object 4">
                        <a:extLst>
                          <a:ext uri="{FF2B5EF4-FFF2-40B4-BE49-F238E27FC236}">
                            <a16:creationId xmlns:a16="http://schemas.microsoft.com/office/drawing/2014/main" id="{AEC2BA60-F176-EB49-846C-62504B187B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980" y="3439887"/>
                        <a:ext cx="4110038" cy="135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5892" name="Picture 5" descr="norm_conf">
            <a:extLst>
              <a:ext uri="{FF2B5EF4-FFF2-40B4-BE49-F238E27FC236}">
                <a16:creationId xmlns:a16="http://schemas.microsoft.com/office/drawing/2014/main" id="{87F3433E-085A-BC4C-B081-BAD536981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8" t="6569" b="12234"/>
          <a:stretch>
            <a:fillRect/>
          </a:stretch>
        </p:blipFill>
        <p:spPr bwMode="auto">
          <a:xfrm>
            <a:off x="6470780" y="1992086"/>
            <a:ext cx="388620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893" name="Line 6">
            <a:extLst>
              <a:ext uri="{FF2B5EF4-FFF2-40B4-BE49-F238E27FC236}">
                <a16:creationId xmlns:a16="http://schemas.microsoft.com/office/drawing/2014/main" id="{D68F4B68-B935-4449-9AD6-4FD8F57F3F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28180" y="1839686"/>
            <a:ext cx="762000" cy="1066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4" name="Text Box 7">
            <a:extLst>
              <a:ext uri="{FF2B5EF4-FFF2-40B4-BE49-F238E27FC236}">
                <a16:creationId xmlns:a16="http://schemas.microsoft.com/office/drawing/2014/main" id="{8B59BC4B-5E4D-0B40-BD03-6334452BB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380" y="1458687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Area = 1 - </a:t>
            </a:r>
            <a:r>
              <a:rPr lang="en-US" altLang="it-IT" sz="2000">
                <a:sym typeface="Symbol" pitchFamily="2" charset="2"/>
              </a:rPr>
              <a:t></a:t>
            </a:r>
            <a:endParaRPr lang="en-US" altLang="it-IT" sz="2000"/>
          </a:p>
        </p:txBody>
      </p:sp>
      <p:sp>
        <p:nvSpPr>
          <p:cNvPr id="165895" name="Line 8">
            <a:extLst>
              <a:ext uri="{FF2B5EF4-FFF2-40B4-BE49-F238E27FC236}">
                <a16:creationId xmlns:a16="http://schemas.microsoft.com/office/drawing/2014/main" id="{374DF25D-7FE6-564C-A773-11F1F8CB84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37580" y="3897086"/>
            <a:ext cx="228600" cy="762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6" name="Text Box 9">
            <a:extLst>
              <a:ext uri="{FF2B5EF4-FFF2-40B4-BE49-F238E27FC236}">
                <a16:creationId xmlns:a16="http://schemas.microsoft.com/office/drawing/2014/main" id="{85B0B3E0-0049-D141-AB92-161BFF3B0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580" y="4354287"/>
            <a:ext cx="762000" cy="550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it-IT" sz="2400"/>
              <a:t>Z</a:t>
            </a:r>
            <a:r>
              <a:rPr lang="en-US" altLang="it-IT" sz="2400" baseline="-25000">
                <a:sym typeface="Symbol" pitchFamily="2" charset="2"/>
              </a:rPr>
              <a:t>/2</a:t>
            </a:r>
            <a:endParaRPr lang="en-US" altLang="it-IT" sz="2400"/>
          </a:p>
        </p:txBody>
      </p:sp>
      <p:sp>
        <p:nvSpPr>
          <p:cNvPr id="165897" name="Text Box 10">
            <a:extLst>
              <a:ext uri="{FF2B5EF4-FFF2-40B4-BE49-F238E27FC236}">
                <a16:creationId xmlns:a16="http://schemas.microsoft.com/office/drawing/2014/main" id="{6140BB8D-26EF-7D4F-B17D-9C67E41F7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3980" y="4354287"/>
            <a:ext cx="1066800" cy="550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it-IT" sz="2400"/>
              <a:t>Z</a:t>
            </a:r>
            <a:r>
              <a:rPr lang="en-US" altLang="it-IT" sz="2400" baseline="-25000">
                <a:sym typeface="Symbol" pitchFamily="2" charset="2"/>
              </a:rPr>
              <a:t>1-  /2</a:t>
            </a:r>
          </a:p>
        </p:txBody>
      </p:sp>
      <p:sp>
        <p:nvSpPr>
          <p:cNvPr id="165898" name="Line 11">
            <a:extLst>
              <a:ext uri="{FF2B5EF4-FFF2-40B4-BE49-F238E27FC236}">
                <a16:creationId xmlns:a16="http://schemas.microsoft.com/office/drawing/2014/main" id="{984C541F-36C1-F24A-8CEE-3AAB7A6475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37780" y="3897086"/>
            <a:ext cx="152400" cy="685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65899" name="Object 12">
            <a:extLst>
              <a:ext uri="{FF2B5EF4-FFF2-40B4-BE49-F238E27FC236}">
                <a16:creationId xmlns:a16="http://schemas.microsoft.com/office/drawing/2014/main" id="{A940E133-EE2E-7342-86CA-EF30C6A01B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2580" y="5673500"/>
          <a:ext cx="8358188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774900" imgH="19304000" progId="Equation.3">
                  <p:embed/>
                </p:oleObj>
              </mc:Choice>
              <mc:Fallback>
                <p:oleObj name="Equation" r:id="rId6" imgW="154774900" imgH="19304000" progId="Equation.3">
                  <p:embed/>
                  <p:pic>
                    <p:nvPicPr>
                      <p:cNvPr id="165899" name="Object 12">
                        <a:extLst>
                          <a:ext uri="{FF2B5EF4-FFF2-40B4-BE49-F238E27FC236}">
                            <a16:creationId xmlns:a16="http://schemas.microsoft.com/office/drawing/2014/main" id="{A940E133-EE2E-7342-86CA-EF30C6A01B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580" y="5673500"/>
                        <a:ext cx="8358188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90899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>
            <a:extLst>
              <a:ext uri="{FF2B5EF4-FFF2-40B4-BE49-F238E27FC236}">
                <a16:creationId xmlns:a16="http://schemas.microsoft.com/office/drawing/2014/main" id="{F2AF1734-826E-7141-8B9B-CBD10DC1E3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Confidence Interval for Accuracy</a:t>
            </a:r>
          </a:p>
        </p:txBody>
      </p:sp>
      <p:sp>
        <p:nvSpPr>
          <p:cNvPr id="985091" name="Rectangle 3">
            <a:extLst>
              <a:ext uri="{FF2B5EF4-FFF2-40B4-BE49-F238E27FC236}">
                <a16:creationId xmlns:a16="http://schemas.microsoft.com/office/drawing/2014/main" id="{E5291CA1-1DDA-474E-BAFD-97D4716F2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Consider a model that produces an accuracy of 80% when evaluated on 100 test instances: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N=100, </a:t>
            </a:r>
            <a:r>
              <a:rPr lang="en-US" sz="2000" dirty="0" err="1"/>
              <a:t>acc</a:t>
            </a:r>
            <a:r>
              <a:rPr lang="en-US" sz="2000" dirty="0"/>
              <a:t> = 0.8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Let 1-</a:t>
            </a:r>
            <a:r>
              <a:rPr lang="en-US" sz="2000" dirty="0">
                <a:sym typeface="Symbol" charset="0"/>
              </a:rPr>
              <a:t> = 0.95 (95% confidence)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b="1" dirty="0">
                <a:sym typeface="Symbol" charset="0"/>
              </a:rPr>
              <a:t>Which is the confidence interval?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>
                <a:sym typeface="Symbol" charset="0"/>
              </a:rPr>
              <a:t>From probability table, Z</a:t>
            </a:r>
            <a:r>
              <a:rPr lang="en-US" sz="2000" baseline="-25000" dirty="0">
                <a:sym typeface="Symbol" charset="0"/>
              </a:rPr>
              <a:t>/2</a:t>
            </a:r>
            <a:r>
              <a:rPr lang="en-US" sz="2000" dirty="0">
                <a:sym typeface="Symbol" charset="0"/>
              </a:rPr>
              <a:t>=1.96</a:t>
            </a:r>
            <a:r>
              <a:rPr lang="en-US" dirty="0">
                <a:sym typeface="Symbol" charset="0"/>
              </a:rPr>
              <a:t> </a:t>
            </a:r>
          </a:p>
          <a:p>
            <a:pPr lvl="1">
              <a:buFont typeface="Arial" charset="0"/>
              <a:buNone/>
              <a:defRPr/>
            </a:pPr>
            <a:endParaRPr lang="en-US" dirty="0"/>
          </a:p>
        </p:txBody>
      </p:sp>
      <p:graphicFrame>
        <p:nvGraphicFramePr>
          <p:cNvPr id="985092" name="Group 4">
            <a:extLst>
              <a:ext uri="{FF2B5EF4-FFF2-40B4-BE49-F238E27FC236}">
                <a16:creationId xmlns:a16="http://schemas.microsoft.com/office/drawing/2014/main" id="{B87DE630-D994-8E4C-977E-7C0026302038}"/>
              </a:ext>
            </a:extLst>
          </p:cNvPr>
          <p:cNvGraphicFramePr>
            <a:graphicFrameLocks noGrp="1"/>
          </p:cNvGraphicFramePr>
          <p:nvPr/>
        </p:nvGraphicFramePr>
        <p:xfrm>
          <a:off x="8906069" y="2667794"/>
          <a:ext cx="1600200" cy="26670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1-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2.58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0.98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2.33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0.95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1.96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0.90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1.65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959" name="Line 24">
            <a:extLst>
              <a:ext uri="{FF2B5EF4-FFF2-40B4-BE49-F238E27FC236}">
                <a16:creationId xmlns:a16="http://schemas.microsoft.com/office/drawing/2014/main" id="{98C26E31-B595-A84E-84DB-76F2329189B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3069" y="3734594"/>
            <a:ext cx="1066800" cy="762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85113" name="Group 25">
            <a:extLst>
              <a:ext uri="{FF2B5EF4-FFF2-40B4-BE49-F238E27FC236}">
                <a16:creationId xmlns:a16="http://schemas.microsoft.com/office/drawing/2014/main" id="{3875437E-4C07-E540-8BA1-94F54981876C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4473575"/>
          <a:ext cx="5791200" cy="20193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p(lower)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0.670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0.711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0.763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0.774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0.789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p(upper)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0.811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43618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>
            <a:extLst>
              <a:ext uri="{FF2B5EF4-FFF2-40B4-BE49-F238E27FC236}">
                <a16:creationId xmlns:a16="http://schemas.microsoft.com/office/drawing/2014/main" id="{61E30ACC-9940-CB4A-AD41-16389F2BF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Comparing Performance of 2 Models</a:t>
            </a:r>
          </a:p>
        </p:txBody>
      </p:sp>
      <p:sp>
        <p:nvSpPr>
          <p:cNvPr id="986115" name="Rectangle 3">
            <a:extLst>
              <a:ext uri="{FF2B5EF4-FFF2-40B4-BE49-F238E27FC236}">
                <a16:creationId xmlns:a16="http://schemas.microsoft.com/office/drawing/2014/main" id="{43BA955A-7455-7C48-9F2D-6DC1B302C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Given two models, say M1 and M2, which is better?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M1 is tested on D1 (size=n1), found error rate = e</a:t>
            </a:r>
            <a:r>
              <a:rPr lang="en-US" baseline="-25000" dirty="0"/>
              <a:t>1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M2 is tested on D2 (size=n2), found error rate = e</a:t>
            </a:r>
            <a:r>
              <a:rPr lang="en-US" baseline="-25000" dirty="0"/>
              <a:t>2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Assume D1 and D2 are independent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If n1 and n2 are sufficiently large, then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Approximate variance of error rates:</a:t>
            </a:r>
          </a:p>
        </p:txBody>
      </p:sp>
      <p:graphicFrame>
        <p:nvGraphicFramePr>
          <p:cNvPr id="169987" name="Object 4">
            <a:extLst>
              <a:ext uri="{FF2B5EF4-FFF2-40B4-BE49-F238E27FC236}">
                <a16:creationId xmlns:a16="http://schemas.microsoft.com/office/drawing/2014/main" id="{7CFF4103-B2FF-7E45-A237-D34F2F1D0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4043364"/>
          <a:ext cx="2209800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69300" imgH="10528300" progId="Equation.3">
                  <p:embed/>
                </p:oleObj>
              </mc:Choice>
              <mc:Fallback>
                <p:oleObj name="Equation" r:id="rId2" imgW="21069300" imgH="10528300" progId="Equation.3">
                  <p:embed/>
                  <p:pic>
                    <p:nvPicPr>
                      <p:cNvPr id="169987" name="Object 4">
                        <a:extLst>
                          <a:ext uri="{FF2B5EF4-FFF2-40B4-BE49-F238E27FC236}">
                            <a16:creationId xmlns:a16="http://schemas.microsoft.com/office/drawing/2014/main" id="{7CFF4103-B2FF-7E45-A237-D34F2F1D0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043364"/>
                        <a:ext cx="2209800" cy="110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8" name="Object 5">
            <a:extLst>
              <a:ext uri="{FF2B5EF4-FFF2-40B4-BE49-F238E27FC236}">
                <a16:creationId xmlns:a16="http://schemas.microsoft.com/office/drawing/2014/main" id="{8A53A33A-0906-9D48-BA47-37D9C09B6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1" y="5257800"/>
          <a:ext cx="1706563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160200" imgH="18427700" progId="Equation.3">
                  <p:embed/>
                </p:oleObj>
              </mc:Choice>
              <mc:Fallback>
                <p:oleObj name="Equation" r:id="rId4" imgW="37160200" imgH="18427700" progId="Equation.3">
                  <p:embed/>
                  <p:pic>
                    <p:nvPicPr>
                      <p:cNvPr id="169988" name="Object 5">
                        <a:extLst>
                          <a:ext uri="{FF2B5EF4-FFF2-40B4-BE49-F238E27FC236}">
                            <a16:creationId xmlns:a16="http://schemas.microsoft.com/office/drawing/2014/main" id="{8A53A33A-0906-9D48-BA47-37D9C09B6E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5257800"/>
                        <a:ext cx="1706563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47514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138" name="Rectangle 2">
            <a:extLst>
              <a:ext uri="{FF2B5EF4-FFF2-40B4-BE49-F238E27FC236}">
                <a16:creationId xmlns:a16="http://schemas.microsoft.com/office/drawing/2014/main" id="{89420305-366A-2147-B910-54FA41C9B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Comparing Performance of 2 Models</a:t>
            </a:r>
          </a:p>
        </p:txBody>
      </p:sp>
      <p:sp>
        <p:nvSpPr>
          <p:cNvPr id="987139" name="Rectangle 3">
            <a:extLst>
              <a:ext uri="{FF2B5EF4-FFF2-40B4-BE49-F238E27FC236}">
                <a16:creationId xmlns:a16="http://schemas.microsoft.com/office/drawing/2014/main" id="{11269A22-EA70-6240-B3FF-5305FCEE7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IT" dirty="0">
                <a:ea typeface="ＭＳ Ｐゴシック" panose="020B0600070205080204" pitchFamily="34" charset="-128"/>
              </a:rPr>
              <a:t>To test if performance difference is statistically significant:  d = e</a:t>
            </a:r>
            <a:r>
              <a:rPr lang="en-US" altLang="en-IT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IT" dirty="0">
                <a:ea typeface="ＭＳ Ｐゴシック" panose="020B0600070205080204" pitchFamily="34" charset="-128"/>
              </a:rPr>
              <a:t> – e</a:t>
            </a:r>
            <a:r>
              <a:rPr lang="en-US" altLang="en-IT" baseline="-25000" dirty="0">
                <a:ea typeface="ＭＳ Ｐゴシック" panose="020B0600070205080204" pitchFamily="34" charset="-128"/>
              </a:rPr>
              <a:t>2</a:t>
            </a:r>
          </a:p>
          <a:p>
            <a:pPr lvl="1">
              <a:defRPr/>
            </a:pPr>
            <a:r>
              <a:rPr lang="en-US" altLang="en-IT" dirty="0">
                <a:ea typeface="ＭＳ Ｐゴシック" panose="020B0600070205080204" pitchFamily="34" charset="-128"/>
              </a:rPr>
              <a:t>d ~ </a:t>
            </a:r>
            <a:r>
              <a:rPr lang="en-US" altLang="en-IT" i="1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N</a:t>
            </a:r>
            <a:r>
              <a:rPr lang="en-US" altLang="en-IT" dirty="0">
                <a:ea typeface="ＭＳ Ｐゴシック" panose="020B0600070205080204" pitchFamily="34" charset="-128"/>
              </a:rPr>
              <a:t>(</a:t>
            </a:r>
            <a:r>
              <a:rPr lang="en-US" altLang="en-IT" dirty="0" err="1">
                <a:ea typeface="ＭＳ Ｐゴシック" panose="020B0600070205080204" pitchFamily="34" charset="-128"/>
              </a:rPr>
              <a:t>d</a:t>
            </a:r>
            <a:r>
              <a:rPr lang="en-US" altLang="en-IT" baseline="-25000" dirty="0" err="1">
                <a:ea typeface="ＭＳ Ｐゴシック" panose="020B0600070205080204" pitchFamily="34" charset="-128"/>
              </a:rPr>
              <a:t>t</a:t>
            </a:r>
            <a:r>
              <a:rPr lang="en-US" altLang="en-IT" dirty="0" err="1">
                <a:ea typeface="ＭＳ Ｐゴシック" panose="020B0600070205080204" pitchFamily="34" charset="-128"/>
              </a:rPr>
              <a:t>,</a:t>
            </a:r>
            <a:r>
              <a:rPr lang="en-US" altLang="en-IT" dirty="0" err="1">
                <a:ea typeface="ＭＳ Ｐゴシック" panose="020B0600070205080204" pitchFamily="34" charset="-128"/>
                <a:sym typeface="Symbol" pitchFamily="2" charset="2"/>
              </a:rPr>
              <a:t></a:t>
            </a:r>
            <a:r>
              <a:rPr lang="en-US" altLang="en-IT" baseline="-25000" dirty="0" err="1">
                <a:ea typeface="ＭＳ Ｐゴシック" panose="020B0600070205080204" pitchFamily="34" charset="-128"/>
              </a:rPr>
              <a:t>t</a:t>
            </a:r>
            <a:r>
              <a:rPr lang="en-US" altLang="en-IT" dirty="0">
                <a:ea typeface="ＭＳ Ｐゴシック" panose="020B0600070205080204" pitchFamily="34" charset="-128"/>
              </a:rPr>
              <a:t>)   where d</a:t>
            </a:r>
            <a:r>
              <a:rPr lang="en-US" altLang="en-IT" baseline="-25000" dirty="0">
                <a:ea typeface="ＭＳ Ｐゴシック" panose="020B0600070205080204" pitchFamily="34" charset="-128"/>
              </a:rPr>
              <a:t>t</a:t>
            </a:r>
            <a:r>
              <a:rPr lang="en-US" altLang="en-IT" dirty="0">
                <a:ea typeface="ＭＳ Ｐゴシック" panose="020B0600070205080204" pitchFamily="34" charset="-128"/>
              </a:rPr>
              <a:t> is the true difference</a:t>
            </a:r>
          </a:p>
          <a:p>
            <a:pPr lvl="1">
              <a:defRPr/>
            </a:pPr>
            <a:r>
              <a:rPr lang="en-US" altLang="en-IT" dirty="0">
                <a:ea typeface="ＭＳ Ｐゴシック" panose="020B0600070205080204" pitchFamily="34" charset="-128"/>
              </a:rPr>
              <a:t>Since D1 and D2 are independent, their variance adds up:   </a:t>
            </a:r>
          </a:p>
          <a:p>
            <a:pPr lvl="1">
              <a:defRPr/>
            </a:pPr>
            <a:endParaRPr lang="en-US" altLang="en-IT" dirty="0">
              <a:ea typeface="ＭＳ Ｐゴシック" panose="020B0600070205080204" pitchFamily="34" charset="-128"/>
            </a:endParaRPr>
          </a:p>
          <a:p>
            <a:pPr lvl="1">
              <a:buFont typeface="Arial" panose="020B0604020202020204" pitchFamily="34" charset="0"/>
              <a:buNone/>
              <a:defRPr/>
            </a:pPr>
            <a:endParaRPr lang="en-US" altLang="en-IT" dirty="0">
              <a:ea typeface="ＭＳ Ｐゴシック" panose="020B0600070205080204" pitchFamily="34" charset="-128"/>
            </a:endParaRPr>
          </a:p>
          <a:p>
            <a:pPr lvl="1">
              <a:buFont typeface="Arial" panose="020B0604020202020204" pitchFamily="34" charset="0"/>
              <a:buNone/>
              <a:defRPr/>
            </a:pPr>
            <a:endParaRPr lang="en-US" altLang="en-IT" dirty="0">
              <a:ea typeface="ＭＳ Ｐゴシック" panose="020B0600070205080204" pitchFamily="34" charset="-128"/>
            </a:endParaRPr>
          </a:p>
          <a:p>
            <a:pPr lvl="1">
              <a:buFont typeface="Arial" panose="020B0604020202020204" pitchFamily="34" charset="0"/>
              <a:buNone/>
              <a:defRPr/>
            </a:pPr>
            <a:endParaRPr lang="en-US" altLang="en-IT" dirty="0">
              <a:ea typeface="ＭＳ Ｐゴシック" panose="020B0600070205080204" pitchFamily="34" charset="-128"/>
            </a:endParaRPr>
          </a:p>
          <a:p>
            <a:pPr lvl="1">
              <a:defRPr/>
            </a:pPr>
            <a:r>
              <a:rPr lang="en-US" altLang="en-IT" dirty="0">
                <a:ea typeface="ＭＳ Ｐゴシック" panose="020B0600070205080204" pitchFamily="34" charset="-128"/>
              </a:rPr>
              <a:t>It can be shown at (1-</a:t>
            </a:r>
            <a:r>
              <a:rPr lang="en-US" altLang="en-IT" dirty="0">
                <a:ea typeface="ＭＳ Ｐゴシック" panose="020B0600070205080204" pitchFamily="34" charset="-128"/>
                <a:sym typeface="Symbol" pitchFamily="2" charset="2"/>
              </a:rPr>
              <a:t>) confidence level, </a:t>
            </a:r>
          </a:p>
        </p:txBody>
      </p:sp>
      <p:graphicFrame>
        <p:nvGraphicFramePr>
          <p:cNvPr id="171011" name="Object 4">
            <a:extLst>
              <a:ext uri="{FF2B5EF4-FFF2-40B4-BE49-F238E27FC236}">
                <a16:creationId xmlns:a16="http://schemas.microsoft.com/office/drawing/2014/main" id="{03BD51DC-F7F8-9341-9F9B-B9F801ED2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352800"/>
          <a:ext cx="373697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300" imgH="635000" progId="Equation.3">
                  <p:embed/>
                </p:oleObj>
              </mc:Choice>
              <mc:Fallback>
                <p:oleObj name="Equation" r:id="rId2" imgW="1638300" imgH="635000" progId="Equation.3">
                  <p:embed/>
                  <p:pic>
                    <p:nvPicPr>
                      <p:cNvPr id="171011" name="Object 4">
                        <a:extLst>
                          <a:ext uri="{FF2B5EF4-FFF2-40B4-BE49-F238E27FC236}">
                            <a16:creationId xmlns:a16="http://schemas.microsoft.com/office/drawing/2014/main" id="{03BD51DC-F7F8-9341-9F9B-B9F801ED20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352800"/>
                        <a:ext cx="3736975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2" name="Object 5">
            <a:extLst>
              <a:ext uri="{FF2B5EF4-FFF2-40B4-BE49-F238E27FC236}">
                <a16:creationId xmlns:a16="http://schemas.microsoft.com/office/drawing/2014/main" id="{D05991EC-2F7C-CB45-ABD0-0824D55E31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5715001"/>
          <a:ext cx="27559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620700" imgH="8775700" progId="Equation.3">
                  <p:embed/>
                </p:oleObj>
              </mc:Choice>
              <mc:Fallback>
                <p:oleObj name="Equation" r:id="rId4" imgW="38620700" imgH="8775700" progId="Equation.3">
                  <p:embed/>
                  <p:pic>
                    <p:nvPicPr>
                      <p:cNvPr id="171012" name="Object 5">
                        <a:extLst>
                          <a:ext uri="{FF2B5EF4-FFF2-40B4-BE49-F238E27FC236}">
                            <a16:creationId xmlns:a16="http://schemas.microsoft.com/office/drawing/2014/main" id="{D05991EC-2F7C-CB45-ABD0-0824D55E31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715001"/>
                        <a:ext cx="27559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06196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>
            <a:extLst>
              <a:ext uri="{FF2B5EF4-FFF2-40B4-BE49-F238E27FC236}">
                <a16:creationId xmlns:a16="http://schemas.microsoft.com/office/drawing/2014/main" id="{32CF9808-879E-0545-AD77-ED7DEB0FF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An Illustrative Example</a:t>
            </a:r>
          </a:p>
        </p:txBody>
      </p:sp>
      <p:sp>
        <p:nvSpPr>
          <p:cNvPr id="172034" name="Rectangle 3">
            <a:extLst>
              <a:ext uri="{FF2B5EF4-FFF2-40B4-BE49-F238E27FC236}">
                <a16:creationId xmlns:a16="http://schemas.microsoft.com/office/drawing/2014/main" id="{946F0EAB-DE3F-0E40-928A-F8C72ED38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39222" y="1562877"/>
            <a:ext cx="8580437" cy="518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it-IT" sz="2400">
                <a:ea typeface="ＭＳ Ｐゴシック" panose="020B0600070205080204" pitchFamily="34" charset="-128"/>
              </a:rPr>
              <a:t>Given: M1: n1 = 30, e1 = 0.15</a:t>
            </a:r>
            <a:br>
              <a:rPr lang="en-US" altLang="it-IT" sz="2400">
                <a:ea typeface="ＭＳ Ｐゴシック" panose="020B0600070205080204" pitchFamily="34" charset="-128"/>
              </a:rPr>
            </a:br>
            <a:r>
              <a:rPr lang="en-US" altLang="it-IT" sz="2400">
                <a:ea typeface="ＭＳ Ｐゴシック" panose="020B0600070205080204" pitchFamily="34" charset="-128"/>
              </a:rPr>
              <a:t>	     M2: n2 = 5000, e2 = 0.25</a:t>
            </a:r>
          </a:p>
          <a:p>
            <a:pPr>
              <a:lnSpc>
                <a:spcPct val="90000"/>
              </a:lnSpc>
            </a:pPr>
            <a:endParaRPr lang="en-US" altLang="it-IT" sz="240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it-IT" sz="2400">
                <a:ea typeface="ＭＳ Ｐゴシック" panose="020B0600070205080204" pitchFamily="34" charset="-128"/>
              </a:rPr>
              <a:t>d = |e2 – e1| = 0.1  (2-sided test to check: dt = 0 or dt &lt;&gt; 0) </a:t>
            </a:r>
          </a:p>
          <a:p>
            <a:pPr>
              <a:lnSpc>
                <a:spcPct val="90000"/>
              </a:lnSpc>
            </a:pPr>
            <a:endParaRPr lang="en-US" altLang="it-IT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it-IT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it-IT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it-IT" sz="2400">
                <a:ea typeface="ＭＳ Ｐゴシック" panose="020B0600070205080204" pitchFamily="34" charset="-128"/>
              </a:rPr>
              <a:t>At 95% confidence level, </a:t>
            </a:r>
            <a:r>
              <a:rPr lang="en-US" altLang="it-IT" sz="2400">
                <a:ea typeface="ＭＳ Ｐゴシック" panose="020B0600070205080204" pitchFamily="34" charset="-128"/>
                <a:sym typeface="Symbol" pitchFamily="2" charset="2"/>
              </a:rPr>
              <a:t>Z</a:t>
            </a:r>
            <a:r>
              <a:rPr lang="en-US" altLang="it-IT" sz="2400" baseline="-25000">
                <a:ea typeface="ＭＳ Ｐゴシック" panose="020B0600070205080204" pitchFamily="34" charset="-128"/>
                <a:sym typeface="Symbol" pitchFamily="2" charset="2"/>
              </a:rPr>
              <a:t>/2</a:t>
            </a:r>
            <a:r>
              <a:rPr lang="en-US" altLang="it-IT" sz="2400">
                <a:ea typeface="ＭＳ Ｐゴシック" panose="020B0600070205080204" pitchFamily="34" charset="-128"/>
                <a:sym typeface="Symbol" pitchFamily="2" charset="2"/>
              </a:rPr>
              <a:t>=1.96</a:t>
            </a:r>
            <a:br>
              <a:rPr lang="en-US" altLang="it-IT" sz="2400">
                <a:ea typeface="ＭＳ Ｐゴシック" panose="020B0600070205080204" pitchFamily="34" charset="-128"/>
                <a:sym typeface="Symbol" pitchFamily="2" charset="2"/>
              </a:rPr>
            </a:br>
            <a:br>
              <a:rPr lang="en-US" altLang="it-IT" sz="2400">
                <a:ea typeface="ＭＳ Ｐゴシック" panose="020B0600070205080204" pitchFamily="34" charset="-128"/>
                <a:sym typeface="Symbol" pitchFamily="2" charset="2"/>
              </a:rPr>
            </a:br>
            <a:br>
              <a:rPr lang="en-US" altLang="it-IT" sz="2400">
                <a:ea typeface="ＭＳ Ｐゴシック" panose="020B0600070205080204" pitchFamily="34" charset="-128"/>
                <a:sym typeface="Symbol" pitchFamily="2" charset="2"/>
              </a:rPr>
            </a:br>
            <a:br>
              <a:rPr lang="en-US" altLang="it-IT" sz="2400">
                <a:ea typeface="ＭＳ Ｐゴシック" panose="020B0600070205080204" pitchFamily="34" charset="-128"/>
                <a:sym typeface="Symbol" pitchFamily="2" charset="2"/>
              </a:rPr>
            </a:br>
            <a:r>
              <a:rPr lang="en-US" altLang="it-IT" sz="2400">
                <a:ea typeface="ＭＳ Ｐゴシック" panose="020B0600070205080204" pitchFamily="34" charset="-128"/>
                <a:sym typeface="Symbol" pitchFamily="2" charset="2"/>
              </a:rPr>
              <a:t>=&gt; Interval contains 0 =&gt; difference may not be</a:t>
            </a:r>
            <a:br>
              <a:rPr lang="en-US" altLang="it-IT" sz="2400">
                <a:ea typeface="ＭＳ Ｐゴシック" panose="020B0600070205080204" pitchFamily="34" charset="-128"/>
                <a:sym typeface="Symbol" pitchFamily="2" charset="2"/>
              </a:rPr>
            </a:br>
            <a:r>
              <a:rPr lang="en-US" altLang="it-IT" sz="2400">
                <a:ea typeface="ＭＳ Ｐゴシック" panose="020B0600070205080204" pitchFamily="34" charset="-128"/>
                <a:sym typeface="Symbol" pitchFamily="2" charset="2"/>
              </a:rPr>
              <a:t>				       statistically significant</a:t>
            </a:r>
          </a:p>
        </p:txBody>
      </p:sp>
      <p:graphicFrame>
        <p:nvGraphicFramePr>
          <p:cNvPr id="172035" name="Object 4">
            <a:extLst>
              <a:ext uri="{FF2B5EF4-FFF2-40B4-BE49-F238E27FC236}">
                <a16:creationId xmlns:a16="http://schemas.microsoft.com/office/drawing/2014/main" id="{9D473CF3-2556-7048-BE98-E34A9CE3E5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2058" y="3391677"/>
          <a:ext cx="51054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584200" progId="Equation.3">
                  <p:embed/>
                </p:oleObj>
              </mc:Choice>
              <mc:Fallback>
                <p:oleObj name="Equation" r:id="rId2" imgW="2743200" imgH="584200" progId="Equation.3">
                  <p:embed/>
                  <p:pic>
                    <p:nvPicPr>
                      <p:cNvPr id="172035" name="Object 4">
                        <a:extLst>
                          <a:ext uri="{FF2B5EF4-FFF2-40B4-BE49-F238E27FC236}">
                            <a16:creationId xmlns:a16="http://schemas.microsoft.com/office/drawing/2014/main" id="{9D473CF3-2556-7048-BE98-E34A9CE3E5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058" y="3391677"/>
                        <a:ext cx="510540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6" name="Object 5">
            <a:extLst>
              <a:ext uri="{FF2B5EF4-FFF2-40B4-BE49-F238E27FC236}">
                <a16:creationId xmlns:a16="http://schemas.microsoft.com/office/drawing/2014/main" id="{CCAAE016-16C8-2B47-A6C8-21E1C1785D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1059" y="5220478"/>
          <a:ext cx="653891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827800" imgH="9359900" progId="Equation.3">
                  <p:embed/>
                </p:oleObj>
              </mc:Choice>
              <mc:Fallback>
                <p:oleObj name="Equation" r:id="rId4" imgW="120827800" imgH="9359900" progId="Equation.3">
                  <p:embed/>
                  <p:pic>
                    <p:nvPicPr>
                      <p:cNvPr id="172036" name="Object 5">
                        <a:extLst>
                          <a:ext uri="{FF2B5EF4-FFF2-40B4-BE49-F238E27FC236}">
                            <a16:creationId xmlns:a16="http://schemas.microsoft.com/office/drawing/2014/main" id="{CCAAE016-16C8-2B47-A6C8-21E1C1785D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059" y="5220478"/>
                        <a:ext cx="653891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12265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186" name="Rectangle 2">
            <a:extLst>
              <a:ext uri="{FF2B5EF4-FFF2-40B4-BE49-F238E27FC236}">
                <a16:creationId xmlns:a16="http://schemas.microsoft.com/office/drawing/2014/main" id="{011D4B12-897F-BF4D-A0A2-F76EBB041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cs typeface="+mj-cs"/>
              </a:rPr>
              <a:t>Comparing Performance of 2 Algorithms</a:t>
            </a:r>
          </a:p>
        </p:txBody>
      </p:sp>
      <p:sp>
        <p:nvSpPr>
          <p:cNvPr id="173058" name="Rectangle 3">
            <a:extLst>
              <a:ext uri="{FF2B5EF4-FFF2-40B4-BE49-F238E27FC236}">
                <a16:creationId xmlns:a16="http://schemas.microsoft.com/office/drawing/2014/main" id="{3FA28559-7995-264A-839F-D195B44452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Each learning algorithm may produce k models: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L1 may produce M11 , M12, …, M1k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L2 may produce M21 , M22, …, M2k</a:t>
            </a:r>
          </a:p>
          <a:p>
            <a:r>
              <a:rPr lang="en-US" altLang="it-IT">
                <a:ea typeface="ＭＳ Ｐゴシック" panose="020B0600070205080204" pitchFamily="34" charset="-128"/>
              </a:rPr>
              <a:t>If models are generated on the same test sets D1,D2, …, Dk (e.g., via cross-validation)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For each set: compute d</a:t>
            </a:r>
            <a:r>
              <a:rPr lang="en-US" altLang="it-IT" baseline="-25000">
                <a:ea typeface="ＭＳ Ｐゴシック" panose="020B0600070205080204" pitchFamily="34" charset="-128"/>
              </a:rPr>
              <a:t>j</a:t>
            </a:r>
            <a:r>
              <a:rPr lang="en-US" altLang="it-IT">
                <a:ea typeface="ＭＳ Ｐゴシック" panose="020B0600070205080204" pitchFamily="34" charset="-128"/>
              </a:rPr>
              <a:t> = e</a:t>
            </a:r>
            <a:r>
              <a:rPr lang="en-US" altLang="it-IT" baseline="-25000">
                <a:ea typeface="ＭＳ Ｐゴシック" panose="020B0600070205080204" pitchFamily="34" charset="-128"/>
              </a:rPr>
              <a:t>1j</a:t>
            </a:r>
            <a:r>
              <a:rPr lang="en-US" altLang="it-IT">
                <a:ea typeface="ＭＳ Ｐゴシック" panose="020B0600070205080204" pitchFamily="34" charset="-128"/>
              </a:rPr>
              <a:t> – e</a:t>
            </a:r>
            <a:r>
              <a:rPr lang="en-US" altLang="it-IT" baseline="-25000">
                <a:ea typeface="ＭＳ Ｐゴシック" panose="020B0600070205080204" pitchFamily="34" charset="-128"/>
              </a:rPr>
              <a:t>2j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d</a:t>
            </a:r>
            <a:r>
              <a:rPr lang="en-US" altLang="it-IT" baseline="-25000">
                <a:ea typeface="ＭＳ Ｐゴシック" panose="020B0600070205080204" pitchFamily="34" charset="-128"/>
              </a:rPr>
              <a:t>j</a:t>
            </a:r>
            <a:r>
              <a:rPr lang="en-US" altLang="it-IT">
                <a:ea typeface="ＭＳ Ｐゴシック" panose="020B0600070205080204" pitchFamily="34" charset="-128"/>
              </a:rPr>
              <a:t> has mean d</a:t>
            </a:r>
            <a:r>
              <a:rPr lang="en-US" altLang="it-IT" baseline="-25000">
                <a:ea typeface="ＭＳ Ｐゴシック" panose="020B0600070205080204" pitchFamily="34" charset="-128"/>
              </a:rPr>
              <a:t>t</a:t>
            </a:r>
            <a:r>
              <a:rPr lang="en-US" altLang="it-IT">
                <a:ea typeface="ＭＳ Ｐゴシック" panose="020B0600070205080204" pitchFamily="34" charset="-128"/>
              </a:rPr>
              <a:t> and variance </a:t>
            </a:r>
            <a:r>
              <a:rPr lang="en-US" altLang="it-IT">
                <a:ea typeface="ＭＳ Ｐゴシック" panose="020B0600070205080204" pitchFamily="34" charset="-128"/>
                <a:sym typeface="Symbol" pitchFamily="2" charset="2"/>
              </a:rPr>
              <a:t></a:t>
            </a:r>
            <a:r>
              <a:rPr lang="en-US" altLang="it-IT" baseline="-25000">
                <a:ea typeface="ＭＳ Ｐゴシック" panose="020B0600070205080204" pitchFamily="34" charset="-128"/>
              </a:rPr>
              <a:t>t</a:t>
            </a:r>
            <a:r>
              <a:rPr lang="en-US" altLang="it-IT" baseline="30000">
                <a:ea typeface="ＭＳ Ｐゴシック" panose="020B0600070205080204" pitchFamily="34" charset="-128"/>
              </a:rPr>
              <a:t>2</a:t>
            </a:r>
            <a:endParaRPr lang="en-US" altLang="it-IT">
              <a:ea typeface="ＭＳ Ｐゴシック" panose="020B0600070205080204" pitchFamily="34" charset="-128"/>
            </a:endParaRP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Estimate: </a:t>
            </a:r>
          </a:p>
        </p:txBody>
      </p:sp>
      <p:graphicFrame>
        <p:nvGraphicFramePr>
          <p:cNvPr id="173059" name="Object 4">
            <a:extLst>
              <a:ext uri="{FF2B5EF4-FFF2-40B4-BE49-F238E27FC236}">
                <a16:creationId xmlns:a16="http://schemas.microsoft.com/office/drawing/2014/main" id="{D613A7EA-5575-AD4A-9519-790C4F70B7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4419601"/>
          <a:ext cx="2133600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800" imgH="939800" progId="Equation.3">
                  <p:embed/>
                </p:oleObj>
              </mc:Choice>
              <mc:Fallback>
                <p:oleObj name="Equation" r:id="rId2" imgW="1066800" imgH="939800" progId="Equation.3">
                  <p:embed/>
                  <p:pic>
                    <p:nvPicPr>
                      <p:cNvPr id="173059" name="Object 4">
                        <a:extLst>
                          <a:ext uri="{FF2B5EF4-FFF2-40B4-BE49-F238E27FC236}">
                            <a16:creationId xmlns:a16="http://schemas.microsoft.com/office/drawing/2014/main" id="{D613A7EA-5575-AD4A-9519-790C4F70B7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419601"/>
                        <a:ext cx="2133600" cy="187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3862723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56805-27B6-9941-9623-EE2991DF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br>
              <a:rPr lang="en-US" b="1" dirty="0">
                <a:solidFill>
                  <a:srgbClr val="00FB92"/>
                </a:solidFill>
              </a:rPr>
            </a:br>
            <a:r>
              <a:rPr lang="en-US" b="1" dirty="0"/>
              <a:t>Ensemble Methods</a:t>
            </a:r>
            <a:endParaRPr lang="en-US" sz="3000" b="1" dirty="0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6F288DE-7B36-1745-8291-1D66544FBE52}"/>
              </a:ext>
            </a:extLst>
          </p:cNvPr>
          <p:cNvCxnSpPr/>
          <p:nvPr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221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2DB3F4-586F-C84A-B8B4-A745B6E2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Ensemble Methods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2764D75-B622-4648-83C0-9C1E8D885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0300" cy="4351338"/>
          </a:xfrm>
        </p:spPr>
        <p:txBody>
          <a:bodyPr>
            <a:normAutofit/>
          </a:bodyPr>
          <a:lstStyle/>
          <a:p>
            <a:r>
              <a:rPr lang="en-US" sz="2600" noProof="0" dirty="0"/>
              <a:t>Improves the accuracy by </a:t>
            </a:r>
            <a:r>
              <a:rPr lang="en-US" sz="2600" b="1" noProof="0" dirty="0"/>
              <a:t>aggregating the predictions </a:t>
            </a:r>
            <a:r>
              <a:rPr lang="en-US" sz="2600" noProof="0" dirty="0"/>
              <a:t>of multiple classifiers.</a:t>
            </a:r>
          </a:p>
          <a:p>
            <a:r>
              <a:rPr lang="en-US" sz="2600" noProof="0" dirty="0"/>
              <a:t>Construct a set of </a:t>
            </a:r>
            <a:r>
              <a:rPr lang="en-US" sz="2600" b="1" noProof="0" dirty="0"/>
              <a:t>base classifiers</a:t>
            </a:r>
            <a:r>
              <a:rPr lang="en-US" sz="2600" noProof="0" dirty="0"/>
              <a:t> from the training data.</a:t>
            </a:r>
          </a:p>
          <a:p>
            <a:r>
              <a:rPr lang="en-US" sz="2600" noProof="0" dirty="0"/>
              <a:t>Predict class label of test records by combining the predictions made by multiple classifiers.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E07D9912-F9B5-A54B-8318-D32F371DB7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7090" y="1494314"/>
          <a:ext cx="5791119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740900" imgH="7327900" progId="Visio.Drawing.6">
                  <p:embed/>
                </p:oleObj>
              </mc:Choice>
              <mc:Fallback>
                <p:oleObj name="Visio" r:id="rId3" imgW="9740900" imgH="7327900" progId="Visio.Drawing.6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E07D9912-F9B5-A54B-8318-D32F371DB7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090" y="1494314"/>
                        <a:ext cx="5791119" cy="435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40505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672531-3514-1048-8BF7-658DA5AC9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Wisdom of the Crowds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F5D95C-613D-1A40-AD24-C5F002C35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noProof="0" dirty="0"/>
              <a:t>The </a:t>
            </a:r>
            <a:r>
              <a:rPr lang="en-US" b="1" noProof="0" dirty="0"/>
              <a:t>collective knowledge </a:t>
            </a:r>
            <a:r>
              <a:rPr lang="en-US" noProof="0" dirty="0"/>
              <a:t>of a diverse and independent body of people typically </a:t>
            </a:r>
            <a:r>
              <a:rPr lang="en-US" b="1" noProof="0" dirty="0"/>
              <a:t>exceeds</a:t>
            </a:r>
            <a:r>
              <a:rPr lang="en-US" noProof="0" dirty="0"/>
              <a:t> the knowledge of any </a:t>
            </a:r>
            <a:r>
              <a:rPr lang="en-US" b="1" noProof="0" dirty="0"/>
              <a:t>single individual </a:t>
            </a:r>
            <a:r>
              <a:rPr lang="en-US" noProof="0" dirty="0"/>
              <a:t>and can be harnessed by voting.</a:t>
            </a:r>
          </a:p>
          <a:p>
            <a:endParaRPr lang="en-US" noProof="0" dirty="0"/>
          </a:p>
          <a:p>
            <a:r>
              <a:rPr lang="en-US" sz="2400" noProof="0" dirty="0"/>
              <a:t>How much does the cow weigh?</a:t>
            </a:r>
          </a:p>
          <a:p>
            <a:r>
              <a:rPr lang="en-US" sz="2400" noProof="0" dirty="0"/>
              <a:t>Crowd’s prediction is the average of all predictions.</a:t>
            </a:r>
          </a:p>
          <a:p>
            <a:r>
              <a:rPr lang="en-US" sz="2400" noProof="0" dirty="0"/>
              <a:t>This crowd predicts 99.8333 Kg</a:t>
            </a:r>
          </a:p>
          <a:p>
            <a:r>
              <a:rPr lang="en-US" sz="2400" noProof="0" dirty="0"/>
              <a:t>The cow weighs 99.657 Kg.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24F8F3F-21C8-2049-B512-FEBF7B4D6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070" y="3290094"/>
            <a:ext cx="3259630" cy="248761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F153C38-B880-1241-A0F8-AE337CF5DF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81" t="6000" r="7728" b="2501"/>
          <a:stretch/>
        </p:blipFill>
        <p:spPr>
          <a:xfrm>
            <a:off x="5359399" y="4533900"/>
            <a:ext cx="1879601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8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7F569A-07A8-0B41-801D-BC3ED3009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Has crowd made a good estimate?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F5ACA9-9CF0-C644-937C-CC27DF2D1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If composition of crowd:</a:t>
            </a:r>
          </a:p>
          <a:p>
            <a:r>
              <a:rPr lang="en-US" noProof="0" dirty="0"/>
              <a:t>30% </a:t>
            </a:r>
            <a:r>
              <a:rPr lang="en-US" noProof="0" dirty="0">
                <a:solidFill>
                  <a:srgbClr val="FF0000"/>
                </a:solidFill>
              </a:rPr>
              <a:t>experts</a:t>
            </a:r>
            <a:r>
              <a:rPr lang="en-US" noProof="0" dirty="0"/>
              <a:t>.</a:t>
            </a:r>
          </a:p>
          <a:p>
            <a:r>
              <a:rPr lang="en-US" noProof="0" dirty="0"/>
              <a:t>70% non-experts.</a:t>
            </a:r>
          </a:p>
          <a:p>
            <a:pPr marL="0" indent="0">
              <a:buNone/>
            </a:pPr>
            <a:r>
              <a:rPr lang="en-US" noProof="0" dirty="0"/>
              <a:t>and their level of expertise: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F2946ED-E46C-2F4A-822E-241FE500C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135" y="3327400"/>
            <a:ext cx="6680200" cy="35306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3570781-3DEF-4946-890C-02E519E25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591" y="3886199"/>
            <a:ext cx="2141429" cy="286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288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75070E-58B1-A149-8F00-40BBA0BB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Has crowd made a good estimate?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A9A4EE-5ACC-514E-AB5A-412A789D5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56929" cy="4351338"/>
          </a:xfrm>
        </p:spPr>
        <p:txBody>
          <a:bodyPr/>
          <a:lstStyle/>
          <a:p>
            <a:r>
              <a:rPr lang="en-US" noProof="0" dirty="0"/>
              <a:t>If the crowd contains 50 independent people:</a:t>
            </a:r>
          </a:p>
          <a:p>
            <a:r>
              <a:rPr lang="en-US" noProof="0" dirty="0"/>
              <a:t>On average this crowd will make better estimates than the experts.</a:t>
            </a:r>
          </a:p>
          <a:p>
            <a:r>
              <a:rPr lang="en-US" noProof="0" dirty="0"/>
              <a:t>Thus the crowd wiser than each of the experts!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7128904-9AB7-1843-ADB8-4F5E104F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591" y="3886199"/>
            <a:ext cx="2141429" cy="286216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40D18F1-A139-814E-A598-F8302D2F1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717" y="1635802"/>
            <a:ext cx="3681585" cy="321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490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6B0A80-5D58-9C43-B472-B8C692B1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didn’t I just asked a bunch of experts?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7E15BA-EF64-C94F-B831-9A5E44097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Large enough crowd </a:t>
            </a:r>
            <a:r>
              <a:rPr lang="en-US" noProof="0" dirty="0">
                <a:sym typeface="Wingdings" pitchFamily="2" charset="2"/>
              </a:rPr>
              <a:t></a:t>
            </a:r>
            <a:r>
              <a:rPr lang="en-US" noProof="0" dirty="0"/>
              <a:t> high probability a sufficient number of experts will be in crowd (for any question).</a:t>
            </a:r>
          </a:p>
          <a:p>
            <a:r>
              <a:rPr lang="en-US" noProof="0" dirty="0"/>
              <a:t>Random selection </a:t>
            </a:r>
            <a:r>
              <a:rPr lang="en-US" noProof="0" dirty="0">
                <a:sym typeface="Wingdings" pitchFamily="2" charset="2"/>
              </a:rPr>
              <a:t></a:t>
            </a:r>
            <a:r>
              <a:rPr lang="en-US" noProof="0" dirty="0"/>
              <a:t> don’t make a biased choice in experts.</a:t>
            </a:r>
          </a:p>
          <a:p>
            <a:r>
              <a:rPr lang="en-US" noProof="0" dirty="0"/>
              <a:t>For some questions it may be hard to identify a diverse set of experts.</a:t>
            </a:r>
          </a:p>
        </p:txBody>
      </p:sp>
    </p:spTree>
    <p:extLst>
      <p:ext uri="{BB962C8B-B14F-4D97-AF65-F5344CB8AC3E}">
        <p14:creationId xmlns:p14="http://schemas.microsoft.com/office/powerpoint/2010/main" val="206579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EA491E-B990-D248-9311-702DB05E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makes a crowd wise?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543893-AF56-CC4E-BAFE-5205B663D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According to James </a:t>
            </a:r>
            <a:r>
              <a:rPr lang="en-US" noProof="0" dirty="0" err="1"/>
              <a:t>Surowiecki</a:t>
            </a:r>
            <a:r>
              <a:rPr lang="en-US" noProof="0" dirty="0"/>
              <a:t> there are four elements required to form a wise crowd</a:t>
            </a:r>
          </a:p>
          <a:p>
            <a:r>
              <a:rPr lang="en-US" b="1" noProof="0" dirty="0"/>
              <a:t>Diversity of opinion</a:t>
            </a:r>
            <a:r>
              <a:rPr lang="en-US" noProof="0" dirty="0"/>
              <a:t>. People in crowd should have a range of experiences, education and opinions (this encourages independent predictions).</a:t>
            </a:r>
          </a:p>
          <a:p>
            <a:r>
              <a:rPr lang="en-US" b="1" noProof="0" dirty="0"/>
              <a:t>Independence</a:t>
            </a:r>
            <a:r>
              <a:rPr lang="en-US" noProof="0" dirty="0"/>
              <a:t>. Prediction by person in crowd is not influenced by other people in the crowd.</a:t>
            </a:r>
          </a:p>
          <a:p>
            <a:r>
              <a:rPr lang="en-US" b="1" noProof="0" dirty="0"/>
              <a:t>Decentralization</a:t>
            </a:r>
            <a:r>
              <a:rPr lang="en-US" noProof="0" dirty="0"/>
              <a:t>. People have specializations and local knowledge.</a:t>
            </a:r>
          </a:p>
          <a:p>
            <a:r>
              <a:rPr lang="en-US" b="1" noProof="0" dirty="0"/>
              <a:t>Aggregation</a:t>
            </a:r>
            <a:r>
              <a:rPr lang="en-US" noProof="0" dirty="0"/>
              <a:t>. There is a mechanism for aggregating all predictions into one single prediction.</a:t>
            </a:r>
          </a:p>
        </p:txBody>
      </p:sp>
    </p:spTree>
    <p:extLst>
      <p:ext uri="{BB962C8B-B14F-4D97-AF65-F5344CB8AC3E}">
        <p14:creationId xmlns:p14="http://schemas.microsoft.com/office/powerpoint/2010/main" val="251046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A63BED9-924F-2B47-AC70-3F1FD2FCC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Back to Machine Learning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6EE65171-23FA-D641-9C3E-B9D099B5F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It will exploit </a:t>
            </a:r>
            <a:r>
              <a:rPr lang="en-US" i="1" noProof="0" dirty="0"/>
              <a:t>Wisdom of crowd </a:t>
            </a:r>
            <a:r>
              <a:rPr lang="en-US" noProof="0" dirty="0"/>
              <a:t>ideas for specific tasks</a:t>
            </a:r>
          </a:p>
          <a:p>
            <a:r>
              <a:rPr lang="en-US" noProof="0" dirty="0"/>
              <a:t>By combining classifier predictions and</a:t>
            </a:r>
          </a:p>
          <a:p>
            <a:r>
              <a:rPr lang="en-US" noProof="0" dirty="0"/>
              <a:t>aims to combine independent and diverse classifiers.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But it will use labelled training data</a:t>
            </a:r>
          </a:p>
          <a:p>
            <a:r>
              <a:rPr lang="en-US" noProof="0" dirty="0"/>
              <a:t>to identify the </a:t>
            </a:r>
            <a:r>
              <a:rPr lang="en-US" b="1" noProof="0" dirty="0"/>
              <a:t>expert</a:t>
            </a:r>
            <a:r>
              <a:rPr lang="en-US" noProof="0" dirty="0"/>
              <a:t> classifiers in the pool;</a:t>
            </a:r>
          </a:p>
          <a:p>
            <a:r>
              <a:rPr lang="en-US" noProof="0" dirty="0"/>
              <a:t>to identify </a:t>
            </a:r>
            <a:r>
              <a:rPr lang="en-US" b="1" noProof="0" dirty="0"/>
              <a:t>complementary</a:t>
            </a:r>
            <a:r>
              <a:rPr lang="en-US" noProof="0" dirty="0"/>
              <a:t> classifiers;</a:t>
            </a:r>
          </a:p>
          <a:p>
            <a:r>
              <a:rPr lang="en-US" noProof="0" dirty="0"/>
              <a:t>to indicate how </a:t>
            </a:r>
            <a:r>
              <a:rPr lang="en-US" noProof="0"/>
              <a:t>to the </a:t>
            </a:r>
            <a:r>
              <a:rPr lang="en-US" noProof="0" dirty="0"/>
              <a:t>best </a:t>
            </a:r>
            <a:r>
              <a:rPr lang="en-US" b="1" noProof="0" dirty="0"/>
              <a:t>combine</a:t>
            </a:r>
            <a:r>
              <a:rPr lang="en-US" noProof="0" dirty="0"/>
              <a:t> them.</a:t>
            </a:r>
          </a:p>
        </p:txBody>
      </p:sp>
    </p:spTree>
    <p:extLst>
      <p:ext uri="{BB962C8B-B14F-4D97-AF65-F5344CB8AC3E}">
        <p14:creationId xmlns:p14="http://schemas.microsoft.com/office/powerpoint/2010/main" val="11336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FC082A7-D135-6845-BDB5-E7E5C3EC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Ensemble Methods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3EBB6370-29BA-4140-B2B6-32AC101D22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019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noProof="0" dirty="0"/>
                  <a:t>Suppose there are 25 base classifiers</a:t>
                </a:r>
              </a:p>
              <a:p>
                <a:r>
                  <a:rPr lang="en-US" noProof="0" dirty="0"/>
                  <a:t>Each classifier has error rate,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noProof="0" dirty="0"/>
                  <a:t> = 0.35</a:t>
                </a:r>
              </a:p>
              <a:p>
                <a:r>
                  <a:rPr lang="en-US" noProof="0" dirty="0"/>
                  <a:t>Assume errors made </a:t>
                </a:r>
                <a:br>
                  <a:rPr lang="en-US" noProof="0" dirty="0"/>
                </a:br>
                <a:r>
                  <a:rPr lang="en-US" noProof="0" dirty="0"/>
                  <a:t>by classifiers are uncorrelated</a:t>
                </a:r>
              </a:p>
              <a:p>
                <a:r>
                  <a:rPr lang="en-US" noProof="0" dirty="0"/>
                  <a:t>Probability that the ensemble classifier makes a wrong prediction:</a:t>
                </a:r>
              </a:p>
              <a:p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3EBB6370-29BA-4140-B2B6-32AC101D2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019800" cy="4351338"/>
              </a:xfrm>
              <a:blipFill>
                <a:blip r:embed="rId4"/>
                <a:stretch>
                  <a:fillRect l="-1895" t="-263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4527F842-15CD-2D43-AE49-483871316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3800" y="5002213"/>
          <a:ext cx="556260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587900" imgH="10528300" progId="Equation.3">
                  <p:embed/>
                </p:oleObj>
              </mc:Choice>
              <mc:Fallback>
                <p:oleObj name="Equation" r:id="rId5" imgW="55587900" imgH="10528300" progId="Equation.3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4527F842-15CD-2D43-AE49-4838713166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5002213"/>
                        <a:ext cx="5562600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9771E2F-60C5-BC4E-8C81-97DA4D8A1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70750" y="1690688"/>
            <a:ext cx="4083050" cy="3062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2498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71C2EC-5FCC-FC41-829C-8CC85877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Types of Ensemble Methods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F8D3D6-B254-BC40-BB96-B3EEF9EAD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Manipulate data distribution</a:t>
            </a:r>
          </a:p>
          <a:p>
            <a:pPr lvl="1"/>
            <a:r>
              <a:rPr lang="en-US" sz="2800" noProof="0" dirty="0"/>
              <a:t>Example: bagging, boosting</a:t>
            </a:r>
          </a:p>
          <a:p>
            <a:pPr lvl="1"/>
            <a:endParaRPr lang="en-US" sz="2800" noProof="0" dirty="0"/>
          </a:p>
          <a:p>
            <a:r>
              <a:rPr lang="en-US" noProof="0" dirty="0"/>
              <a:t>Manipulate input features</a:t>
            </a:r>
          </a:p>
          <a:p>
            <a:pPr lvl="1"/>
            <a:r>
              <a:rPr lang="en-US" sz="2800" noProof="0" dirty="0"/>
              <a:t>Example: random forests</a:t>
            </a:r>
          </a:p>
          <a:p>
            <a:pPr lvl="1"/>
            <a:endParaRPr lang="en-US" sz="2800" noProof="0" dirty="0"/>
          </a:p>
          <a:p>
            <a:r>
              <a:rPr lang="en-US" noProof="0" dirty="0"/>
              <a:t>Manipulate class labels</a:t>
            </a:r>
          </a:p>
          <a:p>
            <a:pPr lvl="1"/>
            <a:r>
              <a:rPr lang="en-US" sz="2800" noProof="0" dirty="0"/>
              <a:t>Example: error-correcting output coding</a:t>
            </a:r>
          </a:p>
        </p:txBody>
      </p:sp>
    </p:spTree>
    <p:extLst>
      <p:ext uri="{BB962C8B-B14F-4D97-AF65-F5344CB8AC3E}">
        <p14:creationId xmlns:p14="http://schemas.microsoft.com/office/powerpoint/2010/main" val="419215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36CE33-100D-DF48-9218-BA038975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Random Forests : </a:t>
            </a:r>
            <a:r>
              <a:rPr lang="en-US" sz="3200" noProof="0" dirty="0"/>
              <a:t>Manipulate input features</a:t>
            </a:r>
            <a:endParaRPr lang="en-US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75BEB2-7D04-754C-9778-F08EF892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9873" cy="4351338"/>
          </a:xfrm>
        </p:spPr>
        <p:txBody>
          <a:bodyPr>
            <a:normAutofit/>
          </a:bodyPr>
          <a:lstStyle/>
          <a:p>
            <a:r>
              <a:rPr lang="en-US" noProof="0" dirty="0"/>
              <a:t>Is a class of ensemble methods specifically designed for </a:t>
            </a:r>
            <a:r>
              <a:rPr lang="en-US" b="1" noProof="0" dirty="0"/>
              <a:t>decision trees</a:t>
            </a:r>
            <a:r>
              <a:rPr lang="en-US" noProof="0" dirty="0"/>
              <a:t>. </a:t>
            </a:r>
          </a:p>
          <a:p>
            <a:r>
              <a:rPr lang="en-US" noProof="0" dirty="0"/>
              <a:t>It combines the predictions made by multiple decision trees and outputs the class that is the mode of the class's output by individual trees.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E85114-4B29-4F4C-8EC1-863CA1454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673" y="1790989"/>
            <a:ext cx="5671127" cy="425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2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3DCDF4-CCF2-FA4D-88D4-B78C4FC5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Random Forest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31E5FF0-6C40-B04D-89A0-48B7929BAF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noProof="0" dirty="0"/>
                  <a:t>Each decision tree is built on a </a:t>
                </a:r>
                <a:r>
                  <a:rPr lang="en-US" b="1" noProof="0" dirty="0"/>
                  <a:t>bootstrap sample </a:t>
                </a:r>
                <a:r>
                  <a:rPr lang="en-US" noProof="0" dirty="0"/>
                  <a:t>based on the values of an </a:t>
                </a:r>
                <a:r>
                  <a:rPr lang="en-US" b="1" noProof="0" dirty="0"/>
                  <a:t>independent</a:t>
                </a:r>
                <a:r>
                  <a:rPr lang="en-US" noProof="0" dirty="0"/>
                  <a:t> set of random vectors.</a:t>
                </a:r>
              </a:p>
              <a:p>
                <a:pPr lvl="1"/>
                <a:r>
                  <a:rPr lang="en-US" b="1" noProof="0" dirty="0"/>
                  <a:t>Each bootstrap sample (with replacement) has the same size of the original data</a:t>
                </a:r>
              </a:p>
              <a:p>
                <a:pPr lvl="1"/>
                <a:r>
                  <a:rPr lang="en-US" noProof="0" dirty="0"/>
                  <a:t>At every internal node the best splitting is </a:t>
                </a:r>
                <a:r>
                  <a:rPr lang="en-US" noProof="0" dirty="0" err="1"/>
                  <a:t>choosen</a:t>
                </a:r>
                <a:r>
                  <a:rPr lang="en-US" noProof="0" dirty="0"/>
                  <a:t> among a small set of </a:t>
                </a:r>
                <a:r>
                  <a:rPr lang="en-US" noProof="0" dirty="0" err="1"/>
                  <a:t>randoply</a:t>
                </a:r>
                <a:r>
                  <a:rPr lang="en-US" noProof="0" dirty="0"/>
                  <a:t> </a:t>
                </a:r>
                <a:r>
                  <a:rPr lang="en-US" dirty="0"/>
                  <a:t>selected attributes. </a:t>
                </a:r>
                <a:r>
                  <a:rPr lang="en-US" noProof="0" dirty="0"/>
                  <a:t>Unlike </a:t>
                </a:r>
                <a:r>
                  <a:rPr lang="en-US" noProof="0" dirty="0" err="1"/>
                  <a:t>AdaBost</a:t>
                </a:r>
                <a:r>
                  <a:rPr lang="en-US" noProof="0" dirty="0"/>
                  <a:t> (see next slides), the random vector are generated from a fixed probability distribution.</a:t>
                </a:r>
              </a:p>
              <a:p>
                <a:pPr lvl="1"/>
                <a:r>
                  <a:rPr lang="en-US" dirty="0"/>
                  <a:t>The trees are grown till every leaf is pure</a:t>
                </a:r>
                <a:endParaRPr lang="en-US" noProof="0" dirty="0"/>
              </a:p>
              <a:p>
                <a:pPr lvl="1"/>
                <a:r>
                  <a:rPr lang="en-US" noProof="0" dirty="0"/>
                  <a:t>Bagging using decision trees is a special case of random forests where randomness is injected into the model-building process.</a:t>
                </a:r>
              </a:p>
              <a:p>
                <a:r>
                  <a:rPr lang="en-US" dirty="0"/>
                  <a:t>Th</a:t>
                </a:r>
                <a:r>
                  <a:rPr lang="en-US" noProof="0" dirty="0"/>
                  <a:t>e final prediction on a test case is the average prediction (majority vote)</a:t>
                </a:r>
              </a:p>
              <a:p>
                <a:r>
                  <a:rPr lang="en-US" noProof="0" dirty="0"/>
                  <a:t>Each decision tree is evaluated among </a:t>
                </a:r>
                <a:r>
                  <a:rPr lang="en-US" b="1" i="1" noProof="0" dirty="0"/>
                  <a:t>m</a:t>
                </a:r>
                <a:r>
                  <a:rPr lang="en-US" b="1" noProof="0" dirty="0"/>
                  <a:t> randomly chosen attributes </a:t>
                </a:r>
                <a:r>
                  <a:rPr lang="en-US" noProof="0" dirty="0"/>
                  <a:t>from the M available attributes </a:t>
                </a:r>
              </a:p>
              <a:p>
                <a:pPr lvl="1"/>
                <a:r>
                  <a:rPr lang="en-US" noProof="0" dirty="0"/>
                  <a:t>m ~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rad>
                    <m:r>
                      <a:rPr lang="en-US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, or </a:t>
                </a:r>
              </a:p>
              <a:p>
                <a:pPr lvl="1"/>
                <a:r>
                  <a:rPr lang="en-US" noProof="0" dirty="0"/>
                  <a:t>m ~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31E5FF0-6C40-B04D-89A0-48B7929BAF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488" r="-844" b="-87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00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4104E9-A72F-8F40-B854-2768B81B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Random Forest - Advantages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01F3-85B1-0549-B981-3A42F6D12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It is one of the most accurate learning algorithms available. For many data sets, it produces a high accurate classifier.</a:t>
            </a:r>
          </a:p>
          <a:p>
            <a:r>
              <a:rPr lang="en-US" noProof="0" dirty="0"/>
              <a:t>It runs efficiently on large databases. </a:t>
            </a:r>
          </a:p>
          <a:p>
            <a:r>
              <a:rPr lang="en-US" noProof="0" dirty="0"/>
              <a:t>It can handle thousands of input variables without variable deletion.</a:t>
            </a:r>
          </a:p>
          <a:p>
            <a:r>
              <a:rPr lang="en-US" noProof="0" dirty="0"/>
              <a:t>It gives estimates of what variables are important in the classification.</a:t>
            </a:r>
          </a:p>
          <a:p>
            <a:r>
              <a:rPr lang="en-US" noProof="0" dirty="0"/>
              <a:t>It generates an internal unbiased estimate of the generalization error as the forest building progresses.</a:t>
            </a:r>
          </a:p>
        </p:txBody>
      </p:sp>
    </p:spTree>
    <p:extLst>
      <p:ext uri="{BB962C8B-B14F-4D97-AF65-F5344CB8AC3E}">
        <p14:creationId xmlns:p14="http://schemas.microsoft.com/office/powerpoint/2010/main" val="231219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95C5C6-FAB8-774A-BED7-07468FFA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Bagging (a.k.a. Bootstrap </a:t>
            </a:r>
            <a:r>
              <a:rPr lang="en-US" noProof="0" dirty="0" err="1"/>
              <a:t>AGGregatING</a:t>
            </a:r>
            <a:r>
              <a:rPr lang="en-US" noProof="0" dirty="0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04903E-1D9F-8B4D-99A7-0B68AB24F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06416"/>
          </a:xfrm>
        </p:spPr>
        <p:txBody>
          <a:bodyPr>
            <a:normAutofit/>
          </a:bodyPr>
          <a:lstStyle/>
          <a:p>
            <a:r>
              <a:rPr lang="en-US" noProof="0" dirty="0"/>
              <a:t>Sampling with replacement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Build classifier on each bootstrap sample</a:t>
            </a:r>
          </a:p>
          <a:p>
            <a:r>
              <a:rPr lang="en-US" noProof="0" dirty="0"/>
              <a:t>Each sample has probability 1-(1 – 1/n)</a:t>
            </a:r>
            <a:r>
              <a:rPr lang="en-US" baseline="30000" noProof="0" dirty="0"/>
              <a:t>n</a:t>
            </a:r>
            <a:r>
              <a:rPr lang="en-US" noProof="0" dirty="0"/>
              <a:t> of being selected</a:t>
            </a:r>
          </a:p>
        </p:txBody>
      </p:sp>
      <p:pic>
        <p:nvPicPr>
          <p:cNvPr id="4" name="Picture 289">
            <a:extLst>
              <a:ext uri="{FF2B5EF4-FFF2-40B4-BE49-F238E27FC236}">
                <a16:creationId xmlns:a16="http://schemas.microsoft.com/office/drawing/2014/main" id="{241264D0-4906-1C48-AEFE-B9AAED497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76500" y="2371240"/>
            <a:ext cx="7239000" cy="852487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7B9D76-9402-6642-92B6-681E5BF45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19300" y="4505325"/>
            <a:ext cx="8153400" cy="23526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08075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F8AFE9-A078-2F48-93F4-68E0045D4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Bagging 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8AB94F-735B-0344-9750-F0AE803DC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Consider 1-dimensional data set: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Classifier is a decision stump</a:t>
            </a:r>
          </a:p>
          <a:p>
            <a:pPr lvl="1"/>
            <a:r>
              <a:rPr lang="en-US" noProof="0" dirty="0"/>
              <a:t>Decision rule:  	x &lt;= k versus x &gt; k</a:t>
            </a:r>
          </a:p>
          <a:p>
            <a:pPr lvl="1"/>
            <a:r>
              <a:rPr lang="en-US" noProof="0" dirty="0"/>
              <a:t>Split point k is chosen based on entropy</a:t>
            </a:r>
          </a:p>
          <a:p>
            <a:endParaRPr lang="en-US" noProof="0" dirty="0"/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5B9835A3-1103-DE4C-B8D7-695765A29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0293" y="2228850"/>
          <a:ext cx="7491413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273800" imgH="1016000" progId="Visio.Drawing.6">
                  <p:embed/>
                </p:oleObj>
              </mc:Choice>
              <mc:Fallback>
                <p:oleObj name="Visio" r:id="rId2" imgW="6273800" imgH="1016000" progId="Visio.Drawing.6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5B9835A3-1103-DE4C-B8D7-695765A29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293" y="2228850"/>
                        <a:ext cx="7491413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uppo 6">
            <a:extLst>
              <a:ext uri="{FF2B5EF4-FFF2-40B4-BE49-F238E27FC236}">
                <a16:creationId xmlns:a16="http://schemas.microsoft.com/office/drawing/2014/main" id="{1B7E8A82-C330-1E46-B278-92A7CB2F52EB}"/>
              </a:ext>
            </a:extLst>
          </p:cNvPr>
          <p:cNvGrpSpPr/>
          <p:nvPr/>
        </p:nvGrpSpPr>
        <p:grpSpPr>
          <a:xfrm>
            <a:off x="4987212" y="4806819"/>
            <a:ext cx="2514600" cy="1433512"/>
            <a:chOff x="2971800" y="4891088"/>
            <a:chExt cx="2514600" cy="1433512"/>
          </a:xfrm>
        </p:grpSpPr>
        <p:sp>
          <p:nvSpPr>
            <p:cNvPr id="8" name="Oval 10">
              <a:extLst>
                <a:ext uri="{FF2B5EF4-FFF2-40B4-BE49-F238E27FC236}">
                  <a16:creationId xmlns:a16="http://schemas.microsoft.com/office/drawing/2014/main" id="{3AB24EFA-28F5-8E40-ACD0-A993C719C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4891088"/>
              <a:ext cx="1295400" cy="6858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 dirty="0"/>
                <a:t>x </a:t>
              </a:r>
              <a:r>
                <a:rPr lang="en-US" altLang="en-US" sz="1400" dirty="0">
                  <a:sym typeface="Symbol" pitchFamily="2" charset="2"/>
                </a:rPr>
                <a:t> k</a:t>
              </a: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BBEFB2B8-7F19-4E43-811F-D715665C36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6600" y="5576888"/>
              <a:ext cx="76200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E4C85F0E-91F9-6740-A450-96AD7B84E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600" y="5576888"/>
              <a:ext cx="83820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2473D25C-399C-744A-988B-634CBDD2C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5957888"/>
              <a:ext cx="6858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800"/>
                <a:t>y</a:t>
              </a:r>
              <a:r>
                <a:rPr lang="en-US" altLang="en-US" sz="1800" baseline="-25000"/>
                <a:t>left</a:t>
              </a:r>
              <a:endParaRPr lang="en-US" altLang="en-US" sz="1800"/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421EEA5B-F1F5-8C47-8DDF-8E1BA6F3C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5957888"/>
              <a:ext cx="6858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800"/>
                <a:t>y</a:t>
              </a:r>
              <a:r>
                <a:rPr lang="en-US" altLang="en-US" sz="1800" baseline="-25000"/>
                <a:t>right</a:t>
              </a:r>
              <a:endParaRPr lang="en-US" altLang="en-US" sz="1800"/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F0C03D3A-909B-3B49-AEC7-04089864B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5486400"/>
              <a:ext cx="6858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600"/>
                <a:t>True</a:t>
              </a: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51B1AF75-5DBC-6A49-B31F-CEC5FF26C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5486400"/>
              <a:ext cx="990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600"/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72814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1ACDCF-0C8C-214A-91D4-461460AB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Bagging Example</a:t>
            </a:r>
          </a:p>
        </p:txBody>
      </p:sp>
      <p:pic>
        <p:nvPicPr>
          <p:cNvPr id="7" name="Picture 866">
            <a:extLst>
              <a:ext uri="{FF2B5EF4-FFF2-40B4-BE49-F238E27FC236}">
                <a16:creationId xmlns:a16="http://schemas.microsoft.com/office/drawing/2014/main" id="{504F02A9-4037-C94D-B0C8-DE549F66E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690688"/>
            <a:ext cx="6705600" cy="4778375"/>
          </a:xfrm>
          <a:prstGeom prst="rect">
            <a:avLst/>
          </a:prstGeom>
          <a:noFill/>
        </p:spPr>
      </p:pic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2EE271EF-0D89-A744-AF26-53A0252FF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1919288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57300" imgH="406400" progId="Visio.Drawing.6">
                  <p:embed/>
                </p:oleObj>
              </mc:Choice>
              <mc:Fallback>
                <p:oleObj name="Visio" r:id="rId3" imgW="1257300" imgH="406400" progId="Visio.Drawing.6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2EE271EF-0D89-A744-AF26-53A0252FF7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919288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87886446-60A2-D844-8F24-5970D6949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2909888"/>
          <a:ext cx="14001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68400" imgH="406400" progId="Visio.Drawing.6">
                  <p:embed/>
                </p:oleObj>
              </mc:Choice>
              <mc:Fallback>
                <p:oleObj name="Visio" r:id="rId5" imgW="1168400" imgH="406400" progId="Visio.Drawing.6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87886446-60A2-D844-8F24-5970D69495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2909888"/>
                        <a:ext cx="14001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66A1CBBA-0083-9444-9FF7-D9C2DD274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3900488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257300" imgH="406400" progId="Visio.Drawing.6">
                  <p:embed/>
                </p:oleObj>
              </mc:Choice>
              <mc:Fallback>
                <p:oleObj name="Visio" r:id="rId7" imgW="1257300" imgH="406400" progId="Visio.Drawing.6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66A1CBBA-0083-9444-9FF7-D9C2DD274F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900488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A5BBA5DC-5C50-094F-A7EE-2206986BA6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4891088"/>
          <a:ext cx="14001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168400" imgH="406400" progId="Visio.Drawing.6">
                  <p:embed/>
                </p:oleObj>
              </mc:Choice>
              <mc:Fallback>
                <p:oleObj name="Visio" r:id="rId9" imgW="1168400" imgH="406400" progId="Visio.Drawing.6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A5BBA5DC-5C50-094F-A7EE-2206986BA6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891088"/>
                        <a:ext cx="14001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E9257770-8A81-0E4B-ADFB-5F80FB471E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5881688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1257300" imgH="406400" progId="Visio.Drawing.6">
                  <p:embed/>
                </p:oleObj>
              </mc:Choice>
              <mc:Fallback>
                <p:oleObj name="Visio" r:id="rId11" imgW="1257300" imgH="406400" progId="Visio.Drawing.6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E9257770-8A81-0E4B-ADFB-5F80FB471E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5881688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876">
            <a:extLst>
              <a:ext uri="{FF2B5EF4-FFF2-40B4-BE49-F238E27FC236}">
                <a16:creationId xmlns:a16="http://schemas.microsoft.com/office/drawing/2014/main" id="{96CDB4FA-6EC7-3D44-9D0B-142A81330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69068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4" name="Line 877">
            <a:extLst>
              <a:ext uri="{FF2B5EF4-FFF2-40B4-BE49-F238E27FC236}">
                <a16:creationId xmlns:a16="http://schemas.microsoft.com/office/drawing/2014/main" id="{6A02B659-B21B-B643-813F-E2D3B2B8A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75748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" name="Line 878">
            <a:extLst>
              <a:ext uri="{FF2B5EF4-FFF2-40B4-BE49-F238E27FC236}">
                <a16:creationId xmlns:a16="http://schemas.microsoft.com/office/drawing/2014/main" id="{198EB6ED-31BD-C84F-AC23-3BDD9306F6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74808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6" name="Line 879">
            <a:extLst>
              <a:ext uri="{FF2B5EF4-FFF2-40B4-BE49-F238E27FC236}">
                <a16:creationId xmlns:a16="http://schemas.microsoft.com/office/drawing/2014/main" id="{363651E5-B75F-EF41-852D-DDD6511F21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73868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" name="Line 880">
            <a:extLst>
              <a:ext uri="{FF2B5EF4-FFF2-40B4-BE49-F238E27FC236}">
                <a16:creationId xmlns:a16="http://schemas.microsoft.com/office/drawing/2014/main" id="{A72BD065-E47D-C94D-8D0D-0E267FD35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80548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D8EDF0E6-A3F6-7E41-8BE0-85AFDD0A3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544698"/>
            <a:ext cx="8511057" cy="417518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280014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1ACDCF-0C8C-214A-91D4-461460AB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Bagging Example</a:t>
            </a:r>
          </a:p>
        </p:txBody>
      </p:sp>
      <p:pic>
        <p:nvPicPr>
          <p:cNvPr id="7" name="Picture 866">
            <a:extLst>
              <a:ext uri="{FF2B5EF4-FFF2-40B4-BE49-F238E27FC236}">
                <a16:creationId xmlns:a16="http://schemas.microsoft.com/office/drawing/2014/main" id="{504F02A9-4037-C94D-B0C8-DE549F66E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690688"/>
            <a:ext cx="6705600" cy="4778375"/>
          </a:xfrm>
          <a:prstGeom prst="rect">
            <a:avLst/>
          </a:prstGeom>
          <a:noFill/>
        </p:spPr>
      </p:pic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2EE271EF-0D89-A744-AF26-53A0252FF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1919288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57300" imgH="406400" progId="Visio.Drawing.6">
                  <p:embed/>
                </p:oleObj>
              </mc:Choice>
              <mc:Fallback>
                <p:oleObj name="Visio" r:id="rId3" imgW="1257300" imgH="406400" progId="Visio.Drawing.6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2EE271EF-0D89-A744-AF26-53A0252FF7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919288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87886446-60A2-D844-8F24-5970D6949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2909888"/>
          <a:ext cx="14001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68400" imgH="406400" progId="Visio.Drawing.6">
                  <p:embed/>
                </p:oleObj>
              </mc:Choice>
              <mc:Fallback>
                <p:oleObj name="Visio" r:id="rId5" imgW="1168400" imgH="406400" progId="Visio.Drawing.6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87886446-60A2-D844-8F24-5970D69495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2909888"/>
                        <a:ext cx="14001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66A1CBBA-0083-9444-9FF7-D9C2DD274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3900488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257300" imgH="406400" progId="Visio.Drawing.6">
                  <p:embed/>
                </p:oleObj>
              </mc:Choice>
              <mc:Fallback>
                <p:oleObj name="Visio" r:id="rId7" imgW="1257300" imgH="406400" progId="Visio.Drawing.6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66A1CBBA-0083-9444-9FF7-D9C2DD274F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900488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A5BBA5DC-5C50-094F-A7EE-2206986BA6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4891088"/>
          <a:ext cx="14001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168400" imgH="406400" progId="Visio.Drawing.6">
                  <p:embed/>
                </p:oleObj>
              </mc:Choice>
              <mc:Fallback>
                <p:oleObj name="Visio" r:id="rId9" imgW="1168400" imgH="406400" progId="Visio.Drawing.6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A5BBA5DC-5C50-094F-A7EE-2206986BA6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891088"/>
                        <a:ext cx="14001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E9257770-8A81-0E4B-ADFB-5F80FB471E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5881688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1257300" imgH="406400" progId="Visio.Drawing.6">
                  <p:embed/>
                </p:oleObj>
              </mc:Choice>
              <mc:Fallback>
                <p:oleObj name="Visio" r:id="rId11" imgW="1257300" imgH="406400" progId="Visio.Drawing.6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E9257770-8A81-0E4B-ADFB-5F80FB471E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5881688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876">
            <a:extLst>
              <a:ext uri="{FF2B5EF4-FFF2-40B4-BE49-F238E27FC236}">
                <a16:creationId xmlns:a16="http://schemas.microsoft.com/office/drawing/2014/main" id="{96CDB4FA-6EC7-3D44-9D0B-142A81330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69068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4" name="Line 877">
            <a:extLst>
              <a:ext uri="{FF2B5EF4-FFF2-40B4-BE49-F238E27FC236}">
                <a16:creationId xmlns:a16="http://schemas.microsoft.com/office/drawing/2014/main" id="{6A02B659-B21B-B643-813F-E2D3B2B8A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75748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" name="Line 878">
            <a:extLst>
              <a:ext uri="{FF2B5EF4-FFF2-40B4-BE49-F238E27FC236}">
                <a16:creationId xmlns:a16="http://schemas.microsoft.com/office/drawing/2014/main" id="{198EB6ED-31BD-C84F-AC23-3BDD9306F6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74808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6" name="Line 879">
            <a:extLst>
              <a:ext uri="{FF2B5EF4-FFF2-40B4-BE49-F238E27FC236}">
                <a16:creationId xmlns:a16="http://schemas.microsoft.com/office/drawing/2014/main" id="{363651E5-B75F-EF41-852D-DDD6511F21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73868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" name="Line 880">
            <a:extLst>
              <a:ext uri="{FF2B5EF4-FFF2-40B4-BE49-F238E27FC236}">
                <a16:creationId xmlns:a16="http://schemas.microsoft.com/office/drawing/2014/main" id="{A72BD065-E47D-C94D-8D0D-0E267FD35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805488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45215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B249A5-5A10-7046-A68C-239F38AB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Bagging Example</a:t>
            </a:r>
          </a:p>
        </p:txBody>
      </p:sp>
      <p:pic>
        <p:nvPicPr>
          <p:cNvPr id="3" name="Picture 864">
            <a:extLst>
              <a:ext uri="{FF2B5EF4-FFF2-40B4-BE49-F238E27FC236}">
                <a16:creationId xmlns:a16="http://schemas.microsoft.com/office/drawing/2014/main" id="{2EC96CAC-D687-1942-9EAC-B2DF54BC0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714500"/>
            <a:ext cx="6705600" cy="4778375"/>
          </a:xfrm>
          <a:prstGeom prst="rect">
            <a:avLst/>
          </a:prstGeom>
          <a:noFill/>
        </p:spPr>
      </p:pic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35C30621-0BB7-E141-8642-DF90D33348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1916113"/>
          <a:ext cx="15605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308100" imgH="406400" progId="Visio.Drawing.6">
                  <p:embed/>
                </p:oleObj>
              </mc:Choice>
              <mc:Fallback>
                <p:oleObj name="Visio" r:id="rId3" imgW="1308100" imgH="406400" progId="Visio.Drawing.6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35C30621-0BB7-E141-8642-DF90D33348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916113"/>
                        <a:ext cx="156051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DFCC805-ACA9-4A42-8D9B-CA61DB2E42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2933700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308100" imgH="406400" progId="Visio.Drawing.6">
                  <p:embed/>
                </p:oleObj>
              </mc:Choice>
              <mc:Fallback>
                <p:oleObj name="Visio" r:id="rId5" imgW="1308100" imgH="406400" progId="Visio.Drawing.6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8DFCC805-ACA9-4A42-8D9B-CA61DB2E42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2933700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58FAF0FD-B65C-E642-9181-F357DA8D29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3924300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308100" imgH="406400" progId="Visio.Drawing.6">
                  <p:embed/>
                </p:oleObj>
              </mc:Choice>
              <mc:Fallback>
                <p:oleObj name="Visio" r:id="rId7" imgW="1308100" imgH="406400" progId="Visio.Drawing.6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58FAF0FD-B65C-E642-9181-F357DA8D29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924300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17370353-6316-004F-A180-85535519A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4914900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308100" imgH="406400" progId="Visio.Drawing.6">
                  <p:embed/>
                </p:oleObj>
              </mc:Choice>
              <mc:Fallback>
                <p:oleObj name="Visio" r:id="rId9" imgW="1308100" imgH="406400" progId="Visio.Drawing.6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17370353-6316-004F-A180-85535519AC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914900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97656AA0-79FD-514C-A186-FB7BB67EE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59055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1257300" imgH="406400" progId="Visio.Drawing.6">
                  <p:embed/>
                </p:oleObj>
              </mc:Choice>
              <mc:Fallback>
                <p:oleObj name="Visio" r:id="rId11" imgW="1257300" imgH="406400" progId="Visio.Drawing.6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97656AA0-79FD-514C-A186-FB7BB67EEF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59055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874">
            <a:extLst>
              <a:ext uri="{FF2B5EF4-FFF2-40B4-BE49-F238E27FC236}">
                <a16:creationId xmlns:a16="http://schemas.microsoft.com/office/drawing/2014/main" id="{9E10408E-1D65-5D42-A5C5-ED54F71653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7907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0" name="Line 875">
            <a:extLst>
              <a:ext uri="{FF2B5EF4-FFF2-40B4-BE49-F238E27FC236}">
                <a16:creationId xmlns:a16="http://schemas.microsoft.com/office/drawing/2014/main" id="{B2F31A90-5479-2145-B8BE-D6FC6447F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7813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1" name="Line 876">
            <a:extLst>
              <a:ext uri="{FF2B5EF4-FFF2-40B4-BE49-F238E27FC236}">
                <a16:creationId xmlns:a16="http://schemas.microsoft.com/office/drawing/2014/main" id="{A5C9D056-AACA-1342-A0D1-C6E1983E5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719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2" name="Line 877">
            <a:extLst>
              <a:ext uri="{FF2B5EF4-FFF2-40B4-BE49-F238E27FC236}">
                <a16:creationId xmlns:a16="http://schemas.microsoft.com/office/drawing/2014/main" id="{E0892B53-40B2-1048-907F-DFEA4F8F0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7625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3" name="Line 878">
            <a:extLst>
              <a:ext uri="{FF2B5EF4-FFF2-40B4-BE49-F238E27FC236}">
                <a16:creationId xmlns:a16="http://schemas.microsoft.com/office/drawing/2014/main" id="{A2451195-D966-814F-92AE-007AC5ABE1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9055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64767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A45A8D-37A8-6640-B48A-28EAFADDD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Bagging 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FA44AB-4FCF-2746-B100-E09AC598F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Summary of Training sets:</a:t>
            </a:r>
          </a:p>
          <a:p>
            <a:pPr marL="0" indent="0">
              <a:buNone/>
            </a:pPr>
            <a:endParaRPr lang="en-US" noProof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1311833-CFAC-4745-913E-A2282952B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8100" y="2477294"/>
            <a:ext cx="4495800" cy="304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41859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323E09-483F-404F-8ECF-0FA163C1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Bagging 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28A3FF-6F6A-7547-8522-AF32C8E58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0171"/>
          </a:xfrm>
        </p:spPr>
        <p:txBody>
          <a:bodyPr/>
          <a:lstStyle/>
          <a:p>
            <a:r>
              <a:rPr lang="en-US" noProof="0" dirty="0"/>
              <a:t>Assume test set is the same as the original data</a:t>
            </a:r>
          </a:p>
          <a:p>
            <a:r>
              <a:rPr lang="en-US" noProof="0" dirty="0"/>
              <a:t>Use majority vote to determine class of ensemble classifier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4" name="Picture 1254">
            <a:extLst>
              <a:ext uri="{FF2B5EF4-FFF2-40B4-BE49-F238E27FC236}">
                <a16:creationId xmlns:a16="http://schemas.microsoft.com/office/drawing/2014/main" id="{63B50CFA-1BAF-F546-8475-DF2E40424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28900" y="2967136"/>
            <a:ext cx="6934200" cy="3346450"/>
          </a:xfrm>
          <a:prstGeom prst="rect">
            <a:avLst/>
          </a:prstGeom>
          <a:noFill/>
        </p:spPr>
      </p:pic>
      <p:sp>
        <p:nvSpPr>
          <p:cNvPr id="5" name="Rectangle 1258">
            <a:extLst>
              <a:ext uri="{FF2B5EF4-FFF2-40B4-BE49-F238E27FC236}">
                <a16:creationId xmlns:a16="http://schemas.microsoft.com/office/drawing/2014/main" id="{A50BEC08-FF17-5E44-84A7-01C8C4A9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6008786"/>
            <a:ext cx="6934200" cy="30480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6" name="Text Box 1259">
            <a:extLst>
              <a:ext uri="{FF2B5EF4-FFF2-40B4-BE49-F238E27FC236}">
                <a16:creationId xmlns:a16="http://schemas.microsoft.com/office/drawing/2014/main" id="{FADE708C-E632-AD43-8C82-BC5A5591F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5932586"/>
            <a:ext cx="1143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Predicted Class</a:t>
            </a:r>
          </a:p>
        </p:txBody>
      </p:sp>
    </p:spTree>
    <p:extLst>
      <p:ext uri="{BB962C8B-B14F-4D97-AF65-F5344CB8AC3E}">
        <p14:creationId xmlns:p14="http://schemas.microsoft.com/office/powerpoint/2010/main" val="18263064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F3CAD3-F4FF-1745-89AE-4359C99F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</a:t>
            </a:r>
            <a:r>
              <a:rPr lang="en-US" altLang="en-US" noProof="0" dirty="0"/>
              <a:t> Visual Example</a:t>
            </a:r>
            <a:endParaRPr lang="en-US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92753C4-AB80-2448-A048-39403304A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560945"/>
            <a:ext cx="97155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190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31EF2C-D668-2A41-A7F5-4214DA02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Bagging Visual Example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E249C7B-3F0C-BD44-AC64-6EB6E4760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27" y="1610719"/>
            <a:ext cx="9663545" cy="524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098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F8BE39-AE4E-C944-BF2B-AA5CFC0B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Boosting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F91A3F-E34F-B749-9B36-754D4888A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An iterative procedure to adaptively change distribution of training data by focusing more on previously misclassified records.</a:t>
            </a:r>
          </a:p>
          <a:p>
            <a:endParaRPr lang="en-US" noProof="0" dirty="0"/>
          </a:p>
          <a:p>
            <a:r>
              <a:rPr lang="en-US" noProof="0" dirty="0"/>
              <a:t>Initially, all the records are assigned equal weights.</a:t>
            </a:r>
          </a:p>
          <a:p>
            <a:r>
              <a:rPr lang="en-US" noProof="0" dirty="0"/>
              <a:t>Unlike bagging, weights may change at the end of each boosting round.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919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1A0252-A50E-2B46-87DF-CDA1097BB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Boosting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54424C-CB2D-8644-862A-17732F237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Records that are wrongly classified will have their weights increased.</a:t>
            </a:r>
          </a:p>
          <a:p>
            <a:r>
              <a:rPr lang="en-US" noProof="0" dirty="0"/>
              <a:t>Records that are classified correctly will have their weights decreased.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1BE6C2F-37B0-2143-B48A-F154C4FF4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3718791"/>
            <a:ext cx="8077200" cy="952500"/>
          </a:xfrm>
          <a:prstGeom prst="rect">
            <a:avLst/>
          </a:prstGeom>
          <a:noFill/>
        </p:spPr>
      </p:pic>
      <p:sp>
        <p:nvSpPr>
          <p:cNvPr id="5" name="Oval 7">
            <a:extLst>
              <a:ext uri="{FF2B5EF4-FFF2-40B4-BE49-F238E27FC236}">
                <a16:creationId xmlns:a16="http://schemas.microsoft.com/office/drawing/2014/main" id="{37517FE1-6BF5-A140-BB68-3DE706653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04591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A294263E-0E50-B041-9DD5-9E7E0B07A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404591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03A931AD-2CCE-CA42-8D8C-5AF68F712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404591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262546AD-57D3-BB41-8DC7-1068B7CA7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404591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9" name="Oval 11">
            <a:extLst>
              <a:ext uri="{FF2B5EF4-FFF2-40B4-BE49-F238E27FC236}">
                <a16:creationId xmlns:a16="http://schemas.microsoft.com/office/drawing/2014/main" id="{EACABB41-249C-4545-B84B-3975EB82C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7400" y="4404591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31A5CBE2-55D3-4E4D-BC94-FFE47D4AE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937991"/>
            <a:ext cx="50292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0"/>
              <a:t> Example 4 is hard to classify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0"/>
              <a:t> Its weight is increased, therefore it is more likely to be chosen again in subsequent rounds</a:t>
            </a:r>
          </a:p>
        </p:txBody>
      </p:sp>
    </p:spTree>
    <p:extLst>
      <p:ext uri="{BB962C8B-B14F-4D97-AF65-F5344CB8AC3E}">
        <p14:creationId xmlns:p14="http://schemas.microsoft.com/office/powerpoint/2010/main" val="354303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52B3BC-E5E2-5849-9D26-CD5D068E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AdaBoost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3A4FD9-FB05-C44A-888D-6D9F3116C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1582" cy="4351338"/>
          </a:xfrm>
        </p:spPr>
        <p:txBody>
          <a:bodyPr>
            <a:normAutofit/>
          </a:bodyPr>
          <a:lstStyle/>
          <a:p>
            <a:r>
              <a:rPr lang="en-US" noProof="0" dirty="0"/>
              <a:t>Base classifiers: C</a:t>
            </a:r>
            <a:r>
              <a:rPr lang="en-US" baseline="-25000" noProof="0" dirty="0"/>
              <a:t>1</a:t>
            </a:r>
            <a:r>
              <a:rPr lang="en-US" noProof="0" dirty="0"/>
              <a:t>, C</a:t>
            </a:r>
            <a:r>
              <a:rPr lang="en-US" baseline="-25000" noProof="0" dirty="0"/>
              <a:t>2</a:t>
            </a:r>
            <a:r>
              <a:rPr lang="en-US" noProof="0" dirty="0"/>
              <a:t>, …, C</a:t>
            </a:r>
            <a:r>
              <a:rPr lang="en-US" baseline="-25000" noProof="0" dirty="0"/>
              <a:t>T</a:t>
            </a:r>
          </a:p>
          <a:p>
            <a:r>
              <a:rPr lang="en-US" noProof="0" dirty="0"/>
              <a:t>Error rate:</a:t>
            </a:r>
          </a:p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Importance of a classifier: 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84810C7D-5DDE-644D-9E03-E7A257B2C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88"/>
          <a:stretch>
            <a:fillRect/>
          </a:stretch>
        </p:blipFill>
        <p:spPr>
          <a:xfrm>
            <a:off x="7162800" y="2535238"/>
            <a:ext cx="4191000" cy="3641725"/>
          </a:xfrm>
          <a:prstGeom prst="rect">
            <a:avLst/>
          </a:prstGeom>
          <a:noFill/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30B2B81B-259D-7545-B151-1030487F0E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5387" y="2749550"/>
          <a:ext cx="39624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620700" imgH="10236200" progId="Equation.3">
                  <p:embed/>
                </p:oleObj>
              </mc:Choice>
              <mc:Fallback>
                <p:oleObj name="Equation" r:id="rId3" imgW="38620700" imgH="1023620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30B2B81B-259D-7545-B151-1030487F0E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7" y="2749550"/>
                        <a:ext cx="39624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5CA8D631-5074-A240-816F-57D39E86C0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5387" y="4622677"/>
          <a:ext cx="249237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282400" imgH="11112500" progId="Equation.3">
                  <p:embed/>
                </p:oleObj>
              </mc:Choice>
              <mc:Fallback>
                <p:oleObj name="Equation" r:id="rId5" imgW="24282400" imgH="11112500" progId="Equation.3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5CA8D631-5074-A240-816F-57D39E86C0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7" y="4622677"/>
                        <a:ext cx="249237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BDB10234-120A-284A-8908-89756A183D15}"/>
              </a:ext>
            </a:extLst>
          </p:cNvPr>
          <p:cNvSpPr txBox="1"/>
          <p:nvPr/>
        </p:nvSpPr>
        <p:spPr>
          <a:xfrm>
            <a:off x="838200" y="5905029"/>
            <a:ext cx="4839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High positive </a:t>
            </a:r>
            <a:r>
              <a:rPr lang="it-IT" dirty="0" err="1"/>
              <a:t>importance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close</a:t>
            </a:r>
            <a:r>
              <a:rPr lang="it-IT" dirty="0"/>
              <a:t> to 0,</a:t>
            </a:r>
          </a:p>
          <a:p>
            <a:r>
              <a:rPr lang="it-IT" dirty="0"/>
              <a:t>High negative </a:t>
            </a:r>
            <a:r>
              <a:rPr lang="it-IT" dirty="0" err="1"/>
              <a:t>importance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close</a:t>
            </a:r>
            <a:r>
              <a:rPr lang="it-IT" dirty="0"/>
              <a:t> to 1</a:t>
            </a:r>
          </a:p>
        </p:txBody>
      </p:sp>
    </p:spTree>
    <p:extLst>
      <p:ext uri="{BB962C8B-B14F-4D97-AF65-F5344CB8AC3E}">
        <p14:creationId xmlns:p14="http://schemas.microsoft.com/office/powerpoint/2010/main" val="399931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DA130107-B3BB-C447-9735-AF34BAC2A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Algorithm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8E7A18D8-DA88-0E4D-8896-A8A9005A0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825625"/>
            <a:ext cx="1126766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noProof="0" dirty="0"/>
              <a:t>Weight update:</a:t>
            </a:r>
          </a:p>
          <a:p>
            <a:endParaRPr lang="en-US" altLang="en-US" noProof="0" dirty="0"/>
          </a:p>
          <a:p>
            <a:endParaRPr lang="en-US" altLang="en-US" noProof="0" dirty="0"/>
          </a:p>
          <a:p>
            <a:endParaRPr lang="en-US" altLang="en-US" noProof="0" dirty="0"/>
          </a:p>
          <a:p>
            <a:pPr lvl="4"/>
            <a:endParaRPr lang="en-US" altLang="en-US" noProof="0" dirty="0"/>
          </a:p>
          <a:p>
            <a:pPr lvl="4"/>
            <a:r>
              <a:rPr lang="en-US" altLang="en-US" noProof="0" dirty="0"/>
              <a:t>Increases weights of incorrected classified examples &amp; </a:t>
            </a:r>
            <a:r>
              <a:rPr lang="en-US" altLang="en-US" dirty="0"/>
              <a:t>decreases weights of corrected classified examples </a:t>
            </a:r>
            <a:endParaRPr lang="en-US" altLang="en-US" noProof="0" dirty="0"/>
          </a:p>
          <a:p>
            <a:r>
              <a:rPr lang="en-US" altLang="en-US" noProof="0" dirty="0"/>
              <a:t>If any intermediate rounds produce error rate higher than 50%, the weights are reverted back to 1/n and the resampling procedure is repeated</a:t>
            </a:r>
          </a:p>
          <a:p>
            <a:endParaRPr lang="en-US" altLang="en-US" noProof="0" dirty="0"/>
          </a:p>
          <a:p>
            <a:r>
              <a:rPr lang="en-US" altLang="en-US" noProof="0" dirty="0"/>
              <a:t>Classification:</a:t>
            </a:r>
          </a:p>
        </p:txBody>
      </p:sp>
      <p:graphicFrame>
        <p:nvGraphicFramePr>
          <p:cNvPr id="35843" name="Object 2">
            <a:extLst>
              <a:ext uri="{FF2B5EF4-FFF2-40B4-BE49-F238E27FC236}">
                <a16:creationId xmlns:a16="http://schemas.microsoft.com/office/drawing/2014/main" id="{F2711715-E4D2-2C4B-A297-2C3A56B290B9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581400" y="2198832"/>
          <a:ext cx="5257800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959000" imgH="18135600" progId="Equation.3">
                  <p:embed/>
                </p:oleObj>
              </mc:Choice>
              <mc:Fallback>
                <p:oleObj name="Equation" r:id="rId2" imgW="52959000" imgH="18135600" progId="Equation.3">
                  <p:embed/>
                  <p:pic>
                    <p:nvPicPr>
                      <p:cNvPr id="35843" name="Object 2">
                        <a:extLst>
                          <a:ext uri="{FF2B5EF4-FFF2-40B4-BE49-F238E27FC236}">
                            <a16:creationId xmlns:a16="http://schemas.microsoft.com/office/drawing/2014/main" id="{F2711715-E4D2-2C4B-A297-2C3A56B290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198832"/>
                        <a:ext cx="525780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3">
            <a:extLst>
              <a:ext uri="{FF2B5EF4-FFF2-40B4-BE49-F238E27FC236}">
                <a16:creationId xmlns:a16="http://schemas.microsoft.com/office/drawing/2014/main" id="{15B50B5C-8243-004A-A46F-E13734BDD67E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114800" y="5257801"/>
          <a:ext cx="57912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901600" imgH="10236200" progId="Equation.3">
                  <p:embed/>
                </p:oleObj>
              </mc:Choice>
              <mc:Fallback>
                <p:oleObj name="Equation" r:id="rId4" imgW="50901600" imgH="10236200" progId="Equation.3">
                  <p:embed/>
                  <p:pic>
                    <p:nvPicPr>
                      <p:cNvPr id="35844" name="Object 3">
                        <a:extLst>
                          <a:ext uri="{FF2B5EF4-FFF2-40B4-BE49-F238E27FC236}">
                            <a16:creationId xmlns:a16="http://schemas.microsoft.com/office/drawing/2014/main" id="{15B50B5C-8243-004A-A46F-E13734BDD6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257801"/>
                        <a:ext cx="579120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A2CF7D87-0F23-1E4F-8199-1CB4D704CBB0}"/>
              </a:ext>
            </a:extLst>
          </p:cNvPr>
          <p:cNvSpPr txBox="1"/>
          <p:nvPr/>
        </p:nvSpPr>
        <p:spPr>
          <a:xfrm>
            <a:off x="1233054" y="2637279"/>
            <a:ext cx="1953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Weight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to </a:t>
            </a:r>
            <a:r>
              <a:rPr lang="it-IT" i="1" dirty="0"/>
              <a:t>x</a:t>
            </a:r>
            <a:r>
              <a:rPr lang="it-IT" i="1" baseline="-25000" dirty="0"/>
              <a:t>i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the </a:t>
            </a:r>
            <a:r>
              <a:rPr lang="it-IT" i="1" dirty="0" err="1"/>
              <a:t>j</a:t>
            </a:r>
            <a:r>
              <a:rPr lang="it-IT" dirty="0"/>
              <a:t> </a:t>
            </a:r>
            <a:r>
              <a:rPr lang="it-IT" dirty="0" err="1"/>
              <a:t>boosting</a:t>
            </a:r>
            <a:r>
              <a:rPr lang="it-IT" dirty="0"/>
              <a:t> round</a:t>
            </a:r>
          </a:p>
        </p:txBody>
      </p:sp>
    </p:spTree>
    <p:extLst>
      <p:ext uri="{BB962C8B-B14F-4D97-AF65-F5344CB8AC3E}">
        <p14:creationId xmlns:p14="http://schemas.microsoft.com/office/powerpoint/2010/main" val="403801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uiExpand="1" build="p"/>
      <p:bldP spid="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27C936EE-595C-D944-ADC0-1A67144A6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Algorithm</a:t>
            </a:r>
          </a:p>
        </p:txBody>
      </p:sp>
      <p:pic>
        <p:nvPicPr>
          <p:cNvPr id="36866" name="Picture 4">
            <a:extLst>
              <a:ext uri="{FF2B5EF4-FFF2-40B4-BE49-F238E27FC236}">
                <a16:creationId xmlns:a16="http://schemas.microsoft.com/office/drawing/2014/main" id="{A2E82FBB-D32F-614A-998D-5FAEA6F14E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2156" y="1461656"/>
            <a:ext cx="9747687" cy="5396344"/>
          </a:xfrm>
          <a:noFill/>
        </p:spPr>
      </p:pic>
    </p:spTree>
    <p:extLst>
      <p:ext uri="{BB962C8B-B14F-4D97-AF65-F5344CB8AC3E}">
        <p14:creationId xmlns:p14="http://schemas.microsoft.com/office/powerpoint/2010/main" val="23988688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3F482DE3-100F-2743-A6D3-79A679501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Example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349D9A03-41FD-E142-9F60-C3F653F23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noProof="0" dirty="0"/>
              <a:t>Consider 1-dimensional data set:</a:t>
            </a:r>
          </a:p>
          <a:p>
            <a:endParaRPr lang="en-US" altLang="en-US" noProof="0" dirty="0"/>
          </a:p>
          <a:p>
            <a:endParaRPr lang="en-US" altLang="en-US" noProof="0" dirty="0"/>
          </a:p>
          <a:p>
            <a:endParaRPr lang="en-US" altLang="en-US" noProof="0" dirty="0"/>
          </a:p>
          <a:p>
            <a:r>
              <a:rPr lang="en-US" altLang="en-US" noProof="0" dirty="0"/>
              <a:t>Classifier is a decision stump</a:t>
            </a:r>
          </a:p>
          <a:p>
            <a:pPr lvl="1"/>
            <a:r>
              <a:rPr lang="en-US" altLang="en-US" noProof="0" dirty="0"/>
              <a:t>Decision rule:  	x </a:t>
            </a:r>
            <a:r>
              <a:rPr lang="en-US" altLang="en-US" noProof="0" dirty="0">
                <a:sym typeface="Symbol" pitchFamily="2" charset="2"/>
              </a:rPr>
              <a:t> k</a:t>
            </a:r>
            <a:r>
              <a:rPr lang="en-US" altLang="en-US" noProof="0" dirty="0"/>
              <a:t> </a:t>
            </a:r>
            <a:r>
              <a:rPr lang="en-US" altLang="en-US" noProof="0" dirty="0">
                <a:sym typeface="Symbol" pitchFamily="2" charset="2"/>
              </a:rPr>
              <a:t>versus </a:t>
            </a:r>
            <a:r>
              <a:rPr lang="en-US" altLang="en-US" noProof="0" dirty="0"/>
              <a:t>x &gt; k</a:t>
            </a:r>
          </a:p>
          <a:p>
            <a:pPr lvl="1"/>
            <a:r>
              <a:rPr lang="en-US" altLang="en-US" noProof="0" dirty="0"/>
              <a:t>Split point k is chosen based on entropy</a:t>
            </a:r>
          </a:p>
        </p:txBody>
      </p:sp>
      <p:graphicFrame>
        <p:nvGraphicFramePr>
          <p:cNvPr id="37891" name="Object 2">
            <a:extLst>
              <a:ext uri="{FF2B5EF4-FFF2-40B4-BE49-F238E27FC236}">
                <a16:creationId xmlns:a16="http://schemas.microsoft.com/office/drawing/2014/main" id="{3EF1FB36-932E-674A-9A0D-A3F779737655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2092037" y="2286000"/>
          <a:ext cx="7491413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273800" imgH="1016000" progId="Visio.Drawing.6">
                  <p:embed/>
                </p:oleObj>
              </mc:Choice>
              <mc:Fallback>
                <p:oleObj name="Visio" r:id="rId2" imgW="6273800" imgH="1016000" progId="Visio.Drawing.6">
                  <p:embed/>
                  <p:pic>
                    <p:nvPicPr>
                      <p:cNvPr id="37891" name="Object 2">
                        <a:extLst>
                          <a:ext uri="{FF2B5EF4-FFF2-40B4-BE49-F238E27FC236}">
                            <a16:creationId xmlns:a16="http://schemas.microsoft.com/office/drawing/2014/main" id="{3EF1FB36-932E-674A-9A0D-A3F7797376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037" y="2286000"/>
                        <a:ext cx="7491413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po 4">
            <a:extLst>
              <a:ext uri="{FF2B5EF4-FFF2-40B4-BE49-F238E27FC236}">
                <a16:creationId xmlns:a16="http://schemas.microsoft.com/office/drawing/2014/main" id="{66EC02F1-F2CD-964E-A1DB-5852981CFC45}"/>
              </a:ext>
            </a:extLst>
          </p:cNvPr>
          <p:cNvGrpSpPr/>
          <p:nvPr/>
        </p:nvGrpSpPr>
        <p:grpSpPr>
          <a:xfrm>
            <a:off x="7377546" y="3946525"/>
            <a:ext cx="2514600" cy="1433512"/>
            <a:chOff x="4495800" y="4891088"/>
            <a:chExt cx="2514600" cy="1433512"/>
          </a:xfrm>
        </p:grpSpPr>
        <p:sp>
          <p:nvSpPr>
            <p:cNvPr id="37892" name="Oval 5">
              <a:extLst>
                <a:ext uri="{FF2B5EF4-FFF2-40B4-BE49-F238E27FC236}">
                  <a16:creationId xmlns:a16="http://schemas.microsoft.com/office/drawing/2014/main" id="{BB37E1C2-1972-6F49-9C51-7B94AA399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4891088"/>
              <a:ext cx="1295400" cy="6858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/>
                <a:t>x </a:t>
              </a:r>
              <a:r>
                <a:rPr lang="en-US" altLang="en-US" sz="1400">
                  <a:sym typeface="Symbol" pitchFamily="2" charset="2"/>
                </a:rPr>
                <a:t> k</a:t>
              </a:r>
            </a:p>
          </p:txBody>
        </p:sp>
        <p:sp>
          <p:nvSpPr>
            <p:cNvPr id="37893" name="Line 6">
              <a:extLst>
                <a:ext uri="{FF2B5EF4-FFF2-40B4-BE49-F238E27FC236}">
                  <a16:creationId xmlns:a16="http://schemas.microsoft.com/office/drawing/2014/main" id="{16D04865-04F0-8C44-B636-A9C58CD31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600" y="5576888"/>
              <a:ext cx="76200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7894" name="Line 7">
              <a:extLst>
                <a:ext uri="{FF2B5EF4-FFF2-40B4-BE49-F238E27FC236}">
                  <a16:creationId xmlns:a16="http://schemas.microsoft.com/office/drawing/2014/main" id="{4C276D53-0617-444F-9DE1-6C141B7A5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5576888"/>
              <a:ext cx="83820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7895" name="Text Box 8">
              <a:extLst>
                <a:ext uri="{FF2B5EF4-FFF2-40B4-BE49-F238E27FC236}">
                  <a16:creationId xmlns:a16="http://schemas.microsoft.com/office/drawing/2014/main" id="{E654BA69-0A19-6247-AFF5-5F0B4DC7C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5957888"/>
              <a:ext cx="6858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800"/>
                <a:t>y</a:t>
              </a:r>
              <a:r>
                <a:rPr lang="en-US" altLang="en-US" sz="1800" baseline="-25000"/>
                <a:t>left</a:t>
              </a:r>
              <a:endParaRPr lang="en-US" altLang="en-US" sz="1800"/>
            </a:p>
          </p:txBody>
        </p:sp>
        <p:sp>
          <p:nvSpPr>
            <p:cNvPr id="37896" name="Text Box 9">
              <a:extLst>
                <a:ext uri="{FF2B5EF4-FFF2-40B4-BE49-F238E27FC236}">
                  <a16:creationId xmlns:a16="http://schemas.microsoft.com/office/drawing/2014/main" id="{B7DDF22D-1EFA-5B4C-99DF-397D9527C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5957888"/>
              <a:ext cx="6858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800"/>
                <a:t>y</a:t>
              </a:r>
              <a:r>
                <a:rPr lang="en-US" altLang="en-US" sz="1800" baseline="-25000"/>
                <a:t>right</a:t>
              </a:r>
              <a:endParaRPr lang="en-US" altLang="en-US" sz="1800"/>
            </a:p>
          </p:txBody>
        </p:sp>
        <p:sp>
          <p:nvSpPr>
            <p:cNvPr id="37897" name="Text Box 10">
              <a:extLst>
                <a:ext uri="{FF2B5EF4-FFF2-40B4-BE49-F238E27FC236}">
                  <a16:creationId xmlns:a16="http://schemas.microsoft.com/office/drawing/2014/main" id="{AD1AF885-9010-A541-8700-073EDE8A20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5486400"/>
              <a:ext cx="6858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600"/>
                <a:t>True</a:t>
              </a:r>
            </a:p>
          </p:txBody>
        </p:sp>
        <p:sp>
          <p:nvSpPr>
            <p:cNvPr id="37898" name="Text Box 11">
              <a:extLst>
                <a:ext uri="{FF2B5EF4-FFF2-40B4-BE49-F238E27FC236}">
                  <a16:creationId xmlns:a16="http://schemas.microsoft.com/office/drawing/2014/main" id="{E7B01277-4E42-C942-AC92-7D46D10BB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5486400"/>
              <a:ext cx="990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600"/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232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7ED1A7C8-611E-C746-9B55-538467C489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Example</a:t>
            </a:r>
          </a:p>
        </p:txBody>
      </p:sp>
      <p:sp>
        <p:nvSpPr>
          <p:cNvPr id="38914" name="Rectangle 6">
            <a:extLst>
              <a:ext uri="{FF2B5EF4-FFF2-40B4-BE49-F238E27FC236}">
                <a16:creationId xmlns:a16="http://schemas.microsoft.com/office/drawing/2014/main" id="{D87E04C6-ACAE-1D47-99AF-8FF81F2F7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noProof="0" dirty="0"/>
              <a:t>Training sets for the first 3 boosting rounds:</a:t>
            </a:r>
          </a:p>
          <a:p>
            <a:endParaRPr lang="en-US" altLang="en-US" noProof="0" dirty="0"/>
          </a:p>
          <a:p>
            <a:endParaRPr lang="en-US" altLang="en-US" noProof="0" dirty="0"/>
          </a:p>
          <a:p>
            <a:endParaRPr lang="en-US" altLang="en-US" noProof="0" dirty="0"/>
          </a:p>
          <a:p>
            <a:endParaRPr lang="en-US" altLang="en-US" noProof="0" dirty="0"/>
          </a:p>
          <a:p>
            <a:endParaRPr lang="en-US" altLang="en-US" noProof="0" dirty="0"/>
          </a:p>
          <a:p>
            <a:endParaRPr lang="en-US" altLang="en-US" noProof="0" dirty="0"/>
          </a:p>
          <a:p>
            <a:r>
              <a:rPr lang="en-US" altLang="en-US" noProof="0" dirty="0"/>
              <a:t>Weights:</a:t>
            </a:r>
          </a:p>
        </p:txBody>
      </p:sp>
      <p:pic>
        <p:nvPicPr>
          <p:cNvPr id="38915" name="Picture 4">
            <a:extLst>
              <a:ext uri="{FF2B5EF4-FFF2-40B4-BE49-F238E27FC236}">
                <a16:creationId xmlns:a16="http://schemas.microsoft.com/office/drawing/2014/main" id="{DF3F14EE-D3C7-3F4A-B595-D7199375238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2266278"/>
            <a:ext cx="6553200" cy="2714625"/>
          </a:xfrm>
          <a:noFill/>
        </p:spPr>
      </p:pic>
      <p:sp>
        <p:nvSpPr>
          <p:cNvPr id="38916" name="Line 7">
            <a:extLst>
              <a:ext uri="{FF2B5EF4-FFF2-40B4-BE49-F238E27FC236}">
                <a16:creationId xmlns:a16="http://schemas.microsoft.com/office/drawing/2014/main" id="{CE887E8F-EB78-6F48-9366-E4D34AFA2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266277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8917" name="Line 8">
            <a:extLst>
              <a:ext uri="{FF2B5EF4-FFF2-40B4-BE49-F238E27FC236}">
                <a16:creationId xmlns:a16="http://schemas.microsoft.com/office/drawing/2014/main" id="{689059BC-5BFF-4C40-A053-5826D1BC6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485477"/>
            <a:ext cx="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8918" name="Line 9">
            <a:extLst>
              <a:ext uri="{FF2B5EF4-FFF2-40B4-BE49-F238E27FC236}">
                <a16:creationId xmlns:a16="http://schemas.microsoft.com/office/drawing/2014/main" id="{E1E95AC2-9EE1-574D-A79C-EBA22D793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247477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A967027A-59D7-1F4E-AF49-6E24E899A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5100" y="5421556"/>
            <a:ext cx="6781800" cy="10207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57984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AC8A0DBD-D785-7547-86B0-66AA8A0FF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Example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42582FB2-F0EB-4C47-A93F-693C200693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noProof="0" dirty="0"/>
              <a:t>Summary:</a:t>
            </a:r>
          </a:p>
          <a:p>
            <a:endParaRPr lang="en-US" altLang="en-US" noProof="0" dirty="0"/>
          </a:p>
          <a:p>
            <a:endParaRPr lang="en-US" altLang="en-US" noProof="0" dirty="0"/>
          </a:p>
          <a:p>
            <a:endParaRPr lang="en-US" altLang="en-US" noProof="0" dirty="0"/>
          </a:p>
          <a:p>
            <a:r>
              <a:rPr lang="en-US" altLang="en-US" noProof="0" dirty="0"/>
              <a:t>Classification</a:t>
            </a:r>
          </a:p>
        </p:txBody>
      </p:sp>
      <p:pic>
        <p:nvPicPr>
          <p:cNvPr id="39940" name="Picture 443">
            <a:extLst>
              <a:ext uri="{FF2B5EF4-FFF2-40B4-BE49-F238E27FC236}">
                <a16:creationId xmlns:a16="http://schemas.microsoft.com/office/drawing/2014/main" id="{A6164AAD-CD9A-FA44-BF4C-0D6C018E17BB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4584994"/>
            <a:ext cx="6934200" cy="1552575"/>
          </a:xfrm>
          <a:noFill/>
        </p:spPr>
      </p:pic>
      <p:sp>
        <p:nvSpPr>
          <p:cNvPr id="39941" name="Rectangle 445">
            <a:extLst>
              <a:ext uri="{FF2B5EF4-FFF2-40B4-BE49-F238E27FC236}">
                <a16:creationId xmlns:a16="http://schemas.microsoft.com/office/drawing/2014/main" id="{417276F7-E103-F34B-A12E-4C1B7927B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832768"/>
            <a:ext cx="6934200" cy="30480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9942" name="Text Box 446">
            <a:extLst>
              <a:ext uri="{FF2B5EF4-FFF2-40B4-BE49-F238E27FC236}">
                <a16:creationId xmlns:a16="http://schemas.microsoft.com/office/drawing/2014/main" id="{B9EBF65F-B0FA-4144-9E40-ECA712A18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756568"/>
            <a:ext cx="114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Predicted Class</a:t>
            </a: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818E95C2-3A9E-F342-B681-C3F65239C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3284832"/>
          <a:ext cx="57912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901600" imgH="10236200" progId="Equation.3">
                  <p:embed/>
                </p:oleObj>
              </mc:Choice>
              <mc:Fallback>
                <p:oleObj name="Equation" r:id="rId3" imgW="50901600" imgH="10236200" progId="Equation.3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818E95C2-3A9E-F342-B681-C3F65239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284832"/>
                        <a:ext cx="579120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40">
            <a:extLst>
              <a:ext uri="{FF2B5EF4-FFF2-40B4-BE49-F238E27FC236}">
                <a16:creationId xmlns:a16="http://schemas.microsoft.com/office/drawing/2014/main" id="{86107D46-7395-4B45-A223-D83CC8106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95700" y="1863724"/>
            <a:ext cx="5486400" cy="10747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54796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F3CAD3-F4FF-1745-89AE-4359C99F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92753C4-AB80-2448-A048-39403304A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560945"/>
            <a:ext cx="97155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1457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D20D1F-CB16-7743-B5F5-DD1E94A62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E39CBD0-9D93-F941-A6A3-994BB0CF2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717675"/>
            <a:ext cx="110109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782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4AE2B-A70F-B040-BA7E-4A93369E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5367A6A-B54A-5546-8CFC-2394AE4DC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690688"/>
            <a:ext cx="110236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5219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A32F2C-AA0B-6445-BC0C-9FD80757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FE93BDC-4F76-7E43-A757-454BED201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1690688"/>
            <a:ext cx="110363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1405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60648DB9-4C24-984A-BFE0-A41BED4D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D261609-179E-774D-858E-E75D528EB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" y="1690688"/>
            <a:ext cx="110617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5467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20DC39-B050-4148-94F0-4394C1A1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F3A9001-BDEB-2344-B16F-1A085026D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814369"/>
            <a:ext cx="109220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1482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372F3A-C709-7F49-9ABD-7F90E1C35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ACD4EA0-86AC-C04D-B5E8-86644B5A4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1690688"/>
            <a:ext cx="109474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14881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07EB8F-FA1F-0C45-8161-26E4560C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4098583-1F1C-8B48-8967-94868649A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45444"/>
            <a:ext cx="109728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8209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B21B60-FD44-9A45-BF32-2B21AA5B9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FFD7D0F-7622-8C41-99BA-FC7584FF7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1879600"/>
            <a:ext cx="1098550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630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4BDD18-84B1-3747-A345-61150A8B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78C8C5A-05F0-7B46-9448-24F8B523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" y="1690688"/>
            <a:ext cx="110617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679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B9F1CA-4550-8F41-A508-2AE3AAC4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AdaBoost Visual Example</a:t>
            </a:r>
            <a:endParaRPr lang="en-US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C229220-ADC1-F54B-8A3C-78E556410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574800"/>
            <a:ext cx="109982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02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3A3AC-3479-954B-8863-B2FCBFD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6C7E5-9491-8A4A-86AB-1AA2743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en-US" noProof="0" dirty="0"/>
              <a:t>Ensemble Methods. Chapter 5.6. Introduction to Data Mining.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071210-6483-7E4C-BDE3-DBB7686D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341563"/>
            <a:ext cx="30480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245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3A3AC-3479-954B-8863-B2FCBFD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6C7E5-9491-8A4A-86AB-1AA2743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en-US" dirty="0"/>
              <a:t>Chapter 3. Classification: Basic Concepts and Techniques.</a:t>
            </a:r>
            <a:endParaRPr lang="en-US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071210-6483-7E4C-BDE3-DBB7686D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341563"/>
            <a:ext cx="30480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787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torial_template" id="{EADC5050-CE47-8043-A115-557F9EDEC139}" vid="{327DA43B-6BAE-AF4B-A031-340A272D65B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2F56ABDEDC3044B30E8C8676A91964" ma:contentTypeVersion="3" ma:contentTypeDescription="Creare un nuovo documento." ma:contentTypeScope="" ma:versionID="b2f94b8e34c7ac8eea718ce208f72eaa">
  <xsd:schema xmlns:xsd="http://www.w3.org/2001/XMLSchema" xmlns:xs="http://www.w3.org/2001/XMLSchema" xmlns:p="http://schemas.microsoft.com/office/2006/metadata/properties" xmlns:ns2="e17268a9-c167-4582-b3fd-10fdf2b0972b" targetNamespace="http://schemas.microsoft.com/office/2006/metadata/properties" ma:root="true" ma:fieldsID="2766200863a59431bcf671668b910c15" ns2:_="">
    <xsd:import namespace="e17268a9-c167-4582-b3fd-10fdf2b09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268a9-c167-4582-b3fd-10fdf2b09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1C46CB-6BEF-4642-86C6-E5FF54E44C1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2DA2F6F-ED05-409A-80A1-FDCF76ED1945}"/>
</file>

<file path=customXml/itemProps3.xml><?xml version="1.0" encoding="utf-8"?>
<ds:datastoreItem xmlns:ds="http://schemas.openxmlformats.org/officeDocument/2006/customXml" ds:itemID="{9968321B-FE0D-4628-B46E-F37A3C00AB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di Office</Template>
  <TotalTime>41278</TotalTime>
  <Words>4455</Words>
  <Application>Microsoft Macintosh PowerPoint</Application>
  <PresentationFormat>Widescreen</PresentationFormat>
  <Paragraphs>815</Paragraphs>
  <Slides>97</Slides>
  <Notes>15</Notes>
  <HiddenSlides>9</HiddenSlides>
  <MMClips>0</MMClips>
  <ScaleCrop>false</ScaleCrop>
  <HeadingPairs>
    <vt:vector size="8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5</vt:i4>
      </vt:variant>
      <vt:variant>
        <vt:lpstr>Titoli diapositive</vt:lpstr>
      </vt:variant>
      <vt:variant>
        <vt:i4>97</vt:i4>
      </vt:variant>
    </vt:vector>
  </HeadingPairs>
  <TitlesOfParts>
    <vt:vector size="113" baseType="lpstr">
      <vt:lpstr>ＭＳ Ｐゴシック</vt:lpstr>
      <vt:lpstr>Arial</vt:lpstr>
      <vt:lpstr>Calibri</vt:lpstr>
      <vt:lpstr>Calibri Light</vt:lpstr>
      <vt:lpstr>Cambria Math</vt:lpstr>
      <vt:lpstr>Comic Sans MS</vt:lpstr>
      <vt:lpstr>Monotype Sorts</vt:lpstr>
      <vt:lpstr>Symbol</vt:lpstr>
      <vt:lpstr>Tahoma</vt:lpstr>
      <vt:lpstr>Wingdings</vt:lpstr>
      <vt:lpstr>Tema di Office</vt:lpstr>
      <vt:lpstr>Equation</vt:lpstr>
      <vt:lpstr>Document</vt:lpstr>
      <vt:lpstr>Chart</vt:lpstr>
      <vt:lpstr>Documento</vt:lpstr>
      <vt:lpstr>Visio</vt:lpstr>
      <vt:lpstr>DATA MINING &amp; MACHINE LEARNING:  Classification</vt:lpstr>
      <vt:lpstr>References</vt:lpstr>
      <vt:lpstr> Model Evaluation</vt:lpstr>
      <vt:lpstr>Model Evaluation</vt:lpstr>
      <vt:lpstr> Model Evaluation</vt:lpstr>
      <vt:lpstr>Model Evaluation</vt:lpstr>
      <vt:lpstr>Model Evaluation</vt:lpstr>
      <vt:lpstr>Metrics for Performance Evaluation</vt:lpstr>
      <vt:lpstr>Metrics for Performance Evaluation…</vt:lpstr>
      <vt:lpstr>Metrics for Performance Evaluation…</vt:lpstr>
      <vt:lpstr>Limitation of Accuracy</vt:lpstr>
      <vt:lpstr>Cost Matrix</vt:lpstr>
      <vt:lpstr>Computing Cost of Classification</vt:lpstr>
      <vt:lpstr>Cost vs Accuracy</vt:lpstr>
      <vt:lpstr>Cost-Sensitive Measures</vt:lpstr>
      <vt:lpstr> Fraud detection and audit planning </vt:lpstr>
      <vt:lpstr>Fraud detection</vt:lpstr>
      <vt:lpstr>Audit planning</vt:lpstr>
      <vt:lpstr>Available data sources</vt:lpstr>
      <vt:lpstr>Data preparation   </vt:lpstr>
      <vt:lpstr>Cost model</vt:lpstr>
      <vt:lpstr>Cost model and the target variable</vt:lpstr>
      <vt:lpstr>Quality assessment indicators</vt:lpstr>
      <vt:lpstr>Domain-dependent quality indicators</vt:lpstr>
      <vt:lpstr>The REAL case</vt:lpstr>
      <vt:lpstr>Model evaluation: classifier 1 (min FP)</vt:lpstr>
      <vt:lpstr>Model evaluation: classifier 2 (min FN)</vt:lpstr>
      <vt:lpstr>Model Evaluation</vt:lpstr>
      <vt:lpstr>Methods for Evaluation</vt:lpstr>
      <vt:lpstr>Parameter Tuning </vt:lpstr>
      <vt:lpstr>Data Partitioning</vt:lpstr>
      <vt:lpstr>Methods for Performance Evaluation</vt:lpstr>
      <vt:lpstr>Learning Curve</vt:lpstr>
      <vt:lpstr>Methods of Estimation</vt:lpstr>
      <vt:lpstr>Small &amp; Unbalanced Data</vt:lpstr>
      <vt:lpstr>Repeated holdout method </vt:lpstr>
      <vt:lpstr>Cross Validation</vt:lpstr>
      <vt:lpstr>Model Evaluation</vt:lpstr>
      <vt:lpstr>ROC (Receiver Operating Characteristic)</vt:lpstr>
      <vt:lpstr>Receiver Operating Characteristic Curve</vt:lpstr>
      <vt:lpstr>ROC Curve</vt:lpstr>
      <vt:lpstr>Presentazione standard di PowerPoint</vt:lpstr>
      <vt:lpstr>ROC Curve</vt:lpstr>
      <vt:lpstr>Using ROC for Model Comparison</vt:lpstr>
      <vt:lpstr>How to Construct the ROC curve</vt:lpstr>
      <vt:lpstr>How to Construct the ROC curve</vt:lpstr>
      <vt:lpstr>Test of Significance</vt:lpstr>
      <vt:lpstr>Confidence Interval for Accuracy</vt:lpstr>
      <vt:lpstr>Confidence Interval for Accuracy</vt:lpstr>
      <vt:lpstr>Confidence Interval for Accuracy</vt:lpstr>
      <vt:lpstr>Comparing Performance of 2 Models</vt:lpstr>
      <vt:lpstr>Comparing Performance of 2 Models</vt:lpstr>
      <vt:lpstr>An Illustrative Example</vt:lpstr>
      <vt:lpstr>Comparing Performance of 2 Algorithms</vt:lpstr>
      <vt:lpstr> Ensemble Methods</vt:lpstr>
      <vt:lpstr>Ensemble Methods</vt:lpstr>
      <vt:lpstr>The Wisdom of the Crowds</vt:lpstr>
      <vt:lpstr>Has crowd made a good estimate?</vt:lpstr>
      <vt:lpstr>Has crowd made a good estimate?</vt:lpstr>
      <vt:lpstr>Why didn’t I just asked a bunch of experts?</vt:lpstr>
      <vt:lpstr>What makes a crowd wise?</vt:lpstr>
      <vt:lpstr>Back to Machine Learning</vt:lpstr>
      <vt:lpstr>Why Ensemble Methods work?</vt:lpstr>
      <vt:lpstr>Types of Ensemble Methods</vt:lpstr>
      <vt:lpstr>Random Forests : Manipulate input features</vt:lpstr>
      <vt:lpstr>Random Forest</vt:lpstr>
      <vt:lpstr>Random Forest - Advantages</vt:lpstr>
      <vt:lpstr>Bagging (a.k.a. Bootstrap AGGregatING)</vt:lpstr>
      <vt:lpstr>Bagging Example</vt:lpstr>
      <vt:lpstr>Bagging Example</vt:lpstr>
      <vt:lpstr>Bagging Example</vt:lpstr>
      <vt:lpstr>Bagging Example</vt:lpstr>
      <vt:lpstr>Bagging Example</vt:lpstr>
      <vt:lpstr>Bagging Example</vt:lpstr>
      <vt:lpstr>Bagging Visual Example</vt:lpstr>
      <vt:lpstr>Bagging Visual Example</vt:lpstr>
      <vt:lpstr>Boosting</vt:lpstr>
      <vt:lpstr>Boosting</vt:lpstr>
      <vt:lpstr>AdaBoost</vt:lpstr>
      <vt:lpstr>AdaBoost Algorithm</vt:lpstr>
      <vt:lpstr>AdaBoost Algorithm</vt:lpstr>
      <vt:lpstr>AdaBoost Example</vt:lpstr>
      <vt:lpstr>AdaBoost Example</vt:lpstr>
      <vt:lpstr>AdaBoost Example</vt:lpstr>
      <vt:lpstr>AdaBoost Visual Example</vt:lpstr>
      <vt:lpstr>AdaBoost Visual Example</vt:lpstr>
      <vt:lpstr>AdaBoost Visual Example</vt:lpstr>
      <vt:lpstr>AdaBoost Visual Example</vt:lpstr>
      <vt:lpstr>AdaBoost Visual Example</vt:lpstr>
      <vt:lpstr>AdaBoost Visual Example</vt:lpstr>
      <vt:lpstr>AdaBoost Visual Example</vt:lpstr>
      <vt:lpstr>AdaBoost Visual Example</vt:lpstr>
      <vt:lpstr>AdaBoost Visual Example</vt:lpstr>
      <vt:lpstr>AdaBoost Visual Example</vt:lpstr>
      <vt:lpstr>AdaBoost Visual Example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Costabello, Luca</dc:creator>
  <cp:lastModifiedBy>FG-ITALY</cp:lastModifiedBy>
  <cp:revision>499</cp:revision>
  <cp:lastPrinted>2019-01-27T07:43:21Z</cp:lastPrinted>
  <dcterms:created xsi:type="dcterms:W3CDTF">2018-12-18T18:14:00Z</dcterms:created>
  <dcterms:modified xsi:type="dcterms:W3CDTF">2026-04-13T10:57:49Z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0x010100BB2F56ABDEDC3044B30E8C8676A91964</vt:lpwstr>
  </property>
</Properties>
</file>