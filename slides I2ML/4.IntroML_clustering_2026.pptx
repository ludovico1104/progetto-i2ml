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vsdx" ContentType="application/vnd.ms-visio.drawing"/>
  <Default Extension="wmf" ContentType="image/x-wmf"/>
  <Default Extension="xml" ContentType="application/xml"/>
  <Override PartName="/ppt/slides/slide6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69"/>
  </p:notesMasterIdLst>
  <p:handoutMasterIdLst>
    <p:handoutMasterId r:id="rId70"/>
  </p:handoutMasterIdLst>
  <p:sldIdLst>
    <p:sldId id="1193" r:id="rId2"/>
    <p:sldId id="1194" r:id="rId3"/>
    <p:sldId id="550" r:id="rId4"/>
    <p:sldId id="526" r:id="rId5"/>
    <p:sldId id="665" r:id="rId6"/>
    <p:sldId id="612" r:id="rId7"/>
    <p:sldId id="613" r:id="rId8"/>
    <p:sldId id="1195" r:id="rId9"/>
    <p:sldId id="614" r:id="rId10"/>
    <p:sldId id="615" r:id="rId11"/>
    <p:sldId id="616" r:id="rId12"/>
    <p:sldId id="617" r:id="rId13"/>
    <p:sldId id="618" r:id="rId14"/>
    <p:sldId id="1196" r:id="rId15"/>
    <p:sldId id="1197" r:id="rId16"/>
    <p:sldId id="666" r:id="rId17"/>
    <p:sldId id="669" r:id="rId18"/>
    <p:sldId id="1189" r:id="rId19"/>
    <p:sldId id="1191" r:id="rId20"/>
    <p:sldId id="1190" r:id="rId21"/>
    <p:sldId id="670" r:id="rId22"/>
    <p:sldId id="671" r:id="rId23"/>
    <p:sldId id="672" r:id="rId24"/>
    <p:sldId id="586" r:id="rId25"/>
    <p:sldId id="587" r:id="rId26"/>
    <p:sldId id="588" r:id="rId27"/>
    <p:sldId id="589" r:id="rId28"/>
    <p:sldId id="590" r:id="rId29"/>
    <p:sldId id="591" r:id="rId30"/>
    <p:sldId id="592" r:id="rId31"/>
    <p:sldId id="593" r:id="rId32"/>
    <p:sldId id="594" r:id="rId33"/>
    <p:sldId id="673" r:id="rId34"/>
    <p:sldId id="642" r:id="rId35"/>
    <p:sldId id="643" r:id="rId36"/>
    <p:sldId id="644" r:id="rId37"/>
    <p:sldId id="645" r:id="rId38"/>
    <p:sldId id="646" r:id="rId39"/>
    <p:sldId id="601" r:id="rId40"/>
    <p:sldId id="602" r:id="rId41"/>
    <p:sldId id="674" r:id="rId42"/>
    <p:sldId id="604" r:id="rId43"/>
    <p:sldId id="605" r:id="rId44"/>
    <p:sldId id="606" r:id="rId45"/>
    <p:sldId id="607" r:id="rId46"/>
    <p:sldId id="668" r:id="rId47"/>
    <p:sldId id="619" r:id="rId48"/>
    <p:sldId id="620" r:id="rId49"/>
    <p:sldId id="621" r:id="rId50"/>
    <p:sldId id="622" r:id="rId51"/>
    <p:sldId id="623" r:id="rId52"/>
    <p:sldId id="624" r:id="rId53"/>
    <p:sldId id="625" r:id="rId54"/>
    <p:sldId id="626" r:id="rId55"/>
    <p:sldId id="627" r:id="rId56"/>
    <p:sldId id="628" r:id="rId57"/>
    <p:sldId id="629" r:id="rId58"/>
    <p:sldId id="630" r:id="rId59"/>
    <p:sldId id="631" r:id="rId60"/>
    <p:sldId id="1192" r:id="rId61"/>
    <p:sldId id="307" r:id="rId62"/>
    <p:sldId id="308" r:id="rId63"/>
    <p:sldId id="635" r:id="rId64"/>
    <p:sldId id="637" r:id="rId65"/>
    <p:sldId id="638" r:id="rId66"/>
    <p:sldId id="640" r:id="rId67"/>
    <p:sldId id="1188" r:id="rId6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193"/>
    <a:srgbClr val="0096FF"/>
    <a:srgbClr val="00FB92"/>
    <a:srgbClr val="FF2F92"/>
    <a:srgbClr val="FF8AD8"/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Stile chiaro 2 - Color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Stile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04" autoAdjust="0"/>
    <p:restoredTop sz="86395" autoAdjust="0"/>
  </p:normalViewPr>
  <p:slideViewPr>
    <p:cSldViewPr snapToGrid="0" snapToObjects="1">
      <p:cViewPr>
        <p:scale>
          <a:sx n="113" d="100"/>
          <a:sy n="113" d="100"/>
        </p:scale>
        <p:origin x="1352" y="1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5" d="100"/>
        <a:sy n="145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-346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77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75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2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7.xml"/><Relationship Id="rId13" Type="http://schemas.openxmlformats.org/officeDocument/2006/relationships/slide" Target="slides/slide30.xml"/><Relationship Id="rId18" Type="http://schemas.openxmlformats.org/officeDocument/2006/relationships/slide" Target="slides/slide36.xml"/><Relationship Id="rId3" Type="http://schemas.openxmlformats.org/officeDocument/2006/relationships/slide" Target="slides/slide7.xml"/><Relationship Id="rId21" Type="http://schemas.openxmlformats.org/officeDocument/2006/relationships/slide" Target="slides/slide40.xml"/><Relationship Id="rId7" Type="http://schemas.openxmlformats.org/officeDocument/2006/relationships/slide" Target="slides/slide13.xml"/><Relationship Id="rId12" Type="http://schemas.openxmlformats.org/officeDocument/2006/relationships/slide" Target="slides/slide29.xml"/><Relationship Id="rId17" Type="http://schemas.openxmlformats.org/officeDocument/2006/relationships/slide" Target="slides/slide35.xml"/><Relationship Id="rId2" Type="http://schemas.openxmlformats.org/officeDocument/2006/relationships/slide" Target="slides/slide6.xml"/><Relationship Id="rId16" Type="http://schemas.openxmlformats.org/officeDocument/2006/relationships/slide" Target="slides/slide34.xml"/><Relationship Id="rId20" Type="http://schemas.openxmlformats.org/officeDocument/2006/relationships/slide" Target="slides/slide39.xml"/><Relationship Id="rId1" Type="http://schemas.openxmlformats.org/officeDocument/2006/relationships/slide" Target="slides/slide4.xml"/><Relationship Id="rId6" Type="http://schemas.openxmlformats.org/officeDocument/2006/relationships/slide" Target="slides/slide12.xml"/><Relationship Id="rId11" Type="http://schemas.openxmlformats.org/officeDocument/2006/relationships/slide" Target="slides/slide28.xml"/><Relationship Id="rId5" Type="http://schemas.openxmlformats.org/officeDocument/2006/relationships/slide" Target="slides/slide11.xml"/><Relationship Id="rId15" Type="http://schemas.openxmlformats.org/officeDocument/2006/relationships/slide" Target="slides/slide32.xml"/><Relationship Id="rId10" Type="http://schemas.openxmlformats.org/officeDocument/2006/relationships/slide" Target="slides/slide23.xml"/><Relationship Id="rId19" Type="http://schemas.openxmlformats.org/officeDocument/2006/relationships/slide" Target="slides/slide38.xml"/><Relationship Id="rId4" Type="http://schemas.openxmlformats.org/officeDocument/2006/relationships/slide" Target="slides/slide10.xml"/><Relationship Id="rId9" Type="http://schemas.openxmlformats.org/officeDocument/2006/relationships/slide" Target="slides/slide22.xml"/><Relationship Id="rId14" Type="http://schemas.openxmlformats.org/officeDocument/2006/relationships/slide" Target="slides/slide31.xml"/><Relationship Id="rId22" Type="http://schemas.openxmlformats.org/officeDocument/2006/relationships/slide" Target="slides/slide4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F6E6D-E6D8-4C83-A38E-BFB06991A8DA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01FBA-0126-406C-BE32-94E8E08112C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904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AB91D-D08F-F14D-AE19-84E96A5339C3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F71684-922B-C647-B005-6CA642B2C4B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9240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8582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no </a:t>
            </a:r>
            <a:r>
              <a:rPr lang="it-IT" dirty="0" err="1"/>
              <a:t>cohesion</a:t>
            </a:r>
            <a:r>
              <a:rPr lang="it-IT" dirty="0"/>
              <a:t> no </a:t>
            </a:r>
            <a:r>
              <a:rPr lang="it-IT" dirty="0" err="1"/>
              <a:t>well</a:t>
            </a:r>
            <a:r>
              <a:rPr lang="it-IT" dirty="0"/>
              <a:t> </a:t>
            </a:r>
            <a:r>
              <a:rPr lang="it-IT" dirty="0" err="1"/>
              <a:t>separation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27923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8807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6219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CDBE0CA-5111-D04D-8D12-935552D94F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36BC96A-9426-4A41-862F-AE5D98B4F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CDEE8EA-B811-484E-9AD4-125197A0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9E66D-B003-4C4E-864A-E43A8D2280BD}" type="datetime1">
              <a:rPr lang="it-IT" smtClean="0"/>
              <a:t>16/03/26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0A87B73-2633-AA49-BD18-F8F801EAC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</a:p>
        </p:txBody>
      </p:sp>
    </p:spTree>
    <p:extLst>
      <p:ext uri="{BB962C8B-B14F-4D97-AF65-F5344CB8AC3E}">
        <p14:creationId xmlns:p14="http://schemas.microsoft.com/office/powerpoint/2010/main" val="1225103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C0DF7A-92CF-2848-9DB4-1B5627B91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942309D-38BE-FB4A-A153-E7BF232DC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A7E30A-C665-904E-811B-93A46D9D5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F26437-C4B7-604C-861E-5D3C0D33BE5F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6F7EE2-4B79-B948-8ACA-1A13A30CB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97C08697-B432-D649-AD79-87B7574B2E35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26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BB1760-1D6E-514E-BBBA-90A5FFA1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0AE6B2-F4ED-8C4E-84AB-8DC3DD570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395726-958D-3549-89E0-A190673A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C28B9B-7C80-B543-BDBB-A92A7AEFD72F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EACAE3-5BD7-D34D-91E6-6EB901BE9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EF479E78-DA7B-C944-8244-979118C4A42C}"/>
              </a:ext>
            </a:extLst>
          </p:cNvPr>
          <p:cNvCxnSpPr/>
          <p:nvPr userDrawn="1"/>
        </p:nvCxnSpPr>
        <p:spPr>
          <a:xfrm>
            <a:off x="0" y="4568262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265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7BC0BA-3DD1-6F4D-958D-0CFF774B7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821535-ED3B-1E4C-9BBE-4E2F63316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6C8D277-1C2D-6A43-9A64-CF03C6DAD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A6A55CF-0328-2042-8867-0545FCFC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08C9651-A614-D546-8E5D-E84C7A0F43D0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3E56001-C03F-CE40-B8BD-AD028CAD3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A728E4-6B64-4E40-811F-04DF1CBB7D31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93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6ABA12-78D7-6048-8681-A36AC099A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C04B37B-2090-8D41-B9BF-D88C3E98E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BDC3BAF-954D-8E4C-A6EB-B3ADEB1C2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BB0CDEC-EF4F-6540-9159-D69B5F79B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698BE13-F69E-1A45-8586-E81C6FD52E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0F0C53D-183A-FC4B-9702-71A74ADCB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4F22444-9F01-A64E-BA90-B0526793B5AE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35C857-F677-FE40-AFFD-96E8C3DF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0891173D-1780-9E40-A31D-CFB5D057907D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116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4FAAE9-4446-224F-A5F9-DD4D37B4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932027A-979A-0147-B957-23F6E4E45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1E2C575-4E74-CB45-AA63-265EDD3F4832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569AC3D-0D57-8446-B251-CDE0E3A6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4EB78F9-ACE7-AD48-AC0A-3615A1AC3B39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670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D7CCD44-38AF-2748-9927-0AF5DEAF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87C649-8927-E144-A3AA-F7E863ABE54D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0ECF18-5B6D-0E46-8351-479B96D4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60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F3A5D9-CE4F-6F49-B7F4-45A75BFFD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ACBE50-3DDC-5D47-8266-FF7265729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0F3E9B-90C3-E044-9151-5A48304D7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6F02DC-9538-7B4C-8AEC-00FD62F10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CE9C45-2ACA-2146-A9BA-1A8801DF3D90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61039E8-E9EA-1F47-A455-118B30785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4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29C229-E370-0C4E-84BE-990E328E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3911D92-876D-1D49-8C85-0314159E6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A241640-23F2-9847-A7E4-8FDAE2B6A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EFE7DC9-F86D-4C42-BBB5-65A619654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57C8EA-2611-3F4A-8E99-618C2757CF42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B8BFF4-DFD9-E941-A9EA-E6FD29EC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41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79B98E-8402-EE4F-A656-DCC6A48EA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C7ED7AD-51E7-F740-93FD-1025332C0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297406-BB99-2640-B389-5F24A3DC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D2041F-5EF3-3145-A49B-0814F547AEF9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519D53-C423-8F45-AA29-CDE0650DB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112DD419-0A67-9744-B3B9-809AFC711840}"/>
              </a:ext>
            </a:extLst>
          </p:cNvPr>
          <p:cNvCxnSpPr/>
          <p:nvPr userDrawn="1"/>
        </p:nvCxnSpPr>
        <p:spPr>
          <a:xfrm>
            <a:off x="0" y="1332881"/>
            <a:ext cx="11353800" cy="0"/>
          </a:xfrm>
          <a:prstGeom prst="line">
            <a:avLst/>
          </a:prstGeom>
          <a:ln w="76200">
            <a:solidFill>
              <a:srgbClr val="00FB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936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99B30F2-9DD7-A449-8E34-650F9CFCF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69B78D2-A881-6F42-89DA-8AC00B23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511472-DCCA-1F4E-80B9-8E99EC281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0F37EA-E13C-9545-99A5-5937716205AB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CA25BF8-9292-B945-8562-F53E73BE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3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406400" y="838200"/>
            <a:ext cx="11379200" cy="152400"/>
            <a:chOff x="0" y="0"/>
            <a:chExt cx="8534400" cy="152399"/>
          </a:xfrm>
        </p:grpSpPr>
        <p:sp>
          <p:nvSpPr>
            <p:cNvPr id="10" name="Shape 10"/>
            <p:cNvSpPr/>
            <p:nvPr/>
          </p:nvSpPr>
          <p:spPr>
            <a:xfrm>
              <a:off x="0" y="0"/>
              <a:ext cx="8534400" cy="74971"/>
            </a:xfrm>
            <a:prstGeom prst="rect">
              <a:avLst/>
            </a:prstGeom>
            <a:gradFill flip="none" rotWithShape="1">
              <a:gsLst>
                <a:gs pos="0">
                  <a:srgbClr val="000000"/>
                </a:gs>
                <a:gs pos="100000">
                  <a:srgbClr val="0E9BBA"/>
                </a:gs>
              </a:gsLst>
              <a:lin ang="162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/>
              </a:pPr>
              <a:endParaRPr sz="1800"/>
            </a:p>
          </p:txBody>
        </p:sp>
        <p:sp>
          <p:nvSpPr>
            <p:cNvPr id="11" name="Shape 11"/>
            <p:cNvSpPr/>
            <p:nvPr/>
          </p:nvSpPr>
          <p:spPr>
            <a:xfrm>
              <a:off x="0" y="114299"/>
              <a:ext cx="8534400" cy="38101"/>
            </a:xfrm>
            <a:prstGeom prst="rect">
              <a:avLst/>
            </a:prstGeom>
            <a:gradFill flip="none" rotWithShape="1">
              <a:gsLst>
                <a:gs pos="0">
                  <a:srgbClr val="000000"/>
                </a:gs>
                <a:gs pos="100000">
                  <a:srgbClr val="B200B2"/>
                </a:gs>
              </a:gsLst>
              <a:lin ang="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/>
              </a:pPr>
              <a:endParaRPr sz="1800"/>
            </a:p>
          </p:txBody>
        </p:sp>
      </p:grp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006286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931ADDB-CF09-4C4A-A381-EBEAEC869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631CBA-384C-8F47-AD02-D9465EAF8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AB79F8-8BC7-EA4F-A539-66731CC39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9946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22C14-3BC9-D542-B4D4-B9E4C141C801}" type="datetime1">
              <a:rPr lang="it-IT" smtClean="0"/>
              <a:t>16/03/26</a:t>
            </a:fld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2DF6E6-74CD-BD43-9A7F-E93E6BAD2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946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Wurzburg, Germany, ECML-PKDD 2019, Tutorial on XKDD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52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@1rn22cd100.sujithg/dbscan-the-density-based-clustering-algorithm-that-thinks-outside-the-box-80b6837cad67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01.16894v2#bib.bib7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44.w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w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50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7.w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wmf"/><Relationship Id="rId4" Type="http://schemas.openxmlformats.org/officeDocument/2006/relationships/oleObject" Target="../embeddings/oleObject11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package" Target="../embeddings/Microsoft_Visio_Drawing11111.vsdx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olo 1">
            <a:extLst>
              <a:ext uri="{FF2B5EF4-FFF2-40B4-BE49-F238E27FC236}">
                <a16:creationId xmlns:a16="http://schemas.microsoft.com/office/drawing/2014/main" id="{2049DDC2-98BF-114B-9610-797A7F450C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019300" y="2489200"/>
            <a:ext cx="8020050" cy="1697038"/>
          </a:xfrm>
        </p:spPr>
        <p:txBody>
          <a:bodyPr>
            <a:normAutofit fontScale="90000"/>
          </a:bodyPr>
          <a:lstStyle/>
          <a:p>
            <a:r>
              <a:rPr lang="en-US" altLang="it-IT" dirty="0">
                <a:ea typeface="ＭＳ Ｐゴシック" panose="020B0600070205080204" pitchFamily="34" charset="-128"/>
              </a:rPr>
              <a:t>Intro-Machine Learning</a:t>
            </a:r>
            <a:br>
              <a:rPr lang="en-US" altLang="it-IT" dirty="0">
                <a:ea typeface="ＭＳ Ｐゴシック" panose="020B0600070205080204" pitchFamily="34" charset="-128"/>
              </a:rPr>
            </a:br>
            <a:r>
              <a:rPr lang="en-US" sz="9600" b="1" dirty="0"/>
              <a:t>Clustering (2)</a:t>
            </a:r>
            <a:br>
              <a:rPr lang="en-US" altLang="it-IT" dirty="0">
                <a:ea typeface="ＭＳ Ｐゴシック" panose="020B0600070205080204" pitchFamily="34" charset="-128"/>
              </a:rPr>
            </a:br>
            <a:endParaRPr lang="en-US" altLang="it-IT" sz="2100" dirty="0">
              <a:ea typeface="ＭＳ Ｐゴシック" panose="020B0600070205080204" pitchFamily="34" charset="-128"/>
            </a:endParaRPr>
          </a:p>
        </p:txBody>
      </p:sp>
      <p:sp>
        <p:nvSpPr>
          <p:cNvPr id="7" name="Sottotitolo 6">
            <a:extLst>
              <a:ext uri="{FF2B5EF4-FFF2-40B4-BE49-F238E27FC236}">
                <a16:creationId xmlns:a16="http://schemas.microsoft.com/office/drawing/2014/main" id="{CB410B35-8954-DD43-9110-6ADE4CCB1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9514" y="4402138"/>
            <a:ext cx="7557786" cy="1293812"/>
          </a:xfrm>
        </p:spPr>
        <p:txBody>
          <a:bodyPr>
            <a:normAutofit fontScale="92500" lnSpcReduction="20000"/>
          </a:bodyPr>
          <a:lstStyle/>
          <a:p>
            <a:pPr algn="l">
              <a:spcBef>
                <a:spcPts val="0"/>
              </a:spcBef>
              <a:defRPr/>
            </a:pPr>
            <a:r>
              <a:rPr lang="en-IE" dirty="0" err="1"/>
              <a:t>Fosca</a:t>
            </a:r>
            <a:r>
              <a:rPr lang="en-IE" dirty="0"/>
              <a:t> Giannotti</a:t>
            </a:r>
          </a:p>
          <a:p>
            <a:pPr algn="l">
              <a:spcBef>
                <a:spcPts val="0"/>
              </a:spcBef>
              <a:defRPr/>
            </a:pPr>
            <a:endParaRPr lang="en-IE" dirty="0"/>
          </a:p>
          <a:p>
            <a:pPr algn="l">
              <a:spcBef>
                <a:spcPts val="0"/>
              </a:spcBef>
              <a:defRPr/>
            </a:pPr>
            <a:endParaRPr lang="en-IE" dirty="0"/>
          </a:p>
          <a:p>
            <a:pPr algn="l">
              <a:spcBef>
                <a:spcPts val="0"/>
              </a:spcBef>
              <a:defRPr/>
            </a:pPr>
            <a:r>
              <a:rPr lang="en-IE" dirty="0"/>
              <a:t>Revisited slides from Lecture Notes for Chapter 7 “Introduction to Data Mining”, 2nd Edition by Tan, Steinbach, </a:t>
            </a:r>
            <a:r>
              <a:rPr lang="en-IE" dirty="0" err="1"/>
              <a:t>Karpatne</a:t>
            </a:r>
            <a:r>
              <a:rPr lang="en-IE" dirty="0"/>
              <a:t>, Kumar</a:t>
            </a:r>
          </a:p>
          <a:p>
            <a:pPr algn="l">
              <a:spcBef>
                <a:spcPts val="0"/>
              </a:spcBef>
              <a:defRPr/>
            </a:pPr>
            <a:endParaRPr lang="en-IE" dirty="0"/>
          </a:p>
          <a:p>
            <a:pPr algn="l">
              <a:spcBef>
                <a:spcPts val="0"/>
              </a:spcBef>
              <a:defRPr/>
            </a:pPr>
            <a:endParaRPr lang="en-IE" sz="1500" dirty="0"/>
          </a:p>
          <a:p>
            <a:pPr algn="l">
              <a:spcBef>
                <a:spcPts val="0"/>
              </a:spcBef>
              <a:defRPr/>
            </a:pPr>
            <a:endParaRPr lang="en-IE" dirty="0" err="1"/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B82972A0-DDAE-854D-9F60-9EB358419B52}"/>
              </a:ext>
            </a:extLst>
          </p:cNvPr>
          <p:cNvCxnSpPr/>
          <p:nvPr/>
        </p:nvCxnSpPr>
        <p:spPr>
          <a:xfrm>
            <a:off x="1524000" y="4283075"/>
            <a:ext cx="8515350" cy="0"/>
          </a:xfrm>
          <a:prstGeom prst="line">
            <a:avLst/>
          </a:prstGeom>
          <a:ln w="76200">
            <a:solidFill>
              <a:srgbClr val="0091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0930" name="Picture 2" descr="Home">
            <a:extLst>
              <a:ext uri="{FF2B5EF4-FFF2-40B4-BE49-F238E27FC236}">
                <a16:creationId xmlns:a16="http://schemas.microsoft.com/office/drawing/2014/main" id="{9F14C34F-7A6A-5D45-8F47-4DFA74CDF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8804936" y="4908886"/>
            <a:ext cx="1691615" cy="9926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91449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3A3AC-3479-954B-8863-B2FCBFD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6C7E5-9491-8A4A-86AB-1AA2743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en-US" noProof="0" dirty="0"/>
              <a:t>Clustering. </a:t>
            </a:r>
            <a:r>
              <a:rPr lang="en-US" noProof="0"/>
              <a:t>Chapter 7. </a:t>
            </a:r>
            <a:r>
              <a:rPr lang="en-US" noProof="0" dirty="0"/>
              <a:t>Introduction to Data Mining.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071210-6483-7E4C-BDE3-DBB7686D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341563"/>
            <a:ext cx="30480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585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Clusters</a:t>
            </a:r>
          </a:p>
        </p:txBody>
      </p:sp>
      <p:sp>
        <p:nvSpPr>
          <p:cNvPr id="11267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/>
              <a:t> Well-separated clusters</a:t>
            </a:r>
          </a:p>
          <a:p>
            <a:endParaRPr lang="en-US" altLang="en-US" sz="2400" dirty="0"/>
          </a:p>
          <a:p>
            <a:r>
              <a:rPr lang="en-US" altLang="en-US" sz="2400" dirty="0"/>
              <a:t> Center-based clusters</a:t>
            </a:r>
          </a:p>
          <a:p>
            <a:endParaRPr lang="en-US" altLang="en-US" sz="2400" dirty="0"/>
          </a:p>
          <a:p>
            <a:r>
              <a:rPr lang="en-US" altLang="en-US" sz="2400" dirty="0"/>
              <a:t> Contiguous clusters</a:t>
            </a:r>
          </a:p>
          <a:p>
            <a:endParaRPr lang="en-US" altLang="en-US" sz="2400" dirty="0"/>
          </a:p>
          <a:p>
            <a:r>
              <a:rPr lang="en-US" altLang="en-US" sz="2400" dirty="0"/>
              <a:t> Density-based clusters</a:t>
            </a:r>
          </a:p>
          <a:p>
            <a:pPr marL="0" indent="0"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58357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Types of Clusters: Density-Based</a:t>
            </a:r>
          </a:p>
        </p:txBody>
      </p:sp>
      <p:sp>
        <p:nvSpPr>
          <p:cNvPr id="15363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spcBef>
                <a:spcPct val="20000"/>
              </a:spcBef>
            </a:pPr>
            <a:r>
              <a:rPr lang="en-US" altLang="en-US" dirty="0"/>
              <a:t>Density-based</a:t>
            </a:r>
          </a:p>
          <a:p>
            <a:pPr marL="742932" lvl="1" indent="-285744">
              <a:spcBef>
                <a:spcPct val="20000"/>
              </a:spcBef>
            </a:pPr>
            <a:r>
              <a:rPr lang="en-US" altLang="en-US" sz="2000" dirty="0"/>
              <a:t>A cluster is a dense region of points, which is separated by low-density regions, from other regions of high density. </a:t>
            </a:r>
          </a:p>
          <a:p>
            <a:pPr marL="742932" lvl="1" indent="-285744">
              <a:spcBef>
                <a:spcPct val="20000"/>
              </a:spcBef>
            </a:pPr>
            <a:r>
              <a:rPr lang="en-US" altLang="en-US" sz="2000" dirty="0"/>
              <a:t>Used when the clusters are irregular or intertwined, and when noise and outliers are present. </a:t>
            </a:r>
          </a:p>
        </p:txBody>
      </p:sp>
      <p:grpSp>
        <p:nvGrpSpPr>
          <p:cNvPr id="15364" name="Group 12"/>
          <p:cNvGrpSpPr>
            <a:grpSpLocks/>
          </p:cNvGrpSpPr>
          <p:nvPr/>
        </p:nvGrpSpPr>
        <p:grpSpPr bwMode="auto">
          <a:xfrm>
            <a:off x="1828800" y="3657600"/>
            <a:ext cx="8610600" cy="1676400"/>
            <a:chOff x="1056" y="3072"/>
            <a:chExt cx="3840" cy="720"/>
          </a:xfrm>
        </p:grpSpPr>
        <p:sp>
          <p:nvSpPr>
            <p:cNvPr id="15366" name="Rectangle 2"/>
            <p:cNvSpPr>
              <a:spLocks noChangeArrowheads="1"/>
            </p:cNvSpPr>
            <p:nvPr/>
          </p:nvSpPr>
          <p:spPr bwMode="auto">
            <a:xfrm>
              <a:off x="1056" y="3072"/>
              <a:ext cx="3840" cy="720"/>
            </a:xfrm>
            <a:prstGeom prst="rect">
              <a:avLst/>
            </a:prstGeom>
            <a:pattFill prst="pct10">
              <a:fgClr>
                <a:schemeClr val="tx1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7" name="Oval 5"/>
            <p:cNvSpPr>
              <a:spLocks noChangeAspect="1" noChangeArrowheads="1"/>
            </p:cNvSpPr>
            <p:nvPr/>
          </p:nvSpPr>
          <p:spPr bwMode="auto">
            <a:xfrm>
              <a:off x="1599" y="3374"/>
              <a:ext cx="134" cy="134"/>
            </a:xfrm>
            <a:prstGeom prst="ellipse">
              <a:avLst/>
            </a:prstGeom>
            <a:solidFill>
              <a:srgbClr val="3333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68" name="AutoShape 6"/>
            <p:cNvSpPr>
              <a:spLocks noChangeAspect="1" noChangeArrowheads="1"/>
            </p:cNvSpPr>
            <p:nvPr/>
          </p:nvSpPr>
          <p:spPr bwMode="auto">
            <a:xfrm rot="-5400000">
              <a:off x="1370" y="3006"/>
              <a:ext cx="525" cy="86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1351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5625" y="13616"/>
                  </a:moveTo>
                  <a:cubicBezTo>
                    <a:pt x="5154" y="12752"/>
                    <a:pt x="4908" y="11784"/>
                    <a:pt x="4908" y="10800"/>
                  </a:cubicBezTo>
                  <a:cubicBezTo>
                    <a:pt x="4908" y="7545"/>
                    <a:pt x="7545" y="4908"/>
                    <a:pt x="10800" y="4908"/>
                  </a:cubicBezTo>
                  <a:cubicBezTo>
                    <a:pt x="14054" y="4908"/>
                    <a:pt x="16692" y="7545"/>
                    <a:pt x="16692" y="10800"/>
                  </a:cubicBezTo>
                  <a:cubicBezTo>
                    <a:pt x="16692" y="11784"/>
                    <a:pt x="16445" y="12752"/>
                    <a:pt x="15974" y="13616"/>
                  </a:cubicBezTo>
                  <a:lnTo>
                    <a:pt x="20285" y="15963"/>
                  </a:lnTo>
                  <a:cubicBezTo>
                    <a:pt x="21148" y="14379"/>
                    <a:pt x="21600" y="12603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2603"/>
                    <a:pt x="451" y="14379"/>
                    <a:pt x="1314" y="15963"/>
                  </a:cubicBezTo>
                  <a:lnTo>
                    <a:pt x="5625" y="136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15369" name="Oval 7"/>
            <p:cNvSpPr>
              <a:spLocks noChangeAspect="1" noChangeArrowheads="1"/>
            </p:cNvSpPr>
            <p:nvPr/>
          </p:nvSpPr>
          <p:spPr bwMode="auto">
            <a:xfrm>
              <a:off x="1932" y="3374"/>
              <a:ext cx="134" cy="134"/>
            </a:xfrm>
            <a:prstGeom prst="ellipse">
              <a:avLst/>
            </a:pr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0" name="Oval 8"/>
            <p:cNvSpPr>
              <a:spLocks noChangeAspect="1" noChangeArrowheads="1"/>
            </p:cNvSpPr>
            <p:nvPr/>
          </p:nvSpPr>
          <p:spPr bwMode="auto">
            <a:xfrm>
              <a:off x="3664" y="3257"/>
              <a:ext cx="376" cy="355"/>
            </a:xfrm>
            <a:prstGeom prst="ellipse">
              <a:avLst/>
            </a:prstGeom>
            <a:solidFill>
              <a:srgbClr val="00FF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1" name="Oval 9"/>
            <p:cNvSpPr>
              <a:spLocks noChangeAspect="1" noChangeArrowheads="1"/>
            </p:cNvSpPr>
            <p:nvPr/>
          </p:nvSpPr>
          <p:spPr bwMode="auto">
            <a:xfrm>
              <a:off x="4108" y="3257"/>
              <a:ext cx="376" cy="355"/>
            </a:xfrm>
            <a:prstGeom prst="ellipse">
              <a:avLst/>
            </a:prstGeom>
            <a:solidFill>
              <a:srgbClr val="FFCC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2" name="Oval 10"/>
            <p:cNvSpPr>
              <a:spLocks noChangeAspect="1" noChangeArrowheads="1"/>
            </p:cNvSpPr>
            <p:nvPr/>
          </p:nvSpPr>
          <p:spPr bwMode="auto">
            <a:xfrm>
              <a:off x="2420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15373" name="Oval 11"/>
            <p:cNvSpPr>
              <a:spLocks noChangeAspect="1" noChangeArrowheads="1"/>
            </p:cNvSpPr>
            <p:nvPr/>
          </p:nvSpPr>
          <p:spPr bwMode="auto">
            <a:xfrm>
              <a:off x="2819" y="3168"/>
              <a:ext cx="444" cy="444"/>
            </a:xfrm>
            <a:prstGeom prst="ellipse">
              <a:avLst/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5365" name="Text Box 13"/>
          <p:cNvSpPr txBox="1">
            <a:spLocks noChangeArrowheads="1"/>
          </p:cNvSpPr>
          <p:nvPr/>
        </p:nvSpPr>
        <p:spPr bwMode="auto">
          <a:xfrm>
            <a:off x="4495800" y="5791201"/>
            <a:ext cx="3200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6 density-based clusters</a:t>
            </a:r>
          </a:p>
        </p:txBody>
      </p:sp>
    </p:spTree>
    <p:extLst>
      <p:ext uri="{BB962C8B-B14F-4D97-AF65-F5344CB8AC3E}">
        <p14:creationId xmlns:p14="http://schemas.microsoft.com/office/powerpoint/2010/main" val="62724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99728F70-BEFF-084B-B2BA-383936CBB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867" dirty="0"/>
              <a:t>DBSCAN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82390C2-2082-7DA4-C84E-0DCDA794CB56}"/>
              </a:ext>
            </a:extLst>
          </p:cNvPr>
          <p:cNvSpPr txBox="1"/>
          <p:nvPr/>
        </p:nvSpPr>
        <p:spPr>
          <a:xfrm>
            <a:off x="831850" y="4996454"/>
            <a:ext cx="60991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1" dirty="0">
                <a:solidFill>
                  <a:srgbClr val="242424"/>
                </a:solidFill>
                <a:effectLst/>
                <a:latin typeface="source-serif-pro"/>
              </a:rPr>
              <a:t>first DBSCAN Paper:</a:t>
            </a:r>
            <a:r>
              <a:rPr lang="it-IT" b="0" i="0" dirty="0">
                <a:solidFill>
                  <a:srgbClr val="242424"/>
                </a:solidFill>
                <a:effectLst/>
                <a:latin typeface="source-serif-pro"/>
              </a:rPr>
              <a:t> Ester, M., et al. (1996). "A </a:t>
            </a:r>
            <a:r>
              <a:rPr lang="it-IT" b="0" i="0" dirty="0" err="1">
                <a:solidFill>
                  <a:srgbClr val="242424"/>
                </a:solidFill>
                <a:effectLst/>
                <a:latin typeface="source-serif-pro"/>
              </a:rPr>
              <a:t>density-based</a:t>
            </a:r>
            <a:r>
              <a:rPr lang="it-IT" b="0" i="0" dirty="0">
                <a:solidFill>
                  <a:srgbClr val="242424"/>
                </a:solidFill>
                <a:effectLst/>
                <a:latin typeface="source-serif-pro"/>
              </a:rPr>
              <a:t> </a:t>
            </a:r>
            <a:r>
              <a:rPr lang="it-IT" b="0" i="0" dirty="0" err="1">
                <a:solidFill>
                  <a:srgbClr val="242424"/>
                </a:solidFill>
                <a:effectLst/>
                <a:latin typeface="source-serif-pro"/>
              </a:rPr>
              <a:t>algorithm</a:t>
            </a:r>
            <a:r>
              <a:rPr lang="it-IT" b="0" i="0" dirty="0">
                <a:solidFill>
                  <a:srgbClr val="242424"/>
                </a:solidFill>
                <a:effectLst/>
                <a:latin typeface="source-serif-pro"/>
              </a:rPr>
              <a:t> for </a:t>
            </a:r>
            <a:r>
              <a:rPr lang="it-IT" b="0" i="0" dirty="0" err="1">
                <a:solidFill>
                  <a:srgbClr val="242424"/>
                </a:solidFill>
                <a:effectLst/>
                <a:latin typeface="source-serif-pro"/>
              </a:rPr>
              <a:t>discovering</a:t>
            </a:r>
            <a:r>
              <a:rPr lang="it-IT" b="0" i="0" dirty="0">
                <a:solidFill>
                  <a:srgbClr val="242424"/>
                </a:solidFill>
                <a:effectLst/>
                <a:latin typeface="source-serif-pro"/>
              </a:rPr>
              <a:t> clusters in large </a:t>
            </a:r>
            <a:r>
              <a:rPr lang="it-IT" b="0" i="0" dirty="0" err="1">
                <a:solidFill>
                  <a:srgbClr val="242424"/>
                </a:solidFill>
                <a:effectLst/>
                <a:latin typeface="source-serif-pro"/>
              </a:rPr>
              <a:t>spatial</a:t>
            </a:r>
            <a:r>
              <a:rPr lang="it-IT" b="0" i="0" dirty="0">
                <a:solidFill>
                  <a:srgbClr val="242424"/>
                </a:solidFill>
                <a:effectLst/>
                <a:latin typeface="source-serif-pro"/>
              </a:rPr>
              <a:t> databases with </a:t>
            </a:r>
            <a:r>
              <a:rPr lang="it-IT" b="0" i="0" dirty="0" err="1">
                <a:solidFill>
                  <a:srgbClr val="242424"/>
                </a:solidFill>
                <a:effectLst/>
                <a:latin typeface="source-serif-pro"/>
              </a:rPr>
              <a:t>noise</a:t>
            </a:r>
            <a:r>
              <a:rPr lang="it-IT" b="0" i="0" dirty="0">
                <a:solidFill>
                  <a:srgbClr val="242424"/>
                </a:solidFill>
                <a:effectLst/>
                <a:latin typeface="source-serif-pro"/>
              </a:rPr>
              <a:t>." KDD-96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79987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DBSCAN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387" indent="-533387">
              <a:spcBef>
                <a:spcPct val="20000"/>
              </a:spcBef>
            </a:pPr>
            <a:r>
              <a:rPr lang="en-US" altLang="en-US" dirty="0"/>
              <a:t>DBSCAN is a density-based algorithm.</a:t>
            </a:r>
          </a:p>
          <a:p>
            <a:pPr marL="990575" lvl="1" indent="-533387">
              <a:spcBef>
                <a:spcPct val="20000"/>
              </a:spcBef>
            </a:pPr>
            <a:r>
              <a:rPr lang="en-US" altLang="en-US" sz="2000" dirty="0"/>
              <a:t>Density = number of points within a specified radius (</a:t>
            </a:r>
            <a:r>
              <a:rPr lang="en-US" altLang="en-US" sz="2000" dirty="0" err="1"/>
              <a:t>Eps</a:t>
            </a:r>
            <a:r>
              <a:rPr lang="en-US" altLang="en-US" sz="2000" dirty="0"/>
              <a:t>)</a:t>
            </a:r>
          </a:p>
          <a:p>
            <a:pPr marL="2171646" lvl="4" indent="-342891"/>
            <a:endParaRPr lang="en-US" altLang="en-US" dirty="0"/>
          </a:p>
          <a:p>
            <a:pPr marL="990575" lvl="1" indent="-533387">
              <a:spcBef>
                <a:spcPct val="20000"/>
              </a:spcBef>
            </a:pPr>
            <a:r>
              <a:rPr lang="en-US" altLang="en-US" sz="2000" dirty="0"/>
              <a:t>A point is a </a:t>
            </a:r>
            <a:r>
              <a:rPr lang="en-US" altLang="en-US" sz="2000" dirty="0">
                <a:solidFill>
                  <a:srgbClr val="FF0000"/>
                </a:solidFill>
              </a:rPr>
              <a:t>core point</a:t>
            </a:r>
            <a:r>
              <a:rPr lang="en-US" altLang="en-US" sz="2000" dirty="0"/>
              <a:t> if it has at least a specified number of points (</a:t>
            </a:r>
            <a:r>
              <a:rPr lang="en-US" altLang="en-US" sz="2000" b="1" dirty="0" err="1"/>
              <a:t>MinPts</a:t>
            </a:r>
            <a:r>
              <a:rPr lang="en-US" altLang="en-US" sz="2000" dirty="0"/>
              <a:t>) within </a:t>
            </a:r>
            <a:r>
              <a:rPr lang="en-US" altLang="en-US" sz="2000" b="1" dirty="0"/>
              <a:t>Eps</a:t>
            </a:r>
            <a:r>
              <a:rPr lang="en-US" altLang="en-US" dirty="0"/>
              <a:t> (2 parameters)</a:t>
            </a:r>
          </a:p>
          <a:p>
            <a:pPr marL="1295368" lvl="2" indent="-380990"/>
            <a:r>
              <a:rPr lang="en-US" altLang="en-US" dirty="0"/>
              <a:t>These are points that are at the interior of a cluster</a:t>
            </a:r>
          </a:p>
          <a:p>
            <a:pPr marL="1295368" lvl="2" indent="-380990"/>
            <a:r>
              <a:rPr lang="en-US" altLang="en-US" dirty="0"/>
              <a:t>Counts the point itself</a:t>
            </a:r>
          </a:p>
          <a:p>
            <a:pPr marL="2171646" lvl="4" indent="-342891"/>
            <a:endParaRPr lang="en-US" altLang="en-US" dirty="0"/>
          </a:p>
          <a:p>
            <a:pPr marL="990575" lvl="1" indent="-533387">
              <a:spcBef>
                <a:spcPct val="20000"/>
              </a:spcBef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border point</a:t>
            </a:r>
            <a:r>
              <a:rPr lang="en-US" altLang="en-US" sz="2000" dirty="0"/>
              <a:t> is not a core point, but is in the neighborhood of a core point</a:t>
            </a:r>
          </a:p>
          <a:p>
            <a:pPr marL="2171646" lvl="4" indent="-342891"/>
            <a:endParaRPr lang="en-US" altLang="en-US" dirty="0"/>
          </a:p>
          <a:p>
            <a:pPr marL="990575" lvl="1" indent="-533387">
              <a:spcBef>
                <a:spcPct val="20000"/>
              </a:spcBef>
            </a:pPr>
            <a:r>
              <a:rPr lang="en-US" altLang="en-US" sz="2000" dirty="0"/>
              <a:t>A </a:t>
            </a:r>
            <a:r>
              <a:rPr lang="en-US" altLang="en-US" sz="2000" dirty="0">
                <a:solidFill>
                  <a:srgbClr val="FF0000"/>
                </a:solidFill>
              </a:rPr>
              <a:t>noise point</a:t>
            </a:r>
            <a:r>
              <a:rPr lang="en-US" altLang="en-US" sz="2000" dirty="0"/>
              <a:t> is any point that is not a core point or a border point </a:t>
            </a:r>
          </a:p>
          <a:p>
            <a:pPr marL="533387" indent="-533387">
              <a:spcBef>
                <a:spcPct val="20000"/>
              </a:spcBef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21228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33" dirty="0"/>
              <a:t>DBSCAN: Core, Border, and Noise Points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1295401"/>
            <a:ext cx="9144000" cy="49562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05000" y="1322834"/>
            <a:ext cx="16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MinPts</a:t>
            </a:r>
            <a:r>
              <a:rPr lang="en-US" sz="1600" dirty="0"/>
              <a:t> = 7</a:t>
            </a:r>
          </a:p>
        </p:txBody>
      </p:sp>
    </p:spTree>
    <p:extLst>
      <p:ext uri="{BB962C8B-B14F-4D97-AF65-F5344CB8AC3E}">
        <p14:creationId xmlns:p14="http://schemas.microsoft.com/office/powerpoint/2010/main" val="1934629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DBSCAN Algorithm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91564" y="1589530"/>
            <a:ext cx="6299200" cy="965200"/>
          </a:xfrm>
        </p:spPr>
        <p:txBody>
          <a:bodyPr>
            <a:normAutofit/>
          </a:bodyPr>
          <a:lstStyle/>
          <a:p>
            <a:endParaRPr lang="en-US" altLang="en-US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B95985C-D8AD-F46C-1602-F9AB72BF3D3A}"/>
              </a:ext>
            </a:extLst>
          </p:cNvPr>
          <p:cNvSpPr txBox="1"/>
          <p:nvPr/>
        </p:nvSpPr>
        <p:spPr>
          <a:xfrm>
            <a:off x="1088019" y="2554729"/>
            <a:ext cx="1034776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dirty="0"/>
              <a:t>1: </a:t>
            </a:r>
            <a:r>
              <a:rPr lang="it-IT" sz="3200" dirty="0"/>
              <a:t>Label </a:t>
            </a:r>
            <a:r>
              <a:rPr lang="it-IT" sz="3200" dirty="0" err="1"/>
              <a:t>all</a:t>
            </a:r>
            <a:r>
              <a:rPr lang="it-IT" sz="3200" dirty="0"/>
              <a:t> points </a:t>
            </a:r>
            <a:r>
              <a:rPr lang="it-IT" sz="3200" dirty="0" err="1"/>
              <a:t>as</a:t>
            </a:r>
            <a:r>
              <a:rPr lang="it-IT" sz="3200" dirty="0"/>
              <a:t> core, </a:t>
            </a:r>
            <a:r>
              <a:rPr lang="it-IT" sz="3200" dirty="0" err="1"/>
              <a:t>border</a:t>
            </a:r>
            <a:r>
              <a:rPr lang="it-IT" sz="3200" dirty="0"/>
              <a:t>, or </a:t>
            </a:r>
            <a:r>
              <a:rPr lang="it-IT" sz="3200" dirty="0" err="1"/>
              <a:t>noise</a:t>
            </a:r>
            <a:r>
              <a:rPr lang="it-IT" sz="3200" dirty="0"/>
              <a:t> points. </a:t>
            </a:r>
          </a:p>
          <a:p>
            <a:r>
              <a:rPr lang="it-IT" sz="3200" dirty="0"/>
              <a:t>2: Eliminate </a:t>
            </a:r>
            <a:r>
              <a:rPr lang="it-IT" sz="3200" dirty="0" err="1"/>
              <a:t>noise</a:t>
            </a:r>
            <a:r>
              <a:rPr lang="it-IT" sz="3200" dirty="0"/>
              <a:t> points. </a:t>
            </a:r>
          </a:p>
          <a:p>
            <a:r>
              <a:rPr lang="it-IT" sz="3200" dirty="0"/>
              <a:t>3: Put an </a:t>
            </a:r>
            <a:r>
              <a:rPr lang="it-IT" sz="3200" dirty="0" err="1"/>
              <a:t>edge</a:t>
            </a:r>
            <a:r>
              <a:rPr lang="it-IT" sz="3200" dirty="0"/>
              <a:t> </a:t>
            </a:r>
            <a:r>
              <a:rPr lang="it-IT" sz="3200" dirty="0" err="1"/>
              <a:t>between</a:t>
            </a:r>
            <a:r>
              <a:rPr lang="it-IT" sz="3200" dirty="0"/>
              <a:t> </a:t>
            </a:r>
            <a:r>
              <a:rPr lang="it-IT" sz="3200" dirty="0" err="1"/>
              <a:t>all</a:t>
            </a:r>
            <a:r>
              <a:rPr lang="it-IT" sz="3200" dirty="0"/>
              <a:t> core points </a:t>
            </a:r>
            <a:r>
              <a:rPr lang="it-IT" sz="3200" dirty="0" err="1"/>
              <a:t>within</a:t>
            </a:r>
            <a:r>
              <a:rPr lang="it-IT" sz="3200" dirty="0"/>
              <a:t> a </a:t>
            </a:r>
            <a:r>
              <a:rPr lang="it-IT" sz="3200" dirty="0" err="1"/>
              <a:t>distance</a:t>
            </a:r>
            <a:r>
              <a:rPr lang="it-IT" sz="3200" dirty="0"/>
              <a:t> Eps of </a:t>
            </a:r>
            <a:r>
              <a:rPr lang="it-IT" sz="3200" dirty="0" err="1"/>
              <a:t>each</a:t>
            </a:r>
            <a:r>
              <a:rPr lang="it-IT" sz="3200" dirty="0"/>
              <a:t> </a:t>
            </a:r>
            <a:r>
              <a:rPr lang="it-IT" sz="3200" dirty="0" err="1"/>
              <a:t>other</a:t>
            </a:r>
            <a:r>
              <a:rPr lang="it-IT" sz="3200" dirty="0"/>
              <a:t>. </a:t>
            </a:r>
          </a:p>
          <a:p>
            <a:r>
              <a:rPr lang="it-IT" sz="3200" dirty="0"/>
              <a:t>4: Make </a:t>
            </a:r>
            <a:r>
              <a:rPr lang="it-IT" sz="3200" dirty="0" err="1"/>
              <a:t>each</a:t>
            </a:r>
            <a:r>
              <a:rPr lang="it-IT" sz="3200" dirty="0"/>
              <a:t> group of </a:t>
            </a:r>
            <a:r>
              <a:rPr lang="it-IT" sz="3200" dirty="0" err="1"/>
              <a:t>connected</a:t>
            </a:r>
            <a:r>
              <a:rPr lang="it-IT" sz="3200" dirty="0"/>
              <a:t> core points </a:t>
            </a:r>
            <a:r>
              <a:rPr lang="it-IT" sz="3200" dirty="0" err="1"/>
              <a:t>into</a:t>
            </a:r>
            <a:r>
              <a:rPr lang="it-IT" sz="3200" dirty="0"/>
              <a:t> a separate cluster. </a:t>
            </a:r>
          </a:p>
          <a:p>
            <a:r>
              <a:rPr lang="it-IT" sz="3200" dirty="0"/>
              <a:t>5: </a:t>
            </a:r>
            <a:r>
              <a:rPr lang="it-IT" sz="3200" dirty="0" err="1"/>
              <a:t>Assign</a:t>
            </a:r>
            <a:r>
              <a:rPr lang="it-IT" sz="3200" dirty="0"/>
              <a:t> </a:t>
            </a:r>
            <a:r>
              <a:rPr lang="it-IT" sz="3200" dirty="0" err="1"/>
              <a:t>each</a:t>
            </a:r>
            <a:r>
              <a:rPr lang="it-IT" sz="3200" dirty="0"/>
              <a:t> </a:t>
            </a:r>
            <a:r>
              <a:rPr lang="it-IT" sz="3200" dirty="0" err="1"/>
              <a:t>border</a:t>
            </a:r>
            <a:r>
              <a:rPr lang="it-IT" sz="3200" dirty="0"/>
              <a:t> point to one of the clusters of </a:t>
            </a:r>
            <a:r>
              <a:rPr lang="it-IT" sz="3200" dirty="0" err="1"/>
              <a:t>its</a:t>
            </a:r>
            <a:r>
              <a:rPr lang="it-IT" sz="3200" dirty="0"/>
              <a:t> </a:t>
            </a:r>
            <a:r>
              <a:rPr lang="it-IT" sz="3200" dirty="0" err="1"/>
              <a:t>associated</a:t>
            </a:r>
            <a:r>
              <a:rPr lang="it-IT" sz="3200" dirty="0"/>
              <a:t> core </a:t>
            </a:r>
            <a:r>
              <a:rPr lang="it-IT" sz="3200" dirty="0" err="1"/>
              <a:t>p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783438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DBSCAN Algorithm</a:t>
            </a:r>
          </a:p>
        </p:txBody>
      </p:sp>
      <p:pic>
        <p:nvPicPr>
          <p:cNvPr id="83972" name="Picture 4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2239514"/>
            <a:ext cx="8026400" cy="4290757"/>
          </a:xfrm>
          <a:noFill/>
        </p:spPr>
      </p:pic>
      <p:sp>
        <p:nvSpPr>
          <p:cNvPr id="83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74313"/>
            <a:ext cx="6299200" cy="965200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Eliminate noise points</a:t>
            </a:r>
          </a:p>
          <a:p>
            <a:r>
              <a:rPr lang="en-US" altLang="en-US" dirty="0"/>
              <a:t>Perform clustering on the remaining points</a:t>
            </a:r>
          </a:p>
        </p:txBody>
      </p:sp>
    </p:spTree>
    <p:extLst>
      <p:ext uri="{BB962C8B-B14F-4D97-AF65-F5344CB8AC3E}">
        <p14:creationId xmlns:p14="http://schemas.microsoft.com/office/powerpoint/2010/main" val="3615988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DBSCAN: Core, Border and Noise Points</a:t>
            </a:r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371601"/>
            <a:ext cx="4872039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6" name="Text Box 4"/>
          <p:cNvSpPr txBox="1">
            <a:spLocks noChangeArrowheads="1"/>
          </p:cNvSpPr>
          <p:nvPr/>
        </p:nvSpPr>
        <p:spPr bwMode="auto">
          <a:xfrm>
            <a:off x="2514600" y="5029200"/>
            <a:ext cx="2514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4997" name="Text Box 5"/>
          <p:cNvSpPr txBox="1">
            <a:spLocks noChangeArrowheads="1"/>
          </p:cNvSpPr>
          <p:nvPr/>
        </p:nvSpPr>
        <p:spPr bwMode="auto">
          <a:xfrm>
            <a:off x="6781800" y="5105401"/>
            <a:ext cx="2514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 dirty="0"/>
              <a:t>Point types: </a:t>
            </a:r>
            <a:r>
              <a:rPr lang="en-US" altLang="en-US" sz="1800" dirty="0">
                <a:solidFill>
                  <a:srgbClr val="92D050"/>
                </a:solidFill>
              </a:rPr>
              <a:t>core</a:t>
            </a:r>
            <a:r>
              <a:rPr lang="en-US" altLang="en-US" sz="1800" dirty="0"/>
              <a:t>, </a:t>
            </a:r>
            <a:r>
              <a:rPr lang="en-US" altLang="en-US" sz="1800" dirty="0">
                <a:solidFill>
                  <a:srgbClr val="003399"/>
                </a:solidFill>
              </a:rPr>
              <a:t>border</a:t>
            </a:r>
            <a:r>
              <a:rPr lang="en-US" altLang="en-US" sz="1800" dirty="0"/>
              <a:t> and </a:t>
            </a:r>
            <a:r>
              <a:rPr lang="en-US" altLang="en-US" sz="1800" dirty="0">
                <a:solidFill>
                  <a:srgbClr val="FF0000"/>
                </a:solidFill>
              </a:rPr>
              <a:t>noise</a:t>
            </a:r>
          </a:p>
        </p:txBody>
      </p:sp>
      <p:pic>
        <p:nvPicPr>
          <p:cNvPr id="849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1" y="1447801"/>
            <a:ext cx="4872039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9" name="Text Box 7"/>
          <p:cNvSpPr txBox="1">
            <a:spLocks noChangeArrowheads="1"/>
          </p:cNvSpPr>
          <p:nvPr/>
        </p:nvSpPr>
        <p:spPr bwMode="auto">
          <a:xfrm>
            <a:off x="4267200" y="5943600"/>
            <a:ext cx="3276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Eps = 10, MinPts = 4</a:t>
            </a:r>
          </a:p>
        </p:txBody>
      </p:sp>
    </p:spTree>
    <p:extLst>
      <p:ext uri="{BB962C8B-B14F-4D97-AF65-F5344CB8AC3E}">
        <p14:creationId xmlns:p14="http://schemas.microsoft.com/office/powerpoint/2010/main" val="1949614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When DBSCAN Works Well</a:t>
            </a:r>
          </a:p>
        </p:txBody>
      </p:sp>
      <p:pic>
        <p:nvPicPr>
          <p:cNvPr id="86019" name="Picture 20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327152"/>
            <a:ext cx="4872039" cy="365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0" name="Text Box 2052"/>
          <p:cNvSpPr txBox="1">
            <a:spLocks noChangeArrowheads="1"/>
          </p:cNvSpPr>
          <p:nvPr/>
        </p:nvSpPr>
        <p:spPr bwMode="auto">
          <a:xfrm>
            <a:off x="2514600" y="4433888"/>
            <a:ext cx="2514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grpSp>
        <p:nvGrpSpPr>
          <p:cNvPr id="2" name="Group 2053"/>
          <p:cNvGrpSpPr>
            <a:grpSpLocks/>
          </p:cNvGrpSpPr>
          <p:nvPr/>
        </p:nvGrpSpPr>
        <p:grpSpPr bwMode="auto">
          <a:xfrm>
            <a:off x="5795964" y="1250951"/>
            <a:ext cx="4872037" cy="3875087"/>
            <a:chOff x="2691" y="633"/>
            <a:chExt cx="3069" cy="2441"/>
          </a:xfrm>
        </p:grpSpPr>
        <p:pic>
          <p:nvPicPr>
            <p:cNvPr id="86023" name="Picture 205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024" name="Text Box 2055"/>
            <p:cNvSpPr txBox="1">
              <a:spLocks noChangeArrowheads="1"/>
            </p:cNvSpPr>
            <p:nvPr/>
          </p:nvSpPr>
          <p:spPr bwMode="auto">
            <a:xfrm>
              <a:off x="3312" y="2841"/>
              <a:ext cx="158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Clusters</a:t>
              </a:r>
            </a:p>
          </p:txBody>
        </p:sp>
      </p:grpSp>
      <p:sp>
        <p:nvSpPr>
          <p:cNvPr id="1653768" name="Text Box 2056"/>
          <p:cNvSpPr txBox="1">
            <a:spLocks noChangeArrowheads="1"/>
          </p:cNvSpPr>
          <p:nvPr/>
        </p:nvSpPr>
        <p:spPr bwMode="auto">
          <a:xfrm>
            <a:off x="2133600" y="5392738"/>
            <a:ext cx="66294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Resistant to Noise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clusters of different shapes and sizes</a:t>
            </a:r>
          </a:p>
        </p:txBody>
      </p:sp>
    </p:spTree>
    <p:extLst>
      <p:ext uri="{BB962C8B-B14F-4D97-AF65-F5344CB8AC3E}">
        <p14:creationId xmlns:p14="http://schemas.microsoft.com/office/powerpoint/2010/main" val="88348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3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376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When DBSCAN Does NOT Work Well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2590800" y="3886200"/>
            <a:ext cx="2514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4572000" y="2228852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pic>
        <p:nvPicPr>
          <p:cNvPr id="87045" name="Picture 5" descr="fish_clus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24001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6" name="Rectangle 6"/>
          <p:cNvSpPr>
            <a:spLocks noChangeArrowheads="1"/>
          </p:cNvSpPr>
          <p:nvPr/>
        </p:nvSpPr>
        <p:spPr bwMode="auto">
          <a:xfrm>
            <a:off x="5154613" y="2789240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7047" name="Object 0"/>
          <p:cNvGraphicFramePr>
            <a:graphicFrameLocks noChangeAspect="1"/>
          </p:cNvGraphicFramePr>
          <p:nvPr/>
        </p:nvGraphicFramePr>
        <p:xfrm>
          <a:off x="6172201" y="1295401"/>
          <a:ext cx="3363913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686706" imgH="3177815" progId="MSPhotoEd.3">
                  <p:embed/>
                </p:oleObj>
              </mc:Choice>
              <mc:Fallback>
                <p:oleObj r:id="rId3" imgW="4686706" imgH="3177815" progId="MSPhotoEd.3">
                  <p:embed/>
                  <p:pic>
                    <p:nvPicPr>
                      <p:cNvPr id="87047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1" y="1295401"/>
                        <a:ext cx="3363913" cy="228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48" name="Rectangle 8"/>
          <p:cNvSpPr>
            <a:spLocks noChangeArrowheads="1"/>
          </p:cNvSpPr>
          <p:nvPr/>
        </p:nvSpPr>
        <p:spPr bwMode="auto">
          <a:xfrm>
            <a:off x="6324600" y="3581402"/>
            <a:ext cx="2514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sz="1600" b="0" dirty="0" err="1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=4, Eps=9.92 ).</a:t>
            </a:r>
            <a:r>
              <a:rPr lang="en-US" altLang="en-US" sz="900" b="0" dirty="0">
                <a:latin typeface="Times New Roman" pitchFamily="18" charset="0"/>
              </a:rPr>
              <a:t> </a:t>
            </a:r>
            <a:endParaRPr lang="en-US" altLang="en-US" sz="2400" b="0" dirty="0">
              <a:latin typeface="Times New Roman" pitchFamily="18" charset="0"/>
            </a:endParaRPr>
          </a:p>
        </p:txBody>
      </p:sp>
      <p:sp>
        <p:nvSpPr>
          <p:cNvPr id="87049" name="Rectangle 9"/>
          <p:cNvSpPr>
            <a:spLocks noChangeArrowheads="1"/>
          </p:cNvSpPr>
          <p:nvPr/>
        </p:nvSpPr>
        <p:spPr bwMode="auto">
          <a:xfrm>
            <a:off x="5154613" y="2789240"/>
            <a:ext cx="91440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87050" name="Object 1"/>
          <p:cNvGraphicFramePr>
            <a:graphicFrameLocks noChangeAspect="1"/>
          </p:cNvGraphicFramePr>
          <p:nvPr/>
        </p:nvGraphicFramePr>
        <p:xfrm>
          <a:off x="6248401" y="3962400"/>
          <a:ext cx="3363913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86706" imgH="3177815" progId="MSPhotoEd.3">
                  <p:embed/>
                </p:oleObj>
              </mc:Choice>
              <mc:Fallback>
                <p:oleObj r:id="rId5" imgW="4686706" imgH="3177815" progId="MSPhotoEd.3">
                  <p:embed/>
                  <p:pic>
                    <p:nvPicPr>
                      <p:cNvPr id="8705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1" y="3962400"/>
                        <a:ext cx="3363913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1" name="Rectangle 11"/>
          <p:cNvSpPr>
            <a:spLocks noChangeArrowheads="1"/>
          </p:cNvSpPr>
          <p:nvPr/>
        </p:nvSpPr>
        <p:spPr bwMode="auto">
          <a:xfrm>
            <a:off x="6248400" y="6248402"/>
            <a:ext cx="2514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en-US" sz="1600" b="0" dirty="0" err="1">
                <a:latin typeface="Times New Roman" pitchFamily="18" charset="0"/>
                <a:cs typeface="Times New Roman" pitchFamily="18" charset="0"/>
              </a:rPr>
              <a:t>MinPts</a:t>
            </a:r>
            <a:r>
              <a:rPr lang="en-US" altLang="en-US" sz="1600" b="0" dirty="0">
                <a:latin typeface="Times New Roman" pitchFamily="18" charset="0"/>
                <a:cs typeface="Times New Roman" pitchFamily="18" charset="0"/>
              </a:rPr>
              <a:t>=4, Eps=9.75)</a:t>
            </a:r>
          </a:p>
        </p:txBody>
      </p:sp>
      <p:sp>
        <p:nvSpPr>
          <p:cNvPr id="1654796" name="Text Box 12"/>
          <p:cNvSpPr txBox="1">
            <a:spLocks noChangeArrowheads="1"/>
          </p:cNvSpPr>
          <p:nvPr/>
        </p:nvSpPr>
        <p:spPr bwMode="auto">
          <a:xfrm>
            <a:off x="2133600" y="5392738"/>
            <a:ext cx="35052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Varying densities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High-dimensional data</a:t>
            </a:r>
          </a:p>
        </p:txBody>
      </p:sp>
    </p:spTree>
    <p:extLst>
      <p:ext uri="{BB962C8B-B14F-4D97-AF65-F5344CB8AC3E}">
        <p14:creationId xmlns:p14="http://schemas.microsoft.com/office/powerpoint/2010/main" val="1285480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4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4796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DBSCAN: Determining EPS and </a:t>
            </a:r>
            <a:r>
              <a:rPr lang="en-US" altLang="en-US" sz="4267" dirty="0" err="1"/>
              <a:t>MinPts</a:t>
            </a:r>
            <a:endParaRPr lang="en-US" altLang="en-US" sz="4267" dirty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533387" indent="-533387">
              <a:spcBef>
                <a:spcPct val="20000"/>
              </a:spcBef>
            </a:pPr>
            <a:r>
              <a:rPr lang="en-US" altLang="en-US" sz="2400"/>
              <a:t>Idea is that for points in a cluster, their k</a:t>
            </a:r>
            <a:r>
              <a:rPr lang="en-US" altLang="en-US" sz="2400" baseline="30000"/>
              <a:t>th</a:t>
            </a:r>
            <a:r>
              <a:rPr lang="en-US" altLang="en-US" sz="2400"/>
              <a:t> nearest neighbors are at roughly the same distance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400"/>
              <a:t>Noise points have the k</a:t>
            </a:r>
            <a:r>
              <a:rPr lang="en-US" altLang="en-US" sz="2400" baseline="30000"/>
              <a:t>th</a:t>
            </a:r>
            <a:r>
              <a:rPr lang="en-US" altLang="en-US" sz="2400"/>
              <a:t> nearest neighbor at farther distance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400"/>
              <a:t>So, plot sorted distance of every point to its k</a:t>
            </a:r>
            <a:r>
              <a:rPr lang="en-US" altLang="en-US" sz="2400" baseline="30000"/>
              <a:t>th</a:t>
            </a:r>
            <a:r>
              <a:rPr lang="en-US" altLang="en-US" sz="2400"/>
              <a:t> nearest neighbor</a:t>
            </a:r>
            <a:endParaRPr lang="en-US" altLang="en-US"/>
          </a:p>
        </p:txBody>
      </p:sp>
      <p:pic>
        <p:nvPicPr>
          <p:cNvPr id="880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505200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3260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1A6DCB-3B1B-D9DA-CD2F-E073CFBA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DBSCAN: resources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03813D-6ADD-60FE-4501-6BCAFBB9F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hlinkClick r:id="rId2"/>
              </a:rPr>
              <a:t>https://medium.com/@1rn22cd100.sujithg/dbscan-the-density-based-clustering-algorithm-that-thinks-outside-the-box-80b6837cad67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10575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4BE8E7-3D2D-59AF-3BE8-5C3B5AB2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945" y="120028"/>
            <a:ext cx="10515600" cy="1325563"/>
          </a:xfrm>
        </p:spPr>
        <p:txBody>
          <a:bodyPr>
            <a:normAutofit/>
          </a:bodyPr>
          <a:lstStyle/>
          <a:p>
            <a:r>
              <a:rPr lang="it-IT" b="0" dirty="0"/>
              <a:t>DBSCAN in domains with </a:t>
            </a:r>
            <a:r>
              <a:rPr lang="it-IT" b="0" dirty="0" err="1"/>
              <a:t>periodic</a:t>
            </a:r>
            <a:r>
              <a:rPr lang="it-IT" b="0" dirty="0"/>
              <a:t> </a:t>
            </a:r>
            <a:r>
              <a:rPr lang="it-IT" b="0" dirty="0" err="1"/>
              <a:t>boundary</a:t>
            </a:r>
            <a:r>
              <a:rPr lang="it-IT" b="0" dirty="0"/>
              <a:t> </a:t>
            </a:r>
            <a:r>
              <a:rPr lang="it-IT" b="0" dirty="0" err="1"/>
              <a:t>conditions</a:t>
            </a:r>
            <a:endParaRPr lang="it-IT" dirty="0"/>
          </a:p>
        </p:txBody>
      </p:sp>
      <p:pic>
        <p:nvPicPr>
          <p:cNvPr id="5" name="Segnaposto contenuto 4" descr="Immagine che contiene diagramma, mappa, linea, design&#10;&#10;Il contenuto generato dall'IA potrebbe non essere corretto.">
            <a:extLst>
              <a:ext uri="{FF2B5EF4-FFF2-40B4-BE49-F238E27FC236}">
                <a16:creationId xmlns:a16="http://schemas.microsoft.com/office/drawing/2014/main" id="{E93A7A78-A448-6219-3839-7683BEC30A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95067" y="1542821"/>
            <a:ext cx="6014090" cy="4351338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46B5E16-6E49-D53F-6D04-D46D3D562D2D}"/>
              </a:ext>
            </a:extLst>
          </p:cNvPr>
          <p:cNvSpPr txBox="1"/>
          <p:nvPr/>
        </p:nvSpPr>
        <p:spPr>
          <a:xfrm>
            <a:off x="1701538" y="1364233"/>
            <a:ext cx="60991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dirty="0" err="1">
                <a:solidFill>
                  <a:srgbClr val="000000"/>
                </a:solidFill>
                <a:effectLst/>
                <a:latin typeface="rival-sans"/>
              </a:rPr>
              <a:t>example</a:t>
            </a:r>
            <a:r>
              <a:rPr lang="it-IT" b="0" i="0" dirty="0">
                <a:solidFill>
                  <a:srgbClr val="000000"/>
                </a:solidFill>
                <a:effectLst/>
                <a:latin typeface="rival-sans"/>
              </a:rPr>
              <a:t>, in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rival-sans"/>
              </a:rPr>
              <a:t>fluid</a:t>
            </a:r>
            <a:r>
              <a:rPr lang="it-IT" b="0" i="0" dirty="0">
                <a:solidFill>
                  <a:srgbClr val="000000"/>
                </a:solidFill>
                <a:effectLst/>
                <a:latin typeface="rival-sans"/>
              </a:rPr>
              <a:t> dynamics or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rival-sans"/>
              </a:rPr>
              <a:t>molecular</a:t>
            </a:r>
            <a:r>
              <a:rPr lang="it-IT" b="0" i="0" dirty="0">
                <a:solidFill>
                  <a:srgbClr val="000000"/>
                </a:solidFill>
                <a:effectLst/>
                <a:latin typeface="rival-sans"/>
              </a:rPr>
              <a:t> dynamics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rival-sans"/>
              </a:rPr>
              <a:t>simulations</a:t>
            </a:r>
            <a:r>
              <a:rPr lang="it-IT" b="0" i="0" dirty="0">
                <a:solidFill>
                  <a:srgbClr val="000000"/>
                </a:solidFill>
                <a:effectLst/>
                <a:latin typeface="rival-sans"/>
              </a:rPr>
              <a:t> [</a:t>
            </a:r>
            <a:r>
              <a:rPr lang="it-IT" b="0" i="0" u="sng" dirty="0">
                <a:solidFill>
                  <a:srgbClr val="1B7CAC"/>
                </a:solidFill>
                <a:effectLst/>
                <a:latin typeface="rival-sans"/>
                <a:hlinkClick r:id="rId3"/>
              </a:rPr>
              <a:t>7</a:t>
            </a:r>
            <a:r>
              <a:rPr lang="it-IT" b="0" i="0" dirty="0">
                <a:solidFill>
                  <a:srgbClr val="000000"/>
                </a:solidFill>
                <a:effectLst/>
                <a:latin typeface="rival-sans"/>
              </a:rPr>
              <a:t>]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rival-sans"/>
              </a:rPr>
              <a:t>where</a:t>
            </a:r>
            <a:r>
              <a:rPr lang="it-IT" b="0" i="0" dirty="0">
                <a:solidFill>
                  <a:srgbClr val="000000"/>
                </a:solidFill>
                <a:effectLst/>
                <a:latin typeface="rival-sans"/>
              </a:rPr>
              <a:t> the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rival-sans"/>
              </a:rPr>
              <a:t>space</a:t>
            </a:r>
            <a:r>
              <a:rPr lang="it-IT" b="0" i="0" dirty="0">
                <a:solidFill>
                  <a:srgbClr val="000000"/>
                </a:solidFill>
                <a:effectLst/>
                <a:latin typeface="rival-sans"/>
              </a:rPr>
              <a:t> of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rival-sans"/>
              </a:rPr>
              <a:t>movement</a:t>
            </a:r>
            <a:r>
              <a:rPr lang="it-IT" b="0" i="0" dirty="0">
                <a:solidFill>
                  <a:srgbClr val="000000"/>
                </a:solidFill>
                <a:effectLst/>
                <a:latin typeface="rival-sans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rival-sans"/>
              </a:rPr>
              <a:t>has</a:t>
            </a:r>
            <a:r>
              <a:rPr lang="it-IT" b="0" i="0" dirty="0">
                <a:solidFill>
                  <a:srgbClr val="000000"/>
                </a:solidFill>
                <a:effectLst/>
                <a:latin typeface="rival-sans"/>
              </a:rPr>
              <a:t> </a:t>
            </a:r>
            <a:r>
              <a:rPr lang="it-IT" b="0" i="0" dirty="0" err="1">
                <a:solidFill>
                  <a:srgbClr val="000000"/>
                </a:solidFill>
                <a:effectLst/>
                <a:latin typeface="rival-sans"/>
              </a:rPr>
              <a:t>boundaries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6842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10D47D-9E26-6441-A2CC-54FCE5B4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AE03751-BFB8-B04F-BE03-8BFDBA5B5E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88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Hierarchical Clustering 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Produces a set of nested clusters organized as a hierarchical tree</a:t>
            </a:r>
          </a:p>
          <a:p>
            <a:r>
              <a:rPr lang="en-US" altLang="en-US"/>
              <a:t>Can be visualized as a dendrogram</a:t>
            </a:r>
          </a:p>
          <a:p>
            <a:pPr lvl="1"/>
            <a:r>
              <a:rPr lang="en-US" altLang="en-US"/>
              <a:t>A tree like diagram that records the sequences of merges or splits</a:t>
            </a:r>
          </a:p>
        </p:txBody>
      </p:sp>
      <p:pic>
        <p:nvPicPr>
          <p:cNvPr id="5120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1" y="3859213"/>
            <a:ext cx="34591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6781800" y="3629026"/>
          <a:ext cx="2319339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3163511" imgH="3230582" progId="Visio.Drawing.6">
                  <p:embed/>
                </p:oleObj>
              </mc:Choice>
              <mc:Fallback>
                <p:oleObj name="VISIO" r:id="rId3" imgW="3163511" imgH="3230582" progId="Visio.Drawing.6">
                  <p:embed/>
                  <p:pic>
                    <p:nvPicPr>
                      <p:cNvPr id="512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3629026"/>
                        <a:ext cx="2319339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073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1C17-CCF2-ADA1-0B52-2517BBF8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 dirty="0"/>
              <a:t>Dendrograms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500E5-E351-0E2A-D745-DECF7EB51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15" y="1432084"/>
            <a:ext cx="10809790" cy="4760371"/>
          </a:xfrm>
        </p:spPr>
        <p:txBody>
          <a:bodyPr/>
          <a:lstStyle/>
          <a:p>
            <a:endParaRPr lang="en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B111CE-29F3-9184-D2C8-D13F7531F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20" y="1432084"/>
            <a:ext cx="9962435" cy="514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17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1C17-CCF2-ADA1-0B52-2517BBF8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Dendrograms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500E5-E351-0E2A-D745-DECF7EB51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C6BF39-A42F-A0A3-C37E-CECEC52F6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70" y="1690688"/>
            <a:ext cx="10515600" cy="464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84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81C17-CCF2-ADA1-0B52-2517BBF8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T"/>
              <a:t>Dendrograms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500E5-E351-0E2A-D745-DECF7EB51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T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08C1D-7434-BD45-301A-2854F28D4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77" y="1825625"/>
            <a:ext cx="10987645" cy="4120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47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Strengths of Hierarchical Clustering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Do not have to assume any particular number of clusters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Any desired number of clusters can be obtained by ‘cutting’ the dendrogram at the proper level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They may correspond to meaningful taxonomies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Example in biological sciences (e.g., animal kingdom, phylogeny reconstruction, …)</a:t>
            </a:r>
          </a:p>
        </p:txBody>
      </p:sp>
    </p:spTree>
    <p:extLst>
      <p:ext uri="{BB962C8B-B14F-4D97-AF65-F5344CB8AC3E}">
        <p14:creationId xmlns:p14="http://schemas.microsoft.com/office/powerpoint/2010/main" val="4084027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Two main types of hierarchical clustering</a:t>
            </a:r>
          </a:p>
          <a:p>
            <a:pPr lvl="1"/>
            <a:r>
              <a:rPr lang="en-US" altLang="en-US" sz="2000" dirty="0"/>
              <a:t>Agglomerative:  </a:t>
            </a:r>
          </a:p>
          <a:p>
            <a:pPr marL="1146146" lvl="2" indent="-231769"/>
            <a:r>
              <a:rPr lang="en-US" altLang="en-US" sz="1800" dirty="0"/>
              <a:t>Start with the points as individual clusters</a:t>
            </a:r>
          </a:p>
          <a:p>
            <a:pPr marL="1146146" lvl="2" indent="-231769"/>
            <a:r>
              <a:rPr lang="en-US" altLang="en-US" sz="1800" dirty="0"/>
              <a:t>At each step, merge the closest pair of clusters until only one cluster (or k clusters) left</a:t>
            </a:r>
          </a:p>
          <a:p>
            <a:pPr lvl="4"/>
            <a:endParaRPr lang="en-US" altLang="en-US" dirty="0"/>
          </a:p>
          <a:p>
            <a:pPr lvl="1"/>
            <a:r>
              <a:rPr lang="en-US" altLang="en-US" sz="2000" dirty="0"/>
              <a:t>Divisive:  </a:t>
            </a:r>
          </a:p>
          <a:p>
            <a:pPr marL="1146146" lvl="2" indent="-231769"/>
            <a:r>
              <a:rPr lang="en-US" altLang="en-US" sz="1800" dirty="0"/>
              <a:t>Start with one, all-inclusive cluster </a:t>
            </a:r>
          </a:p>
          <a:p>
            <a:pPr marL="1146146" lvl="2" indent="-231769"/>
            <a:r>
              <a:rPr lang="en-US" altLang="en-US" sz="1800" dirty="0"/>
              <a:t>At each step, split a cluster until each cluster contains an individual point (or there are k clusters)</a:t>
            </a:r>
          </a:p>
          <a:p>
            <a:pPr lvl="4"/>
            <a:endParaRPr lang="en-US" altLang="en-US" dirty="0"/>
          </a:p>
          <a:p>
            <a:r>
              <a:rPr lang="en-US" altLang="en-US" sz="2400" dirty="0"/>
              <a:t>Traditional hierarchical algorithms use a similarity or distance matrix</a:t>
            </a:r>
          </a:p>
          <a:p>
            <a:pPr lvl="1"/>
            <a:r>
              <a:rPr lang="en-US" altLang="en-US" sz="2000" dirty="0"/>
              <a:t>Merge or split one cluster at a time</a:t>
            </a:r>
          </a:p>
          <a:p>
            <a:pPr lvl="4"/>
            <a:endParaRPr lang="en-US" altLang="en-US" sz="800" dirty="0"/>
          </a:p>
        </p:txBody>
      </p:sp>
    </p:spTree>
    <p:extLst>
      <p:ext uri="{BB962C8B-B14F-4D97-AF65-F5344CB8AC3E}">
        <p14:creationId xmlns:p14="http://schemas.microsoft.com/office/powerpoint/2010/main" val="2578856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Agglomerative Clustering Algorithm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33387" indent="-533387">
              <a:spcBef>
                <a:spcPct val="20000"/>
              </a:spcBef>
            </a:pPr>
            <a:r>
              <a:rPr lang="en-US" altLang="en-US" sz="2400" dirty="0"/>
              <a:t>Most popular hierarchical clustering technique</a:t>
            </a:r>
          </a:p>
          <a:p>
            <a:pPr marL="2209745" lvl="4" indent="-380990"/>
            <a:endParaRPr lang="en-US" altLang="en-US" sz="800" dirty="0"/>
          </a:p>
          <a:p>
            <a:pPr marL="533387" indent="-533387">
              <a:spcBef>
                <a:spcPct val="20000"/>
              </a:spcBef>
            </a:pPr>
            <a:r>
              <a:rPr lang="en-US" altLang="en-US" sz="2400" dirty="0"/>
              <a:t>Basic algorithm is straightforward</a:t>
            </a:r>
          </a:p>
          <a:p>
            <a:pPr marL="990575" lvl="1" indent="-533387"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000" dirty="0"/>
              <a:t>Compute the proximity matrix</a:t>
            </a:r>
          </a:p>
          <a:p>
            <a:pPr marL="990575" lvl="1" indent="-533387"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000" dirty="0"/>
              <a:t>Let each data point be a cluster</a:t>
            </a:r>
          </a:p>
          <a:p>
            <a:pPr marL="990575" lvl="1" indent="-533387"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000" b="1" dirty="0"/>
              <a:t>Repeat</a:t>
            </a:r>
          </a:p>
          <a:p>
            <a:pPr marL="990575" lvl="1" indent="-533387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altLang="en-US" sz="2000" dirty="0"/>
              <a:t>	Merge the two closest clusters</a:t>
            </a:r>
          </a:p>
          <a:p>
            <a:pPr marL="990575" lvl="1" indent="-533387"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 altLang="en-US" sz="2000" dirty="0"/>
              <a:t>	Update the proximity matrix </a:t>
            </a:r>
            <a:r>
              <a:rPr lang="en-US" altLang="en-US" sz="2000" b="1" dirty="0"/>
              <a:t>(merge two columns and two rows also in the </a:t>
            </a:r>
            <a:r>
              <a:rPr lang="en-US" altLang="en-US" sz="2000" b="1" dirty="0" err="1"/>
              <a:t>dendogram</a:t>
            </a:r>
            <a:r>
              <a:rPr lang="en-US" altLang="en-US" sz="2000" b="1" dirty="0"/>
              <a:t>)</a:t>
            </a:r>
          </a:p>
          <a:p>
            <a:pPr marL="990575" lvl="1" indent="-533387">
              <a:spcBef>
                <a:spcPct val="20000"/>
              </a:spcBef>
              <a:buFont typeface="Arial" charset="0"/>
              <a:buAutoNum type="arabicPeriod"/>
            </a:pPr>
            <a:r>
              <a:rPr lang="en-US" altLang="en-US" sz="2000" b="1" dirty="0"/>
              <a:t>Until</a:t>
            </a:r>
            <a:r>
              <a:rPr lang="en-US" altLang="en-US" sz="2000" dirty="0"/>
              <a:t> only a single cluster remains</a:t>
            </a:r>
          </a:p>
          <a:p>
            <a:pPr marL="990575" lvl="1" indent="-533387">
              <a:spcBef>
                <a:spcPct val="20000"/>
              </a:spcBef>
              <a:buNone/>
            </a:pPr>
            <a:r>
              <a:rPr lang="en-US" altLang="en-US" sz="1000" dirty="0"/>
              <a:t> </a:t>
            </a:r>
          </a:p>
          <a:p>
            <a:pPr marL="533387" indent="-533387">
              <a:spcBef>
                <a:spcPct val="20000"/>
              </a:spcBef>
            </a:pPr>
            <a:r>
              <a:rPr lang="en-US" altLang="en-US" sz="2400" dirty="0"/>
              <a:t>Key operation is the computation of the proximity of two clusters</a:t>
            </a:r>
          </a:p>
          <a:p>
            <a:pPr marL="990575" lvl="1" indent="-533387">
              <a:spcBef>
                <a:spcPct val="20000"/>
              </a:spcBef>
            </a:pPr>
            <a:r>
              <a:rPr lang="en-US" altLang="en-US" sz="2000" dirty="0"/>
              <a:t>Different approaches to defining the distance between clusters distinguish the different algorithms</a:t>
            </a:r>
          </a:p>
        </p:txBody>
      </p:sp>
    </p:spTree>
    <p:extLst>
      <p:ext uri="{BB962C8B-B14F-4D97-AF65-F5344CB8AC3E}">
        <p14:creationId xmlns:p14="http://schemas.microsoft.com/office/powerpoint/2010/main" val="34727810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Starting Situation </a:t>
            </a:r>
          </a:p>
        </p:txBody>
      </p:sp>
      <p:graphicFrame>
        <p:nvGraphicFramePr>
          <p:cNvPr id="55314" name="Object 42"/>
          <p:cNvGraphicFramePr>
            <a:graphicFrameLocks noGrp="1" noChangeAspect="1"/>
          </p:cNvGraphicFramePr>
          <p:nvPr>
            <p:ph idx="1"/>
          </p:nvPr>
        </p:nvGraphicFramePr>
        <p:xfrm>
          <a:off x="6098118" y="5611285"/>
          <a:ext cx="4049183" cy="713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949438" imgH="1399827" progId="Visio.Drawing.6">
                  <p:embed/>
                </p:oleObj>
              </mc:Choice>
              <mc:Fallback>
                <p:oleObj name="Visio" r:id="rId2" imgW="7949438" imgH="1399827" progId="Visio.Drawing.6">
                  <p:embed/>
                  <p:pic>
                    <p:nvPicPr>
                      <p:cNvPr id="55314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8118" y="5611285"/>
                        <a:ext cx="4049183" cy="713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77819"/>
            <a:ext cx="10363200" cy="5181600"/>
          </a:xfrm>
        </p:spPr>
        <p:txBody>
          <a:bodyPr/>
          <a:lstStyle/>
          <a:p>
            <a:r>
              <a:rPr lang="en-US" altLang="en-US" dirty="0"/>
              <a:t>Start with clusters of individual points and a proximity matrix</a:t>
            </a:r>
          </a:p>
          <a:p>
            <a:pPr lvl="1"/>
            <a:endParaRPr lang="en-US" altLang="en-US" dirty="0"/>
          </a:p>
        </p:txBody>
      </p:sp>
      <p:sp>
        <p:nvSpPr>
          <p:cNvPr id="55300" name="Oval 4"/>
          <p:cNvSpPr>
            <a:spLocks noChangeArrowheads="1"/>
          </p:cNvSpPr>
          <p:nvPr/>
        </p:nvSpPr>
        <p:spPr bwMode="auto">
          <a:xfrm>
            <a:off x="2209800" y="44037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1" name="Oval 5"/>
          <p:cNvSpPr>
            <a:spLocks noChangeArrowheads="1"/>
          </p:cNvSpPr>
          <p:nvPr/>
        </p:nvSpPr>
        <p:spPr bwMode="auto">
          <a:xfrm>
            <a:off x="4267200" y="5470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2" name="Oval 6"/>
          <p:cNvSpPr>
            <a:spLocks noChangeArrowheads="1"/>
          </p:cNvSpPr>
          <p:nvPr/>
        </p:nvSpPr>
        <p:spPr bwMode="auto">
          <a:xfrm>
            <a:off x="3124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3" name="Oval 7"/>
          <p:cNvSpPr>
            <a:spLocks noChangeArrowheads="1"/>
          </p:cNvSpPr>
          <p:nvPr/>
        </p:nvSpPr>
        <p:spPr bwMode="auto">
          <a:xfrm>
            <a:off x="2971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4" name="Oval 8"/>
          <p:cNvSpPr>
            <a:spLocks noChangeArrowheads="1"/>
          </p:cNvSpPr>
          <p:nvPr/>
        </p:nvSpPr>
        <p:spPr bwMode="auto">
          <a:xfrm>
            <a:off x="4648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5" name="Oval 9"/>
          <p:cNvSpPr>
            <a:spLocks noChangeArrowheads="1"/>
          </p:cNvSpPr>
          <p:nvPr/>
        </p:nvSpPr>
        <p:spPr bwMode="auto">
          <a:xfrm>
            <a:off x="3124200" y="2955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6" name="Oval 10"/>
          <p:cNvSpPr>
            <a:spLocks noChangeArrowheads="1"/>
          </p:cNvSpPr>
          <p:nvPr/>
        </p:nvSpPr>
        <p:spPr bwMode="auto">
          <a:xfrm>
            <a:off x="1981200" y="4708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7" name="Oval 11"/>
          <p:cNvSpPr>
            <a:spLocks noChangeArrowheads="1"/>
          </p:cNvSpPr>
          <p:nvPr/>
        </p:nvSpPr>
        <p:spPr bwMode="auto">
          <a:xfrm>
            <a:off x="3352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8" name="Oval 12"/>
          <p:cNvSpPr>
            <a:spLocks noChangeArrowheads="1"/>
          </p:cNvSpPr>
          <p:nvPr/>
        </p:nvSpPr>
        <p:spPr bwMode="auto">
          <a:xfrm>
            <a:off x="4648200" y="5089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09" name="Oval 13"/>
          <p:cNvSpPr>
            <a:spLocks noChangeArrowheads="1"/>
          </p:cNvSpPr>
          <p:nvPr/>
        </p:nvSpPr>
        <p:spPr bwMode="auto">
          <a:xfrm>
            <a:off x="3657600" y="3032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10" name="Oval 14"/>
          <p:cNvSpPr>
            <a:spLocks noChangeArrowheads="1"/>
          </p:cNvSpPr>
          <p:nvPr/>
        </p:nvSpPr>
        <p:spPr bwMode="auto">
          <a:xfrm>
            <a:off x="4724400" y="4098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5311" name="Oval 15"/>
          <p:cNvSpPr>
            <a:spLocks noChangeArrowheads="1"/>
          </p:cNvSpPr>
          <p:nvPr/>
        </p:nvSpPr>
        <p:spPr bwMode="auto">
          <a:xfrm>
            <a:off x="5257800" y="3184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grpSp>
        <p:nvGrpSpPr>
          <p:cNvPr id="55312" name="Group 16"/>
          <p:cNvGrpSpPr>
            <a:grpSpLocks/>
          </p:cNvGrpSpPr>
          <p:nvPr/>
        </p:nvGrpSpPr>
        <p:grpSpPr bwMode="auto">
          <a:xfrm>
            <a:off x="6781800" y="1903414"/>
            <a:ext cx="3200400" cy="2796013"/>
            <a:chOff x="3456" y="1622"/>
            <a:chExt cx="2160" cy="2063"/>
          </a:xfrm>
        </p:grpSpPr>
        <p:sp>
          <p:nvSpPr>
            <p:cNvPr id="55315" name="Line 17"/>
            <p:cNvSpPr>
              <a:spLocks noChangeShapeType="1"/>
            </p:cNvSpPr>
            <p:nvPr/>
          </p:nvSpPr>
          <p:spPr bwMode="auto">
            <a:xfrm>
              <a:off x="369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16" name="Line 18"/>
            <p:cNvSpPr>
              <a:spLocks noChangeShapeType="1"/>
            </p:cNvSpPr>
            <p:nvPr/>
          </p:nvSpPr>
          <p:spPr bwMode="auto">
            <a:xfrm>
              <a:off x="3504" y="1814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17" name="Line 19"/>
            <p:cNvSpPr>
              <a:spLocks noChangeShapeType="1"/>
            </p:cNvSpPr>
            <p:nvPr/>
          </p:nvSpPr>
          <p:spPr bwMode="auto">
            <a:xfrm>
              <a:off x="4012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18" name="Line 20"/>
            <p:cNvSpPr>
              <a:spLocks noChangeShapeType="1"/>
            </p:cNvSpPr>
            <p:nvPr/>
          </p:nvSpPr>
          <p:spPr bwMode="auto">
            <a:xfrm>
              <a:off x="4329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19" name="Line 21"/>
            <p:cNvSpPr>
              <a:spLocks noChangeShapeType="1"/>
            </p:cNvSpPr>
            <p:nvPr/>
          </p:nvSpPr>
          <p:spPr bwMode="auto">
            <a:xfrm>
              <a:off x="464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20" name="Line 22"/>
            <p:cNvSpPr>
              <a:spLocks noChangeShapeType="1"/>
            </p:cNvSpPr>
            <p:nvPr/>
          </p:nvSpPr>
          <p:spPr bwMode="auto">
            <a:xfrm>
              <a:off x="4963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21" name="Line 23"/>
            <p:cNvSpPr>
              <a:spLocks noChangeShapeType="1"/>
            </p:cNvSpPr>
            <p:nvPr/>
          </p:nvSpPr>
          <p:spPr bwMode="auto">
            <a:xfrm>
              <a:off x="5280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22" name="Line 24"/>
            <p:cNvSpPr>
              <a:spLocks noChangeShapeType="1"/>
            </p:cNvSpPr>
            <p:nvPr/>
          </p:nvSpPr>
          <p:spPr bwMode="auto">
            <a:xfrm>
              <a:off x="3504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23" name="Line 25"/>
            <p:cNvSpPr>
              <a:spLocks noChangeShapeType="1"/>
            </p:cNvSpPr>
            <p:nvPr/>
          </p:nvSpPr>
          <p:spPr bwMode="auto">
            <a:xfrm>
              <a:off x="3504" y="23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24" name="Line 26"/>
            <p:cNvSpPr>
              <a:spLocks noChangeShapeType="1"/>
            </p:cNvSpPr>
            <p:nvPr/>
          </p:nvSpPr>
          <p:spPr bwMode="auto">
            <a:xfrm>
              <a:off x="3504" y="25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25" name="Line 27"/>
            <p:cNvSpPr>
              <a:spLocks noChangeShapeType="1"/>
            </p:cNvSpPr>
            <p:nvPr/>
          </p:nvSpPr>
          <p:spPr bwMode="auto">
            <a:xfrm>
              <a:off x="3504" y="28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26" name="Line 28"/>
            <p:cNvSpPr>
              <a:spLocks noChangeShapeType="1"/>
            </p:cNvSpPr>
            <p:nvPr/>
          </p:nvSpPr>
          <p:spPr bwMode="auto">
            <a:xfrm>
              <a:off x="3504" y="311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5327" name="Text Box 29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5328" name="Text Box 30"/>
            <p:cNvSpPr txBox="1">
              <a:spLocks noChangeArrowheads="1"/>
            </p:cNvSpPr>
            <p:nvPr/>
          </p:nvSpPr>
          <p:spPr bwMode="auto">
            <a:xfrm>
              <a:off x="3456" y="2390"/>
              <a:ext cx="3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5329" name="Text Box 31"/>
            <p:cNvSpPr txBox="1">
              <a:spLocks noChangeArrowheads="1"/>
            </p:cNvSpPr>
            <p:nvPr/>
          </p:nvSpPr>
          <p:spPr bwMode="auto">
            <a:xfrm>
              <a:off x="3456" y="2917"/>
              <a:ext cx="3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5330" name="Text Box 32"/>
            <p:cNvSpPr txBox="1">
              <a:spLocks noChangeArrowheads="1"/>
            </p:cNvSpPr>
            <p:nvPr/>
          </p:nvSpPr>
          <p:spPr bwMode="auto">
            <a:xfrm>
              <a:off x="3456" y="2679"/>
              <a:ext cx="3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5331" name="Text Box 33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5332" name="Text Box 34"/>
            <p:cNvSpPr txBox="1">
              <a:spLocks noChangeArrowheads="1"/>
            </p:cNvSpPr>
            <p:nvPr/>
          </p:nvSpPr>
          <p:spPr bwMode="auto">
            <a:xfrm>
              <a:off x="3744" y="1622"/>
              <a:ext cx="337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5333" name="Text Box 35"/>
            <p:cNvSpPr txBox="1">
              <a:spLocks noChangeArrowheads="1"/>
            </p:cNvSpPr>
            <p:nvPr/>
          </p:nvSpPr>
          <p:spPr bwMode="auto">
            <a:xfrm>
              <a:off x="4032" y="1622"/>
              <a:ext cx="3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5334" name="Text Box 36"/>
            <p:cNvSpPr txBox="1">
              <a:spLocks noChangeArrowheads="1"/>
            </p:cNvSpPr>
            <p:nvPr/>
          </p:nvSpPr>
          <p:spPr bwMode="auto">
            <a:xfrm>
              <a:off x="4368" y="1622"/>
              <a:ext cx="3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5335" name="Text Box 37"/>
            <p:cNvSpPr txBox="1">
              <a:spLocks noChangeArrowheads="1"/>
            </p:cNvSpPr>
            <p:nvPr/>
          </p:nvSpPr>
          <p:spPr bwMode="auto">
            <a:xfrm>
              <a:off x="4704" y="1622"/>
              <a:ext cx="3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5336" name="Text Box 38"/>
            <p:cNvSpPr txBox="1">
              <a:spLocks noChangeArrowheads="1"/>
            </p:cNvSpPr>
            <p:nvPr/>
          </p:nvSpPr>
          <p:spPr bwMode="auto">
            <a:xfrm>
              <a:off x="4944" y="1622"/>
              <a:ext cx="336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5337" name="Text Box 39"/>
            <p:cNvSpPr txBox="1">
              <a:spLocks noChangeArrowheads="1"/>
            </p:cNvSpPr>
            <p:nvPr/>
          </p:nvSpPr>
          <p:spPr bwMode="auto">
            <a:xfrm>
              <a:off x="5280" y="1622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55338" name="Text Box 40"/>
            <p:cNvSpPr txBox="1">
              <a:spLocks noChangeArrowheads="1"/>
            </p:cNvSpPr>
            <p:nvPr/>
          </p:nvSpPr>
          <p:spPr bwMode="auto">
            <a:xfrm>
              <a:off x="3504" y="3072"/>
              <a:ext cx="192" cy="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200"/>
                <a:t>.</a:t>
              </a:r>
            </a:p>
          </p:txBody>
        </p:sp>
      </p:grpSp>
      <p:sp>
        <p:nvSpPr>
          <p:cNvPr id="55313" name="Text Box 41"/>
          <p:cNvSpPr txBox="1">
            <a:spLocks noChangeArrowheads="1"/>
          </p:cNvSpPr>
          <p:nvPr/>
        </p:nvSpPr>
        <p:spPr bwMode="auto">
          <a:xfrm>
            <a:off x="7315200" y="4343400"/>
            <a:ext cx="2514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721709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Intermediate Situation</a:t>
            </a:r>
          </a:p>
        </p:txBody>
      </p:sp>
      <p:graphicFrame>
        <p:nvGraphicFramePr>
          <p:cNvPr id="56336" name="Object 38"/>
          <p:cNvGraphicFramePr>
            <a:graphicFrameLocks noGrp="1" noChangeAspect="1"/>
          </p:cNvGraphicFramePr>
          <p:nvPr>
            <p:ph idx="1"/>
          </p:nvPr>
        </p:nvGraphicFramePr>
        <p:xfrm>
          <a:off x="6174317" y="4713818"/>
          <a:ext cx="4078816" cy="1610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91349" imgH="2996548" progId="Visio.Drawing.6">
                  <p:embed/>
                </p:oleObj>
              </mc:Choice>
              <mc:Fallback>
                <p:oleObj name="Visio" r:id="rId2" imgW="7591349" imgH="2996548" progId="Visio.Drawing.6">
                  <p:embed/>
                  <p:pic>
                    <p:nvPicPr>
                      <p:cNvPr id="56336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4317" y="4713818"/>
                        <a:ext cx="4078816" cy="16107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11200" y="1295400"/>
            <a:ext cx="10464800" cy="5181600"/>
          </a:xfrm>
        </p:spPr>
        <p:txBody>
          <a:bodyPr/>
          <a:lstStyle/>
          <a:p>
            <a:pPr marL="342891" indent="-342891"/>
            <a:r>
              <a:rPr lang="en-US" altLang="en-US" sz="2200" dirty="0"/>
              <a:t>After some merging steps, we have some clusters </a:t>
            </a:r>
          </a:p>
          <a:p>
            <a:pPr marL="742932" lvl="1" indent="-285744"/>
            <a:endParaRPr lang="en-US" altLang="en-US" sz="2000" dirty="0"/>
          </a:p>
        </p:txBody>
      </p:sp>
      <p:sp>
        <p:nvSpPr>
          <p:cNvPr id="56324" name="Freeform 4"/>
          <p:cNvSpPr>
            <a:spLocks/>
          </p:cNvSpPr>
          <p:nvPr/>
        </p:nvSpPr>
        <p:spPr bwMode="auto">
          <a:xfrm>
            <a:off x="2133601" y="3886201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6325" name="Freeform 5"/>
          <p:cNvSpPr>
            <a:spLocks/>
          </p:cNvSpPr>
          <p:nvPr/>
        </p:nvSpPr>
        <p:spPr bwMode="auto">
          <a:xfrm rot="16200000">
            <a:off x="3124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6326" name="Freeform 6"/>
          <p:cNvSpPr>
            <a:spLocks/>
          </p:cNvSpPr>
          <p:nvPr/>
        </p:nvSpPr>
        <p:spPr bwMode="auto">
          <a:xfrm rot="10800000">
            <a:off x="4876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6327" name="Freeform 7"/>
          <p:cNvSpPr>
            <a:spLocks/>
          </p:cNvSpPr>
          <p:nvPr/>
        </p:nvSpPr>
        <p:spPr bwMode="auto">
          <a:xfrm>
            <a:off x="2819401" y="4953001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6328" name="Freeform 8"/>
          <p:cNvSpPr>
            <a:spLocks/>
          </p:cNvSpPr>
          <p:nvPr/>
        </p:nvSpPr>
        <p:spPr bwMode="auto">
          <a:xfrm rot="10800000">
            <a:off x="4114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6329" name="Text Box 9"/>
          <p:cNvSpPr txBox="1">
            <a:spLocks noChangeArrowheads="1"/>
          </p:cNvSpPr>
          <p:nvPr/>
        </p:nvSpPr>
        <p:spPr bwMode="auto">
          <a:xfrm>
            <a:off x="2209800" y="41910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6330" name="Text Box 10"/>
          <p:cNvSpPr txBox="1">
            <a:spLocks noChangeArrowheads="1"/>
          </p:cNvSpPr>
          <p:nvPr/>
        </p:nvSpPr>
        <p:spPr bwMode="auto">
          <a:xfrm>
            <a:off x="4953000" y="33528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6331" name="Text Box 11"/>
          <p:cNvSpPr txBox="1">
            <a:spLocks noChangeArrowheads="1"/>
          </p:cNvSpPr>
          <p:nvPr/>
        </p:nvSpPr>
        <p:spPr bwMode="auto">
          <a:xfrm>
            <a:off x="3048000" y="51816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</a:p>
        </p:txBody>
      </p:sp>
      <p:sp>
        <p:nvSpPr>
          <p:cNvPr id="56332" name="Text Box 12"/>
          <p:cNvSpPr txBox="1">
            <a:spLocks noChangeArrowheads="1"/>
          </p:cNvSpPr>
          <p:nvPr/>
        </p:nvSpPr>
        <p:spPr bwMode="auto">
          <a:xfrm>
            <a:off x="4267200" y="51054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</a:p>
        </p:txBody>
      </p:sp>
      <p:sp>
        <p:nvSpPr>
          <p:cNvPr id="56333" name="Text Box 13"/>
          <p:cNvSpPr txBox="1">
            <a:spLocks noChangeArrowheads="1"/>
          </p:cNvSpPr>
          <p:nvPr/>
        </p:nvSpPr>
        <p:spPr bwMode="auto">
          <a:xfrm>
            <a:off x="3276600" y="29718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grpSp>
        <p:nvGrpSpPr>
          <p:cNvPr id="56334" name="Group 14"/>
          <p:cNvGrpSpPr>
            <a:grpSpLocks/>
          </p:cNvGrpSpPr>
          <p:nvPr/>
        </p:nvGrpSpPr>
        <p:grpSpPr bwMode="auto">
          <a:xfrm>
            <a:off x="7010400" y="1660525"/>
            <a:ext cx="2895600" cy="2215921"/>
            <a:chOff x="3456" y="1440"/>
            <a:chExt cx="1872" cy="1505"/>
          </a:xfrm>
        </p:grpSpPr>
        <p:sp>
          <p:nvSpPr>
            <p:cNvPr id="56337" name="Text Box 1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6338" name="Text Box 16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6339" name="Line 17"/>
            <p:cNvSpPr>
              <a:spLocks noChangeShapeType="1"/>
            </p:cNvSpPr>
            <p:nvPr/>
          </p:nvSpPr>
          <p:spPr bwMode="auto">
            <a:xfrm>
              <a:off x="369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40" name="Line 18"/>
            <p:cNvSpPr>
              <a:spLocks noChangeShapeType="1"/>
            </p:cNvSpPr>
            <p:nvPr/>
          </p:nvSpPr>
          <p:spPr bwMode="auto">
            <a:xfrm>
              <a:off x="3504" y="163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41" name="Line 19"/>
            <p:cNvSpPr>
              <a:spLocks noChangeShapeType="1"/>
            </p:cNvSpPr>
            <p:nvPr/>
          </p:nvSpPr>
          <p:spPr bwMode="auto">
            <a:xfrm>
              <a:off x="528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42" name="Line 20"/>
            <p:cNvSpPr>
              <a:spLocks noChangeShapeType="1"/>
            </p:cNvSpPr>
            <p:nvPr/>
          </p:nvSpPr>
          <p:spPr bwMode="auto">
            <a:xfrm>
              <a:off x="3504" y="2928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43" name="Text Box 21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6344" name="Text Box 22"/>
            <p:cNvSpPr txBox="1">
              <a:spLocks noChangeArrowheads="1"/>
            </p:cNvSpPr>
            <p:nvPr/>
          </p:nvSpPr>
          <p:spPr bwMode="auto">
            <a:xfrm>
              <a:off x="3456" y="2207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6345" name="Text Box 23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6346" name="Text Box 24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6347" name="Text Box 25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6348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6349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6350" name="Text Box 28"/>
            <p:cNvSpPr txBox="1">
              <a:spLocks noChangeArrowheads="1"/>
            </p:cNvSpPr>
            <p:nvPr/>
          </p:nvSpPr>
          <p:spPr bwMode="auto">
            <a:xfrm>
              <a:off x="4992" y="144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6351" name="Line 29"/>
            <p:cNvSpPr>
              <a:spLocks noChangeShapeType="1"/>
            </p:cNvSpPr>
            <p:nvPr/>
          </p:nvSpPr>
          <p:spPr bwMode="auto">
            <a:xfrm>
              <a:off x="3504" y="187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52" name="Line 30"/>
            <p:cNvSpPr>
              <a:spLocks noChangeShapeType="1"/>
            </p:cNvSpPr>
            <p:nvPr/>
          </p:nvSpPr>
          <p:spPr bwMode="auto">
            <a:xfrm>
              <a:off x="3504" y="240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53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54" name="Line 32"/>
            <p:cNvSpPr>
              <a:spLocks noChangeShapeType="1"/>
            </p:cNvSpPr>
            <p:nvPr/>
          </p:nvSpPr>
          <p:spPr bwMode="auto">
            <a:xfrm>
              <a:off x="3504" y="264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55" name="Line 33"/>
            <p:cNvSpPr>
              <a:spLocks noChangeShapeType="1"/>
            </p:cNvSpPr>
            <p:nvPr/>
          </p:nvSpPr>
          <p:spPr bwMode="auto">
            <a:xfrm>
              <a:off x="403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56" name="Line 34"/>
            <p:cNvSpPr>
              <a:spLocks noChangeShapeType="1"/>
            </p:cNvSpPr>
            <p:nvPr/>
          </p:nvSpPr>
          <p:spPr bwMode="auto">
            <a:xfrm>
              <a:off x="432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57" name="Line 35"/>
            <p:cNvSpPr>
              <a:spLocks noChangeShapeType="1"/>
            </p:cNvSpPr>
            <p:nvPr/>
          </p:nvSpPr>
          <p:spPr bwMode="auto">
            <a:xfrm>
              <a:off x="465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6358" name="Line 36"/>
            <p:cNvSpPr>
              <a:spLocks noChangeShapeType="1"/>
            </p:cNvSpPr>
            <p:nvPr/>
          </p:nvSpPr>
          <p:spPr bwMode="auto">
            <a:xfrm>
              <a:off x="499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sp>
        <p:nvSpPr>
          <p:cNvPr id="56335" name="Text Box 37"/>
          <p:cNvSpPr txBox="1">
            <a:spLocks noChangeArrowheads="1"/>
          </p:cNvSpPr>
          <p:nvPr/>
        </p:nvSpPr>
        <p:spPr bwMode="auto">
          <a:xfrm>
            <a:off x="7315200" y="3870325"/>
            <a:ext cx="2514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854723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Intermediate Situation</a:t>
            </a:r>
          </a:p>
        </p:txBody>
      </p:sp>
      <p:graphicFrame>
        <p:nvGraphicFramePr>
          <p:cNvPr id="57361" name="Object 43"/>
          <p:cNvGraphicFramePr>
            <a:graphicFrameLocks noGrp="1" noChangeAspect="1"/>
          </p:cNvGraphicFramePr>
          <p:nvPr>
            <p:ph idx="1"/>
          </p:nvPr>
        </p:nvGraphicFramePr>
        <p:xfrm>
          <a:off x="6172200" y="4495800"/>
          <a:ext cx="4083051" cy="18457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91349" imgH="3431733" progId="Visio.Drawing.6">
                  <p:embed/>
                </p:oleObj>
              </mc:Choice>
              <mc:Fallback>
                <p:oleObj name="Visio" r:id="rId2" imgW="7591349" imgH="3431733" progId="Visio.Drawing.6">
                  <p:embed/>
                  <p:pic>
                    <p:nvPicPr>
                      <p:cNvPr id="5736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495800"/>
                        <a:ext cx="4083051" cy="18457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26534" y="1295400"/>
            <a:ext cx="5774257" cy="5181600"/>
          </a:xfrm>
        </p:spPr>
        <p:txBody>
          <a:bodyPr/>
          <a:lstStyle/>
          <a:p>
            <a:pPr marL="342891" indent="-342891"/>
            <a:r>
              <a:rPr lang="en-US" altLang="en-US" sz="2200" dirty="0"/>
              <a:t>We want to merge the two closest clusters (C2 and C5)  and update the proximity matrix. </a:t>
            </a:r>
          </a:p>
          <a:p>
            <a:pPr marL="742932" lvl="1" indent="-285744"/>
            <a:endParaRPr lang="en-US" altLang="en-US" sz="2000" dirty="0"/>
          </a:p>
        </p:txBody>
      </p:sp>
      <p:sp>
        <p:nvSpPr>
          <p:cNvPr id="57348" name="Freeform 4"/>
          <p:cNvSpPr>
            <a:spLocks/>
          </p:cNvSpPr>
          <p:nvPr/>
        </p:nvSpPr>
        <p:spPr bwMode="auto">
          <a:xfrm>
            <a:off x="2133601" y="3886201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7349" name="Freeform 5"/>
          <p:cNvSpPr>
            <a:spLocks/>
          </p:cNvSpPr>
          <p:nvPr/>
        </p:nvSpPr>
        <p:spPr bwMode="auto">
          <a:xfrm rot="16200000">
            <a:off x="3124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7350" name="Freeform 6"/>
          <p:cNvSpPr>
            <a:spLocks/>
          </p:cNvSpPr>
          <p:nvPr/>
        </p:nvSpPr>
        <p:spPr bwMode="auto">
          <a:xfrm rot="10800000">
            <a:off x="4876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7351" name="Freeform 7"/>
          <p:cNvSpPr>
            <a:spLocks/>
          </p:cNvSpPr>
          <p:nvPr/>
        </p:nvSpPr>
        <p:spPr bwMode="auto">
          <a:xfrm>
            <a:off x="2819401" y="4953001"/>
            <a:ext cx="7747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7352" name="Freeform 8"/>
          <p:cNvSpPr>
            <a:spLocks/>
          </p:cNvSpPr>
          <p:nvPr/>
        </p:nvSpPr>
        <p:spPr bwMode="auto">
          <a:xfrm rot="10800000">
            <a:off x="4114800" y="48768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7353" name="Text Box 9"/>
          <p:cNvSpPr txBox="1">
            <a:spLocks noChangeArrowheads="1"/>
          </p:cNvSpPr>
          <p:nvPr/>
        </p:nvSpPr>
        <p:spPr bwMode="auto">
          <a:xfrm>
            <a:off x="2209800" y="41910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4953000" y="33528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7355" name="Text Box 11"/>
          <p:cNvSpPr txBox="1">
            <a:spLocks noChangeArrowheads="1"/>
          </p:cNvSpPr>
          <p:nvPr/>
        </p:nvSpPr>
        <p:spPr bwMode="auto">
          <a:xfrm>
            <a:off x="3048000" y="51816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</a:t>
            </a:r>
          </a:p>
        </p:txBody>
      </p:sp>
      <p:sp>
        <p:nvSpPr>
          <p:cNvPr id="57356" name="Text Box 12"/>
          <p:cNvSpPr txBox="1">
            <a:spLocks noChangeArrowheads="1"/>
          </p:cNvSpPr>
          <p:nvPr/>
        </p:nvSpPr>
        <p:spPr bwMode="auto">
          <a:xfrm>
            <a:off x="4267200" y="51054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C5</a:t>
            </a:r>
          </a:p>
        </p:txBody>
      </p:sp>
      <p:sp>
        <p:nvSpPr>
          <p:cNvPr id="57357" name="Text Box 13"/>
          <p:cNvSpPr txBox="1">
            <a:spLocks noChangeArrowheads="1"/>
          </p:cNvSpPr>
          <p:nvPr/>
        </p:nvSpPr>
        <p:spPr bwMode="auto">
          <a:xfrm>
            <a:off x="3276600" y="29718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grpSp>
        <p:nvGrpSpPr>
          <p:cNvPr id="57358" name="Group 14"/>
          <p:cNvGrpSpPr>
            <a:grpSpLocks/>
          </p:cNvGrpSpPr>
          <p:nvPr/>
        </p:nvGrpSpPr>
        <p:grpSpPr bwMode="auto">
          <a:xfrm>
            <a:off x="7010400" y="1676401"/>
            <a:ext cx="2971800" cy="2198304"/>
            <a:chOff x="3456" y="1094"/>
            <a:chExt cx="1920" cy="1506"/>
          </a:xfrm>
        </p:grpSpPr>
        <p:sp>
          <p:nvSpPr>
            <p:cNvPr id="57362" name="Text Box 15"/>
            <p:cNvSpPr txBox="1">
              <a:spLocks noChangeArrowheads="1"/>
            </p:cNvSpPr>
            <p:nvPr/>
          </p:nvSpPr>
          <p:spPr bwMode="auto">
            <a:xfrm>
              <a:off x="4032" y="1094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7363" name="Text Box 16"/>
            <p:cNvSpPr txBox="1">
              <a:spLocks noChangeArrowheads="1"/>
            </p:cNvSpPr>
            <p:nvPr/>
          </p:nvSpPr>
          <p:spPr bwMode="auto">
            <a:xfrm>
              <a:off x="3744" y="1094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7364" name="Line 17"/>
            <p:cNvSpPr>
              <a:spLocks noChangeShapeType="1"/>
            </p:cNvSpPr>
            <p:nvPr/>
          </p:nvSpPr>
          <p:spPr bwMode="auto">
            <a:xfrm>
              <a:off x="369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65" name="Line 18"/>
            <p:cNvSpPr>
              <a:spLocks noChangeShapeType="1"/>
            </p:cNvSpPr>
            <p:nvPr/>
          </p:nvSpPr>
          <p:spPr bwMode="auto">
            <a:xfrm>
              <a:off x="3504" y="128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66" name="Line 19"/>
            <p:cNvSpPr>
              <a:spLocks noChangeShapeType="1"/>
            </p:cNvSpPr>
            <p:nvPr/>
          </p:nvSpPr>
          <p:spPr bwMode="auto">
            <a:xfrm>
              <a:off x="528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67" name="Line 20"/>
            <p:cNvSpPr>
              <a:spLocks noChangeShapeType="1"/>
            </p:cNvSpPr>
            <p:nvPr/>
          </p:nvSpPr>
          <p:spPr bwMode="auto">
            <a:xfrm>
              <a:off x="3504" y="258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68" name="Text Box 21"/>
            <p:cNvSpPr txBox="1">
              <a:spLocks noChangeArrowheads="1"/>
            </p:cNvSpPr>
            <p:nvPr/>
          </p:nvSpPr>
          <p:spPr bwMode="auto">
            <a:xfrm>
              <a:off x="3456" y="1334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C1</a:t>
              </a:r>
            </a:p>
          </p:txBody>
        </p:sp>
        <p:sp>
          <p:nvSpPr>
            <p:cNvPr id="57369" name="Text Box 22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7370" name="Text Box 23"/>
            <p:cNvSpPr txBox="1">
              <a:spLocks noChangeArrowheads="1"/>
            </p:cNvSpPr>
            <p:nvPr/>
          </p:nvSpPr>
          <p:spPr bwMode="auto">
            <a:xfrm>
              <a:off x="3456" y="2389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7371" name="Text Box 24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7372" name="Text Box 25"/>
            <p:cNvSpPr txBox="1">
              <a:spLocks noChangeArrowheads="1"/>
            </p:cNvSpPr>
            <p:nvPr/>
          </p:nvSpPr>
          <p:spPr bwMode="auto">
            <a:xfrm>
              <a:off x="3456" y="1622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C2</a:t>
              </a:r>
            </a:p>
          </p:txBody>
        </p:sp>
        <p:sp>
          <p:nvSpPr>
            <p:cNvPr id="57373" name="Text Box 26"/>
            <p:cNvSpPr txBox="1">
              <a:spLocks noChangeArrowheads="1"/>
            </p:cNvSpPr>
            <p:nvPr/>
          </p:nvSpPr>
          <p:spPr bwMode="auto">
            <a:xfrm>
              <a:off x="4368" y="1094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C3</a:t>
              </a:r>
            </a:p>
          </p:txBody>
        </p:sp>
        <p:sp>
          <p:nvSpPr>
            <p:cNvPr id="57374" name="Text Box 27"/>
            <p:cNvSpPr txBox="1">
              <a:spLocks noChangeArrowheads="1"/>
            </p:cNvSpPr>
            <p:nvPr/>
          </p:nvSpPr>
          <p:spPr bwMode="auto">
            <a:xfrm>
              <a:off x="4704" y="1094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C4</a:t>
              </a:r>
            </a:p>
          </p:txBody>
        </p:sp>
        <p:sp>
          <p:nvSpPr>
            <p:cNvPr id="57375" name="Text Box 28"/>
            <p:cNvSpPr txBox="1">
              <a:spLocks noChangeArrowheads="1"/>
            </p:cNvSpPr>
            <p:nvPr/>
          </p:nvSpPr>
          <p:spPr bwMode="auto">
            <a:xfrm>
              <a:off x="4992" y="1094"/>
              <a:ext cx="33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C5</a:t>
              </a:r>
            </a:p>
          </p:txBody>
        </p:sp>
        <p:sp>
          <p:nvSpPr>
            <p:cNvPr id="57376" name="Line 29"/>
            <p:cNvSpPr>
              <a:spLocks noChangeShapeType="1"/>
            </p:cNvSpPr>
            <p:nvPr/>
          </p:nvSpPr>
          <p:spPr bwMode="auto">
            <a:xfrm>
              <a:off x="3504" y="1526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77" name="Line 30"/>
            <p:cNvSpPr>
              <a:spLocks noChangeShapeType="1"/>
            </p:cNvSpPr>
            <p:nvPr/>
          </p:nvSpPr>
          <p:spPr bwMode="auto">
            <a:xfrm>
              <a:off x="3504" y="205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78" name="Line 31"/>
            <p:cNvSpPr>
              <a:spLocks noChangeShapeType="1"/>
            </p:cNvSpPr>
            <p:nvPr/>
          </p:nvSpPr>
          <p:spPr bwMode="auto">
            <a:xfrm>
              <a:off x="3504" y="181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79" name="Line 32"/>
            <p:cNvSpPr>
              <a:spLocks noChangeShapeType="1"/>
            </p:cNvSpPr>
            <p:nvPr/>
          </p:nvSpPr>
          <p:spPr bwMode="auto">
            <a:xfrm>
              <a:off x="3504" y="229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80" name="Line 33"/>
            <p:cNvSpPr>
              <a:spLocks noChangeShapeType="1"/>
            </p:cNvSpPr>
            <p:nvPr/>
          </p:nvSpPr>
          <p:spPr bwMode="auto">
            <a:xfrm>
              <a:off x="403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81" name="Line 34"/>
            <p:cNvSpPr>
              <a:spLocks noChangeShapeType="1"/>
            </p:cNvSpPr>
            <p:nvPr/>
          </p:nvSpPr>
          <p:spPr bwMode="auto">
            <a:xfrm>
              <a:off x="432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82" name="Line 35"/>
            <p:cNvSpPr>
              <a:spLocks noChangeShapeType="1"/>
            </p:cNvSpPr>
            <p:nvPr/>
          </p:nvSpPr>
          <p:spPr bwMode="auto">
            <a:xfrm>
              <a:off x="465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83" name="Line 36"/>
            <p:cNvSpPr>
              <a:spLocks noChangeShapeType="1"/>
            </p:cNvSpPr>
            <p:nvPr/>
          </p:nvSpPr>
          <p:spPr bwMode="auto">
            <a:xfrm>
              <a:off x="499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7384" name="Rectangle 37" descr="Wide downward diagonal"/>
            <p:cNvSpPr>
              <a:spLocks noChangeArrowheads="1"/>
            </p:cNvSpPr>
            <p:nvPr/>
          </p:nvSpPr>
          <p:spPr bwMode="auto">
            <a:xfrm>
              <a:off x="3696" y="1526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5" name="Rectangle 38" descr="Wide downward diagonal"/>
            <p:cNvSpPr>
              <a:spLocks noChangeArrowheads="1"/>
            </p:cNvSpPr>
            <p:nvPr/>
          </p:nvSpPr>
          <p:spPr bwMode="auto">
            <a:xfrm>
              <a:off x="3696" y="2294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6" name="Rectangle 39" descr="Wide downward diagonal"/>
            <p:cNvSpPr>
              <a:spLocks noChangeArrowheads="1"/>
            </p:cNvSpPr>
            <p:nvPr/>
          </p:nvSpPr>
          <p:spPr bwMode="auto">
            <a:xfrm rot="5400000">
              <a:off x="3521" y="1783"/>
              <a:ext cx="1298" cy="299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7387" name="Rectangle 40" descr="Wide downward diagonal"/>
            <p:cNvSpPr>
              <a:spLocks noChangeArrowheads="1"/>
            </p:cNvSpPr>
            <p:nvPr/>
          </p:nvSpPr>
          <p:spPr bwMode="auto">
            <a:xfrm rot="5400000">
              <a:off x="4477" y="1778"/>
              <a:ext cx="1297" cy="311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7359" name="Oval 41"/>
          <p:cNvSpPr>
            <a:spLocks noChangeArrowheads="1"/>
          </p:cNvSpPr>
          <p:nvPr/>
        </p:nvSpPr>
        <p:spPr bwMode="auto">
          <a:xfrm>
            <a:off x="2514600" y="4648200"/>
            <a:ext cx="2514600" cy="1295400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7360" name="Text Box 42"/>
          <p:cNvSpPr txBox="1">
            <a:spLocks noChangeArrowheads="1"/>
          </p:cNvSpPr>
          <p:nvPr/>
        </p:nvSpPr>
        <p:spPr bwMode="auto">
          <a:xfrm>
            <a:off x="7315200" y="3870325"/>
            <a:ext cx="2514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971794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After Merging</a:t>
            </a:r>
          </a:p>
        </p:txBody>
      </p:sp>
      <p:graphicFrame>
        <p:nvGraphicFramePr>
          <p:cNvPr id="58403" name="Object 1024"/>
          <p:cNvGraphicFramePr>
            <a:graphicFrameLocks noGrp="1" noChangeAspect="1"/>
          </p:cNvGraphicFramePr>
          <p:nvPr>
            <p:ph idx="1"/>
          </p:nvPr>
        </p:nvGraphicFramePr>
        <p:xfrm>
          <a:off x="6172200" y="4436533"/>
          <a:ext cx="4080933" cy="1964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7591349" imgH="3654718" progId="Visio.Drawing.6">
                  <p:embed/>
                </p:oleObj>
              </mc:Choice>
              <mc:Fallback>
                <p:oleObj name="Visio" r:id="rId2" imgW="7591349" imgH="3654718" progId="Visio.Drawing.6">
                  <p:embed/>
                  <p:pic>
                    <p:nvPicPr>
                      <p:cNvPr id="58403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4436533"/>
                        <a:ext cx="4080933" cy="1964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50333" y="1295400"/>
            <a:ext cx="5980643" cy="5181600"/>
          </a:xfrm>
        </p:spPr>
        <p:txBody>
          <a:bodyPr/>
          <a:lstStyle/>
          <a:p>
            <a:pPr marL="342891" indent="-342891"/>
            <a:r>
              <a:rPr lang="en-US" altLang="en-US" sz="2200" dirty="0"/>
              <a:t>The question is “How do we update the proximity matrix?” </a:t>
            </a:r>
          </a:p>
          <a:p>
            <a:pPr marL="742932" lvl="1" indent="-285744"/>
            <a:endParaRPr lang="en-US" altLang="en-US" sz="2000" dirty="0"/>
          </a:p>
        </p:txBody>
      </p:sp>
      <p:sp>
        <p:nvSpPr>
          <p:cNvPr id="58372" name="Freeform 4"/>
          <p:cNvSpPr>
            <a:spLocks/>
          </p:cNvSpPr>
          <p:nvPr/>
        </p:nvSpPr>
        <p:spPr bwMode="auto">
          <a:xfrm>
            <a:off x="2133601" y="3886201"/>
            <a:ext cx="5461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8373" name="Freeform 5"/>
          <p:cNvSpPr>
            <a:spLocks/>
          </p:cNvSpPr>
          <p:nvPr/>
        </p:nvSpPr>
        <p:spPr bwMode="auto">
          <a:xfrm rot="16200000">
            <a:off x="3124200" y="2667000"/>
            <a:ext cx="762000" cy="914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8374" name="Freeform 6"/>
          <p:cNvSpPr>
            <a:spLocks/>
          </p:cNvSpPr>
          <p:nvPr/>
        </p:nvSpPr>
        <p:spPr bwMode="auto">
          <a:xfrm rot="10800000">
            <a:off x="4876800" y="3048000"/>
            <a:ext cx="685800" cy="7620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8375" name="Freeform 7"/>
          <p:cNvSpPr>
            <a:spLocks/>
          </p:cNvSpPr>
          <p:nvPr/>
        </p:nvSpPr>
        <p:spPr bwMode="auto">
          <a:xfrm>
            <a:off x="2819400" y="4953001"/>
            <a:ext cx="2362200" cy="7731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 sz="1400"/>
          </a:p>
        </p:txBody>
      </p:sp>
      <p:sp>
        <p:nvSpPr>
          <p:cNvPr id="58376" name="Text Box 8"/>
          <p:cNvSpPr txBox="1">
            <a:spLocks noChangeArrowheads="1"/>
          </p:cNvSpPr>
          <p:nvPr/>
        </p:nvSpPr>
        <p:spPr bwMode="auto">
          <a:xfrm>
            <a:off x="2209800" y="41910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77" name="Text Box 9"/>
          <p:cNvSpPr txBox="1">
            <a:spLocks noChangeArrowheads="1"/>
          </p:cNvSpPr>
          <p:nvPr/>
        </p:nvSpPr>
        <p:spPr bwMode="auto">
          <a:xfrm>
            <a:off x="4953000" y="33528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78" name="Text Box 10"/>
          <p:cNvSpPr txBox="1">
            <a:spLocks noChangeArrowheads="1"/>
          </p:cNvSpPr>
          <p:nvPr/>
        </p:nvSpPr>
        <p:spPr bwMode="auto">
          <a:xfrm>
            <a:off x="3429000" y="5181600"/>
            <a:ext cx="990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</a:t>
            </a:r>
            <a:r>
              <a:rPr lang="en-US" altLang="en-US"/>
              <a:t> C5</a:t>
            </a:r>
          </a:p>
        </p:txBody>
      </p:sp>
      <p:sp>
        <p:nvSpPr>
          <p:cNvPr id="58379" name="Text Box 11"/>
          <p:cNvSpPr txBox="1">
            <a:spLocks noChangeArrowheads="1"/>
          </p:cNvSpPr>
          <p:nvPr/>
        </p:nvSpPr>
        <p:spPr bwMode="auto">
          <a:xfrm>
            <a:off x="3276600" y="2971800"/>
            <a:ext cx="457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80" name="Text Box 12"/>
          <p:cNvSpPr txBox="1">
            <a:spLocks noChangeArrowheads="1"/>
          </p:cNvSpPr>
          <p:nvPr/>
        </p:nvSpPr>
        <p:spPr bwMode="auto">
          <a:xfrm>
            <a:off x="7696200" y="2743200"/>
            <a:ext cx="2133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        ?        ?        ?    	   </a:t>
            </a:r>
          </a:p>
        </p:txBody>
      </p:sp>
      <p:sp>
        <p:nvSpPr>
          <p:cNvPr id="58381" name="Text Box 13"/>
          <p:cNvSpPr txBox="1">
            <a:spLocks noChangeArrowheads="1"/>
          </p:cNvSpPr>
          <p:nvPr/>
        </p:nvSpPr>
        <p:spPr bwMode="auto">
          <a:xfrm>
            <a:off x="8175625" y="2362201"/>
            <a:ext cx="533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2" name="Text Box 14"/>
          <p:cNvSpPr txBox="1">
            <a:spLocks noChangeArrowheads="1"/>
          </p:cNvSpPr>
          <p:nvPr/>
        </p:nvSpPr>
        <p:spPr bwMode="auto">
          <a:xfrm>
            <a:off x="8175625" y="3200401"/>
            <a:ext cx="533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3" name="Text Box 15"/>
          <p:cNvSpPr txBox="1">
            <a:spLocks noChangeArrowheads="1"/>
          </p:cNvSpPr>
          <p:nvPr/>
        </p:nvSpPr>
        <p:spPr bwMode="auto">
          <a:xfrm>
            <a:off x="8175625" y="3581401"/>
            <a:ext cx="533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58384" name="Text Box 16"/>
          <p:cNvSpPr txBox="1">
            <a:spLocks noChangeArrowheads="1"/>
          </p:cNvSpPr>
          <p:nvPr/>
        </p:nvSpPr>
        <p:spPr bwMode="auto">
          <a:xfrm>
            <a:off x="8153400" y="1555750"/>
            <a:ext cx="533400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</a:p>
        </p:txBody>
      </p:sp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7620000" y="1981200"/>
            <a:ext cx="533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86" name="Line 18"/>
          <p:cNvSpPr>
            <a:spLocks noChangeShapeType="1"/>
          </p:cNvSpPr>
          <p:nvPr/>
        </p:nvSpPr>
        <p:spPr bwMode="auto">
          <a:xfrm>
            <a:off x="7543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8387" name="Line 19"/>
          <p:cNvSpPr>
            <a:spLocks noChangeShapeType="1"/>
          </p:cNvSpPr>
          <p:nvPr/>
        </p:nvSpPr>
        <p:spPr bwMode="auto">
          <a:xfrm>
            <a:off x="7239000" y="2286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8388" name="Text Box 20"/>
          <p:cNvSpPr txBox="1">
            <a:spLocks noChangeArrowheads="1"/>
          </p:cNvSpPr>
          <p:nvPr/>
        </p:nvSpPr>
        <p:spPr bwMode="auto">
          <a:xfrm>
            <a:off x="7162800" y="2362200"/>
            <a:ext cx="533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C1</a:t>
            </a:r>
          </a:p>
        </p:txBody>
      </p:sp>
      <p:sp>
        <p:nvSpPr>
          <p:cNvPr id="58389" name="Text Box 21"/>
          <p:cNvSpPr txBox="1">
            <a:spLocks noChangeArrowheads="1"/>
          </p:cNvSpPr>
          <p:nvPr/>
        </p:nvSpPr>
        <p:spPr bwMode="auto">
          <a:xfrm>
            <a:off x="7162800" y="3200400"/>
            <a:ext cx="533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90" name="Text Box 22"/>
          <p:cNvSpPr txBox="1">
            <a:spLocks noChangeArrowheads="1"/>
          </p:cNvSpPr>
          <p:nvPr/>
        </p:nvSpPr>
        <p:spPr bwMode="auto">
          <a:xfrm>
            <a:off x="7162800" y="3657600"/>
            <a:ext cx="533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91" name="Text Box 23"/>
          <p:cNvSpPr txBox="1">
            <a:spLocks noChangeArrowheads="1"/>
          </p:cNvSpPr>
          <p:nvPr/>
        </p:nvSpPr>
        <p:spPr bwMode="auto">
          <a:xfrm>
            <a:off x="6705600" y="2819400"/>
            <a:ext cx="990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C2 </a:t>
            </a:r>
            <a:r>
              <a:rPr lang="en-US" altLang="en-US" b="0"/>
              <a:t>U </a:t>
            </a:r>
            <a:r>
              <a:rPr lang="en-US" altLang="en-US"/>
              <a:t>C5</a:t>
            </a:r>
          </a:p>
        </p:txBody>
      </p:sp>
      <p:sp>
        <p:nvSpPr>
          <p:cNvPr id="58392" name="Text Box 24"/>
          <p:cNvSpPr txBox="1">
            <a:spLocks noChangeArrowheads="1"/>
          </p:cNvSpPr>
          <p:nvPr/>
        </p:nvSpPr>
        <p:spPr bwMode="auto">
          <a:xfrm>
            <a:off x="8610600" y="1981200"/>
            <a:ext cx="533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C3</a:t>
            </a:r>
          </a:p>
        </p:txBody>
      </p:sp>
      <p:sp>
        <p:nvSpPr>
          <p:cNvPr id="58393" name="Text Box 25"/>
          <p:cNvSpPr txBox="1">
            <a:spLocks noChangeArrowheads="1"/>
          </p:cNvSpPr>
          <p:nvPr/>
        </p:nvSpPr>
        <p:spPr bwMode="auto">
          <a:xfrm>
            <a:off x="9144000" y="1981200"/>
            <a:ext cx="5334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C4</a:t>
            </a:r>
          </a:p>
        </p:txBody>
      </p:sp>
      <p:sp>
        <p:nvSpPr>
          <p:cNvPr id="58394" name="Line 26"/>
          <p:cNvSpPr>
            <a:spLocks noChangeShapeType="1"/>
          </p:cNvSpPr>
          <p:nvPr/>
        </p:nvSpPr>
        <p:spPr bwMode="auto">
          <a:xfrm>
            <a:off x="7239000" y="2667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8395" name="Line 27"/>
          <p:cNvSpPr>
            <a:spLocks noChangeShapeType="1"/>
          </p:cNvSpPr>
          <p:nvPr/>
        </p:nvSpPr>
        <p:spPr bwMode="auto">
          <a:xfrm>
            <a:off x="7239000" y="3505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8396" name="Line 28"/>
          <p:cNvSpPr>
            <a:spLocks noChangeShapeType="1"/>
          </p:cNvSpPr>
          <p:nvPr/>
        </p:nvSpPr>
        <p:spPr bwMode="auto">
          <a:xfrm>
            <a:off x="7239000" y="3124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8397" name="Line 29"/>
          <p:cNvSpPr>
            <a:spLocks noChangeShapeType="1"/>
          </p:cNvSpPr>
          <p:nvPr/>
        </p:nvSpPr>
        <p:spPr bwMode="auto">
          <a:xfrm>
            <a:off x="7239000" y="3886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8398" name="Line 30"/>
          <p:cNvSpPr>
            <a:spLocks noChangeShapeType="1"/>
          </p:cNvSpPr>
          <p:nvPr/>
        </p:nvSpPr>
        <p:spPr bwMode="auto">
          <a:xfrm>
            <a:off x="8077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8399" name="Line 31"/>
          <p:cNvSpPr>
            <a:spLocks noChangeShapeType="1"/>
          </p:cNvSpPr>
          <p:nvPr/>
        </p:nvSpPr>
        <p:spPr bwMode="auto">
          <a:xfrm>
            <a:off x="85344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8400" name="Line 32"/>
          <p:cNvSpPr>
            <a:spLocks noChangeShapeType="1"/>
          </p:cNvSpPr>
          <p:nvPr/>
        </p:nvSpPr>
        <p:spPr bwMode="auto">
          <a:xfrm>
            <a:off x="9067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8401" name="Line 33"/>
          <p:cNvSpPr>
            <a:spLocks noChangeShapeType="1"/>
          </p:cNvSpPr>
          <p:nvPr/>
        </p:nvSpPr>
        <p:spPr bwMode="auto">
          <a:xfrm>
            <a:off x="9601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8402" name="Text Box 34"/>
          <p:cNvSpPr txBox="1">
            <a:spLocks noChangeArrowheads="1"/>
          </p:cNvSpPr>
          <p:nvPr/>
        </p:nvSpPr>
        <p:spPr bwMode="auto">
          <a:xfrm>
            <a:off x="7315200" y="3962400"/>
            <a:ext cx="2514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42644047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33" dirty="0"/>
              <a:t>How to Define Inter-Cluster Distance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990575" lvl="1" indent="-533387">
              <a:spcBef>
                <a:spcPct val="20000"/>
              </a:spcBef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59396" name="Group 4"/>
          <p:cNvGrpSpPr>
            <a:grpSpLocks/>
          </p:cNvGrpSpPr>
          <p:nvPr/>
        </p:nvGrpSpPr>
        <p:grpSpPr bwMode="auto">
          <a:xfrm>
            <a:off x="7010400" y="1066802"/>
            <a:ext cx="3429000" cy="3516312"/>
            <a:chOff x="3456" y="1440"/>
            <a:chExt cx="2160" cy="2215"/>
          </a:xfrm>
        </p:grpSpPr>
        <p:sp>
          <p:nvSpPr>
            <p:cNvPr id="59411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12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13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14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15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16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17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18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19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20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21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22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59423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9424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9425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9426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9427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9428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59429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59430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59431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59432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59433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59434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59397" name="Line 29"/>
          <p:cNvSpPr>
            <a:spLocks noChangeShapeType="1"/>
          </p:cNvSpPr>
          <p:nvPr/>
        </p:nvSpPr>
        <p:spPr bwMode="auto">
          <a:xfrm>
            <a:off x="3733800" y="20574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9398" name="Text Box 30"/>
          <p:cNvSpPr txBox="1">
            <a:spLocks noChangeArrowheads="1"/>
          </p:cNvSpPr>
          <p:nvPr/>
        </p:nvSpPr>
        <p:spPr bwMode="auto">
          <a:xfrm>
            <a:off x="3733800" y="1600202"/>
            <a:ext cx="14478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Similarity?</a:t>
            </a:r>
          </a:p>
        </p:txBody>
      </p:sp>
      <p:sp>
        <p:nvSpPr>
          <p:cNvPr id="59399" name="Rectangle 31"/>
          <p:cNvSpPr>
            <a:spLocks noChangeArrowheads="1"/>
          </p:cNvSpPr>
          <p:nvPr/>
        </p:nvSpPr>
        <p:spPr bwMode="auto">
          <a:xfrm>
            <a:off x="1905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1" rIns="90488" bIns="44451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  <p:sp>
        <p:nvSpPr>
          <p:cNvPr id="59400" name="Freeform 32" descr="5%"/>
          <p:cNvSpPr>
            <a:spLocks/>
          </p:cNvSpPr>
          <p:nvPr/>
        </p:nvSpPr>
        <p:spPr bwMode="auto">
          <a:xfrm rot="-5400000">
            <a:off x="1986757" y="1289845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9401" name="Oval 33"/>
          <p:cNvSpPr>
            <a:spLocks noChangeArrowheads="1"/>
          </p:cNvSpPr>
          <p:nvPr/>
        </p:nvSpPr>
        <p:spPr bwMode="auto">
          <a:xfrm rot="-5400000">
            <a:off x="3276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2" name="Oval 34"/>
          <p:cNvSpPr>
            <a:spLocks noChangeArrowheads="1"/>
          </p:cNvSpPr>
          <p:nvPr/>
        </p:nvSpPr>
        <p:spPr bwMode="auto">
          <a:xfrm rot="-5400000">
            <a:off x="3200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3" name="Oval 35"/>
          <p:cNvSpPr>
            <a:spLocks noChangeArrowheads="1"/>
          </p:cNvSpPr>
          <p:nvPr/>
        </p:nvSpPr>
        <p:spPr bwMode="auto">
          <a:xfrm rot="-5400000">
            <a:off x="2362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4" name="Oval 36"/>
          <p:cNvSpPr>
            <a:spLocks noChangeArrowheads="1"/>
          </p:cNvSpPr>
          <p:nvPr/>
        </p:nvSpPr>
        <p:spPr bwMode="auto">
          <a:xfrm rot="-5400000">
            <a:off x="3427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5" name="Freeform 37" descr="5%"/>
          <p:cNvSpPr>
            <a:spLocks/>
          </p:cNvSpPr>
          <p:nvPr/>
        </p:nvSpPr>
        <p:spPr bwMode="auto">
          <a:xfrm rot="5400000" flipV="1">
            <a:off x="4876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59406" name="Oval 38"/>
          <p:cNvSpPr>
            <a:spLocks noChangeArrowheads="1"/>
          </p:cNvSpPr>
          <p:nvPr/>
        </p:nvSpPr>
        <p:spPr bwMode="auto">
          <a:xfrm rot="5400000" flipV="1">
            <a:off x="6400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7" name="Oval 39"/>
          <p:cNvSpPr>
            <a:spLocks noChangeArrowheads="1"/>
          </p:cNvSpPr>
          <p:nvPr/>
        </p:nvSpPr>
        <p:spPr bwMode="auto">
          <a:xfrm rot="5400000" flipV="1">
            <a:off x="5040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8" name="Oval 40"/>
          <p:cNvSpPr>
            <a:spLocks noChangeArrowheads="1"/>
          </p:cNvSpPr>
          <p:nvPr/>
        </p:nvSpPr>
        <p:spPr bwMode="auto">
          <a:xfrm rot="5400000" flipV="1">
            <a:off x="556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09" name="Oval 41"/>
          <p:cNvSpPr>
            <a:spLocks noChangeArrowheads="1"/>
          </p:cNvSpPr>
          <p:nvPr/>
        </p:nvSpPr>
        <p:spPr bwMode="auto">
          <a:xfrm rot="5400000" flipV="1">
            <a:off x="5562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59410" name="Text Box 42"/>
          <p:cNvSpPr txBox="1">
            <a:spLocks noChangeArrowheads="1"/>
          </p:cNvSpPr>
          <p:nvPr/>
        </p:nvSpPr>
        <p:spPr bwMode="auto">
          <a:xfrm>
            <a:off x="7467600" y="4343400"/>
            <a:ext cx="2514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25496534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>
            <a:normAutofit fontScale="90000"/>
          </a:bodyPr>
          <a:lstStyle/>
          <a:p>
            <a:r>
              <a:rPr lang="en-US" altLang="en-US" sz="3733" dirty="0"/>
              <a:t>How to Define Inter-Cluster Similarity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2163763" y="2344739"/>
            <a:ext cx="4800600" cy="3303587"/>
          </a:xfrm>
        </p:spPr>
        <p:txBody>
          <a:bodyPr/>
          <a:lstStyle/>
          <a:p>
            <a:pPr marL="990575" lvl="1" indent="-533387">
              <a:spcBef>
                <a:spcPct val="20000"/>
              </a:spcBef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0420" name="Group 4"/>
          <p:cNvGrpSpPr>
            <a:grpSpLocks/>
          </p:cNvGrpSpPr>
          <p:nvPr/>
        </p:nvGrpSpPr>
        <p:grpSpPr bwMode="auto">
          <a:xfrm>
            <a:off x="7010400" y="1066802"/>
            <a:ext cx="3429000" cy="3516312"/>
            <a:chOff x="3456" y="1440"/>
            <a:chExt cx="2160" cy="2215"/>
          </a:xfrm>
        </p:grpSpPr>
        <p:sp>
          <p:nvSpPr>
            <p:cNvPr id="60434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35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36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37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38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39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40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41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42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43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44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45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0446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0447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0448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0449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0450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0451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0452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0453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0454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0455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0456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0457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0421" name="Freeform 29" descr="5%"/>
          <p:cNvSpPr>
            <a:spLocks/>
          </p:cNvSpPr>
          <p:nvPr/>
        </p:nvSpPr>
        <p:spPr bwMode="auto">
          <a:xfrm rot="-5400000">
            <a:off x="1986757" y="1289845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0422" name="Oval 30"/>
          <p:cNvSpPr>
            <a:spLocks noChangeArrowheads="1"/>
          </p:cNvSpPr>
          <p:nvPr/>
        </p:nvSpPr>
        <p:spPr bwMode="auto">
          <a:xfrm rot="-5400000">
            <a:off x="3276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3" name="Oval 31"/>
          <p:cNvSpPr>
            <a:spLocks noChangeArrowheads="1"/>
          </p:cNvSpPr>
          <p:nvPr/>
        </p:nvSpPr>
        <p:spPr bwMode="auto">
          <a:xfrm rot="-5400000">
            <a:off x="3200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4" name="Oval 32"/>
          <p:cNvSpPr>
            <a:spLocks noChangeArrowheads="1"/>
          </p:cNvSpPr>
          <p:nvPr/>
        </p:nvSpPr>
        <p:spPr bwMode="auto">
          <a:xfrm rot="-5400000">
            <a:off x="2362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5" name="Oval 33"/>
          <p:cNvSpPr>
            <a:spLocks noChangeArrowheads="1"/>
          </p:cNvSpPr>
          <p:nvPr/>
        </p:nvSpPr>
        <p:spPr bwMode="auto">
          <a:xfrm rot="-5400000">
            <a:off x="3427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6" name="Freeform 34" descr="5%"/>
          <p:cNvSpPr>
            <a:spLocks/>
          </p:cNvSpPr>
          <p:nvPr/>
        </p:nvSpPr>
        <p:spPr bwMode="auto">
          <a:xfrm rot="5400000" flipV="1">
            <a:off x="4876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0427" name="Oval 35"/>
          <p:cNvSpPr>
            <a:spLocks noChangeArrowheads="1"/>
          </p:cNvSpPr>
          <p:nvPr/>
        </p:nvSpPr>
        <p:spPr bwMode="auto">
          <a:xfrm rot="5400000" flipV="1">
            <a:off x="6400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8" name="Oval 36"/>
          <p:cNvSpPr>
            <a:spLocks noChangeArrowheads="1"/>
          </p:cNvSpPr>
          <p:nvPr/>
        </p:nvSpPr>
        <p:spPr bwMode="auto">
          <a:xfrm rot="5400000" flipV="1">
            <a:off x="5040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29" name="Oval 37"/>
          <p:cNvSpPr>
            <a:spLocks noChangeArrowheads="1"/>
          </p:cNvSpPr>
          <p:nvPr/>
        </p:nvSpPr>
        <p:spPr bwMode="auto">
          <a:xfrm rot="5400000" flipV="1">
            <a:off x="556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30" name="Oval 38"/>
          <p:cNvSpPr>
            <a:spLocks noChangeArrowheads="1"/>
          </p:cNvSpPr>
          <p:nvPr/>
        </p:nvSpPr>
        <p:spPr bwMode="auto">
          <a:xfrm rot="5400000" flipV="1">
            <a:off x="5562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0431" name="Line 39"/>
          <p:cNvSpPr>
            <a:spLocks noChangeShapeType="1"/>
          </p:cNvSpPr>
          <p:nvPr/>
        </p:nvSpPr>
        <p:spPr bwMode="auto">
          <a:xfrm flipV="1">
            <a:off x="3505200" y="1600200"/>
            <a:ext cx="1524000" cy="152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0432" name="Text Box 40"/>
          <p:cNvSpPr txBox="1">
            <a:spLocks noChangeArrowheads="1"/>
          </p:cNvSpPr>
          <p:nvPr/>
        </p:nvSpPr>
        <p:spPr bwMode="auto">
          <a:xfrm>
            <a:off x="7467600" y="4343400"/>
            <a:ext cx="2514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0433" name="Rectangle 41"/>
          <p:cNvSpPr>
            <a:spLocks noChangeArrowheads="1"/>
          </p:cNvSpPr>
          <p:nvPr/>
        </p:nvSpPr>
        <p:spPr bwMode="auto">
          <a:xfrm>
            <a:off x="1905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1" rIns="90488" bIns="44451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  <p:extLst>
      <p:ext uri="{BB962C8B-B14F-4D97-AF65-F5344CB8AC3E}">
        <p14:creationId xmlns:p14="http://schemas.microsoft.com/office/powerpoint/2010/main" val="4347765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>
            <a:normAutofit fontScale="90000"/>
          </a:bodyPr>
          <a:lstStyle/>
          <a:p>
            <a:r>
              <a:rPr lang="en-US" altLang="en-US" sz="3733" dirty="0"/>
              <a:t>How to Define Inter-Cluster Similarity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2163763" y="2344739"/>
            <a:ext cx="4800600" cy="3303587"/>
          </a:xfrm>
        </p:spPr>
        <p:txBody>
          <a:bodyPr/>
          <a:lstStyle/>
          <a:p>
            <a:pPr marL="990575" lvl="1" indent="-533387">
              <a:spcBef>
                <a:spcPct val="20000"/>
              </a:spcBef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1444" name="Group 4"/>
          <p:cNvGrpSpPr>
            <a:grpSpLocks/>
          </p:cNvGrpSpPr>
          <p:nvPr/>
        </p:nvGrpSpPr>
        <p:grpSpPr bwMode="auto">
          <a:xfrm>
            <a:off x="7010400" y="1066802"/>
            <a:ext cx="3429000" cy="3516312"/>
            <a:chOff x="3456" y="1440"/>
            <a:chExt cx="2160" cy="2215"/>
          </a:xfrm>
        </p:grpSpPr>
        <p:sp>
          <p:nvSpPr>
            <p:cNvPr id="61458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59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60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61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62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63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64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65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66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67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68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69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1470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1471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1472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1473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1474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1475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1476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1477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1478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1479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1480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1481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1445" name="Freeform 29" descr="5%"/>
          <p:cNvSpPr>
            <a:spLocks/>
          </p:cNvSpPr>
          <p:nvPr/>
        </p:nvSpPr>
        <p:spPr bwMode="auto">
          <a:xfrm rot="-5400000">
            <a:off x="1986757" y="1289845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1446" name="Oval 30"/>
          <p:cNvSpPr>
            <a:spLocks noChangeArrowheads="1"/>
          </p:cNvSpPr>
          <p:nvPr/>
        </p:nvSpPr>
        <p:spPr bwMode="auto">
          <a:xfrm rot="-5400000">
            <a:off x="3276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7" name="Oval 31"/>
          <p:cNvSpPr>
            <a:spLocks noChangeArrowheads="1"/>
          </p:cNvSpPr>
          <p:nvPr/>
        </p:nvSpPr>
        <p:spPr bwMode="auto">
          <a:xfrm rot="-5400000">
            <a:off x="3200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8" name="Oval 32"/>
          <p:cNvSpPr>
            <a:spLocks noChangeArrowheads="1"/>
          </p:cNvSpPr>
          <p:nvPr/>
        </p:nvSpPr>
        <p:spPr bwMode="auto">
          <a:xfrm rot="-5400000">
            <a:off x="2362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49" name="Oval 33"/>
          <p:cNvSpPr>
            <a:spLocks noChangeArrowheads="1"/>
          </p:cNvSpPr>
          <p:nvPr/>
        </p:nvSpPr>
        <p:spPr bwMode="auto">
          <a:xfrm rot="-5400000">
            <a:off x="3427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0" name="Freeform 34" descr="5%"/>
          <p:cNvSpPr>
            <a:spLocks/>
          </p:cNvSpPr>
          <p:nvPr/>
        </p:nvSpPr>
        <p:spPr bwMode="auto">
          <a:xfrm rot="5400000" flipV="1">
            <a:off x="4876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1451" name="Oval 35"/>
          <p:cNvSpPr>
            <a:spLocks noChangeArrowheads="1"/>
          </p:cNvSpPr>
          <p:nvPr/>
        </p:nvSpPr>
        <p:spPr bwMode="auto">
          <a:xfrm rot="5400000" flipV="1">
            <a:off x="6400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2" name="Oval 36"/>
          <p:cNvSpPr>
            <a:spLocks noChangeArrowheads="1"/>
          </p:cNvSpPr>
          <p:nvPr/>
        </p:nvSpPr>
        <p:spPr bwMode="auto">
          <a:xfrm rot="5400000" flipV="1">
            <a:off x="5040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3" name="Oval 37"/>
          <p:cNvSpPr>
            <a:spLocks noChangeArrowheads="1"/>
          </p:cNvSpPr>
          <p:nvPr/>
        </p:nvSpPr>
        <p:spPr bwMode="auto">
          <a:xfrm rot="5400000" flipV="1">
            <a:off x="556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4" name="Oval 38"/>
          <p:cNvSpPr>
            <a:spLocks noChangeArrowheads="1"/>
          </p:cNvSpPr>
          <p:nvPr/>
        </p:nvSpPr>
        <p:spPr bwMode="auto">
          <a:xfrm rot="5400000" flipV="1">
            <a:off x="5562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1455" name="Line 39"/>
          <p:cNvSpPr>
            <a:spLocks noChangeShapeType="1"/>
          </p:cNvSpPr>
          <p:nvPr/>
        </p:nvSpPr>
        <p:spPr bwMode="auto">
          <a:xfrm flipV="1">
            <a:off x="2438400" y="1676400"/>
            <a:ext cx="3962400" cy="2286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1456" name="Text Box 40"/>
          <p:cNvSpPr txBox="1">
            <a:spLocks noChangeArrowheads="1"/>
          </p:cNvSpPr>
          <p:nvPr/>
        </p:nvSpPr>
        <p:spPr bwMode="auto">
          <a:xfrm>
            <a:off x="7467600" y="4343400"/>
            <a:ext cx="2514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1457" name="Rectangle 41"/>
          <p:cNvSpPr>
            <a:spLocks noChangeArrowheads="1"/>
          </p:cNvSpPr>
          <p:nvPr/>
        </p:nvSpPr>
        <p:spPr bwMode="auto">
          <a:xfrm>
            <a:off x="1905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1" rIns="90488" bIns="44451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  <p:extLst>
      <p:ext uri="{BB962C8B-B14F-4D97-AF65-F5344CB8AC3E}">
        <p14:creationId xmlns:p14="http://schemas.microsoft.com/office/powerpoint/2010/main" val="18026533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>
            <a:normAutofit fontScale="90000"/>
          </a:bodyPr>
          <a:lstStyle/>
          <a:p>
            <a:r>
              <a:rPr lang="en-US" altLang="en-US" sz="3733" dirty="0"/>
              <a:t>How to Define Inter-Cluster Similarity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2163763" y="2344739"/>
            <a:ext cx="4800600" cy="3303587"/>
          </a:xfrm>
        </p:spPr>
        <p:txBody>
          <a:bodyPr/>
          <a:lstStyle/>
          <a:p>
            <a:pPr marL="990575" lvl="1" indent="-533387">
              <a:spcBef>
                <a:spcPct val="20000"/>
              </a:spcBef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2468" name="Group 4"/>
          <p:cNvGrpSpPr>
            <a:grpSpLocks/>
          </p:cNvGrpSpPr>
          <p:nvPr/>
        </p:nvGrpSpPr>
        <p:grpSpPr bwMode="auto">
          <a:xfrm>
            <a:off x="7010400" y="1066802"/>
            <a:ext cx="3429000" cy="3516312"/>
            <a:chOff x="3456" y="1440"/>
            <a:chExt cx="2160" cy="2215"/>
          </a:xfrm>
        </p:grpSpPr>
        <p:sp>
          <p:nvSpPr>
            <p:cNvPr id="62497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498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499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500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501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502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503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504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505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506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507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508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2509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2510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2511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2512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2513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2514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2515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2516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2517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2518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2519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2520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2469" name="Freeform 29" descr="5%"/>
          <p:cNvSpPr>
            <a:spLocks/>
          </p:cNvSpPr>
          <p:nvPr/>
        </p:nvSpPr>
        <p:spPr bwMode="auto">
          <a:xfrm rot="-5400000">
            <a:off x="1986757" y="1289845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70" name="Oval 30"/>
          <p:cNvSpPr>
            <a:spLocks noChangeArrowheads="1"/>
          </p:cNvSpPr>
          <p:nvPr/>
        </p:nvSpPr>
        <p:spPr bwMode="auto">
          <a:xfrm rot="-5400000">
            <a:off x="3276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1" name="Oval 31"/>
          <p:cNvSpPr>
            <a:spLocks noChangeArrowheads="1"/>
          </p:cNvSpPr>
          <p:nvPr/>
        </p:nvSpPr>
        <p:spPr bwMode="auto">
          <a:xfrm rot="-5400000">
            <a:off x="3200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2" name="Oval 32"/>
          <p:cNvSpPr>
            <a:spLocks noChangeArrowheads="1"/>
          </p:cNvSpPr>
          <p:nvPr/>
        </p:nvSpPr>
        <p:spPr bwMode="auto">
          <a:xfrm rot="-5400000">
            <a:off x="2362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3" name="Oval 33"/>
          <p:cNvSpPr>
            <a:spLocks noChangeArrowheads="1"/>
          </p:cNvSpPr>
          <p:nvPr/>
        </p:nvSpPr>
        <p:spPr bwMode="auto">
          <a:xfrm rot="-5400000">
            <a:off x="3427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4" name="Freeform 34" descr="5%"/>
          <p:cNvSpPr>
            <a:spLocks/>
          </p:cNvSpPr>
          <p:nvPr/>
        </p:nvSpPr>
        <p:spPr bwMode="auto">
          <a:xfrm rot="5400000" flipV="1">
            <a:off x="4876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75" name="Oval 35"/>
          <p:cNvSpPr>
            <a:spLocks noChangeArrowheads="1"/>
          </p:cNvSpPr>
          <p:nvPr/>
        </p:nvSpPr>
        <p:spPr bwMode="auto">
          <a:xfrm rot="5400000" flipV="1">
            <a:off x="6400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6" name="Oval 36"/>
          <p:cNvSpPr>
            <a:spLocks noChangeArrowheads="1"/>
          </p:cNvSpPr>
          <p:nvPr/>
        </p:nvSpPr>
        <p:spPr bwMode="auto">
          <a:xfrm rot="5400000" flipV="1">
            <a:off x="5040313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7" name="Oval 37"/>
          <p:cNvSpPr>
            <a:spLocks noChangeArrowheads="1"/>
          </p:cNvSpPr>
          <p:nvPr/>
        </p:nvSpPr>
        <p:spPr bwMode="auto">
          <a:xfrm rot="5400000" flipV="1">
            <a:off x="556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8" name="Oval 38"/>
          <p:cNvSpPr>
            <a:spLocks noChangeArrowheads="1"/>
          </p:cNvSpPr>
          <p:nvPr/>
        </p:nvSpPr>
        <p:spPr bwMode="auto">
          <a:xfrm rot="5400000" flipV="1">
            <a:off x="5562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2479" name="Line 39"/>
          <p:cNvSpPr>
            <a:spLocks noChangeShapeType="1"/>
          </p:cNvSpPr>
          <p:nvPr/>
        </p:nvSpPr>
        <p:spPr bwMode="auto">
          <a:xfrm>
            <a:off x="3352800" y="2209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80" name="Line 40"/>
          <p:cNvSpPr>
            <a:spLocks noChangeShapeType="1"/>
          </p:cNvSpPr>
          <p:nvPr/>
        </p:nvSpPr>
        <p:spPr bwMode="auto">
          <a:xfrm flipV="1">
            <a:off x="3352800" y="1676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81" name="Line 41"/>
          <p:cNvSpPr>
            <a:spLocks noChangeShapeType="1"/>
          </p:cNvSpPr>
          <p:nvPr/>
        </p:nvSpPr>
        <p:spPr bwMode="auto">
          <a:xfrm flipV="1">
            <a:off x="3352800" y="1295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82" name="Line 42"/>
          <p:cNvSpPr>
            <a:spLocks noChangeShapeType="1"/>
          </p:cNvSpPr>
          <p:nvPr/>
        </p:nvSpPr>
        <p:spPr bwMode="auto">
          <a:xfrm flipV="1">
            <a:off x="3352800" y="1676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83" name="Line 43"/>
          <p:cNvSpPr>
            <a:spLocks noChangeShapeType="1"/>
          </p:cNvSpPr>
          <p:nvPr/>
        </p:nvSpPr>
        <p:spPr bwMode="auto">
          <a:xfrm>
            <a:off x="3505200" y="1828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84" name="Line 44"/>
          <p:cNvSpPr>
            <a:spLocks noChangeShapeType="1"/>
          </p:cNvSpPr>
          <p:nvPr/>
        </p:nvSpPr>
        <p:spPr bwMode="auto">
          <a:xfrm flipV="1">
            <a:off x="3505200" y="1676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85" name="Line 45"/>
          <p:cNvSpPr>
            <a:spLocks noChangeShapeType="1"/>
          </p:cNvSpPr>
          <p:nvPr/>
        </p:nvSpPr>
        <p:spPr bwMode="auto">
          <a:xfrm flipV="1">
            <a:off x="3505200" y="1295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86" name="Line 46"/>
          <p:cNvSpPr>
            <a:spLocks noChangeShapeType="1"/>
          </p:cNvSpPr>
          <p:nvPr/>
        </p:nvSpPr>
        <p:spPr bwMode="auto">
          <a:xfrm flipV="1">
            <a:off x="3505200" y="1676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87" name="Line 47"/>
          <p:cNvSpPr>
            <a:spLocks noChangeShapeType="1"/>
          </p:cNvSpPr>
          <p:nvPr/>
        </p:nvSpPr>
        <p:spPr bwMode="auto">
          <a:xfrm>
            <a:off x="2438400" y="1905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88" name="Line 48"/>
          <p:cNvSpPr>
            <a:spLocks noChangeShapeType="1"/>
          </p:cNvSpPr>
          <p:nvPr/>
        </p:nvSpPr>
        <p:spPr bwMode="auto">
          <a:xfrm flipV="1">
            <a:off x="2438400" y="1676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89" name="Line 49"/>
          <p:cNvSpPr>
            <a:spLocks noChangeShapeType="1"/>
          </p:cNvSpPr>
          <p:nvPr/>
        </p:nvSpPr>
        <p:spPr bwMode="auto">
          <a:xfrm flipV="1">
            <a:off x="2438400" y="1295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90" name="Line 50"/>
          <p:cNvSpPr>
            <a:spLocks noChangeShapeType="1"/>
          </p:cNvSpPr>
          <p:nvPr/>
        </p:nvSpPr>
        <p:spPr bwMode="auto">
          <a:xfrm flipV="1">
            <a:off x="2438400" y="1676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91" name="Line 51"/>
          <p:cNvSpPr>
            <a:spLocks noChangeShapeType="1"/>
          </p:cNvSpPr>
          <p:nvPr/>
        </p:nvSpPr>
        <p:spPr bwMode="auto">
          <a:xfrm>
            <a:off x="3276600" y="1447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92" name="Line 52"/>
          <p:cNvSpPr>
            <a:spLocks noChangeShapeType="1"/>
          </p:cNvSpPr>
          <p:nvPr/>
        </p:nvSpPr>
        <p:spPr bwMode="auto">
          <a:xfrm>
            <a:off x="3276600" y="1447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93" name="Line 53"/>
          <p:cNvSpPr>
            <a:spLocks noChangeShapeType="1"/>
          </p:cNvSpPr>
          <p:nvPr/>
        </p:nvSpPr>
        <p:spPr bwMode="auto">
          <a:xfrm flipV="1">
            <a:off x="3276600" y="1295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94" name="Line 54"/>
          <p:cNvSpPr>
            <a:spLocks noChangeShapeType="1"/>
          </p:cNvSpPr>
          <p:nvPr/>
        </p:nvSpPr>
        <p:spPr bwMode="auto">
          <a:xfrm>
            <a:off x="3276600" y="1447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2495" name="Text Box 55"/>
          <p:cNvSpPr txBox="1">
            <a:spLocks noChangeArrowheads="1"/>
          </p:cNvSpPr>
          <p:nvPr/>
        </p:nvSpPr>
        <p:spPr bwMode="auto">
          <a:xfrm>
            <a:off x="7467600" y="4343400"/>
            <a:ext cx="2514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2496" name="Rectangle 56"/>
          <p:cNvSpPr>
            <a:spLocks noChangeArrowheads="1"/>
          </p:cNvSpPr>
          <p:nvPr/>
        </p:nvSpPr>
        <p:spPr bwMode="auto">
          <a:xfrm>
            <a:off x="1905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1" rIns="90488" bIns="44451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</p:spTree>
    <p:extLst>
      <p:ext uri="{BB962C8B-B14F-4D97-AF65-F5344CB8AC3E}">
        <p14:creationId xmlns:p14="http://schemas.microsoft.com/office/powerpoint/2010/main" val="2796674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Line 2"/>
          <p:cNvSpPr>
            <a:spLocks noChangeShapeType="1"/>
          </p:cNvSpPr>
          <p:nvPr/>
        </p:nvSpPr>
        <p:spPr bwMode="auto">
          <a:xfrm flipV="1">
            <a:off x="2895600" y="1981200"/>
            <a:ext cx="289560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3491" name="Freeform 3" descr="5%"/>
          <p:cNvSpPr>
            <a:spLocks/>
          </p:cNvSpPr>
          <p:nvPr/>
        </p:nvSpPr>
        <p:spPr bwMode="auto">
          <a:xfrm rot="-5400000">
            <a:off x="1986757" y="1289845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00" y="152400"/>
            <a:ext cx="8280400" cy="552451"/>
          </a:xfrm>
        </p:spPr>
        <p:txBody>
          <a:bodyPr>
            <a:normAutofit fontScale="90000"/>
          </a:bodyPr>
          <a:lstStyle/>
          <a:p>
            <a:r>
              <a:rPr lang="en-US" altLang="en-US" sz="3733" dirty="0"/>
              <a:t>How to Define Inter-Cluster Similarity</a:t>
            </a:r>
          </a:p>
        </p:txBody>
      </p:sp>
      <p:sp>
        <p:nvSpPr>
          <p:cNvPr id="63493" name="Rectangle 5"/>
          <p:cNvSpPr>
            <a:spLocks noGrp="1" noChangeArrowheads="1"/>
          </p:cNvSpPr>
          <p:nvPr>
            <p:ph idx="1"/>
          </p:nvPr>
        </p:nvSpPr>
        <p:spPr>
          <a:xfrm>
            <a:off x="2163763" y="2344739"/>
            <a:ext cx="4800600" cy="3303587"/>
          </a:xfrm>
        </p:spPr>
        <p:txBody>
          <a:bodyPr/>
          <a:lstStyle/>
          <a:p>
            <a:pPr marL="990575" lvl="1" indent="-533387">
              <a:spcBef>
                <a:spcPct val="20000"/>
              </a:spcBef>
              <a:buNone/>
            </a:pPr>
            <a:r>
              <a:rPr lang="en-US" altLang="en-US" sz="1000"/>
              <a:t> </a:t>
            </a:r>
          </a:p>
        </p:txBody>
      </p:sp>
      <p:grpSp>
        <p:nvGrpSpPr>
          <p:cNvPr id="63494" name="Group 6"/>
          <p:cNvGrpSpPr>
            <a:grpSpLocks/>
          </p:cNvGrpSpPr>
          <p:nvPr/>
        </p:nvGrpSpPr>
        <p:grpSpPr bwMode="auto">
          <a:xfrm>
            <a:off x="7010400" y="1066802"/>
            <a:ext cx="3429000" cy="3516312"/>
            <a:chOff x="3456" y="1440"/>
            <a:chExt cx="2160" cy="2215"/>
          </a:xfrm>
        </p:grpSpPr>
        <p:sp>
          <p:nvSpPr>
            <p:cNvPr id="63508" name="Line 7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09" name="Line 8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10" name="Line 9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11" name="Line 10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12" name="Line 11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13" name="Line 12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14" name="Line 13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15" name="Line 14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16" name="Line 15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17" name="Line 16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18" name="Line 17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19" name="Line 18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3520" name="Text Box 19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3521" name="Text Box 20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3522" name="Text Box 21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3523" name="Text Box 22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3524" name="Text Box 23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3525" name="Text Box 24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p1</a:t>
              </a:r>
            </a:p>
          </p:txBody>
        </p:sp>
        <p:sp>
          <p:nvSpPr>
            <p:cNvPr id="63526" name="Text Box 2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p2</a:t>
              </a:r>
            </a:p>
          </p:txBody>
        </p:sp>
        <p:sp>
          <p:nvSpPr>
            <p:cNvPr id="63527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p3</a:t>
              </a:r>
            </a:p>
          </p:txBody>
        </p:sp>
        <p:sp>
          <p:nvSpPr>
            <p:cNvPr id="63528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p4</a:t>
              </a:r>
            </a:p>
          </p:txBody>
        </p:sp>
        <p:sp>
          <p:nvSpPr>
            <p:cNvPr id="63529" name="Text Box 28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p5</a:t>
              </a:r>
            </a:p>
          </p:txBody>
        </p:sp>
        <p:sp>
          <p:nvSpPr>
            <p:cNvPr id="63530" name="Text Box 29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 . .</a:t>
              </a:r>
            </a:p>
          </p:txBody>
        </p:sp>
        <p:sp>
          <p:nvSpPr>
            <p:cNvPr id="63531" name="Text Box 30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  <a:p>
              <a:pPr>
                <a:spcBef>
                  <a:spcPct val="50000"/>
                </a:spcBef>
              </a:pPr>
              <a:r>
                <a:rPr lang="en-US" altLang="en-US" sz="1600"/>
                <a:t>.</a:t>
              </a:r>
            </a:p>
          </p:txBody>
        </p:sp>
      </p:grpSp>
      <p:sp>
        <p:nvSpPr>
          <p:cNvPr id="63495" name="Oval 31"/>
          <p:cNvSpPr>
            <a:spLocks noChangeArrowheads="1"/>
          </p:cNvSpPr>
          <p:nvPr/>
        </p:nvSpPr>
        <p:spPr bwMode="auto">
          <a:xfrm rot="-5400000">
            <a:off x="3276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6" name="Oval 32"/>
          <p:cNvSpPr>
            <a:spLocks noChangeArrowheads="1"/>
          </p:cNvSpPr>
          <p:nvPr/>
        </p:nvSpPr>
        <p:spPr bwMode="auto">
          <a:xfrm rot="-5400000">
            <a:off x="3200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7" name="Oval 33"/>
          <p:cNvSpPr>
            <a:spLocks noChangeArrowheads="1"/>
          </p:cNvSpPr>
          <p:nvPr/>
        </p:nvSpPr>
        <p:spPr bwMode="auto">
          <a:xfrm rot="-5400000">
            <a:off x="2362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8" name="Oval 34"/>
          <p:cNvSpPr>
            <a:spLocks noChangeArrowheads="1"/>
          </p:cNvSpPr>
          <p:nvPr/>
        </p:nvSpPr>
        <p:spPr bwMode="auto">
          <a:xfrm rot="-5400000">
            <a:off x="3427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499" name="Freeform 35" descr="5%"/>
          <p:cNvSpPr>
            <a:spLocks/>
          </p:cNvSpPr>
          <p:nvPr/>
        </p:nvSpPr>
        <p:spPr bwMode="auto">
          <a:xfrm rot="5400000" flipV="1">
            <a:off x="4876800" y="1143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63500" name="Oval 36"/>
          <p:cNvSpPr>
            <a:spLocks noChangeArrowheads="1"/>
          </p:cNvSpPr>
          <p:nvPr/>
        </p:nvSpPr>
        <p:spPr bwMode="auto">
          <a:xfrm rot="5400000" flipV="1">
            <a:off x="6400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1" name="Oval 37"/>
          <p:cNvSpPr>
            <a:spLocks noChangeArrowheads="1"/>
          </p:cNvSpPr>
          <p:nvPr/>
        </p:nvSpPr>
        <p:spPr bwMode="auto">
          <a:xfrm rot="5400000" flipV="1">
            <a:off x="5040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2" name="Oval 38"/>
          <p:cNvSpPr>
            <a:spLocks noChangeArrowheads="1"/>
          </p:cNvSpPr>
          <p:nvPr/>
        </p:nvSpPr>
        <p:spPr bwMode="auto">
          <a:xfrm rot="5400000" flipV="1">
            <a:off x="556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3" name="Oval 39"/>
          <p:cNvSpPr>
            <a:spLocks noChangeArrowheads="1"/>
          </p:cNvSpPr>
          <p:nvPr/>
        </p:nvSpPr>
        <p:spPr bwMode="auto">
          <a:xfrm rot="5400000" flipV="1">
            <a:off x="5562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63504" name="Text Box 40"/>
          <p:cNvSpPr txBox="1">
            <a:spLocks noChangeArrowheads="1"/>
          </p:cNvSpPr>
          <p:nvPr/>
        </p:nvSpPr>
        <p:spPr bwMode="auto">
          <a:xfrm>
            <a:off x="7467600" y="4343400"/>
            <a:ext cx="2514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Proximity Matrix</a:t>
            </a:r>
          </a:p>
        </p:txBody>
      </p:sp>
      <p:sp>
        <p:nvSpPr>
          <p:cNvPr id="63505" name="Rectangle 41"/>
          <p:cNvSpPr>
            <a:spLocks noChangeArrowheads="1"/>
          </p:cNvSpPr>
          <p:nvPr/>
        </p:nvSpPr>
        <p:spPr bwMode="auto">
          <a:xfrm>
            <a:off x="1905000" y="3200400"/>
            <a:ext cx="57912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1" rIns="90488" bIns="44451"/>
          <a:lstStyle>
            <a:lvl1pPr marL="342900" indent="-342900"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MIN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MAX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Group Average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>
                <a:solidFill>
                  <a:srgbClr val="FF0000"/>
                </a:solidFill>
              </a:rPr>
              <a:t>Distance Between Centroids</a:t>
            </a:r>
          </a:p>
          <a:p>
            <a:pPr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75000"/>
              <a:buFont typeface="Monotype Sorts" pitchFamily="2" charset="2"/>
              <a:buChar char="l"/>
            </a:pPr>
            <a:r>
              <a:rPr lang="en-US" altLang="en-US" sz="2400" b="0"/>
              <a:t>Other methods driven by an objective function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  <a:buClr>
                <a:srgbClr val="0C7B9C"/>
              </a:buClr>
              <a:buSzPct val="100000"/>
              <a:buFont typeface="Arial" charset="0"/>
              <a:buChar char="–"/>
            </a:pPr>
            <a:r>
              <a:rPr lang="en-US" altLang="en-US" sz="2000" b="0"/>
              <a:t>Ward’s Method uses squared error</a:t>
            </a:r>
            <a:endParaRPr lang="en-US" altLang="en-US" sz="2400" b="0"/>
          </a:p>
        </p:txBody>
      </p:sp>
      <p:sp>
        <p:nvSpPr>
          <p:cNvPr id="63506" name="Text Box 42"/>
          <p:cNvSpPr txBox="1">
            <a:spLocks noChangeArrowheads="1"/>
          </p:cNvSpPr>
          <p:nvPr/>
        </p:nvSpPr>
        <p:spPr bwMode="auto">
          <a:xfrm>
            <a:off x="2743200" y="1828801"/>
            <a:ext cx="228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  <p:sp>
        <p:nvSpPr>
          <p:cNvPr id="63507" name="Text Box 43"/>
          <p:cNvSpPr txBox="1">
            <a:spLocks noChangeArrowheads="1"/>
          </p:cNvSpPr>
          <p:nvPr/>
        </p:nvSpPr>
        <p:spPr bwMode="auto">
          <a:xfrm>
            <a:off x="5638800" y="1828801"/>
            <a:ext cx="228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>
                <a:solidFill>
                  <a:srgbClr val="FF0000"/>
                </a:solidFill>
                <a:sym typeface="Symbol" pitchFamily="18" charset="2"/>
              </a:rPr>
              <a:t></a:t>
            </a:r>
          </a:p>
        </p:txBody>
      </p:sp>
    </p:spTree>
    <p:extLst>
      <p:ext uri="{BB962C8B-B14F-4D97-AF65-F5344CB8AC3E}">
        <p14:creationId xmlns:p14="http://schemas.microsoft.com/office/powerpoint/2010/main" val="29410203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MIN or Single Link </a:t>
            </a:r>
          </a:p>
        </p:txBody>
      </p:sp>
      <p:pic>
        <p:nvPicPr>
          <p:cNvPr id="6451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>
          <a:xfrm>
            <a:off x="2362200" y="3810001"/>
            <a:ext cx="3276600" cy="2500313"/>
          </a:xfrm>
          <a:noFill/>
        </p:spPr>
      </p:pic>
      <p:sp>
        <p:nvSpPr>
          <p:cNvPr id="645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1" y="1417639"/>
            <a:ext cx="8504767" cy="5181600"/>
          </a:xfrm>
        </p:spPr>
        <p:txBody>
          <a:bodyPr>
            <a:normAutofit/>
          </a:bodyPr>
          <a:lstStyle/>
          <a:p>
            <a:r>
              <a:rPr lang="en-US" altLang="en-US" sz="2667" dirty="0"/>
              <a:t>Proximity of two clusters is based on the two closest points in the different clusters</a:t>
            </a:r>
          </a:p>
          <a:p>
            <a:pPr lvl="1"/>
            <a:r>
              <a:rPr lang="en-US" altLang="en-US" dirty="0"/>
              <a:t>Determined by one pair of points, i.e., by one link in the proximity graph</a:t>
            </a:r>
          </a:p>
          <a:p>
            <a:r>
              <a:rPr lang="en-US" altLang="en-US" sz="2667" dirty="0"/>
              <a:t>Example:</a:t>
            </a:r>
          </a:p>
        </p:txBody>
      </p:sp>
      <p:pic>
        <p:nvPicPr>
          <p:cNvPr id="64517" name="Picture 5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91501" y="4114800"/>
            <a:ext cx="4000500" cy="1837267"/>
          </a:xfrm>
          <a:noFill/>
        </p:spPr>
      </p:pic>
      <p:sp>
        <p:nvSpPr>
          <p:cNvPr id="64518" name="Text Box 6"/>
          <p:cNvSpPr txBox="1">
            <a:spLocks noChangeArrowheads="1"/>
          </p:cNvSpPr>
          <p:nvPr/>
        </p:nvSpPr>
        <p:spPr bwMode="auto">
          <a:xfrm>
            <a:off x="7239000" y="3657600"/>
            <a:ext cx="1752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</p:spTree>
    <p:extLst>
      <p:ext uri="{BB962C8B-B14F-4D97-AF65-F5344CB8AC3E}">
        <p14:creationId xmlns:p14="http://schemas.microsoft.com/office/powerpoint/2010/main" val="982477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Clustering: MIN</a:t>
            </a:r>
          </a:p>
        </p:txBody>
      </p:sp>
      <p:sp>
        <p:nvSpPr>
          <p:cNvPr id="65539" name="Text Box 3"/>
          <p:cNvSpPr txBox="1">
            <a:spLocks noChangeArrowheads="1"/>
          </p:cNvSpPr>
          <p:nvPr/>
        </p:nvSpPr>
        <p:spPr bwMode="auto">
          <a:xfrm>
            <a:off x="2438400" y="5715000"/>
            <a:ext cx="335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7315200" y="5715000"/>
            <a:ext cx="228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</a:p>
        </p:txBody>
      </p:sp>
      <p:grpSp>
        <p:nvGrpSpPr>
          <p:cNvPr id="65541" name="Group 5"/>
          <p:cNvGrpSpPr>
            <a:grpSpLocks/>
          </p:cNvGrpSpPr>
          <p:nvPr/>
        </p:nvGrpSpPr>
        <p:grpSpPr bwMode="auto">
          <a:xfrm>
            <a:off x="2271713" y="1773239"/>
            <a:ext cx="3055938" cy="2747963"/>
            <a:chOff x="471" y="1117"/>
            <a:chExt cx="1925" cy="1731"/>
          </a:xfrm>
        </p:grpSpPr>
        <p:sp>
          <p:nvSpPr>
            <p:cNvPr id="65558" name="Freeform 6"/>
            <p:cNvSpPr>
              <a:spLocks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5559" name="Freeform 7"/>
            <p:cNvSpPr>
              <a:spLocks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5560" name="Freeform 8"/>
            <p:cNvSpPr>
              <a:spLocks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5561" name="Freeform 9"/>
            <p:cNvSpPr>
              <a:spLocks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5562" name="Freeform 10"/>
            <p:cNvSpPr>
              <a:spLocks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5563" name="Freeform 11"/>
            <p:cNvSpPr>
              <a:spLocks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5564" name="Rectangle 12"/>
            <p:cNvSpPr>
              <a:spLocks noChangeArrowheads="1"/>
            </p:cNvSpPr>
            <p:nvPr/>
          </p:nvSpPr>
          <p:spPr bwMode="auto">
            <a:xfrm>
              <a:off x="2032" y="1117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65565" name="Rectangle 13"/>
            <p:cNvSpPr>
              <a:spLocks noChangeArrowheads="1"/>
            </p:cNvSpPr>
            <p:nvPr/>
          </p:nvSpPr>
          <p:spPr bwMode="auto">
            <a:xfrm>
              <a:off x="1256" y="1764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65566" name="Rectangle 14"/>
            <p:cNvSpPr>
              <a:spLocks noChangeArrowheads="1"/>
            </p:cNvSpPr>
            <p:nvPr/>
          </p:nvSpPr>
          <p:spPr bwMode="auto">
            <a:xfrm>
              <a:off x="1810" y="2069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65567" name="Rectangle 15"/>
            <p:cNvSpPr>
              <a:spLocks noChangeArrowheads="1"/>
            </p:cNvSpPr>
            <p:nvPr/>
          </p:nvSpPr>
          <p:spPr bwMode="auto">
            <a:xfrm>
              <a:off x="1422" y="2635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65568" name="Rectangle 16"/>
            <p:cNvSpPr>
              <a:spLocks noChangeArrowheads="1"/>
            </p:cNvSpPr>
            <p:nvPr/>
          </p:nvSpPr>
          <p:spPr bwMode="auto">
            <a:xfrm>
              <a:off x="648" y="1626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65569" name="Rectangle 17"/>
            <p:cNvSpPr>
              <a:spLocks noChangeArrowheads="1"/>
            </p:cNvSpPr>
            <p:nvPr/>
          </p:nvSpPr>
          <p:spPr bwMode="auto">
            <a:xfrm>
              <a:off x="2307" y="2125"/>
              <a:ext cx="8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019551" y="2863851"/>
            <a:ext cx="1423988" cy="914400"/>
            <a:chOff x="1572" y="1804"/>
            <a:chExt cx="897" cy="576"/>
          </a:xfrm>
        </p:grpSpPr>
        <p:sp>
          <p:nvSpPr>
            <p:cNvPr id="65556" name="Freeform 19"/>
            <p:cNvSpPr>
              <a:spLocks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5557" name="Rectangle 20"/>
            <p:cNvSpPr>
              <a:spLocks noChangeArrowheads="1"/>
            </p:cNvSpPr>
            <p:nvPr/>
          </p:nvSpPr>
          <p:spPr bwMode="auto">
            <a:xfrm>
              <a:off x="1944" y="1804"/>
              <a:ext cx="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051049" y="2489200"/>
            <a:ext cx="1735139" cy="1106488"/>
            <a:chOff x="332" y="1568"/>
            <a:chExt cx="1093" cy="697"/>
          </a:xfrm>
        </p:grpSpPr>
        <p:sp>
          <p:nvSpPr>
            <p:cNvPr id="65554" name="Freeform 22"/>
            <p:cNvSpPr>
              <a:spLocks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5555" name="Rectangle 23"/>
            <p:cNvSpPr>
              <a:spLocks noChangeArrowheads="1"/>
            </p:cNvSpPr>
            <p:nvPr/>
          </p:nvSpPr>
          <p:spPr bwMode="auto">
            <a:xfrm>
              <a:off x="949" y="2052"/>
              <a:ext cx="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1968502" y="2071690"/>
            <a:ext cx="3675063" cy="2097087"/>
            <a:chOff x="280" y="1305"/>
            <a:chExt cx="2315" cy="1321"/>
          </a:xfrm>
        </p:grpSpPr>
        <p:sp>
          <p:nvSpPr>
            <p:cNvPr id="65552" name="Freeform 25"/>
            <p:cNvSpPr>
              <a:spLocks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5553" name="Rectangle 26"/>
            <p:cNvSpPr>
              <a:spLocks noChangeArrowheads="1"/>
            </p:cNvSpPr>
            <p:nvPr/>
          </p:nvSpPr>
          <p:spPr bwMode="auto">
            <a:xfrm>
              <a:off x="1390" y="1305"/>
              <a:ext cx="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906588" y="1951038"/>
            <a:ext cx="3795712" cy="2871788"/>
            <a:chOff x="241" y="1229"/>
            <a:chExt cx="2391" cy="1809"/>
          </a:xfrm>
        </p:grpSpPr>
        <p:sp>
          <p:nvSpPr>
            <p:cNvPr id="65550" name="Freeform 28"/>
            <p:cNvSpPr>
              <a:spLocks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5551" name="Rectangle 29"/>
            <p:cNvSpPr>
              <a:spLocks noChangeArrowheads="1"/>
            </p:cNvSpPr>
            <p:nvPr/>
          </p:nvSpPr>
          <p:spPr bwMode="auto">
            <a:xfrm>
              <a:off x="1239" y="2825"/>
              <a:ext cx="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831976" y="1547813"/>
            <a:ext cx="4003675" cy="3530600"/>
            <a:chOff x="194" y="975"/>
            <a:chExt cx="2522" cy="2224"/>
          </a:xfrm>
        </p:grpSpPr>
        <p:sp>
          <p:nvSpPr>
            <p:cNvPr id="65548" name="Rectangle 31"/>
            <p:cNvSpPr>
              <a:spLocks noChangeArrowheads="1"/>
            </p:cNvSpPr>
            <p:nvPr/>
          </p:nvSpPr>
          <p:spPr bwMode="auto">
            <a:xfrm>
              <a:off x="2138" y="975"/>
              <a:ext cx="9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2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65549" name="Freeform 32"/>
            <p:cNvSpPr>
              <a:spLocks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pic>
        <p:nvPicPr>
          <p:cNvPr id="65547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09800"/>
            <a:ext cx="438785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839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Strength of MIN</a:t>
            </a: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2590800" y="4267200"/>
            <a:ext cx="289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66564" name="Text Box 5"/>
          <p:cNvSpPr txBox="1">
            <a:spLocks noChangeArrowheads="1"/>
          </p:cNvSpPr>
          <p:nvPr/>
        </p:nvSpPr>
        <p:spPr bwMode="auto">
          <a:xfrm>
            <a:off x="6934200" y="4267200"/>
            <a:ext cx="2362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Six Clusters</a:t>
            </a:r>
          </a:p>
        </p:txBody>
      </p:sp>
      <p:sp>
        <p:nvSpPr>
          <p:cNvPr id="66565" name="Text Box 8"/>
          <p:cNvSpPr txBox="1">
            <a:spLocks noChangeArrowheads="1"/>
          </p:cNvSpPr>
          <p:nvPr/>
        </p:nvSpPr>
        <p:spPr bwMode="auto">
          <a:xfrm>
            <a:off x="2133600" y="5576888"/>
            <a:ext cx="6324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non-elliptical shapes</a:t>
            </a:r>
          </a:p>
        </p:txBody>
      </p:sp>
      <p:pic>
        <p:nvPicPr>
          <p:cNvPr id="6656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26" y="1370013"/>
            <a:ext cx="4854575" cy="365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2" y="1295401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57482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3203577"/>
            <a:ext cx="424180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587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400" y="612777"/>
            <a:ext cx="4241800" cy="319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Limitations of MIN</a:t>
            </a:r>
          </a:p>
        </p:txBody>
      </p:sp>
      <p:sp>
        <p:nvSpPr>
          <p:cNvPr id="67589" name="Text Box 3"/>
          <p:cNvSpPr txBox="1">
            <a:spLocks noChangeArrowheads="1"/>
          </p:cNvSpPr>
          <p:nvPr/>
        </p:nvSpPr>
        <p:spPr bwMode="auto">
          <a:xfrm>
            <a:off x="2590800" y="4724400"/>
            <a:ext cx="289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6705600" y="3124200"/>
            <a:ext cx="289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</a:p>
        </p:txBody>
      </p:sp>
      <p:sp>
        <p:nvSpPr>
          <p:cNvPr id="67591" name="Text Box 8"/>
          <p:cNvSpPr txBox="1">
            <a:spLocks noChangeArrowheads="1"/>
          </p:cNvSpPr>
          <p:nvPr/>
        </p:nvSpPr>
        <p:spPr bwMode="auto">
          <a:xfrm>
            <a:off x="2133600" y="5576888"/>
            <a:ext cx="6324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Sensitive to noise and outliers</a:t>
            </a:r>
          </a:p>
        </p:txBody>
      </p:sp>
      <p:pic>
        <p:nvPicPr>
          <p:cNvPr id="67592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2" y="1447801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3" name="Text Box 11"/>
          <p:cNvSpPr txBox="1">
            <a:spLocks noChangeArrowheads="1"/>
          </p:cNvSpPr>
          <p:nvPr/>
        </p:nvSpPr>
        <p:spPr bwMode="auto">
          <a:xfrm>
            <a:off x="6781800" y="5715000"/>
            <a:ext cx="289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Three Clusters</a:t>
            </a:r>
          </a:p>
        </p:txBody>
      </p:sp>
    </p:spTree>
    <p:extLst>
      <p:ext uri="{BB962C8B-B14F-4D97-AF65-F5344CB8AC3E}">
        <p14:creationId xmlns:p14="http://schemas.microsoft.com/office/powerpoint/2010/main" val="28312752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MAX or Complete Linkage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Proximity of two clusters is based on the two most distant points in the different clusters</a:t>
            </a:r>
          </a:p>
          <a:p>
            <a:pPr lvl="1"/>
            <a:r>
              <a:rPr lang="en-US" altLang="en-US"/>
              <a:t>Determined by all pairs of points in the two clusters</a:t>
            </a:r>
          </a:p>
          <a:p>
            <a:endParaRPr lang="en-US" altLang="en-US"/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 bwMode="auto">
          <a:xfrm>
            <a:off x="1676401" y="3192890"/>
            <a:ext cx="4195763" cy="320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1" y="4259689"/>
            <a:ext cx="4000500" cy="1836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4" name="Text Box 6"/>
          <p:cNvSpPr txBox="1">
            <a:spLocks noChangeArrowheads="1"/>
          </p:cNvSpPr>
          <p:nvPr/>
        </p:nvSpPr>
        <p:spPr bwMode="auto">
          <a:xfrm>
            <a:off x="7010400" y="3802489"/>
            <a:ext cx="1752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</p:spTree>
    <p:extLst>
      <p:ext uri="{BB962C8B-B14F-4D97-AF65-F5344CB8AC3E}">
        <p14:creationId xmlns:p14="http://schemas.microsoft.com/office/powerpoint/2010/main" val="1741430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Clustering: MAX</a:t>
            </a:r>
          </a:p>
        </p:txBody>
      </p:sp>
      <p:sp>
        <p:nvSpPr>
          <p:cNvPr id="69635" name="Text Box 3"/>
          <p:cNvSpPr txBox="1">
            <a:spLocks noChangeArrowheads="1"/>
          </p:cNvSpPr>
          <p:nvPr/>
        </p:nvSpPr>
        <p:spPr bwMode="auto">
          <a:xfrm>
            <a:off x="2622551" y="5348288"/>
            <a:ext cx="335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</a:p>
        </p:txBody>
      </p:sp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7194549" y="5348289"/>
            <a:ext cx="17970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</a:p>
        </p:txBody>
      </p:sp>
      <p:pic>
        <p:nvPicPr>
          <p:cNvPr id="6963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49" y="2133600"/>
            <a:ext cx="438785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9638" name="Group 6"/>
          <p:cNvGrpSpPr>
            <a:grpSpLocks/>
          </p:cNvGrpSpPr>
          <p:nvPr/>
        </p:nvGrpSpPr>
        <p:grpSpPr bwMode="auto">
          <a:xfrm>
            <a:off x="2316164" y="1824037"/>
            <a:ext cx="3000374" cy="2690813"/>
            <a:chOff x="383" y="1437"/>
            <a:chExt cx="1890" cy="1695"/>
          </a:xfrm>
        </p:grpSpPr>
        <p:sp>
          <p:nvSpPr>
            <p:cNvPr id="69654" name="Freeform 7"/>
            <p:cNvSpPr>
              <a:spLocks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9655" name="Freeform 8"/>
            <p:cNvSpPr>
              <a:spLocks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9656" name="Freeform 9"/>
            <p:cNvSpPr>
              <a:spLocks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9657" name="Freeform 10"/>
            <p:cNvSpPr>
              <a:spLocks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9658" name="Freeform 11"/>
            <p:cNvSpPr>
              <a:spLocks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9659" name="Freeform 12"/>
            <p:cNvSpPr>
              <a:spLocks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9660" name="Rectangle 13"/>
            <p:cNvSpPr>
              <a:spLocks noChangeArrowheads="1"/>
            </p:cNvSpPr>
            <p:nvPr/>
          </p:nvSpPr>
          <p:spPr bwMode="auto">
            <a:xfrm>
              <a:off x="1890" y="1437"/>
              <a:ext cx="8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69661" name="Rectangle 14"/>
            <p:cNvSpPr>
              <a:spLocks noChangeArrowheads="1"/>
            </p:cNvSpPr>
            <p:nvPr/>
          </p:nvSpPr>
          <p:spPr bwMode="auto">
            <a:xfrm>
              <a:off x="1089" y="2061"/>
              <a:ext cx="8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69662" name="Rectangle 15"/>
            <p:cNvSpPr>
              <a:spLocks noChangeArrowheads="1"/>
            </p:cNvSpPr>
            <p:nvPr/>
          </p:nvSpPr>
          <p:spPr bwMode="auto">
            <a:xfrm>
              <a:off x="1699" y="2373"/>
              <a:ext cx="8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69663" name="Rectangle 16"/>
            <p:cNvSpPr>
              <a:spLocks noChangeArrowheads="1"/>
            </p:cNvSpPr>
            <p:nvPr/>
          </p:nvSpPr>
          <p:spPr bwMode="auto">
            <a:xfrm>
              <a:off x="1319" y="2928"/>
              <a:ext cx="8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69664" name="Rectangle 17"/>
            <p:cNvSpPr>
              <a:spLocks noChangeArrowheads="1"/>
            </p:cNvSpPr>
            <p:nvPr/>
          </p:nvSpPr>
          <p:spPr bwMode="auto">
            <a:xfrm>
              <a:off x="517" y="1940"/>
              <a:ext cx="8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69665" name="Rectangle 18"/>
            <p:cNvSpPr>
              <a:spLocks noChangeArrowheads="1"/>
            </p:cNvSpPr>
            <p:nvPr/>
          </p:nvSpPr>
          <p:spPr bwMode="auto">
            <a:xfrm>
              <a:off x="2188" y="2428"/>
              <a:ext cx="85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4033837" y="3208344"/>
            <a:ext cx="1401763" cy="893763"/>
            <a:chOff x="1465" y="2309"/>
            <a:chExt cx="883" cy="563"/>
          </a:xfrm>
        </p:grpSpPr>
        <p:sp>
          <p:nvSpPr>
            <p:cNvPr id="69652" name="Freeform 20"/>
            <p:cNvSpPr>
              <a:spLocks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9653" name="Rectangle 21"/>
            <p:cNvSpPr>
              <a:spLocks noChangeArrowheads="1"/>
            </p:cNvSpPr>
            <p:nvPr/>
          </p:nvSpPr>
          <p:spPr bwMode="auto">
            <a:xfrm>
              <a:off x="1831" y="2668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2228851" y="2249488"/>
            <a:ext cx="1579563" cy="889000"/>
            <a:chOff x="328" y="1705"/>
            <a:chExt cx="995" cy="560"/>
          </a:xfrm>
        </p:grpSpPr>
        <p:sp>
          <p:nvSpPr>
            <p:cNvPr id="69650" name="Freeform 23"/>
            <p:cNvSpPr>
              <a:spLocks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69651" name="Rectangle 24"/>
            <p:cNvSpPr>
              <a:spLocks noChangeArrowheads="1"/>
            </p:cNvSpPr>
            <p:nvPr/>
          </p:nvSpPr>
          <p:spPr bwMode="auto">
            <a:xfrm>
              <a:off x="853" y="1705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884363" y="1582740"/>
            <a:ext cx="3935413" cy="3487737"/>
            <a:chOff x="111" y="1285"/>
            <a:chExt cx="2479" cy="2197"/>
          </a:xfrm>
        </p:grpSpPr>
        <p:sp>
          <p:nvSpPr>
            <p:cNvPr id="69648" name="Rectangle 26"/>
            <p:cNvSpPr>
              <a:spLocks noChangeArrowheads="1"/>
            </p:cNvSpPr>
            <p:nvPr/>
          </p:nvSpPr>
          <p:spPr bwMode="auto">
            <a:xfrm>
              <a:off x="2484" y="1705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69649" name="Freeform 27"/>
            <p:cNvSpPr>
              <a:spLocks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3406775" y="2982913"/>
            <a:ext cx="2160588" cy="1652587"/>
            <a:chOff x="1070" y="2167"/>
            <a:chExt cx="1361" cy="1041"/>
          </a:xfrm>
        </p:grpSpPr>
        <p:sp>
          <p:nvSpPr>
            <p:cNvPr id="69646" name="Rectangle 29"/>
            <p:cNvSpPr>
              <a:spLocks noChangeArrowheads="1"/>
            </p:cNvSpPr>
            <p:nvPr/>
          </p:nvSpPr>
          <p:spPr bwMode="auto">
            <a:xfrm>
              <a:off x="1070" y="2560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  <p:sp>
          <p:nvSpPr>
            <p:cNvPr id="69647" name="Freeform 30"/>
            <p:cNvSpPr>
              <a:spLocks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2139952" y="1720852"/>
            <a:ext cx="2906713" cy="1520825"/>
            <a:chOff x="272" y="1372"/>
            <a:chExt cx="1831" cy="958"/>
          </a:xfrm>
        </p:grpSpPr>
        <p:sp>
          <p:nvSpPr>
            <p:cNvPr id="69644" name="Rectangle 32"/>
            <p:cNvSpPr>
              <a:spLocks noChangeArrowheads="1"/>
            </p:cNvSpPr>
            <p:nvPr/>
          </p:nvSpPr>
          <p:spPr bwMode="auto">
            <a:xfrm>
              <a:off x="1165" y="1380"/>
              <a:ext cx="9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1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69645" name="Freeform 33"/>
            <p:cNvSpPr>
              <a:spLocks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242647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Strength of MAX</a:t>
            </a:r>
          </a:p>
        </p:txBody>
      </p:sp>
      <p:sp>
        <p:nvSpPr>
          <p:cNvPr id="70659" name="Text Box 3"/>
          <p:cNvSpPr txBox="1">
            <a:spLocks noChangeArrowheads="1"/>
          </p:cNvSpPr>
          <p:nvPr/>
        </p:nvSpPr>
        <p:spPr bwMode="auto">
          <a:xfrm>
            <a:off x="2894013" y="4357688"/>
            <a:ext cx="289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70660" name="Text Box 6"/>
          <p:cNvSpPr txBox="1">
            <a:spLocks noChangeArrowheads="1"/>
          </p:cNvSpPr>
          <p:nvPr/>
        </p:nvSpPr>
        <p:spPr bwMode="auto">
          <a:xfrm>
            <a:off x="6704013" y="4357688"/>
            <a:ext cx="289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</a:p>
        </p:txBody>
      </p:sp>
      <p:sp>
        <p:nvSpPr>
          <p:cNvPr id="70661" name="Text Box 8"/>
          <p:cNvSpPr txBox="1">
            <a:spLocks noChangeArrowheads="1"/>
          </p:cNvSpPr>
          <p:nvPr/>
        </p:nvSpPr>
        <p:spPr bwMode="auto">
          <a:xfrm>
            <a:off x="2133600" y="5576888"/>
            <a:ext cx="6324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Less susceptible to noise and outliers</a:t>
            </a:r>
          </a:p>
        </p:txBody>
      </p:sp>
      <p:pic>
        <p:nvPicPr>
          <p:cNvPr id="70662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1066801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3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977" y="1066801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96204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Limitations of MAX</a:t>
            </a:r>
          </a:p>
        </p:txBody>
      </p:sp>
      <p:sp>
        <p:nvSpPr>
          <p:cNvPr id="71683" name="Text Box 4"/>
          <p:cNvSpPr txBox="1">
            <a:spLocks noChangeArrowheads="1"/>
          </p:cNvSpPr>
          <p:nvPr/>
        </p:nvSpPr>
        <p:spPr bwMode="auto">
          <a:xfrm>
            <a:off x="2590800" y="4738688"/>
            <a:ext cx="289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71684" name="Text Box 7"/>
          <p:cNvSpPr txBox="1">
            <a:spLocks noChangeArrowheads="1"/>
          </p:cNvSpPr>
          <p:nvPr/>
        </p:nvSpPr>
        <p:spPr bwMode="auto">
          <a:xfrm>
            <a:off x="6704013" y="4738688"/>
            <a:ext cx="289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Two Clusters</a:t>
            </a:r>
          </a:p>
        </p:txBody>
      </p:sp>
      <p:sp>
        <p:nvSpPr>
          <p:cNvPr id="71685" name="Text Box 8"/>
          <p:cNvSpPr txBox="1">
            <a:spLocks noChangeArrowheads="1"/>
          </p:cNvSpPr>
          <p:nvPr/>
        </p:nvSpPr>
        <p:spPr bwMode="auto">
          <a:xfrm>
            <a:off x="2133600" y="5486400"/>
            <a:ext cx="632460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Tends to break large clusters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1800"/>
              <a:t> Biased towards globular clusters</a:t>
            </a:r>
          </a:p>
        </p:txBody>
      </p:sp>
      <p:pic>
        <p:nvPicPr>
          <p:cNvPr id="71686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2" y="1371601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2" y="1371601"/>
            <a:ext cx="4854575" cy="365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138906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Group Average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1935163" y="1503611"/>
            <a:ext cx="8318500" cy="3505200"/>
          </a:xfrm>
        </p:spPr>
        <p:txBody>
          <a:bodyPr/>
          <a:lstStyle/>
          <a:p>
            <a:r>
              <a:rPr lang="en-US" altLang="en-US" sz="2200"/>
              <a:t>Proximity of two clusters is the average of pairwise proximity between points in the two clusters.</a:t>
            </a:r>
          </a:p>
          <a:p>
            <a:endParaRPr lang="en-US" altLang="en-US" sz="2200"/>
          </a:p>
          <a:p>
            <a:endParaRPr lang="en-US" altLang="en-US" sz="2200"/>
          </a:p>
          <a:p>
            <a:pPr lvl="4"/>
            <a:endParaRPr lang="en-US" altLang="en-US"/>
          </a:p>
          <a:p>
            <a:r>
              <a:rPr lang="en-US" altLang="en-US" sz="2200"/>
              <a:t>Need to use average connectivity for scalability since total proximity favors large clusters</a:t>
            </a:r>
          </a:p>
          <a:p>
            <a:endParaRPr lang="en-US" altLang="en-US" sz="2200"/>
          </a:p>
        </p:txBody>
      </p:sp>
      <p:graphicFrame>
        <p:nvGraphicFramePr>
          <p:cNvPr id="72708" name="Object 4"/>
          <p:cNvGraphicFramePr>
            <a:graphicFrameLocks noChangeAspect="1"/>
          </p:cNvGraphicFramePr>
          <p:nvPr/>
        </p:nvGraphicFramePr>
        <p:xfrm>
          <a:off x="3581401" y="2162580"/>
          <a:ext cx="5575300" cy="998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73500" imgH="698500" progId="Equation.3">
                  <p:embed/>
                </p:oleObj>
              </mc:Choice>
              <mc:Fallback>
                <p:oleObj name="Equation" r:id="rId2" imgW="3873500" imgH="698500" progId="Equation.3">
                  <p:embed/>
                  <p:pic>
                    <p:nvPicPr>
                      <p:cNvPr id="727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1" y="2162580"/>
                        <a:ext cx="5575300" cy="998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" b="3334"/>
          <a:stretch>
            <a:fillRect/>
          </a:stretch>
        </p:blipFill>
        <p:spPr bwMode="auto">
          <a:xfrm>
            <a:off x="2362200" y="4170612"/>
            <a:ext cx="3276600" cy="250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1" y="4772276"/>
            <a:ext cx="4000500" cy="183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1" name="Text Box 7"/>
          <p:cNvSpPr txBox="1">
            <a:spLocks noChangeArrowheads="1"/>
          </p:cNvSpPr>
          <p:nvPr/>
        </p:nvSpPr>
        <p:spPr bwMode="auto">
          <a:xfrm>
            <a:off x="7239000" y="4315074"/>
            <a:ext cx="17526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Distance Matrix:</a:t>
            </a:r>
          </a:p>
        </p:txBody>
      </p:sp>
    </p:spTree>
    <p:extLst>
      <p:ext uri="{BB962C8B-B14F-4D97-AF65-F5344CB8AC3E}">
        <p14:creationId xmlns:p14="http://schemas.microsoft.com/office/powerpoint/2010/main" val="40662056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Clustering: Group Average</a:t>
            </a: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2438400" y="5562600"/>
            <a:ext cx="3352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Nested Clusters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7086600" y="5562600"/>
            <a:ext cx="2209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Dendrogram</a:t>
            </a:r>
          </a:p>
        </p:txBody>
      </p:sp>
      <p:pic>
        <p:nvPicPr>
          <p:cNvPr id="7373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057400"/>
            <a:ext cx="4387851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3734" name="Group 6"/>
          <p:cNvGrpSpPr>
            <a:grpSpLocks/>
          </p:cNvGrpSpPr>
          <p:nvPr/>
        </p:nvGrpSpPr>
        <p:grpSpPr bwMode="auto">
          <a:xfrm>
            <a:off x="2332039" y="1987551"/>
            <a:ext cx="2792413" cy="2508251"/>
            <a:chOff x="509" y="1252"/>
            <a:chExt cx="1759" cy="1580"/>
          </a:xfrm>
        </p:grpSpPr>
        <p:sp>
          <p:nvSpPr>
            <p:cNvPr id="73750" name="Freeform 7"/>
            <p:cNvSpPr>
              <a:spLocks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3751" name="Freeform 8"/>
            <p:cNvSpPr>
              <a:spLocks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3752" name="Freeform 9"/>
            <p:cNvSpPr>
              <a:spLocks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3753" name="Freeform 10"/>
            <p:cNvSpPr>
              <a:spLocks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3754" name="Freeform 11"/>
            <p:cNvSpPr>
              <a:spLocks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3755" name="Freeform 12"/>
            <p:cNvSpPr>
              <a:spLocks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3756" name="Rectangle 13"/>
            <p:cNvSpPr>
              <a:spLocks noChangeArrowheads="1"/>
            </p:cNvSpPr>
            <p:nvPr/>
          </p:nvSpPr>
          <p:spPr bwMode="auto">
            <a:xfrm>
              <a:off x="1908" y="1252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/>
            </a:p>
          </p:txBody>
        </p:sp>
        <p:sp>
          <p:nvSpPr>
            <p:cNvPr id="73757" name="Rectangle 14"/>
            <p:cNvSpPr>
              <a:spLocks noChangeArrowheads="1"/>
            </p:cNvSpPr>
            <p:nvPr/>
          </p:nvSpPr>
          <p:spPr bwMode="auto">
            <a:xfrm>
              <a:off x="1163" y="1832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/>
            </a:p>
          </p:txBody>
        </p:sp>
        <p:sp>
          <p:nvSpPr>
            <p:cNvPr id="73758" name="Rectangle 15"/>
            <p:cNvSpPr>
              <a:spLocks noChangeArrowheads="1"/>
            </p:cNvSpPr>
            <p:nvPr/>
          </p:nvSpPr>
          <p:spPr bwMode="auto">
            <a:xfrm>
              <a:off x="1732" y="2121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/>
            </a:p>
          </p:txBody>
        </p:sp>
        <p:sp>
          <p:nvSpPr>
            <p:cNvPr id="73759" name="Rectangle 16"/>
            <p:cNvSpPr>
              <a:spLocks noChangeArrowheads="1"/>
            </p:cNvSpPr>
            <p:nvPr/>
          </p:nvSpPr>
          <p:spPr bwMode="auto">
            <a:xfrm>
              <a:off x="1379" y="2638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/>
            </a:p>
          </p:txBody>
        </p:sp>
        <p:sp>
          <p:nvSpPr>
            <p:cNvPr id="73760" name="Rectangle 17"/>
            <p:cNvSpPr>
              <a:spLocks noChangeArrowheads="1"/>
            </p:cNvSpPr>
            <p:nvPr/>
          </p:nvSpPr>
          <p:spPr bwMode="auto">
            <a:xfrm>
              <a:off x="631" y="1719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/>
            </a:p>
          </p:txBody>
        </p:sp>
        <p:sp>
          <p:nvSpPr>
            <p:cNvPr id="73761" name="Rectangle 18"/>
            <p:cNvSpPr>
              <a:spLocks noChangeArrowheads="1"/>
            </p:cNvSpPr>
            <p:nvPr/>
          </p:nvSpPr>
          <p:spPr bwMode="auto">
            <a:xfrm>
              <a:off x="2187" y="2173"/>
              <a:ext cx="81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3929063" y="3273427"/>
            <a:ext cx="1301751" cy="836613"/>
            <a:chOff x="1515" y="2062"/>
            <a:chExt cx="820" cy="527"/>
          </a:xfrm>
        </p:grpSpPr>
        <p:sp>
          <p:nvSpPr>
            <p:cNvPr id="73748" name="Freeform 20"/>
            <p:cNvSpPr>
              <a:spLocks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3749" name="Rectangle 21"/>
            <p:cNvSpPr>
              <a:spLocks noChangeArrowheads="1"/>
            </p:cNvSpPr>
            <p:nvPr/>
          </p:nvSpPr>
          <p:spPr bwMode="auto">
            <a:xfrm>
              <a:off x="1855" y="2395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1</a:t>
              </a:r>
              <a:endParaRPr lang="en-US" alt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2241551" y="2382839"/>
            <a:ext cx="1323975" cy="985837"/>
            <a:chOff x="452" y="1501"/>
            <a:chExt cx="834" cy="621"/>
          </a:xfrm>
        </p:grpSpPr>
        <p:sp>
          <p:nvSpPr>
            <p:cNvPr id="73746" name="Freeform 23"/>
            <p:cNvSpPr>
              <a:spLocks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3747" name="Rectangle 24"/>
            <p:cNvSpPr>
              <a:spLocks noChangeArrowheads="1"/>
            </p:cNvSpPr>
            <p:nvPr/>
          </p:nvSpPr>
          <p:spPr bwMode="auto">
            <a:xfrm>
              <a:off x="944" y="1501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2</a:t>
              </a:r>
              <a:endParaRPr lang="en-US" altLang="en-US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927226" y="1622426"/>
            <a:ext cx="3659188" cy="3460751"/>
            <a:chOff x="254" y="1022"/>
            <a:chExt cx="2305" cy="2180"/>
          </a:xfrm>
        </p:grpSpPr>
        <p:sp>
          <p:nvSpPr>
            <p:cNvPr id="73744" name="Rectangle 26"/>
            <p:cNvSpPr>
              <a:spLocks noChangeArrowheads="1"/>
            </p:cNvSpPr>
            <p:nvPr/>
          </p:nvSpPr>
          <p:spPr bwMode="auto">
            <a:xfrm>
              <a:off x="564" y="1148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5</a:t>
              </a:r>
              <a:endParaRPr lang="en-US" altLang="en-US"/>
            </a:p>
          </p:txBody>
        </p:sp>
        <p:sp>
          <p:nvSpPr>
            <p:cNvPr id="73745" name="Freeform 27"/>
            <p:cNvSpPr>
              <a:spLocks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3455989" y="3101978"/>
            <a:ext cx="1800225" cy="1668463"/>
            <a:chOff x="1217" y="1954"/>
            <a:chExt cx="1134" cy="1051"/>
          </a:xfrm>
        </p:grpSpPr>
        <p:sp>
          <p:nvSpPr>
            <p:cNvPr id="73742" name="Rectangle 29"/>
            <p:cNvSpPr>
              <a:spLocks noChangeArrowheads="1"/>
            </p:cNvSpPr>
            <p:nvPr/>
          </p:nvSpPr>
          <p:spPr bwMode="auto">
            <a:xfrm>
              <a:off x="1665" y="2811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3</a:t>
              </a:r>
              <a:endParaRPr lang="en-US" altLang="en-US"/>
            </a:p>
          </p:txBody>
        </p:sp>
        <p:sp>
          <p:nvSpPr>
            <p:cNvPr id="73743" name="Freeform 30"/>
            <p:cNvSpPr>
              <a:spLocks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3417890" y="1922463"/>
            <a:ext cx="1933575" cy="3097212"/>
            <a:chOff x="1193" y="1211"/>
            <a:chExt cx="1218" cy="1951"/>
          </a:xfrm>
        </p:grpSpPr>
        <p:sp>
          <p:nvSpPr>
            <p:cNvPr id="73740" name="Rectangle 32"/>
            <p:cNvSpPr>
              <a:spLocks noChangeArrowheads="1"/>
            </p:cNvSpPr>
            <p:nvPr/>
          </p:nvSpPr>
          <p:spPr bwMode="auto">
            <a:xfrm>
              <a:off x="1602" y="1211"/>
              <a:ext cx="9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2000">
                  <a:solidFill>
                    <a:srgbClr val="FF0000"/>
                  </a:solidFill>
                </a:rPr>
                <a:t>4</a:t>
              </a:r>
              <a:endParaRPr lang="en-US" altLang="en-US"/>
            </a:p>
          </p:txBody>
        </p:sp>
        <p:sp>
          <p:nvSpPr>
            <p:cNvPr id="73741" name="Freeform 33"/>
            <p:cNvSpPr>
              <a:spLocks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3882099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Clustering: Group Average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387" indent="-533387"/>
            <a:r>
              <a:rPr lang="en-US" altLang="en-US" sz="3100"/>
              <a:t>Compromise between Single and Complete Link</a:t>
            </a:r>
          </a:p>
          <a:p>
            <a:pPr marL="533387" indent="-533387"/>
            <a:endParaRPr lang="en-US" altLang="en-US" sz="3100"/>
          </a:p>
          <a:p>
            <a:pPr marL="533387" indent="-533387"/>
            <a:r>
              <a:rPr lang="en-US" altLang="en-US" sz="3100"/>
              <a:t>Strengths</a:t>
            </a:r>
          </a:p>
          <a:p>
            <a:pPr marL="914377" lvl="1" indent="-457189"/>
            <a:r>
              <a:rPr lang="en-US" altLang="en-US" sz="2700"/>
              <a:t>Less susceptible to noise and outliers</a:t>
            </a:r>
          </a:p>
          <a:p>
            <a:pPr marL="533387" indent="-533387"/>
            <a:endParaRPr lang="en-US" altLang="en-US" sz="3100"/>
          </a:p>
          <a:p>
            <a:pPr marL="533387" indent="-533387"/>
            <a:r>
              <a:rPr lang="en-US" altLang="en-US" sz="3100"/>
              <a:t>Limitations</a:t>
            </a:r>
          </a:p>
          <a:p>
            <a:pPr marL="914377" lvl="1" indent="-457189"/>
            <a:r>
              <a:rPr lang="en-US" altLang="en-US" sz="2700"/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25106412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 Similarity: Ward’s Method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Similarity of two clusters is based on the increase in squared error when two clusters are merged</a:t>
            </a:r>
          </a:p>
          <a:p>
            <a:pPr lvl="1"/>
            <a:r>
              <a:rPr lang="en-US" altLang="en-US"/>
              <a:t>Similar to group average if distance between points is distance squared</a:t>
            </a:r>
          </a:p>
          <a:p>
            <a:pPr lvl="4"/>
            <a:endParaRPr lang="en-US" altLang="en-US"/>
          </a:p>
          <a:p>
            <a:r>
              <a:rPr lang="en-US" altLang="en-US"/>
              <a:t>Less susceptible to noise and outliers</a:t>
            </a:r>
          </a:p>
          <a:p>
            <a:pPr lvl="4"/>
            <a:endParaRPr lang="en-US" altLang="en-US"/>
          </a:p>
          <a:p>
            <a:r>
              <a:rPr lang="en-US" altLang="en-US"/>
              <a:t>Biased towards globular clusters</a:t>
            </a:r>
          </a:p>
          <a:p>
            <a:pPr lvl="4"/>
            <a:endParaRPr lang="en-US" altLang="en-US"/>
          </a:p>
          <a:p>
            <a:r>
              <a:rPr lang="en-US" altLang="en-US"/>
              <a:t>Hierarchical analogue of K-means</a:t>
            </a:r>
          </a:p>
          <a:p>
            <a:pPr lvl="1"/>
            <a:r>
              <a:rPr lang="en-US" altLang="en-US"/>
              <a:t>Can be used to initialize K-means</a:t>
            </a:r>
          </a:p>
        </p:txBody>
      </p:sp>
    </p:spTree>
    <p:extLst>
      <p:ext uri="{BB962C8B-B14F-4D97-AF65-F5344CB8AC3E}">
        <p14:creationId xmlns:p14="http://schemas.microsoft.com/office/powerpoint/2010/main" val="3731606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Hierarchical Clustering: Comparison</a:t>
            </a: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4759325" y="4953002"/>
            <a:ext cx="1676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Group Average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6054725" y="4572002"/>
            <a:ext cx="1752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Ward’s Method</a:t>
            </a:r>
          </a:p>
        </p:txBody>
      </p:sp>
      <p:grpSp>
        <p:nvGrpSpPr>
          <p:cNvPr id="76805" name="Group 5"/>
          <p:cNvGrpSpPr>
            <a:grpSpLocks noChangeAspect="1"/>
          </p:cNvGrpSpPr>
          <p:nvPr/>
        </p:nvGrpSpPr>
        <p:grpSpPr bwMode="auto">
          <a:xfrm>
            <a:off x="7794625" y="4132265"/>
            <a:ext cx="1860010" cy="1695956"/>
            <a:chOff x="509" y="1253"/>
            <a:chExt cx="1777" cy="1620"/>
          </a:xfrm>
        </p:grpSpPr>
        <p:sp>
          <p:nvSpPr>
            <p:cNvPr id="76907" name="Freeform 6"/>
            <p:cNvSpPr>
              <a:spLocks noChangeAspect="1"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908" name="Freeform 7"/>
            <p:cNvSpPr>
              <a:spLocks noChangeAspect="1"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909" name="Freeform 8"/>
            <p:cNvSpPr>
              <a:spLocks noChangeAspect="1"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910" name="Freeform 9"/>
            <p:cNvSpPr>
              <a:spLocks noChangeAspect="1"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911" name="Freeform 10"/>
            <p:cNvSpPr>
              <a:spLocks noChangeAspect="1"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912" name="Freeform 11"/>
            <p:cNvSpPr>
              <a:spLocks noChangeAspect="1"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913" name="Rectangle 12"/>
            <p:cNvSpPr>
              <a:spLocks noChangeAspect="1" noChangeArrowheads="1"/>
            </p:cNvSpPr>
            <p:nvPr/>
          </p:nvSpPr>
          <p:spPr bwMode="auto">
            <a:xfrm>
              <a:off x="1909" y="1253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914" name="Rectangle 13"/>
            <p:cNvSpPr>
              <a:spLocks noChangeAspect="1" noChangeArrowheads="1"/>
            </p:cNvSpPr>
            <p:nvPr/>
          </p:nvSpPr>
          <p:spPr bwMode="auto">
            <a:xfrm>
              <a:off x="1163" y="1832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915" name="Rectangle 14"/>
            <p:cNvSpPr>
              <a:spLocks noChangeAspect="1" noChangeArrowheads="1"/>
            </p:cNvSpPr>
            <p:nvPr/>
          </p:nvSpPr>
          <p:spPr bwMode="auto">
            <a:xfrm>
              <a:off x="1733" y="2122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916" name="Rectangle 15"/>
            <p:cNvSpPr>
              <a:spLocks noChangeAspect="1" noChangeArrowheads="1"/>
            </p:cNvSpPr>
            <p:nvPr/>
          </p:nvSpPr>
          <p:spPr bwMode="auto">
            <a:xfrm>
              <a:off x="1379" y="2638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917" name="Rectangle 16"/>
            <p:cNvSpPr>
              <a:spLocks noChangeAspect="1" noChangeArrowheads="1"/>
            </p:cNvSpPr>
            <p:nvPr/>
          </p:nvSpPr>
          <p:spPr bwMode="auto">
            <a:xfrm>
              <a:off x="630" y="1720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918" name="Rectangle 17"/>
            <p:cNvSpPr>
              <a:spLocks noChangeAspect="1" noChangeArrowheads="1"/>
            </p:cNvSpPr>
            <p:nvPr/>
          </p:nvSpPr>
          <p:spPr bwMode="auto">
            <a:xfrm>
              <a:off x="2188" y="2173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3" name="Group 18"/>
          <p:cNvGrpSpPr>
            <a:grpSpLocks noChangeAspect="1"/>
          </p:cNvGrpSpPr>
          <p:nvPr/>
        </p:nvGrpSpPr>
        <p:grpSpPr bwMode="auto">
          <a:xfrm>
            <a:off x="8848725" y="4979990"/>
            <a:ext cx="857251" cy="593184"/>
            <a:chOff x="1515" y="2062"/>
            <a:chExt cx="820" cy="567"/>
          </a:xfrm>
        </p:grpSpPr>
        <p:sp>
          <p:nvSpPr>
            <p:cNvPr id="76905" name="Freeform 19"/>
            <p:cNvSpPr>
              <a:spLocks noChangeAspect="1"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906" name="Rectangle 20"/>
            <p:cNvSpPr>
              <a:spLocks noChangeAspect="1" noChangeArrowheads="1"/>
            </p:cNvSpPr>
            <p:nvPr/>
          </p:nvSpPr>
          <p:spPr bwMode="auto">
            <a:xfrm>
              <a:off x="1855" y="2394"/>
              <a:ext cx="109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4" name="Group 21"/>
          <p:cNvGrpSpPr>
            <a:grpSpLocks noChangeAspect="1"/>
          </p:cNvGrpSpPr>
          <p:nvPr/>
        </p:nvGrpSpPr>
        <p:grpSpPr bwMode="auto">
          <a:xfrm>
            <a:off x="7735888" y="4392614"/>
            <a:ext cx="873125" cy="649287"/>
            <a:chOff x="452" y="1501"/>
            <a:chExt cx="834" cy="621"/>
          </a:xfrm>
        </p:grpSpPr>
        <p:sp>
          <p:nvSpPr>
            <p:cNvPr id="76903" name="Freeform 22"/>
            <p:cNvSpPr>
              <a:spLocks noChangeAspect="1"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904" name="Rectangle 23"/>
            <p:cNvSpPr>
              <a:spLocks noChangeAspect="1" noChangeArrowheads="1"/>
            </p:cNvSpPr>
            <p:nvPr/>
          </p:nvSpPr>
          <p:spPr bwMode="auto">
            <a:xfrm>
              <a:off x="943" y="1501"/>
              <a:ext cx="109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5" name="Group 24"/>
          <p:cNvGrpSpPr>
            <a:grpSpLocks noChangeAspect="1"/>
          </p:cNvGrpSpPr>
          <p:nvPr/>
        </p:nvGrpSpPr>
        <p:grpSpPr bwMode="auto">
          <a:xfrm>
            <a:off x="7527925" y="3890964"/>
            <a:ext cx="2413000" cy="2281237"/>
            <a:chOff x="254" y="1022"/>
            <a:chExt cx="2305" cy="2180"/>
          </a:xfrm>
        </p:grpSpPr>
        <p:sp>
          <p:nvSpPr>
            <p:cNvPr id="76901" name="Rectangle 25"/>
            <p:cNvSpPr>
              <a:spLocks noChangeAspect="1" noChangeArrowheads="1"/>
            </p:cNvSpPr>
            <p:nvPr/>
          </p:nvSpPr>
          <p:spPr bwMode="auto">
            <a:xfrm>
              <a:off x="563" y="1148"/>
              <a:ext cx="109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902" name="Freeform 26"/>
            <p:cNvSpPr>
              <a:spLocks noChangeAspect="1"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6" name="Group 27"/>
          <p:cNvGrpSpPr>
            <a:grpSpLocks noChangeAspect="1"/>
          </p:cNvGrpSpPr>
          <p:nvPr/>
        </p:nvGrpSpPr>
        <p:grpSpPr bwMode="auto">
          <a:xfrm>
            <a:off x="8535988" y="4865689"/>
            <a:ext cx="1187451" cy="1143506"/>
            <a:chOff x="1217" y="1954"/>
            <a:chExt cx="1134" cy="1092"/>
          </a:xfrm>
        </p:grpSpPr>
        <p:sp>
          <p:nvSpPr>
            <p:cNvPr id="76899" name="Rectangle 28"/>
            <p:cNvSpPr>
              <a:spLocks noChangeAspect="1" noChangeArrowheads="1"/>
            </p:cNvSpPr>
            <p:nvPr/>
          </p:nvSpPr>
          <p:spPr bwMode="auto">
            <a:xfrm>
              <a:off x="1666" y="2811"/>
              <a:ext cx="109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900" name="Freeform 29"/>
            <p:cNvSpPr>
              <a:spLocks noChangeAspect="1"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7" name="Group 30"/>
          <p:cNvGrpSpPr>
            <a:grpSpLocks noChangeAspect="1"/>
          </p:cNvGrpSpPr>
          <p:nvPr/>
        </p:nvGrpSpPr>
        <p:grpSpPr bwMode="auto">
          <a:xfrm>
            <a:off x="8510588" y="4089400"/>
            <a:ext cx="1274763" cy="2041525"/>
            <a:chOff x="1193" y="1212"/>
            <a:chExt cx="1218" cy="1950"/>
          </a:xfrm>
        </p:grpSpPr>
        <p:sp>
          <p:nvSpPr>
            <p:cNvPr id="76897" name="Rectangle 31"/>
            <p:cNvSpPr>
              <a:spLocks noChangeAspect="1" noChangeArrowheads="1"/>
            </p:cNvSpPr>
            <p:nvPr/>
          </p:nvSpPr>
          <p:spPr bwMode="auto">
            <a:xfrm>
              <a:off x="1603" y="1212"/>
              <a:ext cx="109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98" name="Freeform 32"/>
            <p:cNvSpPr>
              <a:spLocks noChangeAspect="1"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sp>
        <p:nvSpPr>
          <p:cNvPr id="76811" name="Text Box 33"/>
          <p:cNvSpPr txBox="1">
            <a:spLocks noChangeArrowheads="1"/>
          </p:cNvSpPr>
          <p:nvPr/>
        </p:nvSpPr>
        <p:spPr bwMode="auto">
          <a:xfrm>
            <a:off x="4911725" y="2133602"/>
            <a:ext cx="16764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MIN</a:t>
            </a:r>
          </a:p>
        </p:txBody>
      </p:sp>
      <p:sp>
        <p:nvSpPr>
          <p:cNvPr id="76812" name="Text Box 34"/>
          <p:cNvSpPr txBox="1">
            <a:spLocks noChangeArrowheads="1"/>
          </p:cNvSpPr>
          <p:nvPr/>
        </p:nvSpPr>
        <p:spPr bwMode="auto">
          <a:xfrm>
            <a:off x="6816725" y="2133602"/>
            <a:ext cx="1752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600"/>
              <a:t>MAX</a:t>
            </a:r>
          </a:p>
        </p:txBody>
      </p:sp>
      <p:grpSp>
        <p:nvGrpSpPr>
          <p:cNvPr id="76813" name="Group 35"/>
          <p:cNvGrpSpPr>
            <a:grpSpLocks noChangeAspect="1"/>
          </p:cNvGrpSpPr>
          <p:nvPr/>
        </p:nvGrpSpPr>
        <p:grpSpPr bwMode="auto">
          <a:xfrm>
            <a:off x="2478089" y="4044952"/>
            <a:ext cx="1978025" cy="1797506"/>
            <a:chOff x="438" y="1309"/>
            <a:chExt cx="1937" cy="1759"/>
          </a:xfrm>
        </p:grpSpPr>
        <p:sp>
          <p:nvSpPr>
            <p:cNvPr id="76885" name="Freeform 36"/>
            <p:cNvSpPr>
              <a:spLocks noChangeAspect="1"/>
            </p:cNvSpPr>
            <p:nvPr/>
          </p:nvSpPr>
          <p:spPr bwMode="auto">
            <a:xfrm>
              <a:off x="1038" y="2002"/>
              <a:ext cx="88" cy="87"/>
            </a:xfrm>
            <a:custGeom>
              <a:avLst/>
              <a:gdLst>
                <a:gd name="T0" fmla="*/ 0 w 88"/>
                <a:gd name="T1" fmla="*/ 43 h 87"/>
                <a:gd name="T2" fmla="*/ 4 w 88"/>
                <a:gd name="T3" fmla="*/ 26 h 87"/>
                <a:gd name="T4" fmla="*/ 13 w 88"/>
                <a:gd name="T5" fmla="*/ 13 h 87"/>
                <a:gd name="T6" fmla="*/ 28 w 88"/>
                <a:gd name="T7" fmla="*/ 2 h 87"/>
                <a:gd name="T8" fmla="*/ 45 w 88"/>
                <a:gd name="T9" fmla="*/ 0 h 87"/>
                <a:gd name="T10" fmla="*/ 62 w 88"/>
                <a:gd name="T11" fmla="*/ 2 h 87"/>
                <a:gd name="T12" fmla="*/ 75 w 88"/>
                <a:gd name="T13" fmla="*/ 13 h 87"/>
                <a:gd name="T14" fmla="*/ 86 w 88"/>
                <a:gd name="T15" fmla="*/ 26 h 87"/>
                <a:gd name="T16" fmla="*/ 88 w 88"/>
                <a:gd name="T17" fmla="*/ 43 h 87"/>
                <a:gd name="T18" fmla="*/ 86 w 88"/>
                <a:gd name="T19" fmla="*/ 61 h 87"/>
                <a:gd name="T20" fmla="*/ 75 w 88"/>
                <a:gd name="T21" fmla="*/ 74 h 87"/>
                <a:gd name="T22" fmla="*/ 62 w 88"/>
                <a:gd name="T23" fmla="*/ 84 h 87"/>
                <a:gd name="T24" fmla="*/ 45 w 88"/>
                <a:gd name="T25" fmla="*/ 87 h 87"/>
                <a:gd name="T26" fmla="*/ 28 w 88"/>
                <a:gd name="T27" fmla="*/ 84 h 87"/>
                <a:gd name="T28" fmla="*/ 13 w 88"/>
                <a:gd name="T29" fmla="*/ 74 h 87"/>
                <a:gd name="T30" fmla="*/ 4 w 88"/>
                <a:gd name="T31" fmla="*/ 61 h 87"/>
                <a:gd name="T32" fmla="*/ 0 w 88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7"/>
                <a:gd name="T53" fmla="*/ 88 w 88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6" y="26"/>
                  </a:lnTo>
                  <a:lnTo>
                    <a:pt x="88" y="43"/>
                  </a:lnTo>
                  <a:lnTo>
                    <a:pt x="86" y="61"/>
                  </a:lnTo>
                  <a:lnTo>
                    <a:pt x="75" y="74"/>
                  </a:lnTo>
                  <a:lnTo>
                    <a:pt x="62" y="84"/>
                  </a:lnTo>
                  <a:lnTo>
                    <a:pt x="45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86" name="Freeform 37"/>
            <p:cNvSpPr>
              <a:spLocks noChangeAspect="1"/>
            </p:cNvSpPr>
            <p:nvPr/>
          </p:nvSpPr>
          <p:spPr bwMode="auto">
            <a:xfrm>
              <a:off x="1860" y="1361"/>
              <a:ext cx="89" cy="88"/>
            </a:xfrm>
            <a:custGeom>
              <a:avLst/>
              <a:gdLst>
                <a:gd name="T0" fmla="*/ 0 w 89"/>
                <a:gd name="T1" fmla="*/ 43 h 88"/>
                <a:gd name="T2" fmla="*/ 4 w 89"/>
                <a:gd name="T3" fmla="*/ 26 h 88"/>
                <a:gd name="T4" fmla="*/ 13 w 89"/>
                <a:gd name="T5" fmla="*/ 13 h 88"/>
                <a:gd name="T6" fmla="*/ 28 w 89"/>
                <a:gd name="T7" fmla="*/ 2 h 88"/>
                <a:gd name="T8" fmla="*/ 45 w 89"/>
                <a:gd name="T9" fmla="*/ 0 h 88"/>
                <a:gd name="T10" fmla="*/ 63 w 89"/>
                <a:gd name="T11" fmla="*/ 2 h 88"/>
                <a:gd name="T12" fmla="*/ 76 w 89"/>
                <a:gd name="T13" fmla="*/ 13 h 88"/>
                <a:gd name="T14" fmla="*/ 86 w 89"/>
                <a:gd name="T15" fmla="*/ 26 h 88"/>
                <a:gd name="T16" fmla="*/ 89 w 89"/>
                <a:gd name="T17" fmla="*/ 43 h 88"/>
                <a:gd name="T18" fmla="*/ 86 w 89"/>
                <a:gd name="T19" fmla="*/ 60 h 88"/>
                <a:gd name="T20" fmla="*/ 76 w 89"/>
                <a:gd name="T21" fmla="*/ 76 h 88"/>
                <a:gd name="T22" fmla="*/ 63 w 89"/>
                <a:gd name="T23" fmla="*/ 84 h 88"/>
                <a:gd name="T24" fmla="*/ 45 w 89"/>
                <a:gd name="T25" fmla="*/ 88 h 88"/>
                <a:gd name="T26" fmla="*/ 28 w 89"/>
                <a:gd name="T27" fmla="*/ 84 h 88"/>
                <a:gd name="T28" fmla="*/ 13 w 89"/>
                <a:gd name="T29" fmla="*/ 76 h 88"/>
                <a:gd name="T30" fmla="*/ 4 w 89"/>
                <a:gd name="T31" fmla="*/ 60 h 88"/>
                <a:gd name="T32" fmla="*/ 0 w 89"/>
                <a:gd name="T33" fmla="*/ 43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6" y="26"/>
                  </a:lnTo>
                  <a:lnTo>
                    <a:pt x="89" y="43"/>
                  </a:lnTo>
                  <a:lnTo>
                    <a:pt x="86" y="60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8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87" name="Freeform 38"/>
            <p:cNvSpPr>
              <a:spLocks noChangeAspect="1"/>
            </p:cNvSpPr>
            <p:nvPr/>
          </p:nvSpPr>
          <p:spPr bwMode="auto">
            <a:xfrm>
              <a:off x="1260" y="2875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2 h 88"/>
                <a:gd name="T6" fmla="*/ 29 w 89"/>
                <a:gd name="T7" fmla="*/ 4 h 88"/>
                <a:gd name="T8" fmla="*/ 46 w 89"/>
                <a:gd name="T9" fmla="*/ 0 h 88"/>
                <a:gd name="T10" fmla="*/ 63 w 89"/>
                <a:gd name="T11" fmla="*/ 4 h 88"/>
                <a:gd name="T12" fmla="*/ 76 w 89"/>
                <a:gd name="T13" fmla="*/ 12 h 88"/>
                <a:gd name="T14" fmla="*/ 87 w 89"/>
                <a:gd name="T15" fmla="*/ 28 h 88"/>
                <a:gd name="T16" fmla="*/ 89 w 89"/>
                <a:gd name="T17" fmla="*/ 45 h 88"/>
                <a:gd name="T18" fmla="*/ 87 w 89"/>
                <a:gd name="T19" fmla="*/ 62 h 88"/>
                <a:gd name="T20" fmla="*/ 76 w 89"/>
                <a:gd name="T21" fmla="*/ 75 h 88"/>
                <a:gd name="T22" fmla="*/ 63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2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3" y="4"/>
                  </a:lnTo>
                  <a:lnTo>
                    <a:pt x="76" y="12"/>
                  </a:lnTo>
                  <a:lnTo>
                    <a:pt x="87" y="28"/>
                  </a:lnTo>
                  <a:lnTo>
                    <a:pt x="89" y="45"/>
                  </a:lnTo>
                  <a:lnTo>
                    <a:pt x="87" y="62"/>
                  </a:lnTo>
                  <a:lnTo>
                    <a:pt x="76" y="75"/>
                  </a:lnTo>
                  <a:lnTo>
                    <a:pt x="63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88" name="Freeform 39"/>
            <p:cNvSpPr>
              <a:spLocks noChangeAspect="1"/>
            </p:cNvSpPr>
            <p:nvPr/>
          </p:nvSpPr>
          <p:spPr bwMode="auto">
            <a:xfrm>
              <a:off x="438" y="1875"/>
              <a:ext cx="87" cy="88"/>
            </a:xfrm>
            <a:custGeom>
              <a:avLst/>
              <a:gdLst>
                <a:gd name="T0" fmla="*/ 0 w 87"/>
                <a:gd name="T1" fmla="*/ 45 h 88"/>
                <a:gd name="T2" fmla="*/ 2 w 87"/>
                <a:gd name="T3" fmla="*/ 28 h 88"/>
                <a:gd name="T4" fmla="*/ 11 w 87"/>
                <a:gd name="T5" fmla="*/ 13 h 88"/>
                <a:gd name="T6" fmla="*/ 26 w 87"/>
                <a:gd name="T7" fmla="*/ 4 h 88"/>
                <a:gd name="T8" fmla="*/ 44 w 87"/>
                <a:gd name="T9" fmla="*/ 0 h 88"/>
                <a:gd name="T10" fmla="*/ 61 w 87"/>
                <a:gd name="T11" fmla="*/ 4 h 88"/>
                <a:gd name="T12" fmla="*/ 74 w 87"/>
                <a:gd name="T13" fmla="*/ 13 h 88"/>
                <a:gd name="T14" fmla="*/ 85 w 87"/>
                <a:gd name="T15" fmla="*/ 28 h 88"/>
                <a:gd name="T16" fmla="*/ 87 w 87"/>
                <a:gd name="T17" fmla="*/ 45 h 88"/>
                <a:gd name="T18" fmla="*/ 85 w 87"/>
                <a:gd name="T19" fmla="*/ 62 h 88"/>
                <a:gd name="T20" fmla="*/ 74 w 87"/>
                <a:gd name="T21" fmla="*/ 75 h 88"/>
                <a:gd name="T22" fmla="*/ 61 w 87"/>
                <a:gd name="T23" fmla="*/ 86 h 88"/>
                <a:gd name="T24" fmla="*/ 44 w 87"/>
                <a:gd name="T25" fmla="*/ 88 h 88"/>
                <a:gd name="T26" fmla="*/ 26 w 87"/>
                <a:gd name="T27" fmla="*/ 86 h 88"/>
                <a:gd name="T28" fmla="*/ 11 w 87"/>
                <a:gd name="T29" fmla="*/ 75 h 88"/>
                <a:gd name="T30" fmla="*/ 2 w 87"/>
                <a:gd name="T31" fmla="*/ 62 h 88"/>
                <a:gd name="T32" fmla="*/ 0 w 87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8"/>
                <a:gd name="T53" fmla="*/ 87 w 87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8">
                  <a:moveTo>
                    <a:pt x="0" y="45"/>
                  </a:moveTo>
                  <a:lnTo>
                    <a:pt x="2" y="28"/>
                  </a:lnTo>
                  <a:lnTo>
                    <a:pt x="11" y="13"/>
                  </a:lnTo>
                  <a:lnTo>
                    <a:pt x="26" y="4"/>
                  </a:lnTo>
                  <a:lnTo>
                    <a:pt x="44" y="0"/>
                  </a:lnTo>
                  <a:lnTo>
                    <a:pt x="61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5"/>
                  </a:lnTo>
                  <a:lnTo>
                    <a:pt x="61" y="86"/>
                  </a:lnTo>
                  <a:lnTo>
                    <a:pt x="44" y="88"/>
                  </a:lnTo>
                  <a:lnTo>
                    <a:pt x="26" y="86"/>
                  </a:lnTo>
                  <a:lnTo>
                    <a:pt x="11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89" name="Freeform 40"/>
            <p:cNvSpPr>
              <a:spLocks noChangeAspect="1"/>
            </p:cNvSpPr>
            <p:nvPr/>
          </p:nvSpPr>
          <p:spPr bwMode="auto">
            <a:xfrm>
              <a:off x="1617" y="2309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3 h 88"/>
                <a:gd name="T6" fmla="*/ 29 w 89"/>
                <a:gd name="T7" fmla="*/ 4 h 88"/>
                <a:gd name="T8" fmla="*/ 46 w 89"/>
                <a:gd name="T9" fmla="*/ 0 h 88"/>
                <a:gd name="T10" fmla="*/ 61 w 89"/>
                <a:gd name="T11" fmla="*/ 4 h 88"/>
                <a:gd name="T12" fmla="*/ 76 w 89"/>
                <a:gd name="T13" fmla="*/ 13 h 88"/>
                <a:gd name="T14" fmla="*/ 85 w 89"/>
                <a:gd name="T15" fmla="*/ 28 h 88"/>
                <a:gd name="T16" fmla="*/ 89 w 89"/>
                <a:gd name="T17" fmla="*/ 45 h 88"/>
                <a:gd name="T18" fmla="*/ 85 w 89"/>
                <a:gd name="T19" fmla="*/ 62 h 88"/>
                <a:gd name="T20" fmla="*/ 76 w 89"/>
                <a:gd name="T21" fmla="*/ 75 h 88"/>
                <a:gd name="T22" fmla="*/ 61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3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1" y="4"/>
                  </a:lnTo>
                  <a:lnTo>
                    <a:pt x="76" y="13"/>
                  </a:lnTo>
                  <a:lnTo>
                    <a:pt x="85" y="28"/>
                  </a:lnTo>
                  <a:lnTo>
                    <a:pt x="89" y="45"/>
                  </a:lnTo>
                  <a:lnTo>
                    <a:pt x="85" y="62"/>
                  </a:lnTo>
                  <a:lnTo>
                    <a:pt x="76" y="75"/>
                  </a:lnTo>
                  <a:lnTo>
                    <a:pt x="61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90" name="Freeform 41"/>
            <p:cNvSpPr>
              <a:spLocks noChangeAspect="1"/>
            </p:cNvSpPr>
            <p:nvPr/>
          </p:nvSpPr>
          <p:spPr bwMode="auto">
            <a:xfrm>
              <a:off x="2100" y="2369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5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5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91" name="Rectangle 42"/>
            <p:cNvSpPr>
              <a:spLocks noChangeAspect="1" noChangeArrowheads="1"/>
            </p:cNvSpPr>
            <p:nvPr/>
          </p:nvSpPr>
          <p:spPr bwMode="auto">
            <a:xfrm>
              <a:off x="1971" y="1309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92" name="Rectangle 43"/>
            <p:cNvSpPr>
              <a:spLocks noChangeAspect="1" noChangeArrowheads="1"/>
            </p:cNvSpPr>
            <p:nvPr/>
          </p:nvSpPr>
          <p:spPr bwMode="auto">
            <a:xfrm>
              <a:off x="1155" y="1945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93" name="Rectangle 44"/>
            <p:cNvSpPr>
              <a:spLocks noChangeAspect="1" noChangeArrowheads="1"/>
            </p:cNvSpPr>
            <p:nvPr/>
          </p:nvSpPr>
          <p:spPr bwMode="auto">
            <a:xfrm>
              <a:off x="1775" y="2262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94" name="Rectangle 45"/>
            <p:cNvSpPr>
              <a:spLocks noChangeAspect="1" noChangeArrowheads="1"/>
            </p:cNvSpPr>
            <p:nvPr/>
          </p:nvSpPr>
          <p:spPr bwMode="auto">
            <a:xfrm>
              <a:off x="1388" y="2827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95" name="Rectangle 46"/>
            <p:cNvSpPr>
              <a:spLocks noChangeAspect="1" noChangeArrowheads="1"/>
            </p:cNvSpPr>
            <p:nvPr/>
          </p:nvSpPr>
          <p:spPr bwMode="auto">
            <a:xfrm>
              <a:off x="572" y="1817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96" name="Rectangle 47"/>
            <p:cNvSpPr>
              <a:spLocks noChangeAspect="1" noChangeArrowheads="1"/>
            </p:cNvSpPr>
            <p:nvPr/>
          </p:nvSpPr>
          <p:spPr bwMode="auto">
            <a:xfrm>
              <a:off x="2275" y="2316"/>
              <a:ext cx="100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9" name="Group 48"/>
          <p:cNvGrpSpPr>
            <a:grpSpLocks noChangeAspect="1"/>
          </p:cNvGrpSpPr>
          <p:nvPr/>
        </p:nvGrpSpPr>
        <p:grpSpPr bwMode="auto">
          <a:xfrm>
            <a:off x="3600451" y="4951417"/>
            <a:ext cx="917575" cy="619583"/>
            <a:chOff x="1537" y="2197"/>
            <a:chExt cx="898" cy="606"/>
          </a:xfrm>
        </p:grpSpPr>
        <p:sp>
          <p:nvSpPr>
            <p:cNvPr id="76883" name="Freeform 49"/>
            <p:cNvSpPr>
              <a:spLocks noChangeAspect="1"/>
            </p:cNvSpPr>
            <p:nvPr/>
          </p:nvSpPr>
          <p:spPr bwMode="auto">
            <a:xfrm>
              <a:off x="1537" y="2197"/>
              <a:ext cx="898" cy="375"/>
            </a:xfrm>
            <a:custGeom>
              <a:avLst/>
              <a:gdLst>
                <a:gd name="T0" fmla="*/ 450 w 898"/>
                <a:gd name="T1" fmla="*/ 0 h 375"/>
                <a:gd name="T2" fmla="*/ 511 w 898"/>
                <a:gd name="T3" fmla="*/ 2 h 375"/>
                <a:gd name="T4" fmla="*/ 572 w 898"/>
                <a:gd name="T5" fmla="*/ 6 h 375"/>
                <a:gd name="T6" fmla="*/ 630 w 898"/>
                <a:gd name="T7" fmla="*/ 15 h 375"/>
                <a:gd name="T8" fmla="*/ 684 w 898"/>
                <a:gd name="T9" fmla="*/ 28 h 375"/>
                <a:gd name="T10" fmla="*/ 734 w 898"/>
                <a:gd name="T11" fmla="*/ 43 h 375"/>
                <a:gd name="T12" fmla="*/ 779 w 898"/>
                <a:gd name="T13" fmla="*/ 60 h 375"/>
                <a:gd name="T14" fmla="*/ 818 w 898"/>
                <a:gd name="T15" fmla="*/ 79 h 375"/>
                <a:gd name="T16" fmla="*/ 851 w 898"/>
                <a:gd name="T17" fmla="*/ 101 h 375"/>
                <a:gd name="T18" fmla="*/ 875 w 898"/>
                <a:gd name="T19" fmla="*/ 125 h 375"/>
                <a:gd name="T20" fmla="*/ 892 w 898"/>
                <a:gd name="T21" fmla="*/ 149 h 375"/>
                <a:gd name="T22" fmla="*/ 898 w 898"/>
                <a:gd name="T23" fmla="*/ 174 h 375"/>
                <a:gd name="T24" fmla="*/ 898 w 898"/>
                <a:gd name="T25" fmla="*/ 200 h 375"/>
                <a:gd name="T26" fmla="*/ 892 w 898"/>
                <a:gd name="T27" fmla="*/ 226 h 375"/>
                <a:gd name="T28" fmla="*/ 875 w 898"/>
                <a:gd name="T29" fmla="*/ 250 h 375"/>
                <a:gd name="T30" fmla="*/ 851 w 898"/>
                <a:gd name="T31" fmla="*/ 274 h 375"/>
                <a:gd name="T32" fmla="*/ 818 w 898"/>
                <a:gd name="T33" fmla="*/ 295 h 375"/>
                <a:gd name="T34" fmla="*/ 779 w 898"/>
                <a:gd name="T35" fmla="*/ 315 h 375"/>
                <a:gd name="T36" fmla="*/ 734 w 898"/>
                <a:gd name="T37" fmla="*/ 332 h 375"/>
                <a:gd name="T38" fmla="*/ 684 w 898"/>
                <a:gd name="T39" fmla="*/ 347 h 375"/>
                <a:gd name="T40" fmla="*/ 630 w 898"/>
                <a:gd name="T41" fmla="*/ 360 h 375"/>
                <a:gd name="T42" fmla="*/ 572 w 898"/>
                <a:gd name="T43" fmla="*/ 369 h 375"/>
                <a:gd name="T44" fmla="*/ 511 w 898"/>
                <a:gd name="T45" fmla="*/ 373 h 375"/>
                <a:gd name="T46" fmla="*/ 450 w 898"/>
                <a:gd name="T47" fmla="*/ 375 h 375"/>
                <a:gd name="T48" fmla="*/ 390 w 898"/>
                <a:gd name="T49" fmla="*/ 373 h 375"/>
                <a:gd name="T50" fmla="*/ 329 w 898"/>
                <a:gd name="T51" fmla="*/ 369 h 375"/>
                <a:gd name="T52" fmla="*/ 271 w 898"/>
                <a:gd name="T53" fmla="*/ 360 h 375"/>
                <a:gd name="T54" fmla="*/ 217 w 898"/>
                <a:gd name="T55" fmla="*/ 347 h 375"/>
                <a:gd name="T56" fmla="*/ 167 w 898"/>
                <a:gd name="T57" fmla="*/ 332 h 375"/>
                <a:gd name="T58" fmla="*/ 122 w 898"/>
                <a:gd name="T59" fmla="*/ 315 h 375"/>
                <a:gd name="T60" fmla="*/ 83 w 898"/>
                <a:gd name="T61" fmla="*/ 295 h 375"/>
                <a:gd name="T62" fmla="*/ 50 w 898"/>
                <a:gd name="T63" fmla="*/ 274 h 375"/>
                <a:gd name="T64" fmla="*/ 26 w 898"/>
                <a:gd name="T65" fmla="*/ 250 h 375"/>
                <a:gd name="T66" fmla="*/ 9 w 898"/>
                <a:gd name="T67" fmla="*/ 226 h 375"/>
                <a:gd name="T68" fmla="*/ 0 w 898"/>
                <a:gd name="T69" fmla="*/ 200 h 375"/>
                <a:gd name="T70" fmla="*/ 0 w 898"/>
                <a:gd name="T71" fmla="*/ 174 h 375"/>
                <a:gd name="T72" fmla="*/ 9 w 898"/>
                <a:gd name="T73" fmla="*/ 149 h 375"/>
                <a:gd name="T74" fmla="*/ 26 w 898"/>
                <a:gd name="T75" fmla="*/ 125 h 375"/>
                <a:gd name="T76" fmla="*/ 50 w 898"/>
                <a:gd name="T77" fmla="*/ 101 h 375"/>
                <a:gd name="T78" fmla="*/ 83 w 898"/>
                <a:gd name="T79" fmla="*/ 79 h 375"/>
                <a:gd name="T80" fmla="*/ 122 w 898"/>
                <a:gd name="T81" fmla="*/ 60 h 375"/>
                <a:gd name="T82" fmla="*/ 167 w 898"/>
                <a:gd name="T83" fmla="*/ 43 h 375"/>
                <a:gd name="T84" fmla="*/ 217 w 898"/>
                <a:gd name="T85" fmla="*/ 28 h 375"/>
                <a:gd name="T86" fmla="*/ 271 w 898"/>
                <a:gd name="T87" fmla="*/ 15 h 375"/>
                <a:gd name="T88" fmla="*/ 329 w 898"/>
                <a:gd name="T89" fmla="*/ 6 h 375"/>
                <a:gd name="T90" fmla="*/ 390 w 898"/>
                <a:gd name="T91" fmla="*/ 2 h 375"/>
                <a:gd name="T92" fmla="*/ 450 w 898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8"/>
                <a:gd name="T142" fmla="*/ 0 h 375"/>
                <a:gd name="T143" fmla="*/ 898 w 898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8" h="375">
                  <a:moveTo>
                    <a:pt x="450" y="0"/>
                  </a:moveTo>
                  <a:lnTo>
                    <a:pt x="511" y="2"/>
                  </a:lnTo>
                  <a:lnTo>
                    <a:pt x="572" y="6"/>
                  </a:lnTo>
                  <a:lnTo>
                    <a:pt x="630" y="15"/>
                  </a:lnTo>
                  <a:lnTo>
                    <a:pt x="684" y="28"/>
                  </a:lnTo>
                  <a:lnTo>
                    <a:pt x="734" y="43"/>
                  </a:lnTo>
                  <a:lnTo>
                    <a:pt x="779" y="60"/>
                  </a:lnTo>
                  <a:lnTo>
                    <a:pt x="818" y="79"/>
                  </a:lnTo>
                  <a:lnTo>
                    <a:pt x="851" y="101"/>
                  </a:lnTo>
                  <a:lnTo>
                    <a:pt x="875" y="125"/>
                  </a:lnTo>
                  <a:lnTo>
                    <a:pt x="892" y="149"/>
                  </a:lnTo>
                  <a:lnTo>
                    <a:pt x="898" y="174"/>
                  </a:lnTo>
                  <a:lnTo>
                    <a:pt x="898" y="200"/>
                  </a:lnTo>
                  <a:lnTo>
                    <a:pt x="892" y="226"/>
                  </a:lnTo>
                  <a:lnTo>
                    <a:pt x="875" y="250"/>
                  </a:lnTo>
                  <a:lnTo>
                    <a:pt x="851" y="274"/>
                  </a:lnTo>
                  <a:lnTo>
                    <a:pt x="818" y="295"/>
                  </a:lnTo>
                  <a:lnTo>
                    <a:pt x="779" y="315"/>
                  </a:lnTo>
                  <a:lnTo>
                    <a:pt x="734" y="332"/>
                  </a:lnTo>
                  <a:lnTo>
                    <a:pt x="684" y="347"/>
                  </a:lnTo>
                  <a:lnTo>
                    <a:pt x="630" y="360"/>
                  </a:lnTo>
                  <a:lnTo>
                    <a:pt x="572" y="369"/>
                  </a:lnTo>
                  <a:lnTo>
                    <a:pt x="511" y="373"/>
                  </a:lnTo>
                  <a:lnTo>
                    <a:pt x="450" y="375"/>
                  </a:lnTo>
                  <a:lnTo>
                    <a:pt x="390" y="373"/>
                  </a:lnTo>
                  <a:lnTo>
                    <a:pt x="329" y="369"/>
                  </a:lnTo>
                  <a:lnTo>
                    <a:pt x="271" y="360"/>
                  </a:lnTo>
                  <a:lnTo>
                    <a:pt x="217" y="347"/>
                  </a:lnTo>
                  <a:lnTo>
                    <a:pt x="167" y="332"/>
                  </a:lnTo>
                  <a:lnTo>
                    <a:pt x="122" y="315"/>
                  </a:lnTo>
                  <a:lnTo>
                    <a:pt x="83" y="295"/>
                  </a:lnTo>
                  <a:lnTo>
                    <a:pt x="50" y="274"/>
                  </a:lnTo>
                  <a:lnTo>
                    <a:pt x="26" y="250"/>
                  </a:lnTo>
                  <a:lnTo>
                    <a:pt x="9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9" y="149"/>
                  </a:lnTo>
                  <a:lnTo>
                    <a:pt x="26" y="125"/>
                  </a:lnTo>
                  <a:lnTo>
                    <a:pt x="50" y="101"/>
                  </a:lnTo>
                  <a:lnTo>
                    <a:pt x="83" y="79"/>
                  </a:lnTo>
                  <a:lnTo>
                    <a:pt x="122" y="60"/>
                  </a:lnTo>
                  <a:lnTo>
                    <a:pt x="167" y="43"/>
                  </a:lnTo>
                  <a:lnTo>
                    <a:pt x="217" y="28"/>
                  </a:lnTo>
                  <a:lnTo>
                    <a:pt x="271" y="15"/>
                  </a:lnTo>
                  <a:lnTo>
                    <a:pt x="329" y="6"/>
                  </a:lnTo>
                  <a:lnTo>
                    <a:pt x="390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84" name="Rectangle 50"/>
            <p:cNvSpPr>
              <a:spLocks noChangeAspect="1" noChangeArrowheads="1"/>
            </p:cNvSpPr>
            <p:nvPr/>
          </p:nvSpPr>
          <p:spPr bwMode="auto">
            <a:xfrm>
              <a:off x="1910" y="2562"/>
              <a:ext cx="11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10" name="Group 51"/>
          <p:cNvGrpSpPr>
            <a:grpSpLocks noChangeAspect="1"/>
          </p:cNvGrpSpPr>
          <p:nvPr/>
        </p:nvGrpSpPr>
        <p:grpSpPr bwMode="auto">
          <a:xfrm>
            <a:off x="2417763" y="4322763"/>
            <a:ext cx="1035051" cy="582612"/>
            <a:chOff x="380" y="1581"/>
            <a:chExt cx="1012" cy="570"/>
          </a:xfrm>
        </p:grpSpPr>
        <p:sp>
          <p:nvSpPr>
            <p:cNvPr id="76881" name="Freeform 52"/>
            <p:cNvSpPr>
              <a:spLocks noChangeAspect="1"/>
            </p:cNvSpPr>
            <p:nvPr/>
          </p:nvSpPr>
          <p:spPr bwMode="auto">
            <a:xfrm>
              <a:off x="380" y="1760"/>
              <a:ext cx="1012" cy="391"/>
            </a:xfrm>
            <a:custGeom>
              <a:avLst/>
              <a:gdLst>
                <a:gd name="T0" fmla="*/ 523 w 1012"/>
                <a:gd name="T1" fmla="*/ 5 h 391"/>
                <a:gd name="T2" fmla="*/ 586 w 1012"/>
                <a:gd name="T3" fmla="*/ 11 h 391"/>
                <a:gd name="T4" fmla="*/ 649 w 1012"/>
                <a:gd name="T5" fmla="*/ 22 h 391"/>
                <a:gd name="T6" fmla="*/ 707 w 1012"/>
                <a:gd name="T7" fmla="*/ 35 h 391"/>
                <a:gd name="T8" fmla="*/ 766 w 1012"/>
                <a:gd name="T9" fmla="*/ 50 h 391"/>
                <a:gd name="T10" fmla="*/ 818 w 1012"/>
                <a:gd name="T11" fmla="*/ 67 h 391"/>
                <a:gd name="T12" fmla="*/ 865 w 1012"/>
                <a:gd name="T13" fmla="*/ 87 h 391"/>
                <a:gd name="T14" fmla="*/ 906 w 1012"/>
                <a:gd name="T15" fmla="*/ 108 h 391"/>
                <a:gd name="T16" fmla="*/ 943 w 1012"/>
                <a:gd name="T17" fmla="*/ 130 h 391"/>
                <a:gd name="T18" fmla="*/ 971 w 1012"/>
                <a:gd name="T19" fmla="*/ 154 h 391"/>
                <a:gd name="T20" fmla="*/ 993 w 1012"/>
                <a:gd name="T21" fmla="*/ 180 h 391"/>
                <a:gd name="T22" fmla="*/ 1006 w 1012"/>
                <a:gd name="T23" fmla="*/ 203 h 391"/>
                <a:gd name="T24" fmla="*/ 1012 w 1012"/>
                <a:gd name="T25" fmla="*/ 227 h 391"/>
                <a:gd name="T26" fmla="*/ 1010 w 1012"/>
                <a:gd name="T27" fmla="*/ 251 h 391"/>
                <a:gd name="T28" fmla="*/ 999 w 1012"/>
                <a:gd name="T29" fmla="*/ 275 h 391"/>
                <a:gd name="T30" fmla="*/ 982 w 1012"/>
                <a:gd name="T31" fmla="*/ 296 h 391"/>
                <a:gd name="T32" fmla="*/ 956 w 1012"/>
                <a:gd name="T33" fmla="*/ 318 h 391"/>
                <a:gd name="T34" fmla="*/ 924 w 1012"/>
                <a:gd name="T35" fmla="*/ 335 h 391"/>
                <a:gd name="T36" fmla="*/ 885 w 1012"/>
                <a:gd name="T37" fmla="*/ 352 h 391"/>
                <a:gd name="T38" fmla="*/ 842 w 1012"/>
                <a:gd name="T39" fmla="*/ 365 h 391"/>
                <a:gd name="T40" fmla="*/ 790 w 1012"/>
                <a:gd name="T41" fmla="*/ 376 h 391"/>
                <a:gd name="T42" fmla="*/ 736 w 1012"/>
                <a:gd name="T43" fmla="*/ 385 h 391"/>
                <a:gd name="T44" fmla="*/ 677 w 1012"/>
                <a:gd name="T45" fmla="*/ 389 h 391"/>
                <a:gd name="T46" fmla="*/ 616 w 1012"/>
                <a:gd name="T47" fmla="*/ 391 h 391"/>
                <a:gd name="T48" fmla="*/ 554 w 1012"/>
                <a:gd name="T49" fmla="*/ 391 h 391"/>
                <a:gd name="T50" fmla="*/ 489 w 1012"/>
                <a:gd name="T51" fmla="*/ 387 h 391"/>
                <a:gd name="T52" fmla="*/ 426 w 1012"/>
                <a:gd name="T53" fmla="*/ 380 h 391"/>
                <a:gd name="T54" fmla="*/ 363 w 1012"/>
                <a:gd name="T55" fmla="*/ 370 h 391"/>
                <a:gd name="T56" fmla="*/ 305 w 1012"/>
                <a:gd name="T57" fmla="*/ 357 h 391"/>
                <a:gd name="T58" fmla="*/ 249 w 1012"/>
                <a:gd name="T59" fmla="*/ 342 h 391"/>
                <a:gd name="T60" fmla="*/ 195 w 1012"/>
                <a:gd name="T61" fmla="*/ 324 h 391"/>
                <a:gd name="T62" fmla="*/ 147 w 1012"/>
                <a:gd name="T63" fmla="*/ 305 h 391"/>
                <a:gd name="T64" fmla="*/ 106 w 1012"/>
                <a:gd name="T65" fmla="*/ 283 h 391"/>
                <a:gd name="T66" fmla="*/ 69 w 1012"/>
                <a:gd name="T67" fmla="*/ 262 h 391"/>
                <a:gd name="T68" fmla="*/ 41 w 1012"/>
                <a:gd name="T69" fmla="*/ 238 h 391"/>
                <a:gd name="T70" fmla="*/ 19 w 1012"/>
                <a:gd name="T71" fmla="*/ 212 h 391"/>
                <a:gd name="T72" fmla="*/ 6 w 1012"/>
                <a:gd name="T73" fmla="*/ 188 h 391"/>
                <a:gd name="T74" fmla="*/ 0 w 1012"/>
                <a:gd name="T75" fmla="*/ 164 h 391"/>
                <a:gd name="T76" fmla="*/ 2 w 1012"/>
                <a:gd name="T77" fmla="*/ 139 h 391"/>
                <a:gd name="T78" fmla="*/ 13 w 1012"/>
                <a:gd name="T79" fmla="*/ 117 h 391"/>
                <a:gd name="T80" fmla="*/ 30 w 1012"/>
                <a:gd name="T81" fmla="*/ 95 h 391"/>
                <a:gd name="T82" fmla="*/ 56 w 1012"/>
                <a:gd name="T83" fmla="*/ 74 h 391"/>
                <a:gd name="T84" fmla="*/ 89 w 1012"/>
                <a:gd name="T85" fmla="*/ 57 h 391"/>
                <a:gd name="T86" fmla="*/ 128 w 1012"/>
                <a:gd name="T87" fmla="*/ 39 h 391"/>
                <a:gd name="T88" fmla="*/ 171 w 1012"/>
                <a:gd name="T89" fmla="*/ 26 h 391"/>
                <a:gd name="T90" fmla="*/ 223 w 1012"/>
                <a:gd name="T91" fmla="*/ 16 h 391"/>
                <a:gd name="T92" fmla="*/ 277 w 1012"/>
                <a:gd name="T93" fmla="*/ 7 h 391"/>
                <a:gd name="T94" fmla="*/ 335 w 1012"/>
                <a:gd name="T95" fmla="*/ 3 h 391"/>
                <a:gd name="T96" fmla="*/ 396 w 1012"/>
                <a:gd name="T97" fmla="*/ 0 h 391"/>
                <a:gd name="T98" fmla="*/ 459 w 1012"/>
                <a:gd name="T99" fmla="*/ 0 h 391"/>
                <a:gd name="T100" fmla="*/ 523 w 1012"/>
                <a:gd name="T101" fmla="*/ 5 h 39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12"/>
                <a:gd name="T154" fmla="*/ 0 h 391"/>
                <a:gd name="T155" fmla="*/ 1012 w 1012"/>
                <a:gd name="T156" fmla="*/ 391 h 39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12" h="391">
                  <a:moveTo>
                    <a:pt x="523" y="5"/>
                  </a:moveTo>
                  <a:lnTo>
                    <a:pt x="586" y="11"/>
                  </a:lnTo>
                  <a:lnTo>
                    <a:pt x="649" y="22"/>
                  </a:lnTo>
                  <a:lnTo>
                    <a:pt x="707" y="35"/>
                  </a:lnTo>
                  <a:lnTo>
                    <a:pt x="766" y="50"/>
                  </a:lnTo>
                  <a:lnTo>
                    <a:pt x="818" y="67"/>
                  </a:lnTo>
                  <a:lnTo>
                    <a:pt x="865" y="87"/>
                  </a:lnTo>
                  <a:lnTo>
                    <a:pt x="906" y="108"/>
                  </a:lnTo>
                  <a:lnTo>
                    <a:pt x="943" y="130"/>
                  </a:lnTo>
                  <a:lnTo>
                    <a:pt x="971" y="154"/>
                  </a:lnTo>
                  <a:lnTo>
                    <a:pt x="993" y="180"/>
                  </a:lnTo>
                  <a:lnTo>
                    <a:pt x="1006" y="203"/>
                  </a:lnTo>
                  <a:lnTo>
                    <a:pt x="1012" y="227"/>
                  </a:lnTo>
                  <a:lnTo>
                    <a:pt x="1010" y="251"/>
                  </a:lnTo>
                  <a:lnTo>
                    <a:pt x="999" y="275"/>
                  </a:lnTo>
                  <a:lnTo>
                    <a:pt x="982" y="296"/>
                  </a:lnTo>
                  <a:lnTo>
                    <a:pt x="956" y="318"/>
                  </a:lnTo>
                  <a:lnTo>
                    <a:pt x="924" y="335"/>
                  </a:lnTo>
                  <a:lnTo>
                    <a:pt x="885" y="352"/>
                  </a:lnTo>
                  <a:lnTo>
                    <a:pt x="842" y="365"/>
                  </a:lnTo>
                  <a:lnTo>
                    <a:pt x="790" y="376"/>
                  </a:lnTo>
                  <a:lnTo>
                    <a:pt x="736" y="385"/>
                  </a:lnTo>
                  <a:lnTo>
                    <a:pt x="677" y="389"/>
                  </a:lnTo>
                  <a:lnTo>
                    <a:pt x="616" y="391"/>
                  </a:lnTo>
                  <a:lnTo>
                    <a:pt x="554" y="391"/>
                  </a:lnTo>
                  <a:lnTo>
                    <a:pt x="489" y="387"/>
                  </a:lnTo>
                  <a:lnTo>
                    <a:pt x="426" y="380"/>
                  </a:lnTo>
                  <a:lnTo>
                    <a:pt x="363" y="370"/>
                  </a:lnTo>
                  <a:lnTo>
                    <a:pt x="305" y="357"/>
                  </a:lnTo>
                  <a:lnTo>
                    <a:pt x="249" y="342"/>
                  </a:lnTo>
                  <a:lnTo>
                    <a:pt x="195" y="324"/>
                  </a:lnTo>
                  <a:lnTo>
                    <a:pt x="147" y="305"/>
                  </a:lnTo>
                  <a:lnTo>
                    <a:pt x="106" y="283"/>
                  </a:lnTo>
                  <a:lnTo>
                    <a:pt x="69" y="262"/>
                  </a:lnTo>
                  <a:lnTo>
                    <a:pt x="41" y="238"/>
                  </a:lnTo>
                  <a:lnTo>
                    <a:pt x="19" y="212"/>
                  </a:lnTo>
                  <a:lnTo>
                    <a:pt x="6" y="188"/>
                  </a:lnTo>
                  <a:lnTo>
                    <a:pt x="0" y="164"/>
                  </a:lnTo>
                  <a:lnTo>
                    <a:pt x="2" y="139"/>
                  </a:lnTo>
                  <a:lnTo>
                    <a:pt x="13" y="117"/>
                  </a:lnTo>
                  <a:lnTo>
                    <a:pt x="30" y="95"/>
                  </a:lnTo>
                  <a:lnTo>
                    <a:pt x="56" y="74"/>
                  </a:lnTo>
                  <a:lnTo>
                    <a:pt x="89" y="57"/>
                  </a:lnTo>
                  <a:lnTo>
                    <a:pt x="128" y="39"/>
                  </a:lnTo>
                  <a:lnTo>
                    <a:pt x="171" y="26"/>
                  </a:lnTo>
                  <a:lnTo>
                    <a:pt x="223" y="16"/>
                  </a:lnTo>
                  <a:lnTo>
                    <a:pt x="277" y="7"/>
                  </a:lnTo>
                  <a:lnTo>
                    <a:pt x="335" y="3"/>
                  </a:lnTo>
                  <a:lnTo>
                    <a:pt x="396" y="0"/>
                  </a:lnTo>
                  <a:lnTo>
                    <a:pt x="459" y="0"/>
                  </a:lnTo>
                  <a:lnTo>
                    <a:pt x="523" y="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82" name="Rectangle 53"/>
            <p:cNvSpPr>
              <a:spLocks noChangeAspect="1" noChangeArrowheads="1"/>
            </p:cNvSpPr>
            <p:nvPr/>
          </p:nvSpPr>
          <p:spPr bwMode="auto">
            <a:xfrm>
              <a:off x="914" y="1581"/>
              <a:ext cx="11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11" name="Group 54"/>
          <p:cNvGrpSpPr>
            <a:grpSpLocks noChangeAspect="1"/>
          </p:cNvGrpSpPr>
          <p:nvPr/>
        </p:nvGrpSpPr>
        <p:grpSpPr bwMode="auto">
          <a:xfrm>
            <a:off x="2192339" y="3886200"/>
            <a:ext cx="2578100" cy="2286000"/>
            <a:chOff x="159" y="1154"/>
            <a:chExt cx="2523" cy="2237"/>
          </a:xfrm>
        </p:grpSpPr>
        <p:sp>
          <p:nvSpPr>
            <p:cNvPr id="76879" name="Rectangle 55"/>
            <p:cNvSpPr>
              <a:spLocks noChangeAspect="1" noChangeArrowheads="1"/>
            </p:cNvSpPr>
            <p:nvPr/>
          </p:nvSpPr>
          <p:spPr bwMode="auto">
            <a:xfrm>
              <a:off x="2186" y="1166"/>
              <a:ext cx="11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80" name="Freeform 56"/>
            <p:cNvSpPr>
              <a:spLocks noChangeAspect="1"/>
            </p:cNvSpPr>
            <p:nvPr/>
          </p:nvSpPr>
          <p:spPr bwMode="auto">
            <a:xfrm>
              <a:off x="159" y="1154"/>
              <a:ext cx="2523" cy="2237"/>
            </a:xfrm>
            <a:custGeom>
              <a:avLst/>
              <a:gdLst>
                <a:gd name="T0" fmla="*/ 1363 w 2523"/>
                <a:gd name="T1" fmla="*/ 2 h 2237"/>
                <a:gd name="T2" fmla="*/ 1569 w 2523"/>
                <a:gd name="T3" fmla="*/ 32 h 2237"/>
                <a:gd name="T4" fmla="*/ 1766 w 2523"/>
                <a:gd name="T5" fmla="*/ 93 h 2237"/>
                <a:gd name="T6" fmla="*/ 1950 w 2523"/>
                <a:gd name="T7" fmla="*/ 179 h 2237"/>
                <a:gd name="T8" fmla="*/ 2114 w 2523"/>
                <a:gd name="T9" fmla="*/ 293 h 2237"/>
                <a:gd name="T10" fmla="*/ 2255 w 2523"/>
                <a:gd name="T11" fmla="*/ 429 h 2237"/>
                <a:gd name="T12" fmla="*/ 2369 w 2523"/>
                <a:gd name="T13" fmla="*/ 583 h 2237"/>
                <a:gd name="T14" fmla="*/ 2454 w 2523"/>
                <a:gd name="T15" fmla="*/ 753 h 2237"/>
                <a:gd name="T16" fmla="*/ 2506 w 2523"/>
                <a:gd name="T17" fmla="*/ 930 h 2237"/>
                <a:gd name="T18" fmla="*/ 2523 w 2523"/>
                <a:gd name="T19" fmla="*/ 1116 h 2237"/>
                <a:gd name="T20" fmla="*/ 2506 w 2523"/>
                <a:gd name="T21" fmla="*/ 1299 h 2237"/>
                <a:gd name="T22" fmla="*/ 2454 w 2523"/>
                <a:gd name="T23" fmla="*/ 1479 h 2237"/>
                <a:gd name="T24" fmla="*/ 2372 w 2523"/>
                <a:gd name="T25" fmla="*/ 1647 h 2237"/>
                <a:gd name="T26" fmla="*/ 2257 w 2523"/>
                <a:gd name="T27" fmla="*/ 1803 h 2237"/>
                <a:gd name="T28" fmla="*/ 2116 w 2523"/>
                <a:gd name="T29" fmla="*/ 1939 h 2237"/>
                <a:gd name="T30" fmla="*/ 1952 w 2523"/>
                <a:gd name="T31" fmla="*/ 2053 h 2237"/>
                <a:gd name="T32" fmla="*/ 1770 w 2523"/>
                <a:gd name="T33" fmla="*/ 2142 h 2237"/>
                <a:gd name="T34" fmla="*/ 1573 w 2523"/>
                <a:gd name="T35" fmla="*/ 2202 h 2237"/>
                <a:gd name="T36" fmla="*/ 1368 w 2523"/>
                <a:gd name="T37" fmla="*/ 2232 h 2237"/>
                <a:gd name="T38" fmla="*/ 1160 w 2523"/>
                <a:gd name="T39" fmla="*/ 2232 h 2237"/>
                <a:gd name="T40" fmla="*/ 954 w 2523"/>
                <a:gd name="T41" fmla="*/ 2202 h 2237"/>
                <a:gd name="T42" fmla="*/ 757 w 2523"/>
                <a:gd name="T43" fmla="*/ 2144 h 2237"/>
                <a:gd name="T44" fmla="*/ 574 w 2523"/>
                <a:gd name="T45" fmla="*/ 2055 h 2237"/>
                <a:gd name="T46" fmla="*/ 409 w 2523"/>
                <a:gd name="T47" fmla="*/ 1943 h 2237"/>
                <a:gd name="T48" fmla="*/ 268 w 2523"/>
                <a:gd name="T49" fmla="*/ 1807 h 2237"/>
                <a:gd name="T50" fmla="*/ 154 w 2523"/>
                <a:gd name="T51" fmla="*/ 1651 h 2237"/>
                <a:gd name="T52" fmla="*/ 69 w 2523"/>
                <a:gd name="T53" fmla="*/ 1483 h 2237"/>
                <a:gd name="T54" fmla="*/ 17 w 2523"/>
                <a:gd name="T55" fmla="*/ 1304 h 2237"/>
                <a:gd name="T56" fmla="*/ 0 w 2523"/>
                <a:gd name="T57" fmla="*/ 1120 h 2237"/>
                <a:gd name="T58" fmla="*/ 17 w 2523"/>
                <a:gd name="T59" fmla="*/ 935 h 2237"/>
                <a:gd name="T60" fmla="*/ 69 w 2523"/>
                <a:gd name="T61" fmla="*/ 755 h 2237"/>
                <a:gd name="T62" fmla="*/ 152 w 2523"/>
                <a:gd name="T63" fmla="*/ 587 h 2237"/>
                <a:gd name="T64" fmla="*/ 266 w 2523"/>
                <a:gd name="T65" fmla="*/ 431 h 2237"/>
                <a:gd name="T66" fmla="*/ 407 w 2523"/>
                <a:gd name="T67" fmla="*/ 295 h 2237"/>
                <a:gd name="T68" fmla="*/ 571 w 2523"/>
                <a:gd name="T69" fmla="*/ 183 h 2237"/>
                <a:gd name="T70" fmla="*/ 753 w 2523"/>
                <a:gd name="T71" fmla="*/ 95 h 2237"/>
                <a:gd name="T72" fmla="*/ 950 w 2523"/>
                <a:gd name="T73" fmla="*/ 34 h 2237"/>
                <a:gd name="T74" fmla="*/ 1156 w 2523"/>
                <a:gd name="T75" fmla="*/ 4 h 223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3"/>
                <a:gd name="T115" fmla="*/ 0 h 2237"/>
                <a:gd name="T116" fmla="*/ 2523 w 2523"/>
                <a:gd name="T117" fmla="*/ 2237 h 223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3" h="2237">
                  <a:moveTo>
                    <a:pt x="1259" y="0"/>
                  </a:moveTo>
                  <a:lnTo>
                    <a:pt x="1363" y="2"/>
                  </a:lnTo>
                  <a:lnTo>
                    <a:pt x="1467" y="15"/>
                  </a:lnTo>
                  <a:lnTo>
                    <a:pt x="1569" y="32"/>
                  </a:lnTo>
                  <a:lnTo>
                    <a:pt x="1668" y="58"/>
                  </a:lnTo>
                  <a:lnTo>
                    <a:pt x="1766" y="93"/>
                  </a:lnTo>
                  <a:lnTo>
                    <a:pt x="1861" y="134"/>
                  </a:lnTo>
                  <a:lnTo>
                    <a:pt x="1950" y="179"/>
                  </a:lnTo>
                  <a:lnTo>
                    <a:pt x="2034" y="233"/>
                  </a:lnTo>
                  <a:lnTo>
                    <a:pt x="2114" y="293"/>
                  </a:lnTo>
                  <a:lnTo>
                    <a:pt x="2188" y="358"/>
                  </a:lnTo>
                  <a:lnTo>
                    <a:pt x="2255" y="429"/>
                  </a:lnTo>
                  <a:lnTo>
                    <a:pt x="2315" y="505"/>
                  </a:lnTo>
                  <a:lnTo>
                    <a:pt x="2369" y="583"/>
                  </a:lnTo>
                  <a:lnTo>
                    <a:pt x="2415" y="667"/>
                  </a:lnTo>
                  <a:lnTo>
                    <a:pt x="2454" y="753"/>
                  </a:lnTo>
                  <a:lnTo>
                    <a:pt x="2484" y="842"/>
                  </a:lnTo>
                  <a:lnTo>
                    <a:pt x="2506" y="930"/>
                  </a:lnTo>
                  <a:lnTo>
                    <a:pt x="2519" y="1023"/>
                  </a:lnTo>
                  <a:lnTo>
                    <a:pt x="2523" y="1116"/>
                  </a:lnTo>
                  <a:lnTo>
                    <a:pt x="2519" y="1209"/>
                  </a:lnTo>
                  <a:lnTo>
                    <a:pt x="2506" y="1299"/>
                  </a:lnTo>
                  <a:lnTo>
                    <a:pt x="2484" y="1390"/>
                  </a:lnTo>
                  <a:lnTo>
                    <a:pt x="2454" y="1479"/>
                  </a:lnTo>
                  <a:lnTo>
                    <a:pt x="2417" y="1565"/>
                  </a:lnTo>
                  <a:lnTo>
                    <a:pt x="2372" y="1647"/>
                  </a:lnTo>
                  <a:lnTo>
                    <a:pt x="2317" y="1727"/>
                  </a:lnTo>
                  <a:lnTo>
                    <a:pt x="2257" y="1803"/>
                  </a:lnTo>
                  <a:lnTo>
                    <a:pt x="2190" y="1874"/>
                  </a:lnTo>
                  <a:lnTo>
                    <a:pt x="2116" y="1939"/>
                  </a:lnTo>
                  <a:lnTo>
                    <a:pt x="2038" y="1999"/>
                  </a:lnTo>
                  <a:lnTo>
                    <a:pt x="1952" y="2053"/>
                  </a:lnTo>
                  <a:lnTo>
                    <a:pt x="1863" y="2101"/>
                  </a:lnTo>
                  <a:lnTo>
                    <a:pt x="1770" y="2142"/>
                  </a:lnTo>
                  <a:lnTo>
                    <a:pt x="1673" y="2174"/>
                  </a:lnTo>
                  <a:lnTo>
                    <a:pt x="1573" y="2202"/>
                  </a:lnTo>
                  <a:lnTo>
                    <a:pt x="1471" y="2221"/>
                  </a:lnTo>
                  <a:lnTo>
                    <a:pt x="1368" y="2232"/>
                  </a:lnTo>
                  <a:lnTo>
                    <a:pt x="1264" y="2237"/>
                  </a:lnTo>
                  <a:lnTo>
                    <a:pt x="1160" y="2232"/>
                  </a:lnTo>
                  <a:lnTo>
                    <a:pt x="1056" y="2221"/>
                  </a:lnTo>
                  <a:lnTo>
                    <a:pt x="954" y="2202"/>
                  </a:lnTo>
                  <a:lnTo>
                    <a:pt x="855" y="2176"/>
                  </a:lnTo>
                  <a:lnTo>
                    <a:pt x="757" y="2144"/>
                  </a:lnTo>
                  <a:lnTo>
                    <a:pt x="662" y="2103"/>
                  </a:lnTo>
                  <a:lnTo>
                    <a:pt x="574" y="2055"/>
                  </a:lnTo>
                  <a:lnTo>
                    <a:pt x="489" y="2001"/>
                  </a:lnTo>
                  <a:lnTo>
                    <a:pt x="409" y="1943"/>
                  </a:lnTo>
                  <a:lnTo>
                    <a:pt x="336" y="1876"/>
                  </a:lnTo>
                  <a:lnTo>
                    <a:pt x="268" y="1807"/>
                  </a:lnTo>
                  <a:lnTo>
                    <a:pt x="208" y="1731"/>
                  </a:lnTo>
                  <a:lnTo>
                    <a:pt x="154" y="1651"/>
                  </a:lnTo>
                  <a:lnTo>
                    <a:pt x="108" y="1569"/>
                  </a:lnTo>
                  <a:lnTo>
                    <a:pt x="69" y="1483"/>
                  </a:lnTo>
                  <a:lnTo>
                    <a:pt x="39" y="1394"/>
                  </a:lnTo>
                  <a:lnTo>
                    <a:pt x="17" y="1304"/>
                  </a:lnTo>
                  <a:lnTo>
                    <a:pt x="4" y="1213"/>
                  </a:lnTo>
                  <a:lnTo>
                    <a:pt x="0" y="1120"/>
                  </a:lnTo>
                  <a:lnTo>
                    <a:pt x="4" y="1027"/>
                  </a:lnTo>
                  <a:lnTo>
                    <a:pt x="17" y="935"/>
                  </a:lnTo>
                  <a:lnTo>
                    <a:pt x="39" y="846"/>
                  </a:lnTo>
                  <a:lnTo>
                    <a:pt x="69" y="755"/>
                  </a:lnTo>
                  <a:lnTo>
                    <a:pt x="106" y="671"/>
                  </a:lnTo>
                  <a:lnTo>
                    <a:pt x="152" y="587"/>
                  </a:lnTo>
                  <a:lnTo>
                    <a:pt x="206" y="507"/>
                  </a:lnTo>
                  <a:lnTo>
                    <a:pt x="266" y="431"/>
                  </a:lnTo>
                  <a:lnTo>
                    <a:pt x="333" y="362"/>
                  </a:lnTo>
                  <a:lnTo>
                    <a:pt x="407" y="295"/>
                  </a:lnTo>
                  <a:lnTo>
                    <a:pt x="485" y="237"/>
                  </a:lnTo>
                  <a:lnTo>
                    <a:pt x="571" y="183"/>
                  </a:lnTo>
                  <a:lnTo>
                    <a:pt x="660" y="136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50" y="34"/>
                  </a:lnTo>
                  <a:lnTo>
                    <a:pt x="1052" y="15"/>
                  </a:lnTo>
                  <a:lnTo>
                    <a:pt x="1156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12" name="Group 57"/>
          <p:cNvGrpSpPr>
            <a:grpSpLocks noChangeAspect="1"/>
          </p:cNvGrpSpPr>
          <p:nvPr/>
        </p:nvGrpSpPr>
        <p:grpSpPr bwMode="auto">
          <a:xfrm>
            <a:off x="3189288" y="4837113"/>
            <a:ext cx="1357312" cy="1052512"/>
            <a:chOff x="1135" y="2084"/>
            <a:chExt cx="1328" cy="1030"/>
          </a:xfrm>
        </p:grpSpPr>
        <p:sp>
          <p:nvSpPr>
            <p:cNvPr id="76877" name="Rectangle 58"/>
            <p:cNvSpPr>
              <a:spLocks noChangeAspect="1" noChangeArrowheads="1"/>
            </p:cNvSpPr>
            <p:nvPr/>
          </p:nvSpPr>
          <p:spPr bwMode="auto">
            <a:xfrm>
              <a:off x="1135" y="2451"/>
              <a:ext cx="11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878" name="Freeform 59"/>
            <p:cNvSpPr>
              <a:spLocks noChangeAspect="1"/>
            </p:cNvSpPr>
            <p:nvPr/>
          </p:nvSpPr>
          <p:spPr bwMode="auto">
            <a:xfrm>
              <a:off x="1178" y="2084"/>
              <a:ext cx="1285" cy="1030"/>
            </a:xfrm>
            <a:custGeom>
              <a:avLst/>
              <a:gdLst>
                <a:gd name="T0" fmla="*/ 422 w 1285"/>
                <a:gd name="T1" fmla="*/ 162 h 1030"/>
                <a:gd name="T2" fmla="*/ 487 w 1285"/>
                <a:gd name="T3" fmla="*/ 123 h 1030"/>
                <a:gd name="T4" fmla="*/ 556 w 1285"/>
                <a:gd name="T5" fmla="*/ 89 h 1030"/>
                <a:gd name="T6" fmla="*/ 626 w 1285"/>
                <a:gd name="T7" fmla="*/ 61 h 1030"/>
                <a:gd name="T8" fmla="*/ 695 w 1285"/>
                <a:gd name="T9" fmla="*/ 37 h 1030"/>
                <a:gd name="T10" fmla="*/ 764 w 1285"/>
                <a:gd name="T11" fmla="*/ 18 h 1030"/>
                <a:gd name="T12" fmla="*/ 831 w 1285"/>
                <a:gd name="T13" fmla="*/ 7 h 1030"/>
                <a:gd name="T14" fmla="*/ 896 w 1285"/>
                <a:gd name="T15" fmla="*/ 0 h 1030"/>
                <a:gd name="T16" fmla="*/ 959 w 1285"/>
                <a:gd name="T17" fmla="*/ 0 h 1030"/>
                <a:gd name="T18" fmla="*/ 1017 w 1285"/>
                <a:gd name="T19" fmla="*/ 7 h 1030"/>
                <a:gd name="T20" fmla="*/ 1071 w 1285"/>
                <a:gd name="T21" fmla="*/ 18 h 1030"/>
                <a:gd name="T22" fmla="*/ 1121 w 1285"/>
                <a:gd name="T23" fmla="*/ 35 h 1030"/>
                <a:gd name="T24" fmla="*/ 1164 w 1285"/>
                <a:gd name="T25" fmla="*/ 59 h 1030"/>
                <a:gd name="T26" fmla="*/ 1203 w 1285"/>
                <a:gd name="T27" fmla="*/ 87 h 1030"/>
                <a:gd name="T28" fmla="*/ 1234 w 1285"/>
                <a:gd name="T29" fmla="*/ 121 h 1030"/>
                <a:gd name="T30" fmla="*/ 1257 w 1285"/>
                <a:gd name="T31" fmla="*/ 160 h 1030"/>
                <a:gd name="T32" fmla="*/ 1275 w 1285"/>
                <a:gd name="T33" fmla="*/ 201 h 1030"/>
                <a:gd name="T34" fmla="*/ 1283 w 1285"/>
                <a:gd name="T35" fmla="*/ 249 h 1030"/>
                <a:gd name="T36" fmla="*/ 1285 w 1285"/>
                <a:gd name="T37" fmla="*/ 298 h 1030"/>
                <a:gd name="T38" fmla="*/ 1279 w 1285"/>
                <a:gd name="T39" fmla="*/ 350 h 1030"/>
                <a:gd name="T40" fmla="*/ 1266 w 1285"/>
                <a:gd name="T41" fmla="*/ 404 h 1030"/>
                <a:gd name="T42" fmla="*/ 1247 w 1285"/>
                <a:gd name="T43" fmla="*/ 458 h 1030"/>
                <a:gd name="T44" fmla="*/ 1218 w 1285"/>
                <a:gd name="T45" fmla="*/ 514 h 1030"/>
                <a:gd name="T46" fmla="*/ 1184 w 1285"/>
                <a:gd name="T47" fmla="*/ 570 h 1030"/>
                <a:gd name="T48" fmla="*/ 1145 w 1285"/>
                <a:gd name="T49" fmla="*/ 624 h 1030"/>
                <a:gd name="T50" fmla="*/ 1097 w 1285"/>
                <a:gd name="T51" fmla="*/ 678 h 1030"/>
                <a:gd name="T52" fmla="*/ 1045 w 1285"/>
                <a:gd name="T53" fmla="*/ 730 h 1030"/>
                <a:gd name="T54" fmla="*/ 989 w 1285"/>
                <a:gd name="T55" fmla="*/ 780 h 1030"/>
                <a:gd name="T56" fmla="*/ 928 w 1285"/>
                <a:gd name="T57" fmla="*/ 827 h 1030"/>
                <a:gd name="T58" fmla="*/ 866 w 1285"/>
                <a:gd name="T59" fmla="*/ 870 h 1030"/>
                <a:gd name="T60" fmla="*/ 799 w 1285"/>
                <a:gd name="T61" fmla="*/ 907 h 1030"/>
                <a:gd name="T62" fmla="*/ 729 w 1285"/>
                <a:gd name="T63" fmla="*/ 942 h 1030"/>
                <a:gd name="T64" fmla="*/ 660 w 1285"/>
                <a:gd name="T65" fmla="*/ 972 h 1030"/>
                <a:gd name="T66" fmla="*/ 591 w 1285"/>
                <a:gd name="T67" fmla="*/ 996 h 1030"/>
                <a:gd name="T68" fmla="*/ 522 w 1285"/>
                <a:gd name="T69" fmla="*/ 1013 h 1030"/>
                <a:gd name="T70" fmla="*/ 455 w 1285"/>
                <a:gd name="T71" fmla="*/ 1026 h 1030"/>
                <a:gd name="T72" fmla="*/ 390 w 1285"/>
                <a:gd name="T73" fmla="*/ 1030 h 1030"/>
                <a:gd name="T74" fmla="*/ 327 w 1285"/>
                <a:gd name="T75" fmla="*/ 1030 h 1030"/>
                <a:gd name="T76" fmla="*/ 269 w 1285"/>
                <a:gd name="T77" fmla="*/ 1026 h 1030"/>
                <a:gd name="T78" fmla="*/ 214 w 1285"/>
                <a:gd name="T79" fmla="*/ 1013 h 1030"/>
                <a:gd name="T80" fmla="*/ 165 w 1285"/>
                <a:gd name="T81" fmla="*/ 996 h 1030"/>
                <a:gd name="T82" fmla="*/ 121 w 1285"/>
                <a:gd name="T83" fmla="*/ 972 h 1030"/>
                <a:gd name="T84" fmla="*/ 85 w 1285"/>
                <a:gd name="T85" fmla="*/ 944 h 1030"/>
                <a:gd name="T86" fmla="*/ 52 w 1285"/>
                <a:gd name="T87" fmla="*/ 909 h 1030"/>
                <a:gd name="T88" fmla="*/ 28 w 1285"/>
                <a:gd name="T89" fmla="*/ 873 h 1030"/>
                <a:gd name="T90" fmla="*/ 13 w 1285"/>
                <a:gd name="T91" fmla="*/ 829 h 1030"/>
                <a:gd name="T92" fmla="*/ 2 w 1285"/>
                <a:gd name="T93" fmla="*/ 784 h 1030"/>
                <a:gd name="T94" fmla="*/ 0 w 1285"/>
                <a:gd name="T95" fmla="*/ 734 h 1030"/>
                <a:gd name="T96" fmla="*/ 7 w 1285"/>
                <a:gd name="T97" fmla="*/ 683 h 1030"/>
                <a:gd name="T98" fmla="*/ 20 w 1285"/>
                <a:gd name="T99" fmla="*/ 629 h 1030"/>
                <a:gd name="T100" fmla="*/ 39 w 1285"/>
                <a:gd name="T101" fmla="*/ 572 h 1030"/>
                <a:gd name="T102" fmla="*/ 67 w 1285"/>
                <a:gd name="T103" fmla="*/ 516 h 1030"/>
                <a:gd name="T104" fmla="*/ 102 w 1285"/>
                <a:gd name="T105" fmla="*/ 462 h 1030"/>
                <a:gd name="T106" fmla="*/ 143 w 1285"/>
                <a:gd name="T107" fmla="*/ 406 h 1030"/>
                <a:gd name="T108" fmla="*/ 188 w 1285"/>
                <a:gd name="T109" fmla="*/ 352 h 1030"/>
                <a:gd name="T110" fmla="*/ 240 w 1285"/>
                <a:gd name="T111" fmla="*/ 300 h 1030"/>
                <a:gd name="T112" fmla="*/ 297 w 1285"/>
                <a:gd name="T113" fmla="*/ 251 h 1030"/>
                <a:gd name="T114" fmla="*/ 357 w 1285"/>
                <a:gd name="T115" fmla="*/ 205 h 1030"/>
                <a:gd name="T116" fmla="*/ 422 w 1285"/>
                <a:gd name="T117" fmla="*/ 162 h 103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285"/>
                <a:gd name="T178" fmla="*/ 0 h 1030"/>
                <a:gd name="T179" fmla="*/ 1285 w 1285"/>
                <a:gd name="T180" fmla="*/ 1030 h 103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285" h="1030">
                  <a:moveTo>
                    <a:pt x="422" y="162"/>
                  </a:moveTo>
                  <a:lnTo>
                    <a:pt x="487" y="123"/>
                  </a:lnTo>
                  <a:lnTo>
                    <a:pt x="556" y="89"/>
                  </a:lnTo>
                  <a:lnTo>
                    <a:pt x="626" y="61"/>
                  </a:lnTo>
                  <a:lnTo>
                    <a:pt x="695" y="37"/>
                  </a:lnTo>
                  <a:lnTo>
                    <a:pt x="764" y="18"/>
                  </a:lnTo>
                  <a:lnTo>
                    <a:pt x="831" y="7"/>
                  </a:lnTo>
                  <a:lnTo>
                    <a:pt x="896" y="0"/>
                  </a:lnTo>
                  <a:lnTo>
                    <a:pt x="959" y="0"/>
                  </a:lnTo>
                  <a:lnTo>
                    <a:pt x="1017" y="7"/>
                  </a:lnTo>
                  <a:lnTo>
                    <a:pt x="1071" y="18"/>
                  </a:lnTo>
                  <a:lnTo>
                    <a:pt x="1121" y="35"/>
                  </a:lnTo>
                  <a:lnTo>
                    <a:pt x="1164" y="59"/>
                  </a:lnTo>
                  <a:lnTo>
                    <a:pt x="1203" y="87"/>
                  </a:lnTo>
                  <a:lnTo>
                    <a:pt x="1234" y="121"/>
                  </a:lnTo>
                  <a:lnTo>
                    <a:pt x="1257" y="160"/>
                  </a:lnTo>
                  <a:lnTo>
                    <a:pt x="1275" y="201"/>
                  </a:lnTo>
                  <a:lnTo>
                    <a:pt x="1283" y="249"/>
                  </a:lnTo>
                  <a:lnTo>
                    <a:pt x="1285" y="298"/>
                  </a:lnTo>
                  <a:lnTo>
                    <a:pt x="1279" y="350"/>
                  </a:lnTo>
                  <a:lnTo>
                    <a:pt x="1266" y="404"/>
                  </a:lnTo>
                  <a:lnTo>
                    <a:pt x="1247" y="458"/>
                  </a:lnTo>
                  <a:lnTo>
                    <a:pt x="1218" y="514"/>
                  </a:lnTo>
                  <a:lnTo>
                    <a:pt x="1184" y="570"/>
                  </a:lnTo>
                  <a:lnTo>
                    <a:pt x="1145" y="624"/>
                  </a:lnTo>
                  <a:lnTo>
                    <a:pt x="1097" y="678"/>
                  </a:lnTo>
                  <a:lnTo>
                    <a:pt x="1045" y="730"/>
                  </a:lnTo>
                  <a:lnTo>
                    <a:pt x="989" y="780"/>
                  </a:lnTo>
                  <a:lnTo>
                    <a:pt x="928" y="827"/>
                  </a:lnTo>
                  <a:lnTo>
                    <a:pt x="866" y="870"/>
                  </a:lnTo>
                  <a:lnTo>
                    <a:pt x="799" y="907"/>
                  </a:lnTo>
                  <a:lnTo>
                    <a:pt x="729" y="942"/>
                  </a:lnTo>
                  <a:lnTo>
                    <a:pt x="660" y="972"/>
                  </a:lnTo>
                  <a:lnTo>
                    <a:pt x="591" y="996"/>
                  </a:lnTo>
                  <a:lnTo>
                    <a:pt x="522" y="1013"/>
                  </a:lnTo>
                  <a:lnTo>
                    <a:pt x="455" y="1026"/>
                  </a:lnTo>
                  <a:lnTo>
                    <a:pt x="390" y="1030"/>
                  </a:lnTo>
                  <a:lnTo>
                    <a:pt x="327" y="1030"/>
                  </a:lnTo>
                  <a:lnTo>
                    <a:pt x="269" y="1026"/>
                  </a:lnTo>
                  <a:lnTo>
                    <a:pt x="214" y="1013"/>
                  </a:lnTo>
                  <a:lnTo>
                    <a:pt x="165" y="996"/>
                  </a:lnTo>
                  <a:lnTo>
                    <a:pt x="121" y="972"/>
                  </a:lnTo>
                  <a:lnTo>
                    <a:pt x="85" y="944"/>
                  </a:lnTo>
                  <a:lnTo>
                    <a:pt x="52" y="909"/>
                  </a:lnTo>
                  <a:lnTo>
                    <a:pt x="28" y="873"/>
                  </a:lnTo>
                  <a:lnTo>
                    <a:pt x="13" y="829"/>
                  </a:lnTo>
                  <a:lnTo>
                    <a:pt x="2" y="784"/>
                  </a:lnTo>
                  <a:lnTo>
                    <a:pt x="0" y="734"/>
                  </a:lnTo>
                  <a:lnTo>
                    <a:pt x="7" y="683"/>
                  </a:lnTo>
                  <a:lnTo>
                    <a:pt x="20" y="629"/>
                  </a:lnTo>
                  <a:lnTo>
                    <a:pt x="39" y="572"/>
                  </a:lnTo>
                  <a:lnTo>
                    <a:pt x="67" y="516"/>
                  </a:lnTo>
                  <a:lnTo>
                    <a:pt x="102" y="462"/>
                  </a:lnTo>
                  <a:lnTo>
                    <a:pt x="143" y="406"/>
                  </a:lnTo>
                  <a:lnTo>
                    <a:pt x="188" y="352"/>
                  </a:lnTo>
                  <a:lnTo>
                    <a:pt x="240" y="300"/>
                  </a:lnTo>
                  <a:lnTo>
                    <a:pt x="297" y="251"/>
                  </a:lnTo>
                  <a:lnTo>
                    <a:pt x="357" y="205"/>
                  </a:lnTo>
                  <a:lnTo>
                    <a:pt x="422" y="1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13" name="Group 60"/>
          <p:cNvGrpSpPr>
            <a:grpSpLocks noChangeAspect="1"/>
          </p:cNvGrpSpPr>
          <p:nvPr/>
        </p:nvGrpSpPr>
        <p:grpSpPr bwMode="auto">
          <a:xfrm>
            <a:off x="2220913" y="4168777"/>
            <a:ext cx="2432051" cy="1789113"/>
            <a:chOff x="187" y="1430"/>
            <a:chExt cx="2380" cy="1751"/>
          </a:xfrm>
        </p:grpSpPr>
        <p:sp>
          <p:nvSpPr>
            <p:cNvPr id="76875" name="Rectangle 61"/>
            <p:cNvSpPr>
              <a:spLocks noChangeAspect="1" noChangeArrowheads="1"/>
            </p:cNvSpPr>
            <p:nvPr/>
          </p:nvSpPr>
          <p:spPr bwMode="auto">
            <a:xfrm>
              <a:off x="417" y="2643"/>
              <a:ext cx="111" cy="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76" name="Freeform 62"/>
            <p:cNvSpPr>
              <a:spLocks noChangeAspect="1"/>
            </p:cNvSpPr>
            <p:nvPr/>
          </p:nvSpPr>
          <p:spPr bwMode="auto">
            <a:xfrm>
              <a:off x="187" y="1430"/>
              <a:ext cx="2380" cy="1751"/>
            </a:xfrm>
            <a:custGeom>
              <a:avLst/>
              <a:gdLst>
                <a:gd name="T0" fmla="*/ 1275 w 2380"/>
                <a:gd name="T1" fmla="*/ 0 h 1751"/>
                <a:gd name="T2" fmla="*/ 1474 w 2380"/>
                <a:gd name="T3" fmla="*/ 22 h 1751"/>
                <a:gd name="T4" fmla="*/ 1664 w 2380"/>
                <a:gd name="T5" fmla="*/ 67 h 1751"/>
                <a:gd name="T6" fmla="*/ 1842 w 2380"/>
                <a:gd name="T7" fmla="*/ 136 h 1751"/>
                <a:gd name="T8" fmla="*/ 2002 w 2380"/>
                <a:gd name="T9" fmla="*/ 227 h 1751"/>
                <a:gd name="T10" fmla="*/ 2138 w 2380"/>
                <a:gd name="T11" fmla="*/ 335 h 1751"/>
                <a:gd name="T12" fmla="*/ 2246 w 2380"/>
                <a:gd name="T13" fmla="*/ 460 h 1751"/>
                <a:gd name="T14" fmla="*/ 2324 w 2380"/>
                <a:gd name="T15" fmla="*/ 596 h 1751"/>
                <a:gd name="T16" fmla="*/ 2370 w 2380"/>
                <a:gd name="T17" fmla="*/ 741 h 1751"/>
                <a:gd name="T18" fmla="*/ 2380 w 2380"/>
                <a:gd name="T19" fmla="*/ 887 h 1751"/>
                <a:gd name="T20" fmla="*/ 2359 w 2380"/>
                <a:gd name="T21" fmla="*/ 1036 h 1751"/>
                <a:gd name="T22" fmla="*/ 2302 w 2380"/>
                <a:gd name="T23" fmla="*/ 1179 h 1751"/>
                <a:gd name="T24" fmla="*/ 2214 w 2380"/>
                <a:gd name="T25" fmla="*/ 1313 h 1751"/>
                <a:gd name="T26" fmla="*/ 2097 w 2380"/>
                <a:gd name="T27" fmla="*/ 1436 h 1751"/>
                <a:gd name="T28" fmla="*/ 1954 w 2380"/>
                <a:gd name="T29" fmla="*/ 1542 h 1751"/>
                <a:gd name="T30" fmla="*/ 1787 w 2380"/>
                <a:gd name="T31" fmla="*/ 1628 h 1751"/>
                <a:gd name="T32" fmla="*/ 1606 w 2380"/>
                <a:gd name="T33" fmla="*/ 1693 h 1751"/>
                <a:gd name="T34" fmla="*/ 1411 w 2380"/>
                <a:gd name="T35" fmla="*/ 1736 h 1751"/>
                <a:gd name="T36" fmla="*/ 1210 w 2380"/>
                <a:gd name="T37" fmla="*/ 1751 h 1751"/>
                <a:gd name="T38" fmla="*/ 1009 w 2380"/>
                <a:gd name="T39" fmla="*/ 1742 h 1751"/>
                <a:gd name="T40" fmla="*/ 812 w 2380"/>
                <a:gd name="T41" fmla="*/ 1710 h 1751"/>
                <a:gd name="T42" fmla="*/ 626 w 2380"/>
                <a:gd name="T43" fmla="*/ 1652 h 1751"/>
                <a:gd name="T44" fmla="*/ 457 w 2380"/>
                <a:gd name="T45" fmla="*/ 1572 h 1751"/>
                <a:gd name="T46" fmla="*/ 310 w 2380"/>
                <a:gd name="T47" fmla="*/ 1473 h 1751"/>
                <a:gd name="T48" fmla="*/ 186 w 2380"/>
                <a:gd name="T49" fmla="*/ 1356 h 1751"/>
                <a:gd name="T50" fmla="*/ 93 w 2380"/>
                <a:gd name="T51" fmla="*/ 1226 h 1751"/>
                <a:gd name="T52" fmla="*/ 31 w 2380"/>
                <a:gd name="T53" fmla="*/ 1084 h 1751"/>
                <a:gd name="T54" fmla="*/ 2 w 2380"/>
                <a:gd name="T55" fmla="*/ 937 h 1751"/>
                <a:gd name="T56" fmla="*/ 9 w 2380"/>
                <a:gd name="T57" fmla="*/ 788 h 1751"/>
                <a:gd name="T58" fmla="*/ 48 w 2380"/>
                <a:gd name="T59" fmla="*/ 643 h 1751"/>
                <a:gd name="T60" fmla="*/ 119 w 2380"/>
                <a:gd name="T61" fmla="*/ 503 h 1751"/>
                <a:gd name="T62" fmla="*/ 223 w 2380"/>
                <a:gd name="T63" fmla="*/ 374 h 1751"/>
                <a:gd name="T64" fmla="*/ 355 w 2380"/>
                <a:gd name="T65" fmla="*/ 259 h 1751"/>
                <a:gd name="T66" fmla="*/ 509 w 2380"/>
                <a:gd name="T67" fmla="*/ 164 h 1751"/>
                <a:gd name="T68" fmla="*/ 684 w 2380"/>
                <a:gd name="T69" fmla="*/ 86 h 1751"/>
                <a:gd name="T70" fmla="*/ 874 w 2380"/>
                <a:gd name="T71" fmla="*/ 35 h 1751"/>
                <a:gd name="T72" fmla="*/ 1071 w 2380"/>
                <a:gd name="T73" fmla="*/ 4 h 17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0"/>
                <a:gd name="T112" fmla="*/ 0 h 1751"/>
                <a:gd name="T113" fmla="*/ 2380 w 2380"/>
                <a:gd name="T114" fmla="*/ 1751 h 175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0" h="1751">
                  <a:moveTo>
                    <a:pt x="1173" y="0"/>
                  </a:moveTo>
                  <a:lnTo>
                    <a:pt x="1275" y="0"/>
                  </a:lnTo>
                  <a:lnTo>
                    <a:pt x="1374" y="9"/>
                  </a:lnTo>
                  <a:lnTo>
                    <a:pt x="1474" y="22"/>
                  </a:lnTo>
                  <a:lnTo>
                    <a:pt x="1571" y="41"/>
                  </a:lnTo>
                  <a:lnTo>
                    <a:pt x="1664" y="67"/>
                  </a:lnTo>
                  <a:lnTo>
                    <a:pt x="1755" y="99"/>
                  </a:lnTo>
                  <a:lnTo>
                    <a:pt x="1842" y="136"/>
                  </a:lnTo>
                  <a:lnTo>
                    <a:pt x="1924" y="179"/>
                  </a:lnTo>
                  <a:lnTo>
                    <a:pt x="2002" y="227"/>
                  </a:lnTo>
                  <a:lnTo>
                    <a:pt x="2073" y="279"/>
                  </a:lnTo>
                  <a:lnTo>
                    <a:pt x="2138" y="335"/>
                  </a:lnTo>
                  <a:lnTo>
                    <a:pt x="2194" y="395"/>
                  </a:lnTo>
                  <a:lnTo>
                    <a:pt x="2246" y="460"/>
                  </a:lnTo>
                  <a:lnTo>
                    <a:pt x="2289" y="527"/>
                  </a:lnTo>
                  <a:lnTo>
                    <a:pt x="2324" y="596"/>
                  </a:lnTo>
                  <a:lnTo>
                    <a:pt x="2350" y="667"/>
                  </a:lnTo>
                  <a:lnTo>
                    <a:pt x="2370" y="741"/>
                  </a:lnTo>
                  <a:lnTo>
                    <a:pt x="2380" y="814"/>
                  </a:lnTo>
                  <a:lnTo>
                    <a:pt x="2380" y="887"/>
                  </a:lnTo>
                  <a:lnTo>
                    <a:pt x="2374" y="963"/>
                  </a:lnTo>
                  <a:lnTo>
                    <a:pt x="2359" y="1036"/>
                  </a:lnTo>
                  <a:lnTo>
                    <a:pt x="2335" y="1108"/>
                  </a:lnTo>
                  <a:lnTo>
                    <a:pt x="2302" y="1179"/>
                  </a:lnTo>
                  <a:lnTo>
                    <a:pt x="2261" y="1248"/>
                  </a:lnTo>
                  <a:lnTo>
                    <a:pt x="2214" y="1313"/>
                  </a:lnTo>
                  <a:lnTo>
                    <a:pt x="2160" y="1378"/>
                  </a:lnTo>
                  <a:lnTo>
                    <a:pt x="2097" y="1436"/>
                  </a:lnTo>
                  <a:lnTo>
                    <a:pt x="2028" y="1492"/>
                  </a:lnTo>
                  <a:lnTo>
                    <a:pt x="1954" y="1542"/>
                  </a:lnTo>
                  <a:lnTo>
                    <a:pt x="1872" y="1587"/>
                  </a:lnTo>
                  <a:lnTo>
                    <a:pt x="1787" y="1628"/>
                  </a:lnTo>
                  <a:lnTo>
                    <a:pt x="1699" y="1665"/>
                  </a:lnTo>
                  <a:lnTo>
                    <a:pt x="1606" y="1693"/>
                  </a:lnTo>
                  <a:lnTo>
                    <a:pt x="1508" y="1717"/>
                  </a:lnTo>
                  <a:lnTo>
                    <a:pt x="1411" y="1736"/>
                  </a:lnTo>
                  <a:lnTo>
                    <a:pt x="1309" y="1747"/>
                  </a:lnTo>
                  <a:lnTo>
                    <a:pt x="1210" y="1751"/>
                  </a:lnTo>
                  <a:lnTo>
                    <a:pt x="1108" y="1751"/>
                  </a:lnTo>
                  <a:lnTo>
                    <a:pt x="1009" y="1742"/>
                  </a:lnTo>
                  <a:lnTo>
                    <a:pt x="909" y="1730"/>
                  </a:lnTo>
                  <a:lnTo>
                    <a:pt x="812" y="1710"/>
                  </a:lnTo>
                  <a:lnTo>
                    <a:pt x="719" y="1684"/>
                  </a:lnTo>
                  <a:lnTo>
                    <a:pt x="626" y="1652"/>
                  </a:lnTo>
                  <a:lnTo>
                    <a:pt x="539" y="1615"/>
                  </a:lnTo>
                  <a:lnTo>
                    <a:pt x="457" y="1572"/>
                  </a:lnTo>
                  <a:lnTo>
                    <a:pt x="381" y="1524"/>
                  </a:lnTo>
                  <a:lnTo>
                    <a:pt x="310" y="1473"/>
                  </a:lnTo>
                  <a:lnTo>
                    <a:pt x="245" y="1416"/>
                  </a:lnTo>
                  <a:lnTo>
                    <a:pt x="186" y="1356"/>
                  </a:lnTo>
                  <a:lnTo>
                    <a:pt x="137" y="1291"/>
                  </a:lnTo>
                  <a:lnTo>
                    <a:pt x="93" y="1226"/>
                  </a:lnTo>
                  <a:lnTo>
                    <a:pt x="59" y="1155"/>
                  </a:lnTo>
                  <a:lnTo>
                    <a:pt x="31" y="1084"/>
                  </a:lnTo>
                  <a:lnTo>
                    <a:pt x="13" y="1011"/>
                  </a:lnTo>
                  <a:lnTo>
                    <a:pt x="2" y="937"/>
                  </a:lnTo>
                  <a:lnTo>
                    <a:pt x="0" y="864"/>
                  </a:lnTo>
                  <a:lnTo>
                    <a:pt x="9" y="788"/>
                  </a:lnTo>
                  <a:lnTo>
                    <a:pt x="24" y="715"/>
                  </a:lnTo>
                  <a:lnTo>
                    <a:pt x="48" y="643"/>
                  </a:lnTo>
                  <a:lnTo>
                    <a:pt x="80" y="572"/>
                  </a:lnTo>
                  <a:lnTo>
                    <a:pt x="119" y="503"/>
                  </a:lnTo>
                  <a:lnTo>
                    <a:pt x="167" y="438"/>
                  </a:lnTo>
                  <a:lnTo>
                    <a:pt x="223" y="374"/>
                  </a:lnTo>
                  <a:lnTo>
                    <a:pt x="286" y="315"/>
                  </a:lnTo>
                  <a:lnTo>
                    <a:pt x="355" y="259"/>
                  </a:lnTo>
                  <a:lnTo>
                    <a:pt x="429" y="209"/>
                  </a:lnTo>
                  <a:lnTo>
                    <a:pt x="509" y="164"/>
                  </a:lnTo>
                  <a:lnTo>
                    <a:pt x="595" y="123"/>
                  </a:lnTo>
                  <a:lnTo>
                    <a:pt x="684" y="86"/>
                  </a:lnTo>
                  <a:lnTo>
                    <a:pt x="777" y="58"/>
                  </a:lnTo>
                  <a:lnTo>
                    <a:pt x="874" y="35"/>
                  </a:lnTo>
                  <a:lnTo>
                    <a:pt x="972" y="15"/>
                  </a:lnTo>
                  <a:lnTo>
                    <a:pt x="1071" y="4"/>
                  </a:lnTo>
                  <a:lnTo>
                    <a:pt x="117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76819" name="Group 63"/>
          <p:cNvGrpSpPr>
            <a:grpSpLocks noChangeAspect="1"/>
          </p:cNvGrpSpPr>
          <p:nvPr/>
        </p:nvGrpSpPr>
        <p:grpSpPr bwMode="auto">
          <a:xfrm>
            <a:off x="7681914" y="1452565"/>
            <a:ext cx="1980653" cy="1799131"/>
            <a:chOff x="383" y="1437"/>
            <a:chExt cx="1903" cy="1729"/>
          </a:xfrm>
        </p:grpSpPr>
        <p:sp>
          <p:nvSpPr>
            <p:cNvPr id="76863" name="Freeform 64"/>
            <p:cNvSpPr>
              <a:spLocks noChangeAspect="1"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64" name="Freeform 65"/>
            <p:cNvSpPr>
              <a:spLocks noChangeAspect="1"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65" name="Freeform 66"/>
            <p:cNvSpPr>
              <a:spLocks noChangeAspect="1"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66" name="Freeform 67"/>
            <p:cNvSpPr>
              <a:spLocks noChangeAspect="1"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67" name="Freeform 68"/>
            <p:cNvSpPr>
              <a:spLocks noChangeAspect="1"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68" name="Freeform 69"/>
            <p:cNvSpPr>
              <a:spLocks noChangeAspect="1"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69" name="Rectangle 70"/>
            <p:cNvSpPr>
              <a:spLocks noChangeAspect="1" noChangeArrowheads="1"/>
            </p:cNvSpPr>
            <p:nvPr/>
          </p:nvSpPr>
          <p:spPr bwMode="auto">
            <a:xfrm>
              <a:off x="1890" y="1437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70" name="Rectangle 71"/>
            <p:cNvSpPr>
              <a:spLocks noChangeAspect="1" noChangeArrowheads="1"/>
            </p:cNvSpPr>
            <p:nvPr/>
          </p:nvSpPr>
          <p:spPr bwMode="auto">
            <a:xfrm>
              <a:off x="1089" y="2061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71" name="Rectangle 72"/>
            <p:cNvSpPr>
              <a:spLocks noChangeAspect="1" noChangeArrowheads="1"/>
            </p:cNvSpPr>
            <p:nvPr/>
          </p:nvSpPr>
          <p:spPr bwMode="auto">
            <a:xfrm>
              <a:off x="1699" y="2374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72" name="Rectangle 73"/>
            <p:cNvSpPr>
              <a:spLocks noChangeAspect="1" noChangeArrowheads="1"/>
            </p:cNvSpPr>
            <p:nvPr/>
          </p:nvSpPr>
          <p:spPr bwMode="auto">
            <a:xfrm>
              <a:off x="1319" y="2929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73" name="Rectangle 74"/>
            <p:cNvSpPr>
              <a:spLocks noChangeAspect="1" noChangeArrowheads="1"/>
            </p:cNvSpPr>
            <p:nvPr/>
          </p:nvSpPr>
          <p:spPr bwMode="auto">
            <a:xfrm>
              <a:off x="517" y="1940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74" name="Rectangle 75"/>
            <p:cNvSpPr>
              <a:spLocks noChangeAspect="1" noChangeArrowheads="1"/>
            </p:cNvSpPr>
            <p:nvPr/>
          </p:nvSpPr>
          <p:spPr bwMode="auto">
            <a:xfrm>
              <a:off x="2187" y="2429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15" name="Group 76"/>
          <p:cNvGrpSpPr>
            <a:grpSpLocks noChangeAspect="1"/>
          </p:cNvGrpSpPr>
          <p:nvPr/>
        </p:nvGrpSpPr>
        <p:grpSpPr bwMode="auto">
          <a:xfrm>
            <a:off x="8809037" y="2360611"/>
            <a:ext cx="919163" cy="619617"/>
            <a:chOff x="1465" y="2309"/>
            <a:chExt cx="883" cy="596"/>
          </a:xfrm>
        </p:grpSpPr>
        <p:sp>
          <p:nvSpPr>
            <p:cNvPr id="76861" name="Freeform 77"/>
            <p:cNvSpPr>
              <a:spLocks noChangeAspect="1"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62" name="Rectangle 78"/>
            <p:cNvSpPr>
              <a:spLocks noChangeAspect="1" noChangeArrowheads="1"/>
            </p:cNvSpPr>
            <p:nvPr/>
          </p:nvSpPr>
          <p:spPr bwMode="auto">
            <a:xfrm>
              <a:off x="1831" y="2668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16" name="Group 79"/>
          <p:cNvGrpSpPr>
            <a:grpSpLocks noChangeAspect="1"/>
          </p:cNvGrpSpPr>
          <p:nvPr/>
        </p:nvGrpSpPr>
        <p:grpSpPr bwMode="auto">
          <a:xfrm>
            <a:off x="7624764" y="1730375"/>
            <a:ext cx="1036637" cy="584200"/>
            <a:chOff x="328" y="1704"/>
            <a:chExt cx="995" cy="561"/>
          </a:xfrm>
        </p:grpSpPr>
        <p:sp>
          <p:nvSpPr>
            <p:cNvPr id="76859" name="Freeform 80"/>
            <p:cNvSpPr>
              <a:spLocks noChangeAspect="1"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60" name="Rectangle 81"/>
            <p:cNvSpPr>
              <a:spLocks noChangeAspect="1" noChangeArrowheads="1"/>
            </p:cNvSpPr>
            <p:nvPr/>
          </p:nvSpPr>
          <p:spPr bwMode="auto">
            <a:xfrm>
              <a:off x="854" y="1704"/>
              <a:ext cx="109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17" name="Group 82"/>
          <p:cNvGrpSpPr>
            <a:grpSpLocks noChangeAspect="1"/>
          </p:cNvGrpSpPr>
          <p:nvPr/>
        </p:nvGrpSpPr>
        <p:grpSpPr bwMode="auto">
          <a:xfrm>
            <a:off x="7399339" y="1293813"/>
            <a:ext cx="2583902" cy="2287587"/>
            <a:chOff x="111" y="1285"/>
            <a:chExt cx="2482" cy="2197"/>
          </a:xfrm>
        </p:grpSpPr>
        <p:sp>
          <p:nvSpPr>
            <p:cNvPr id="76857" name="Rectangle 83"/>
            <p:cNvSpPr>
              <a:spLocks noChangeAspect="1" noChangeArrowheads="1"/>
            </p:cNvSpPr>
            <p:nvPr/>
          </p:nvSpPr>
          <p:spPr bwMode="auto">
            <a:xfrm>
              <a:off x="2484" y="1704"/>
              <a:ext cx="109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58" name="Freeform 84"/>
            <p:cNvSpPr>
              <a:spLocks noChangeAspect="1"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18" name="Group 85"/>
          <p:cNvGrpSpPr>
            <a:grpSpLocks noChangeAspect="1"/>
          </p:cNvGrpSpPr>
          <p:nvPr/>
        </p:nvGrpSpPr>
        <p:grpSpPr bwMode="auto">
          <a:xfrm>
            <a:off x="8397875" y="2211389"/>
            <a:ext cx="1416051" cy="1084263"/>
            <a:chOff x="1070" y="2167"/>
            <a:chExt cx="1361" cy="1041"/>
          </a:xfrm>
        </p:grpSpPr>
        <p:sp>
          <p:nvSpPr>
            <p:cNvPr id="76855" name="Rectangle 86"/>
            <p:cNvSpPr>
              <a:spLocks noChangeAspect="1" noChangeArrowheads="1"/>
            </p:cNvSpPr>
            <p:nvPr/>
          </p:nvSpPr>
          <p:spPr bwMode="auto">
            <a:xfrm>
              <a:off x="1070" y="2560"/>
              <a:ext cx="109" cy="2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  <p:sp>
          <p:nvSpPr>
            <p:cNvPr id="76856" name="Freeform 87"/>
            <p:cNvSpPr>
              <a:spLocks noChangeAspect="1"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19" name="Group 88"/>
          <p:cNvGrpSpPr>
            <a:grpSpLocks noChangeAspect="1"/>
          </p:cNvGrpSpPr>
          <p:nvPr/>
        </p:nvGrpSpPr>
        <p:grpSpPr bwMode="auto">
          <a:xfrm>
            <a:off x="7567613" y="1384301"/>
            <a:ext cx="1905000" cy="996951"/>
            <a:chOff x="272" y="1372"/>
            <a:chExt cx="1831" cy="958"/>
          </a:xfrm>
        </p:grpSpPr>
        <p:sp>
          <p:nvSpPr>
            <p:cNvPr id="76853" name="Rectangle 89"/>
            <p:cNvSpPr>
              <a:spLocks noChangeAspect="1" noChangeArrowheads="1"/>
            </p:cNvSpPr>
            <p:nvPr/>
          </p:nvSpPr>
          <p:spPr bwMode="auto">
            <a:xfrm>
              <a:off x="1165" y="1380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  <p:sp>
          <p:nvSpPr>
            <p:cNvPr id="76854" name="Freeform 90"/>
            <p:cNvSpPr>
              <a:spLocks noChangeAspect="1"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  <p:grpSp>
        <p:nvGrpSpPr>
          <p:cNvPr id="76825" name="Group 91"/>
          <p:cNvGrpSpPr>
            <a:grpSpLocks noChangeAspect="1"/>
          </p:cNvGrpSpPr>
          <p:nvPr/>
        </p:nvGrpSpPr>
        <p:grpSpPr bwMode="auto">
          <a:xfrm>
            <a:off x="2533650" y="1362076"/>
            <a:ext cx="1991755" cy="1808633"/>
            <a:chOff x="471" y="1117"/>
            <a:chExt cx="1936" cy="1757"/>
          </a:xfrm>
        </p:grpSpPr>
        <p:sp>
          <p:nvSpPr>
            <p:cNvPr id="76841" name="Freeform 92"/>
            <p:cNvSpPr>
              <a:spLocks noChangeAspect="1"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42" name="Freeform 93"/>
            <p:cNvSpPr>
              <a:spLocks noChangeAspect="1"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43" name="Freeform 94"/>
            <p:cNvSpPr>
              <a:spLocks noChangeAspect="1"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44" name="Freeform 95"/>
            <p:cNvSpPr>
              <a:spLocks noChangeAspect="1"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45" name="Freeform 96"/>
            <p:cNvSpPr>
              <a:spLocks noChangeAspect="1"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46" name="Freeform 97"/>
            <p:cNvSpPr>
              <a:spLocks noChangeAspect="1"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47" name="Rectangle 98"/>
            <p:cNvSpPr>
              <a:spLocks noChangeAspect="1" noChangeArrowheads="1"/>
            </p:cNvSpPr>
            <p:nvPr/>
          </p:nvSpPr>
          <p:spPr bwMode="auto">
            <a:xfrm>
              <a:off x="2033" y="1117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en-US" sz="1600"/>
            </a:p>
          </p:txBody>
        </p:sp>
        <p:sp>
          <p:nvSpPr>
            <p:cNvPr id="76848" name="Rectangle 99"/>
            <p:cNvSpPr>
              <a:spLocks noChangeAspect="1" noChangeArrowheads="1"/>
            </p:cNvSpPr>
            <p:nvPr/>
          </p:nvSpPr>
          <p:spPr bwMode="auto">
            <a:xfrm>
              <a:off x="1256" y="1765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en-US" sz="1600"/>
            </a:p>
          </p:txBody>
        </p:sp>
        <p:sp>
          <p:nvSpPr>
            <p:cNvPr id="76849" name="Rectangle 100"/>
            <p:cNvSpPr>
              <a:spLocks noChangeAspect="1" noChangeArrowheads="1"/>
            </p:cNvSpPr>
            <p:nvPr/>
          </p:nvSpPr>
          <p:spPr bwMode="auto">
            <a:xfrm>
              <a:off x="1810" y="2069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en-US" sz="1600"/>
            </a:p>
          </p:txBody>
        </p:sp>
        <p:sp>
          <p:nvSpPr>
            <p:cNvPr id="76850" name="Rectangle 101"/>
            <p:cNvSpPr>
              <a:spLocks noChangeAspect="1" noChangeArrowheads="1"/>
            </p:cNvSpPr>
            <p:nvPr/>
          </p:nvSpPr>
          <p:spPr bwMode="auto">
            <a:xfrm>
              <a:off x="1422" y="2635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en-US" sz="1600"/>
            </a:p>
          </p:txBody>
        </p:sp>
        <p:sp>
          <p:nvSpPr>
            <p:cNvPr id="76851" name="Rectangle 102"/>
            <p:cNvSpPr>
              <a:spLocks noChangeAspect="1" noChangeArrowheads="1"/>
            </p:cNvSpPr>
            <p:nvPr/>
          </p:nvSpPr>
          <p:spPr bwMode="auto">
            <a:xfrm>
              <a:off x="648" y="1626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en-US" sz="1600"/>
            </a:p>
          </p:txBody>
        </p:sp>
        <p:sp>
          <p:nvSpPr>
            <p:cNvPr id="76852" name="Rectangle 103"/>
            <p:cNvSpPr>
              <a:spLocks noChangeAspect="1" noChangeArrowheads="1"/>
            </p:cNvSpPr>
            <p:nvPr/>
          </p:nvSpPr>
          <p:spPr bwMode="auto">
            <a:xfrm>
              <a:off x="2307" y="2126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en-US" sz="1600"/>
            </a:p>
          </p:txBody>
        </p:sp>
      </p:grpSp>
      <p:grpSp>
        <p:nvGrpSpPr>
          <p:cNvPr id="21" name="Group 104"/>
          <p:cNvGrpSpPr>
            <a:grpSpLocks noChangeAspect="1"/>
          </p:cNvGrpSpPr>
          <p:nvPr/>
        </p:nvGrpSpPr>
        <p:grpSpPr bwMode="auto">
          <a:xfrm>
            <a:off x="3665539" y="2070100"/>
            <a:ext cx="923925" cy="592139"/>
            <a:chOff x="1572" y="1805"/>
            <a:chExt cx="897" cy="575"/>
          </a:xfrm>
        </p:grpSpPr>
        <p:sp>
          <p:nvSpPr>
            <p:cNvPr id="76839" name="Freeform 105"/>
            <p:cNvSpPr>
              <a:spLocks noChangeAspect="1"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40" name="Rectangle 106"/>
            <p:cNvSpPr>
              <a:spLocks noChangeAspect="1" noChangeArrowheads="1"/>
            </p:cNvSpPr>
            <p:nvPr/>
          </p:nvSpPr>
          <p:spPr bwMode="auto">
            <a:xfrm>
              <a:off x="1943" y="1805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1</a:t>
              </a:r>
              <a:endParaRPr lang="en-US" altLang="en-US" sz="1600"/>
            </a:p>
          </p:txBody>
        </p:sp>
      </p:grpSp>
      <p:grpSp>
        <p:nvGrpSpPr>
          <p:cNvPr id="22" name="Group 107"/>
          <p:cNvGrpSpPr>
            <a:grpSpLocks noChangeAspect="1"/>
          </p:cNvGrpSpPr>
          <p:nvPr/>
        </p:nvGrpSpPr>
        <p:grpSpPr bwMode="auto">
          <a:xfrm>
            <a:off x="2389189" y="1825625"/>
            <a:ext cx="1125537" cy="745011"/>
            <a:chOff x="332" y="1568"/>
            <a:chExt cx="1093" cy="723"/>
          </a:xfrm>
        </p:grpSpPr>
        <p:sp>
          <p:nvSpPr>
            <p:cNvPr id="76837" name="Freeform 108"/>
            <p:cNvSpPr>
              <a:spLocks noChangeAspect="1"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38" name="Rectangle 109"/>
            <p:cNvSpPr>
              <a:spLocks noChangeAspect="1" noChangeArrowheads="1"/>
            </p:cNvSpPr>
            <p:nvPr/>
          </p:nvSpPr>
          <p:spPr bwMode="auto">
            <a:xfrm>
              <a:off x="949" y="2052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2</a:t>
              </a:r>
              <a:endParaRPr lang="en-US" altLang="en-US" sz="1600"/>
            </a:p>
          </p:txBody>
        </p:sp>
      </p:grpSp>
      <p:grpSp>
        <p:nvGrpSpPr>
          <p:cNvPr id="23" name="Group 110"/>
          <p:cNvGrpSpPr>
            <a:grpSpLocks noChangeAspect="1"/>
          </p:cNvGrpSpPr>
          <p:nvPr/>
        </p:nvGrpSpPr>
        <p:grpSpPr bwMode="auto">
          <a:xfrm>
            <a:off x="2336801" y="1555751"/>
            <a:ext cx="2382839" cy="1358900"/>
            <a:chOff x="280" y="1305"/>
            <a:chExt cx="2315" cy="1321"/>
          </a:xfrm>
        </p:grpSpPr>
        <p:sp>
          <p:nvSpPr>
            <p:cNvPr id="76835" name="Freeform 111"/>
            <p:cNvSpPr>
              <a:spLocks noChangeAspect="1"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36" name="Rectangle 112"/>
            <p:cNvSpPr>
              <a:spLocks noChangeAspect="1" noChangeArrowheads="1"/>
            </p:cNvSpPr>
            <p:nvPr/>
          </p:nvSpPr>
          <p:spPr bwMode="auto">
            <a:xfrm>
              <a:off x="1390" y="1305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3</a:t>
              </a:r>
              <a:endParaRPr lang="en-US" altLang="en-US" sz="1600"/>
            </a:p>
          </p:txBody>
        </p:sp>
      </p:grpSp>
      <p:grpSp>
        <p:nvGrpSpPr>
          <p:cNvPr id="24" name="Group 113"/>
          <p:cNvGrpSpPr>
            <a:grpSpLocks noChangeAspect="1"/>
          </p:cNvGrpSpPr>
          <p:nvPr/>
        </p:nvGrpSpPr>
        <p:grpSpPr bwMode="auto">
          <a:xfrm>
            <a:off x="2295526" y="1477963"/>
            <a:ext cx="2462213" cy="1889597"/>
            <a:chOff x="241" y="1229"/>
            <a:chExt cx="2391" cy="1836"/>
          </a:xfrm>
        </p:grpSpPr>
        <p:sp>
          <p:nvSpPr>
            <p:cNvPr id="76833" name="Freeform 114"/>
            <p:cNvSpPr>
              <a:spLocks noChangeAspect="1"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  <p:sp>
          <p:nvSpPr>
            <p:cNvPr id="76834" name="Rectangle 115"/>
            <p:cNvSpPr>
              <a:spLocks noChangeAspect="1" noChangeArrowheads="1"/>
            </p:cNvSpPr>
            <p:nvPr/>
          </p:nvSpPr>
          <p:spPr bwMode="auto">
            <a:xfrm>
              <a:off x="1238" y="2826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4</a:t>
              </a:r>
              <a:endParaRPr lang="en-US" altLang="en-US" sz="1600"/>
            </a:p>
          </p:txBody>
        </p:sp>
      </p:grpSp>
      <p:grpSp>
        <p:nvGrpSpPr>
          <p:cNvPr id="25" name="Group 116"/>
          <p:cNvGrpSpPr>
            <a:grpSpLocks noChangeAspect="1"/>
          </p:cNvGrpSpPr>
          <p:nvPr/>
        </p:nvGrpSpPr>
        <p:grpSpPr bwMode="auto">
          <a:xfrm>
            <a:off x="2247901" y="1216026"/>
            <a:ext cx="2595563" cy="2289175"/>
            <a:chOff x="194" y="975"/>
            <a:chExt cx="2522" cy="2224"/>
          </a:xfrm>
        </p:grpSpPr>
        <p:sp>
          <p:nvSpPr>
            <p:cNvPr id="76831" name="Rectangle 117"/>
            <p:cNvSpPr>
              <a:spLocks noChangeAspect="1" noChangeArrowheads="1"/>
            </p:cNvSpPr>
            <p:nvPr/>
          </p:nvSpPr>
          <p:spPr bwMode="auto">
            <a:xfrm>
              <a:off x="2138" y="975"/>
              <a:ext cx="111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altLang="en-US" sz="1600">
                  <a:solidFill>
                    <a:srgbClr val="FF0000"/>
                  </a:solidFill>
                </a:rPr>
                <a:t>5</a:t>
              </a:r>
              <a:endParaRPr lang="en-US" altLang="en-US" sz="1600"/>
            </a:p>
          </p:txBody>
        </p:sp>
        <p:sp>
          <p:nvSpPr>
            <p:cNvPr id="76832" name="Freeform 118"/>
            <p:cNvSpPr>
              <a:spLocks noChangeAspect="1"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sz="1400"/>
            </a:p>
          </p:txBody>
        </p:sp>
      </p:grpSp>
    </p:spTree>
    <p:extLst>
      <p:ext uri="{BB962C8B-B14F-4D97-AF65-F5344CB8AC3E}">
        <p14:creationId xmlns:p14="http://schemas.microsoft.com/office/powerpoint/2010/main" val="752575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99728F70-BEFF-084B-B2BA-383936CBB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867" dirty="0"/>
              <a:t>Cluster Validity</a:t>
            </a:r>
          </a:p>
        </p:txBody>
      </p:sp>
    </p:spTree>
    <p:extLst>
      <p:ext uri="{BB962C8B-B14F-4D97-AF65-F5344CB8AC3E}">
        <p14:creationId xmlns:p14="http://schemas.microsoft.com/office/powerpoint/2010/main" val="13827007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Cluster Validity </a:t>
            </a:r>
          </a:p>
        </p:txBody>
      </p:sp>
      <p:sp>
        <p:nvSpPr>
          <p:cNvPr id="16568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80000"/>
              </a:lnSpc>
            </a:pPr>
            <a:endParaRPr lang="en-US" altLang="en-US" sz="20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How to evaluate the “goodness” of the resulting clusters?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But “clusters are in the eye of the beholder”! </a:t>
            </a:r>
          </a:p>
          <a:p>
            <a:pPr>
              <a:lnSpc>
                <a:spcPct val="80000"/>
              </a:lnSpc>
            </a:pPr>
            <a:endParaRPr lang="en-US" altLang="en-US" sz="2400" dirty="0"/>
          </a:p>
          <a:p>
            <a:pPr>
              <a:lnSpc>
                <a:spcPct val="80000"/>
              </a:lnSpc>
            </a:pPr>
            <a:r>
              <a:rPr lang="en-US" altLang="en-US" sz="2400" dirty="0"/>
              <a:t>Then why do we want to evaluate them?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avoid finding patterns in noise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compare clustering algorithms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compare two sets of clusters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To compare two clusters</a:t>
            </a:r>
          </a:p>
        </p:txBody>
      </p:sp>
    </p:spTree>
    <p:extLst>
      <p:ext uri="{BB962C8B-B14F-4D97-AF65-F5344CB8AC3E}">
        <p14:creationId xmlns:p14="http://schemas.microsoft.com/office/powerpoint/2010/main" val="3480496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8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>
          <a:xfrm>
            <a:off x="560388" y="58737"/>
            <a:ext cx="10160000" cy="1143000"/>
          </a:xfrm>
        </p:spPr>
        <p:txBody>
          <a:bodyPr/>
          <a:lstStyle/>
          <a:p>
            <a:r>
              <a:rPr lang="en-US" altLang="en-US" sz="4267" dirty="0"/>
              <a:t>Clusters found in Random Data</a:t>
            </a:r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990600"/>
            <a:ext cx="3648075" cy="2736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6" name="Text Box 4"/>
          <p:cNvSpPr txBox="1">
            <a:spLocks noChangeArrowheads="1"/>
          </p:cNvSpPr>
          <p:nvPr/>
        </p:nvSpPr>
        <p:spPr bwMode="auto">
          <a:xfrm>
            <a:off x="1676400" y="1905000"/>
            <a:ext cx="99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Random Points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76400" y="3657600"/>
            <a:ext cx="4113213" cy="2743200"/>
            <a:chOff x="96" y="2304"/>
            <a:chExt cx="2591" cy="1728"/>
          </a:xfrm>
        </p:grpSpPr>
        <p:pic>
          <p:nvPicPr>
            <p:cNvPr id="90124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" y="230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5" name="Text Box 7"/>
            <p:cNvSpPr txBox="1">
              <a:spLocks noChangeArrowheads="1"/>
            </p:cNvSpPr>
            <p:nvPr/>
          </p:nvSpPr>
          <p:spPr bwMode="auto">
            <a:xfrm>
              <a:off x="96" y="2640"/>
              <a:ext cx="62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K-means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5640389" y="990600"/>
            <a:ext cx="4341812" cy="2743200"/>
            <a:chOff x="2593" y="624"/>
            <a:chExt cx="2735" cy="1728"/>
          </a:xfrm>
        </p:grpSpPr>
        <p:pic>
          <p:nvPicPr>
            <p:cNvPr id="90122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62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3" name="Text Box 10"/>
            <p:cNvSpPr txBox="1">
              <a:spLocks noChangeArrowheads="1"/>
            </p:cNvSpPr>
            <p:nvPr/>
          </p:nvSpPr>
          <p:spPr bwMode="auto">
            <a:xfrm>
              <a:off x="4704" y="1200"/>
              <a:ext cx="624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DBSCAN</a:t>
              </a:r>
            </a:p>
          </p:txBody>
        </p: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5640389" y="3657600"/>
            <a:ext cx="4646612" cy="2743200"/>
            <a:chOff x="2593" y="2304"/>
            <a:chExt cx="2927" cy="1728"/>
          </a:xfrm>
        </p:grpSpPr>
        <p:pic>
          <p:nvPicPr>
            <p:cNvPr id="90120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3" y="2304"/>
              <a:ext cx="2303" cy="17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121" name="Text Box 13"/>
            <p:cNvSpPr txBox="1">
              <a:spLocks noChangeArrowheads="1"/>
            </p:cNvSpPr>
            <p:nvPr/>
          </p:nvSpPr>
          <p:spPr bwMode="auto">
            <a:xfrm>
              <a:off x="4800" y="2640"/>
              <a:ext cx="72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/>
                <a:t>Complete Link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108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Different Aspects of Cluster Validation</a:t>
            </a:r>
            <a:endParaRPr lang="en-US" altLang="en-US" sz="5867" dirty="0"/>
          </a:p>
        </p:txBody>
      </p:sp>
      <p:sp>
        <p:nvSpPr>
          <p:cNvPr id="165888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387" indent="-533387">
              <a:buFont typeface="Monotype Sorts" pitchFamily="2" charset="2"/>
              <a:buAutoNum type="arabicPeriod"/>
            </a:pPr>
            <a:r>
              <a:rPr lang="en-US" altLang="en-US" sz="2000"/>
              <a:t>Determining the</a:t>
            </a:r>
            <a:r>
              <a:rPr lang="en-US" altLang="en-US" sz="2000">
                <a:solidFill>
                  <a:srgbClr val="FF9900"/>
                </a:solidFill>
              </a:rPr>
              <a:t> </a:t>
            </a:r>
            <a:r>
              <a:rPr lang="en-US" altLang="en-US" sz="2000">
                <a:solidFill>
                  <a:srgbClr val="FF0000"/>
                </a:solidFill>
              </a:rPr>
              <a:t>clustering tendency</a:t>
            </a:r>
            <a:r>
              <a:rPr lang="en-US" altLang="en-US" sz="2000"/>
              <a:t> of a set of data, i.e., distinguishing whether non-random structure actually exists in the data. </a:t>
            </a:r>
          </a:p>
          <a:p>
            <a:pPr marL="533387" indent="-533387">
              <a:buFont typeface="Monotype Sorts" pitchFamily="2" charset="2"/>
              <a:buAutoNum type="arabicPeriod"/>
            </a:pPr>
            <a:r>
              <a:rPr lang="en-US" altLang="en-US" sz="2000"/>
              <a:t>Comparing the results of a cluster analysis to externally known results, e.g., to externally given class labels.</a:t>
            </a:r>
          </a:p>
          <a:p>
            <a:pPr marL="533387" indent="-533387">
              <a:buFont typeface="Monotype Sorts" pitchFamily="2" charset="2"/>
              <a:buAutoNum type="arabicPeriod"/>
            </a:pPr>
            <a:r>
              <a:rPr lang="en-US" altLang="en-US" sz="2000"/>
              <a:t>Evaluating how well the results of a cluster analysis fit the data </a:t>
            </a:r>
            <a:r>
              <a:rPr lang="en-US" altLang="en-US" sz="2000" i="1"/>
              <a:t>without</a:t>
            </a:r>
            <a:r>
              <a:rPr lang="en-US" altLang="en-US" sz="2000"/>
              <a:t> reference to external information. </a:t>
            </a:r>
          </a:p>
          <a:p>
            <a:pPr marL="990575" lvl="1" indent="-533387">
              <a:buNone/>
            </a:pPr>
            <a:r>
              <a:rPr lang="en-US" altLang="en-US" sz="1800"/>
              <a:t>	- Use only the data</a:t>
            </a:r>
          </a:p>
          <a:p>
            <a:pPr marL="533387" indent="-533387">
              <a:buFont typeface="Monotype Sorts" pitchFamily="2" charset="2"/>
              <a:buAutoNum type="arabicPeriod"/>
            </a:pPr>
            <a:r>
              <a:rPr lang="en-US" altLang="en-US" sz="2000"/>
              <a:t>Comparing the results of two different sets of cluster analyses to determine which is better.</a:t>
            </a:r>
          </a:p>
          <a:p>
            <a:pPr marL="533387" indent="-533387">
              <a:buFont typeface="Monotype Sorts" pitchFamily="2" charset="2"/>
              <a:buAutoNum type="arabicPeriod"/>
            </a:pPr>
            <a:r>
              <a:rPr lang="en-US" altLang="en-US" sz="2000"/>
              <a:t>Determining the ‘correct’ number of clusters.</a:t>
            </a:r>
          </a:p>
          <a:p>
            <a:pPr marL="533387" indent="-533387"/>
            <a:endParaRPr lang="en-US" altLang="en-US" sz="2000"/>
          </a:p>
          <a:p>
            <a:pPr marL="533387" indent="-533387">
              <a:buNone/>
            </a:pPr>
            <a:r>
              <a:rPr lang="en-US" altLang="en-US" sz="2400"/>
              <a:t>	</a:t>
            </a:r>
            <a:r>
              <a:rPr lang="en-US" altLang="en-US" sz="2000"/>
              <a:t>For 2, 3, and 4, we can further distinguish whether we want to evaluate the entire clustering or just individual clusters. </a:t>
            </a:r>
          </a:p>
          <a:p>
            <a:pPr marL="533387" indent="-533387"/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3046022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58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882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Measures of Cluster Validity</a:t>
            </a:r>
            <a:endParaRPr lang="en-US" altLang="en-US" sz="6400" dirty="0"/>
          </a:p>
        </p:txBody>
      </p:sp>
      <p:sp>
        <p:nvSpPr>
          <p:cNvPr id="9216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/>
            <a:r>
              <a:rPr lang="en-US" altLang="en-US" sz="2200" dirty="0"/>
              <a:t>Numerical measures that are applied to judge various aspects of cluster validity, are classified into the following three types.</a:t>
            </a:r>
          </a:p>
          <a:p>
            <a:pPr marL="742932" lvl="1" indent="-285744"/>
            <a:r>
              <a:rPr lang="en-US" altLang="en-US" sz="2000" dirty="0">
                <a:solidFill>
                  <a:srgbClr val="FF0000"/>
                </a:solidFill>
              </a:rPr>
              <a:t>External Index:</a:t>
            </a:r>
            <a:r>
              <a:rPr lang="en-US" altLang="en-US" sz="2000" dirty="0"/>
              <a:t> Used to measure the extent to which cluster labels match externally supplied class labels.</a:t>
            </a:r>
          </a:p>
          <a:p>
            <a:pPr marL="1142971" lvl="2" indent="-228594">
              <a:lnSpc>
                <a:spcPct val="80000"/>
              </a:lnSpc>
            </a:pPr>
            <a:r>
              <a:rPr lang="en-US" altLang="en-US" sz="1600" dirty="0"/>
              <a:t>Entropy </a:t>
            </a:r>
          </a:p>
          <a:p>
            <a:pPr marL="742932" lvl="1" indent="-285744"/>
            <a:r>
              <a:rPr lang="en-US" altLang="en-US" sz="2000" dirty="0">
                <a:solidFill>
                  <a:srgbClr val="FF0000"/>
                </a:solidFill>
              </a:rPr>
              <a:t>Internal Index:</a:t>
            </a:r>
            <a:r>
              <a:rPr lang="en-US" altLang="en-US" sz="2000" dirty="0"/>
              <a:t>  Used to measure the goodness of a clustering structure </a:t>
            </a:r>
            <a:r>
              <a:rPr lang="en-US" altLang="en-US" sz="2000" i="1" dirty="0"/>
              <a:t>without</a:t>
            </a:r>
            <a:r>
              <a:rPr lang="en-US" altLang="en-US" sz="2000" dirty="0"/>
              <a:t> respect to external information. </a:t>
            </a:r>
          </a:p>
          <a:p>
            <a:pPr marL="1142971" lvl="2" indent="-228594">
              <a:lnSpc>
                <a:spcPct val="80000"/>
              </a:lnSpc>
            </a:pPr>
            <a:r>
              <a:rPr lang="en-US" altLang="en-US" sz="1600" dirty="0"/>
              <a:t>Sum of Squared Error (SSE)</a:t>
            </a:r>
          </a:p>
          <a:p>
            <a:pPr marL="742932" lvl="1" indent="-285744"/>
            <a:r>
              <a:rPr lang="en-US" altLang="en-US" sz="2000" dirty="0">
                <a:solidFill>
                  <a:srgbClr val="FF0000"/>
                </a:solidFill>
              </a:rPr>
              <a:t>Relative Index:</a:t>
            </a:r>
            <a:r>
              <a:rPr lang="en-US" altLang="en-US" sz="2000" dirty="0"/>
              <a:t> Used to compare two different </a:t>
            </a:r>
            <a:r>
              <a:rPr lang="en-US" altLang="en-US" sz="2000" dirty="0" err="1"/>
              <a:t>clusterings</a:t>
            </a:r>
            <a:r>
              <a:rPr lang="en-US" altLang="en-US" sz="2000" dirty="0"/>
              <a:t> or clusters. </a:t>
            </a:r>
          </a:p>
          <a:p>
            <a:pPr marL="1142971" lvl="2" indent="-228594">
              <a:lnSpc>
                <a:spcPct val="80000"/>
              </a:lnSpc>
            </a:pPr>
            <a:r>
              <a:rPr lang="en-US" altLang="en-US" sz="1600" dirty="0"/>
              <a:t>Often an external or internal index is used for this function, e.g., SSE or entropy</a:t>
            </a:r>
          </a:p>
          <a:p>
            <a:pPr marL="342891" indent="-342891"/>
            <a:r>
              <a:rPr lang="en-US" altLang="en-US" sz="2200" dirty="0"/>
              <a:t>Sometimes these are referred to as </a:t>
            </a:r>
            <a:r>
              <a:rPr lang="en-US" altLang="en-US" sz="2200" dirty="0">
                <a:solidFill>
                  <a:srgbClr val="FF0000"/>
                </a:solidFill>
              </a:rPr>
              <a:t>criteria</a:t>
            </a:r>
            <a:r>
              <a:rPr lang="en-US" altLang="en-US" sz="2200" dirty="0"/>
              <a:t> instead of </a:t>
            </a:r>
            <a:r>
              <a:rPr lang="en-US" altLang="en-US" sz="2200" dirty="0">
                <a:solidFill>
                  <a:srgbClr val="FF0000"/>
                </a:solidFill>
              </a:rPr>
              <a:t>indices</a:t>
            </a:r>
          </a:p>
          <a:p>
            <a:pPr marL="742932" lvl="1" indent="-285744"/>
            <a:r>
              <a:rPr lang="en-US" altLang="en-US" sz="1800" dirty="0"/>
              <a:t>However, sometimes criterion is the general strategy and index is the numerical measure that implements the criterion.</a:t>
            </a:r>
          </a:p>
        </p:txBody>
      </p:sp>
    </p:spTree>
    <p:extLst>
      <p:ext uri="{BB962C8B-B14F-4D97-AF65-F5344CB8AC3E}">
        <p14:creationId xmlns:p14="http://schemas.microsoft.com/office/powerpoint/2010/main" val="21246506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Measuring Cluster Validity Via Correlation</a:t>
            </a:r>
            <a:endParaRPr lang="en-US" altLang="en-US" sz="5867" dirty="0"/>
          </a:p>
        </p:txBody>
      </p:sp>
      <p:sp>
        <p:nvSpPr>
          <p:cNvPr id="166093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33387" indent="-533387"/>
            <a:r>
              <a:rPr lang="en-US" altLang="en-US" sz="2400" dirty="0"/>
              <a:t>Two matrices </a:t>
            </a:r>
          </a:p>
          <a:p>
            <a:pPr marL="990575" lvl="1" indent="-533387"/>
            <a:r>
              <a:rPr lang="en-US" altLang="en-US" sz="1800" dirty="0"/>
              <a:t>Proximity Matrix</a:t>
            </a:r>
          </a:p>
          <a:p>
            <a:pPr marL="990575" lvl="1" indent="-533387"/>
            <a:r>
              <a:rPr lang="en-US" altLang="en-US" sz="1800" dirty="0"/>
              <a:t>Ideal Similarity Matrix</a:t>
            </a:r>
          </a:p>
          <a:p>
            <a:pPr marL="1371566" lvl="2" indent="-457189"/>
            <a:r>
              <a:rPr lang="en-US" altLang="en-US" sz="1600" dirty="0"/>
              <a:t>One row and one column for each data point</a:t>
            </a:r>
          </a:p>
          <a:p>
            <a:pPr marL="1371566" lvl="2" indent="-457189"/>
            <a:r>
              <a:rPr lang="en-US" altLang="en-US" sz="1600" dirty="0"/>
              <a:t>An entry is 1 if the associated pair of points belong to the same cluster</a:t>
            </a:r>
          </a:p>
          <a:p>
            <a:pPr marL="1371566" lvl="2" indent="-457189"/>
            <a:r>
              <a:rPr lang="en-US" altLang="en-US" sz="1600" dirty="0"/>
              <a:t>An entry is 0 if the associated pair of points belongs to different clusters</a:t>
            </a:r>
          </a:p>
          <a:p>
            <a:pPr marL="533387" indent="-533387"/>
            <a:r>
              <a:rPr lang="en-US" altLang="en-US" sz="2400" dirty="0"/>
              <a:t>Compute the correlation between the two matrices</a:t>
            </a:r>
          </a:p>
          <a:p>
            <a:pPr marL="990575" lvl="1" indent="-533387"/>
            <a:r>
              <a:rPr lang="en-US" altLang="en-US" sz="1800" dirty="0"/>
              <a:t>Since the matrices are symmetric, only the correlation between </a:t>
            </a:r>
            <a:br>
              <a:rPr lang="en-US" altLang="en-US" sz="1800" dirty="0"/>
            </a:br>
            <a:r>
              <a:rPr lang="en-US" altLang="en-US" sz="1800" dirty="0"/>
              <a:t>n(n-1) / 2 entries needs to be calculated.</a:t>
            </a:r>
          </a:p>
          <a:p>
            <a:pPr marL="533387" indent="-533387"/>
            <a:r>
              <a:rPr lang="en-US" altLang="en-US" sz="2400" dirty="0"/>
              <a:t>High correlation indicates that points that belong to the same cluster are close to each other. </a:t>
            </a:r>
          </a:p>
          <a:p>
            <a:pPr marL="533387" indent="-533387"/>
            <a:r>
              <a:rPr lang="en-US" altLang="en-US" sz="2400" dirty="0"/>
              <a:t>Not a good measure for some density or contiguity based clusters.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9408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09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0930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Measuring Cluster Validity Via Correlation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Correlation of ideal proximity (same can be done for similarity) matrices for the K-means </a:t>
            </a:r>
            <a:r>
              <a:rPr lang="en-US" altLang="en-US" dirty="0" err="1"/>
              <a:t>clusterings</a:t>
            </a:r>
            <a:r>
              <a:rPr lang="en-US" altLang="en-US" dirty="0"/>
              <a:t> of the following two data sets. </a:t>
            </a:r>
          </a:p>
          <a:p>
            <a:endParaRPr lang="en-US" altLang="en-US" dirty="0"/>
          </a:p>
        </p:txBody>
      </p:sp>
      <p:pic>
        <p:nvPicPr>
          <p:cNvPr id="942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9" y="2667000"/>
            <a:ext cx="365601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421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789" y="2667000"/>
            <a:ext cx="365601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4" name="Text Box 6"/>
          <p:cNvSpPr txBox="1">
            <a:spLocks noChangeArrowheads="1"/>
          </p:cNvSpPr>
          <p:nvPr/>
        </p:nvSpPr>
        <p:spPr bwMode="auto">
          <a:xfrm>
            <a:off x="2897188" y="5867401"/>
            <a:ext cx="2362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Corr = -0.9235</a:t>
            </a:r>
          </a:p>
        </p:txBody>
      </p:sp>
      <p:sp>
        <p:nvSpPr>
          <p:cNvPr id="94215" name="Text Box 7"/>
          <p:cNvSpPr txBox="1">
            <a:spLocks noChangeArrowheads="1"/>
          </p:cNvSpPr>
          <p:nvPr/>
        </p:nvSpPr>
        <p:spPr bwMode="auto">
          <a:xfrm>
            <a:off x="6554788" y="5867401"/>
            <a:ext cx="2362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Corr = -0.5810</a:t>
            </a:r>
          </a:p>
        </p:txBody>
      </p:sp>
    </p:spTree>
    <p:extLst>
      <p:ext uri="{BB962C8B-B14F-4D97-AF65-F5344CB8AC3E}">
        <p14:creationId xmlns:p14="http://schemas.microsoft.com/office/powerpoint/2010/main" val="26176649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Using Proximity Matrix for Cluster Validation</a:t>
            </a:r>
          </a:p>
        </p:txBody>
      </p:sp>
      <p:sp>
        <p:nvSpPr>
          <p:cNvPr id="9523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/>
            <a:r>
              <a:rPr lang="en-US" altLang="en-US" sz="2600" dirty="0"/>
              <a:t>Order the proximity matrix with respect to cluster labels and inspect visually.  (cohesion and separation)</a:t>
            </a:r>
          </a:p>
        </p:txBody>
      </p:sp>
      <p:pic>
        <p:nvPicPr>
          <p:cNvPr id="9523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1" y="2895600"/>
            <a:ext cx="4268788" cy="320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23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1" y="2819400"/>
            <a:ext cx="4268788" cy="320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90026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Using proximity Matrix for Cluster Validation (cohesion and separation)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Clusters in random data are not so crisp</a:t>
            </a:r>
          </a:p>
          <a:p>
            <a:endParaRPr lang="en-US" altLang="en-US"/>
          </a:p>
        </p:txBody>
      </p:sp>
      <p:pic>
        <p:nvPicPr>
          <p:cNvPr id="962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551203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261" name="Text Box 5"/>
          <p:cNvSpPr txBox="1">
            <a:spLocks noChangeArrowheads="1"/>
          </p:cNvSpPr>
          <p:nvPr/>
        </p:nvSpPr>
        <p:spPr bwMode="auto">
          <a:xfrm>
            <a:off x="4953000" y="5751605"/>
            <a:ext cx="2895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/>
              <a:t>DBSCAN</a:t>
            </a:r>
          </a:p>
        </p:txBody>
      </p:sp>
      <p:pic>
        <p:nvPicPr>
          <p:cNvPr id="962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551203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00640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9" y="2603791"/>
            <a:ext cx="365601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/>
              <a:t>Using Similarity Matrix for Cluster Validation</a:t>
            </a:r>
          </a:p>
        </p:txBody>
      </p:sp>
      <p:sp>
        <p:nvSpPr>
          <p:cNvPr id="97284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Clusters in random data are not so crisp</a:t>
            </a:r>
          </a:p>
          <a:p>
            <a:endParaRPr lang="en-US" altLang="en-US"/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5029200" y="5804193"/>
            <a:ext cx="2895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/>
              <a:t>K-means</a:t>
            </a:r>
          </a:p>
        </p:txBody>
      </p:sp>
      <p:pic>
        <p:nvPicPr>
          <p:cNvPr id="9728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9" y="2599028"/>
            <a:ext cx="365601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5835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Using Proximity Matrix for Cluster Validation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Clusters in random data are not so crisp</a:t>
            </a:r>
          </a:p>
          <a:p>
            <a:endParaRPr lang="en-US" altLang="en-US"/>
          </a:p>
        </p:txBody>
      </p:sp>
      <p:pic>
        <p:nvPicPr>
          <p:cNvPr id="983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589" y="2482046"/>
            <a:ext cx="365601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2789" y="2482046"/>
            <a:ext cx="3656012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10" name="Text Box 6"/>
          <p:cNvSpPr txBox="1">
            <a:spLocks noChangeArrowheads="1"/>
          </p:cNvSpPr>
          <p:nvPr/>
        </p:nvSpPr>
        <p:spPr bwMode="auto">
          <a:xfrm>
            <a:off x="5029200" y="5687211"/>
            <a:ext cx="2895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/>
              <a:t>Complete Link</a:t>
            </a:r>
          </a:p>
        </p:txBody>
      </p:sp>
    </p:spTree>
    <p:extLst>
      <p:ext uri="{BB962C8B-B14F-4D97-AF65-F5344CB8AC3E}">
        <p14:creationId xmlns:p14="http://schemas.microsoft.com/office/powerpoint/2010/main" val="35649937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Using Proximity Matrix for Cluster Validation</a:t>
            </a:r>
            <a:endParaRPr lang="en-US" altLang="en-US" sz="5867" dirty="0"/>
          </a:p>
        </p:txBody>
      </p:sp>
      <p:pic>
        <p:nvPicPr>
          <p:cNvPr id="9933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1752600" y="1905001"/>
            <a:ext cx="4800600" cy="277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2" name="Text Box 4"/>
          <p:cNvSpPr txBox="1">
            <a:spLocks noChangeArrowheads="1"/>
          </p:cNvSpPr>
          <p:nvPr/>
        </p:nvSpPr>
        <p:spPr bwMode="auto">
          <a:xfrm>
            <a:off x="4953000" y="4876801"/>
            <a:ext cx="2895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200" dirty="0"/>
              <a:t>DBSCAN</a:t>
            </a:r>
          </a:p>
        </p:txBody>
      </p:sp>
      <p:pic>
        <p:nvPicPr>
          <p:cNvPr id="9933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2" y="1600201"/>
            <a:ext cx="4259263" cy="3195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107C258C-3778-0642-A98B-0CFBB89BCD43}"/>
              </a:ext>
            </a:extLst>
          </p:cNvPr>
          <p:cNvSpPr txBox="1"/>
          <p:nvPr/>
        </p:nvSpPr>
        <p:spPr>
          <a:xfrm>
            <a:off x="3503270" y="5765263"/>
            <a:ext cx="6717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</a:t>
            </a:r>
            <a:r>
              <a:rPr lang="it-IT" dirty="0" err="1"/>
              <a:t>cohesion</a:t>
            </a:r>
            <a:r>
              <a:rPr lang="it-IT" dirty="0"/>
              <a:t> and </a:t>
            </a:r>
            <a:r>
              <a:rPr lang="it-IT" dirty="0" err="1"/>
              <a:t>separation</a:t>
            </a:r>
            <a:r>
              <a:rPr lang="it-IT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6217672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Internal Measures: SSE (cohesion)</a:t>
            </a:r>
          </a:p>
        </p:txBody>
      </p:sp>
      <p:sp>
        <p:nvSpPr>
          <p:cNvPr id="100354" name="Rectangle 2"/>
          <p:cNvSpPr>
            <a:spLocks noGrp="1" noChangeArrowheads="1"/>
          </p:cNvSpPr>
          <p:nvPr>
            <p:ph idx="1"/>
          </p:nvPr>
        </p:nvSpPr>
        <p:spPr>
          <a:xfrm>
            <a:off x="325549" y="1573883"/>
            <a:ext cx="8004858" cy="4351338"/>
          </a:xfrm>
        </p:spPr>
        <p:txBody>
          <a:bodyPr/>
          <a:lstStyle/>
          <a:p>
            <a:pPr marL="342891" indent="-342891"/>
            <a:r>
              <a:rPr lang="en-US" altLang="en-US" sz="2000" dirty="0"/>
              <a:t>Clusters in more complicated figures aren’t well separated</a:t>
            </a:r>
          </a:p>
          <a:p>
            <a:pPr marL="342891" indent="-342891"/>
            <a:r>
              <a:rPr lang="en-US" altLang="en-US" sz="2000" dirty="0"/>
              <a:t>Internal Index:  Used to measure the goodness of a clustering structure without respect to external information</a:t>
            </a:r>
            <a:endParaRPr lang="en-US" altLang="en-US" sz="1800" dirty="0"/>
          </a:p>
          <a:p>
            <a:pPr marL="342891" indent="-342891"/>
            <a:r>
              <a:rPr lang="en-US" altLang="en-US" sz="2000" dirty="0"/>
              <a:t>SSE is good for comparing two </a:t>
            </a:r>
            <a:r>
              <a:rPr lang="en-US" altLang="en-US" sz="2000" dirty="0" err="1"/>
              <a:t>clusterings</a:t>
            </a:r>
            <a:r>
              <a:rPr lang="en-US" altLang="en-US" sz="2000" dirty="0"/>
              <a:t> or two clusters (average SSE).</a:t>
            </a:r>
          </a:p>
          <a:p>
            <a:pPr marL="342891" indent="-342891"/>
            <a:r>
              <a:rPr lang="en-US" altLang="en-US" sz="2000" dirty="0"/>
              <a:t>Can also be used to estimate the number of clusters</a:t>
            </a:r>
          </a:p>
          <a:p>
            <a:pPr marL="342891" indent="-342891">
              <a:buNone/>
            </a:pPr>
            <a:endParaRPr lang="en-US" altLang="en-US" sz="2000" dirty="0"/>
          </a:p>
          <a:p>
            <a:pPr marL="342891" indent="-342891"/>
            <a:endParaRPr lang="en-US" altLang="en-US" sz="2400" dirty="0"/>
          </a:p>
        </p:txBody>
      </p:sp>
      <p:pic>
        <p:nvPicPr>
          <p:cNvPr id="1003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/>
          <a:stretch>
            <a:fillRect/>
          </a:stretch>
        </p:blipFill>
        <p:spPr bwMode="auto">
          <a:xfrm>
            <a:off x="4327978" y="3988717"/>
            <a:ext cx="365601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>
            <a:fillRect/>
          </a:stretch>
        </p:blipFill>
        <p:spPr bwMode="auto">
          <a:xfrm>
            <a:off x="451650" y="3902075"/>
            <a:ext cx="3656013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E030ADEA-0FCB-3547-9196-9BD82BDB45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91451" y="2970883"/>
          <a:ext cx="3175000" cy="9609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300" imgH="457200" progId="Equation.3">
                  <p:embed/>
                </p:oleObj>
              </mc:Choice>
              <mc:Fallback>
                <p:oleObj name="Equation" r:id="rId5" imgW="1511300" imgH="457200" progId="Equation.3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E030ADEA-0FCB-3547-9196-9BD82BDB45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1451" y="2970883"/>
                        <a:ext cx="3175000" cy="9609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magine 6" descr="Screenshot 2018-10-02 23.20.22.png">
            <a:extLst>
              <a:ext uri="{FF2B5EF4-FFF2-40B4-BE49-F238E27FC236}">
                <a16:creationId xmlns:a16="http://schemas.microsoft.com/office/drawing/2014/main" id="{7D1B3C4D-B9B8-E444-B1B3-55526225A7D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5860" y="467566"/>
            <a:ext cx="2946435" cy="244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107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Internal Measures: SSE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SSE curve for a more complicated data set</a:t>
            </a:r>
          </a:p>
          <a:p>
            <a:endParaRPr lang="en-US" altLang="en-US"/>
          </a:p>
        </p:txBody>
      </p:sp>
      <p:pic>
        <p:nvPicPr>
          <p:cNvPr id="1013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05" t="18518" r="12798" b="20370"/>
          <a:stretch>
            <a:fillRect/>
          </a:stretch>
        </p:blipFill>
        <p:spPr bwMode="auto">
          <a:xfrm>
            <a:off x="2057400" y="2928134"/>
            <a:ext cx="4343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1381" name="Text Box 5"/>
          <p:cNvSpPr txBox="1">
            <a:spLocks noChangeArrowheads="1"/>
          </p:cNvSpPr>
          <p:nvPr/>
        </p:nvSpPr>
        <p:spPr bwMode="auto">
          <a:xfrm>
            <a:off x="6019800" y="5823735"/>
            <a:ext cx="4267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800"/>
              <a:t>SSE of clusters found using K-means</a:t>
            </a:r>
          </a:p>
        </p:txBody>
      </p:sp>
      <p:pic>
        <p:nvPicPr>
          <p:cNvPr id="10138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2" y="2547134"/>
            <a:ext cx="4259263" cy="319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95386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1C1A84-F985-6C40-994D-741CAF39C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Framework for Cluster </a:t>
            </a:r>
            <a:r>
              <a:rPr lang="it-IT" dirty="0" err="1"/>
              <a:t>Validity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9FEB84-C0EB-1141-B687-9B0E83C63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Bef>
                <a:spcPts val="500"/>
              </a:spcBef>
              <a:buChar char=""/>
              <a:defRPr sz="1800" b="0"/>
            </a:pPr>
            <a:r>
              <a:rPr lang="it-IT" sz="2400" b="1" dirty="0" err="1"/>
              <a:t>Need</a:t>
            </a:r>
            <a:r>
              <a:rPr lang="it-IT" sz="2400" b="1" dirty="0"/>
              <a:t> a </a:t>
            </a:r>
            <a:r>
              <a:rPr lang="it-IT" sz="2400" b="1" dirty="0" err="1"/>
              <a:t>framework</a:t>
            </a:r>
            <a:r>
              <a:rPr lang="it-IT" sz="2400" b="1" dirty="0"/>
              <a:t> to </a:t>
            </a:r>
            <a:r>
              <a:rPr lang="it-IT" sz="2400" b="1" dirty="0" err="1"/>
              <a:t>interpret</a:t>
            </a:r>
            <a:r>
              <a:rPr lang="it-IT" sz="2400" b="1" dirty="0"/>
              <a:t> </a:t>
            </a:r>
            <a:r>
              <a:rPr lang="it-IT" sz="2400" b="1" dirty="0" err="1"/>
              <a:t>any</a:t>
            </a:r>
            <a:r>
              <a:rPr lang="it-IT" sz="2400" b="1" dirty="0"/>
              <a:t> </a:t>
            </a:r>
            <a:r>
              <a:rPr lang="it-IT" sz="2400" b="1" dirty="0" err="1"/>
              <a:t>measure</a:t>
            </a:r>
            <a:r>
              <a:rPr lang="it-IT" sz="2400" b="1" dirty="0"/>
              <a:t>. </a:t>
            </a:r>
          </a:p>
          <a:p>
            <a:pPr marL="857250" lvl="1" indent="-400050">
              <a:spcBef>
                <a:spcPts val="400"/>
              </a:spcBef>
              <a:defRPr sz="1800" b="0"/>
            </a:pPr>
            <a:r>
              <a:rPr lang="it-IT" b="1" dirty="0"/>
              <a:t>For </a:t>
            </a:r>
            <a:r>
              <a:rPr lang="it-IT" b="1" dirty="0" err="1"/>
              <a:t>example</a:t>
            </a:r>
            <a:r>
              <a:rPr lang="it-IT" b="1" dirty="0"/>
              <a:t>, </a:t>
            </a:r>
            <a:r>
              <a:rPr lang="it-IT" b="1" dirty="0" err="1"/>
              <a:t>if</a:t>
            </a:r>
            <a:r>
              <a:rPr lang="it-IT" b="1" dirty="0"/>
              <a:t> </a:t>
            </a:r>
            <a:r>
              <a:rPr lang="it-IT" b="1" dirty="0" err="1"/>
              <a:t>our</a:t>
            </a:r>
            <a:r>
              <a:rPr lang="it-IT" b="1" dirty="0"/>
              <a:t> </a:t>
            </a:r>
            <a:r>
              <a:rPr lang="it-IT" b="1" dirty="0" err="1"/>
              <a:t>measure</a:t>
            </a:r>
            <a:r>
              <a:rPr lang="it-IT" b="1" dirty="0"/>
              <a:t> of </a:t>
            </a:r>
            <a:r>
              <a:rPr lang="it-IT" b="1" dirty="0" err="1"/>
              <a:t>evaluation</a:t>
            </a:r>
            <a:r>
              <a:rPr lang="it-IT" b="1" dirty="0"/>
              <a:t> </a:t>
            </a:r>
            <a:r>
              <a:rPr lang="it-IT" b="1" dirty="0" err="1"/>
              <a:t>has</a:t>
            </a:r>
            <a:r>
              <a:rPr lang="it-IT" b="1" dirty="0"/>
              <a:t> the </a:t>
            </a:r>
            <a:r>
              <a:rPr lang="it-IT" b="1" dirty="0" err="1"/>
              <a:t>value</a:t>
            </a:r>
            <a:r>
              <a:rPr lang="it-IT" b="1" dirty="0"/>
              <a:t>, 10,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that</a:t>
            </a:r>
            <a:r>
              <a:rPr lang="it-IT" b="1" dirty="0"/>
              <a:t> </a:t>
            </a:r>
            <a:r>
              <a:rPr lang="it-IT" b="1" dirty="0" err="1"/>
              <a:t>good</a:t>
            </a:r>
            <a:r>
              <a:rPr lang="it-IT" b="1" dirty="0"/>
              <a:t>, fair, or </a:t>
            </a:r>
            <a:r>
              <a:rPr lang="it-IT" b="1" dirty="0" err="1"/>
              <a:t>poor</a:t>
            </a:r>
            <a:r>
              <a:rPr lang="it-IT" b="1" dirty="0"/>
              <a:t>?</a:t>
            </a:r>
          </a:p>
          <a:p>
            <a:pPr marL="457200" indent="-457200">
              <a:spcBef>
                <a:spcPts val="500"/>
              </a:spcBef>
              <a:buChar char=""/>
              <a:defRPr sz="1800" b="0"/>
            </a:pPr>
            <a:r>
              <a:rPr lang="it-IT" sz="2400" b="1" dirty="0" err="1"/>
              <a:t>Statistics</a:t>
            </a:r>
            <a:r>
              <a:rPr lang="it-IT" sz="2400" b="1" dirty="0"/>
              <a:t> </a:t>
            </a:r>
            <a:r>
              <a:rPr lang="it-IT" sz="2400" b="1" dirty="0" err="1"/>
              <a:t>provide</a:t>
            </a:r>
            <a:r>
              <a:rPr lang="it-IT" sz="2400" b="1" dirty="0"/>
              <a:t> a </a:t>
            </a:r>
            <a:r>
              <a:rPr lang="it-IT" sz="2400" b="1" dirty="0" err="1"/>
              <a:t>framework</a:t>
            </a:r>
            <a:r>
              <a:rPr lang="it-IT" sz="2400" b="1" dirty="0"/>
              <a:t> for cluster </a:t>
            </a:r>
            <a:r>
              <a:rPr lang="it-IT" sz="2400" b="1" dirty="0" err="1"/>
              <a:t>validity</a:t>
            </a:r>
            <a:endParaRPr lang="it-IT" sz="2400" b="1" dirty="0"/>
          </a:p>
          <a:p>
            <a:pPr marL="857250" lvl="1" indent="-400050">
              <a:spcBef>
                <a:spcPts val="400"/>
              </a:spcBef>
              <a:defRPr sz="1800" b="0"/>
            </a:pPr>
            <a:r>
              <a:rPr lang="it-IT" b="1" dirty="0"/>
              <a:t>The more “</a:t>
            </a:r>
            <a:r>
              <a:rPr lang="it-IT" b="1" dirty="0" err="1"/>
              <a:t>atypical</a:t>
            </a:r>
            <a:r>
              <a:rPr lang="it-IT" b="1" dirty="0"/>
              <a:t>” a </a:t>
            </a:r>
            <a:r>
              <a:rPr lang="it-IT" b="1" dirty="0" err="1"/>
              <a:t>clustering</a:t>
            </a:r>
            <a:r>
              <a:rPr lang="it-IT" b="1" dirty="0"/>
              <a:t> </a:t>
            </a:r>
            <a:r>
              <a:rPr lang="it-IT" b="1" dirty="0" err="1"/>
              <a:t>result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, the more </a:t>
            </a:r>
            <a:r>
              <a:rPr lang="it-IT" b="1" dirty="0" err="1"/>
              <a:t>likely</a:t>
            </a:r>
            <a:r>
              <a:rPr lang="it-IT" b="1" dirty="0"/>
              <a:t> </a:t>
            </a:r>
            <a:r>
              <a:rPr lang="it-IT" b="1" dirty="0" err="1"/>
              <a:t>it</a:t>
            </a:r>
            <a:r>
              <a:rPr lang="it-IT" b="1" dirty="0"/>
              <a:t> </a:t>
            </a:r>
            <a:r>
              <a:rPr lang="it-IT" b="1" dirty="0" err="1"/>
              <a:t>represents</a:t>
            </a:r>
            <a:r>
              <a:rPr lang="it-IT" b="1" dirty="0"/>
              <a:t> </a:t>
            </a:r>
            <a:r>
              <a:rPr lang="it-IT" b="1" dirty="0" err="1"/>
              <a:t>valid</a:t>
            </a:r>
            <a:r>
              <a:rPr lang="it-IT" b="1" dirty="0"/>
              <a:t> </a:t>
            </a:r>
            <a:r>
              <a:rPr lang="it-IT" b="1" dirty="0" err="1"/>
              <a:t>structure</a:t>
            </a:r>
            <a:r>
              <a:rPr lang="it-IT" b="1" dirty="0"/>
              <a:t> in the data</a:t>
            </a:r>
          </a:p>
          <a:p>
            <a:pPr marL="857250" lvl="1" indent="-400050">
              <a:spcBef>
                <a:spcPts val="400"/>
              </a:spcBef>
              <a:defRPr sz="1800" b="0"/>
            </a:pPr>
            <a:r>
              <a:rPr lang="it-IT" b="1" dirty="0"/>
              <a:t>Can compare the </a:t>
            </a:r>
            <a:r>
              <a:rPr lang="it-IT" b="1" dirty="0" err="1"/>
              <a:t>values</a:t>
            </a:r>
            <a:r>
              <a:rPr lang="it-IT" b="1" dirty="0"/>
              <a:t> of an </a:t>
            </a:r>
            <a:r>
              <a:rPr lang="it-IT" b="1" dirty="0" err="1"/>
              <a:t>index</a:t>
            </a:r>
            <a:r>
              <a:rPr lang="it-IT" b="1" dirty="0"/>
              <a:t> </a:t>
            </a:r>
            <a:r>
              <a:rPr lang="it-IT" b="1" dirty="0" err="1"/>
              <a:t>that</a:t>
            </a:r>
            <a:r>
              <a:rPr lang="it-IT" b="1" dirty="0"/>
              <a:t> </a:t>
            </a:r>
            <a:r>
              <a:rPr lang="it-IT" b="1" dirty="0" err="1"/>
              <a:t>result</a:t>
            </a:r>
            <a:r>
              <a:rPr lang="it-IT" b="1" dirty="0"/>
              <a:t> from random data or </a:t>
            </a:r>
            <a:r>
              <a:rPr lang="it-IT" b="1" dirty="0" err="1"/>
              <a:t>clusterings</a:t>
            </a:r>
            <a:r>
              <a:rPr lang="it-IT" b="1" dirty="0"/>
              <a:t> to </a:t>
            </a:r>
            <a:r>
              <a:rPr lang="it-IT" b="1" dirty="0" err="1"/>
              <a:t>those</a:t>
            </a:r>
            <a:r>
              <a:rPr lang="it-IT" b="1" dirty="0"/>
              <a:t> of a </a:t>
            </a:r>
            <a:r>
              <a:rPr lang="it-IT" b="1" dirty="0" err="1"/>
              <a:t>clustering</a:t>
            </a:r>
            <a:r>
              <a:rPr lang="it-IT" b="1" dirty="0"/>
              <a:t> </a:t>
            </a:r>
            <a:r>
              <a:rPr lang="it-IT" b="1" dirty="0" err="1"/>
              <a:t>result</a:t>
            </a:r>
            <a:r>
              <a:rPr lang="it-IT" b="1" dirty="0"/>
              <a:t>.</a:t>
            </a:r>
          </a:p>
          <a:p>
            <a:pPr marL="1280160" lvl="2" indent="-365760">
              <a:spcBef>
                <a:spcPts val="300"/>
              </a:spcBef>
              <a:defRPr sz="1800" b="0"/>
            </a:pPr>
            <a:r>
              <a:rPr lang="it-IT" sz="1600" dirty="0" err="1"/>
              <a:t>If</a:t>
            </a:r>
            <a:r>
              <a:rPr lang="it-IT" sz="1600" dirty="0"/>
              <a:t> the </a:t>
            </a:r>
            <a:r>
              <a:rPr lang="it-IT" sz="1600" dirty="0" err="1"/>
              <a:t>value</a:t>
            </a:r>
            <a:r>
              <a:rPr lang="it-IT" sz="1600" dirty="0"/>
              <a:t> of the </a:t>
            </a:r>
            <a:r>
              <a:rPr lang="it-IT" sz="1600" dirty="0" err="1"/>
              <a:t>index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unlikely</a:t>
            </a:r>
            <a:r>
              <a:rPr lang="it-IT" sz="1600" dirty="0"/>
              <a:t>, </a:t>
            </a:r>
            <a:r>
              <a:rPr lang="it-IT" sz="1600" dirty="0" err="1"/>
              <a:t>then</a:t>
            </a:r>
            <a:r>
              <a:rPr lang="it-IT" sz="1600" dirty="0"/>
              <a:t> the cluster </a:t>
            </a:r>
            <a:r>
              <a:rPr lang="it-IT" sz="1600" dirty="0" err="1"/>
              <a:t>results</a:t>
            </a:r>
            <a:r>
              <a:rPr lang="it-IT" sz="1600" dirty="0"/>
              <a:t> are </a:t>
            </a:r>
            <a:r>
              <a:rPr lang="it-IT" sz="1600" dirty="0" err="1"/>
              <a:t>valid</a:t>
            </a:r>
            <a:endParaRPr lang="it-IT" sz="1600" dirty="0"/>
          </a:p>
          <a:p>
            <a:pPr marL="857250" lvl="1" indent="-400050">
              <a:spcBef>
                <a:spcPts val="400"/>
              </a:spcBef>
              <a:defRPr sz="1800" b="0"/>
            </a:pPr>
            <a:r>
              <a:rPr lang="it-IT" b="1" dirty="0" err="1"/>
              <a:t>These</a:t>
            </a:r>
            <a:r>
              <a:rPr lang="it-IT" b="1" dirty="0"/>
              <a:t> </a:t>
            </a:r>
            <a:r>
              <a:rPr lang="it-IT" b="1" dirty="0" err="1"/>
              <a:t>approaches</a:t>
            </a:r>
            <a:r>
              <a:rPr lang="it-IT" b="1" dirty="0"/>
              <a:t> are more </a:t>
            </a:r>
            <a:r>
              <a:rPr lang="it-IT" b="1" dirty="0" err="1"/>
              <a:t>complicated</a:t>
            </a:r>
            <a:r>
              <a:rPr lang="it-IT" b="1" dirty="0"/>
              <a:t> and </a:t>
            </a:r>
            <a:r>
              <a:rPr lang="it-IT" b="1" dirty="0" err="1"/>
              <a:t>harder</a:t>
            </a:r>
            <a:r>
              <a:rPr lang="it-IT" b="1" dirty="0"/>
              <a:t> to </a:t>
            </a:r>
            <a:r>
              <a:rPr lang="it-IT" b="1" dirty="0" err="1"/>
              <a:t>understand</a:t>
            </a:r>
            <a:r>
              <a:rPr lang="it-IT" b="1" dirty="0"/>
              <a:t>.</a:t>
            </a:r>
          </a:p>
          <a:p>
            <a:pPr marL="457200" indent="-457200">
              <a:spcBef>
                <a:spcPts val="500"/>
              </a:spcBef>
              <a:buChar char=""/>
              <a:defRPr sz="1800" b="0"/>
            </a:pPr>
            <a:r>
              <a:rPr lang="it-IT" sz="2400" b="1" dirty="0"/>
              <a:t>For </a:t>
            </a:r>
            <a:r>
              <a:rPr lang="it-IT" sz="2400" b="1" dirty="0" err="1"/>
              <a:t>comparing</a:t>
            </a:r>
            <a:r>
              <a:rPr lang="it-IT" sz="2400" b="1" dirty="0"/>
              <a:t> the </a:t>
            </a:r>
            <a:r>
              <a:rPr lang="it-IT" sz="2400" b="1" dirty="0" err="1"/>
              <a:t>results</a:t>
            </a:r>
            <a:r>
              <a:rPr lang="it-IT" sz="2400" b="1" dirty="0"/>
              <a:t> of </a:t>
            </a:r>
            <a:r>
              <a:rPr lang="it-IT" sz="2400" b="1" dirty="0" err="1"/>
              <a:t>two</a:t>
            </a:r>
            <a:r>
              <a:rPr lang="it-IT" sz="2400" b="1" dirty="0"/>
              <a:t> </a:t>
            </a:r>
            <a:r>
              <a:rPr lang="it-IT" sz="2400" b="1" dirty="0" err="1"/>
              <a:t>different</a:t>
            </a:r>
            <a:r>
              <a:rPr lang="it-IT" sz="2400" b="1" dirty="0"/>
              <a:t> sets of cluster </a:t>
            </a:r>
            <a:r>
              <a:rPr lang="it-IT" sz="2400" b="1" dirty="0" err="1"/>
              <a:t>analyses</a:t>
            </a:r>
            <a:r>
              <a:rPr lang="it-IT" sz="2400" b="1" dirty="0"/>
              <a:t>, a </a:t>
            </a:r>
            <a:r>
              <a:rPr lang="it-IT" sz="2400" b="1" dirty="0" err="1"/>
              <a:t>framework</a:t>
            </a:r>
            <a:r>
              <a:rPr lang="it-IT" sz="2400" b="1" dirty="0"/>
              <a:t> </a:t>
            </a:r>
            <a:r>
              <a:rPr lang="it-IT" sz="2400" b="1" dirty="0" err="1"/>
              <a:t>is</a:t>
            </a:r>
            <a:r>
              <a:rPr lang="it-IT" sz="2400" b="1" dirty="0"/>
              <a:t> </a:t>
            </a:r>
            <a:r>
              <a:rPr lang="it-IT" sz="2400" b="1" dirty="0" err="1"/>
              <a:t>less</a:t>
            </a:r>
            <a:r>
              <a:rPr lang="it-IT" sz="2400" b="1" dirty="0"/>
              <a:t> </a:t>
            </a:r>
            <a:r>
              <a:rPr lang="it-IT" sz="2400" b="1" dirty="0" err="1"/>
              <a:t>necessary</a:t>
            </a:r>
            <a:r>
              <a:rPr lang="it-IT" sz="2400" b="1" dirty="0"/>
              <a:t>.</a:t>
            </a:r>
          </a:p>
          <a:p>
            <a:pPr marL="857250" lvl="1" indent="-400050">
              <a:spcBef>
                <a:spcPts val="400"/>
              </a:spcBef>
              <a:defRPr sz="1800" b="0"/>
            </a:pPr>
            <a:r>
              <a:rPr lang="it-IT" b="1" dirty="0" err="1"/>
              <a:t>However</a:t>
            </a:r>
            <a:r>
              <a:rPr lang="it-IT" b="1" dirty="0"/>
              <a:t>, </a:t>
            </a:r>
            <a:r>
              <a:rPr lang="it-IT" b="1" dirty="0" err="1"/>
              <a:t>there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the </a:t>
            </a:r>
            <a:r>
              <a:rPr lang="it-IT" b="1" dirty="0" err="1"/>
              <a:t>question</a:t>
            </a:r>
            <a:r>
              <a:rPr lang="it-IT" b="1" dirty="0"/>
              <a:t> of </a:t>
            </a:r>
            <a:r>
              <a:rPr lang="it-IT" b="1" dirty="0" err="1"/>
              <a:t>whether</a:t>
            </a:r>
            <a:r>
              <a:rPr lang="it-IT" b="1" dirty="0"/>
              <a:t> the </a:t>
            </a:r>
            <a:r>
              <a:rPr lang="it-IT" b="1" dirty="0" err="1"/>
              <a:t>difference</a:t>
            </a:r>
            <a:r>
              <a:rPr lang="it-IT" b="1" dirty="0"/>
              <a:t> </a:t>
            </a:r>
            <a:r>
              <a:rPr lang="it-IT" b="1" dirty="0" err="1"/>
              <a:t>between</a:t>
            </a:r>
            <a:r>
              <a:rPr lang="it-IT" b="1" dirty="0"/>
              <a:t> </a:t>
            </a:r>
            <a:r>
              <a:rPr lang="it-IT" b="1" dirty="0" err="1"/>
              <a:t>two</a:t>
            </a:r>
            <a:r>
              <a:rPr lang="it-IT" b="1" dirty="0"/>
              <a:t> </a:t>
            </a:r>
            <a:r>
              <a:rPr lang="it-IT" b="1" dirty="0" err="1"/>
              <a:t>index</a:t>
            </a:r>
            <a:r>
              <a:rPr lang="it-IT" b="1" dirty="0"/>
              <a:t> </a:t>
            </a:r>
            <a:r>
              <a:rPr lang="it-IT" b="1" dirty="0" err="1"/>
              <a:t>values</a:t>
            </a:r>
            <a:r>
              <a:rPr lang="it-IT" b="1" dirty="0"/>
              <a:t> </a:t>
            </a:r>
            <a:r>
              <a:rPr lang="it-IT" b="1" dirty="0" err="1"/>
              <a:t>is</a:t>
            </a:r>
            <a:r>
              <a:rPr lang="it-IT" b="1" dirty="0"/>
              <a:t> </a:t>
            </a:r>
            <a:r>
              <a:rPr lang="it-IT" b="1" dirty="0" err="1"/>
              <a:t>significant</a:t>
            </a:r>
            <a:endParaRPr lang="it-IT" b="1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602988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Shape 549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marL="391885" indent="-391885">
              <a:spcBef>
                <a:spcPts val="700"/>
              </a:spcBef>
              <a:buChar char=""/>
              <a:defRPr sz="1800" b="0"/>
            </a:pPr>
            <a:r>
              <a:rPr sz="3200" b="1" dirty="0"/>
              <a:t>Example</a:t>
            </a:r>
          </a:p>
          <a:p>
            <a:pPr marL="695325" lvl="1" indent="-238125">
              <a:spcBef>
                <a:spcPts val="400"/>
              </a:spcBef>
              <a:defRPr sz="1800" b="0"/>
            </a:pPr>
            <a:r>
              <a:rPr sz="2000" b="1" dirty="0"/>
              <a:t>Compare SSE of 0.005 against three clusters in random data</a:t>
            </a:r>
          </a:p>
          <a:p>
            <a:pPr marL="695325" lvl="1" indent="-238125">
              <a:spcBef>
                <a:spcPts val="400"/>
              </a:spcBef>
              <a:defRPr sz="1800" b="0"/>
            </a:pPr>
            <a:r>
              <a:rPr sz="2000" b="1" dirty="0"/>
              <a:t>Histogram shows SSE of three clusters in 500 sets of random data points of size 100 distributed over the range 0.2 – 0.8 for x and y values</a:t>
            </a:r>
          </a:p>
        </p:txBody>
      </p:sp>
      <p:grpSp>
        <p:nvGrpSpPr>
          <p:cNvPr id="554" name="Group 554"/>
          <p:cNvGrpSpPr/>
          <p:nvPr/>
        </p:nvGrpSpPr>
        <p:grpSpPr>
          <a:xfrm>
            <a:off x="1981200" y="3200400"/>
            <a:ext cx="7848600" cy="3124200"/>
            <a:chOff x="0" y="0"/>
            <a:chExt cx="7848600" cy="3124200"/>
          </a:xfrm>
        </p:grpSpPr>
        <p:pic>
          <p:nvPicPr>
            <p:cNvPr id="551" name="image.pdf"/>
            <p:cNvPicPr/>
            <p:nvPr/>
          </p:nvPicPr>
          <p:blipFill>
            <a:blip r:embed="rId2"/>
            <a:srcRect t="4809"/>
            <a:stretch>
              <a:fillRect/>
            </a:stretch>
          </p:blipFill>
          <p:spPr>
            <a:xfrm>
              <a:off x="3579812" y="76199"/>
              <a:ext cx="4268788" cy="304800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2" name="image.pdf"/>
            <p:cNvPicPr/>
            <p:nvPr/>
          </p:nvPicPr>
          <p:blipFill>
            <a:blip r:embed="rId3"/>
            <a:srcRect l="10710" t="4759"/>
            <a:stretch>
              <a:fillRect/>
            </a:stretch>
          </p:blipFill>
          <p:spPr>
            <a:xfrm>
              <a:off x="-1" y="0"/>
              <a:ext cx="3811589" cy="30495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3" name="Shape 553"/>
            <p:cNvSpPr/>
            <p:nvPr/>
          </p:nvSpPr>
          <p:spPr>
            <a:xfrm>
              <a:off x="990600" y="609600"/>
              <a:ext cx="1524000" cy="1524000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 b="0"/>
              </a:pPr>
              <a:endParaRPr/>
            </a:p>
          </p:txBody>
        </p:sp>
      </p:grpSp>
      <p:sp>
        <p:nvSpPr>
          <p:cNvPr id="3" name="Titolo 2">
            <a:extLst>
              <a:ext uri="{FF2B5EF4-FFF2-40B4-BE49-F238E27FC236}">
                <a16:creationId xmlns:a16="http://schemas.microsoft.com/office/drawing/2014/main" id="{3D2B36BB-726E-4949-A345-0950A4FD0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Statistical Framework for SSE</a:t>
            </a:r>
          </a:p>
        </p:txBody>
      </p:sp>
    </p:spTree>
    <p:extLst>
      <p:ext uri="{BB962C8B-B14F-4D97-AF65-F5344CB8AC3E}">
        <p14:creationId xmlns:p14="http://schemas.microsoft.com/office/powerpoint/2010/main" val="12525231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556"/>
          <p:cNvSpPr>
            <a:spLocks noGrp="1"/>
          </p:cNvSpPr>
          <p:nvPr>
            <p:ph type="body" idx="4294967295"/>
          </p:nvPr>
        </p:nvSpPr>
        <p:spPr>
          <a:xfrm>
            <a:off x="1905000" y="1065213"/>
            <a:ext cx="8458200" cy="533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18407" indent="-318407">
              <a:buChar char=""/>
              <a:defRPr sz="2600"/>
            </a:lvl1pPr>
          </a:lstStyle>
          <a:p>
            <a:pPr lvl="0">
              <a:defRPr sz="1800" b="0"/>
            </a:pPr>
            <a:r>
              <a:rPr b="1" dirty="0"/>
              <a:t>Correlation of incidence and proximity matrices for the K-means </a:t>
            </a:r>
            <a:r>
              <a:rPr b="1" dirty="0" err="1"/>
              <a:t>clusterings</a:t>
            </a:r>
            <a:r>
              <a:rPr b="1" dirty="0"/>
              <a:t> of the following two data sets. </a:t>
            </a:r>
          </a:p>
        </p:txBody>
      </p:sp>
      <p:pic>
        <p:nvPicPr>
          <p:cNvPr id="558" name="image.pdf"/>
          <p:cNvPicPr/>
          <p:nvPr/>
        </p:nvPicPr>
        <p:blipFill>
          <a:blip r:embed="rId2"/>
          <a:stretch>
            <a:fillRect/>
          </a:stretch>
        </p:blipFill>
        <p:spPr>
          <a:xfrm>
            <a:off x="1676400" y="2590801"/>
            <a:ext cx="3043238" cy="22828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" name="image.pdf"/>
          <p:cNvPicPr/>
          <p:nvPr/>
        </p:nvPicPr>
        <p:blipFill>
          <a:blip r:embed="rId3"/>
          <a:stretch>
            <a:fillRect/>
          </a:stretch>
        </p:blipFill>
        <p:spPr>
          <a:xfrm>
            <a:off x="4267200" y="2592387"/>
            <a:ext cx="3043238" cy="2282826"/>
          </a:xfrm>
          <a:prstGeom prst="rect">
            <a:avLst/>
          </a:prstGeom>
          <a:ln w="12700">
            <a:miter lim="400000"/>
          </a:ln>
        </p:spPr>
      </p:pic>
      <p:sp>
        <p:nvSpPr>
          <p:cNvPr id="560" name="Shape 560"/>
          <p:cNvSpPr/>
          <p:nvPr/>
        </p:nvSpPr>
        <p:spPr>
          <a:xfrm>
            <a:off x="2209800" y="5257800"/>
            <a:ext cx="2362200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sz="1800" b="0"/>
            </a:lvl1pPr>
          </a:lstStyle>
          <a:p>
            <a:pPr lvl="0"/>
            <a:r>
              <a:t>Corr = -0.9235</a:t>
            </a:r>
          </a:p>
        </p:txBody>
      </p:sp>
      <p:sp>
        <p:nvSpPr>
          <p:cNvPr id="561" name="Shape 561"/>
          <p:cNvSpPr/>
          <p:nvPr/>
        </p:nvSpPr>
        <p:spPr>
          <a:xfrm>
            <a:off x="4953000" y="5257800"/>
            <a:ext cx="2362200" cy="370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000"/>
              </a:spcBef>
              <a:defRPr sz="1800" b="0"/>
            </a:lvl1pPr>
          </a:lstStyle>
          <a:p>
            <a:pPr lvl="0"/>
            <a:r>
              <a:t>Corr = -0.5810</a:t>
            </a:r>
          </a:p>
        </p:txBody>
      </p:sp>
      <p:pic>
        <p:nvPicPr>
          <p:cNvPr id="562" name="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6858001" y="2133601"/>
            <a:ext cx="3656013" cy="2741613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4B3751A-A042-CC4F-82E6-39F73AAE2DB5}"/>
              </a:ext>
            </a:extLst>
          </p:cNvPr>
          <p:cNvSpPr txBox="1"/>
          <p:nvPr/>
        </p:nvSpPr>
        <p:spPr>
          <a:xfrm>
            <a:off x="2077656" y="237094"/>
            <a:ext cx="90571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200" b="1" dirty="0"/>
              <a:t>Statistical Framework for </a:t>
            </a:r>
            <a:r>
              <a:rPr lang="it-IT" sz="3200" b="1" dirty="0" err="1"/>
              <a:t>Correlation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3124234595"/>
      </p:ext>
    </p:extLst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33" dirty="0"/>
              <a:t>Internal Measures: Cohesion and Separation</a:t>
            </a:r>
          </a:p>
        </p:txBody>
      </p:sp>
      <p:sp>
        <p:nvSpPr>
          <p:cNvPr id="105474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891" indent="-342891">
              <a:spcBef>
                <a:spcPct val="0"/>
              </a:spcBef>
            </a:pPr>
            <a:r>
              <a:rPr lang="en-US" altLang="en-US" dirty="0">
                <a:solidFill>
                  <a:srgbClr val="FF0000"/>
                </a:solidFill>
              </a:rPr>
              <a:t>Cluster Cohesion</a:t>
            </a:r>
            <a:r>
              <a:rPr lang="en-US" altLang="en-US" dirty="0">
                <a:solidFill>
                  <a:srgbClr val="FF9900"/>
                </a:solidFill>
              </a:rPr>
              <a:t>:</a:t>
            </a:r>
            <a:r>
              <a:rPr lang="en-US" altLang="en-US" dirty="0"/>
              <a:t> Measures how closely related are objects in a cluster</a:t>
            </a:r>
          </a:p>
          <a:p>
            <a:pPr marL="742932" lvl="1" indent="-285744"/>
            <a:r>
              <a:rPr lang="en-US" altLang="en-US" sz="2000" dirty="0"/>
              <a:t>Example: SSE</a:t>
            </a:r>
          </a:p>
          <a:p>
            <a:pPr marL="342891" indent="-342891">
              <a:spcBef>
                <a:spcPct val="0"/>
              </a:spcBef>
            </a:pPr>
            <a:r>
              <a:rPr lang="en-US" altLang="en-US" dirty="0">
                <a:solidFill>
                  <a:srgbClr val="FF0000"/>
                </a:solidFill>
              </a:rPr>
              <a:t>Cluster Separation</a:t>
            </a:r>
            <a:r>
              <a:rPr lang="en-US" altLang="en-US" dirty="0"/>
              <a:t>: Measure how distinct or well-separated a cluster is from other clusters</a:t>
            </a:r>
          </a:p>
          <a:p>
            <a:pPr marL="342891" indent="-342891"/>
            <a:r>
              <a:rPr lang="en-US" altLang="en-US" sz="2400" dirty="0"/>
              <a:t>Example: Squared Error</a:t>
            </a:r>
          </a:p>
          <a:p>
            <a:pPr marL="742932" lvl="1" indent="-285744"/>
            <a:r>
              <a:rPr lang="en-US" altLang="en-US" sz="2000" dirty="0"/>
              <a:t>Cohesion is measured by the within cluster sum of squares (SSE)</a:t>
            </a:r>
          </a:p>
          <a:p>
            <a:pPr marL="742932" lvl="1" indent="-285744"/>
            <a:endParaRPr lang="en-US" altLang="en-US" sz="2000" dirty="0"/>
          </a:p>
          <a:p>
            <a:pPr marL="742932" lvl="1" indent="-285744"/>
            <a:endParaRPr lang="en-US" altLang="en-US" sz="2000" dirty="0"/>
          </a:p>
          <a:p>
            <a:pPr marL="742932" lvl="1" indent="-285744"/>
            <a:r>
              <a:rPr lang="en-US" altLang="en-US" sz="2000" dirty="0"/>
              <a:t>Separation is measured by the between cluster sum of squares</a:t>
            </a:r>
          </a:p>
          <a:p>
            <a:pPr marL="742932" lvl="1" indent="-285744"/>
            <a:endParaRPr lang="en-US" altLang="en-US" sz="2000" dirty="0"/>
          </a:p>
          <a:p>
            <a:pPr marL="1142971" lvl="2" indent="-228594"/>
            <a:endParaRPr lang="en-US" altLang="en-US" sz="1800" dirty="0"/>
          </a:p>
          <a:p>
            <a:pPr lvl="3"/>
            <a:r>
              <a:rPr lang="en-US" altLang="en-US" dirty="0"/>
              <a:t>Where |</a:t>
            </a:r>
            <a:r>
              <a:rPr lang="en-US" altLang="en-US" i="1" dirty="0" err="1"/>
              <a:t>C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| is the size of cluster </a:t>
            </a:r>
            <a:r>
              <a:rPr lang="en-US" altLang="en-US" i="1" dirty="0" err="1"/>
              <a:t>i</a:t>
            </a:r>
            <a:r>
              <a:rPr lang="en-US" altLang="en-US" dirty="0"/>
              <a:t> </a:t>
            </a:r>
          </a:p>
          <a:p>
            <a:pPr marL="742932" lvl="1" indent="-285744">
              <a:buNone/>
            </a:pPr>
            <a:endParaRPr lang="en-US" altLang="en-US" sz="2000" dirty="0"/>
          </a:p>
        </p:txBody>
      </p:sp>
      <p:graphicFrame>
        <p:nvGraphicFramePr>
          <p:cNvPr id="105476" name="Object 4"/>
          <p:cNvGraphicFramePr>
            <a:graphicFrameLocks noChangeAspect="1"/>
          </p:cNvGraphicFramePr>
          <p:nvPr/>
        </p:nvGraphicFramePr>
        <p:xfrm>
          <a:off x="7171386" y="4272746"/>
          <a:ext cx="429101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03240" imgH="368280" progId="Equation.3">
                  <p:embed/>
                </p:oleObj>
              </mc:Choice>
              <mc:Fallback>
                <p:oleObj name="Equation" r:id="rId2" imgW="1803240" imgH="368280" progId="Equation.3">
                  <p:embed/>
                  <p:pic>
                    <p:nvPicPr>
                      <p:cNvPr id="1054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1386" y="4272746"/>
                        <a:ext cx="429101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7" name="Object 5"/>
          <p:cNvGraphicFramePr>
            <a:graphicFrameLocks noChangeAspect="1"/>
          </p:cNvGraphicFramePr>
          <p:nvPr/>
        </p:nvGraphicFramePr>
        <p:xfrm>
          <a:off x="7171386" y="5255017"/>
          <a:ext cx="33226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96394" imgH="342751" progId="Equation.3">
                  <p:embed/>
                </p:oleObj>
              </mc:Choice>
              <mc:Fallback>
                <p:oleObj name="Equation" r:id="rId4" imgW="1396394" imgH="342751" progId="Equation.3">
                  <p:embed/>
                  <p:pic>
                    <p:nvPicPr>
                      <p:cNvPr id="1054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1386" y="5255017"/>
                        <a:ext cx="33226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51060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733" dirty="0"/>
              <a:t>Internal Measures: Cohesion and Separation</a:t>
            </a:r>
          </a:p>
        </p:txBody>
      </p:sp>
      <p:sp>
        <p:nvSpPr>
          <p:cNvPr id="107522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spcBef>
                <a:spcPct val="0"/>
              </a:spcBef>
            </a:pPr>
            <a:r>
              <a:rPr lang="en-US" altLang="en-US" sz="2200"/>
              <a:t>A proximity graph based approach can also be used for cohesion and separation.</a:t>
            </a:r>
          </a:p>
          <a:p>
            <a:pPr marL="742932" lvl="1" indent="-285744"/>
            <a:r>
              <a:rPr lang="en-US" altLang="en-US" sz="1800"/>
              <a:t>Cluster cohesion is the sum of the weight of all links within a cluster.</a:t>
            </a:r>
          </a:p>
          <a:p>
            <a:pPr marL="742932" lvl="1" indent="-285744"/>
            <a:r>
              <a:rPr lang="en-US" altLang="en-US" sz="1800"/>
              <a:t>Cluster separation is the sum of the weights between nodes in the cluster and nodes outside the cluster.</a:t>
            </a:r>
          </a:p>
        </p:txBody>
      </p:sp>
      <p:sp>
        <p:nvSpPr>
          <p:cNvPr id="107524" name="Freeform 4" descr="5%"/>
          <p:cNvSpPr>
            <a:spLocks/>
          </p:cNvSpPr>
          <p:nvPr/>
        </p:nvSpPr>
        <p:spPr bwMode="auto">
          <a:xfrm rot="-5400000">
            <a:off x="5187157" y="3575845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25" name="Oval 5"/>
          <p:cNvSpPr>
            <a:spLocks noChangeArrowheads="1"/>
          </p:cNvSpPr>
          <p:nvPr/>
        </p:nvSpPr>
        <p:spPr bwMode="auto">
          <a:xfrm rot="-5400000">
            <a:off x="64770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26" name="Oval 6"/>
          <p:cNvSpPr>
            <a:spLocks noChangeArrowheads="1"/>
          </p:cNvSpPr>
          <p:nvPr/>
        </p:nvSpPr>
        <p:spPr bwMode="auto">
          <a:xfrm rot="-5400000">
            <a:off x="6400800" y="3733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27" name="Oval 7"/>
          <p:cNvSpPr>
            <a:spLocks noChangeArrowheads="1"/>
          </p:cNvSpPr>
          <p:nvPr/>
        </p:nvSpPr>
        <p:spPr bwMode="auto">
          <a:xfrm rot="-5400000">
            <a:off x="5562600" y="4191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28" name="Oval 8"/>
          <p:cNvSpPr>
            <a:spLocks noChangeArrowheads="1"/>
          </p:cNvSpPr>
          <p:nvPr/>
        </p:nvSpPr>
        <p:spPr bwMode="auto">
          <a:xfrm rot="-5400000">
            <a:off x="6627813" y="4037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29" name="Freeform 9" descr="5%"/>
          <p:cNvSpPr>
            <a:spLocks/>
          </p:cNvSpPr>
          <p:nvPr/>
        </p:nvSpPr>
        <p:spPr bwMode="auto">
          <a:xfrm rot="5400000" flipV="1">
            <a:off x="8077200" y="3429000"/>
            <a:ext cx="1828800" cy="1676400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30" name="Oval 10"/>
          <p:cNvSpPr>
            <a:spLocks noChangeArrowheads="1"/>
          </p:cNvSpPr>
          <p:nvPr/>
        </p:nvSpPr>
        <p:spPr bwMode="auto">
          <a:xfrm rot="5400000" flipV="1">
            <a:off x="9601200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31" name="Oval 11"/>
          <p:cNvSpPr>
            <a:spLocks noChangeArrowheads="1"/>
          </p:cNvSpPr>
          <p:nvPr/>
        </p:nvSpPr>
        <p:spPr bwMode="auto">
          <a:xfrm rot="5400000" flipV="1">
            <a:off x="8240713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32" name="Oval 12"/>
          <p:cNvSpPr>
            <a:spLocks noChangeArrowheads="1"/>
          </p:cNvSpPr>
          <p:nvPr/>
        </p:nvSpPr>
        <p:spPr bwMode="auto">
          <a:xfrm rot="5400000" flipV="1">
            <a:off x="8763000" y="4495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33" name="Oval 13"/>
          <p:cNvSpPr>
            <a:spLocks noChangeArrowheads="1"/>
          </p:cNvSpPr>
          <p:nvPr/>
        </p:nvSpPr>
        <p:spPr bwMode="auto">
          <a:xfrm rot="5400000" flipV="1">
            <a:off x="8763000" y="3505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34" name="Line 14"/>
          <p:cNvSpPr>
            <a:spLocks noChangeShapeType="1"/>
          </p:cNvSpPr>
          <p:nvPr/>
        </p:nvSpPr>
        <p:spPr bwMode="auto">
          <a:xfrm>
            <a:off x="6553200" y="4495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35" name="Line 15"/>
          <p:cNvSpPr>
            <a:spLocks noChangeShapeType="1"/>
          </p:cNvSpPr>
          <p:nvPr/>
        </p:nvSpPr>
        <p:spPr bwMode="auto">
          <a:xfrm flipV="1">
            <a:off x="6553200" y="3962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36" name="Line 16"/>
          <p:cNvSpPr>
            <a:spLocks noChangeShapeType="1"/>
          </p:cNvSpPr>
          <p:nvPr/>
        </p:nvSpPr>
        <p:spPr bwMode="auto">
          <a:xfrm flipV="1">
            <a:off x="6553200" y="3581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37" name="Line 17"/>
          <p:cNvSpPr>
            <a:spLocks noChangeShapeType="1"/>
          </p:cNvSpPr>
          <p:nvPr/>
        </p:nvSpPr>
        <p:spPr bwMode="auto">
          <a:xfrm flipV="1">
            <a:off x="6553200" y="3962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38" name="Line 18"/>
          <p:cNvSpPr>
            <a:spLocks noChangeShapeType="1"/>
          </p:cNvSpPr>
          <p:nvPr/>
        </p:nvSpPr>
        <p:spPr bwMode="auto">
          <a:xfrm>
            <a:off x="6705600" y="4114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39" name="Line 19"/>
          <p:cNvSpPr>
            <a:spLocks noChangeShapeType="1"/>
          </p:cNvSpPr>
          <p:nvPr/>
        </p:nvSpPr>
        <p:spPr bwMode="auto">
          <a:xfrm flipV="1">
            <a:off x="6705600" y="3962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40" name="Line 20"/>
          <p:cNvSpPr>
            <a:spLocks noChangeShapeType="1"/>
          </p:cNvSpPr>
          <p:nvPr/>
        </p:nvSpPr>
        <p:spPr bwMode="auto">
          <a:xfrm flipV="1">
            <a:off x="6705600" y="3581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41" name="Line 21"/>
          <p:cNvSpPr>
            <a:spLocks noChangeShapeType="1"/>
          </p:cNvSpPr>
          <p:nvPr/>
        </p:nvSpPr>
        <p:spPr bwMode="auto">
          <a:xfrm flipV="1">
            <a:off x="6705600" y="3962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42" name="Line 22"/>
          <p:cNvSpPr>
            <a:spLocks noChangeShapeType="1"/>
          </p:cNvSpPr>
          <p:nvPr/>
        </p:nvSpPr>
        <p:spPr bwMode="auto">
          <a:xfrm>
            <a:off x="5638800" y="4191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43" name="Line 23"/>
          <p:cNvSpPr>
            <a:spLocks noChangeShapeType="1"/>
          </p:cNvSpPr>
          <p:nvPr/>
        </p:nvSpPr>
        <p:spPr bwMode="auto">
          <a:xfrm flipV="1">
            <a:off x="5638800" y="3962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44" name="Line 24"/>
          <p:cNvSpPr>
            <a:spLocks noChangeShapeType="1"/>
          </p:cNvSpPr>
          <p:nvPr/>
        </p:nvSpPr>
        <p:spPr bwMode="auto">
          <a:xfrm flipV="1">
            <a:off x="5638800" y="3581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45" name="Line 25"/>
          <p:cNvSpPr>
            <a:spLocks noChangeShapeType="1"/>
          </p:cNvSpPr>
          <p:nvPr/>
        </p:nvSpPr>
        <p:spPr bwMode="auto">
          <a:xfrm flipV="1">
            <a:off x="5638800" y="3962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46" name="Line 26"/>
          <p:cNvSpPr>
            <a:spLocks noChangeShapeType="1"/>
          </p:cNvSpPr>
          <p:nvPr/>
        </p:nvSpPr>
        <p:spPr bwMode="auto">
          <a:xfrm>
            <a:off x="6477000" y="3733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47" name="Line 27"/>
          <p:cNvSpPr>
            <a:spLocks noChangeShapeType="1"/>
          </p:cNvSpPr>
          <p:nvPr/>
        </p:nvSpPr>
        <p:spPr bwMode="auto">
          <a:xfrm>
            <a:off x="6477000" y="3733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48" name="Line 28"/>
          <p:cNvSpPr>
            <a:spLocks noChangeShapeType="1"/>
          </p:cNvSpPr>
          <p:nvPr/>
        </p:nvSpPr>
        <p:spPr bwMode="auto">
          <a:xfrm flipV="1">
            <a:off x="6477000" y="3581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49" name="Line 29"/>
          <p:cNvSpPr>
            <a:spLocks noChangeShapeType="1"/>
          </p:cNvSpPr>
          <p:nvPr/>
        </p:nvSpPr>
        <p:spPr bwMode="auto">
          <a:xfrm>
            <a:off x="6477000" y="3733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50" name="Freeform 30" descr="5%"/>
          <p:cNvSpPr>
            <a:spLocks/>
          </p:cNvSpPr>
          <p:nvPr/>
        </p:nvSpPr>
        <p:spPr bwMode="auto">
          <a:xfrm rot="-5400000">
            <a:off x="2215357" y="3728245"/>
            <a:ext cx="1828800" cy="1382713"/>
          </a:xfrm>
          <a:custGeom>
            <a:avLst/>
            <a:gdLst>
              <a:gd name="T0" fmla="*/ 2147483647 w 598"/>
              <a:gd name="T1" fmla="*/ 2147483647 h 652"/>
              <a:gd name="T2" fmla="*/ 2147483647 w 598"/>
              <a:gd name="T3" fmla="*/ 0 h 652"/>
              <a:gd name="T4" fmla="*/ 2147483647 w 598"/>
              <a:gd name="T5" fmla="*/ 2147483647 h 652"/>
              <a:gd name="T6" fmla="*/ 2147483647 w 598"/>
              <a:gd name="T7" fmla="*/ 2147483647 h 652"/>
              <a:gd name="T8" fmla="*/ 2147483647 w 598"/>
              <a:gd name="T9" fmla="*/ 2147483647 h 652"/>
              <a:gd name="T10" fmla="*/ 2147483647 w 598"/>
              <a:gd name="T11" fmla="*/ 2147483647 h 652"/>
              <a:gd name="T12" fmla="*/ 2147483647 w 598"/>
              <a:gd name="T13" fmla="*/ 2147483647 h 652"/>
              <a:gd name="T14" fmla="*/ 2147483647 w 598"/>
              <a:gd name="T15" fmla="*/ 2147483647 h 652"/>
              <a:gd name="T16" fmla="*/ 2147483647 w 598"/>
              <a:gd name="T17" fmla="*/ 2147483647 h 652"/>
              <a:gd name="T18" fmla="*/ 2147483647 w 598"/>
              <a:gd name="T19" fmla="*/ 2147483647 h 652"/>
              <a:gd name="T20" fmla="*/ 2147483647 w 598"/>
              <a:gd name="T21" fmla="*/ 2147483647 h 652"/>
              <a:gd name="T22" fmla="*/ 2147483647 w 598"/>
              <a:gd name="T23" fmla="*/ 2147483647 h 652"/>
              <a:gd name="T24" fmla="*/ 2147483647 w 598"/>
              <a:gd name="T25" fmla="*/ 2147483647 h 652"/>
              <a:gd name="T26" fmla="*/ 2147483647 w 598"/>
              <a:gd name="T27" fmla="*/ 2147483647 h 652"/>
              <a:gd name="T28" fmla="*/ 2147483647 w 598"/>
              <a:gd name="T29" fmla="*/ 2147483647 h 652"/>
              <a:gd name="T30" fmla="*/ 2147483647 w 598"/>
              <a:gd name="T31" fmla="*/ 2147483647 h 652"/>
              <a:gd name="T32" fmla="*/ 2147483647 w 598"/>
              <a:gd name="T33" fmla="*/ 2147483647 h 652"/>
              <a:gd name="T34" fmla="*/ 2147483647 w 598"/>
              <a:gd name="T35" fmla="*/ 2147483647 h 652"/>
              <a:gd name="T36" fmla="*/ 2147483647 w 598"/>
              <a:gd name="T37" fmla="*/ 2147483647 h 652"/>
              <a:gd name="T38" fmla="*/ 2147483647 w 598"/>
              <a:gd name="T39" fmla="*/ 2147483647 h 652"/>
              <a:gd name="T40" fmla="*/ 2147483647 w 598"/>
              <a:gd name="T41" fmla="*/ 2147483647 h 652"/>
              <a:gd name="T42" fmla="*/ 2147483647 w 598"/>
              <a:gd name="T43" fmla="*/ 2147483647 h 652"/>
              <a:gd name="T44" fmla="*/ 2147483647 w 598"/>
              <a:gd name="T45" fmla="*/ 2147483647 h 652"/>
              <a:gd name="T46" fmla="*/ 2147483647 w 598"/>
              <a:gd name="T47" fmla="*/ 2147483647 h 652"/>
              <a:gd name="T48" fmla="*/ 2147483647 w 598"/>
              <a:gd name="T49" fmla="*/ 2147483647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51" name="Oval 31"/>
          <p:cNvSpPr>
            <a:spLocks noChangeArrowheads="1"/>
          </p:cNvSpPr>
          <p:nvPr/>
        </p:nvSpPr>
        <p:spPr bwMode="auto">
          <a:xfrm rot="-5400000">
            <a:off x="3505200" y="4648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52" name="Oval 32"/>
          <p:cNvSpPr>
            <a:spLocks noChangeArrowheads="1"/>
          </p:cNvSpPr>
          <p:nvPr/>
        </p:nvSpPr>
        <p:spPr bwMode="auto">
          <a:xfrm rot="-5400000">
            <a:off x="3429000" y="3886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53" name="Oval 33"/>
          <p:cNvSpPr>
            <a:spLocks noChangeArrowheads="1"/>
          </p:cNvSpPr>
          <p:nvPr/>
        </p:nvSpPr>
        <p:spPr bwMode="auto">
          <a:xfrm rot="-5400000">
            <a:off x="2590800" y="43434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54" name="Oval 34"/>
          <p:cNvSpPr>
            <a:spLocks noChangeArrowheads="1"/>
          </p:cNvSpPr>
          <p:nvPr/>
        </p:nvSpPr>
        <p:spPr bwMode="auto">
          <a:xfrm rot="-5400000">
            <a:off x="3656013" y="41894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en-US" altLang="en-US"/>
          </a:p>
        </p:txBody>
      </p:sp>
      <p:sp>
        <p:nvSpPr>
          <p:cNvPr id="107555" name="Line 35"/>
          <p:cNvSpPr>
            <a:spLocks noChangeShapeType="1"/>
          </p:cNvSpPr>
          <p:nvPr/>
        </p:nvSpPr>
        <p:spPr bwMode="auto">
          <a:xfrm flipV="1">
            <a:off x="2667000" y="3962400"/>
            <a:ext cx="7620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56" name="Line 36"/>
          <p:cNvSpPr>
            <a:spLocks noChangeShapeType="1"/>
          </p:cNvSpPr>
          <p:nvPr/>
        </p:nvSpPr>
        <p:spPr bwMode="auto">
          <a:xfrm flipH="1" flipV="1">
            <a:off x="3429000" y="3962400"/>
            <a:ext cx="76200" cy="685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57" name="Line 37"/>
          <p:cNvSpPr>
            <a:spLocks noChangeShapeType="1"/>
          </p:cNvSpPr>
          <p:nvPr/>
        </p:nvSpPr>
        <p:spPr bwMode="auto">
          <a:xfrm>
            <a:off x="2667000" y="4343400"/>
            <a:ext cx="8382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58" name="Line 38"/>
          <p:cNvSpPr>
            <a:spLocks noChangeShapeType="1"/>
          </p:cNvSpPr>
          <p:nvPr/>
        </p:nvSpPr>
        <p:spPr bwMode="auto">
          <a:xfrm flipH="1" flipV="1">
            <a:off x="3429000" y="3962400"/>
            <a:ext cx="228600" cy="3048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59" name="Line 39"/>
          <p:cNvSpPr>
            <a:spLocks noChangeShapeType="1"/>
          </p:cNvSpPr>
          <p:nvPr/>
        </p:nvSpPr>
        <p:spPr bwMode="auto">
          <a:xfrm flipH="1">
            <a:off x="2667000" y="4267200"/>
            <a:ext cx="9906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60" name="Line 40"/>
          <p:cNvSpPr>
            <a:spLocks noChangeShapeType="1"/>
          </p:cNvSpPr>
          <p:nvPr/>
        </p:nvSpPr>
        <p:spPr bwMode="auto">
          <a:xfrm flipH="1">
            <a:off x="3505200" y="4267200"/>
            <a:ext cx="1524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400"/>
          </a:p>
        </p:txBody>
      </p:sp>
      <p:sp>
        <p:nvSpPr>
          <p:cNvPr id="107561" name="Rectangle 41"/>
          <p:cNvSpPr>
            <a:spLocks noChangeArrowheads="1"/>
          </p:cNvSpPr>
          <p:nvPr/>
        </p:nvSpPr>
        <p:spPr bwMode="auto">
          <a:xfrm>
            <a:off x="2514601" y="5486400"/>
            <a:ext cx="121219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000" b="0"/>
              <a:t>cohesion</a:t>
            </a:r>
          </a:p>
        </p:txBody>
      </p:sp>
      <p:sp>
        <p:nvSpPr>
          <p:cNvPr id="107562" name="Rectangle 42"/>
          <p:cNvSpPr>
            <a:spLocks noChangeArrowheads="1"/>
          </p:cNvSpPr>
          <p:nvPr/>
        </p:nvSpPr>
        <p:spPr bwMode="auto">
          <a:xfrm>
            <a:off x="6553200" y="5486400"/>
            <a:ext cx="13821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sz="2000" b="0"/>
              <a:t>separation</a:t>
            </a:r>
          </a:p>
        </p:txBody>
      </p:sp>
    </p:spTree>
    <p:extLst>
      <p:ext uri="{BB962C8B-B14F-4D97-AF65-F5344CB8AC3E}">
        <p14:creationId xmlns:p14="http://schemas.microsoft.com/office/powerpoint/2010/main" val="3249824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67" dirty="0"/>
              <a:t>Internal Measures: Silhouette Coefficient</a:t>
            </a:r>
          </a:p>
        </p:txBody>
      </p:sp>
      <p:sp>
        <p:nvSpPr>
          <p:cNvPr id="10854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spcBef>
                <a:spcPct val="0"/>
              </a:spcBef>
            </a:pPr>
            <a:r>
              <a:rPr lang="en-US" altLang="en-US" sz="2000" dirty="0"/>
              <a:t>Silhouette coefficient combines ideas of both cohesion and separation, but for individual points, as well as clusters and </a:t>
            </a:r>
            <a:r>
              <a:rPr lang="en-US" altLang="en-US" sz="2000" dirty="0" err="1"/>
              <a:t>clusterings</a:t>
            </a:r>
            <a:endParaRPr lang="en-US" altLang="en-US" sz="2000" dirty="0"/>
          </a:p>
          <a:p>
            <a:pPr marL="342891" indent="-342891">
              <a:spcBef>
                <a:spcPct val="0"/>
              </a:spcBef>
            </a:pPr>
            <a:r>
              <a:rPr lang="en-US" altLang="en-US" sz="2000" dirty="0"/>
              <a:t>For an individual point, </a:t>
            </a:r>
            <a:r>
              <a:rPr lang="en-US" alt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32" lvl="1" indent="-285744"/>
            <a:r>
              <a:rPr lang="en-US" altLang="en-US" sz="1800" dirty="0"/>
              <a:t>Calculate </a:t>
            </a:r>
            <a:r>
              <a:rPr lang="en-US" altLang="en-US" sz="1800" b="1" i="1" dirty="0"/>
              <a:t>a</a:t>
            </a:r>
            <a:r>
              <a:rPr lang="en-US" altLang="en-US" sz="1800" dirty="0"/>
              <a:t> = average distance of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dirty="0"/>
              <a:t> to the points in its cluster</a:t>
            </a:r>
          </a:p>
          <a:p>
            <a:pPr marL="742932" lvl="1" indent="-285744"/>
            <a:r>
              <a:rPr lang="en-US" altLang="en-US" sz="1800" dirty="0"/>
              <a:t>Calculate </a:t>
            </a:r>
            <a:r>
              <a:rPr lang="en-US" altLang="en-US" sz="1800" b="1" i="1" dirty="0"/>
              <a:t>b</a:t>
            </a:r>
            <a:r>
              <a:rPr lang="en-US" altLang="en-US" sz="1800" dirty="0"/>
              <a:t> = min (average distance of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1800" i="1" dirty="0"/>
              <a:t> </a:t>
            </a:r>
            <a:r>
              <a:rPr lang="en-US" altLang="en-US" sz="1800" dirty="0"/>
              <a:t> to points in another cluster)</a:t>
            </a:r>
          </a:p>
          <a:p>
            <a:pPr marL="742932" lvl="1" indent="-285744"/>
            <a:r>
              <a:rPr lang="en-US" altLang="en-US" sz="1800" dirty="0"/>
              <a:t>The silhouette coefficient for a point is then given by </a:t>
            </a:r>
            <a:br>
              <a:rPr lang="en-US" altLang="en-US" sz="1800" dirty="0"/>
            </a:br>
            <a:br>
              <a:rPr lang="en-US" altLang="en-US" sz="1800" dirty="0"/>
            </a:br>
            <a:r>
              <a:rPr lang="en-US" altLang="en-US" sz="1800" dirty="0"/>
              <a:t>s = (b – a) / max(</a:t>
            </a:r>
            <a:r>
              <a:rPr lang="en-US" altLang="en-US" sz="1800" dirty="0" err="1"/>
              <a:t>a,b</a:t>
            </a:r>
            <a:r>
              <a:rPr lang="en-US" altLang="en-US" sz="1800" dirty="0"/>
              <a:t>)   </a:t>
            </a:r>
          </a:p>
          <a:p>
            <a:pPr marL="742932" lvl="1" indent="-285744">
              <a:buNone/>
            </a:pPr>
            <a:endParaRPr lang="en-US" altLang="en-US" sz="1800" dirty="0"/>
          </a:p>
          <a:p>
            <a:pPr marL="742932" lvl="1" indent="-285744"/>
            <a:r>
              <a:rPr lang="en-US" altLang="en-US" sz="1800" dirty="0"/>
              <a:t>Typically between 0 and 1. </a:t>
            </a:r>
          </a:p>
          <a:p>
            <a:pPr marL="742932" lvl="1" indent="-285744"/>
            <a:r>
              <a:rPr lang="en-US" altLang="en-US" sz="1800" dirty="0"/>
              <a:t>The closer to 1 the better.</a:t>
            </a:r>
          </a:p>
          <a:p>
            <a:pPr marL="342891" indent="-342891">
              <a:spcBef>
                <a:spcPct val="0"/>
              </a:spcBef>
            </a:pPr>
            <a:endParaRPr lang="en-US" altLang="en-US" sz="2200" dirty="0"/>
          </a:p>
          <a:p>
            <a:pPr marL="342891" indent="-342891">
              <a:spcBef>
                <a:spcPct val="0"/>
              </a:spcBef>
            </a:pPr>
            <a:endParaRPr lang="en-US" altLang="en-US" sz="2200" dirty="0"/>
          </a:p>
          <a:p>
            <a:pPr marL="342891" indent="-342891">
              <a:spcBef>
                <a:spcPct val="0"/>
              </a:spcBef>
            </a:pPr>
            <a:r>
              <a:rPr lang="en-US" altLang="en-US" sz="2000" dirty="0"/>
              <a:t>Can calculate the average silhouette coefficient for a cluster or a clustering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5791201" y="3276602"/>
          <a:ext cx="3679825" cy="1439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680406" imgH="1440180" progId="Visio.Drawing.15">
                  <p:embed/>
                </p:oleObj>
              </mc:Choice>
              <mc:Fallback>
                <p:oleObj name="Visio" r:id="rId2" imgW="3680406" imgH="1440180" progId="Visio.Drawing.15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91201" y="3276602"/>
                        <a:ext cx="3679825" cy="1439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52264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Final Comment on Cluster Validity</a:t>
            </a:r>
          </a:p>
        </p:txBody>
      </p:sp>
      <p:sp>
        <p:nvSpPr>
          <p:cNvPr id="11059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891" indent="-342891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None/>
            </a:pPr>
            <a:r>
              <a:rPr lang="en-US" altLang="en-US"/>
              <a:t>   “The validation of clustering structures is the most difficult and frustrating part of cluster analysis. </a:t>
            </a:r>
          </a:p>
          <a:p>
            <a:pPr marL="342891" indent="-342891">
              <a:lnSpc>
                <a:spcPts val="3200"/>
              </a:lnSpc>
              <a:spcBef>
                <a:spcPts val="800"/>
              </a:spcBef>
              <a:spcAft>
                <a:spcPts val="800"/>
              </a:spcAft>
              <a:buSzPct val="85000"/>
              <a:buNone/>
            </a:pPr>
            <a:r>
              <a:rPr lang="en-US" altLang="en-US"/>
              <a:t>   Without a strong effort in this direction, cluster analysis will remain a black art accessible only to those true believers who have experience and great courage.”</a:t>
            </a:r>
          </a:p>
          <a:p>
            <a:pPr marL="342891" indent="-342891">
              <a:spcBef>
                <a:spcPct val="0"/>
              </a:spcBef>
              <a:buSzPct val="85000"/>
            </a:pPr>
            <a:endParaRPr lang="en-US" altLang="en-US"/>
          </a:p>
          <a:p>
            <a:pPr marL="342891" indent="-342891">
              <a:spcBef>
                <a:spcPct val="0"/>
              </a:spcBef>
              <a:buSzPct val="85000"/>
              <a:buNone/>
            </a:pPr>
            <a:r>
              <a:rPr lang="en-US" altLang="en-US" i="1"/>
              <a:t>Algorithms for Clustering Data</a:t>
            </a:r>
            <a:r>
              <a:rPr lang="en-US" altLang="en-US"/>
              <a:t>, Jain and Dubes</a:t>
            </a:r>
          </a:p>
        </p:txBody>
      </p:sp>
    </p:spTree>
    <p:extLst>
      <p:ext uri="{BB962C8B-B14F-4D97-AF65-F5344CB8AC3E}">
        <p14:creationId xmlns:p14="http://schemas.microsoft.com/office/powerpoint/2010/main" val="196593653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C3A3AC-3479-954B-8863-B2FCBFDCB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46C7E5-9491-8A4A-86AB-1AA2743CB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1605" cy="4351338"/>
          </a:xfrm>
        </p:spPr>
        <p:txBody>
          <a:bodyPr/>
          <a:lstStyle/>
          <a:p>
            <a:r>
              <a:rPr lang="en-US" noProof="0" dirty="0"/>
              <a:t>Clustering. </a:t>
            </a:r>
            <a:r>
              <a:rPr lang="en-US" noProof="0"/>
              <a:t>Chapter 7. </a:t>
            </a:r>
            <a:r>
              <a:rPr lang="en-US" noProof="0" dirty="0"/>
              <a:t>Introduction to Data Mining.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071210-6483-7E4C-BDE3-DBB7686DB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2341563"/>
            <a:ext cx="30480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611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torial_template" id="{EADC5050-CE47-8043-A115-557F9EDEC139}" vid="{327DA43B-6BAE-AF4B-A031-340A272D65B2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2F56ABDEDC3044B30E8C8676A91964" ma:contentTypeVersion="3" ma:contentTypeDescription="Creare un nuovo documento." ma:contentTypeScope="" ma:versionID="b2f94b8e34c7ac8eea718ce208f72eaa">
  <xsd:schema xmlns:xsd="http://www.w3.org/2001/XMLSchema" xmlns:xs="http://www.w3.org/2001/XMLSchema" xmlns:p="http://schemas.microsoft.com/office/2006/metadata/properties" xmlns:ns2="e17268a9-c167-4582-b3fd-10fdf2b0972b" targetNamespace="http://schemas.microsoft.com/office/2006/metadata/properties" ma:root="true" ma:fieldsID="2766200863a59431bcf671668b910c15" ns2:_="">
    <xsd:import namespace="e17268a9-c167-4582-b3fd-10fdf2b097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268a9-c167-4582-b3fd-10fdf2b097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5D6EB3-7F04-43F1-B8C3-90F4E7102711}"/>
</file>

<file path=customXml/itemProps2.xml><?xml version="1.0" encoding="utf-8"?>
<ds:datastoreItem xmlns:ds="http://schemas.openxmlformats.org/officeDocument/2006/customXml" ds:itemID="{4859C434-4F33-49B7-93BD-C4D11A0A59F5}"/>
</file>

<file path=customXml/itemProps3.xml><?xml version="1.0" encoding="utf-8"?>
<ds:datastoreItem xmlns:ds="http://schemas.openxmlformats.org/officeDocument/2006/customXml" ds:itemID="{21E3D32C-9E76-4E4E-A578-1A83CAE55235}"/>
</file>

<file path=docProps/app.xml><?xml version="1.0" encoding="utf-8"?>
<Properties xmlns="http://schemas.openxmlformats.org/officeDocument/2006/extended-properties" xmlns:vt="http://schemas.openxmlformats.org/officeDocument/2006/docPropsVTypes">
  <Template>Tema di Office</Template>
  <TotalTime>16486</TotalTime>
  <Words>2611</Words>
  <Application>Microsoft Macintosh PowerPoint</Application>
  <PresentationFormat>Widescreen</PresentationFormat>
  <Paragraphs>569</Paragraphs>
  <Slides>67</Slides>
  <Notes>4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4</vt:i4>
      </vt:variant>
      <vt:variant>
        <vt:lpstr>Titoli diapositive</vt:lpstr>
      </vt:variant>
      <vt:variant>
        <vt:i4>67</vt:i4>
      </vt:variant>
    </vt:vector>
  </HeadingPairs>
  <TitlesOfParts>
    <vt:vector size="82" baseType="lpstr">
      <vt:lpstr>ＭＳ Ｐゴシック</vt:lpstr>
      <vt:lpstr>Arial</vt:lpstr>
      <vt:lpstr>Calibri</vt:lpstr>
      <vt:lpstr>Calibri Light</vt:lpstr>
      <vt:lpstr>Monotype Sorts</vt:lpstr>
      <vt:lpstr>rival-sans</vt:lpstr>
      <vt:lpstr>source-serif-pro</vt:lpstr>
      <vt:lpstr>Symbol</vt:lpstr>
      <vt:lpstr>Times New Roman</vt:lpstr>
      <vt:lpstr>Wingdings</vt:lpstr>
      <vt:lpstr>Tema di Office</vt:lpstr>
      <vt:lpstr>MSPhotoEd.3</vt:lpstr>
      <vt:lpstr>VISIO</vt:lpstr>
      <vt:lpstr>Visio</vt:lpstr>
      <vt:lpstr>Equation</vt:lpstr>
      <vt:lpstr>Intro-Machine Learning Clustering (2) </vt:lpstr>
      <vt:lpstr>References</vt:lpstr>
      <vt:lpstr>Types of Clusters</vt:lpstr>
      <vt:lpstr>Types of Clusters: Density-Based</vt:lpstr>
      <vt:lpstr>DBSCAN</vt:lpstr>
      <vt:lpstr>DBSCAN</vt:lpstr>
      <vt:lpstr>DBSCAN: Core, Border, and Noise Points</vt:lpstr>
      <vt:lpstr>DBSCAN Algorithm</vt:lpstr>
      <vt:lpstr>DBSCAN Algorithm</vt:lpstr>
      <vt:lpstr>DBSCAN: Core, Border and Noise Points</vt:lpstr>
      <vt:lpstr>When DBSCAN Works Well</vt:lpstr>
      <vt:lpstr>When DBSCAN Does NOT Work Well</vt:lpstr>
      <vt:lpstr>DBSCAN: Determining EPS and MinPts</vt:lpstr>
      <vt:lpstr>DBSCAN: resources</vt:lpstr>
      <vt:lpstr>DBSCAN in domains with periodic boundary conditions</vt:lpstr>
      <vt:lpstr>HIERARCHICAL CLUSTERING</vt:lpstr>
      <vt:lpstr>Hierarchical Clustering </vt:lpstr>
      <vt:lpstr>Dendrograms</vt:lpstr>
      <vt:lpstr>Dendrograms</vt:lpstr>
      <vt:lpstr>Dendrograms</vt:lpstr>
      <vt:lpstr>Strengths of Hierarchical Clustering</vt:lpstr>
      <vt:lpstr>Hierarchical Clustering</vt:lpstr>
      <vt:lpstr>Agglomerative Clustering Algorithm</vt:lpstr>
      <vt:lpstr>Starting Situation </vt:lpstr>
      <vt:lpstr>Intermediate Situation</vt:lpstr>
      <vt:lpstr>Intermediate Situation</vt:lpstr>
      <vt:lpstr>After Merging</vt:lpstr>
      <vt:lpstr>How to Define Inter-Cluster Distance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MIN or Single Link </vt:lpstr>
      <vt:lpstr>Hierarchical Clustering: MIN</vt:lpstr>
      <vt:lpstr>Strength of MIN</vt:lpstr>
      <vt:lpstr>Limitations of MIN</vt:lpstr>
      <vt:lpstr>MAX or Complete Linkage</vt:lpstr>
      <vt:lpstr>Hierarchical Clustering: MAX</vt:lpstr>
      <vt:lpstr>Strength of MAX</vt:lpstr>
      <vt:lpstr>Limitations of MAX</vt:lpstr>
      <vt:lpstr>Group Average</vt:lpstr>
      <vt:lpstr>Hierarchical Clustering: Group Average</vt:lpstr>
      <vt:lpstr>Hierarchical Clustering: Group Average</vt:lpstr>
      <vt:lpstr>Cluster Similarity: Ward’s Method</vt:lpstr>
      <vt:lpstr>Hierarchical Clustering: Comparison</vt:lpstr>
      <vt:lpstr>Cluster Validity</vt:lpstr>
      <vt:lpstr>Cluster Validity </vt:lpstr>
      <vt:lpstr>Clusters found in Random Data</vt:lpstr>
      <vt:lpstr>Different Aspects of Cluster Validation</vt:lpstr>
      <vt:lpstr>Measures of Cluster Validity</vt:lpstr>
      <vt:lpstr>Measuring Cluster Validity Via Correlation</vt:lpstr>
      <vt:lpstr>Measuring Cluster Validity Via Correlation</vt:lpstr>
      <vt:lpstr>Using Proximity Matrix for Cluster Validation</vt:lpstr>
      <vt:lpstr>Using proximity Matrix for Cluster Validation (cohesion and separation)</vt:lpstr>
      <vt:lpstr>Using Similarity Matrix for Cluster Validation</vt:lpstr>
      <vt:lpstr>Using Proximity Matrix for Cluster Validation</vt:lpstr>
      <vt:lpstr>Using Proximity Matrix for Cluster Validation</vt:lpstr>
      <vt:lpstr>Internal Measures: SSE (cohesion)</vt:lpstr>
      <vt:lpstr>Internal Measures: SSE</vt:lpstr>
      <vt:lpstr>Framework for Cluster Validity</vt:lpstr>
      <vt:lpstr>Statistical Framework for SSE</vt:lpstr>
      <vt:lpstr>Presentazione standard di PowerPoint</vt:lpstr>
      <vt:lpstr>Internal Measures: Cohesion and Separation</vt:lpstr>
      <vt:lpstr>Internal Measures: Cohesion and Separation</vt:lpstr>
      <vt:lpstr>Internal Measures: Silhouette Coefficient</vt:lpstr>
      <vt:lpstr>Final Comment on Cluster Validity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Costabello, Luca</dc:creator>
  <cp:lastModifiedBy>FG-ITALY</cp:lastModifiedBy>
  <cp:revision>464</cp:revision>
  <cp:lastPrinted>2019-01-27T07:43:21Z</cp:lastPrinted>
  <dcterms:created xsi:type="dcterms:W3CDTF">2018-12-18T18:14:00Z</dcterms:created>
  <dcterms:modified xsi:type="dcterms:W3CDTF">2026-03-17T09:38:43Z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0x010100BB2F56ABDEDC3044B30E8C8676A91964</vt:lpwstr>
  </property>
</Properties>
</file>