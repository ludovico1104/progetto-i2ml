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5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20"/>
  </p:notesMasterIdLst>
  <p:handoutMasterIdLst>
    <p:handoutMasterId r:id="rId121"/>
  </p:handoutMasterIdLst>
  <p:sldIdLst>
    <p:sldId id="1168" r:id="rId2"/>
    <p:sldId id="577" r:id="rId3"/>
    <p:sldId id="643" r:id="rId4"/>
    <p:sldId id="607" r:id="rId5"/>
    <p:sldId id="517" r:id="rId6"/>
    <p:sldId id="518" r:id="rId7"/>
    <p:sldId id="525" r:id="rId8"/>
    <p:sldId id="535" r:id="rId9"/>
    <p:sldId id="536" r:id="rId10"/>
    <p:sldId id="592" r:id="rId11"/>
    <p:sldId id="521" r:id="rId12"/>
    <p:sldId id="520" r:id="rId13"/>
    <p:sldId id="522" r:id="rId14"/>
    <p:sldId id="523" r:id="rId15"/>
    <p:sldId id="283" r:id="rId16"/>
    <p:sldId id="528" r:id="rId17"/>
    <p:sldId id="531" r:id="rId18"/>
    <p:sldId id="529" r:id="rId19"/>
    <p:sldId id="1169" r:id="rId20"/>
    <p:sldId id="640" r:id="rId21"/>
    <p:sldId id="526" r:id="rId22"/>
    <p:sldId id="636" r:id="rId23"/>
    <p:sldId id="605" r:id="rId24"/>
    <p:sldId id="600" r:id="rId25"/>
    <p:sldId id="601" r:id="rId26"/>
    <p:sldId id="645" r:id="rId27"/>
    <p:sldId id="646" r:id="rId28"/>
    <p:sldId id="675" r:id="rId29"/>
    <p:sldId id="676" r:id="rId30"/>
    <p:sldId id="705" r:id="rId31"/>
    <p:sldId id="677" r:id="rId32"/>
    <p:sldId id="293" r:id="rId33"/>
    <p:sldId id="1170" r:id="rId34"/>
    <p:sldId id="1171" r:id="rId35"/>
    <p:sldId id="707" r:id="rId36"/>
    <p:sldId id="706" r:id="rId37"/>
    <p:sldId id="678" r:id="rId38"/>
    <p:sldId id="1172" r:id="rId39"/>
    <p:sldId id="680" r:id="rId40"/>
    <p:sldId id="681" r:id="rId41"/>
    <p:sldId id="656" r:id="rId42"/>
    <p:sldId id="657" r:id="rId43"/>
    <p:sldId id="658" r:id="rId44"/>
    <p:sldId id="652" r:id="rId45"/>
    <p:sldId id="682" r:id="rId46"/>
    <p:sldId id="648" r:id="rId47"/>
    <p:sldId id="683" r:id="rId48"/>
    <p:sldId id="684" r:id="rId49"/>
    <p:sldId id="685" r:id="rId50"/>
    <p:sldId id="686" r:id="rId51"/>
    <p:sldId id="687" r:id="rId52"/>
    <p:sldId id="659" r:id="rId53"/>
    <p:sldId id="660" r:id="rId54"/>
    <p:sldId id="661" r:id="rId55"/>
    <p:sldId id="708" r:id="rId56"/>
    <p:sldId id="691" r:id="rId57"/>
    <p:sldId id="692" r:id="rId58"/>
    <p:sldId id="693" r:id="rId59"/>
    <p:sldId id="694" r:id="rId60"/>
    <p:sldId id="665" r:id="rId61"/>
    <p:sldId id="604" r:id="rId62"/>
    <p:sldId id="695" r:id="rId63"/>
    <p:sldId id="696" r:id="rId64"/>
    <p:sldId id="697" r:id="rId65"/>
    <p:sldId id="671" r:id="rId66"/>
    <p:sldId id="698" r:id="rId67"/>
    <p:sldId id="699" r:id="rId68"/>
    <p:sldId id="700" r:id="rId69"/>
    <p:sldId id="603" r:id="rId70"/>
    <p:sldId id="701" r:id="rId71"/>
    <p:sldId id="702" r:id="rId72"/>
    <p:sldId id="703" r:id="rId73"/>
    <p:sldId id="704" r:id="rId74"/>
    <p:sldId id="532" r:id="rId75"/>
    <p:sldId id="549" r:id="rId76"/>
    <p:sldId id="550" r:id="rId77"/>
    <p:sldId id="1173" r:id="rId78"/>
    <p:sldId id="534" r:id="rId79"/>
    <p:sldId id="552" r:id="rId80"/>
    <p:sldId id="608" r:id="rId81"/>
    <p:sldId id="551" r:id="rId82"/>
    <p:sldId id="553" r:id="rId83"/>
    <p:sldId id="560" r:id="rId84"/>
    <p:sldId id="573" r:id="rId85"/>
    <p:sldId id="538" r:id="rId86"/>
    <p:sldId id="539" r:id="rId87"/>
    <p:sldId id="540" r:id="rId88"/>
    <p:sldId id="541" r:id="rId89"/>
    <p:sldId id="558" r:id="rId90"/>
    <p:sldId id="561" r:id="rId91"/>
    <p:sldId id="567" r:id="rId92"/>
    <p:sldId id="568" r:id="rId93"/>
    <p:sldId id="576" r:id="rId94"/>
    <p:sldId id="559" r:id="rId95"/>
    <p:sldId id="556" r:id="rId96"/>
    <p:sldId id="564" r:id="rId97"/>
    <p:sldId id="709" r:id="rId98"/>
    <p:sldId id="710" r:id="rId99"/>
    <p:sldId id="711" r:id="rId100"/>
    <p:sldId id="712" r:id="rId101"/>
    <p:sldId id="713" r:id="rId102"/>
    <p:sldId id="714" r:id="rId103"/>
    <p:sldId id="715" r:id="rId104"/>
    <p:sldId id="716" r:id="rId105"/>
    <p:sldId id="717" r:id="rId106"/>
    <p:sldId id="718" r:id="rId107"/>
    <p:sldId id="575" r:id="rId108"/>
    <p:sldId id="719" r:id="rId109"/>
    <p:sldId id="565" r:id="rId110"/>
    <p:sldId id="610" r:id="rId111"/>
    <p:sldId id="611" r:id="rId112"/>
    <p:sldId id="612" r:id="rId113"/>
    <p:sldId id="613" r:id="rId114"/>
    <p:sldId id="615" r:id="rId115"/>
    <p:sldId id="616" r:id="rId116"/>
    <p:sldId id="617" r:id="rId117"/>
    <p:sldId id="618" r:id="rId118"/>
    <p:sldId id="619" r:id="rId119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61"/>
    <p:restoredTop sz="94675"/>
  </p:normalViewPr>
  <p:slideViewPr>
    <p:cSldViewPr>
      <p:cViewPr varScale="1">
        <p:scale>
          <a:sx n="148" d="100"/>
          <a:sy n="148" d="100"/>
        </p:scale>
        <p:origin x="1368" y="20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19296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128" Type="http://schemas.openxmlformats.org/officeDocument/2006/relationships/customXml" Target="../customXml/item3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3.xml"/><Relationship Id="rId2" Type="http://schemas.openxmlformats.org/officeDocument/2006/relationships/slide" Target="slides/slide92.xml"/><Relationship Id="rId1" Type="http://schemas.openxmlformats.org/officeDocument/2006/relationships/slide" Target="slides/slide9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82693A1-DC88-F2E1-F96B-63D6C698B10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60888"/>
            <a:ext cx="5367337" cy="4318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437" tIns="50221" rIns="100437" bIns="502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 noProof="0"/>
              <a:t>Click to edit Master notes styles</a:t>
            </a:r>
          </a:p>
          <a:p>
            <a:pPr lvl="1"/>
            <a:r>
              <a:rPr lang="en-US" altLang="it-IT" noProof="0"/>
              <a:t>Second Level</a:t>
            </a:r>
          </a:p>
          <a:p>
            <a:pPr lvl="2"/>
            <a:r>
              <a:rPr lang="en-US" altLang="it-IT" noProof="0"/>
              <a:t>Third Level</a:t>
            </a:r>
          </a:p>
          <a:p>
            <a:pPr lvl="3"/>
            <a:r>
              <a:rPr lang="en-US" altLang="it-IT" noProof="0"/>
              <a:t>Fourth Level</a:t>
            </a:r>
          </a:p>
          <a:p>
            <a:pPr lvl="4"/>
            <a:r>
              <a:rPr lang="en-US" altLang="it-IT" noProof="0"/>
              <a:t>Fifth Level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5E5C04C-20D3-0A4E-9362-3B539534DCF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8663"/>
            <a:ext cx="4781550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egnaposto immagine diapositiva 1">
            <a:extLst>
              <a:ext uri="{FF2B5EF4-FFF2-40B4-BE49-F238E27FC236}">
                <a16:creationId xmlns:a16="http://schemas.microsoft.com/office/drawing/2014/main" id="{7D4684C3-27E7-370A-7AFC-EABFEF717B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13314" name="Segnaposto note 2">
            <a:extLst>
              <a:ext uri="{FF2B5EF4-FFF2-40B4-BE49-F238E27FC236}">
                <a16:creationId xmlns:a16="http://schemas.microsoft.com/office/drawing/2014/main" id="{59B5F36F-BA7C-14A1-8ACC-FEC509F08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8B708DF-BA04-E490-D499-9C1F205DDF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solidFill>
            <a:srgbClr val="FFFFFF"/>
          </a:solidFill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FF3C9E14-78C5-24EC-30B0-F80DE817E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3FF3619-3E06-E17B-CD27-FC676C72F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solidFill>
            <a:srgbClr val="FFFFFF"/>
          </a:solidFill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B4365FA9-4B13-7698-581E-F14016EE4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F3FE42F-D848-8625-C267-FF6A957984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83A72AEF-E78C-5942-895A-E94EFFC40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581D79DA-724C-0AEF-ED69-F678101E52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  <a:ln/>
        </p:spPr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072695A3-EBDA-E916-1284-EDD899127A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305E11B9-6C9C-A933-B86D-EC30E21903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DC6E46B2-0834-3019-39B8-FB0B7FD1C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987378C8-BF17-F0A1-F624-2F6A1B86D1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91F50B59-5D33-0830-0741-12F0AE0C4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A0D6F223-232C-B2AC-86E1-9FD6D3AFF8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DC34FA0E-DEA9-85A7-4E47-9C1D6EE33C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1FE6F344-BC0E-9310-DBDB-9580A4BB10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1AD07455-C8BF-2BFC-D06F-DF4159554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7763" y="685800"/>
            <a:ext cx="4568825" cy="3427413"/>
          </a:xfrm>
          <a:ln/>
        </p:spPr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772" y="4342141"/>
            <a:ext cx="5030456" cy="4115430"/>
          </a:xfrm>
          <a:noFill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89881" tIns="44939" rIns="89881" bIns="44939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25DB3F16-6526-D7AC-3087-BB3FFA868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9861283-2B1E-0293-537A-D7C3CDC14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218B7515-1206-ADB5-7336-456B0408ED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3102C85E-3290-5177-2E39-6D3E2CE6B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82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00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85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383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E161E754-0D10-B711-96CD-2023546607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  <a:ln/>
        </p:spPr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7E2C395B-AF28-6E99-D062-227B4FAA6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0CE568AD-4614-310D-5C53-38A16D6031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6813" y="692150"/>
            <a:ext cx="4606925" cy="3455988"/>
          </a:xfrm>
          <a:ln/>
        </p:spPr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7D32BBFA-BACE-0AB6-D05F-87A80CEA4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3925" y="4378325"/>
            <a:ext cx="5086350" cy="414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3" tIns="45370" rIns="90743" bIns="45370"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FACFE682-00D5-6BD3-70C8-F8540C185B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solidFill>
            <a:srgbClr val="FFFFFF"/>
          </a:solidFill>
          <a:ln/>
        </p:spPr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109F55D6-EA48-4D25-39F2-0C9081A61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034" tIns="47516" rIns="95034" bIns="47516"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766153BA-336B-4B62-AE66-0C21121FB8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439ADF57-AC2A-1545-F3E9-085F20F33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0" y="728663"/>
            <a:ext cx="4778375" cy="358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56441-450B-C04D-B46C-B1CEEC7D8C9B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93441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3ED97537-0DA0-25EA-4A77-9AF6625652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1FA9A830-8ACF-5851-8AAF-F7C3B04C2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08B31CAC-8B8E-C843-87FE-A4CF8B17C4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solidFill>
            <a:srgbClr val="FFFFFF"/>
          </a:solidFill>
          <a:ln/>
        </p:spPr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257A9583-353F-75CE-A2E4-F75CC08EAE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0000" y="728663"/>
            <a:ext cx="4778375" cy="358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56441-450B-C04D-B46C-B1CEEC7D8C9B}" type="slidenum">
              <a:rPr lang="it-IT" smtClean="0"/>
              <a:t>44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76885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B3416938-74A4-B1E9-1B08-EC168409E3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solidFill>
            <a:srgbClr val="FFFFFF"/>
          </a:solidFill>
          <a:ln/>
        </p:spPr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EBCBD5AD-3E31-A4A1-A530-F1632309C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034" tIns="47516" rIns="95034" bIns="47516"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8DEE7317-ECA8-01F0-17EE-91D85443A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E2907D85-E38E-0F26-D700-F00574F42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270000" y="728663"/>
            <a:ext cx="4778375" cy="3584575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565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972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123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/>
        </p:spPr>
      </p:sp>
      <p:sp>
        <p:nvSpPr>
          <p:cNvPr id="97075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541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62008B9D-E4FC-529C-F06F-273B6ECEA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9C01497-AD1C-E6A3-4936-AFC8B46BE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>
            <a:extLst>
              <a:ext uri="{FF2B5EF4-FFF2-40B4-BE49-F238E27FC236}">
                <a16:creationId xmlns:a16="http://schemas.microsoft.com/office/drawing/2014/main" id="{E4B8B3E1-B0CB-110E-3209-62BD8C3DC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825E52F4-7F28-4F21-8F41-21CE616B9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10D0CC0D-B3BF-3372-293D-87C31ED1B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73193537-DDCB-C34D-472C-C64D3F484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0BEF6216-D5EC-3437-3B4B-554B657032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BC2ED648-C2A0-82F5-EDF4-52D7619C9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12FE0FD9-092F-15CD-62A5-EF4F7B4BE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5810B458-65B6-75A8-A255-E480AD83B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7AEDAF4B-B6C5-E58C-782B-4123C426BB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A41E2984-62C6-2E93-C0ED-81E17BA82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>
            <a:extLst>
              <a:ext uri="{FF2B5EF4-FFF2-40B4-BE49-F238E27FC236}">
                <a16:creationId xmlns:a16="http://schemas.microsoft.com/office/drawing/2014/main" id="{30E1643B-F6BE-39F4-B58B-4604761CD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EC1EE98-070B-E8D6-92EA-C88B1C3DA5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77BA7714-B799-C9B8-E24D-0A4655B5D1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B22C2039-BFE3-A0B3-FDA1-D07BD4773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331D1E8A-03A9-EE69-1758-8E618F6BFC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B6B65246-9B29-309E-CE85-166013D9B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>
            <a:extLst>
              <a:ext uri="{FF2B5EF4-FFF2-40B4-BE49-F238E27FC236}">
                <a16:creationId xmlns:a16="http://schemas.microsoft.com/office/drawing/2014/main" id="{A187B743-8393-FB90-619C-637CED8C0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77FE1B3B-9EE1-303B-7E77-E3F27FFDC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>
            <a:extLst>
              <a:ext uri="{FF2B5EF4-FFF2-40B4-BE49-F238E27FC236}">
                <a16:creationId xmlns:a16="http://schemas.microsoft.com/office/drawing/2014/main" id="{10E550AC-AC57-1A93-778D-25663AA5708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EF68D5E-1C94-9A4E-BAF7-16A66116239C}" type="slidenum">
              <a:rPr lang="it-IT" altLang="it-IT" sz="1400"/>
              <a:pPr eaLnBrk="1" hangingPunct="1">
                <a:spcBef>
                  <a:spcPct val="0"/>
                </a:spcBef>
              </a:pPr>
              <a:t>97</a:t>
            </a:fld>
            <a:endParaRPr lang="it-IT" altLang="it-IT" sz="1400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8D3D42ED-2EB2-DA97-F454-1D02639EE3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AB5DB89D-31B1-2554-CA8F-C67CA0BBE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>
            <a:extLst>
              <a:ext uri="{FF2B5EF4-FFF2-40B4-BE49-F238E27FC236}">
                <a16:creationId xmlns:a16="http://schemas.microsoft.com/office/drawing/2014/main" id="{0F40940B-C55F-A88C-E8C9-65429927E12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7E7A3F1-FAB5-DB4A-AEED-4296A7C7EC67}" type="slidenum">
              <a:rPr lang="it-IT" altLang="it-IT" sz="1400"/>
              <a:pPr eaLnBrk="1" hangingPunct="1">
                <a:spcBef>
                  <a:spcPct val="0"/>
                </a:spcBef>
              </a:pPr>
              <a:t>98</a:t>
            </a:fld>
            <a:endParaRPr lang="it-IT" altLang="it-IT" sz="1400"/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AA19E1A1-9D61-6F91-2FB3-859B25692E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D85B489-12B3-D1D8-8180-85EC82A4F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>
            <a:extLst>
              <a:ext uri="{FF2B5EF4-FFF2-40B4-BE49-F238E27FC236}">
                <a16:creationId xmlns:a16="http://schemas.microsoft.com/office/drawing/2014/main" id="{E1E55847-DC7E-F20E-D80D-0826F6C93E7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ECE8EEE5-CB0E-EE45-801C-4F54CB3E1D03}" type="slidenum">
              <a:rPr lang="it-IT" altLang="it-IT" sz="1400"/>
              <a:pPr eaLnBrk="1" hangingPunct="1">
                <a:spcBef>
                  <a:spcPct val="0"/>
                </a:spcBef>
              </a:pPr>
              <a:t>99</a:t>
            </a:fld>
            <a:endParaRPr lang="it-IT" altLang="it-IT" sz="1400"/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AEE36C36-B7B5-B210-0189-D9BEB26213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A343FC44-4407-632A-135C-FE43298192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>
            <a:extLst>
              <a:ext uri="{FF2B5EF4-FFF2-40B4-BE49-F238E27FC236}">
                <a16:creationId xmlns:a16="http://schemas.microsoft.com/office/drawing/2014/main" id="{696367F0-7388-EE49-B07C-28AD1A6FB31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C63AB58C-15D7-1347-92AF-4CBA22F6B021}" type="slidenum">
              <a:rPr lang="it-IT" altLang="it-IT" sz="1400"/>
              <a:pPr eaLnBrk="1" hangingPunct="1">
                <a:spcBef>
                  <a:spcPct val="0"/>
                </a:spcBef>
              </a:pPr>
              <a:t>102</a:t>
            </a:fld>
            <a:endParaRPr lang="it-IT" altLang="it-IT" sz="1400"/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43276A0E-8505-7AB0-1B1E-B920D6239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7A6286DB-BA52-880A-287D-B6D9D141E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>
            <a:extLst>
              <a:ext uri="{FF2B5EF4-FFF2-40B4-BE49-F238E27FC236}">
                <a16:creationId xmlns:a16="http://schemas.microsoft.com/office/drawing/2014/main" id="{1B41AE5E-F7CE-3BD2-4DAA-85BCA37CCBD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DC64FBC7-2877-EB41-A6CC-F9C74E30A356}" type="slidenum">
              <a:rPr lang="it-IT" altLang="it-IT" sz="1400"/>
              <a:pPr eaLnBrk="1" hangingPunct="1">
                <a:spcBef>
                  <a:spcPct val="0"/>
                </a:spcBef>
              </a:pPr>
              <a:t>103</a:t>
            </a:fld>
            <a:endParaRPr lang="it-IT" altLang="it-IT" sz="1400"/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BA9EC2E9-E175-6874-9686-0232DB13ED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6855B9B2-93B6-0F74-4725-CCDE97D3E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>
            <a:extLst>
              <a:ext uri="{FF2B5EF4-FFF2-40B4-BE49-F238E27FC236}">
                <a16:creationId xmlns:a16="http://schemas.microsoft.com/office/drawing/2014/main" id="{A6555DD3-901D-C9AB-FA98-2D9339FB0118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6F379F2D-DCBB-3C4D-954E-86D75C6A4E19}" type="slidenum">
              <a:rPr lang="it-IT" altLang="it-IT" sz="1400"/>
              <a:pPr eaLnBrk="1" hangingPunct="1">
                <a:spcBef>
                  <a:spcPct val="0"/>
                </a:spcBef>
              </a:pPr>
              <a:t>104</a:t>
            </a:fld>
            <a:endParaRPr lang="it-IT" altLang="it-IT" sz="1400"/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5100E4E4-7BFA-C992-FC1E-2DE5C38998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EDA770B6-EE26-272C-5E5A-270193C59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7">
            <a:extLst>
              <a:ext uri="{FF2B5EF4-FFF2-40B4-BE49-F238E27FC236}">
                <a16:creationId xmlns:a16="http://schemas.microsoft.com/office/drawing/2014/main" id="{C71B0B19-91B1-3D07-43EA-6B8CD040B2D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55DF941C-84B0-BF41-A335-95B26E65B436}" type="slidenum">
              <a:rPr lang="it-IT" altLang="it-IT" sz="1400"/>
              <a:pPr eaLnBrk="1" hangingPunct="1">
                <a:spcBef>
                  <a:spcPct val="0"/>
                </a:spcBef>
              </a:pPr>
              <a:t>105</a:t>
            </a:fld>
            <a:endParaRPr lang="it-IT" altLang="it-IT" sz="1400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E115237B-B0FA-781D-BCEE-935166FAC3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FAA16E6C-66AB-49C3-06D2-C3655B3E72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7">
            <a:extLst>
              <a:ext uri="{FF2B5EF4-FFF2-40B4-BE49-F238E27FC236}">
                <a16:creationId xmlns:a16="http://schemas.microsoft.com/office/drawing/2014/main" id="{C597B921-C2F1-A4F2-DB4F-BDFD28950864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AD149502-5C2B-E44A-B7C9-77C4EADD5D7B}" type="slidenum">
              <a:rPr lang="it-IT" altLang="it-IT" sz="1400"/>
              <a:pPr eaLnBrk="1" hangingPunct="1">
                <a:spcBef>
                  <a:spcPct val="0"/>
                </a:spcBef>
              </a:pPr>
              <a:t>106</a:t>
            </a:fld>
            <a:endParaRPr lang="it-IT" altLang="it-IT" sz="1400"/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FFCB8AFF-8805-7DC5-9A99-3D0924E244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83A60FD8-5EBF-9FA0-4A3A-FF64AA679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>
            <a:extLst>
              <a:ext uri="{FF2B5EF4-FFF2-40B4-BE49-F238E27FC236}">
                <a16:creationId xmlns:a16="http://schemas.microsoft.com/office/drawing/2014/main" id="{E9145EF7-7540-8F99-78AD-EEAA8430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0475" y="720725"/>
            <a:ext cx="4799013" cy="3598863"/>
          </a:xfrm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AB603E1-2241-1251-60A0-48CD895FD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</p:spPr>
        <p:txBody>
          <a:bodyPr lIns="95034" tIns="47516" rIns="95034" bIns="47516"/>
          <a:lstStyle/>
          <a:p>
            <a:pPr>
              <a:defRPr/>
            </a:pPr>
            <a:endParaRPr lang="it-IT">
              <a:latin typeface="Arial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7">
            <a:extLst>
              <a:ext uri="{FF2B5EF4-FFF2-40B4-BE49-F238E27FC236}">
                <a16:creationId xmlns:a16="http://schemas.microsoft.com/office/drawing/2014/main" id="{9CF64203-ADAC-90AE-A232-806135BEC64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A100C160-1455-4A4D-B58D-E5B4D2187E2E}" type="slidenum">
              <a:rPr lang="it-IT" altLang="it-IT" sz="1400"/>
              <a:pPr eaLnBrk="1" hangingPunct="1">
                <a:spcBef>
                  <a:spcPct val="0"/>
                </a:spcBef>
              </a:pPr>
              <a:t>108</a:t>
            </a:fld>
            <a:endParaRPr lang="it-IT" altLang="it-IT" sz="1400"/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3256AA5D-59EC-3077-F606-D2BC4EBA58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AA2A75F0-D865-0894-3072-09C32CC51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7">
            <a:extLst>
              <a:ext uri="{FF2B5EF4-FFF2-40B4-BE49-F238E27FC236}">
                <a16:creationId xmlns:a16="http://schemas.microsoft.com/office/drawing/2014/main" id="{212D52D2-C56F-FB59-BE36-36E37CE8A19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B27990E0-73C8-0B41-BB57-CE631E28501A}" type="slidenum">
              <a:rPr lang="it-IT" altLang="it-IT" sz="1400"/>
              <a:pPr eaLnBrk="1" hangingPunct="1">
                <a:spcBef>
                  <a:spcPct val="0"/>
                </a:spcBef>
              </a:pPr>
              <a:t>110</a:t>
            </a:fld>
            <a:endParaRPr lang="it-IT" altLang="it-IT" sz="1400"/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F39EE841-92D2-459E-5707-9BD1555C74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25948DE0-B732-9BE8-062C-58CCD3AA7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7">
            <a:extLst>
              <a:ext uri="{FF2B5EF4-FFF2-40B4-BE49-F238E27FC236}">
                <a16:creationId xmlns:a16="http://schemas.microsoft.com/office/drawing/2014/main" id="{D2085111-AB57-15C6-32E0-422C6B9BB0D6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2B296091-FEA6-9C41-9679-EA7558A98A21}" type="slidenum">
              <a:rPr lang="it-IT" altLang="it-IT" sz="1400"/>
              <a:pPr eaLnBrk="1" hangingPunct="1">
                <a:spcBef>
                  <a:spcPct val="0"/>
                </a:spcBef>
              </a:pPr>
              <a:t>111</a:t>
            </a:fld>
            <a:endParaRPr lang="it-IT" altLang="it-IT" sz="1400"/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C2E70BE2-7675-7BE3-6F1B-445EECC602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A55BE412-B940-C5B2-808C-F8D63909A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7">
            <a:extLst>
              <a:ext uri="{FF2B5EF4-FFF2-40B4-BE49-F238E27FC236}">
                <a16:creationId xmlns:a16="http://schemas.microsoft.com/office/drawing/2014/main" id="{6B7199CC-6DA5-7F5E-FBE7-527181CCF0A7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0A95246A-C64C-A046-9E60-37252AF0E5FA}" type="slidenum">
              <a:rPr lang="it-IT" altLang="it-IT" sz="1400"/>
              <a:pPr eaLnBrk="1" hangingPunct="1">
                <a:spcBef>
                  <a:spcPct val="0"/>
                </a:spcBef>
              </a:pPr>
              <a:t>112</a:t>
            </a:fld>
            <a:endParaRPr lang="it-IT" altLang="it-IT" sz="1400"/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DCF174A4-9614-A337-ED73-F6CEF1897C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DB174892-48A4-C8C0-3B20-627D73CE17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7">
            <a:extLst>
              <a:ext uri="{FF2B5EF4-FFF2-40B4-BE49-F238E27FC236}">
                <a16:creationId xmlns:a16="http://schemas.microsoft.com/office/drawing/2014/main" id="{B9B135B2-ED73-303D-3ABB-57CEFD5BBCA3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A5BA0C29-6DDF-514A-87C8-4889D611E415}" type="slidenum">
              <a:rPr lang="it-IT" altLang="it-IT" sz="1400"/>
              <a:pPr eaLnBrk="1" hangingPunct="1">
                <a:spcBef>
                  <a:spcPct val="0"/>
                </a:spcBef>
              </a:pPr>
              <a:t>113</a:t>
            </a:fld>
            <a:endParaRPr lang="it-IT" altLang="it-IT" sz="140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B59C55CE-29EA-2625-A379-10F540FD75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D132BAB2-9532-31A1-86E1-72AA0034E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7">
            <a:extLst>
              <a:ext uri="{FF2B5EF4-FFF2-40B4-BE49-F238E27FC236}">
                <a16:creationId xmlns:a16="http://schemas.microsoft.com/office/drawing/2014/main" id="{D6DDA2DE-C82E-518C-AB3C-B5D0557B9E5E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D5C3F920-F965-8C4E-B77A-317CC8B3BE67}" type="slidenum">
              <a:rPr lang="it-IT" altLang="it-IT" sz="1400"/>
              <a:pPr eaLnBrk="1" hangingPunct="1">
                <a:spcBef>
                  <a:spcPct val="0"/>
                </a:spcBef>
              </a:pPr>
              <a:t>114</a:t>
            </a:fld>
            <a:endParaRPr lang="it-IT" altLang="it-IT" sz="14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26C683C5-BA8E-9822-F327-0D5C2F7F7C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168C017D-862B-56C3-0874-456720544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Rectangle 7">
            <a:extLst>
              <a:ext uri="{FF2B5EF4-FFF2-40B4-BE49-F238E27FC236}">
                <a16:creationId xmlns:a16="http://schemas.microsoft.com/office/drawing/2014/main" id="{CD827998-7AAA-E429-DF04-AE4DF7458F0C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06E482D-99FC-A84A-A2A4-F610D7E733FF}" type="slidenum">
              <a:rPr lang="it-IT" altLang="it-IT" sz="1400"/>
              <a:pPr eaLnBrk="1" hangingPunct="1">
                <a:spcBef>
                  <a:spcPct val="0"/>
                </a:spcBef>
              </a:pPr>
              <a:t>116</a:t>
            </a:fld>
            <a:endParaRPr lang="it-IT" altLang="it-IT" sz="1400"/>
          </a:p>
        </p:txBody>
      </p:sp>
      <p:sp>
        <p:nvSpPr>
          <p:cNvPr id="159746" name="Rectangle 2">
            <a:extLst>
              <a:ext uri="{FF2B5EF4-FFF2-40B4-BE49-F238E27FC236}">
                <a16:creationId xmlns:a16="http://schemas.microsoft.com/office/drawing/2014/main" id="{9B413703-D101-3564-6DFC-E7DB5C987C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34962902-9096-14D0-D519-0F7B287E7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7">
            <a:extLst>
              <a:ext uri="{FF2B5EF4-FFF2-40B4-BE49-F238E27FC236}">
                <a16:creationId xmlns:a16="http://schemas.microsoft.com/office/drawing/2014/main" id="{350074B3-47AE-0E3B-FB60-94500F09717A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5EB32A79-941D-EC47-B775-5B03AB24C677}" type="slidenum">
              <a:rPr lang="it-IT" altLang="it-IT" sz="1400"/>
              <a:pPr eaLnBrk="1" hangingPunct="1">
                <a:spcBef>
                  <a:spcPct val="0"/>
                </a:spcBef>
              </a:pPr>
              <a:t>117</a:t>
            </a:fld>
            <a:endParaRPr lang="it-IT" altLang="it-IT" sz="1400"/>
          </a:p>
        </p:txBody>
      </p:sp>
      <p:sp>
        <p:nvSpPr>
          <p:cNvPr id="161794" name="Rectangle 2">
            <a:extLst>
              <a:ext uri="{FF2B5EF4-FFF2-40B4-BE49-F238E27FC236}">
                <a16:creationId xmlns:a16="http://schemas.microsoft.com/office/drawing/2014/main" id="{6A68C4C5-4C5C-EDE1-4C02-94DE6D756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C38507F1-9A7B-D0CA-CCE7-7C0AA6D1D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7">
            <a:extLst>
              <a:ext uri="{FF2B5EF4-FFF2-40B4-BE49-F238E27FC236}">
                <a16:creationId xmlns:a16="http://schemas.microsoft.com/office/drawing/2014/main" id="{E75F9AAC-26C7-F740-D6CC-4D2F8F86EB6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323" tIns="48161" rIns="96323" bIns="4816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95B52D4D-6F5C-7641-B750-9C952DB0E8A4}" type="slidenum">
              <a:rPr lang="it-IT" altLang="it-IT" sz="1400"/>
              <a:pPr eaLnBrk="1" hangingPunct="1">
                <a:spcBef>
                  <a:spcPct val="0"/>
                </a:spcBef>
              </a:pPr>
              <a:t>118</a:t>
            </a:fld>
            <a:endParaRPr lang="it-IT" altLang="it-IT" sz="1400"/>
          </a:p>
        </p:txBody>
      </p:sp>
      <p:sp>
        <p:nvSpPr>
          <p:cNvPr id="163842" name="Rectangle 2">
            <a:extLst>
              <a:ext uri="{FF2B5EF4-FFF2-40B4-BE49-F238E27FC236}">
                <a16:creationId xmlns:a16="http://schemas.microsoft.com/office/drawing/2014/main" id="{FE6EA846-39A0-0818-930A-066FFB5CE0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23988" y="842963"/>
            <a:ext cx="4473575" cy="3355975"/>
          </a:xfrm>
          <a:ln/>
        </p:spPr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75223EB3-BBDA-D136-4110-25836D250E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2475"/>
            <a:ext cx="5362575" cy="431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0404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58309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23049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20218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138851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141964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280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6336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90745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11073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66121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44990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it-IT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2BEB88EE-B6BA-6B70-C368-DC2B40E206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019800"/>
            <a:ext cx="3352800" cy="457200"/>
          </a:xfrm>
          <a:prstGeom prst="rect">
            <a:avLst/>
          </a:prstGeom>
        </p:spPr>
        <p:txBody>
          <a:bodyPr/>
          <a:lstStyle>
            <a:lvl1pPr eaLnBrk="1" hangingPunct="1">
              <a:defRPr b="0">
                <a:latin typeface="+mn-lt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9D099ED6-D0EB-0B74-395E-DE47021803C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629400" y="60198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67ED0F2-466F-D645-BEDF-B76733F00800}" type="slidenum">
              <a:rPr lang="it-IT" altLang="it-IT"/>
              <a:pPr>
                <a:defRPr/>
              </a:pPr>
              <a:t>‹N›</a:t>
            </a:fld>
            <a:r>
              <a:rPr lang="it-IT" altLang="it-IT"/>
              <a:t>ADEC/TDM</a:t>
            </a:r>
          </a:p>
        </p:txBody>
      </p:sp>
    </p:spTree>
    <p:extLst>
      <p:ext uri="{BB962C8B-B14F-4D97-AF65-F5344CB8AC3E}">
        <p14:creationId xmlns:p14="http://schemas.microsoft.com/office/powerpoint/2010/main" val="76410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9">
            <a:extLst>
              <a:ext uri="{FF2B5EF4-FFF2-40B4-BE49-F238E27FC236}">
                <a16:creationId xmlns:a16="http://schemas.microsoft.com/office/drawing/2014/main" id="{B4A85D77-FAE8-4127-050A-212C1B8BF82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4175" y="6334125"/>
            <a:ext cx="8424863" cy="493713"/>
            <a:chOff x="261" y="3408"/>
            <a:chExt cx="5307" cy="311"/>
          </a:xfrm>
        </p:grpSpPr>
        <p:sp>
          <p:nvSpPr>
            <p:cNvPr id="1033" name="Rectangle 20">
              <a:extLst>
                <a:ext uri="{FF2B5EF4-FFF2-40B4-BE49-F238E27FC236}">
                  <a16:creationId xmlns:a16="http://schemas.microsoft.com/office/drawing/2014/main" id="{94569BD0-410B-EE0C-1201-ED4977F0D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3408"/>
              <a:ext cx="5280" cy="1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it-IT" altLang="it-IT">
                <a:cs typeface="Arial" panose="020B0604020202020204" pitchFamily="34" charset="0"/>
              </a:endParaRPr>
            </a:p>
          </p:txBody>
        </p:sp>
        <p:sp>
          <p:nvSpPr>
            <p:cNvPr id="1034" name="Rectangle 21">
              <a:extLst>
                <a:ext uri="{FF2B5EF4-FFF2-40B4-BE49-F238E27FC236}">
                  <a16:creationId xmlns:a16="http://schemas.microsoft.com/office/drawing/2014/main" id="{C1742618-8FB4-0767-6484-21CE9E8FC23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61" y="3576"/>
              <a:ext cx="5269" cy="14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b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2000"/>
                </a:lnSpc>
                <a:defRPr/>
              </a:pPr>
              <a:r>
                <a:rPr lang="en-US" altLang="it-IT" sz="1200" b="0">
                  <a:cs typeface="Arial" panose="020B0604020202020204" pitchFamily="34" charset="0"/>
                </a:rPr>
                <a:t>			</a:t>
              </a:r>
            </a:p>
          </p:txBody>
        </p:sp>
      </p:grpSp>
      <p:sp>
        <p:nvSpPr>
          <p:cNvPr id="1027" name="Rectangle 2">
            <a:extLst>
              <a:ext uri="{FF2B5EF4-FFF2-40B4-BE49-F238E27FC236}">
                <a16:creationId xmlns:a16="http://schemas.microsoft.com/office/drawing/2014/main" id="{3269B5D5-B3CC-B40D-A077-4DB18BD5A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title style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534FA0D4-A9B9-20F4-A770-900FFC1B3F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 Third Level</a:t>
            </a:r>
          </a:p>
        </p:txBody>
      </p:sp>
      <p:grpSp>
        <p:nvGrpSpPr>
          <p:cNvPr id="1029" name="Group 16">
            <a:extLst>
              <a:ext uri="{FF2B5EF4-FFF2-40B4-BE49-F238E27FC236}">
                <a16:creationId xmlns:a16="http://schemas.microsoft.com/office/drawing/2014/main" id="{80243234-E78E-CD0B-9D7D-9C9DB071BA16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1" name="Rectangle 17">
              <a:extLst>
                <a:ext uri="{FF2B5EF4-FFF2-40B4-BE49-F238E27FC236}">
                  <a16:creationId xmlns:a16="http://schemas.microsoft.com/office/drawing/2014/main" id="{5AF2EA81-2ECE-3FB5-6D50-E6D32ED61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it-IT" altLang="it-IT">
                <a:cs typeface="Arial" panose="020B0604020202020204" pitchFamily="34" charset="0"/>
              </a:endParaRPr>
            </a:p>
          </p:txBody>
        </p:sp>
        <p:sp>
          <p:nvSpPr>
            <p:cNvPr id="1032" name="Rectangle 18">
              <a:extLst>
                <a:ext uri="{FF2B5EF4-FFF2-40B4-BE49-F238E27FC236}">
                  <a16:creationId xmlns:a16="http://schemas.microsoft.com/office/drawing/2014/main" id="{03698464-D943-8A35-B47D-32F8447A9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endParaRPr lang="it-IT" altLang="it-IT">
                <a:cs typeface="Arial" panose="020B0604020202020204" pitchFamily="34" charset="0"/>
              </a:endParaRPr>
            </a:p>
          </p:txBody>
        </p:sp>
      </p:grpSp>
      <p:sp>
        <p:nvSpPr>
          <p:cNvPr id="1030" name="CasellaDiTesto 10">
            <a:extLst>
              <a:ext uri="{FF2B5EF4-FFF2-40B4-BE49-F238E27FC236}">
                <a16:creationId xmlns:a16="http://schemas.microsoft.com/office/drawing/2014/main" id="{EFE7BA72-8B45-D49C-25D5-4CC248A172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400" y="6342063"/>
            <a:ext cx="8001000" cy="260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it-IT" sz="1100" b="0" dirty="0">
                <a:cs typeface="Arial" panose="020B0604020202020204" pitchFamily="34" charset="0"/>
              </a:rPr>
              <a:t>Introduction to ML– Data Preparation &amp; Exploration</a:t>
            </a:r>
            <a:endParaRPr lang="it-IT" altLang="it-IT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</p:sldLayoutIdLst>
  <p:hf sldNum="0" hdr="0" dt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2" charset="2"/>
        <a:buChar char="l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8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l.nist.gov/div898/handbook/index.htm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s.uci.edu/~mlearn/MLRepository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7" Type="http://schemas.openxmlformats.org/officeDocument/2006/relationships/image" Target="../media/image74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emf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8.e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e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0.emf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81.e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88.emf"/><Relationship Id="rId7" Type="http://schemas.openxmlformats.org/officeDocument/2006/relationships/image" Target="../media/image90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92.emf"/><Relationship Id="rId5" Type="http://schemas.openxmlformats.org/officeDocument/2006/relationships/image" Target="../media/image89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91.e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em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94.emf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7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9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olo 1">
            <a:extLst>
              <a:ext uri="{FF2B5EF4-FFF2-40B4-BE49-F238E27FC236}">
                <a16:creationId xmlns:a16="http://schemas.microsoft.com/office/drawing/2014/main" id="{7367B15F-B288-983B-A6E9-95A19E8A955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95300" y="2489200"/>
            <a:ext cx="8020050" cy="1697038"/>
          </a:xfrm>
        </p:spPr>
        <p:txBody>
          <a:bodyPr/>
          <a:lstStyle/>
          <a:p>
            <a:r>
              <a:rPr lang="en-US" altLang="it-IT">
                <a:solidFill>
                  <a:srgbClr val="009193"/>
                </a:solidFill>
                <a:ea typeface="ＭＳ Ｐゴシック" panose="020B0600070205080204" pitchFamily="34" charset="-128"/>
              </a:rPr>
              <a:t>Introduction to M</a:t>
            </a:r>
            <a:r>
              <a:rPr lang="en-US" altLang="it-IT">
                <a:ea typeface="ＭＳ Ｐゴシック" panose="020B0600070205080204" pitchFamily="34" charset="-128"/>
              </a:rPr>
              <a:t>ACHINE </a:t>
            </a:r>
            <a:r>
              <a:rPr lang="en-US" altLang="it-IT">
                <a:solidFill>
                  <a:srgbClr val="009193"/>
                </a:solidFill>
                <a:ea typeface="ＭＳ Ｐゴシック" panose="020B0600070205080204" pitchFamily="34" charset="-128"/>
              </a:rPr>
              <a:t>L</a:t>
            </a:r>
            <a:r>
              <a:rPr lang="en-US" altLang="it-IT">
                <a:ea typeface="ＭＳ Ｐゴシック" panose="020B0600070205080204" pitchFamily="34" charset="-128"/>
              </a:rPr>
              <a:t>EARNING: module 1 The basics of data Science.</a:t>
            </a:r>
            <a:br>
              <a:rPr lang="en-US" altLang="it-IT" sz="5400">
                <a:ea typeface="ＭＳ Ｐゴシック" panose="020B0600070205080204" pitchFamily="34" charset="-128"/>
              </a:rPr>
            </a:br>
            <a:endParaRPr lang="en-US" altLang="it-IT" sz="2100">
              <a:ea typeface="ＭＳ Ｐゴシック" panose="020B0600070205080204" pitchFamily="34" charset="-128"/>
            </a:endParaRP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D9829F16-D4A1-94F5-75C4-4834D8014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5300" y="4402138"/>
            <a:ext cx="6858000" cy="1293812"/>
          </a:xfrm>
        </p:spPr>
        <p:txBody>
          <a:bodyPr>
            <a:normAutofit fontScale="77500" lnSpcReduction="20000"/>
          </a:bodyPr>
          <a:lstStyle/>
          <a:p>
            <a:pPr algn="l">
              <a:spcBef>
                <a:spcPts val="0"/>
              </a:spcBef>
              <a:defRPr/>
            </a:pPr>
            <a:r>
              <a:rPr lang="en-IE" dirty="0" err="1"/>
              <a:t>Fosca</a:t>
            </a:r>
            <a:r>
              <a:rPr lang="en-IE" dirty="0"/>
              <a:t> Giannotti</a:t>
            </a:r>
          </a:p>
          <a:p>
            <a:pPr algn="l">
              <a:spcBef>
                <a:spcPts val="0"/>
              </a:spcBef>
              <a:defRPr/>
            </a:pPr>
            <a:endParaRPr lang="en-IE" dirty="0"/>
          </a:p>
          <a:p>
            <a:pPr algn="l">
              <a:spcBef>
                <a:spcPts val="0"/>
              </a:spcBef>
              <a:defRPr/>
            </a:pPr>
            <a:r>
              <a:rPr lang="en-IE" sz="1500" dirty="0"/>
              <a:t>Revisited slides from Lecture Notes for Chapter 2 “Introduction to Data Mining”, 2nd Edition by Tan, Steinbach, </a:t>
            </a:r>
            <a:r>
              <a:rPr lang="en-IE" sz="1500" dirty="0" err="1"/>
              <a:t>Karpatne</a:t>
            </a:r>
            <a:r>
              <a:rPr lang="en-IE" sz="1500" dirty="0"/>
              <a:t>, Kumar, with insertion from other recommended references- </a:t>
            </a:r>
          </a:p>
          <a:p>
            <a:pPr algn="l">
              <a:spcBef>
                <a:spcPts val="0"/>
              </a:spcBef>
              <a:defRPr/>
            </a:pPr>
            <a:r>
              <a:rPr lang="en-IE" sz="1500" dirty="0"/>
              <a:t>Slides used within the 2021 edition of course DM&amp;ML master Big Data Analytics, University of Pisa</a:t>
            </a:r>
          </a:p>
          <a:p>
            <a:pPr algn="l">
              <a:spcBef>
                <a:spcPts val="0"/>
              </a:spcBef>
              <a:defRPr/>
            </a:pPr>
            <a:endParaRPr lang="en-IE" sz="1500" dirty="0"/>
          </a:p>
          <a:p>
            <a:pPr algn="l">
              <a:spcBef>
                <a:spcPts val="0"/>
              </a:spcBef>
              <a:defRPr/>
            </a:pPr>
            <a:endParaRPr lang="en-IE" dirty="0" err="1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6C44A19E-C28D-4594-917F-4BC9A2CA0F09}"/>
              </a:ext>
            </a:extLst>
          </p:cNvPr>
          <p:cNvCxnSpPr/>
          <p:nvPr/>
        </p:nvCxnSpPr>
        <p:spPr>
          <a:xfrm>
            <a:off x="0" y="4283075"/>
            <a:ext cx="851535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0930" name="Picture 2" descr="Home">
            <a:extLst>
              <a:ext uri="{FF2B5EF4-FFF2-40B4-BE49-F238E27FC236}">
                <a16:creationId xmlns:a16="http://schemas.microsoft.com/office/drawing/2014/main" id="{8D22F19B-1B72-0938-013E-282B28A1B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7280935" y="4908886"/>
            <a:ext cx="1691615" cy="99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D4248A7-2A20-1461-B918-E7AF6D02A3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lnSpc>
                <a:spcPct val="100000"/>
              </a:lnSpc>
              <a:defRPr/>
            </a:pPr>
            <a:r>
              <a:rPr lang="it-IT" sz="6000" dirty="0">
                <a:cs typeface="+mj-cs"/>
              </a:rPr>
              <a:t>Data </a:t>
            </a:r>
            <a:r>
              <a:rPr lang="it-IT" sz="6000" dirty="0" err="1">
                <a:cs typeface="+mj-cs"/>
              </a:rPr>
              <a:t>Preparation</a:t>
            </a:r>
            <a:r>
              <a:rPr lang="it-IT" sz="6000" dirty="0">
                <a:cs typeface="+mj-cs"/>
              </a:rPr>
              <a:t> &amp; Exploration</a:t>
            </a:r>
          </a:p>
        </p:txBody>
      </p:sp>
      <p:sp>
        <p:nvSpPr>
          <p:cNvPr id="12290" name="Sottotitolo 2">
            <a:extLst>
              <a:ext uri="{FF2B5EF4-FFF2-40B4-BE49-F238E27FC236}">
                <a16:creationId xmlns:a16="http://schemas.microsoft.com/office/drawing/2014/main" id="{01F07F42-E8F3-4B01-54B3-DBEE03131F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0F5BD-D2D3-7545-9602-042BCD7F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To Know Your Data</a:t>
            </a:r>
            <a:r>
              <a:rPr lang="en-IT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8F3-D4DE-C143-8A98-08A63BA3E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For preparing data for data mining task it is essential to have an overall picture of your data</a:t>
            </a:r>
          </a:p>
          <a:p>
            <a:endParaRPr lang="en-GB" dirty="0"/>
          </a:p>
          <a:p>
            <a:r>
              <a:rPr lang="en-GB" dirty="0"/>
              <a:t>Gain insight in your data </a:t>
            </a:r>
          </a:p>
          <a:p>
            <a:pPr lvl="1"/>
            <a:r>
              <a:rPr lang="en-GB" dirty="0"/>
              <a:t>with respect to your project goals </a:t>
            </a:r>
          </a:p>
          <a:p>
            <a:pPr lvl="1"/>
            <a:r>
              <a:rPr lang="en-GB" dirty="0"/>
              <a:t>and general to understand properties</a:t>
            </a:r>
          </a:p>
          <a:p>
            <a:pPr lvl="1"/>
            <a:endParaRPr lang="en-GB" dirty="0"/>
          </a:p>
          <a:p>
            <a:r>
              <a:rPr lang="en-GB" dirty="0"/>
              <a:t>Find answers to the questions </a:t>
            </a:r>
          </a:p>
          <a:p>
            <a:pPr lvl="1"/>
            <a:r>
              <a:rPr lang="en-GB" dirty="0"/>
              <a:t>What kind of attributes do we have? </a:t>
            </a:r>
          </a:p>
          <a:p>
            <a:pPr lvl="1"/>
            <a:r>
              <a:rPr lang="en-GB" dirty="0"/>
              <a:t>How is the data quality? </a:t>
            </a:r>
          </a:p>
          <a:p>
            <a:pPr lvl="1"/>
            <a:r>
              <a:rPr lang="en-GB" dirty="0"/>
              <a:t>Does a visualization helps? </a:t>
            </a:r>
          </a:p>
          <a:p>
            <a:pPr lvl="1"/>
            <a:r>
              <a:rPr lang="en-GB" dirty="0"/>
              <a:t>Are attributes correlated? </a:t>
            </a:r>
          </a:p>
          <a:p>
            <a:pPr lvl="1"/>
            <a:r>
              <a:rPr lang="en-GB" dirty="0"/>
              <a:t>What about outliers? </a:t>
            </a:r>
          </a:p>
          <a:p>
            <a:pPr lvl="1"/>
            <a:r>
              <a:rPr lang="en-GB" dirty="0"/>
              <a:t>How are missing values handled? </a:t>
            </a:r>
          </a:p>
          <a:p>
            <a:pPr lvl="1"/>
            <a:r>
              <a:rPr lang="en-GB" dirty="0"/>
              <a:t>Do we need to extract other attributes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24770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F9CE7A4F-5E80-279B-CEDA-B2CEEC86C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it-IT" sz="6600" dirty="0">
                <a:cs typeface="+mj-cs"/>
              </a:rPr>
              <a:t>Data</a:t>
            </a: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F178CDB1-4CD4-9D76-3AD9-59EAE252A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Monotype Sorts" charset="0"/>
              <a:buNone/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>
            <a:extLst>
              <a:ext uri="{FF2B5EF4-FFF2-40B4-BE49-F238E27FC236}">
                <a16:creationId xmlns:a16="http://schemas.microsoft.com/office/drawing/2014/main" id="{0654A3FD-2D3F-70C1-9BFC-30B8AFCCA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What is Data?</a:t>
            </a:r>
          </a:p>
        </p:txBody>
      </p:sp>
      <p:sp>
        <p:nvSpPr>
          <p:cNvPr id="3075" name="Rectangle 9">
            <a:extLst>
              <a:ext uri="{FF2B5EF4-FFF2-40B4-BE49-F238E27FC236}">
                <a16:creationId xmlns:a16="http://schemas.microsoft.com/office/drawing/2014/main" id="{D2384550-4373-9C68-4C83-1388B6C58DC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000" dirty="0">
                <a:cs typeface="+mn-cs"/>
              </a:rPr>
              <a:t>Collection of </a:t>
            </a:r>
            <a:r>
              <a:rPr lang="en-US" sz="2000" dirty="0">
                <a:solidFill>
                  <a:srgbClr val="FF0000"/>
                </a:solidFill>
                <a:cs typeface="+mn-cs"/>
              </a:rPr>
              <a:t>data objects </a:t>
            </a:r>
            <a:r>
              <a:rPr lang="en-US" sz="2000" dirty="0">
                <a:cs typeface="+mn-cs"/>
              </a:rPr>
              <a:t>and their </a:t>
            </a:r>
            <a:r>
              <a:rPr lang="en-US" sz="2000" dirty="0">
                <a:solidFill>
                  <a:srgbClr val="FF0000"/>
                </a:solidFill>
                <a:cs typeface="+mn-cs"/>
              </a:rPr>
              <a:t>attributes</a:t>
            </a:r>
          </a:p>
          <a:p>
            <a:pPr lvl="4">
              <a:defRPr/>
            </a:pPr>
            <a:endParaRPr lang="en-US" sz="1600" dirty="0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000" dirty="0">
                <a:cs typeface="+mn-cs"/>
              </a:rPr>
              <a:t>An attribute is a property or characteristic of an object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Examples: eye color of a person, temperature, etc.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Attribute is also known as </a:t>
            </a:r>
            <a:r>
              <a:rPr lang="en-US" sz="1800" b="1" dirty="0"/>
              <a:t>variable, field, characteristic, or feature</a:t>
            </a:r>
          </a:p>
          <a:p>
            <a:pPr>
              <a:buFont typeface="Monotype Sorts" charset="0"/>
              <a:buChar char="l"/>
              <a:defRPr/>
            </a:pPr>
            <a:r>
              <a:rPr lang="en-US" sz="2000" dirty="0">
                <a:cs typeface="+mn-cs"/>
              </a:rPr>
              <a:t>A collection of attributes describe an object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1800" dirty="0"/>
              <a:t>Object is also known as </a:t>
            </a:r>
            <a:r>
              <a:rPr lang="en-US" sz="1800" b="1" dirty="0"/>
              <a:t>record, point, case, sample, entity, or instance</a:t>
            </a:r>
          </a:p>
          <a:p>
            <a:pPr lvl="4">
              <a:defRPr/>
            </a:pPr>
            <a:endParaRPr lang="en-US" sz="1600" dirty="0">
              <a:latin typeface="Times New Roman" charset="0"/>
            </a:endParaRPr>
          </a:p>
        </p:txBody>
      </p:sp>
      <p:grpSp>
        <p:nvGrpSpPr>
          <p:cNvPr id="15363" name="Group 16">
            <a:extLst>
              <a:ext uri="{FF2B5EF4-FFF2-40B4-BE49-F238E27FC236}">
                <a16:creationId xmlns:a16="http://schemas.microsoft.com/office/drawing/2014/main" id="{33ADB005-B27B-6E7D-108A-8A451D54EFA9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752600"/>
            <a:ext cx="3513138" cy="4191000"/>
            <a:chOff x="3403" y="1104"/>
            <a:chExt cx="2213" cy="2640"/>
          </a:xfrm>
        </p:grpSpPr>
        <p:graphicFrame>
          <p:nvGraphicFramePr>
            <p:cNvPr id="15367" name="Object 10">
              <a:extLst>
                <a:ext uri="{FF2B5EF4-FFF2-40B4-BE49-F238E27FC236}">
                  <a16:creationId xmlns:a16="http://schemas.microsoft.com/office/drawing/2014/main" id="{1B480E61-7FB6-F304-5A33-6C4561BE06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32435800" imgH="34671000" progId="Word.Document.8">
                    <p:embed/>
                  </p:oleObj>
                </mc:Choice>
                <mc:Fallback>
                  <p:oleObj name="Document" r:id="rId3" imgW="32435800" imgH="34671000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8" name="AutoShape 12">
              <a:extLst>
                <a:ext uri="{FF2B5EF4-FFF2-40B4-BE49-F238E27FC236}">
                  <a16:creationId xmlns:a16="http://schemas.microsoft.com/office/drawing/2014/main" id="{B1D8EB7A-72E2-DD0A-4719-A89F49D0D5D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</p:grpSp>
      <p:sp>
        <p:nvSpPr>
          <p:cNvPr id="15364" name="Text Box 14">
            <a:extLst>
              <a:ext uri="{FF2B5EF4-FFF2-40B4-BE49-F238E27FC236}">
                <a16:creationId xmlns:a16="http://schemas.microsoft.com/office/drawing/2014/main" id="{EA8083E6-257D-9B53-C1D3-BEA3D13C8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2192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solidFill>
                  <a:srgbClr val="FF0000"/>
                </a:solidFill>
                <a:cs typeface="Arial" panose="020B0604020202020204" pitchFamily="34" charset="0"/>
              </a:rPr>
              <a:t>Attributes</a:t>
            </a:r>
          </a:p>
        </p:txBody>
      </p:sp>
      <p:sp>
        <p:nvSpPr>
          <p:cNvPr id="15365" name="AutoShape 15">
            <a:extLst>
              <a:ext uri="{FF2B5EF4-FFF2-40B4-BE49-F238E27FC236}">
                <a16:creationId xmlns:a16="http://schemas.microsoft.com/office/drawing/2014/main" id="{CAB10916-E957-BE65-ABBB-78E60EF17F1F}"/>
              </a:ext>
            </a:extLst>
          </p:cNvPr>
          <p:cNvSpPr>
            <a:spLocks/>
          </p:cNvSpPr>
          <p:nvPr/>
        </p:nvSpPr>
        <p:spPr bwMode="auto">
          <a:xfrm>
            <a:off x="5257800" y="2667000"/>
            <a:ext cx="381000" cy="3124200"/>
          </a:xfrm>
          <a:prstGeom prst="leftBrace">
            <a:avLst>
              <a:gd name="adj1" fmla="val 68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5366" name="Text Box 17">
            <a:extLst>
              <a:ext uri="{FF2B5EF4-FFF2-40B4-BE49-F238E27FC236}">
                <a16:creationId xmlns:a16="http://schemas.microsoft.com/office/drawing/2014/main" id="{51BCFA10-7D5D-DD00-51D5-DB9E1DFC8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0386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solidFill>
                  <a:srgbClr val="FF0000"/>
                </a:solidFill>
                <a:cs typeface="Arial" panose="020B0604020202020204" pitchFamily="34" charset="0"/>
              </a:rPr>
              <a:t>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9">
            <a:extLst>
              <a:ext uri="{FF2B5EF4-FFF2-40B4-BE49-F238E27FC236}">
                <a16:creationId xmlns:a16="http://schemas.microsoft.com/office/drawing/2014/main" id="{0D03A029-5D59-0878-55F6-C84C4A5A22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Types of Attributes </a:t>
            </a:r>
          </a:p>
        </p:txBody>
      </p:sp>
      <p:sp>
        <p:nvSpPr>
          <p:cNvPr id="6147" name="Rectangle 10">
            <a:extLst>
              <a:ext uri="{FF2B5EF4-FFF2-40B4-BE49-F238E27FC236}">
                <a16:creationId xmlns:a16="http://schemas.microsoft.com/office/drawing/2014/main" id="{86CE783B-E3D4-1AF8-DE86-E15F2D7EB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 There are different types of attributes</a:t>
            </a:r>
          </a:p>
          <a:p>
            <a:pPr marL="749300" lvl="1">
              <a:buFont typeface="Arial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Nominal (Categorical)</a:t>
            </a:r>
            <a:endParaRPr lang="en-US" dirty="0"/>
          </a:p>
          <a:p>
            <a:pPr marL="1257300" lvl="2" indent="-393700">
              <a:buFont typeface="Wingdings" charset="0"/>
              <a:buChar char="u"/>
              <a:defRPr/>
            </a:pPr>
            <a:r>
              <a:rPr lang="en-US" dirty="0"/>
              <a:t>Examples: ID numbers, eye color, zip codes</a:t>
            </a:r>
          </a:p>
          <a:p>
            <a:pPr marL="749300" lvl="1">
              <a:buFont typeface="Arial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Ordinal</a:t>
            </a:r>
            <a:endParaRPr lang="en-US" dirty="0"/>
          </a:p>
          <a:p>
            <a:pPr marL="1257300" lvl="2" indent="-393700">
              <a:buFont typeface="Wingdings" charset="0"/>
              <a:buChar char="u"/>
              <a:defRPr/>
            </a:pPr>
            <a:r>
              <a:rPr lang="en-US" dirty="0"/>
              <a:t>Examples: rankings (e.g., taste of potato chips on a scale from 1-10), grades, height in {tall, medium, short}</a:t>
            </a:r>
          </a:p>
          <a:p>
            <a:pPr marL="749300" lvl="1">
              <a:buFont typeface="Arial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Interval</a:t>
            </a:r>
            <a:endParaRPr lang="en-US" dirty="0"/>
          </a:p>
          <a:p>
            <a:pPr marL="1257300" lvl="2" indent="-393700">
              <a:buFont typeface="Wingdings" charset="0"/>
              <a:buChar char="u"/>
              <a:defRPr/>
            </a:pPr>
            <a:r>
              <a:rPr lang="en-US" dirty="0"/>
              <a:t>Examples: calendar dates, temperatures in Celsius or Fahrenheit.</a:t>
            </a:r>
          </a:p>
          <a:p>
            <a:pPr marL="749300" lvl="1">
              <a:buFont typeface="Arial" charset="0"/>
              <a:buChar char="–"/>
              <a:defRPr/>
            </a:pPr>
            <a:r>
              <a:rPr lang="en-US" dirty="0">
                <a:solidFill>
                  <a:srgbClr val="FF0000"/>
                </a:solidFill>
              </a:rPr>
              <a:t>Ratio</a:t>
            </a:r>
            <a:endParaRPr lang="en-US" dirty="0"/>
          </a:p>
          <a:p>
            <a:pPr marL="1257300" lvl="2" indent="-393700">
              <a:buFont typeface="Wingdings" charset="0"/>
              <a:buChar char="u"/>
              <a:defRPr/>
            </a:pPr>
            <a:r>
              <a:rPr lang="en-US" dirty="0"/>
              <a:t>Examples: temperature in Kelvin, length, time, counts </a:t>
            </a:r>
          </a:p>
          <a:p>
            <a:pPr marL="749300" lvl="1">
              <a:buFont typeface="Arial" charset="0"/>
              <a:buChar char="–"/>
              <a:defRPr/>
            </a:pPr>
            <a:endParaRPr lang="en-US"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652A7273-E318-0482-4C42-04137173C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Properties of Attribute Values 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AE3EFAD8-CEF5-3F9F-017A-2A73A219C7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The type of an attribute depends on which of the following properties it possesses: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Distinctness:  		=  </a:t>
            </a:r>
            <a:r>
              <a:rPr lang="en-US">
                <a:sym typeface="Symbol" charset="0"/>
              </a:rPr>
              <a:t>		</a:t>
            </a:r>
            <a:endParaRPr lang="en-US"/>
          </a:p>
          <a:p>
            <a:pPr lvl="1">
              <a:buFont typeface="Arial" charset="0"/>
              <a:buChar char="–"/>
              <a:defRPr/>
            </a:pPr>
            <a:r>
              <a:rPr lang="en-US"/>
              <a:t>Order:  		&lt;  &gt;  		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Addition:  		+  - 		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Multiplication: 		* /</a:t>
            </a:r>
          </a:p>
          <a:p>
            <a:pPr lvl="4">
              <a:defRPr/>
            </a:pPr>
            <a:endParaRPr lang="en-US">
              <a:latin typeface="Times New Roman" charset="0"/>
            </a:endParaRPr>
          </a:p>
          <a:p>
            <a:pPr lvl="1">
              <a:buFont typeface="Arial" charset="0"/>
              <a:buChar char="–"/>
              <a:defRPr/>
            </a:pPr>
            <a:r>
              <a:rPr lang="en-US"/>
              <a:t>Nominal attribute: distinctness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Ordinal attribute: distinctness &amp; order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Interval attribute: distinctness, order &amp; addition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Ratio attribute: all 4 properties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Group 2">
            <a:extLst>
              <a:ext uri="{FF2B5EF4-FFF2-40B4-BE49-F238E27FC236}">
                <a16:creationId xmlns:a16="http://schemas.microsoft.com/office/drawing/2014/main" id="{CC6D8360-C97E-91DB-6433-B2D21C670997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04800"/>
            <a:ext cx="8305800" cy="6167438"/>
            <a:chOff x="-2" y="-2"/>
            <a:chExt cx="3890" cy="5274"/>
          </a:xfrm>
        </p:grpSpPr>
        <p:grpSp>
          <p:nvGrpSpPr>
            <p:cNvPr id="21506" name="Group 3">
              <a:extLst>
                <a:ext uri="{FF2B5EF4-FFF2-40B4-BE49-F238E27FC236}">
                  <a16:creationId xmlns:a16="http://schemas.microsoft.com/office/drawing/2014/main" id="{B933EC5D-E6B4-FB94-0B43-6067538EAA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886" cy="5270"/>
              <a:chOff x="0" y="0"/>
              <a:chExt cx="3886" cy="5270"/>
            </a:xfrm>
          </p:grpSpPr>
          <p:grpSp>
            <p:nvGrpSpPr>
              <p:cNvPr id="21508" name="Group 4">
                <a:extLst>
                  <a:ext uri="{FF2B5EF4-FFF2-40B4-BE49-F238E27FC236}">
                    <a16:creationId xmlns:a16="http://schemas.microsoft.com/office/drawing/2014/main" id="{7946101F-18F1-007D-109B-47825CEB9E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84" cy="596"/>
                <a:chOff x="0" y="0"/>
                <a:chExt cx="684" cy="596"/>
              </a:xfrm>
            </p:grpSpPr>
            <p:sp>
              <p:nvSpPr>
                <p:cNvPr id="21572" name="Rectangle 5">
                  <a:extLst>
                    <a:ext uri="{FF2B5EF4-FFF2-40B4-BE49-F238E27FC236}">
                      <a16:creationId xmlns:a16="http://schemas.microsoft.com/office/drawing/2014/main" id="{A3815A79-D0FA-4000-0242-4926BA59C5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-2"/>
                  <a:ext cx="684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1573" name="Group 6">
                  <a:extLst>
                    <a:ext uri="{FF2B5EF4-FFF2-40B4-BE49-F238E27FC236}">
                      <a16:creationId xmlns:a16="http://schemas.microsoft.com/office/drawing/2014/main" id="{3E729CEF-E46A-6AD2-8D4E-75A4EEDDF4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684" cy="596"/>
                  <a:chOff x="0" y="0"/>
                  <a:chExt cx="684" cy="596"/>
                </a:xfrm>
              </p:grpSpPr>
              <p:sp>
                <p:nvSpPr>
                  <p:cNvPr id="21574" name="Rectangle 7">
                    <a:extLst>
                      <a:ext uri="{FF2B5EF4-FFF2-40B4-BE49-F238E27FC236}">
                        <a16:creationId xmlns:a16="http://schemas.microsoft.com/office/drawing/2014/main" id="{06B37CCC-7391-5041-5F75-2209EFAF41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-2"/>
                    <a:ext cx="598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it-IT" sz="1600">
                        <a:latin typeface="Times New Roman" panose="02020603050405020304" pitchFamily="18" charset="0"/>
                      </a:rPr>
                      <a:t>Attribute Type</a:t>
                    </a:r>
                    <a:endParaRPr lang="en-US" altLang="it-IT" sz="1200" b="0">
                      <a:latin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it-IT" sz="2400" b="0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575" name="Rectangle 8">
                    <a:extLst>
                      <a:ext uri="{FF2B5EF4-FFF2-40B4-BE49-F238E27FC236}">
                        <a16:creationId xmlns:a16="http://schemas.microsoft.com/office/drawing/2014/main" id="{2551489C-8620-399D-FAF1-865547D4F8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-2"/>
                    <a:ext cx="684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it-IT" altLang="it-IT" sz="1400"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1509" name="Group 9">
                <a:extLst>
                  <a:ext uri="{FF2B5EF4-FFF2-40B4-BE49-F238E27FC236}">
                    <a16:creationId xmlns:a16="http://schemas.microsoft.com/office/drawing/2014/main" id="{62AE3F33-4A2A-64C1-E2E7-E46D0F5DC3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0"/>
                <a:ext cx="1403" cy="596"/>
                <a:chOff x="684" y="0"/>
                <a:chExt cx="1403" cy="596"/>
              </a:xfrm>
            </p:grpSpPr>
            <p:sp>
              <p:nvSpPr>
                <p:cNvPr id="21568" name="Rectangle 10">
                  <a:extLst>
                    <a:ext uri="{FF2B5EF4-FFF2-40B4-BE49-F238E27FC236}">
                      <a16:creationId xmlns:a16="http://schemas.microsoft.com/office/drawing/2014/main" id="{DD182B89-7A44-2902-744C-F557C3F4ED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-2"/>
                  <a:ext cx="1403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1569" name="Group 11">
                  <a:extLst>
                    <a:ext uri="{FF2B5EF4-FFF2-40B4-BE49-F238E27FC236}">
                      <a16:creationId xmlns:a16="http://schemas.microsoft.com/office/drawing/2014/main" id="{63A3120A-42CC-BA40-ECDA-160BBDD7E1D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4" y="0"/>
                  <a:ext cx="1403" cy="596"/>
                  <a:chOff x="684" y="0"/>
                  <a:chExt cx="1403" cy="596"/>
                </a:xfrm>
              </p:grpSpPr>
              <p:sp>
                <p:nvSpPr>
                  <p:cNvPr id="21570" name="Rectangle 12">
                    <a:extLst>
                      <a:ext uri="{FF2B5EF4-FFF2-40B4-BE49-F238E27FC236}">
                        <a16:creationId xmlns:a16="http://schemas.microsoft.com/office/drawing/2014/main" id="{78E78F83-4942-B823-B0D7-B3D230AE80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7" y="-2"/>
                    <a:ext cx="1317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it-IT" sz="1600">
                        <a:latin typeface="Times New Roman" panose="02020603050405020304" pitchFamily="18" charset="0"/>
                      </a:rPr>
                      <a:t>Description</a:t>
                    </a:r>
                    <a:endParaRPr lang="en-US" altLang="it-IT" sz="1200" b="0">
                      <a:latin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it-IT" sz="2400" b="0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571" name="Rectangle 13">
                    <a:extLst>
                      <a:ext uri="{FF2B5EF4-FFF2-40B4-BE49-F238E27FC236}">
                        <a16:creationId xmlns:a16="http://schemas.microsoft.com/office/drawing/2014/main" id="{1F2225F5-E349-64C6-C5B5-E8F86B4596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84" y="-2"/>
                    <a:ext cx="1403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it-IT" altLang="it-IT" sz="1400"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1510" name="Group 14">
                <a:extLst>
                  <a:ext uri="{FF2B5EF4-FFF2-40B4-BE49-F238E27FC236}">
                    <a16:creationId xmlns:a16="http://schemas.microsoft.com/office/drawing/2014/main" id="{95A21462-3BAC-9717-C15E-EC45F0F661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87" y="0"/>
                <a:ext cx="950" cy="596"/>
                <a:chOff x="2087" y="0"/>
                <a:chExt cx="950" cy="596"/>
              </a:xfrm>
            </p:grpSpPr>
            <p:sp>
              <p:nvSpPr>
                <p:cNvPr id="21564" name="Rectangle 15">
                  <a:extLst>
                    <a:ext uri="{FF2B5EF4-FFF2-40B4-BE49-F238E27FC236}">
                      <a16:creationId xmlns:a16="http://schemas.microsoft.com/office/drawing/2014/main" id="{6514C6CC-C6E5-DA51-DF0E-32C31935F8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7" y="-2"/>
                  <a:ext cx="949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1565" name="Group 16">
                  <a:extLst>
                    <a:ext uri="{FF2B5EF4-FFF2-40B4-BE49-F238E27FC236}">
                      <a16:creationId xmlns:a16="http://schemas.microsoft.com/office/drawing/2014/main" id="{1388BE76-F8CF-3326-33DC-1DD0B689E1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87" y="0"/>
                  <a:ext cx="950" cy="596"/>
                  <a:chOff x="2087" y="0"/>
                  <a:chExt cx="950" cy="596"/>
                </a:xfrm>
              </p:grpSpPr>
              <p:sp>
                <p:nvSpPr>
                  <p:cNvPr id="21566" name="Rectangle 17">
                    <a:extLst>
                      <a:ext uri="{FF2B5EF4-FFF2-40B4-BE49-F238E27FC236}">
                        <a16:creationId xmlns:a16="http://schemas.microsoft.com/office/drawing/2014/main" id="{A8BB5F4E-4B35-BE69-8279-09AD9A3C631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130" y="-2"/>
                    <a:ext cx="862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it-IT" sz="1600">
                        <a:latin typeface="Times New Roman" panose="02020603050405020304" pitchFamily="18" charset="0"/>
                      </a:rPr>
                      <a:t>Examples</a:t>
                    </a:r>
                    <a:endParaRPr lang="en-US" altLang="it-IT" sz="1200" b="0">
                      <a:latin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it-IT" sz="2400" b="0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567" name="Rectangle 18">
                    <a:extLst>
                      <a:ext uri="{FF2B5EF4-FFF2-40B4-BE49-F238E27FC236}">
                        <a16:creationId xmlns:a16="http://schemas.microsoft.com/office/drawing/2014/main" id="{883A7C8B-514E-3AF3-D877-C17F2071F5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087" y="-2"/>
                    <a:ext cx="949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it-IT" altLang="it-IT" sz="1400"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1511" name="Group 19">
                <a:extLst>
                  <a:ext uri="{FF2B5EF4-FFF2-40B4-BE49-F238E27FC236}">
                    <a16:creationId xmlns:a16="http://schemas.microsoft.com/office/drawing/2014/main" id="{E60E670A-6762-0663-49A3-A4B76B90C0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7" y="0"/>
                <a:ext cx="849" cy="596"/>
                <a:chOff x="3037" y="0"/>
                <a:chExt cx="849" cy="596"/>
              </a:xfrm>
            </p:grpSpPr>
            <p:sp>
              <p:nvSpPr>
                <p:cNvPr id="21560" name="Rectangle 20">
                  <a:extLst>
                    <a:ext uri="{FF2B5EF4-FFF2-40B4-BE49-F238E27FC236}">
                      <a16:creationId xmlns:a16="http://schemas.microsoft.com/office/drawing/2014/main" id="{E83FBBBE-A4ED-6D05-91EA-03987B2EE9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7" y="-2"/>
                  <a:ext cx="849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1561" name="Group 21">
                  <a:extLst>
                    <a:ext uri="{FF2B5EF4-FFF2-40B4-BE49-F238E27FC236}">
                      <a16:creationId xmlns:a16="http://schemas.microsoft.com/office/drawing/2014/main" id="{D709ACD1-ED8B-11D9-D878-603E3284A5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37" y="0"/>
                  <a:ext cx="849" cy="596"/>
                  <a:chOff x="3037" y="0"/>
                  <a:chExt cx="849" cy="596"/>
                </a:xfrm>
              </p:grpSpPr>
              <p:sp>
                <p:nvSpPr>
                  <p:cNvPr id="21562" name="Rectangle 22">
                    <a:extLst>
                      <a:ext uri="{FF2B5EF4-FFF2-40B4-BE49-F238E27FC236}">
                        <a16:creationId xmlns:a16="http://schemas.microsoft.com/office/drawing/2014/main" id="{0ADCA072-50C6-DD20-F9F4-8A2931AE9B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80" y="-2"/>
                    <a:ext cx="763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it-IT" sz="1600">
                        <a:latin typeface="Times New Roman" panose="02020603050405020304" pitchFamily="18" charset="0"/>
                      </a:rPr>
                      <a:t>Operations</a:t>
                    </a:r>
                    <a:endParaRPr lang="en-US" altLang="it-IT" sz="1200" b="0">
                      <a:latin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it-IT" sz="2400" b="0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1563" name="Rectangle 23">
                    <a:extLst>
                      <a:ext uri="{FF2B5EF4-FFF2-40B4-BE49-F238E27FC236}">
                        <a16:creationId xmlns:a16="http://schemas.microsoft.com/office/drawing/2014/main" id="{1272DF26-C83F-A1F7-C4B0-5DACC70BD0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37" y="-2"/>
                    <a:ext cx="849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it-IT" altLang="it-IT" sz="1400"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1512" name="Group 24">
                <a:extLst>
                  <a:ext uri="{FF2B5EF4-FFF2-40B4-BE49-F238E27FC236}">
                    <a16:creationId xmlns:a16="http://schemas.microsoft.com/office/drawing/2014/main" id="{50E1177D-3FD9-A01D-FF7C-C0A1C08442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96"/>
                <a:ext cx="684" cy="1130"/>
                <a:chOff x="0" y="596"/>
                <a:chExt cx="684" cy="1130"/>
              </a:xfrm>
            </p:grpSpPr>
            <p:sp>
              <p:nvSpPr>
                <p:cNvPr id="21558" name="Rectangle 25">
                  <a:extLst>
                    <a:ext uri="{FF2B5EF4-FFF2-40B4-BE49-F238E27FC236}">
                      <a16:creationId xmlns:a16="http://schemas.microsoft.com/office/drawing/2014/main" id="{06E323FA-FCBB-ACA0-89C9-DC35D56A68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594"/>
                  <a:ext cx="598" cy="1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</a:rPr>
                    <a:t>Nominal</a:t>
                  </a:r>
                  <a:endParaRPr lang="en-US" altLang="it-IT" sz="1200" b="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59" name="Rectangle 26">
                  <a:extLst>
                    <a:ext uri="{FF2B5EF4-FFF2-40B4-BE49-F238E27FC236}">
                      <a16:creationId xmlns:a16="http://schemas.microsoft.com/office/drawing/2014/main" id="{E8F060DE-DAAA-C8C9-0909-6A16487F0F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94"/>
                  <a:ext cx="684" cy="11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13" name="Group 27">
                <a:extLst>
                  <a:ext uri="{FF2B5EF4-FFF2-40B4-BE49-F238E27FC236}">
                    <a16:creationId xmlns:a16="http://schemas.microsoft.com/office/drawing/2014/main" id="{1DBD9E74-C597-5368-198F-1A5DD3A299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596"/>
                <a:ext cx="1403" cy="1130"/>
                <a:chOff x="684" y="596"/>
                <a:chExt cx="1403" cy="1130"/>
              </a:xfrm>
            </p:grpSpPr>
            <p:sp>
              <p:nvSpPr>
                <p:cNvPr id="21556" name="Rectangle 28">
                  <a:extLst>
                    <a:ext uri="{FF2B5EF4-FFF2-40B4-BE49-F238E27FC236}">
                      <a16:creationId xmlns:a16="http://schemas.microsoft.com/office/drawing/2014/main" id="{BDB0AD33-58D1-F8A8-80F7-06C5FADBE7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7" y="594"/>
                  <a:ext cx="1317" cy="1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The values of a nominal attribute are just different names, i.e., nominal attributes provide only enough information to distinguish one object from another. (=, </a:t>
                  </a: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  <a:sym typeface="Symbol" pitchFamily="2" charset="2"/>
                    </a:rPr>
                    <a:t></a:t>
                  </a: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)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  <a:sym typeface="Symbol" pitchFamily="2" charset="2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400" b="0">
                    <a:latin typeface="Times New Roman" panose="02020603050405020304" pitchFamily="18" charset="0"/>
                    <a:ea typeface="MS Mincho" panose="02020609040205080304" pitchFamily="49" charset="-128"/>
                    <a:sym typeface="Symbol" pitchFamily="2" charset="2"/>
                  </a:endParaRPr>
                </a:p>
              </p:txBody>
            </p:sp>
            <p:sp>
              <p:nvSpPr>
                <p:cNvPr id="21557" name="Rectangle 29">
                  <a:extLst>
                    <a:ext uri="{FF2B5EF4-FFF2-40B4-BE49-F238E27FC236}">
                      <a16:creationId xmlns:a16="http://schemas.microsoft.com/office/drawing/2014/main" id="{1962AE7A-B5FF-2636-9D51-10C00881EC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594"/>
                  <a:ext cx="1403" cy="11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14" name="Group 30">
                <a:extLst>
                  <a:ext uri="{FF2B5EF4-FFF2-40B4-BE49-F238E27FC236}">
                    <a16:creationId xmlns:a16="http://schemas.microsoft.com/office/drawing/2014/main" id="{9D2BE2C5-9966-B19D-0E46-6C940C33B5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87" y="596"/>
                <a:ext cx="950" cy="1130"/>
                <a:chOff x="2087" y="596"/>
                <a:chExt cx="950" cy="1130"/>
              </a:xfrm>
            </p:grpSpPr>
            <p:sp>
              <p:nvSpPr>
                <p:cNvPr id="21554" name="Rectangle 31">
                  <a:extLst>
                    <a:ext uri="{FF2B5EF4-FFF2-40B4-BE49-F238E27FC236}">
                      <a16:creationId xmlns:a16="http://schemas.microsoft.com/office/drawing/2014/main" id="{B3EC0CE4-A482-BCE0-300E-214DFA7307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0" y="594"/>
                  <a:ext cx="862" cy="1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zip codes, employee ID numbers, eye color, sex: {</a:t>
                  </a:r>
                  <a:r>
                    <a:rPr lang="en-US" altLang="it-IT" sz="14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male, female</a:t>
                  </a: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}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55" name="Rectangle 32">
                  <a:extLst>
                    <a:ext uri="{FF2B5EF4-FFF2-40B4-BE49-F238E27FC236}">
                      <a16:creationId xmlns:a16="http://schemas.microsoft.com/office/drawing/2014/main" id="{7549F7EA-04A6-E996-4EAE-71007653FA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7" y="594"/>
                  <a:ext cx="949" cy="11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15" name="Group 33">
                <a:extLst>
                  <a:ext uri="{FF2B5EF4-FFF2-40B4-BE49-F238E27FC236}">
                    <a16:creationId xmlns:a16="http://schemas.microsoft.com/office/drawing/2014/main" id="{174CA3A8-F7FE-BE20-7755-B02872F1CE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7" y="596"/>
                <a:ext cx="849" cy="1130"/>
                <a:chOff x="3037" y="596"/>
                <a:chExt cx="849" cy="1130"/>
              </a:xfrm>
            </p:grpSpPr>
            <p:sp>
              <p:nvSpPr>
                <p:cNvPr id="21552" name="Rectangle 34">
                  <a:extLst>
                    <a:ext uri="{FF2B5EF4-FFF2-40B4-BE49-F238E27FC236}">
                      <a16:creationId xmlns:a16="http://schemas.microsoft.com/office/drawing/2014/main" id="{13574227-08E9-03C2-05B7-0DA3235A00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80" y="594"/>
                  <a:ext cx="763" cy="11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mode, entropy, contingency correlation, </a:t>
                  </a: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  <a:sym typeface="Symbol" pitchFamily="2" charset="2"/>
                    </a:rPr>
                    <a:t></a:t>
                  </a:r>
                  <a:r>
                    <a:rPr lang="en-US" altLang="it-IT" sz="1400" b="0" baseline="3000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2</a:t>
                  </a: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  <a:sym typeface="Symbol" pitchFamily="2" charset="2"/>
                    </a:rPr>
                    <a:t> test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  <a:sym typeface="Symbol" pitchFamily="2" charset="2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400" b="0">
                    <a:latin typeface="Times New Roman" panose="02020603050405020304" pitchFamily="18" charset="0"/>
                    <a:ea typeface="MS Mincho" panose="02020609040205080304" pitchFamily="49" charset="-128"/>
                    <a:sym typeface="Symbol" pitchFamily="2" charset="2"/>
                  </a:endParaRPr>
                </a:p>
              </p:txBody>
            </p:sp>
            <p:sp>
              <p:nvSpPr>
                <p:cNvPr id="21553" name="Rectangle 35">
                  <a:extLst>
                    <a:ext uri="{FF2B5EF4-FFF2-40B4-BE49-F238E27FC236}">
                      <a16:creationId xmlns:a16="http://schemas.microsoft.com/office/drawing/2014/main" id="{834E1791-B18B-BC61-C5DD-8AC475FB44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7" y="594"/>
                  <a:ext cx="849" cy="11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16" name="Group 36">
                <a:extLst>
                  <a:ext uri="{FF2B5EF4-FFF2-40B4-BE49-F238E27FC236}">
                    <a16:creationId xmlns:a16="http://schemas.microsoft.com/office/drawing/2014/main" id="{7F1C7820-00F7-1DDB-4EF4-CC9A6C1071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26"/>
                <a:ext cx="684" cy="1092"/>
                <a:chOff x="0" y="1726"/>
                <a:chExt cx="684" cy="1092"/>
              </a:xfrm>
            </p:grpSpPr>
            <p:sp>
              <p:nvSpPr>
                <p:cNvPr id="21550" name="Rectangle 37">
                  <a:extLst>
                    <a:ext uri="{FF2B5EF4-FFF2-40B4-BE49-F238E27FC236}">
                      <a16:creationId xmlns:a16="http://schemas.microsoft.com/office/drawing/2014/main" id="{1BE28306-AAF7-9D68-C4D5-F417D45B50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726"/>
                  <a:ext cx="598" cy="10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</a:rPr>
                    <a:t>Ordinal</a:t>
                  </a:r>
                  <a:endParaRPr lang="en-US" altLang="it-IT" sz="1200" b="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51" name="Rectangle 38">
                  <a:extLst>
                    <a:ext uri="{FF2B5EF4-FFF2-40B4-BE49-F238E27FC236}">
                      <a16:creationId xmlns:a16="http://schemas.microsoft.com/office/drawing/2014/main" id="{02EF0FA6-DD54-F906-C554-EADB03DFA7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26"/>
                  <a:ext cx="684" cy="109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17" name="Group 39">
                <a:extLst>
                  <a:ext uri="{FF2B5EF4-FFF2-40B4-BE49-F238E27FC236}">
                    <a16:creationId xmlns:a16="http://schemas.microsoft.com/office/drawing/2014/main" id="{B362C4BF-60A4-F479-E2FB-DA31E8E03A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1726"/>
                <a:ext cx="1403" cy="1092"/>
                <a:chOff x="684" y="1726"/>
                <a:chExt cx="1403" cy="1092"/>
              </a:xfrm>
            </p:grpSpPr>
            <p:sp>
              <p:nvSpPr>
                <p:cNvPr id="21548" name="Rectangle 40">
                  <a:extLst>
                    <a:ext uri="{FF2B5EF4-FFF2-40B4-BE49-F238E27FC236}">
                      <a16:creationId xmlns:a16="http://schemas.microsoft.com/office/drawing/2014/main" id="{2D45DCA8-E6D5-FA1E-E1CF-94D22BCB80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7" y="1726"/>
                  <a:ext cx="1317" cy="10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The values of an ordinal attribute provide enough information to order objects. (&lt;, &gt;)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49" name="Rectangle 41">
                  <a:extLst>
                    <a:ext uri="{FF2B5EF4-FFF2-40B4-BE49-F238E27FC236}">
                      <a16:creationId xmlns:a16="http://schemas.microsoft.com/office/drawing/2014/main" id="{B4FA473E-08BC-84B6-7619-6A3C6698FA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1726"/>
                  <a:ext cx="1403" cy="109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18" name="Group 42">
                <a:extLst>
                  <a:ext uri="{FF2B5EF4-FFF2-40B4-BE49-F238E27FC236}">
                    <a16:creationId xmlns:a16="http://schemas.microsoft.com/office/drawing/2014/main" id="{F74992A3-34F7-1AD0-369F-477D146FBB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87" y="1726"/>
                <a:ext cx="950" cy="1092"/>
                <a:chOff x="2087" y="1726"/>
                <a:chExt cx="950" cy="1092"/>
              </a:xfrm>
            </p:grpSpPr>
            <p:sp>
              <p:nvSpPr>
                <p:cNvPr id="21546" name="Rectangle 43">
                  <a:extLst>
                    <a:ext uri="{FF2B5EF4-FFF2-40B4-BE49-F238E27FC236}">
                      <a16:creationId xmlns:a16="http://schemas.microsoft.com/office/drawing/2014/main" id="{C606559D-975D-C5CC-FAA0-C25F26DB2D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0" y="1726"/>
                  <a:ext cx="862" cy="10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hardness of minerals, {</a:t>
                  </a:r>
                  <a:r>
                    <a:rPr lang="en-US" altLang="it-IT" sz="14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good, better, best</a:t>
                  </a: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}, </a:t>
                  </a:r>
                  <a:b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</a:b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grades, street numbers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47" name="Rectangle 44">
                  <a:extLst>
                    <a:ext uri="{FF2B5EF4-FFF2-40B4-BE49-F238E27FC236}">
                      <a16:creationId xmlns:a16="http://schemas.microsoft.com/office/drawing/2014/main" id="{25055EAA-AE8E-C1BD-AEC4-D93CA41041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7" y="1726"/>
                  <a:ext cx="949" cy="109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19" name="Group 45">
                <a:extLst>
                  <a:ext uri="{FF2B5EF4-FFF2-40B4-BE49-F238E27FC236}">
                    <a16:creationId xmlns:a16="http://schemas.microsoft.com/office/drawing/2014/main" id="{05F4ABA4-5E02-AB85-1C36-47558DF5E1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7" y="1726"/>
                <a:ext cx="849" cy="1092"/>
                <a:chOff x="3037" y="1726"/>
                <a:chExt cx="849" cy="1092"/>
              </a:xfrm>
            </p:grpSpPr>
            <p:sp>
              <p:nvSpPr>
                <p:cNvPr id="21544" name="Rectangle 46">
                  <a:extLst>
                    <a:ext uri="{FF2B5EF4-FFF2-40B4-BE49-F238E27FC236}">
                      <a16:creationId xmlns:a16="http://schemas.microsoft.com/office/drawing/2014/main" id="{AFFA5FE2-3BD0-9D78-5765-3CD97F6DA9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80" y="1726"/>
                  <a:ext cx="763" cy="10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median, percentiles, rank correlation, run tests, sign tests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45" name="Rectangle 47">
                  <a:extLst>
                    <a:ext uri="{FF2B5EF4-FFF2-40B4-BE49-F238E27FC236}">
                      <a16:creationId xmlns:a16="http://schemas.microsoft.com/office/drawing/2014/main" id="{AC9F3680-8806-04C2-9F38-0C83E2F56A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7" y="1726"/>
                  <a:ext cx="849" cy="109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20" name="Group 48">
                <a:extLst>
                  <a:ext uri="{FF2B5EF4-FFF2-40B4-BE49-F238E27FC236}">
                    <a16:creationId xmlns:a16="http://schemas.microsoft.com/office/drawing/2014/main" id="{14F5A50A-5BC6-0106-7115-E72965E38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818"/>
                <a:ext cx="684" cy="1092"/>
                <a:chOff x="0" y="2818"/>
                <a:chExt cx="684" cy="1092"/>
              </a:xfrm>
            </p:grpSpPr>
            <p:sp>
              <p:nvSpPr>
                <p:cNvPr id="21542" name="Rectangle 49">
                  <a:extLst>
                    <a:ext uri="{FF2B5EF4-FFF2-40B4-BE49-F238E27FC236}">
                      <a16:creationId xmlns:a16="http://schemas.microsoft.com/office/drawing/2014/main" id="{D7AE62A6-6ADF-6EA4-9CEE-B302C96C7A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818"/>
                  <a:ext cx="598" cy="10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</a:rPr>
                    <a:t>Interval</a:t>
                  </a:r>
                  <a:endParaRPr lang="en-US" altLang="it-IT" sz="1200" b="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43" name="Rectangle 50">
                  <a:extLst>
                    <a:ext uri="{FF2B5EF4-FFF2-40B4-BE49-F238E27FC236}">
                      <a16:creationId xmlns:a16="http://schemas.microsoft.com/office/drawing/2014/main" id="{F4DBEECC-E72F-8C09-3471-7A6611223A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18"/>
                  <a:ext cx="684" cy="109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21" name="Group 51">
                <a:extLst>
                  <a:ext uri="{FF2B5EF4-FFF2-40B4-BE49-F238E27FC236}">
                    <a16:creationId xmlns:a16="http://schemas.microsoft.com/office/drawing/2014/main" id="{859B2A44-A6F5-B127-D4F2-E5B6BFD530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2818"/>
                <a:ext cx="1403" cy="1092"/>
                <a:chOff x="684" y="2818"/>
                <a:chExt cx="1403" cy="1092"/>
              </a:xfrm>
            </p:grpSpPr>
            <p:sp>
              <p:nvSpPr>
                <p:cNvPr id="21540" name="Rectangle 52">
                  <a:extLst>
                    <a:ext uri="{FF2B5EF4-FFF2-40B4-BE49-F238E27FC236}">
                      <a16:creationId xmlns:a16="http://schemas.microsoft.com/office/drawing/2014/main" id="{E18913FB-78B6-8043-E2A8-4A89651EF8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7" y="2818"/>
                  <a:ext cx="1317" cy="10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For interval attributes, the differences between values are meaningful, i.e., a unit of measurement exists.  </a:t>
                  </a:r>
                  <a:b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</a:b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(+, - )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41" name="Rectangle 53">
                  <a:extLst>
                    <a:ext uri="{FF2B5EF4-FFF2-40B4-BE49-F238E27FC236}">
                      <a16:creationId xmlns:a16="http://schemas.microsoft.com/office/drawing/2014/main" id="{104282AB-0156-4991-E3CB-51ECD7E7E3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2818"/>
                  <a:ext cx="1403" cy="109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22" name="Group 54">
                <a:extLst>
                  <a:ext uri="{FF2B5EF4-FFF2-40B4-BE49-F238E27FC236}">
                    <a16:creationId xmlns:a16="http://schemas.microsoft.com/office/drawing/2014/main" id="{B4CDF91C-7800-FFA9-0905-6E3D3C248D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87" y="2818"/>
                <a:ext cx="950" cy="1092"/>
                <a:chOff x="2087" y="2818"/>
                <a:chExt cx="950" cy="1092"/>
              </a:xfrm>
            </p:grpSpPr>
            <p:sp>
              <p:nvSpPr>
                <p:cNvPr id="21538" name="Rectangle 55">
                  <a:extLst>
                    <a:ext uri="{FF2B5EF4-FFF2-40B4-BE49-F238E27FC236}">
                      <a16:creationId xmlns:a16="http://schemas.microsoft.com/office/drawing/2014/main" id="{7300E026-055B-3C3F-A5FF-E22DB95F2C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0" y="2818"/>
                  <a:ext cx="862" cy="10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calendar dates, temperature in Celsius or Fahrenheit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39" name="Rectangle 56">
                  <a:extLst>
                    <a:ext uri="{FF2B5EF4-FFF2-40B4-BE49-F238E27FC236}">
                      <a16:creationId xmlns:a16="http://schemas.microsoft.com/office/drawing/2014/main" id="{D3E854D7-510D-2873-58A2-BA290DBEEB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7" y="2818"/>
                  <a:ext cx="949" cy="109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23" name="Group 57">
                <a:extLst>
                  <a:ext uri="{FF2B5EF4-FFF2-40B4-BE49-F238E27FC236}">
                    <a16:creationId xmlns:a16="http://schemas.microsoft.com/office/drawing/2014/main" id="{30068404-910F-1AAB-7B4B-BBDAC50D4D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7" y="2818"/>
                <a:ext cx="849" cy="1092"/>
                <a:chOff x="3037" y="2818"/>
                <a:chExt cx="849" cy="1092"/>
              </a:xfrm>
            </p:grpSpPr>
            <p:sp>
              <p:nvSpPr>
                <p:cNvPr id="21536" name="Rectangle 58">
                  <a:extLst>
                    <a:ext uri="{FF2B5EF4-FFF2-40B4-BE49-F238E27FC236}">
                      <a16:creationId xmlns:a16="http://schemas.microsoft.com/office/drawing/2014/main" id="{FA01088E-F3E6-3102-9083-539A1D9942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80" y="2818"/>
                  <a:ext cx="763" cy="10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mean, standard deviation, Pearson's correlation, </a:t>
                  </a:r>
                  <a:r>
                    <a:rPr lang="en-US" altLang="it-IT" sz="14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t</a:t>
                  </a: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 and </a:t>
                  </a:r>
                  <a:r>
                    <a:rPr lang="en-US" altLang="it-IT" sz="14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F</a:t>
                  </a: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 tests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37" name="Rectangle 59">
                  <a:extLst>
                    <a:ext uri="{FF2B5EF4-FFF2-40B4-BE49-F238E27FC236}">
                      <a16:creationId xmlns:a16="http://schemas.microsoft.com/office/drawing/2014/main" id="{F7E04FAD-F8B4-70AB-2ADB-E5349A130E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7" y="2818"/>
                  <a:ext cx="849" cy="109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24" name="Group 60">
                <a:extLst>
                  <a:ext uri="{FF2B5EF4-FFF2-40B4-BE49-F238E27FC236}">
                    <a16:creationId xmlns:a16="http://schemas.microsoft.com/office/drawing/2014/main" id="{5A5C34CE-5C77-48B7-80FA-40E74A7DF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910"/>
                <a:ext cx="684" cy="1360"/>
                <a:chOff x="0" y="3910"/>
                <a:chExt cx="684" cy="1360"/>
              </a:xfrm>
            </p:grpSpPr>
            <p:sp>
              <p:nvSpPr>
                <p:cNvPr id="21534" name="Rectangle 61">
                  <a:extLst>
                    <a:ext uri="{FF2B5EF4-FFF2-40B4-BE49-F238E27FC236}">
                      <a16:creationId xmlns:a16="http://schemas.microsoft.com/office/drawing/2014/main" id="{0EF4A51A-1B70-9F20-928A-BD59073B8E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910"/>
                  <a:ext cx="598" cy="1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</a:rPr>
                    <a:t>Ratio</a:t>
                  </a:r>
                  <a:endParaRPr lang="en-US" altLang="it-IT" sz="1200" b="0">
                    <a:latin typeface="Times New Roman" panose="02020603050405020304" pitchFamily="18" charset="0"/>
                  </a:endParaRPr>
                </a:p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35" name="Rectangle 62">
                  <a:extLst>
                    <a:ext uri="{FF2B5EF4-FFF2-40B4-BE49-F238E27FC236}">
                      <a16:creationId xmlns:a16="http://schemas.microsoft.com/office/drawing/2014/main" id="{10D19F91-FE9E-5ABB-A21D-3A46360D33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910"/>
                  <a:ext cx="684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25" name="Group 63">
                <a:extLst>
                  <a:ext uri="{FF2B5EF4-FFF2-40B4-BE49-F238E27FC236}">
                    <a16:creationId xmlns:a16="http://schemas.microsoft.com/office/drawing/2014/main" id="{94DE52B2-2305-7F6B-5258-AED7E4CAF3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3910"/>
                <a:ext cx="1403" cy="1360"/>
                <a:chOff x="684" y="3910"/>
                <a:chExt cx="1403" cy="1360"/>
              </a:xfrm>
            </p:grpSpPr>
            <p:sp>
              <p:nvSpPr>
                <p:cNvPr id="21532" name="Rectangle 64">
                  <a:extLst>
                    <a:ext uri="{FF2B5EF4-FFF2-40B4-BE49-F238E27FC236}">
                      <a16:creationId xmlns:a16="http://schemas.microsoft.com/office/drawing/2014/main" id="{894A4A7E-A969-0A3A-AD56-3508C8CAC1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7" y="3910"/>
                  <a:ext cx="1317" cy="1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For ratio variables, both differences and ratios are meaningful. (*, /)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33" name="Rectangle 65">
                  <a:extLst>
                    <a:ext uri="{FF2B5EF4-FFF2-40B4-BE49-F238E27FC236}">
                      <a16:creationId xmlns:a16="http://schemas.microsoft.com/office/drawing/2014/main" id="{76C4523E-CE49-9398-55DF-76FE91808D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3910"/>
                  <a:ext cx="1403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26" name="Group 66">
                <a:extLst>
                  <a:ext uri="{FF2B5EF4-FFF2-40B4-BE49-F238E27FC236}">
                    <a16:creationId xmlns:a16="http://schemas.microsoft.com/office/drawing/2014/main" id="{96C5C186-84FB-EF4B-5896-97C3A9E72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87" y="3910"/>
                <a:ext cx="950" cy="1360"/>
                <a:chOff x="2087" y="3910"/>
                <a:chExt cx="950" cy="1360"/>
              </a:xfrm>
            </p:grpSpPr>
            <p:sp>
              <p:nvSpPr>
                <p:cNvPr id="21530" name="Rectangle 67">
                  <a:extLst>
                    <a:ext uri="{FF2B5EF4-FFF2-40B4-BE49-F238E27FC236}">
                      <a16:creationId xmlns:a16="http://schemas.microsoft.com/office/drawing/2014/main" id="{DE95BB0F-7405-7B49-3F4B-DC2A6E26E2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30" y="3910"/>
                  <a:ext cx="862" cy="1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temperature in Kelvin, monetary quantities, counts, age, mass, length, electrical current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31" name="Rectangle 68">
                  <a:extLst>
                    <a:ext uri="{FF2B5EF4-FFF2-40B4-BE49-F238E27FC236}">
                      <a16:creationId xmlns:a16="http://schemas.microsoft.com/office/drawing/2014/main" id="{B0EE121C-60CF-4098-ACA3-490959D683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87" y="3910"/>
                  <a:ext cx="949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1527" name="Group 69">
                <a:extLst>
                  <a:ext uri="{FF2B5EF4-FFF2-40B4-BE49-F238E27FC236}">
                    <a16:creationId xmlns:a16="http://schemas.microsoft.com/office/drawing/2014/main" id="{41C52217-7665-2BCD-96C0-DA0B23748F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7" y="3910"/>
                <a:ext cx="849" cy="1360"/>
                <a:chOff x="3037" y="3910"/>
                <a:chExt cx="849" cy="1360"/>
              </a:xfrm>
            </p:grpSpPr>
            <p:sp>
              <p:nvSpPr>
                <p:cNvPr id="21528" name="Rectangle 70">
                  <a:extLst>
                    <a:ext uri="{FF2B5EF4-FFF2-40B4-BE49-F238E27FC236}">
                      <a16:creationId xmlns:a16="http://schemas.microsoft.com/office/drawing/2014/main" id="{C0754A52-F05F-333B-210E-84F88E8CA2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80" y="3910"/>
                  <a:ext cx="763" cy="13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4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geometric mean, harmonic mean, percent variation</a:t>
                  </a:r>
                  <a:endParaRPr lang="en-US" altLang="it-IT" sz="12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529" name="Rectangle 71">
                  <a:extLst>
                    <a:ext uri="{FF2B5EF4-FFF2-40B4-BE49-F238E27FC236}">
                      <a16:creationId xmlns:a16="http://schemas.microsoft.com/office/drawing/2014/main" id="{5E534CFB-F5FA-62E1-91AB-48798A784C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37" y="3910"/>
                  <a:ext cx="849" cy="136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507" name="Rectangle 72">
              <a:extLst>
                <a:ext uri="{FF2B5EF4-FFF2-40B4-BE49-F238E27FC236}">
                  <a16:creationId xmlns:a16="http://schemas.microsoft.com/office/drawing/2014/main" id="{50FE550E-D17B-7F16-D506-138BFA3EE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" y="-2"/>
              <a:ext cx="3890" cy="5274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9" name="Group 2">
            <a:extLst>
              <a:ext uri="{FF2B5EF4-FFF2-40B4-BE49-F238E27FC236}">
                <a16:creationId xmlns:a16="http://schemas.microsoft.com/office/drawing/2014/main" id="{537C1B7F-AF75-0D86-48E4-423AE72341FF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304800"/>
            <a:ext cx="7924800" cy="6276975"/>
            <a:chOff x="-2" y="-2"/>
            <a:chExt cx="3761" cy="4164"/>
          </a:xfrm>
        </p:grpSpPr>
        <p:grpSp>
          <p:nvGrpSpPr>
            <p:cNvPr id="22530" name="Group 3">
              <a:extLst>
                <a:ext uri="{FF2B5EF4-FFF2-40B4-BE49-F238E27FC236}">
                  <a16:creationId xmlns:a16="http://schemas.microsoft.com/office/drawing/2014/main" id="{B107C9E8-4D57-163E-7CC4-2206A3E2C7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757" cy="4160"/>
              <a:chOff x="0" y="0"/>
              <a:chExt cx="3757" cy="4160"/>
            </a:xfrm>
          </p:grpSpPr>
          <p:grpSp>
            <p:nvGrpSpPr>
              <p:cNvPr id="22532" name="Group 4">
                <a:extLst>
                  <a:ext uri="{FF2B5EF4-FFF2-40B4-BE49-F238E27FC236}">
                    <a16:creationId xmlns:a16="http://schemas.microsoft.com/office/drawing/2014/main" id="{9087CC7B-52BC-38F2-F290-8414D94487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84" cy="596"/>
                <a:chOff x="0" y="0"/>
                <a:chExt cx="684" cy="596"/>
              </a:xfrm>
            </p:grpSpPr>
            <p:sp>
              <p:nvSpPr>
                <p:cNvPr id="22579" name="Rectangle 5">
                  <a:extLst>
                    <a:ext uri="{FF2B5EF4-FFF2-40B4-BE49-F238E27FC236}">
                      <a16:creationId xmlns:a16="http://schemas.microsoft.com/office/drawing/2014/main" id="{67ACD1FB-904E-3293-CF5E-119023E5A3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684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580" name="Group 6">
                  <a:extLst>
                    <a:ext uri="{FF2B5EF4-FFF2-40B4-BE49-F238E27FC236}">
                      <a16:creationId xmlns:a16="http://schemas.microsoft.com/office/drawing/2014/main" id="{C560465F-9124-C2CE-A070-6EC9BFDEDD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684" cy="596"/>
                  <a:chOff x="0" y="0"/>
                  <a:chExt cx="684" cy="596"/>
                </a:xfrm>
              </p:grpSpPr>
              <p:sp>
                <p:nvSpPr>
                  <p:cNvPr id="22581" name="Rectangle 7">
                    <a:extLst>
                      <a:ext uri="{FF2B5EF4-FFF2-40B4-BE49-F238E27FC236}">
                        <a16:creationId xmlns:a16="http://schemas.microsoft.com/office/drawing/2014/main" id="{E96B2737-ADB7-31B5-11DE-7751C987D7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598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it-IT" sz="1800">
                        <a:latin typeface="Times New Roman" panose="02020603050405020304" pitchFamily="18" charset="0"/>
                      </a:rPr>
                      <a:t>Attribute Level</a:t>
                    </a:r>
                    <a:endParaRPr lang="en-US" altLang="it-IT" sz="1800" b="0">
                      <a:latin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it-IT" sz="1800" b="0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2582" name="Rectangle 8">
                    <a:extLst>
                      <a:ext uri="{FF2B5EF4-FFF2-40B4-BE49-F238E27FC236}">
                        <a16:creationId xmlns:a16="http://schemas.microsoft.com/office/drawing/2014/main" id="{6E00263D-54CE-D2BB-DFD4-ECB5E109D0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684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it-IT" altLang="it-IT" sz="1400"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2533" name="Group 9">
                <a:extLst>
                  <a:ext uri="{FF2B5EF4-FFF2-40B4-BE49-F238E27FC236}">
                    <a16:creationId xmlns:a16="http://schemas.microsoft.com/office/drawing/2014/main" id="{6A3E9B82-5104-EC45-3837-FD0DF69395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0"/>
                <a:ext cx="1691" cy="596"/>
                <a:chOff x="684" y="0"/>
                <a:chExt cx="1691" cy="596"/>
              </a:xfrm>
            </p:grpSpPr>
            <p:sp>
              <p:nvSpPr>
                <p:cNvPr id="22575" name="Rectangle 10">
                  <a:extLst>
                    <a:ext uri="{FF2B5EF4-FFF2-40B4-BE49-F238E27FC236}">
                      <a16:creationId xmlns:a16="http://schemas.microsoft.com/office/drawing/2014/main" id="{460C8B22-19BE-0C72-F799-7E4CB283A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0"/>
                  <a:ext cx="1691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576" name="Group 11">
                  <a:extLst>
                    <a:ext uri="{FF2B5EF4-FFF2-40B4-BE49-F238E27FC236}">
                      <a16:creationId xmlns:a16="http://schemas.microsoft.com/office/drawing/2014/main" id="{25FDCF1F-8138-DA3B-5514-7652AA8034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4" y="0"/>
                  <a:ext cx="1691" cy="596"/>
                  <a:chOff x="684" y="0"/>
                  <a:chExt cx="1691" cy="596"/>
                </a:xfrm>
              </p:grpSpPr>
              <p:sp>
                <p:nvSpPr>
                  <p:cNvPr id="22577" name="Rectangle 12">
                    <a:extLst>
                      <a:ext uri="{FF2B5EF4-FFF2-40B4-BE49-F238E27FC236}">
                        <a16:creationId xmlns:a16="http://schemas.microsoft.com/office/drawing/2014/main" id="{D9217498-5ED0-0147-0DB4-190A70E0C7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7" y="0"/>
                    <a:ext cx="1605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it-IT" sz="1800">
                        <a:latin typeface="Times New Roman" panose="02020603050405020304" pitchFamily="18" charset="0"/>
                      </a:rPr>
                      <a:t>Transformation</a:t>
                    </a:r>
                    <a:endParaRPr lang="en-US" altLang="it-IT" sz="1800" b="0">
                      <a:latin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it-IT" sz="1800" b="0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2578" name="Rectangle 13">
                    <a:extLst>
                      <a:ext uri="{FF2B5EF4-FFF2-40B4-BE49-F238E27FC236}">
                        <a16:creationId xmlns:a16="http://schemas.microsoft.com/office/drawing/2014/main" id="{561B813D-1737-70A2-5600-56B05096D4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84" y="0"/>
                    <a:ext cx="1691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it-IT" altLang="it-IT" sz="1400"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2534" name="Group 14">
                <a:extLst>
                  <a:ext uri="{FF2B5EF4-FFF2-40B4-BE49-F238E27FC236}">
                    <a16:creationId xmlns:a16="http://schemas.microsoft.com/office/drawing/2014/main" id="{79F4C6DC-AF33-4158-7F94-1CDC7278CC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5" y="0"/>
                <a:ext cx="1382" cy="596"/>
                <a:chOff x="2375" y="0"/>
                <a:chExt cx="1382" cy="596"/>
              </a:xfrm>
            </p:grpSpPr>
            <p:sp>
              <p:nvSpPr>
                <p:cNvPr id="22571" name="Rectangle 15">
                  <a:extLst>
                    <a:ext uri="{FF2B5EF4-FFF2-40B4-BE49-F238E27FC236}">
                      <a16:creationId xmlns:a16="http://schemas.microsoft.com/office/drawing/2014/main" id="{4AF6620C-F009-8580-0106-DFD2302024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5" y="0"/>
                  <a:ext cx="1382" cy="596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2572" name="Group 16">
                  <a:extLst>
                    <a:ext uri="{FF2B5EF4-FFF2-40B4-BE49-F238E27FC236}">
                      <a16:creationId xmlns:a16="http://schemas.microsoft.com/office/drawing/2014/main" id="{BC5FF8E7-2E6D-AA5D-BC14-ED27B2BA26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75" y="0"/>
                  <a:ext cx="1382" cy="596"/>
                  <a:chOff x="2375" y="0"/>
                  <a:chExt cx="1382" cy="596"/>
                </a:xfrm>
              </p:grpSpPr>
              <p:sp>
                <p:nvSpPr>
                  <p:cNvPr id="22573" name="Rectangle 17">
                    <a:extLst>
                      <a:ext uri="{FF2B5EF4-FFF2-40B4-BE49-F238E27FC236}">
                        <a16:creationId xmlns:a16="http://schemas.microsoft.com/office/drawing/2014/main" id="{3CA33030-2550-7E06-7DE3-17FDEA7C62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18" y="0"/>
                    <a:ext cx="1296" cy="596"/>
                  </a:xfrm>
                  <a:prstGeom prst="rect">
                    <a:avLst/>
                  </a:prstGeom>
                  <a:solidFill>
                    <a:srgbClr val="CC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it-IT" sz="1800">
                        <a:latin typeface="Times New Roman" panose="02020603050405020304" pitchFamily="18" charset="0"/>
                      </a:rPr>
                      <a:t>Comments</a:t>
                    </a:r>
                    <a:endParaRPr lang="en-US" altLang="it-IT" sz="1800" b="0">
                      <a:latin typeface="Times New Roman" panose="02020603050405020304" pitchFamily="18" charset="0"/>
                    </a:endParaRPr>
                  </a:p>
                  <a:p>
                    <a:pPr algn="ctr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en-US" altLang="it-IT" sz="1800" b="0">
                      <a:latin typeface="Times New Roman" panose="02020603050405020304" pitchFamily="18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2574" name="Rectangle 18">
                    <a:extLst>
                      <a:ext uri="{FF2B5EF4-FFF2-40B4-BE49-F238E27FC236}">
                        <a16:creationId xmlns:a16="http://schemas.microsoft.com/office/drawing/2014/main" id="{C55B6583-E77D-88E5-D3C8-FF65FF0CCA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75" y="0"/>
                    <a:ext cx="1382" cy="59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5000"/>
                      <a:buFont typeface="Monotype Sorts" pitchFamily="2" charset="2"/>
                      <a:buChar char="l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100000"/>
                      <a:buFont typeface="Arial" panose="020B0604020202020204" pitchFamily="34" charset="0"/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spcBef>
                        <a:spcPct val="10000"/>
                      </a:spcBef>
                      <a:spcAft>
                        <a:spcPts val="400"/>
                      </a:spcAft>
                      <a:buClr>
                        <a:srgbClr val="0C7B9C"/>
                      </a:buClr>
                      <a:buSzPct val="70000"/>
                      <a:buFont typeface="Wingdings" pitchFamily="2" charset="2"/>
                      <a:buChar char="u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spcBef>
                        <a:spcPct val="20000"/>
                      </a:spcBef>
                      <a:buSzPct val="100000"/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spcBef>
                        <a:spcPct val="20000"/>
                      </a:spcBef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SzPct val="100000"/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it-IT" altLang="it-IT" sz="1400"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2535" name="Group 19">
                <a:extLst>
                  <a:ext uri="{FF2B5EF4-FFF2-40B4-BE49-F238E27FC236}">
                    <a16:creationId xmlns:a16="http://schemas.microsoft.com/office/drawing/2014/main" id="{3634B233-29FD-9779-6CA1-4B31C9F94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96"/>
                <a:ext cx="684" cy="824"/>
                <a:chOff x="0" y="596"/>
                <a:chExt cx="684" cy="824"/>
              </a:xfrm>
            </p:grpSpPr>
            <p:sp>
              <p:nvSpPr>
                <p:cNvPr id="22569" name="Rectangle 20">
                  <a:extLst>
                    <a:ext uri="{FF2B5EF4-FFF2-40B4-BE49-F238E27FC236}">
                      <a16:creationId xmlns:a16="http://schemas.microsoft.com/office/drawing/2014/main" id="{021F25BB-818E-785E-659A-7576E4A531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596"/>
                  <a:ext cx="598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</a:rPr>
                    <a:t>Nominal</a:t>
                  </a:r>
                </a:p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70" name="Rectangle 21">
                  <a:extLst>
                    <a:ext uri="{FF2B5EF4-FFF2-40B4-BE49-F238E27FC236}">
                      <a16:creationId xmlns:a16="http://schemas.microsoft.com/office/drawing/2014/main" id="{E0FBDF9A-840B-D63F-702F-F90F4CC3CE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596"/>
                  <a:ext cx="684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36" name="Group 22">
                <a:extLst>
                  <a:ext uri="{FF2B5EF4-FFF2-40B4-BE49-F238E27FC236}">
                    <a16:creationId xmlns:a16="http://schemas.microsoft.com/office/drawing/2014/main" id="{31B4E109-F31A-F45E-01ED-20075786E9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596"/>
                <a:ext cx="1691" cy="824"/>
                <a:chOff x="684" y="596"/>
                <a:chExt cx="1691" cy="824"/>
              </a:xfrm>
            </p:grpSpPr>
            <p:sp>
              <p:nvSpPr>
                <p:cNvPr id="22567" name="Rectangle 23">
                  <a:extLst>
                    <a:ext uri="{FF2B5EF4-FFF2-40B4-BE49-F238E27FC236}">
                      <a16:creationId xmlns:a16="http://schemas.microsoft.com/office/drawing/2014/main" id="{027EB1A8-5B18-0C54-2CD6-79148445DB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7" y="596"/>
                  <a:ext cx="1605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Any permutation of values</a:t>
                  </a: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8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68" name="Rectangle 24">
                  <a:extLst>
                    <a:ext uri="{FF2B5EF4-FFF2-40B4-BE49-F238E27FC236}">
                      <a16:creationId xmlns:a16="http://schemas.microsoft.com/office/drawing/2014/main" id="{6E83128D-2BC6-7C76-255E-55D3719E23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596"/>
                  <a:ext cx="1691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37" name="Group 25">
                <a:extLst>
                  <a:ext uri="{FF2B5EF4-FFF2-40B4-BE49-F238E27FC236}">
                    <a16:creationId xmlns:a16="http://schemas.microsoft.com/office/drawing/2014/main" id="{835966A6-EC72-9695-712D-3E56B7F2CC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5" y="596"/>
                <a:ext cx="1382" cy="824"/>
                <a:chOff x="2375" y="596"/>
                <a:chExt cx="1382" cy="824"/>
              </a:xfrm>
            </p:grpSpPr>
            <p:sp>
              <p:nvSpPr>
                <p:cNvPr id="22565" name="Rectangle 26">
                  <a:extLst>
                    <a:ext uri="{FF2B5EF4-FFF2-40B4-BE49-F238E27FC236}">
                      <a16:creationId xmlns:a16="http://schemas.microsoft.com/office/drawing/2014/main" id="{138DEBD1-48A2-4981-C525-0F0B85999B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8" y="596"/>
                  <a:ext cx="1296" cy="82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</a:rPr>
                    <a:t>If all employee ID numbers were reassigned, would it make any difference?</a:t>
                  </a: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66" name="Rectangle 27">
                  <a:extLst>
                    <a:ext uri="{FF2B5EF4-FFF2-40B4-BE49-F238E27FC236}">
                      <a16:creationId xmlns:a16="http://schemas.microsoft.com/office/drawing/2014/main" id="{5C604C87-F3C4-54B5-BFEB-77F45D8EAC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5" y="596"/>
                  <a:ext cx="1382" cy="82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38" name="Group 28">
                <a:extLst>
                  <a:ext uri="{FF2B5EF4-FFF2-40B4-BE49-F238E27FC236}">
                    <a16:creationId xmlns:a16="http://schemas.microsoft.com/office/drawing/2014/main" id="{475A5A03-12ED-3251-51EB-287C65417D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20"/>
                <a:ext cx="684" cy="1092"/>
                <a:chOff x="0" y="1420"/>
                <a:chExt cx="684" cy="1092"/>
              </a:xfrm>
            </p:grpSpPr>
            <p:sp>
              <p:nvSpPr>
                <p:cNvPr id="22563" name="Rectangle 29">
                  <a:extLst>
                    <a:ext uri="{FF2B5EF4-FFF2-40B4-BE49-F238E27FC236}">
                      <a16:creationId xmlns:a16="http://schemas.microsoft.com/office/drawing/2014/main" id="{6ED15EEE-2FC6-636D-05C6-632516171B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420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</a:rPr>
                    <a:t>Ordinal</a:t>
                  </a:r>
                </a:p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64" name="Rectangle 30">
                  <a:extLst>
                    <a:ext uri="{FF2B5EF4-FFF2-40B4-BE49-F238E27FC236}">
                      <a16:creationId xmlns:a16="http://schemas.microsoft.com/office/drawing/2014/main" id="{D407AA15-FEB4-5227-36DF-E98AA2C93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20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39" name="Group 31">
                <a:extLst>
                  <a:ext uri="{FF2B5EF4-FFF2-40B4-BE49-F238E27FC236}">
                    <a16:creationId xmlns:a16="http://schemas.microsoft.com/office/drawing/2014/main" id="{ED3D6709-6B09-2C21-249E-BA743D38AF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1420"/>
                <a:ext cx="1691" cy="1092"/>
                <a:chOff x="684" y="1420"/>
                <a:chExt cx="1691" cy="1092"/>
              </a:xfrm>
            </p:grpSpPr>
            <p:sp>
              <p:nvSpPr>
                <p:cNvPr id="22561" name="Rectangle 32">
                  <a:extLst>
                    <a:ext uri="{FF2B5EF4-FFF2-40B4-BE49-F238E27FC236}">
                      <a16:creationId xmlns:a16="http://schemas.microsoft.com/office/drawing/2014/main" id="{E2B8A97B-1F60-4882-A90B-2AFF319707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7" y="1420"/>
                  <a:ext cx="1605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An order preserving change of values, i.e., </a:t>
                  </a:r>
                  <a:br>
                    <a:rPr lang="en-US" altLang="it-IT" sz="18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</a:br>
                  <a:r>
                    <a:rPr lang="en-US" altLang="it-IT" sz="18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new_value = f(old_value) </a:t>
                  </a:r>
                  <a:br>
                    <a:rPr lang="en-US" altLang="it-IT" sz="18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</a:br>
                  <a:r>
                    <a:rPr lang="en-US" altLang="it-IT" sz="18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where </a:t>
                  </a:r>
                  <a:r>
                    <a:rPr lang="en-US" altLang="it-IT" sz="18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f</a:t>
                  </a:r>
                  <a:r>
                    <a:rPr lang="en-US" altLang="it-IT" sz="18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 is a monotonic function.</a:t>
                  </a: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8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62" name="Rectangle 33">
                  <a:extLst>
                    <a:ext uri="{FF2B5EF4-FFF2-40B4-BE49-F238E27FC236}">
                      <a16:creationId xmlns:a16="http://schemas.microsoft.com/office/drawing/2014/main" id="{5471A475-4D83-5B05-0449-BEDDE446C4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1420"/>
                  <a:ext cx="1691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40" name="Group 34">
                <a:extLst>
                  <a:ext uri="{FF2B5EF4-FFF2-40B4-BE49-F238E27FC236}">
                    <a16:creationId xmlns:a16="http://schemas.microsoft.com/office/drawing/2014/main" id="{AB8CB10A-907B-97C5-9BA0-3A71B6DAA0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5" y="1420"/>
                <a:ext cx="1382" cy="1092"/>
                <a:chOff x="2375" y="1420"/>
                <a:chExt cx="1382" cy="1092"/>
              </a:xfrm>
            </p:grpSpPr>
            <p:sp>
              <p:nvSpPr>
                <p:cNvPr id="22559" name="Rectangle 35">
                  <a:extLst>
                    <a:ext uri="{FF2B5EF4-FFF2-40B4-BE49-F238E27FC236}">
                      <a16:creationId xmlns:a16="http://schemas.microsoft.com/office/drawing/2014/main" id="{61CD484F-3D91-D0F2-848D-BA5BEDAE93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8" y="1420"/>
                  <a:ext cx="1296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</a:rPr>
                    <a:t>An attribute encompassing the notion of good, better best can be represented equally well by the values {1, 2, 3} or by { 0.5, 1, 10}.</a:t>
                  </a: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8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60" name="Rectangle 36">
                  <a:extLst>
                    <a:ext uri="{FF2B5EF4-FFF2-40B4-BE49-F238E27FC236}">
                      <a16:creationId xmlns:a16="http://schemas.microsoft.com/office/drawing/2014/main" id="{0D170E46-E985-E7A4-469B-EBFC9BFE6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5" y="1420"/>
                  <a:ext cx="1382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41" name="Group 37">
                <a:extLst>
                  <a:ext uri="{FF2B5EF4-FFF2-40B4-BE49-F238E27FC236}">
                    <a16:creationId xmlns:a16="http://schemas.microsoft.com/office/drawing/2014/main" id="{B906B591-F83A-ABEB-2CCA-1BC58A646C8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512"/>
                <a:ext cx="684" cy="1092"/>
                <a:chOff x="0" y="2512"/>
                <a:chExt cx="684" cy="1092"/>
              </a:xfrm>
            </p:grpSpPr>
            <p:sp>
              <p:nvSpPr>
                <p:cNvPr id="22557" name="Rectangle 38">
                  <a:extLst>
                    <a:ext uri="{FF2B5EF4-FFF2-40B4-BE49-F238E27FC236}">
                      <a16:creationId xmlns:a16="http://schemas.microsoft.com/office/drawing/2014/main" id="{D710CBEA-EB71-7E26-2962-B56EBF6276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512"/>
                  <a:ext cx="598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</a:rPr>
                    <a:t>Interval</a:t>
                  </a:r>
                </a:p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58" name="Rectangle 39">
                  <a:extLst>
                    <a:ext uri="{FF2B5EF4-FFF2-40B4-BE49-F238E27FC236}">
                      <a16:creationId xmlns:a16="http://schemas.microsoft.com/office/drawing/2014/main" id="{093DCB9B-1D50-75E8-84AD-A83BF630DA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512"/>
                  <a:ext cx="684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42" name="Group 40">
                <a:extLst>
                  <a:ext uri="{FF2B5EF4-FFF2-40B4-BE49-F238E27FC236}">
                    <a16:creationId xmlns:a16="http://schemas.microsoft.com/office/drawing/2014/main" id="{E773FB16-C21E-81D1-A05D-A3C9E59866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2512"/>
                <a:ext cx="1691" cy="1092"/>
                <a:chOff x="684" y="2512"/>
                <a:chExt cx="1691" cy="1092"/>
              </a:xfrm>
            </p:grpSpPr>
            <p:sp>
              <p:nvSpPr>
                <p:cNvPr id="22555" name="Rectangle 41">
                  <a:extLst>
                    <a:ext uri="{FF2B5EF4-FFF2-40B4-BE49-F238E27FC236}">
                      <a16:creationId xmlns:a16="http://schemas.microsoft.com/office/drawing/2014/main" id="{C079970E-013D-4A41-A64E-10B7842E0B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7" y="2512"/>
                  <a:ext cx="1605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new_value =a * old_value + b </a:t>
                  </a:r>
                  <a:r>
                    <a:rPr lang="en-US" altLang="it-IT" sz="1800" b="0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where a and b are constants</a:t>
                  </a: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8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56" name="Rectangle 42">
                  <a:extLst>
                    <a:ext uri="{FF2B5EF4-FFF2-40B4-BE49-F238E27FC236}">
                      <a16:creationId xmlns:a16="http://schemas.microsoft.com/office/drawing/2014/main" id="{4E156541-4228-D690-824C-62FAE94777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2512"/>
                  <a:ext cx="1691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43" name="Group 43">
                <a:extLst>
                  <a:ext uri="{FF2B5EF4-FFF2-40B4-BE49-F238E27FC236}">
                    <a16:creationId xmlns:a16="http://schemas.microsoft.com/office/drawing/2014/main" id="{6CCA2938-69D7-5227-4004-89A05E440D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5" y="2512"/>
                <a:ext cx="1382" cy="1092"/>
                <a:chOff x="2375" y="2512"/>
                <a:chExt cx="1382" cy="1092"/>
              </a:xfrm>
            </p:grpSpPr>
            <p:sp>
              <p:nvSpPr>
                <p:cNvPr id="22553" name="Rectangle 44">
                  <a:extLst>
                    <a:ext uri="{FF2B5EF4-FFF2-40B4-BE49-F238E27FC236}">
                      <a16:creationId xmlns:a16="http://schemas.microsoft.com/office/drawing/2014/main" id="{31FB0253-AD31-020A-DC85-6C7411A02D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8" y="2512"/>
                  <a:ext cx="1296" cy="10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</a:rPr>
                    <a:t>Thus, the Fahrenheit and Celsius temperature scales differ in terms of where their zero value is and the size of a unit (degree).</a:t>
                  </a: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8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54" name="Rectangle 45">
                  <a:extLst>
                    <a:ext uri="{FF2B5EF4-FFF2-40B4-BE49-F238E27FC236}">
                      <a16:creationId xmlns:a16="http://schemas.microsoft.com/office/drawing/2014/main" id="{7D38581B-B020-E7A4-E1D2-4679B29EDA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5" y="2512"/>
                  <a:ext cx="1382" cy="109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44" name="Group 46">
                <a:extLst>
                  <a:ext uri="{FF2B5EF4-FFF2-40B4-BE49-F238E27FC236}">
                    <a16:creationId xmlns:a16="http://schemas.microsoft.com/office/drawing/2014/main" id="{4AC8214A-6094-599B-F2BB-57CB8DBD94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604"/>
                <a:ext cx="684" cy="556"/>
                <a:chOff x="0" y="3604"/>
                <a:chExt cx="684" cy="556"/>
              </a:xfrm>
            </p:grpSpPr>
            <p:sp>
              <p:nvSpPr>
                <p:cNvPr id="22551" name="Rectangle 47">
                  <a:extLst>
                    <a:ext uri="{FF2B5EF4-FFF2-40B4-BE49-F238E27FC236}">
                      <a16:creationId xmlns:a16="http://schemas.microsoft.com/office/drawing/2014/main" id="{892AF391-F44A-8DFC-E9C0-32D0AD89D3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604"/>
                  <a:ext cx="598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</a:rPr>
                    <a:t>Ratio</a:t>
                  </a:r>
                </a:p>
                <a:p>
                  <a:pPr algn="ctr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24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52" name="Rectangle 48">
                  <a:extLst>
                    <a:ext uri="{FF2B5EF4-FFF2-40B4-BE49-F238E27FC236}">
                      <a16:creationId xmlns:a16="http://schemas.microsoft.com/office/drawing/2014/main" id="{94AF01D0-BAF5-3B96-53F1-35B62622C2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604"/>
                  <a:ext cx="684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45" name="Group 49">
                <a:extLst>
                  <a:ext uri="{FF2B5EF4-FFF2-40B4-BE49-F238E27FC236}">
                    <a16:creationId xmlns:a16="http://schemas.microsoft.com/office/drawing/2014/main" id="{D933393D-E1B7-A9EE-5462-C8D8D317F0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4" y="3604"/>
                <a:ext cx="1691" cy="556"/>
                <a:chOff x="684" y="3604"/>
                <a:chExt cx="1691" cy="556"/>
              </a:xfrm>
            </p:grpSpPr>
            <p:sp>
              <p:nvSpPr>
                <p:cNvPr id="22549" name="Rectangle 50">
                  <a:extLst>
                    <a:ext uri="{FF2B5EF4-FFF2-40B4-BE49-F238E27FC236}">
                      <a16:creationId xmlns:a16="http://schemas.microsoft.com/office/drawing/2014/main" id="{B7275ED5-B794-1F2E-1019-677CA23A32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7" y="3604"/>
                  <a:ext cx="1605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 i="1">
                      <a:latin typeface="Times New Roman" panose="02020603050405020304" pitchFamily="18" charset="0"/>
                      <a:ea typeface="MS Mincho" panose="02020609040205080304" pitchFamily="49" charset="-128"/>
                    </a:rPr>
                    <a:t>new_value = a * old_value</a:t>
                  </a:r>
                  <a:endParaRPr lang="en-US" altLang="it-IT" sz="1800" b="0"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8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50" name="Rectangle 51">
                  <a:extLst>
                    <a:ext uri="{FF2B5EF4-FFF2-40B4-BE49-F238E27FC236}">
                      <a16:creationId xmlns:a16="http://schemas.microsoft.com/office/drawing/2014/main" id="{310EBA4F-08A7-3F11-9020-827D01DE35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4" y="3604"/>
                  <a:ext cx="1691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2546" name="Group 52">
                <a:extLst>
                  <a:ext uri="{FF2B5EF4-FFF2-40B4-BE49-F238E27FC236}">
                    <a16:creationId xmlns:a16="http://schemas.microsoft.com/office/drawing/2014/main" id="{D6F4ADBB-0CAE-F7D7-8E83-C7D96F7CD1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5" y="3604"/>
                <a:ext cx="1382" cy="556"/>
                <a:chOff x="2375" y="3604"/>
                <a:chExt cx="1382" cy="556"/>
              </a:xfrm>
            </p:grpSpPr>
            <p:sp>
              <p:nvSpPr>
                <p:cNvPr id="22547" name="Rectangle 53">
                  <a:extLst>
                    <a:ext uri="{FF2B5EF4-FFF2-40B4-BE49-F238E27FC236}">
                      <a16:creationId xmlns:a16="http://schemas.microsoft.com/office/drawing/2014/main" id="{D3711B73-95B3-1AE1-7D2C-367B0FEC8C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8" y="3604"/>
                  <a:ext cx="1296" cy="5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it-IT" sz="1800" b="0">
                      <a:latin typeface="Times New Roman" panose="02020603050405020304" pitchFamily="18" charset="0"/>
                    </a:rPr>
                    <a:t>Length can be measured in meters or feet.</a:t>
                  </a:r>
                </a:p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it-IT" sz="1800" b="0"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548" name="Rectangle 54">
                  <a:extLst>
                    <a:ext uri="{FF2B5EF4-FFF2-40B4-BE49-F238E27FC236}">
                      <a16:creationId xmlns:a16="http://schemas.microsoft.com/office/drawing/2014/main" id="{0047A962-1902-F487-9B60-7EB0CD5165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75" y="3604"/>
                  <a:ext cx="1382" cy="556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5000"/>
                    <a:buFont typeface="Monotype Sorts" pitchFamily="2" charset="2"/>
                    <a:buChar char="l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100000"/>
                    <a:buFont typeface="Arial" panose="020B0604020202020204" pitchFamily="34" charset="0"/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10000"/>
                    </a:spcBef>
                    <a:spcAft>
                      <a:spcPts val="400"/>
                    </a:spcAft>
                    <a:buClr>
                      <a:srgbClr val="0C7B9C"/>
                    </a:buClr>
                    <a:buSzPct val="70000"/>
                    <a:buFont typeface="Wingdings" pitchFamily="2" charset="2"/>
                    <a:buChar char="u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SzPct val="100000"/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SzPct val="10000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it-IT" altLang="it-IT" sz="1400"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2531" name="Rectangle 55">
              <a:extLst>
                <a:ext uri="{FF2B5EF4-FFF2-40B4-BE49-F238E27FC236}">
                  <a16:creationId xmlns:a16="http://schemas.microsoft.com/office/drawing/2014/main" id="{08AB91CF-013F-FD0B-A0FE-BB0EC21BA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" y="-2"/>
              <a:ext cx="3761" cy="4164"/>
            </a:xfrm>
            <a:prstGeom prst="rect">
              <a:avLst/>
            </a:prstGeom>
            <a:noFill/>
            <a:ln w="6350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026">
            <a:extLst>
              <a:ext uri="{FF2B5EF4-FFF2-40B4-BE49-F238E27FC236}">
                <a16:creationId xmlns:a16="http://schemas.microsoft.com/office/drawing/2014/main" id="{434D6E96-1D26-E1D8-F11C-C1FC93365B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Types of data sets </a:t>
            </a:r>
          </a:p>
        </p:txBody>
      </p:sp>
      <p:sp>
        <p:nvSpPr>
          <p:cNvPr id="23554" name="Rectangle 1027">
            <a:extLst>
              <a:ext uri="{FF2B5EF4-FFF2-40B4-BE49-F238E27FC236}">
                <a16:creationId xmlns:a16="http://schemas.microsoft.com/office/drawing/2014/main" id="{470A02B9-D1D3-B6FD-1F94-9D5C100C5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en-US" altLang="it-IT" sz="2600">
                <a:ea typeface="ＭＳ Ｐゴシック" panose="020B0600070205080204" pitchFamily="34" charset="-128"/>
              </a:rPr>
              <a:t>Record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Data Matrix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Document Data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Transaction Data</a:t>
            </a:r>
          </a:p>
          <a:p>
            <a:pPr marL="285750" indent="-285750">
              <a:lnSpc>
                <a:spcPct val="90000"/>
              </a:lnSpc>
            </a:pPr>
            <a:r>
              <a:rPr lang="en-US" altLang="it-IT" sz="2600">
                <a:ea typeface="ＭＳ Ｐゴシック" panose="020B0600070205080204" pitchFamily="34" charset="-128"/>
              </a:rPr>
              <a:t>Graph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World Wide Web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Molecular Structures</a:t>
            </a:r>
          </a:p>
          <a:p>
            <a:pPr marL="285750" indent="-285750">
              <a:lnSpc>
                <a:spcPct val="90000"/>
              </a:lnSpc>
            </a:pPr>
            <a:r>
              <a:rPr lang="en-US" altLang="it-IT" sz="2600">
                <a:ea typeface="ＭＳ Ｐゴシック" panose="020B0600070205080204" pitchFamily="34" charset="-128"/>
              </a:rPr>
              <a:t>Ordered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Spatial Data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Temporal Data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Sequential Data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Genetic Sequence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it-IT" b="1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23555" name="Segnaposto numero diapositiva 3">
            <a:extLst>
              <a:ext uri="{FF2B5EF4-FFF2-40B4-BE49-F238E27FC236}">
                <a16:creationId xmlns:a16="http://schemas.microsoft.com/office/drawing/2014/main" id="{16C0B6A9-9206-7F8C-E1D4-DC0A35E56875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20976CF-A5DC-0840-8067-6183FBB11CC6}" type="slidenum">
              <a:rPr lang="en-US" altLang="it-IT" sz="1200">
                <a:solidFill>
                  <a:srgbClr val="898989"/>
                </a:solidFill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10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4B4234C7-1121-D4A9-9C14-818A49BDB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Record (Tabular)  Data </a:t>
            </a:r>
          </a:p>
        </p:txBody>
      </p:sp>
      <p:sp>
        <p:nvSpPr>
          <p:cNvPr id="13315" name="Rectangle 7">
            <a:extLst>
              <a:ext uri="{FF2B5EF4-FFF2-40B4-BE49-F238E27FC236}">
                <a16:creationId xmlns:a16="http://schemas.microsoft.com/office/drawing/2014/main" id="{A1B8A453-9D38-E59E-CBB3-426C4C2793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Data that consists of a collection of records, each of which consists of a fixed set of attributes </a:t>
            </a:r>
          </a:p>
          <a:p>
            <a:pPr lvl="1">
              <a:buFont typeface="Arial" charset="0"/>
              <a:buChar char="–"/>
              <a:defRPr/>
            </a:pPr>
            <a:endParaRPr lang="en-US"/>
          </a:p>
          <a:p>
            <a:pPr lvl="1">
              <a:buFont typeface="Arial" charset="0"/>
              <a:buChar char="–"/>
              <a:defRPr/>
            </a:pPr>
            <a:endParaRPr lang="en-US"/>
          </a:p>
        </p:txBody>
      </p:sp>
      <p:graphicFrame>
        <p:nvGraphicFramePr>
          <p:cNvPr id="25603" name="Object 5">
            <a:extLst>
              <a:ext uri="{FF2B5EF4-FFF2-40B4-BE49-F238E27FC236}">
                <a16:creationId xmlns:a16="http://schemas.microsoft.com/office/drawing/2014/main" id="{A3EA5504-021F-F476-FBEC-80B3418F97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9325" y="2514600"/>
          <a:ext cx="3419475" cy="365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32435800" imgH="34671000" progId="Word.Document.8">
                  <p:embed/>
                </p:oleObj>
              </mc:Choice>
              <mc:Fallback>
                <p:oleObj name="Document" r:id="rId3" imgW="32435800" imgH="346710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2514600"/>
                        <a:ext cx="3419475" cy="3656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CC6C02CD-93D3-CD3F-F1B6-F34C51815A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Data Matrix (vectors) </a:t>
            </a:r>
          </a:p>
        </p:txBody>
      </p:sp>
      <p:sp>
        <p:nvSpPr>
          <p:cNvPr id="14339" name="Rectangle 6">
            <a:extLst>
              <a:ext uri="{FF2B5EF4-FFF2-40B4-BE49-F238E27FC236}">
                <a16:creationId xmlns:a16="http://schemas.microsoft.com/office/drawing/2014/main" id="{8F4988F1-5118-CAF0-70A0-E27725CF7E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1242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400" dirty="0">
                <a:cs typeface="+mn-cs"/>
              </a:rPr>
              <a:t>If data objects have the same fixed set of numeric attributes, then the data objects can be thought of as points in a multi-dimensional space, where each dimension represents a distinct attribute </a:t>
            </a:r>
          </a:p>
          <a:p>
            <a:pPr lvl="4">
              <a:defRPr/>
            </a:pPr>
            <a:endParaRPr lang="en-US" sz="1800" dirty="0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400" dirty="0">
                <a:cs typeface="+mn-cs"/>
              </a:rPr>
              <a:t>Such data set can be represented by an m by n matrix, where there are m rows, one for each object, and n columns, one for each attribute</a:t>
            </a:r>
          </a:p>
        </p:txBody>
      </p:sp>
      <p:graphicFrame>
        <p:nvGraphicFramePr>
          <p:cNvPr id="27651" name="Object 4">
            <a:extLst>
              <a:ext uri="{FF2B5EF4-FFF2-40B4-BE49-F238E27FC236}">
                <a16:creationId xmlns:a16="http://schemas.microsoft.com/office/drawing/2014/main" id="{5852BA56-0134-3E8B-7BDE-9D84AF56E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435475"/>
          <a:ext cx="6705600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4175700" imgH="8864600" progId="Visio.Drawing.6">
                  <p:embed/>
                </p:oleObj>
              </mc:Choice>
              <mc:Fallback>
                <p:oleObj name="VISIO" r:id="rId3" imgW="34175700" imgH="88646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435475"/>
                        <a:ext cx="6705600" cy="173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994FA387-DD4C-57ED-1D4B-1D9B7473CB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Document Data</a:t>
            </a: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22373AE2-04AD-16DF-5FF0-FE6CD23C7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Each document becomes a `term' vector, 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each term is a component (attribute) of the vector,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the value of each component is the number of times the corresponding term occurs in the document. </a:t>
            </a:r>
          </a:p>
          <a:p>
            <a:pPr lvl="1">
              <a:buFont typeface="Arial" charset="0"/>
              <a:buChar char="–"/>
              <a:defRPr/>
            </a:pPr>
            <a:endParaRPr lang="en-US"/>
          </a:p>
          <a:p>
            <a:pPr lvl="1">
              <a:buFont typeface="Arial" charset="0"/>
              <a:buChar char="–"/>
              <a:defRPr/>
            </a:pPr>
            <a:endParaRPr lang="en-US"/>
          </a:p>
        </p:txBody>
      </p:sp>
      <p:graphicFrame>
        <p:nvGraphicFramePr>
          <p:cNvPr id="29699" name="Object 5">
            <a:extLst>
              <a:ext uri="{FF2B5EF4-FFF2-40B4-BE49-F238E27FC236}">
                <a16:creationId xmlns:a16="http://schemas.microsoft.com/office/drawing/2014/main" id="{8E74A33E-5FE4-ABB7-7DCF-17BC27B202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132138"/>
          <a:ext cx="6705600" cy="311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930900" imgH="2705100" progId="Visio.Drawing.6">
                  <p:embed/>
                </p:oleObj>
              </mc:Choice>
              <mc:Fallback>
                <p:oleObj name="Visio" r:id="rId3" imgW="5930900" imgH="270510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132138"/>
                        <a:ext cx="6705600" cy="311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>
            <a:extLst>
              <a:ext uri="{FF2B5EF4-FFF2-40B4-BE49-F238E27FC236}">
                <a16:creationId xmlns:a16="http://schemas.microsoft.com/office/drawing/2014/main" id="{50B8A3AB-909A-1304-0C42-8C940A95B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Transaction Data</a:t>
            </a:r>
          </a:p>
        </p:txBody>
      </p:sp>
      <p:sp>
        <p:nvSpPr>
          <p:cNvPr id="16387" name="Rectangle 7">
            <a:extLst>
              <a:ext uri="{FF2B5EF4-FFF2-40B4-BE49-F238E27FC236}">
                <a16:creationId xmlns:a16="http://schemas.microsoft.com/office/drawing/2014/main" id="{DF211E27-31CE-D8B8-7B41-8B55697B4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A special type of record data, where 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each record (transaction) involves a set of items.  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For example, consider a grocery store.  The set of products purchased by a customer during one shopping trip constitute a transaction, while the individual products that were purchased are the items. </a:t>
            </a:r>
          </a:p>
          <a:p>
            <a:pPr lvl="1">
              <a:buFont typeface="Arial" charset="0"/>
              <a:buChar char="–"/>
              <a:defRPr/>
            </a:pPr>
            <a:endParaRPr lang="en-US"/>
          </a:p>
          <a:p>
            <a:pPr lvl="1">
              <a:buFont typeface="Arial" charset="0"/>
              <a:buChar char="–"/>
              <a:defRPr/>
            </a:pPr>
            <a:endParaRPr lang="en-US"/>
          </a:p>
        </p:txBody>
      </p:sp>
      <p:graphicFrame>
        <p:nvGraphicFramePr>
          <p:cNvPr id="31747" name="Object 5">
            <a:extLst>
              <a:ext uri="{FF2B5EF4-FFF2-40B4-BE49-F238E27FC236}">
                <a16:creationId xmlns:a16="http://schemas.microsoft.com/office/drawing/2014/main" id="{BAC2B38C-37C1-4B7A-610D-90F51CA133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973513"/>
          <a:ext cx="4495800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22936200" imgH="12001500" progId="Word.Document.8">
                  <p:embed/>
                </p:oleObj>
              </mc:Choice>
              <mc:Fallback>
                <p:oleObj name="Document" r:id="rId3" imgW="22936200" imgH="1200150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973513"/>
                        <a:ext cx="4495800" cy="235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ill Sans MT"/>
                <a:cs typeface="Gill Sans MT"/>
              </a:rPr>
              <a:t>Graph Data </a:t>
            </a:r>
          </a:p>
        </p:txBody>
      </p:sp>
      <p:sp>
        <p:nvSpPr>
          <p:cNvPr id="56322" name="Rectangle 8"/>
          <p:cNvSpPr>
            <a:spLocks noGrp="1" noChangeArrowheads="1"/>
          </p:cNvSpPr>
          <p:nvPr>
            <p:ph idx="1"/>
          </p:nvPr>
        </p:nvSpPr>
        <p:spPr>
          <a:xfrm>
            <a:off x="456950" y="1344275"/>
            <a:ext cx="3043418" cy="3263504"/>
          </a:xfrm>
        </p:spPr>
        <p:txBody>
          <a:bodyPr/>
          <a:lstStyle/>
          <a:p>
            <a:r>
              <a:rPr lang="en-US" sz="1875" dirty="0"/>
              <a:t>Examples: Generic graph, a molecule, and webpages </a:t>
            </a:r>
          </a:p>
        </p:txBody>
      </p:sp>
      <p:graphicFrame>
        <p:nvGraphicFramePr>
          <p:cNvPr id="56323" name="Object 5"/>
          <p:cNvGraphicFramePr>
            <a:graphicFrameLocks noChangeAspect="1"/>
          </p:cNvGraphicFramePr>
          <p:nvPr/>
        </p:nvGraphicFramePr>
        <p:xfrm>
          <a:off x="1086133" y="2691922"/>
          <a:ext cx="2234804" cy="1716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839724" imgH="646176" progId="Visio.Drawing.6">
                  <p:embed/>
                </p:oleObj>
              </mc:Choice>
              <mc:Fallback>
                <p:oleObj name="VISIO" r:id="rId3" imgW="839724" imgH="646176" progId="Visio.Drawing.6">
                  <p:embed/>
                  <p:pic>
                    <p:nvPicPr>
                      <p:cNvPr id="5632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133" y="2691922"/>
                        <a:ext cx="2234804" cy="17168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32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51" y="2057401"/>
            <a:ext cx="4469606" cy="3426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6325" name="Object 10"/>
          <p:cNvGraphicFramePr>
            <a:graphicFrameLocks noChangeAspect="1"/>
          </p:cNvGraphicFramePr>
          <p:nvPr/>
        </p:nvGraphicFramePr>
        <p:xfrm>
          <a:off x="1241662" y="4408803"/>
          <a:ext cx="1473994" cy="1373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5792724" imgH="5411724" progId="Visio.Drawing.6">
                  <p:embed/>
                </p:oleObj>
              </mc:Choice>
              <mc:Fallback>
                <p:oleObj name="VISIO" r:id="rId6" imgW="5792724" imgH="5411724" progId="Visio.Drawing.6">
                  <p:embed/>
                  <p:pic>
                    <p:nvPicPr>
                      <p:cNvPr id="5632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662" y="4408803"/>
                        <a:ext cx="1473994" cy="1373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Rectangle 11"/>
          <p:cNvSpPr>
            <a:spLocks noChangeArrowheads="1"/>
          </p:cNvSpPr>
          <p:nvPr/>
        </p:nvSpPr>
        <p:spPr bwMode="auto">
          <a:xfrm>
            <a:off x="933540" y="5700668"/>
            <a:ext cx="246253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  <a:spcAft>
                <a:spcPts val="300"/>
              </a:spcAft>
              <a:buClr>
                <a:srgbClr val="0C7B9C"/>
              </a:buClr>
              <a:buSzPct val="75000"/>
            </a:pPr>
            <a:r>
              <a:rPr lang="en-US" sz="1500" dirty="0"/>
              <a:t>Benzene Molecule: C6H6</a:t>
            </a:r>
          </a:p>
        </p:txBody>
      </p:sp>
    </p:spTree>
    <p:extLst>
      <p:ext uri="{BB962C8B-B14F-4D97-AF65-F5344CB8AC3E}">
        <p14:creationId xmlns:p14="http://schemas.microsoft.com/office/powerpoint/2010/main" val="3318310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2">
            <a:extLst>
              <a:ext uri="{FF2B5EF4-FFF2-40B4-BE49-F238E27FC236}">
                <a16:creationId xmlns:a16="http://schemas.microsoft.com/office/drawing/2014/main" id="{A5C0CBCE-288C-756F-D46F-0119F977E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Ordered Data </a:t>
            </a:r>
          </a:p>
        </p:txBody>
      </p:sp>
      <p:sp>
        <p:nvSpPr>
          <p:cNvPr id="19459" name="Rectangle 13">
            <a:extLst>
              <a:ext uri="{FF2B5EF4-FFF2-40B4-BE49-F238E27FC236}">
                <a16:creationId xmlns:a16="http://schemas.microsoft.com/office/drawing/2014/main" id="{B51A2B12-8344-7317-A3D0-1E2FEB78C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Sequences of transactions</a:t>
            </a:r>
          </a:p>
        </p:txBody>
      </p:sp>
      <p:pic>
        <p:nvPicPr>
          <p:cNvPr id="37891" name="Picture 6">
            <a:extLst>
              <a:ext uri="{FF2B5EF4-FFF2-40B4-BE49-F238E27FC236}">
                <a16:creationId xmlns:a16="http://schemas.microsoft.com/office/drawing/2014/main" id="{7820C472-EABE-532C-685A-8ECAE9C19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725" y="2408238"/>
            <a:ext cx="5121275" cy="38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2" name="Text Box 7">
            <a:extLst>
              <a:ext uri="{FF2B5EF4-FFF2-40B4-BE49-F238E27FC236}">
                <a16:creationId xmlns:a16="http://schemas.microsoft.com/office/drawing/2014/main" id="{052FC72C-7608-E9D9-C544-27B8E3782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5" y="5486400"/>
            <a:ext cx="2057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cs typeface="Arial" panose="020B0604020202020204" pitchFamily="34" charset="0"/>
              </a:rPr>
              <a:t>An element of the sequence</a:t>
            </a:r>
          </a:p>
        </p:txBody>
      </p:sp>
      <p:sp>
        <p:nvSpPr>
          <p:cNvPr id="37893" name="AutoShape 8">
            <a:extLst>
              <a:ext uri="{FF2B5EF4-FFF2-40B4-BE49-F238E27FC236}">
                <a16:creationId xmlns:a16="http://schemas.microsoft.com/office/drawing/2014/main" id="{188E8912-F617-D617-D659-F897A6A724FE}"/>
              </a:ext>
            </a:extLst>
          </p:cNvPr>
          <p:cNvSpPr>
            <a:spLocks/>
          </p:cNvSpPr>
          <p:nvPr/>
        </p:nvSpPr>
        <p:spPr bwMode="auto">
          <a:xfrm rot="-5400000">
            <a:off x="2994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37894" name="Text Box 9">
            <a:extLst>
              <a:ext uri="{FF2B5EF4-FFF2-40B4-BE49-F238E27FC236}">
                <a16:creationId xmlns:a16="http://schemas.microsoft.com/office/drawing/2014/main" id="{3C6C703E-C8A8-51A8-12E1-2BD31D70E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828800"/>
            <a:ext cx="2057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cs typeface="Arial" panose="020B0604020202020204" pitchFamily="34" charset="0"/>
              </a:rPr>
              <a:t>Items/Events</a:t>
            </a:r>
          </a:p>
        </p:txBody>
      </p:sp>
      <p:sp>
        <p:nvSpPr>
          <p:cNvPr id="37895" name="Line 10">
            <a:extLst>
              <a:ext uri="{FF2B5EF4-FFF2-40B4-BE49-F238E27FC236}">
                <a16:creationId xmlns:a16="http://schemas.microsoft.com/office/drawing/2014/main" id="{A429856B-7277-A586-9BED-074EF565EB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896" name="Line 11">
            <a:extLst>
              <a:ext uri="{FF2B5EF4-FFF2-40B4-BE49-F238E27FC236}">
                <a16:creationId xmlns:a16="http://schemas.microsoft.com/office/drawing/2014/main" id="{F32CC11D-0976-6C60-2B6C-073889FD8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>
            <a:extLst>
              <a:ext uri="{FF2B5EF4-FFF2-40B4-BE49-F238E27FC236}">
                <a16:creationId xmlns:a16="http://schemas.microsoft.com/office/drawing/2014/main" id="{4B97AD15-AA53-CFD3-C679-7ED2B28BC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Ordered Data </a:t>
            </a:r>
          </a:p>
        </p:txBody>
      </p:sp>
      <p:sp>
        <p:nvSpPr>
          <p:cNvPr id="20483" name="Rectangle 6">
            <a:extLst>
              <a:ext uri="{FF2B5EF4-FFF2-40B4-BE49-F238E27FC236}">
                <a16:creationId xmlns:a16="http://schemas.microsoft.com/office/drawing/2014/main" id="{54BAE868-7A3E-F7A0-CCBC-E0845B24F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 Genomic sequence data</a:t>
            </a:r>
          </a:p>
        </p:txBody>
      </p:sp>
      <p:graphicFrame>
        <p:nvGraphicFramePr>
          <p:cNvPr id="39939" name="Object 4">
            <a:extLst>
              <a:ext uri="{FF2B5EF4-FFF2-40B4-BE49-F238E27FC236}">
                <a16:creationId xmlns:a16="http://schemas.microsoft.com/office/drawing/2014/main" id="{9CEF3B62-4672-1068-47FA-11D05D451F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1828800"/>
          <a:ext cx="4278313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3982700" imgH="11950700" progId="Visio.Drawing.6">
                  <p:embed/>
                </p:oleObj>
              </mc:Choice>
              <mc:Fallback>
                <p:oleObj name="VISIO" r:id="rId3" imgW="13982700" imgH="1195070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28800"/>
                        <a:ext cx="4278313" cy="365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9" descr="sst_land_temp_82_best">
            <a:extLst>
              <a:ext uri="{FF2B5EF4-FFF2-40B4-BE49-F238E27FC236}">
                <a16:creationId xmlns:a16="http://schemas.microsoft.com/office/drawing/2014/main" id="{15E33379-97AE-C376-5FD4-736884AE841E}"/>
              </a:ext>
            </a:extLst>
          </p:cNvPr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427163"/>
            <a:ext cx="6629400" cy="497363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07" name="Rectangle 2">
            <a:extLst>
              <a:ext uri="{FF2B5EF4-FFF2-40B4-BE49-F238E27FC236}">
                <a16:creationId xmlns:a16="http://schemas.microsoft.com/office/drawing/2014/main" id="{9634917D-4E78-C50D-B6C6-0237673AD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Ordered Data</a:t>
            </a:r>
          </a:p>
        </p:txBody>
      </p:sp>
      <p:sp>
        <p:nvSpPr>
          <p:cNvPr id="21508" name="Rectangle 11">
            <a:extLst>
              <a:ext uri="{FF2B5EF4-FFF2-40B4-BE49-F238E27FC236}">
                <a16:creationId xmlns:a16="http://schemas.microsoft.com/office/drawing/2014/main" id="{79484F81-CAD8-AEF6-A4DC-BA1105849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Spatio-Temporal Data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C721ED9-13BF-DF70-6524-A88FD241B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667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41989" name="Text Box 12">
            <a:extLst>
              <a:ext uri="{FF2B5EF4-FFF2-40B4-BE49-F238E27FC236}">
                <a16:creationId xmlns:a16="http://schemas.microsoft.com/office/drawing/2014/main" id="{626D4B10-392C-60CD-47E9-16F238BAD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955925"/>
            <a:ext cx="2286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cs typeface="Arial" panose="020B0604020202020204" pitchFamily="34" charset="0"/>
              </a:rPr>
              <a:t>Average Monthly Temperature of land and ocean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Attributes </a:t>
            </a:r>
          </a:p>
        </p:txBody>
      </p:sp>
      <p:sp>
        <p:nvSpPr>
          <p:cNvPr id="7171" name="Rectangle 10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Five are different types of attributes</a:t>
            </a:r>
          </a:p>
          <a:p>
            <a:pPr marL="561975" lvl="1">
              <a:spcBef>
                <a:spcPts val="225"/>
              </a:spcBef>
            </a:pPr>
            <a:r>
              <a:rPr lang="en-US" dirty="0">
                <a:solidFill>
                  <a:srgbClr val="FF0000"/>
                </a:solidFill>
              </a:rPr>
              <a:t>Nominal/Categorical: </a:t>
            </a:r>
            <a:r>
              <a:rPr lang="en-US" dirty="0"/>
              <a:t>attribute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values in a </a:t>
            </a:r>
            <a:r>
              <a:rPr lang="en-GB" dirty="0"/>
              <a:t>finite domain, categories, “name of things”</a:t>
            </a:r>
            <a:endParaRPr lang="en-US" dirty="0"/>
          </a:p>
          <a:p>
            <a:pPr marL="942975" lvl="2" indent="-295275">
              <a:spcBef>
                <a:spcPts val="225"/>
              </a:spcBef>
            </a:pPr>
            <a:r>
              <a:rPr lang="en-US" sz="1800" b="1" dirty="0"/>
              <a:t>Examples</a:t>
            </a:r>
            <a:r>
              <a:rPr lang="en-US" sz="1800" dirty="0"/>
              <a:t>: ID numbers, eye color, zip codes</a:t>
            </a:r>
          </a:p>
          <a:p>
            <a:pPr marL="604838" lvl="1" indent="-257175">
              <a:spcBef>
                <a:spcPts val="225"/>
              </a:spcBef>
            </a:pPr>
            <a:r>
              <a:rPr lang="en-GB" dirty="0">
                <a:solidFill>
                  <a:srgbClr val="FF0000"/>
                </a:solidFill>
              </a:rPr>
              <a:t>Binary:</a:t>
            </a:r>
            <a:r>
              <a:rPr lang="en-GB" sz="1950" dirty="0"/>
              <a:t>  Nominal attribute with only 2 states (0 and 1) </a:t>
            </a:r>
          </a:p>
          <a:p>
            <a:pPr marL="904875" lvl="2" indent="-257175">
              <a:spcBef>
                <a:spcPts val="225"/>
              </a:spcBef>
            </a:pPr>
            <a:r>
              <a:rPr lang="en-GB" sz="1800" b="1" dirty="0"/>
              <a:t>Symmetric binary</a:t>
            </a:r>
            <a:r>
              <a:rPr lang="en-GB" sz="1800" dirty="0"/>
              <a:t>: both outcomes equally important (</a:t>
            </a:r>
            <a:r>
              <a:rPr lang="en-GB" sz="1650" dirty="0"/>
              <a:t>e.g., gender)</a:t>
            </a:r>
          </a:p>
          <a:p>
            <a:pPr marL="904875" lvl="2" indent="-257175">
              <a:spcBef>
                <a:spcPts val="225"/>
              </a:spcBef>
            </a:pPr>
            <a:r>
              <a:rPr lang="en-GB" sz="1800" b="1" dirty="0"/>
              <a:t>Asymmetric binary: </a:t>
            </a:r>
            <a:r>
              <a:rPr lang="en-GB" sz="1650" dirty="0"/>
              <a:t>outcomes not equally important. </a:t>
            </a:r>
            <a:r>
              <a:rPr lang="en-GB" dirty="0"/>
              <a:t> (</a:t>
            </a:r>
            <a:r>
              <a:rPr lang="en-GB" sz="1650" dirty="0"/>
              <a:t>e.g., medical test positive vs. negative) The convention is to assign 1 to most important outcome (e.g., having cancer)</a:t>
            </a:r>
            <a:endParaRPr lang="en-US" sz="1650" dirty="0"/>
          </a:p>
          <a:p>
            <a:pPr marL="561975" lvl="1">
              <a:spcBef>
                <a:spcPts val="225"/>
              </a:spcBef>
            </a:pPr>
            <a:r>
              <a:rPr lang="en-US" dirty="0">
                <a:solidFill>
                  <a:srgbClr val="FF0000"/>
                </a:solidFill>
              </a:rPr>
              <a:t>Ordinal: </a:t>
            </a:r>
            <a:r>
              <a:rPr lang="en-US" dirty="0"/>
              <a:t>finite domain </a:t>
            </a:r>
            <a:r>
              <a:rPr lang="en-GB" dirty="0"/>
              <a:t>with a meaningful ordering on the domain </a:t>
            </a:r>
            <a:endParaRPr lang="en-US" sz="2100" dirty="0"/>
          </a:p>
          <a:p>
            <a:pPr marL="942975" lvl="2" indent="-295275">
              <a:spcBef>
                <a:spcPts val="225"/>
              </a:spcBef>
            </a:pPr>
            <a:r>
              <a:rPr lang="en-US" sz="1800" b="1" dirty="0"/>
              <a:t>Examples</a:t>
            </a:r>
            <a:r>
              <a:rPr lang="en-US" sz="1800" dirty="0"/>
              <a:t>: rankings (e.g., taste of potato chips on a scale from 1-10), grades, height {tall, medium, short}</a:t>
            </a:r>
          </a:p>
        </p:txBody>
      </p:sp>
    </p:spTree>
    <p:extLst>
      <p:ext uri="{BB962C8B-B14F-4D97-AF65-F5344CB8AC3E}">
        <p14:creationId xmlns:p14="http://schemas.microsoft.com/office/powerpoint/2010/main" val="2687877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Attributes </a:t>
            </a:r>
          </a:p>
        </p:txBody>
      </p:sp>
      <p:sp>
        <p:nvSpPr>
          <p:cNvPr id="7171" name="Rectangle 10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19075">
              <a:spcBef>
                <a:spcPts val="225"/>
              </a:spcBef>
            </a:pPr>
            <a:r>
              <a:rPr lang="en-US" dirty="0">
                <a:solidFill>
                  <a:srgbClr val="FF0000"/>
                </a:solidFill>
              </a:rPr>
              <a:t>Numeric: </a:t>
            </a:r>
            <a:r>
              <a:rPr lang="en-GB" dirty="0"/>
              <a:t>quantity (integer or real-valued) </a:t>
            </a:r>
            <a:endParaRPr lang="en-US" dirty="0"/>
          </a:p>
          <a:p>
            <a:pPr marL="519113" lvl="1">
              <a:spcBef>
                <a:spcPts val="225"/>
              </a:spcBef>
            </a:pPr>
            <a:r>
              <a:rPr lang="en-US" b="1" dirty="0"/>
              <a:t>Interval-Scaled</a:t>
            </a:r>
          </a:p>
          <a:p>
            <a:pPr marL="862013" lvl="2">
              <a:spcBef>
                <a:spcPts val="225"/>
              </a:spcBef>
            </a:pPr>
            <a:r>
              <a:rPr lang="en-GB" dirty="0"/>
              <a:t>Measured on a scale of equal-sized units  </a:t>
            </a:r>
          </a:p>
          <a:p>
            <a:pPr marL="862013" lvl="2">
              <a:spcBef>
                <a:spcPts val="225"/>
              </a:spcBef>
            </a:pPr>
            <a:r>
              <a:rPr lang="en-GB" dirty="0"/>
              <a:t>Values have order</a:t>
            </a:r>
            <a:endParaRPr lang="en-US" dirty="0"/>
          </a:p>
          <a:p>
            <a:pPr marL="600075" lvl="1" indent="-295275">
              <a:spcBef>
                <a:spcPts val="225"/>
              </a:spcBef>
            </a:pPr>
            <a:r>
              <a:rPr lang="en-US" sz="2100" b="1" dirty="0"/>
              <a:t>Examples</a:t>
            </a:r>
            <a:r>
              <a:rPr lang="en-US" sz="2100" dirty="0"/>
              <a:t>: calendar dates, temperatures in Celsius</a:t>
            </a:r>
          </a:p>
          <a:p>
            <a:pPr marL="219075">
              <a:spcBef>
                <a:spcPts val="225"/>
              </a:spcBef>
            </a:pPr>
            <a:r>
              <a:rPr lang="en-US" dirty="0">
                <a:solidFill>
                  <a:srgbClr val="FF0000"/>
                </a:solidFill>
              </a:rPr>
              <a:t>Ratio-Scaled: </a:t>
            </a:r>
            <a:r>
              <a:rPr lang="en-GB" dirty="0"/>
              <a:t>We can speak of values as being an order of magnitude larger than the unit of measurement </a:t>
            </a:r>
            <a:endParaRPr lang="en-US" dirty="0"/>
          </a:p>
          <a:p>
            <a:pPr marL="600075" lvl="1" indent="-295275">
              <a:spcBef>
                <a:spcPts val="225"/>
              </a:spcBef>
            </a:pPr>
            <a:r>
              <a:rPr lang="en-US" sz="2100" b="1" dirty="0"/>
              <a:t>Examples</a:t>
            </a:r>
            <a:r>
              <a:rPr lang="en-US" sz="2100" dirty="0"/>
              <a:t>:  length, counts, elapsed time (e.g., time to run a race) </a:t>
            </a:r>
          </a:p>
          <a:p>
            <a:pPr marL="600075" lvl="1" indent="-295275">
              <a:spcBef>
                <a:spcPts val="225"/>
              </a:spcBef>
            </a:pPr>
            <a:r>
              <a:rPr lang="en-GB" dirty="0"/>
              <a:t>A baseball game lasting 3 hours is </a:t>
            </a:r>
            <a:r>
              <a:rPr lang="en-GB" b="1" dirty="0"/>
              <a:t>50% longer </a:t>
            </a:r>
            <a:r>
              <a:rPr lang="en-GB" dirty="0"/>
              <a:t>than a game lasting </a:t>
            </a:r>
            <a:r>
              <a:rPr lang="en-GB" b="1" dirty="0"/>
              <a:t>2 hours.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64642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and Continuous Attributes </a:t>
            </a:r>
          </a:p>
        </p:txBody>
      </p:sp>
      <p:sp>
        <p:nvSpPr>
          <p:cNvPr id="12291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Discrete Attribute</a:t>
            </a:r>
          </a:p>
          <a:p>
            <a:pPr lvl="1">
              <a:lnSpc>
                <a:spcPct val="90000"/>
              </a:lnSpc>
            </a:pPr>
            <a:r>
              <a:rPr lang="en-US" sz="1650" dirty="0"/>
              <a:t>Has only a finite or countably infinite set of values</a:t>
            </a:r>
          </a:p>
          <a:p>
            <a:pPr lvl="1">
              <a:lnSpc>
                <a:spcPct val="90000"/>
              </a:lnSpc>
            </a:pPr>
            <a:r>
              <a:rPr lang="en-US" sz="1650" b="1" dirty="0"/>
              <a:t>Examples</a:t>
            </a:r>
            <a:r>
              <a:rPr lang="en-US" sz="1650" dirty="0"/>
              <a:t>: zip codes, counts, or the set of words in a collection of documents </a:t>
            </a:r>
          </a:p>
          <a:p>
            <a:pPr lvl="1">
              <a:lnSpc>
                <a:spcPct val="90000"/>
              </a:lnSpc>
            </a:pPr>
            <a:r>
              <a:rPr lang="en-US" sz="1650" dirty="0"/>
              <a:t>Often represented as integer variables.   </a:t>
            </a:r>
          </a:p>
          <a:p>
            <a:pPr lvl="1">
              <a:lnSpc>
                <a:spcPct val="90000"/>
              </a:lnSpc>
            </a:pPr>
            <a:r>
              <a:rPr lang="en-US" sz="1650" dirty="0"/>
              <a:t>Note: </a:t>
            </a:r>
            <a:r>
              <a:rPr lang="en-US" sz="1650" dirty="0">
                <a:solidFill>
                  <a:srgbClr val="CC3300"/>
                </a:solidFill>
              </a:rPr>
              <a:t>binary attributes</a:t>
            </a:r>
            <a:r>
              <a:rPr lang="en-US" sz="1650" dirty="0"/>
              <a:t> are a special case of discrete attributes </a:t>
            </a:r>
          </a:p>
          <a:p>
            <a:pPr>
              <a:lnSpc>
                <a:spcPct val="90000"/>
              </a:lnSpc>
            </a:pPr>
            <a:r>
              <a:rPr lang="en-US" dirty="0"/>
              <a:t>Continuous Attribute </a:t>
            </a:r>
          </a:p>
          <a:p>
            <a:pPr lvl="1">
              <a:lnSpc>
                <a:spcPct val="90000"/>
              </a:lnSpc>
            </a:pPr>
            <a:r>
              <a:rPr lang="en-US" sz="1650" b="1" dirty="0"/>
              <a:t>Has real numbers </a:t>
            </a:r>
            <a:r>
              <a:rPr lang="en-US" sz="1650" dirty="0"/>
              <a:t>as attribute values</a:t>
            </a:r>
          </a:p>
          <a:p>
            <a:pPr lvl="1">
              <a:lnSpc>
                <a:spcPct val="90000"/>
              </a:lnSpc>
            </a:pPr>
            <a:r>
              <a:rPr lang="en-US" sz="1650" b="1" dirty="0"/>
              <a:t>Examples</a:t>
            </a:r>
            <a:r>
              <a:rPr lang="en-US" sz="1650" dirty="0"/>
              <a:t>: temperature, height, or weight.  </a:t>
            </a:r>
          </a:p>
          <a:p>
            <a:pPr lvl="1">
              <a:lnSpc>
                <a:spcPct val="90000"/>
              </a:lnSpc>
            </a:pPr>
            <a:r>
              <a:rPr lang="en-US" sz="1650" dirty="0"/>
              <a:t>Practically, real values can only be measured and represented using a finite number of digits.</a:t>
            </a:r>
          </a:p>
          <a:p>
            <a:pPr lvl="1">
              <a:lnSpc>
                <a:spcPct val="90000"/>
              </a:lnSpc>
            </a:pPr>
            <a:r>
              <a:rPr lang="en-US" sz="1650" dirty="0"/>
              <a:t>Continuous attributes are typically represented as floating-point variables.  </a:t>
            </a:r>
          </a:p>
        </p:txBody>
      </p:sp>
    </p:spTree>
    <p:extLst>
      <p:ext uri="{BB962C8B-B14F-4D97-AF65-F5344CB8AC3E}">
        <p14:creationId xmlns:p14="http://schemas.microsoft.com/office/powerpoint/2010/main" val="3979969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Attribute Values 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type of an attribute depends on which of the following properties/operations it possesses:</a:t>
            </a:r>
          </a:p>
          <a:p>
            <a:pPr lvl="1"/>
            <a:r>
              <a:rPr lang="en-US" dirty="0"/>
              <a:t>Distinctness:  	</a:t>
            </a:r>
            <a:r>
              <a:rPr lang="en-US" sz="2100" dirty="0"/>
              <a:t>=  </a:t>
            </a:r>
            <a:r>
              <a:rPr lang="en-US" sz="2100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		</a:t>
            </a:r>
            <a:endParaRPr lang="en-US" dirty="0"/>
          </a:p>
          <a:p>
            <a:pPr lvl="1"/>
            <a:r>
              <a:rPr lang="en-US" dirty="0"/>
              <a:t>Order:  		</a:t>
            </a:r>
            <a:r>
              <a:rPr lang="en-US" sz="2100" dirty="0"/>
              <a:t>&lt;  &gt;</a:t>
            </a:r>
            <a:r>
              <a:rPr lang="en-US" dirty="0"/>
              <a:t>  		</a:t>
            </a:r>
          </a:p>
          <a:p>
            <a:pPr lvl="1"/>
            <a:r>
              <a:rPr lang="en-US" dirty="0"/>
              <a:t>Differences are	</a:t>
            </a:r>
            <a:r>
              <a:rPr lang="en-US" sz="2100" dirty="0"/>
              <a:t>+  -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meaningful : 		</a:t>
            </a:r>
          </a:p>
          <a:p>
            <a:pPr lvl="1"/>
            <a:r>
              <a:rPr lang="en-US" dirty="0"/>
              <a:t>Ratios are  	</a:t>
            </a:r>
            <a:r>
              <a:rPr lang="en-US" sz="2100" dirty="0"/>
              <a:t>*  /</a:t>
            </a:r>
            <a:br>
              <a:rPr lang="en-US" sz="2100" dirty="0"/>
            </a:br>
            <a:r>
              <a:rPr lang="en-US" dirty="0"/>
              <a:t>meaningful</a:t>
            </a:r>
          </a:p>
          <a:p>
            <a:pPr lvl="4"/>
            <a:endParaRPr lang="en-US" sz="1050" dirty="0"/>
          </a:p>
          <a:p>
            <a:pPr lvl="1"/>
            <a:r>
              <a:rPr lang="en-US" dirty="0"/>
              <a:t>Nominal attribute: distinctness</a:t>
            </a:r>
          </a:p>
          <a:p>
            <a:pPr lvl="1"/>
            <a:r>
              <a:rPr lang="en-US" dirty="0"/>
              <a:t>Ordinal attribute: distinctness &amp; order</a:t>
            </a:r>
          </a:p>
          <a:p>
            <a:pPr lvl="1"/>
            <a:r>
              <a:rPr lang="en-US" dirty="0"/>
              <a:t>Interval attribute: distinctness, order &amp; meaningful differences</a:t>
            </a:r>
          </a:p>
          <a:p>
            <a:pPr lvl="1"/>
            <a:r>
              <a:rPr lang="en-US" dirty="0"/>
              <a:t>Ratio attribute: all 4 properties/operations</a:t>
            </a:r>
          </a:p>
        </p:txBody>
      </p:sp>
    </p:spTree>
    <p:extLst>
      <p:ext uri="{BB962C8B-B14F-4D97-AF65-F5344CB8AC3E}">
        <p14:creationId xmlns:p14="http://schemas.microsoft.com/office/powerpoint/2010/main" val="897044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33"/>
          <p:cNvGraphicFramePr>
            <a:graphicFrameLocks noChangeAspect="1"/>
          </p:cNvGraphicFramePr>
          <p:nvPr/>
        </p:nvGraphicFramePr>
        <p:xfrm>
          <a:off x="1356122" y="1260872"/>
          <a:ext cx="6438900" cy="4023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572080" imgH="5375817" progId="Word.Document.8">
                  <p:embed/>
                </p:oleObj>
              </mc:Choice>
              <mc:Fallback>
                <p:oleObj name="Document" r:id="rId2" imgW="8572080" imgH="5375817" progId="Word.Document.8">
                  <p:embed/>
                  <p:pic>
                    <p:nvPicPr>
                      <p:cNvPr id="10242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122" y="1260872"/>
                        <a:ext cx="6438900" cy="4023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1460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555870C5-0599-4FBD-A6A4-7FB0DAB5D3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Data Quality 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E792D05F-70DB-5485-431B-2EE6A7E9C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 sz="2400">
                <a:ea typeface="ＭＳ Ｐゴシック" panose="020B0600070205080204" pitchFamily="34" charset="-128"/>
              </a:rPr>
              <a:t>Poor data quality negatively affects many data processing efforts</a:t>
            </a:r>
          </a:p>
          <a:p>
            <a:pPr>
              <a:buFont typeface="Monotype Sorts" pitchFamily="2" charset="2"/>
              <a:buNone/>
            </a:pPr>
            <a:r>
              <a:rPr lang="en-US" altLang="it-IT" sz="2400">
                <a:ea typeface="ＭＳ Ｐゴシック" panose="020B0600070205080204" pitchFamily="34" charset="-128"/>
              </a:rPr>
              <a:t>“</a:t>
            </a:r>
            <a:r>
              <a:rPr lang="en-US" altLang="ja-JP" sz="2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The most important point is that poor data quality is an unfolding disaster.</a:t>
            </a:r>
          </a:p>
          <a:p>
            <a:pPr lvl="1"/>
            <a:r>
              <a:rPr lang="en-US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Poor data quality costs the typical company at least ten percent (10%) of revenue; twenty percent (20%) is probably a better estimate.”</a:t>
            </a:r>
          </a:p>
          <a:p>
            <a:pPr>
              <a:buFont typeface="Monotype Sorts" pitchFamily="2" charset="2"/>
              <a:buNone/>
            </a:pPr>
            <a:r>
              <a:rPr lang="en-US" altLang="it-IT" sz="2400">
                <a:latin typeface="Times New Roman" panose="02020603050405020304" pitchFamily="18" charset="0"/>
                <a:ea typeface="ＭＳ Ｐゴシック" panose="020B0600070205080204" pitchFamily="34" charset="-128"/>
              </a:rPr>
              <a:t>			Thomas C. Redman, DM Review, August 2004</a:t>
            </a:r>
          </a:p>
          <a:p>
            <a:pPr>
              <a:buFont typeface="Monotype Sorts" pitchFamily="2" charset="2"/>
              <a:buNone/>
            </a:pPr>
            <a:endParaRPr lang="en-US" altLang="it-IT" sz="90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r>
              <a:rPr lang="en-US" altLang="it-IT" sz="2400">
                <a:ea typeface="ＭＳ Ｐゴシック" panose="020B0600070205080204" pitchFamily="34" charset="-128"/>
              </a:rPr>
              <a:t>Data mining example: a classification model for detecting people who are loan risks is built using poor data</a:t>
            </a:r>
          </a:p>
          <a:p>
            <a:pPr lvl="1"/>
            <a:r>
              <a:rPr lang="en-US" altLang="it-IT" sz="2200">
                <a:ea typeface="ＭＳ Ｐゴシック" panose="020B0600070205080204" pitchFamily="34" charset="-128"/>
              </a:rPr>
              <a:t>Some credit-worthy candidates are denied loans</a:t>
            </a:r>
          </a:p>
          <a:p>
            <a:pPr lvl="1"/>
            <a:r>
              <a:rPr lang="en-US" altLang="it-IT" sz="2200">
                <a:ea typeface="ＭＳ Ｐゴシック" panose="020B0600070205080204" pitchFamily="34" charset="-128"/>
              </a:rPr>
              <a:t>More loans are given to individuals that default</a:t>
            </a:r>
          </a:p>
        </p:txBody>
      </p:sp>
      <p:sp>
        <p:nvSpPr>
          <p:cNvPr id="43011" name="Segnaposto numero diapositiva 3">
            <a:extLst>
              <a:ext uri="{FF2B5EF4-FFF2-40B4-BE49-F238E27FC236}">
                <a16:creationId xmlns:a16="http://schemas.microsoft.com/office/drawing/2014/main" id="{5F0070FA-4245-1941-26C9-3C8F6F792349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AE059ED-3862-6F42-B5ED-B75AF4555373}" type="slidenum">
              <a:rPr lang="en-US" altLang="it-IT" sz="1200">
                <a:solidFill>
                  <a:srgbClr val="898989"/>
                </a:solidFill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24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5">
            <a:extLst>
              <a:ext uri="{FF2B5EF4-FFF2-40B4-BE49-F238E27FC236}">
                <a16:creationId xmlns:a16="http://schemas.microsoft.com/office/drawing/2014/main" id="{0E639F8A-469B-D6B5-37BC-E4728B4FE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Data Quality …</a:t>
            </a:r>
          </a:p>
        </p:txBody>
      </p:sp>
      <p:sp>
        <p:nvSpPr>
          <p:cNvPr id="45058" name="Rectangle 6">
            <a:extLst>
              <a:ext uri="{FF2B5EF4-FFF2-40B4-BE49-F238E27FC236}">
                <a16:creationId xmlns:a16="http://schemas.microsoft.com/office/drawing/2014/main" id="{18744ED3-9F64-A50C-9089-C80ABBB037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What kinds of data quality problems?</a:t>
            </a:r>
          </a:p>
          <a:p>
            <a:r>
              <a:rPr lang="en-US" altLang="it-IT">
                <a:ea typeface="ＭＳ Ｐゴシック" panose="020B0600070205080204" pitchFamily="34" charset="-128"/>
              </a:rPr>
              <a:t>How can we detect problems with the data? </a:t>
            </a:r>
          </a:p>
          <a:p>
            <a:r>
              <a:rPr lang="en-US" altLang="it-IT">
                <a:ea typeface="ＭＳ Ｐゴシック" panose="020B0600070205080204" pitchFamily="34" charset="-128"/>
              </a:rPr>
              <a:t>What can we do about these problems? </a:t>
            </a:r>
          </a:p>
          <a:p>
            <a:pPr lvl="4"/>
            <a:endParaRPr lang="en-US" altLang="it-IT">
              <a:ea typeface="ＭＳ Ｐゴシック" panose="020B0600070205080204" pitchFamily="34" charset="-128"/>
            </a:endParaRPr>
          </a:p>
          <a:p>
            <a:pPr lvl="4"/>
            <a:endParaRPr lang="en-US" altLang="it-IT">
              <a:ea typeface="ＭＳ Ｐゴシック" panose="020B0600070205080204" pitchFamily="34" charset="-128"/>
            </a:endParaRPr>
          </a:p>
          <a:p>
            <a:r>
              <a:rPr lang="en-US" altLang="it-IT">
                <a:ea typeface="ＭＳ Ｐゴシック" panose="020B0600070205080204" pitchFamily="34" charset="-128"/>
              </a:rPr>
              <a:t>Examples of data quality problems: 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Noise and outliers 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Missing values 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Duplicate data 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Wrong data</a:t>
            </a:r>
          </a:p>
        </p:txBody>
      </p:sp>
      <p:sp>
        <p:nvSpPr>
          <p:cNvPr id="45059" name="Segnaposto numero diapositiva 3">
            <a:extLst>
              <a:ext uri="{FF2B5EF4-FFF2-40B4-BE49-F238E27FC236}">
                <a16:creationId xmlns:a16="http://schemas.microsoft.com/office/drawing/2014/main" id="{86B3BB36-EEEA-54A5-A788-3B437F7DDE6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C32B88C-4820-654A-BD73-32B66B7D8F13}" type="slidenum">
              <a:rPr lang="en-US" altLang="it-IT" sz="1200">
                <a:solidFill>
                  <a:srgbClr val="898989"/>
                </a:solidFill>
              </a:rPr>
              <a:pPr algn="r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25</a:t>
            </a:fld>
            <a:endParaRPr lang="en-US" altLang="it-IT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54A2269-A5C0-ACCE-97BC-21BAE378CF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it-IT" sz="6600" dirty="0">
                <a:cs typeface="+mj-cs"/>
              </a:rPr>
              <a:t>Data </a:t>
            </a:r>
            <a:r>
              <a:rPr lang="it-IT" sz="6600" dirty="0" err="1">
                <a:cs typeface="+mj-cs"/>
              </a:rPr>
              <a:t>exploration</a:t>
            </a:r>
            <a:endParaRPr lang="it-IT" sz="6600" dirty="0">
              <a:cs typeface="+mj-cs"/>
            </a:endParaRP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933297D4-26B2-2266-EC76-A84E09081E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Monotype Sorts" charset="0"/>
              <a:buNone/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>
            <a:extLst>
              <a:ext uri="{FF2B5EF4-FFF2-40B4-BE49-F238E27FC236}">
                <a16:creationId xmlns:a16="http://schemas.microsoft.com/office/drawing/2014/main" id="{646A316E-2276-F381-F9B0-BD228AA7F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What is data exploration?</a:t>
            </a:r>
          </a:p>
        </p:txBody>
      </p:sp>
      <p:sp>
        <p:nvSpPr>
          <p:cNvPr id="48130" name="Rectangle 9">
            <a:extLst>
              <a:ext uri="{FF2B5EF4-FFF2-40B4-BE49-F238E27FC236}">
                <a16:creationId xmlns:a16="http://schemas.microsoft.com/office/drawing/2014/main" id="{B6385758-A853-49DB-E120-9F7DC81D87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2057400"/>
            <a:ext cx="8199438" cy="4343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sz="2400">
                <a:ea typeface="ＭＳ Ｐゴシック" panose="020B0600070205080204" pitchFamily="34" charset="-128"/>
              </a:rPr>
              <a:t>Key motivations of data exploration include</a:t>
            </a:r>
            <a:endParaRPr lang="en-US" altLang="it-IT" sz="2000">
              <a:ea typeface="ＭＳ Ｐゴシック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Helping to select the right tool for preprocessing or analysis</a:t>
            </a:r>
          </a:p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Making use of humans’ abilities to recognize patterns</a:t>
            </a:r>
          </a:p>
          <a:p>
            <a:pPr lvl="2">
              <a:lnSpc>
                <a:spcPct val="90000"/>
              </a:lnSpc>
            </a:pPr>
            <a:r>
              <a:rPr lang="en-US" altLang="it-IT">
                <a:ea typeface="ＭＳ Ｐゴシック" panose="020B0600070205080204" pitchFamily="34" charset="-128"/>
              </a:rPr>
              <a:t> People can recognize patterns not captured by data analysis tools</a:t>
            </a:r>
            <a:r>
              <a:rPr lang="en-US" altLang="it-IT" sz="1600">
                <a:ea typeface="ＭＳ Ｐゴシック" panose="020B0600070205080204" pitchFamily="34" charset="-128"/>
              </a:rPr>
              <a:t> </a:t>
            </a:r>
            <a:br>
              <a:rPr lang="en-US" altLang="it-IT" sz="1600">
                <a:ea typeface="ＭＳ Ｐゴシック" panose="020B0600070205080204" pitchFamily="34" charset="-128"/>
              </a:rPr>
            </a:br>
            <a:endParaRPr lang="en-US" altLang="it-IT" sz="160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it-IT" sz="2400">
                <a:ea typeface="ＭＳ Ｐゴシック" panose="020B0600070205080204" pitchFamily="34" charset="-128"/>
              </a:rPr>
              <a:t>Related to the area of Exploratory Data Analysis (EDA)</a:t>
            </a:r>
          </a:p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Created by statistician John Tukey</a:t>
            </a:r>
          </a:p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Seminal book is Exploratory Data Analysis by Tukey</a:t>
            </a:r>
          </a:p>
          <a:p>
            <a:pPr lvl="1">
              <a:lnSpc>
                <a:spcPct val="90000"/>
              </a:lnSpc>
            </a:pPr>
            <a:r>
              <a:rPr lang="en-US" altLang="it-IT" sz="2000">
                <a:ea typeface="ＭＳ Ｐゴシック" panose="020B0600070205080204" pitchFamily="34" charset="-128"/>
              </a:rPr>
              <a:t>A nice online introduction can be found in Chapter 1 of the NIST Engineering Statistics Handbook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it-IT" sz="2000">
                <a:ea typeface="ＭＳ Ｐゴシック" panose="020B0600070205080204" pitchFamily="34" charset="-128"/>
                <a:hlinkClick r:id="rId3"/>
              </a:rPr>
              <a:t>http://www.itl.nist.gov/div898/handbook/index.htm</a:t>
            </a:r>
            <a:endParaRPr lang="en-US" altLang="it-IT" sz="2000">
              <a:ea typeface="ＭＳ Ｐゴシック" panose="020B0600070205080204" pitchFamily="34" charset="-128"/>
            </a:endParaRPr>
          </a:p>
        </p:txBody>
      </p:sp>
      <p:sp>
        <p:nvSpPr>
          <p:cNvPr id="48131" name="Text Box 18">
            <a:extLst>
              <a:ext uri="{FF2B5EF4-FFF2-40B4-BE49-F238E27FC236}">
                <a16:creationId xmlns:a16="http://schemas.microsoft.com/office/drawing/2014/main" id="{864D231A-D95A-959C-A181-E2913C524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800"/>
            <a:ext cx="78486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Aft>
                <a:spcPct val="0"/>
              </a:spcAft>
              <a:buClrTx/>
              <a:buFont typeface="Monotype Sorts" pitchFamily="2" charset="2"/>
              <a:buNone/>
            </a:pPr>
            <a:r>
              <a:rPr lang="en-US" altLang="it-IT"/>
              <a:t>A preliminary exploration of the data to better understand its characteristics.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olo 4">
            <a:extLst>
              <a:ext uri="{FF2B5EF4-FFF2-40B4-BE49-F238E27FC236}">
                <a16:creationId xmlns:a16="http://schemas.microsoft.com/office/drawing/2014/main" id="{493F338F-7AFA-EB55-A322-0856FD414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Data exploration – understanding </a:t>
            </a:r>
          </a:p>
        </p:txBody>
      </p:sp>
      <p:pic>
        <p:nvPicPr>
          <p:cNvPr id="50178" name="Immagine 5">
            <a:extLst>
              <a:ext uri="{FF2B5EF4-FFF2-40B4-BE49-F238E27FC236}">
                <a16:creationId xmlns:a16="http://schemas.microsoft.com/office/drawing/2014/main" id="{F95087C0-E8E6-BEC1-2D88-F52ACB3BD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90600"/>
            <a:ext cx="59594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B252E2-37D9-BA65-5056-B5ABBD195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Questions</a:t>
            </a:r>
            <a:r>
              <a:rPr lang="it-IT" dirty="0">
                <a:cs typeface="+mj-cs"/>
              </a:rPr>
              <a:t> in data </a:t>
            </a:r>
            <a:r>
              <a:rPr lang="it-IT" dirty="0" err="1">
                <a:cs typeface="+mj-cs"/>
              </a:rPr>
              <a:t>understanding</a:t>
            </a:r>
            <a:endParaRPr lang="it-IT" dirty="0">
              <a:cs typeface="+mj-cs"/>
            </a:endParaRPr>
          </a:p>
        </p:txBody>
      </p:sp>
      <p:pic>
        <p:nvPicPr>
          <p:cNvPr id="51202" name="Immagine 2">
            <a:extLst>
              <a:ext uri="{FF2B5EF4-FFF2-40B4-BE49-F238E27FC236}">
                <a16:creationId xmlns:a16="http://schemas.microsoft.com/office/drawing/2014/main" id="{08F4BAF8-74F6-318C-0463-123926C61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46163"/>
            <a:ext cx="9144000" cy="535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BE0E065-BD3D-CAE3-CEFE-1D2DA3039D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Visualization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9A32704-E177-47AA-98CC-9C4B8CA40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428037" cy="51816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5000"/>
              </a:spcBef>
              <a:buFont typeface="Monotype Sorts" charset="0"/>
              <a:buNone/>
              <a:defRPr/>
            </a:pPr>
            <a:r>
              <a:rPr lang="en-US">
                <a:cs typeface="+mn-cs"/>
              </a:rPr>
              <a:t>   Visualization is the conversion of data into a visual or tabular format so that the characteristics of the data and the relationships among data items or attributes can be analyzed or reported.</a:t>
            </a: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endParaRPr lang="en-US">
              <a:cs typeface="+mn-cs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Visualization of data is one of the most powerful and appealing techniques for data exploration. </a:t>
            </a:r>
          </a:p>
          <a:p>
            <a:pPr lvl="1">
              <a:lnSpc>
                <a:spcPct val="90000"/>
              </a:lnSpc>
              <a:spcBef>
                <a:spcPct val="15000"/>
              </a:spcBef>
              <a:buFont typeface="Arial" charset="0"/>
              <a:buChar char="–"/>
              <a:defRPr/>
            </a:pPr>
            <a:r>
              <a:rPr lang="en-US"/>
              <a:t>Humans have a well developed ability to analyze large amounts of information that is presented visually</a:t>
            </a:r>
          </a:p>
          <a:p>
            <a:pPr lvl="1">
              <a:lnSpc>
                <a:spcPct val="90000"/>
              </a:lnSpc>
              <a:spcBef>
                <a:spcPct val="15000"/>
              </a:spcBef>
              <a:buFont typeface="Arial" charset="0"/>
              <a:buChar char="–"/>
              <a:defRPr/>
            </a:pPr>
            <a:r>
              <a:rPr lang="en-US"/>
              <a:t>Can detect general patterns and trends</a:t>
            </a:r>
          </a:p>
          <a:p>
            <a:pPr lvl="1">
              <a:lnSpc>
                <a:spcPct val="90000"/>
              </a:lnSpc>
              <a:spcBef>
                <a:spcPct val="15000"/>
              </a:spcBef>
              <a:buFont typeface="Arial" charset="0"/>
              <a:buChar char="–"/>
              <a:defRPr/>
            </a:pPr>
            <a:r>
              <a:rPr lang="en-US"/>
              <a:t>Can detect outliers and unusual patterns   </a:t>
            </a:r>
          </a:p>
          <a:p>
            <a:pPr lvl="2">
              <a:lnSpc>
                <a:spcPct val="90000"/>
              </a:lnSpc>
              <a:buFont typeface="Wingdings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CE8654-B471-9570-C520-1CA3A7425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>
                <a:cs typeface="+mj-cs"/>
              </a:rPr>
              <a:t>Data </a:t>
            </a:r>
            <a:r>
              <a:rPr lang="it-IT" dirty="0" err="1">
                <a:cs typeface="+mj-cs"/>
              </a:rPr>
              <a:t>visualization</a:t>
            </a:r>
            <a:endParaRPr lang="it-IT" dirty="0">
              <a:cs typeface="+mj-cs"/>
            </a:endParaRPr>
          </a:p>
        </p:txBody>
      </p:sp>
      <p:pic>
        <p:nvPicPr>
          <p:cNvPr id="52226" name="Immagine 2">
            <a:extLst>
              <a:ext uri="{FF2B5EF4-FFF2-40B4-BE49-F238E27FC236}">
                <a16:creationId xmlns:a16="http://schemas.microsoft.com/office/drawing/2014/main" id="{CECF1061-9700-92F0-45B8-F40261D5B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30300"/>
            <a:ext cx="7069138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</a:t>
            </a:r>
            <a:r>
              <a:rPr lang="it-IT" dirty="0" err="1"/>
              <a:t>Visualization</a:t>
            </a:r>
            <a:endParaRPr lang="it-IT" dirty="0"/>
          </a:p>
        </p:txBody>
      </p:sp>
      <p:pic>
        <p:nvPicPr>
          <p:cNvPr id="4" name="Immagine 3" descr="Screenshot 2020-01-04 21.39.08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943884"/>
            <a:ext cx="6858000" cy="31020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AA258A-F3BE-5145-BCAC-8BA1C5C35EEF}"/>
              </a:ext>
            </a:extLst>
          </p:cNvPr>
          <p:cNvSpPr/>
          <p:nvPr/>
        </p:nvSpPr>
        <p:spPr>
          <a:xfrm>
            <a:off x="1596838" y="4864585"/>
            <a:ext cx="606126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500" dirty="0">
                <a:latin typeface="CMSS10"/>
              </a:rPr>
              <a:t>The zero values might come from a broken or blocked sensor and might be consider as missing values. 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7226085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Observing</a:t>
            </a:r>
            <a:r>
              <a:rPr lang="it-IT" dirty="0"/>
              <a:t> Data Distribution</a:t>
            </a:r>
          </a:p>
        </p:txBody>
      </p:sp>
      <p:pic>
        <p:nvPicPr>
          <p:cNvPr id="8" name="Picture 7" descr="A close up of a map&#10;&#10;Description automatically generated">
            <a:extLst>
              <a:ext uri="{FF2B5EF4-FFF2-40B4-BE49-F238E27FC236}">
                <a16:creationId xmlns:a16="http://schemas.microsoft.com/office/drawing/2014/main" id="{F70A6C9B-3C93-ED47-8159-3FECDB79EC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114"/>
          <a:stretch/>
        </p:blipFill>
        <p:spPr>
          <a:xfrm>
            <a:off x="1485900" y="1966960"/>
            <a:ext cx="2735725" cy="1905547"/>
          </a:xfrm>
          <a:prstGeom prst="rect">
            <a:avLst/>
          </a:prstGeom>
        </p:spPr>
      </p:pic>
      <p:pic>
        <p:nvPicPr>
          <p:cNvPr id="123908" name="Picture 4" descr="No Substitute for Sex | Psychology Today">
            <a:extLst>
              <a:ext uri="{FF2B5EF4-FFF2-40B4-BE49-F238E27FC236}">
                <a16:creationId xmlns:a16="http://schemas.microsoft.com/office/drawing/2014/main" id="{41F14E85-46F5-7C4C-8D23-F638520936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560"/>
          <a:stretch/>
        </p:blipFill>
        <p:spPr bwMode="auto">
          <a:xfrm>
            <a:off x="1485901" y="3973710"/>
            <a:ext cx="2799080" cy="1613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2DB517F2-234E-C141-9CB9-5BE806F7DE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177"/>
          <a:stretch/>
        </p:blipFill>
        <p:spPr>
          <a:xfrm>
            <a:off x="4899030" y="1966960"/>
            <a:ext cx="2647171" cy="1804599"/>
          </a:xfrm>
          <a:prstGeom prst="rect">
            <a:avLst/>
          </a:prstGeom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6097D698-1FE8-7841-B0D3-54E576942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480" y="3782654"/>
            <a:ext cx="2412270" cy="180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421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34975-D4A7-5B45-996F-9193E46F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709F-D8C8-2347-8C47-66DEE5A6E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250" dirty="0">
                <a:solidFill>
                  <a:srgbClr val="1F497D"/>
                </a:solidFill>
                <a:latin typeface="Gill Sans"/>
                <a:ea typeface="+mj-ea"/>
                <a:cs typeface="Gill Sans"/>
              </a:rPr>
              <a:t>Give an example of something having a positively skewed distribution</a:t>
            </a:r>
          </a:p>
          <a:p>
            <a:pPr lvl="1"/>
            <a:r>
              <a:rPr lang="en-GB" b="1" dirty="0"/>
              <a:t>income</a:t>
            </a:r>
            <a:r>
              <a:rPr lang="en-GB" dirty="0"/>
              <a:t> is a good example of a positively skewed variable: there will be a few people with extremely high incomes, but most people will have incomes bunched together below the mean.</a:t>
            </a:r>
          </a:p>
          <a:p>
            <a:pPr marL="0" indent="0">
              <a:buNone/>
            </a:pPr>
            <a:r>
              <a:rPr lang="en-GB" sz="2250" dirty="0">
                <a:solidFill>
                  <a:srgbClr val="1F497D"/>
                </a:solidFill>
                <a:latin typeface="Gill Sans"/>
                <a:ea typeface="+mj-ea"/>
                <a:cs typeface="Gill Sans"/>
              </a:rPr>
              <a:t>Give an example of something having a bimodal distribution </a:t>
            </a:r>
          </a:p>
          <a:p>
            <a:pPr lvl="1"/>
            <a:r>
              <a:rPr lang="en-GB" dirty="0"/>
              <a:t>bimodal distribution has some kind of underlying binary variable that will result in a separate mean for each value of this variable. </a:t>
            </a:r>
          </a:p>
          <a:p>
            <a:pPr lvl="1"/>
            <a:r>
              <a:rPr lang="en-GB" dirty="0"/>
              <a:t>One example can be </a:t>
            </a:r>
            <a:r>
              <a:rPr lang="en-GB" b="1" dirty="0"/>
              <a:t>human weight </a:t>
            </a:r>
            <a:r>
              <a:rPr lang="en-GB" dirty="0"/>
              <a:t>– the gender is binary and is a statistically significant indicator of how heavy a person is.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77530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D0C482C-6BFA-177A-ED40-3BABDEB8D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Arrangement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AB6D568-EC82-1732-F478-BCB6726BF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428037" cy="518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Is the placement of visual elements within a display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Can make a large difference in how easy it is to understand the data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Example:  </a:t>
            </a:r>
          </a:p>
          <a:p>
            <a:pPr>
              <a:buFont typeface="Monotype Sorts" charset="0"/>
              <a:buChar char="l"/>
              <a:defRPr/>
            </a:pPr>
            <a:endParaRPr lang="en-US">
              <a:cs typeface="+mn-cs"/>
            </a:endParaRPr>
          </a:p>
          <a:p>
            <a:pPr lvl="1">
              <a:buFont typeface="Arial" charset="0"/>
              <a:buChar char="–"/>
              <a:defRPr/>
            </a:pPr>
            <a:endParaRPr lang="en-US"/>
          </a:p>
        </p:txBody>
      </p:sp>
      <p:pic>
        <p:nvPicPr>
          <p:cNvPr id="55299" name="Picture 4">
            <a:extLst>
              <a:ext uri="{FF2B5EF4-FFF2-40B4-BE49-F238E27FC236}">
                <a16:creationId xmlns:a16="http://schemas.microsoft.com/office/drawing/2014/main" id="{24829ABD-A97E-28BC-91A6-CA955487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582988"/>
            <a:ext cx="6992938" cy="274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6">
            <a:extLst>
              <a:ext uri="{FF2B5EF4-FFF2-40B4-BE49-F238E27FC236}">
                <a16:creationId xmlns:a16="http://schemas.microsoft.com/office/drawing/2014/main" id="{9CF33DE3-C64B-23A5-117E-756261B74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6"/>
          <a:stretch>
            <a:fillRect/>
          </a:stretch>
        </p:blipFill>
        <p:spPr bwMode="auto">
          <a:xfrm>
            <a:off x="1524000" y="2667000"/>
            <a:ext cx="5502275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2">
            <a:extLst>
              <a:ext uri="{FF2B5EF4-FFF2-40B4-BE49-F238E27FC236}">
                <a16:creationId xmlns:a16="http://schemas.microsoft.com/office/drawing/2014/main" id="{A5A04CB9-1631-A019-0BB2-6581362A3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Example: Sea Surface Temperature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79C77F1-2F12-F8CB-515C-7302DD0FD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428037" cy="518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The following shows the Sea Surface Temperature (SST) for July 1982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Tens of thousands of data points are summarized in a single figure</a:t>
            </a:r>
          </a:p>
          <a:p>
            <a:pPr lvl="1">
              <a:buFont typeface="Arial" charset="0"/>
              <a:buNone/>
              <a:defRPr/>
            </a:pPr>
            <a:r>
              <a:rPr lang="en-US"/>
              <a:t> </a:t>
            </a:r>
          </a:p>
          <a:p>
            <a:pPr lvl="1">
              <a:lnSpc>
                <a:spcPct val="90000"/>
              </a:lnSpc>
              <a:spcBef>
                <a:spcPct val="15000"/>
              </a:spcBef>
              <a:buFont typeface="Arial" charset="0"/>
              <a:buChar char="–"/>
              <a:defRPr/>
            </a:pPr>
            <a:endParaRPr lang="en-US"/>
          </a:p>
          <a:p>
            <a:pPr lvl="2">
              <a:lnSpc>
                <a:spcPct val="90000"/>
              </a:lnSpc>
              <a:buFont typeface="Wingdings" charset="0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678899-F1B2-6B7F-6AEB-81B3BB5F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>
                <a:cs typeface="+mj-cs"/>
              </a:rPr>
              <a:t>Bar charts for </a:t>
            </a:r>
            <a:r>
              <a:rPr lang="it-IT" dirty="0" err="1">
                <a:cs typeface="+mj-cs"/>
              </a:rPr>
              <a:t>categorical</a:t>
            </a:r>
            <a:r>
              <a:rPr lang="it-IT" dirty="0">
                <a:cs typeface="+mj-cs"/>
              </a:rPr>
              <a:t> </a:t>
            </a:r>
            <a:r>
              <a:rPr lang="it-IT" dirty="0" err="1">
                <a:cs typeface="+mj-cs"/>
              </a:rPr>
              <a:t>attributes</a:t>
            </a:r>
            <a:endParaRPr lang="it-IT" dirty="0">
              <a:cs typeface="+mj-cs"/>
            </a:endParaRPr>
          </a:p>
        </p:txBody>
      </p:sp>
      <p:pic>
        <p:nvPicPr>
          <p:cNvPr id="59394" name="Immagine 2">
            <a:extLst>
              <a:ext uri="{FF2B5EF4-FFF2-40B4-BE49-F238E27FC236}">
                <a16:creationId xmlns:a16="http://schemas.microsoft.com/office/drawing/2014/main" id="{4785D6F3-A3FC-C44D-2B25-615C1599A4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0"/>
            <a:ext cx="9144000" cy="41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F116-4DC7-E343-B38A-C968BC20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Histograms for Numerical Attributes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874B04-1C0A-F44F-B0D5-40DAE9B5B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>
                <a:solidFill>
                  <a:srgbClr val="0070C0"/>
                </a:solidFill>
              </a:rPr>
              <a:t>histogram</a:t>
            </a:r>
            <a:r>
              <a:rPr lang="en-GB" dirty="0"/>
              <a:t> shows the frequency distribution for a numerical attribute. </a:t>
            </a:r>
          </a:p>
          <a:p>
            <a:endParaRPr lang="en-GB" dirty="0"/>
          </a:p>
          <a:p>
            <a:r>
              <a:rPr lang="en-GB" dirty="0"/>
              <a:t>The range of the numerical attribute is </a:t>
            </a:r>
            <a:r>
              <a:rPr lang="en-GB" b="1" dirty="0">
                <a:solidFill>
                  <a:srgbClr val="0070C0"/>
                </a:solidFill>
              </a:rPr>
              <a:t>discretized</a:t>
            </a:r>
            <a:r>
              <a:rPr lang="en-GB" dirty="0"/>
              <a:t> into a fixed number of intervals (</a:t>
            </a:r>
            <a:r>
              <a:rPr lang="en-GB" b="1" dirty="0">
                <a:solidFill>
                  <a:srgbClr val="0070C0"/>
                </a:solidFill>
              </a:rPr>
              <a:t>bins</a:t>
            </a:r>
            <a:r>
              <a:rPr lang="en-GB" dirty="0">
                <a:solidFill>
                  <a:srgbClr val="0F406B"/>
                </a:solidFill>
              </a:rPr>
              <a:t>)</a:t>
            </a:r>
          </a:p>
          <a:p>
            <a:endParaRPr lang="en-GB" dirty="0">
              <a:solidFill>
                <a:srgbClr val="0F406B"/>
              </a:solidFill>
            </a:endParaRPr>
          </a:p>
          <a:p>
            <a:r>
              <a:rPr lang="en-GB" dirty="0"/>
              <a:t>For each interval the (absolute) </a:t>
            </a:r>
            <a:r>
              <a:rPr lang="en-GB" b="1" dirty="0">
                <a:solidFill>
                  <a:srgbClr val="0070C0"/>
                </a:solidFill>
              </a:rPr>
              <a:t>frequency</a:t>
            </a:r>
            <a:r>
              <a:rPr lang="en-GB" dirty="0"/>
              <a:t> of values falling into it is indicated by the height of a bar. </a:t>
            </a:r>
          </a:p>
          <a:p>
            <a:endParaRPr lang="en-IT" dirty="0"/>
          </a:p>
        </p:txBody>
      </p:sp>
      <p:pic>
        <p:nvPicPr>
          <p:cNvPr id="8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3684C9DD-A945-B94D-A4F6-BCACDEB58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105" y="2162280"/>
            <a:ext cx="3271748" cy="252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439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D3A280-5F2F-31E5-60FC-C73F8329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Histograms</a:t>
            </a:r>
            <a:r>
              <a:rPr lang="it-IT" dirty="0">
                <a:cs typeface="+mj-cs"/>
              </a:rPr>
              <a:t>: </a:t>
            </a:r>
            <a:r>
              <a:rPr lang="it-IT" dirty="0" err="1">
                <a:cs typeface="+mj-cs"/>
              </a:rPr>
              <a:t>number</a:t>
            </a:r>
            <a:r>
              <a:rPr lang="it-IT" dirty="0">
                <a:cs typeface="+mj-cs"/>
              </a:rPr>
              <a:t> of </a:t>
            </a:r>
            <a:r>
              <a:rPr lang="it-IT" dirty="0" err="1">
                <a:cs typeface="+mj-cs"/>
              </a:rPr>
              <a:t>bins</a:t>
            </a:r>
            <a:endParaRPr lang="it-IT" dirty="0">
              <a:cs typeface="+mj-cs"/>
            </a:endParaRPr>
          </a:p>
        </p:txBody>
      </p:sp>
      <p:pic>
        <p:nvPicPr>
          <p:cNvPr id="61442" name="Immagine 2">
            <a:extLst>
              <a:ext uri="{FF2B5EF4-FFF2-40B4-BE49-F238E27FC236}">
                <a16:creationId xmlns:a16="http://schemas.microsoft.com/office/drawing/2014/main" id="{0E8543AE-0017-E6E3-561E-ECCF64CB2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9144000" cy="608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B31A93-FDA3-DF77-1670-30BE36ADB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Histograms</a:t>
            </a:r>
            <a:r>
              <a:rPr lang="it-IT" dirty="0">
                <a:cs typeface="+mj-cs"/>
              </a:rPr>
              <a:t>: </a:t>
            </a:r>
            <a:r>
              <a:rPr lang="it-IT" dirty="0" err="1">
                <a:cs typeface="+mj-cs"/>
              </a:rPr>
              <a:t>number</a:t>
            </a:r>
            <a:r>
              <a:rPr lang="it-IT" dirty="0">
                <a:cs typeface="+mj-cs"/>
              </a:rPr>
              <a:t> of </a:t>
            </a:r>
            <a:r>
              <a:rPr lang="it-IT" dirty="0" err="1">
                <a:cs typeface="+mj-cs"/>
              </a:rPr>
              <a:t>bins</a:t>
            </a:r>
            <a:endParaRPr lang="it-IT" dirty="0">
              <a:cs typeface="+mj-cs"/>
            </a:endParaRPr>
          </a:p>
        </p:txBody>
      </p:sp>
      <p:pic>
        <p:nvPicPr>
          <p:cNvPr id="62466" name="Immagine 3">
            <a:extLst>
              <a:ext uri="{FF2B5EF4-FFF2-40B4-BE49-F238E27FC236}">
                <a16:creationId xmlns:a16="http://schemas.microsoft.com/office/drawing/2014/main" id="{5C76393C-0BD7-0063-D2E6-A9DCAC086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79600"/>
            <a:ext cx="9144000" cy="308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BC9BE265-5D38-AF44-B04F-7C8619BA0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947" y="3038475"/>
            <a:ext cx="2933453" cy="12696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F063D4-CFB8-C748-BF1A-63878CDC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the Central Tendency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282E5-EB16-3D4B-8AFE-C9C8E1493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91" y="1600200"/>
            <a:ext cx="5847144" cy="3584973"/>
          </a:xfrm>
        </p:spPr>
        <p:txBody>
          <a:bodyPr>
            <a:normAutofit/>
          </a:bodyPr>
          <a:lstStyle/>
          <a:p>
            <a:r>
              <a:rPr lang="en-GB" sz="1500" dirty="0">
                <a:solidFill>
                  <a:srgbClr val="0070C0"/>
                </a:solidFill>
              </a:rPr>
              <a:t>Mean</a:t>
            </a:r>
            <a:r>
              <a:rPr lang="en-GB" sz="1500" dirty="0"/>
              <a:t> </a:t>
            </a:r>
          </a:p>
          <a:p>
            <a:pPr lvl="1"/>
            <a:r>
              <a:rPr lang="en-GB" sz="1200" i="1" dirty="0"/>
              <a:t>m</a:t>
            </a:r>
            <a:r>
              <a:rPr lang="en-GB" sz="1200" dirty="0"/>
              <a:t> is the sample size</a:t>
            </a:r>
          </a:p>
          <a:p>
            <a:pPr lvl="1"/>
            <a:r>
              <a:rPr lang="en-GB" sz="1200" dirty="0"/>
              <a:t>A distributive measure can be computed by partitioning the data into smaller subsets</a:t>
            </a:r>
          </a:p>
          <a:p>
            <a:pPr lvl="1"/>
            <a:r>
              <a:rPr lang="en-US" sz="1200" dirty="0"/>
              <a:t>However, the mean is very sensitive to outliers</a:t>
            </a:r>
          </a:p>
          <a:p>
            <a:pPr lvl="1"/>
            <a:r>
              <a:rPr lang="en-US" sz="1200" dirty="0"/>
              <a:t>The median or a trimmed mean are also commonly used</a:t>
            </a:r>
            <a:endParaRPr lang="en-GB" sz="525" dirty="0">
              <a:solidFill>
                <a:srgbClr val="0070C0"/>
              </a:solidFill>
            </a:endParaRPr>
          </a:p>
          <a:p>
            <a:r>
              <a:rPr lang="en-GB" sz="1500" dirty="0">
                <a:solidFill>
                  <a:srgbClr val="0070C0"/>
                </a:solidFill>
              </a:rPr>
              <a:t>Median</a:t>
            </a:r>
            <a:r>
              <a:rPr lang="en-GB" sz="1500" dirty="0"/>
              <a:t> </a:t>
            </a:r>
          </a:p>
          <a:p>
            <a:pPr lvl="1"/>
            <a:r>
              <a:rPr lang="en-GB" sz="1200" dirty="0"/>
              <a:t>Middle value if odd number of values, or average of the middle two values otherwise </a:t>
            </a:r>
            <a:endParaRPr lang="en-GB" sz="525" dirty="0">
              <a:solidFill>
                <a:srgbClr val="0070C0"/>
              </a:solidFill>
            </a:endParaRPr>
          </a:p>
          <a:p>
            <a:r>
              <a:rPr lang="en-GB" sz="1500" dirty="0">
                <a:solidFill>
                  <a:srgbClr val="0070C0"/>
                </a:solidFill>
              </a:rPr>
              <a:t>Mode</a:t>
            </a:r>
          </a:p>
          <a:p>
            <a:pPr lvl="1"/>
            <a:r>
              <a:rPr lang="en-GB" sz="1200" dirty="0"/>
              <a:t>Value that occurs m</a:t>
            </a:r>
            <a:r>
              <a:rPr lang="en-GB" sz="1200" b="1" dirty="0"/>
              <a:t>ost frequently </a:t>
            </a:r>
            <a:r>
              <a:rPr lang="en-GB" sz="1200" dirty="0"/>
              <a:t>in the data</a:t>
            </a:r>
          </a:p>
          <a:p>
            <a:pPr lvl="1"/>
            <a:r>
              <a:rPr lang="en-GB" sz="1200" dirty="0"/>
              <a:t> It is possible that several different values have the greatest frequency: Unimodal, bimodal, trimodal, multimodal </a:t>
            </a:r>
          </a:p>
          <a:p>
            <a:pPr lvl="1"/>
            <a:r>
              <a:rPr lang="en-GB" sz="1200" dirty="0"/>
              <a:t>If each data value occurs only once then </a:t>
            </a:r>
            <a:r>
              <a:rPr lang="en-GB" sz="1200" b="1" dirty="0"/>
              <a:t>there is no mode </a:t>
            </a:r>
            <a:endParaRPr lang="en-IT" sz="1200" b="1" dirty="0">
              <a:solidFill>
                <a:srgbClr val="0070C0"/>
              </a:solidFill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9C6FD7CD-CBA1-6E49-9B28-F30855807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9" t="7243" r="26713" b="45971"/>
          <a:stretch/>
        </p:blipFill>
        <p:spPr bwMode="auto">
          <a:xfrm>
            <a:off x="5613862" y="1734484"/>
            <a:ext cx="2626237" cy="950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7383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6B00-51C9-DB44-8790-14274AA0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the Dispersion of Data 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0E431-98E0-8342-8B81-686F17141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degree in which data tend to spread is called the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dispersion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variance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of the data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most common measures for data dispersion are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deviation,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five-number summary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(based on quartiles), and the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inter-quartile range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Range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: The distance between the largest and the smallest values</a:t>
            </a:r>
          </a:p>
        </p:txBody>
      </p:sp>
    </p:spTree>
    <p:extLst>
      <p:ext uri="{BB962C8B-B14F-4D97-AF65-F5344CB8AC3E}">
        <p14:creationId xmlns:p14="http://schemas.microsoft.com/office/powerpoint/2010/main" val="31236723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DDF6-81E0-D34E-AE66-9677B14D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the Dispersion of Data 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0DE10-3A80-354B-868B-E0A6FE9EC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5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Variance</a:t>
            </a:r>
            <a:r>
              <a:rPr lang="en-GB" sz="19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GB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5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Standard deviation </a:t>
            </a:r>
            <a:r>
              <a:rPr lang="el-GR" sz="1500" dirty="0">
                <a:latin typeface="Calibri" panose="020F0502020204030204" pitchFamily="34" charset="0"/>
                <a:cs typeface="Calibri" panose="020F0502020204030204" pitchFamily="34" charset="0"/>
              </a:rPr>
              <a:t>σ 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is the square root of variance </a:t>
            </a:r>
            <a:r>
              <a:rPr lang="el-GR" sz="1500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l-GR" sz="15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it-IT" sz="788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l-GR" sz="1500" dirty="0">
                <a:latin typeface="Calibri" panose="020F0502020204030204" pitchFamily="34" charset="0"/>
                <a:cs typeface="Calibri" panose="020F0502020204030204" pitchFamily="34" charset="0"/>
              </a:rPr>
              <a:t>σ 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measures spread about the mean and x should be used only when the mean is chosen as the measure of the </a:t>
            </a:r>
            <a:r>
              <a:rPr lang="en-GB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center</a:t>
            </a:r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n-GB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l-GR" sz="1500" dirty="0">
                <a:latin typeface="Calibri" panose="020F0502020204030204" pitchFamily="34" charset="0"/>
                <a:cs typeface="Calibri" panose="020F0502020204030204" pitchFamily="34" charset="0"/>
              </a:rPr>
              <a:t>σ=0 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only when there is no spread, that is, when all observations have the same value. Otherwise </a:t>
            </a:r>
            <a:r>
              <a:rPr lang="el-GR" sz="1500" dirty="0">
                <a:latin typeface="Calibri" panose="020F0502020204030204" pitchFamily="34" charset="0"/>
                <a:cs typeface="Calibri" panose="020F0502020204030204" pitchFamily="34" charset="0"/>
              </a:rPr>
              <a:t>σ&gt;0</a:t>
            </a:r>
            <a:endParaRPr lang="it-IT" sz="1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Because of outliers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, other measures are often used</a:t>
            </a:r>
            <a:r>
              <a:rPr lang="en-US" sz="1500" b="1" dirty="0">
                <a:latin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pPr lvl="1"/>
            <a:r>
              <a:rPr lang="en-GB" sz="135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absolute average deviation</a:t>
            </a:r>
            <a:r>
              <a:rPr lang="en-GB" sz="135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(AAD)</a:t>
            </a:r>
          </a:p>
          <a:p>
            <a:pPr lvl="1"/>
            <a:r>
              <a:rPr lang="en-GB" sz="135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median average deviation</a:t>
            </a:r>
            <a:r>
              <a:rPr lang="en-GB" sz="135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(MAD)</a:t>
            </a:r>
          </a:p>
          <a:p>
            <a:endParaRPr lang="en-US" sz="1500" b="1" dirty="0"/>
          </a:p>
          <a:p>
            <a:endParaRPr lang="en-IT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2F5A8AA-8604-1D47-99A8-0CAC4E328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143000"/>
            <a:ext cx="2667000" cy="482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99D0545F-40C9-2D4A-8584-74EADA0FA9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75"/>
          <a:stretch/>
        </p:blipFill>
        <p:spPr bwMode="auto">
          <a:xfrm>
            <a:off x="4572000" y="4481647"/>
            <a:ext cx="3588544" cy="1179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4" name="Immagine 3" descr="Immagine che contiene testo, Carattere, linea, bianco&#10;&#10;Il contenuto generato dall'IA potrebbe non essere corretto.">
            <a:extLst>
              <a:ext uri="{FF2B5EF4-FFF2-40B4-BE49-F238E27FC236}">
                <a16:creationId xmlns:a16="http://schemas.microsoft.com/office/drawing/2014/main" id="{7104265C-CA0E-5FB1-366F-454298AF3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45468"/>
            <a:ext cx="6043661" cy="97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629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36F2-EB24-8E4B-BD89-19A86CC38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64" y="493932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IT" sz="3000" dirty="0"/>
              <a:t>Box Plot</a:t>
            </a:r>
            <a:r>
              <a:rPr lang="en-IT" sz="3000"/>
              <a:t>: </a:t>
            </a:r>
            <a:r>
              <a:rPr lang="en-GB" sz="3000" dirty="0"/>
              <a:t>Five-number summary of a distribution</a:t>
            </a:r>
            <a:endParaRPr lang="en-IT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6990B-9676-BF4A-8D4F-90A231E24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94464"/>
            <a:ext cx="4645631" cy="3836204"/>
          </a:xfrm>
        </p:spPr>
        <p:txBody>
          <a:bodyPr>
            <a:normAutofit fontScale="92500" lnSpcReduction="20000"/>
          </a:bodyPr>
          <a:lstStyle/>
          <a:p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Data represented with a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box</a:t>
            </a:r>
          </a:p>
          <a:p>
            <a:endParaRPr lang="en-GB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Whiskers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: two lines outside the box extended to </a:t>
            </a:r>
            <a:r>
              <a:rPr lang="en-GB" sz="15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Minimum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5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Maximum</a:t>
            </a:r>
          </a:p>
          <a:p>
            <a:endParaRPr lang="en-GB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The ends of the box are at the</a:t>
            </a:r>
          </a:p>
          <a:p>
            <a:pPr lvl="1"/>
            <a:r>
              <a:rPr lang="en-GB" sz="135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GB" sz="1350" b="1" baseline="30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GB" sz="135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quartiles </a:t>
            </a:r>
            <a:r>
              <a:rPr lang="en-GB" sz="1350" dirty="0">
                <a:latin typeface="Calibri" panose="020F0502020204030204" pitchFamily="34" charset="0"/>
                <a:cs typeface="Calibri" panose="020F0502020204030204" pitchFamily="34" charset="0"/>
              </a:rPr>
              <a:t>(25%-quantile) </a:t>
            </a:r>
          </a:p>
          <a:p>
            <a:pPr lvl="1"/>
            <a:r>
              <a:rPr lang="en-GB" sz="135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GB" sz="1350" b="1" baseline="30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GB" sz="135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quartiles </a:t>
            </a:r>
            <a:r>
              <a:rPr lang="en-GB" sz="1350" dirty="0">
                <a:latin typeface="Calibri" panose="020F0502020204030204" pitchFamily="34" charset="0"/>
                <a:cs typeface="Calibri" panose="020F0502020204030204" pitchFamily="34" charset="0"/>
              </a:rPr>
              <a:t>(75%-quantile) </a:t>
            </a:r>
            <a:endParaRPr lang="en-GB" sz="135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825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Median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: value in the middle (values in increasing order) is the </a:t>
            </a:r>
            <a:r>
              <a:rPr lang="en-GB" sz="15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GB" sz="1500" b="1" baseline="30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GB" sz="15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quartile 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(50%-quantile) </a:t>
            </a:r>
          </a:p>
          <a:p>
            <a:endParaRPr lang="en-GB" sz="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The height of the box is 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Interquartile range 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IQR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): 3rd quartile - 1st quartile</a:t>
            </a:r>
          </a:p>
          <a:p>
            <a:endParaRPr lang="en-GB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p%-quantile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(0 &lt; p &lt; 100): The value x </a:t>
            </a:r>
            <a:r>
              <a:rPr lang="en-GB" sz="1500" dirty="0" err="1">
                <a:latin typeface="Calibri" panose="020F0502020204030204" pitchFamily="34" charset="0"/>
                <a:cs typeface="Calibri" panose="020F0502020204030204" pitchFamily="34" charset="0"/>
              </a:rPr>
              <a:t>s.t.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 p% of the values are smaller and 100-p% are larger. </a:t>
            </a:r>
          </a:p>
          <a:p>
            <a:endParaRPr lang="en-GB" sz="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500" b="1" dirty="0">
                <a:latin typeface="Calibri" panose="020F0502020204030204" pitchFamily="34" charset="0"/>
                <a:cs typeface="Calibri" panose="020F0502020204030204" pitchFamily="34" charset="0"/>
              </a:rPr>
              <a:t>Outliers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: points </a:t>
            </a:r>
            <a:r>
              <a:rPr lang="en-GB" sz="1500" dirty="0"/>
              <a:t>beyond </a:t>
            </a:r>
            <a:r>
              <a:rPr lang="en-GB" sz="1500" dirty="0">
                <a:latin typeface="Calibri" panose="020F0502020204030204" pitchFamily="34" charset="0"/>
                <a:cs typeface="Calibri" panose="020F0502020204030204" pitchFamily="34" charset="0"/>
              </a:rPr>
              <a:t>whiskers</a:t>
            </a:r>
          </a:p>
        </p:txBody>
      </p:sp>
      <p:pic>
        <p:nvPicPr>
          <p:cNvPr id="18" name="Picture 17" descr="A close up of a map&#10;&#10;Description automatically generated">
            <a:extLst>
              <a:ext uri="{FF2B5EF4-FFF2-40B4-BE49-F238E27FC236}">
                <a16:creationId xmlns:a16="http://schemas.microsoft.com/office/drawing/2014/main" id="{E6EBDA94-4A16-294D-AE42-413420CF0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280" y="2056121"/>
            <a:ext cx="3241070" cy="360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911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D0943E-CB11-EA6A-965A-4AE218397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Reminder</a:t>
            </a:r>
            <a:r>
              <a:rPr lang="it-IT" dirty="0">
                <a:cs typeface="+mj-cs"/>
              </a:rPr>
              <a:t>: </a:t>
            </a:r>
            <a:r>
              <a:rPr lang="it-IT" dirty="0" err="1">
                <a:cs typeface="+mj-cs"/>
              </a:rPr>
              <a:t>quantiles</a:t>
            </a:r>
            <a:r>
              <a:rPr lang="it-IT" dirty="0">
                <a:cs typeface="+mj-cs"/>
              </a:rPr>
              <a:t>, </a:t>
            </a:r>
            <a:r>
              <a:rPr lang="it-IT" dirty="0" err="1">
                <a:cs typeface="+mj-cs"/>
              </a:rPr>
              <a:t>median</a:t>
            </a:r>
            <a:r>
              <a:rPr lang="it-IT" dirty="0">
                <a:cs typeface="+mj-cs"/>
              </a:rPr>
              <a:t>, </a:t>
            </a:r>
            <a:r>
              <a:rPr lang="it-IT" dirty="0" err="1">
                <a:cs typeface="+mj-cs"/>
              </a:rPr>
              <a:t>quartiles</a:t>
            </a:r>
            <a:endParaRPr lang="it-IT" dirty="0">
              <a:cs typeface="+mj-cs"/>
            </a:endParaRPr>
          </a:p>
        </p:txBody>
      </p:sp>
      <p:pic>
        <p:nvPicPr>
          <p:cNvPr id="63490" name="Immagine 2">
            <a:extLst>
              <a:ext uri="{FF2B5EF4-FFF2-40B4-BE49-F238E27FC236}">
                <a16:creationId xmlns:a16="http://schemas.microsoft.com/office/drawing/2014/main" id="{18FBEB1F-E0EC-D4D0-2C4A-AEC741F53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5688"/>
            <a:ext cx="9144000" cy="595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F9C2681-BBF6-899C-5D8A-ED4EA6C16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Iris Sample Data Set 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DAFEEF0-FC34-3FAA-D0C9-B6B01B5FD7A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219200"/>
            <a:ext cx="8351837" cy="19812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Many of the exploratory data techniques are illustrated with the Iris Plant data set.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/>
              <a:t>Can be obtained from the UCI Machine Learning Repository </a:t>
            </a:r>
            <a:br>
              <a:rPr lang="en-US" sz="2000"/>
            </a:br>
            <a:r>
              <a:rPr lang="en-US" sz="2000">
                <a:hlinkClick r:id="rId3"/>
              </a:rPr>
              <a:t>http://www.ics.uci.edu/~mlearn/MLRepository.html</a:t>
            </a:r>
            <a:r>
              <a:rPr lang="en-US" sz="2000"/>
              <a:t> 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From the statistician Douglas Fisher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Three flower types (classes):</a:t>
            </a:r>
          </a:p>
          <a:p>
            <a:pPr lvl="2">
              <a:lnSpc>
                <a:spcPct val="90000"/>
              </a:lnSpc>
              <a:buFont typeface="Wingdings" charset="0"/>
              <a:buChar char="u"/>
              <a:defRPr/>
            </a:pPr>
            <a:r>
              <a:rPr lang="en-US" sz="1600"/>
              <a:t> </a:t>
            </a:r>
            <a:r>
              <a:rPr lang="en-US"/>
              <a:t>Setosa</a:t>
            </a:r>
          </a:p>
          <a:p>
            <a:pPr lvl="2">
              <a:lnSpc>
                <a:spcPct val="90000"/>
              </a:lnSpc>
              <a:buFont typeface="Wingdings" charset="0"/>
              <a:buChar char="u"/>
              <a:defRPr/>
            </a:pPr>
            <a:r>
              <a:rPr lang="en-US"/>
              <a:t> Virginica </a:t>
            </a:r>
          </a:p>
          <a:p>
            <a:pPr lvl="2">
              <a:lnSpc>
                <a:spcPct val="90000"/>
              </a:lnSpc>
              <a:buFont typeface="Wingdings" charset="0"/>
              <a:buChar char="u"/>
              <a:defRPr/>
            </a:pPr>
            <a:r>
              <a:rPr lang="en-US"/>
              <a:t> Versicolour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Four (non-class) attributes</a:t>
            </a:r>
          </a:p>
          <a:p>
            <a:pPr lvl="2">
              <a:lnSpc>
                <a:spcPct val="90000"/>
              </a:lnSpc>
              <a:buFont typeface="Wingdings" charset="0"/>
              <a:buChar char="u"/>
              <a:defRPr/>
            </a:pPr>
            <a:r>
              <a:rPr lang="en-US"/>
              <a:t> Sepal width and length</a:t>
            </a:r>
          </a:p>
          <a:p>
            <a:pPr lvl="2">
              <a:lnSpc>
                <a:spcPct val="90000"/>
              </a:lnSpc>
              <a:buFont typeface="Wingdings" charset="0"/>
              <a:buChar char="u"/>
              <a:defRPr/>
            </a:pPr>
            <a:r>
              <a:rPr lang="en-US"/>
              <a:t> Petal width and length</a:t>
            </a:r>
          </a:p>
        </p:txBody>
      </p:sp>
      <p:sp>
        <p:nvSpPr>
          <p:cNvPr id="64515" name="Text Box 4">
            <a:extLst>
              <a:ext uri="{FF2B5EF4-FFF2-40B4-BE49-F238E27FC236}">
                <a16:creationId xmlns:a16="http://schemas.microsoft.com/office/drawing/2014/main" id="{12588391-8AF3-82D9-A0FA-42ED42CAA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2906713"/>
            <a:ext cx="2073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/>
          </a:p>
        </p:txBody>
      </p:sp>
      <p:sp>
        <p:nvSpPr>
          <p:cNvPr id="64516" name="Rectangle 8">
            <a:extLst>
              <a:ext uri="{FF2B5EF4-FFF2-40B4-BE49-F238E27FC236}">
                <a16:creationId xmlns:a16="http://schemas.microsoft.com/office/drawing/2014/main" id="{07F6BC52-BB09-7881-39B4-A9BD8538D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257800"/>
            <a:ext cx="37338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latin typeface="Times New Roman" panose="02020603050405020304" pitchFamily="18" charset="0"/>
              </a:rPr>
              <a:t>Virginica. Robert H. Mohlenbrock. USDA NRCS. 1995. Northeast wetland flora: Field office guide to plant species. Northeast National Technical Center, Chester, PA. Courtesy of USDA NRCS Wetland Science Institute. </a:t>
            </a:r>
          </a:p>
        </p:txBody>
      </p:sp>
      <p:pic>
        <p:nvPicPr>
          <p:cNvPr id="64517" name="Picture 9">
            <a:extLst>
              <a:ext uri="{FF2B5EF4-FFF2-40B4-BE49-F238E27FC236}">
                <a16:creationId xmlns:a16="http://schemas.microsoft.com/office/drawing/2014/main" id="{EDB07C0C-41B1-2A95-10D1-17AD5780A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048000"/>
            <a:ext cx="3427413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5786E2CF-08CA-08D6-51F7-7137AE45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Boxplots</a:t>
            </a:r>
            <a:endParaRPr lang="it-IT" dirty="0">
              <a:cs typeface="+mj-cs"/>
            </a:endParaRPr>
          </a:p>
        </p:txBody>
      </p:sp>
      <p:pic>
        <p:nvPicPr>
          <p:cNvPr id="66562" name="Immagine 5">
            <a:extLst>
              <a:ext uri="{FF2B5EF4-FFF2-40B4-BE49-F238E27FC236}">
                <a16:creationId xmlns:a16="http://schemas.microsoft.com/office/drawing/2014/main" id="{3B3F114F-B3AB-627F-6633-B291BB5699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066800"/>
            <a:ext cx="6324600" cy="568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2AFE24D7-0899-2AE4-E92D-466FC346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cs typeface="+mj-cs"/>
              </a:rPr>
              <a:t>Boxplots</a:t>
            </a:r>
          </a:p>
        </p:txBody>
      </p:sp>
      <p:pic>
        <p:nvPicPr>
          <p:cNvPr id="67586" name="Immagine 5">
            <a:extLst>
              <a:ext uri="{FF2B5EF4-FFF2-40B4-BE49-F238E27FC236}">
                <a16:creationId xmlns:a16="http://schemas.microsoft.com/office/drawing/2014/main" id="{5A31A979-ECD8-B688-A0F7-5A0D0353A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066800"/>
            <a:ext cx="6324600" cy="568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Immagine 1">
            <a:extLst>
              <a:ext uri="{FF2B5EF4-FFF2-40B4-BE49-F238E27FC236}">
                <a16:creationId xmlns:a16="http://schemas.microsoft.com/office/drawing/2014/main" id="{51A313D9-A581-FE6E-C50D-CB146EB74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143000"/>
            <a:ext cx="6299200" cy="548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791F48CF-83B5-073F-64CF-D464AA95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cs typeface="+mj-cs"/>
              </a:rPr>
              <a:t>Boxplots</a:t>
            </a:r>
          </a:p>
        </p:txBody>
      </p:sp>
      <p:pic>
        <p:nvPicPr>
          <p:cNvPr id="68610" name="Immagine 2">
            <a:extLst>
              <a:ext uri="{FF2B5EF4-FFF2-40B4-BE49-F238E27FC236}">
                <a16:creationId xmlns:a16="http://schemas.microsoft.com/office/drawing/2014/main" id="{CF746DE0-61F5-D6A2-5322-F054EBB3A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90600"/>
            <a:ext cx="6553200" cy="608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8723242-1064-E273-1420-0B9A688C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cs typeface="+mj-cs"/>
              </a:rPr>
              <a:t>Boxplots</a:t>
            </a:r>
          </a:p>
        </p:txBody>
      </p:sp>
      <p:pic>
        <p:nvPicPr>
          <p:cNvPr id="69634" name="Immagine 1">
            <a:extLst>
              <a:ext uri="{FF2B5EF4-FFF2-40B4-BE49-F238E27FC236}">
                <a16:creationId xmlns:a16="http://schemas.microsoft.com/office/drawing/2014/main" id="{3B4B887A-1C4D-3824-E2A6-5E698908E1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143000"/>
            <a:ext cx="6157913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0EAA156-922A-B12F-2557-78F0614A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>
                <a:cs typeface="+mj-cs"/>
              </a:rPr>
              <a:t>Boxplots</a:t>
            </a:r>
          </a:p>
        </p:txBody>
      </p:sp>
      <p:pic>
        <p:nvPicPr>
          <p:cNvPr id="70658" name="Immagine 2">
            <a:extLst>
              <a:ext uri="{FF2B5EF4-FFF2-40B4-BE49-F238E27FC236}">
                <a16:creationId xmlns:a16="http://schemas.microsoft.com/office/drawing/2014/main" id="{4E6A3244-FA2C-B125-CB95-371F60C95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43000"/>
            <a:ext cx="5638800" cy="523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A96E-0D4B-5F49-860D-16DF6417E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95" y="403319"/>
            <a:ext cx="8280400" cy="533400"/>
          </a:xfrm>
        </p:spPr>
        <p:txBody>
          <a:bodyPr/>
          <a:lstStyle/>
          <a:p>
            <a:r>
              <a:rPr lang="en-GB" dirty="0"/>
              <a:t>Histograms Often Tell More than Boxplots 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E805E-E904-044D-9386-50CD5A52A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The two histograms may have the same boxplot representation </a:t>
            </a:r>
          </a:p>
          <a:p>
            <a:pPr lvl="1"/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same values 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min, Q1, median, Q3, max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But they have rather </a:t>
            </a:r>
            <a:r>
              <a:rPr lang="en-GB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data distributions</a:t>
            </a:r>
            <a:endParaRPr lang="en-IT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BF5963A-27F8-354B-AA64-081A9803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239" y="3552629"/>
            <a:ext cx="6068861" cy="203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5334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CB19-EBC7-8145-9A9C-4DBEF8C9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D6A09-5687-C64F-B978-F76960AD7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3678424" cy="3263504"/>
          </a:xfrm>
        </p:spPr>
        <p:txBody>
          <a:bodyPr>
            <a:normAutofit/>
          </a:bodyPr>
          <a:lstStyle/>
          <a:p>
            <a:r>
              <a:rPr lang="en-GB" sz="1800" dirty="0"/>
              <a:t>Provides a first look at </a:t>
            </a:r>
            <a:r>
              <a:rPr lang="en-GB" sz="1800" b="1" dirty="0">
                <a:solidFill>
                  <a:schemeClr val="accent1"/>
                </a:solidFill>
              </a:rPr>
              <a:t>bivariate data </a:t>
            </a:r>
            <a:r>
              <a:rPr lang="en-GB" sz="1800" dirty="0"/>
              <a:t>to see </a:t>
            </a:r>
            <a:r>
              <a:rPr lang="en-GB" sz="1800" b="1" dirty="0"/>
              <a:t>clusters</a:t>
            </a:r>
            <a:r>
              <a:rPr lang="en-GB" sz="1800" dirty="0"/>
              <a:t> of points, </a:t>
            </a:r>
            <a:r>
              <a:rPr lang="en-GB" sz="1800" b="1" dirty="0"/>
              <a:t>outliers</a:t>
            </a:r>
            <a:r>
              <a:rPr lang="en-GB" sz="1800" dirty="0"/>
              <a:t>, </a:t>
            </a:r>
            <a:r>
              <a:rPr lang="en-GB" sz="1800" b="1" dirty="0"/>
              <a:t>correlations</a:t>
            </a:r>
          </a:p>
          <a:p>
            <a:endParaRPr lang="en-GB" sz="1800" dirty="0"/>
          </a:p>
          <a:p>
            <a:r>
              <a:rPr lang="en-GB" sz="1800" dirty="0"/>
              <a:t>Each pair of values is treated as a </a:t>
            </a:r>
            <a:r>
              <a:rPr lang="en-GB" sz="1800" b="1" dirty="0"/>
              <a:t>pair of coordinates </a:t>
            </a:r>
            <a:r>
              <a:rPr lang="en-GB" sz="1800" dirty="0"/>
              <a:t>and plotted as points in the plane</a:t>
            </a:r>
            <a:endParaRPr lang="en-IT" sz="1800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566F79A-0C42-0642-8426-3A84AB47DE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76"/>
          <a:stretch/>
        </p:blipFill>
        <p:spPr>
          <a:xfrm>
            <a:off x="4644808" y="2015003"/>
            <a:ext cx="3136931" cy="28279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C0E2FE-8706-3B4E-8CBE-BB8AA0B10C9B}"/>
              </a:ext>
            </a:extLst>
          </p:cNvPr>
          <p:cNvSpPr/>
          <p:nvPr/>
        </p:nvSpPr>
        <p:spPr>
          <a:xfrm>
            <a:off x="1631515" y="5006980"/>
            <a:ext cx="6026585" cy="415498"/>
          </a:xfrm>
          <a:prstGeom prst="rect">
            <a:avLst/>
          </a:prstGeom>
          <a:ln>
            <a:solidFill>
              <a:srgbClr val="0F406B"/>
            </a:solidFill>
          </a:ln>
        </p:spPr>
        <p:txBody>
          <a:bodyPr wrap="square">
            <a:spAutoFit/>
          </a:bodyPr>
          <a:lstStyle/>
          <a:p>
            <a:r>
              <a:rPr lang="en-GB" sz="1050" dirty="0">
                <a:latin typeface="CMSS10"/>
              </a:rPr>
              <a:t>Scatter plots can be enriched with additional information: Colour or different symbols to incorporate a third attribute in the scatter plot. </a:t>
            </a:r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3439372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5CB19-EBC7-8145-9A9C-4DBEF8C93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Scatter Plot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C0E2FE-8706-3B4E-8CBE-BB8AA0B10C9B}"/>
              </a:ext>
            </a:extLst>
          </p:cNvPr>
          <p:cNvSpPr/>
          <p:nvPr/>
        </p:nvSpPr>
        <p:spPr>
          <a:xfrm>
            <a:off x="1558708" y="5041109"/>
            <a:ext cx="6026585" cy="784830"/>
          </a:xfrm>
          <a:prstGeom prst="rect">
            <a:avLst/>
          </a:prstGeom>
          <a:ln>
            <a:solidFill>
              <a:srgbClr val="0F406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500" dirty="0"/>
              <a:t>The two attributes petal length and width provide a </a:t>
            </a:r>
            <a:r>
              <a:rPr lang="en-GB" sz="1500" dirty="0">
                <a:solidFill>
                  <a:schemeClr val="accent1"/>
                </a:solidFill>
              </a:rPr>
              <a:t>better separation of the classes </a:t>
            </a:r>
            <a:r>
              <a:rPr lang="en-GB" sz="1500" dirty="0"/>
              <a:t>Iris versicolor and Iris virginica than the sepal length and width. </a:t>
            </a:r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FA33F06A-2509-4C45-B22B-D3D1B5E5C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64" y="1916483"/>
            <a:ext cx="3573617" cy="302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2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5" name="Picture 4">
            <a:extLst>
              <a:ext uri="{FF2B5EF4-FFF2-40B4-BE49-F238E27FC236}">
                <a16:creationId xmlns:a16="http://schemas.microsoft.com/office/drawing/2014/main" id="{7876FA8D-8ACB-49E6-57D3-E5ED937D0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38" b="2779"/>
          <a:stretch>
            <a:fillRect/>
          </a:stretch>
        </p:blipFill>
        <p:spPr bwMode="auto">
          <a:xfrm>
            <a:off x="381000" y="1066800"/>
            <a:ext cx="798988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2">
            <a:extLst>
              <a:ext uri="{FF2B5EF4-FFF2-40B4-BE49-F238E27FC236}">
                <a16:creationId xmlns:a16="http://schemas.microsoft.com/office/drawing/2014/main" id="{DC42CBC9-EFE7-8944-C301-A2F9E4C3F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Scatter plots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4FF980-47E3-1CDF-B9DF-51D9C4F6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Scatter</a:t>
            </a:r>
            <a:r>
              <a:rPr lang="it-IT" dirty="0">
                <a:cs typeface="+mj-cs"/>
              </a:rPr>
              <a:t> plots</a:t>
            </a:r>
          </a:p>
        </p:txBody>
      </p:sp>
      <p:pic>
        <p:nvPicPr>
          <p:cNvPr id="76802" name="Immagine 3">
            <a:extLst>
              <a:ext uri="{FF2B5EF4-FFF2-40B4-BE49-F238E27FC236}">
                <a16:creationId xmlns:a16="http://schemas.microsoft.com/office/drawing/2014/main" id="{5D4F87B6-9494-68EA-EAF9-9BBDC7FFD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74738"/>
            <a:ext cx="8534400" cy="563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174D9B-0AC0-5E65-FDC6-1F8E43A7F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Scatter</a:t>
            </a:r>
            <a:r>
              <a:rPr lang="it-IT" dirty="0">
                <a:cs typeface="+mj-cs"/>
              </a:rPr>
              <a:t> plots</a:t>
            </a:r>
          </a:p>
        </p:txBody>
      </p:sp>
      <p:pic>
        <p:nvPicPr>
          <p:cNvPr id="77826" name="Immagine 2">
            <a:extLst>
              <a:ext uri="{FF2B5EF4-FFF2-40B4-BE49-F238E27FC236}">
                <a16:creationId xmlns:a16="http://schemas.microsoft.com/office/drawing/2014/main" id="{11231C10-4AB0-D84A-E8F2-9A627695C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2838"/>
            <a:ext cx="9144000" cy="498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B9C639-EF50-13F6-DEDF-EE7A277A9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>
                <a:cs typeface="+mj-cs"/>
              </a:rPr>
              <a:t>3D </a:t>
            </a:r>
            <a:r>
              <a:rPr lang="it-IT" dirty="0" err="1">
                <a:cs typeface="+mj-cs"/>
              </a:rPr>
              <a:t>scatter</a:t>
            </a:r>
            <a:r>
              <a:rPr lang="it-IT" dirty="0">
                <a:cs typeface="+mj-cs"/>
              </a:rPr>
              <a:t> plots</a:t>
            </a:r>
          </a:p>
        </p:txBody>
      </p:sp>
      <p:pic>
        <p:nvPicPr>
          <p:cNvPr id="78850" name="Immagine 3">
            <a:extLst>
              <a:ext uri="{FF2B5EF4-FFF2-40B4-BE49-F238E27FC236}">
                <a16:creationId xmlns:a16="http://schemas.microsoft.com/office/drawing/2014/main" id="{1747C3E6-0DDC-A6B6-F3FD-5289DD186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7913"/>
            <a:ext cx="9144000" cy="524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08BD6F-8B23-1064-1A18-00D5169B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Higher-dimensional</a:t>
            </a:r>
            <a:r>
              <a:rPr lang="it-IT" dirty="0">
                <a:cs typeface="+mj-cs"/>
              </a:rPr>
              <a:t> data</a:t>
            </a:r>
          </a:p>
        </p:txBody>
      </p:sp>
      <p:pic>
        <p:nvPicPr>
          <p:cNvPr id="79874" name="Immagine 2">
            <a:extLst>
              <a:ext uri="{FF2B5EF4-FFF2-40B4-BE49-F238E27FC236}">
                <a16:creationId xmlns:a16="http://schemas.microsoft.com/office/drawing/2014/main" id="{A3ADE1C7-28FC-3850-3759-F8A555576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5850"/>
            <a:ext cx="9144000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8A9A7-B1DF-894B-BB4D-59DF7E4D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Visualization as a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5D86-8796-784B-96E6-CE70C5711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visualisations reveal patterns or exceptions, then there is “something” in the data set. </a:t>
            </a:r>
          </a:p>
          <a:p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When visualisations do not indicate anything specific, there might still be patterns or structures in the data that cannot be revealed by the corresponding (simple) visualisation techniques. </a:t>
            </a:r>
          </a:p>
          <a:p>
            <a:endParaRPr lang="en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0830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Parallel Coordinates</a:t>
            </a:r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F406B"/>
                </a:solidFill>
              </a:rPr>
              <a:t>Parallel Coordinates </a:t>
            </a:r>
          </a:p>
          <a:p>
            <a:pPr marL="561975" lvl="1"/>
            <a:r>
              <a:rPr lang="en-US" sz="2000" dirty="0"/>
              <a:t>Used to plot the attribute values of high-dimensional data</a:t>
            </a:r>
          </a:p>
          <a:p>
            <a:pPr marL="561975" lvl="1"/>
            <a:r>
              <a:rPr lang="en-US" sz="2000" dirty="0"/>
              <a:t>Instead of using perpendicular axes, use a set of parallel axes </a:t>
            </a:r>
          </a:p>
          <a:p>
            <a:pPr marL="347663" lvl="1" indent="0">
              <a:buNone/>
            </a:pPr>
            <a:endParaRPr lang="en-US" sz="2000" dirty="0">
              <a:solidFill>
                <a:srgbClr val="0070C0"/>
              </a:solidFill>
            </a:endParaRPr>
          </a:p>
          <a:p>
            <a:pPr marL="347663" lvl="1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The attribute values of each object are plotted as a point on each corresponding coordinate axis and the points are connected by a line	</a:t>
            </a:r>
          </a:p>
          <a:p>
            <a:pPr marL="561975" lvl="1"/>
            <a:r>
              <a:rPr lang="en-US" sz="2000" dirty="0"/>
              <a:t>Thus, each object is represented as a line </a:t>
            </a:r>
          </a:p>
          <a:p>
            <a:pPr marL="561975" lvl="1"/>
            <a:r>
              <a:rPr lang="en-US" sz="2000" dirty="0"/>
              <a:t>Often, the lines representing a distinct class of objects group together, at least for some attributes</a:t>
            </a:r>
          </a:p>
          <a:p>
            <a:pPr marL="561975" lvl="1"/>
            <a:r>
              <a:rPr lang="en-US" sz="2000" dirty="0"/>
              <a:t>Ordering of attributes is important in seeing such groupings</a:t>
            </a:r>
          </a:p>
          <a:p>
            <a:pPr marL="561975" lvl="1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78324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F7B39-6970-2540-9BF0-725C4CCD0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Parallel</a:t>
            </a:r>
            <a:r>
              <a:rPr lang="it-IT" dirty="0">
                <a:cs typeface="+mj-cs"/>
              </a:rPr>
              <a:t> </a:t>
            </a:r>
            <a:r>
              <a:rPr lang="it-IT" dirty="0" err="1">
                <a:cs typeface="+mj-cs"/>
              </a:rPr>
              <a:t>coordinates</a:t>
            </a:r>
            <a:endParaRPr lang="it-IT" dirty="0">
              <a:cs typeface="+mj-cs"/>
            </a:endParaRPr>
          </a:p>
        </p:txBody>
      </p:sp>
      <p:pic>
        <p:nvPicPr>
          <p:cNvPr id="80898" name="Immagine 2">
            <a:extLst>
              <a:ext uri="{FF2B5EF4-FFF2-40B4-BE49-F238E27FC236}">
                <a16:creationId xmlns:a16="http://schemas.microsoft.com/office/drawing/2014/main" id="{A9AC15F0-C0CB-E9A7-8BBC-F7D5A7DB3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977900"/>
            <a:ext cx="8559800" cy="572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FFE4AD-525E-6D1F-1EBD-DEBAAAC25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>
                <a:cs typeface="+mj-cs"/>
              </a:rPr>
              <a:t>Radar plots</a:t>
            </a:r>
          </a:p>
        </p:txBody>
      </p:sp>
      <p:pic>
        <p:nvPicPr>
          <p:cNvPr id="81922" name="Immagine 4">
            <a:extLst>
              <a:ext uri="{FF2B5EF4-FFF2-40B4-BE49-F238E27FC236}">
                <a16:creationId xmlns:a16="http://schemas.microsoft.com/office/drawing/2014/main" id="{09005679-0501-5F3A-69FE-B1B8389C9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55688"/>
            <a:ext cx="8763000" cy="51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B67024-A515-07AC-136A-D30D49EF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>
                <a:cs typeface="+mj-cs"/>
              </a:rPr>
              <a:t>Star plots</a:t>
            </a:r>
          </a:p>
        </p:txBody>
      </p:sp>
      <p:pic>
        <p:nvPicPr>
          <p:cNvPr id="82946" name="Immagine 2">
            <a:extLst>
              <a:ext uri="{FF2B5EF4-FFF2-40B4-BE49-F238E27FC236}">
                <a16:creationId xmlns:a16="http://schemas.microsoft.com/office/drawing/2014/main" id="{814D489E-2D1C-09C8-E3C1-94534147D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3950"/>
            <a:ext cx="914400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A150-194F-4B43-8D3B-0FDFF2FB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008A-A3B4-9845-9F25-D736D07A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Correlation measures the linear relationship between objects</a:t>
            </a:r>
          </a:p>
          <a:p>
            <a:endParaRPr lang="en-US" dirty="0"/>
          </a:p>
          <a:p>
            <a:r>
              <a:rPr lang="en-GB" dirty="0"/>
              <a:t>Captures similar behaviour of two attributes</a:t>
            </a:r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5022796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9BBECA-119A-1F72-42DA-58532E246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Correlation</a:t>
            </a:r>
            <a:r>
              <a:rPr lang="it-IT" dirty="0">
                <a:cs typeface="+mj-cs"/>
              </a:rPr>
              <a:t> </a:t>
            </a:r>
            <a:r>
              <a:rPr lang="it-IT" dirty="0" err="1">
                <a:cs typeface="+mj-cs"/>
              </a:rPr>
              <a:t>analysis</a:t>
            </a:r>
            <a:endParaRPr lang="it-IT" dirty="0">
              <a:cs typeface="+mj-cs"/>
            </a:endParaRPr>
          </a:p>
        </p:txBody>
      </p:sp>
      <p:pic>
        <p:nvPicPr>
          <p:cNvPr id="83970" name="Immagine 2">
            <a:extLst>
              <a:ext uri="{FF2B5EF4-FFF2-40B4-BE49-F238E27FC236}">
                <a16:creationId xmlns:a16="http://schemas.microsoft.com/office/drawing/2014/main" id="{79403952-8F6E-5FEC-3F1B-AF8F49A61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11300"/>
            <a:ext cx="9144000" cy="382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olo 1">
            <a:extLst>
              <a:ext uri="{FF2B5EF4-FFF2-40B4-BE49-F238E27FC236}">
                <a16:creationId xmlns:a16="http://schemas.microsoft.com/office/drawing/2014/main" id="{47386B7F-3009-7D1B-84EB-014B08001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Pearson’s correlation coefficient</a:t>
            </a:r>
          </a:p>
        </p:txBody>
      </p:sp>
      <p:pic>
        <p:nvPicPr>
          <p:cNvPr id="84994" name="Immagine 3">
            <a:extLst>
              <a:ext uri="{FF2B5EF4-FFF2-40B4-BE49-F238E27FC236}">
                <a16:creationId xmlns:a16="http://schemas.microsoft.com/office/drawing/2014/main" id="{97AD28D6-4320-D15D-847C-968737E78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4263"/>
            <a:ext cx="9144000" cy="516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olo 1">
            <a:extLst>
              <a:ext uri="{FF2B5EF4-FFF2-40B4-BE49-F238E27FC236}">
                <a16:creationId xmlns:a16="http://schemas.microsoft.com/office/drawing/2014/main" id="{F1E407EA-B3A5-2038-D329-FCE77B2523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Pearson’s correlation coefficient</a:t>
            </a:r>
          </a:p>
        </p:txBody>
      </p:sp>
      <p:pic>
        <p:nvPicPr>
          <p:cNvPr id="86018" name="Immagine 2">
            <a:extLst>
              <a:ext uri="{FF2B5EF4-FFF2-40B4-BE49-F238E27FC236}">
                <a16:creationId xmlns:a16="http://schemas.microsoft.com/office/drawing/2014/main" id="{880EA2FC-9B4A-76A1-718C-3338B0C3B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50925"/>
            <a:ext cx="8382000" cy="573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Visualization of the Iris Correlation Matrix</a:t>
            </a:r>
          </a:p>
        </p:txBody>
      </p:sp>
      <p:pic>
        <p:nvPicPr>
          <p:cNvPr id="9697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8"/>
          <a:stretch>
            <a:fillRect/>
          </a:stretch>
        </p:blipFill>
        <p:spPr bwMode="auto">
          <a:xfrm>
            <a:off x="1437432" y="1935361"/>
            <a:ext cx="5851922" cy="38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19932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olo 1">
            <a:extLst>
              <a:ext uri="{FF2B5EF4-FFF2-40B4-BE49-F238E27FC236}">
                <a16:creationId xmlns:a16="http://schemas.microsoft.com/office/drawing/2014/main" id="{D46F89FD-4D07-0D2C-85B4-70D7737A58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Spearman’s rank correlation coefficient</a:t>
            </a:r>
          </a:p>
        </p:txBody>
      </p:sp>
      <p:pic>
        <p:nvPicPr>
          <p:cNvPr id="87042" name="Immagine 3">
            <a:extLst>
              <a:ext uri="{FF2B5EF4-FFF2-40B4-BE49-F238E27FC236}">
                <a16:creationId xmlns:a16="http://schemas.microsoft.com/office/drawing/2014/main" id="{18A4328D-3354-ECDA-D464-CF214BCC8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1371600"/>
            <a:ext cx="9144000" cy="449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olo 1">
            <a:extLst>
              <a:ext uri="{FF2B5EF4-FFF2-40B4-BE49-F238E27FC236}">
                <a16:creationId xmlns:a16="http://schemas.microsoft.com/office/drawing/2014/main" id="{DAC9C4AF-680F-6B8D-B10F-C2BA05A38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Spearman’s rank correlation coefficient</a:t>
            </a:r>
          </a:p>
        </p:txBody>
      </p:sp>
      <p:pic>
        <p:nvPicPr>
          <p:cNvPr id="88066" name="Immagine 2">
            <a:extLst>
              <a:ext uri="{FF2B5EF4-FFF2-40B4-BE49-F238E27FC236}">
                <a16:creationId xmlns:a16="http://schemas.microsoft.com/office/drawing/2014/main" id="{16E0172C-5B74-2E6F-E8F5-AEC437E8B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16000"/>
            <a:ext cx="8223250" cy="568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453A77-FF2E-32FE-53A5-4A287702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Checklist</a:t>
            </a:r>
            <a:r>
              <a:rPr lang="it-IT" dirty="0">
                <a:cs typeface="+mj-cs"/>
              </a:rPr>
              <a:t> for data </a:t>
            </a:r>
            <a:r>
              <a:rPr lang="it-IT" dirty="0" err="1">
                <a:cs typeface="+mj-cs"/>
              </a:rPr>
              <a:t>understanding</a:t>
            </a:r>
            <a:endParaRPr lang="it-IT" dirty="0">
              <a:cs typeface="+mj-cs"/>
            </a:endParaRPr>
          </a:p>
        </p:txBody>
      </p:sp>
      <p:pic>
        <p:nvPicPr>
          <p:cNvPr id="89090" name="Immagine 3">
            <a:extLst>
              <a:ext uri="{FF2B5EF4-FFF2-40B4-BE49-F238E27FC236}">
                <a16:creationId xmlns:a16="http://schemas.microsoft.com/office/drawing/2014/main" id="{74215659-A895-F1CA-0B53-0F724BF3C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0500"/>
            <a:ext cx="9144000" cy="391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12FBB1-C4BE-C4A3-F9A3-1E183B57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/>
          <a:lstStyle/>
          <a:p>
            <a:pPr>
              <a:defRPr/>
            </a:pPr>
            <a:r>
              <a:rPr lang="it-IT" dirty="0" err="1">
                <a:cs typeface="+mj-cs"/>
              </a:rPr>
              <a:t>Checklist</a:t>
            </a:r>
            <a:r>
              <a:rPr lang="it-IT" dirty="0">
                <a:cs typeface="+mj-cs"/>
              </a:rPr>
              <a:t> for data </a:t>
            </a:r>
            <a:r>
              <a:rPr lang="it-IT" dirty="0" err="1">
                <a:cs typeface="+mj-cs"/>
              </a:rPr>
              <a:t>understanding</a:t>
            </a:r>
            <a:r>
              <a:rPr lang="it-IT" dirty="0">
                <a:cs typeface="+mj-cs"/>
              </a:rPr>
              <a:t>: MUST DO</a:t>
            </a:r>
          </a:p>
        </p:txBody>
      </p:sp>
      <p:pic>
        <p:nvPicPr>
          <p:cNvPr id="90114" name="Immagine 2">
            <a:extLst>
              <a:ext uri="{FF2B5EF4-FFF2-40B4-BE49-F238E27FC236}">
                <a16:creationId xmlns:a16="http://schemas.microsoft.com/office/drawing/2014/main" id="{B8154097-43BD-8F35-5F7D-2B2DF2CD1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7600"/>
            <a:ext cx="9144000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>
            <a:extLst>
              <a:ext uri="{FF2B5EF4-FFF2-40B4-BE49-F238E27FC236}">
                <a16:creationId xmlns:a16="http://schemas.microsoft.com/office/drawing/2014/main" id="{28B85BF4-35A6-3C42-D6AF-8B7EC9693E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Data Quality </a:t>
            </a:r>
          </a:p>
        </p:txBody>
      </p:sp>
      <p:sp>
        <p:nvSpPr>
          <p:cNvPr id="22531" name="Rectangle 6">
            <a:extLst>
              <a:ext uri="{FF2B5EF4-FFF2-40B4-BE49-F238E27FC236}">
                <a16:creationId xmlns:a16="http://schemas.microsoft.com/office/drawing/2014/main" id="{8E978976-0535-8B91-488A-83F6E9462E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What kinds of data quality problems?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How can we detect problems with the data? 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What can we do about these problems? </a:t>
            </a:r>
          </a:p>
          <a:p>
            <a:pPr lvl="4">
              <a:defRPr/>
            </a:pPr>
            <a:endParaRPr lang="en-US">
              <a:latin typeface="Times New Roman" charset="0"/>
            </a:endParaRPr>
          </a:p>
          <a:p>
            <a:pPr lvl="4">
              <a:defRPr/>
            </a:pPr>
            <a:endParaRPr lang="en-US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Examples of data quality problems: 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Noise and outliers 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missing values 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duplicate data 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>
            <a:extLst>
              <a:ext uri="{FF2B5EF4-FFF2-40B4-BE49-F238E27FC236}">
                <a16:creationId xmlns:a16="http://schemas.microsoft.com/office/drawing/2014/main" id="{2237FD26-7A6C-035F-504E-6D5088C94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Noise</a:t>
            </a:r>
          </a:p>
        </p:txBody>
      </p:sp>
      <p:sp>
        <p:nvSpPr>
          <p:cNvPr id="93186" name="Rectangle 9">
            <a:extLst>
              <a:ext uri="{FF2B5EF4-FFF2-40B4-BE49-F238E27FC236}">
                <a16:creationId xmlns:a16="http://schemas.microsoft.com/office/drawing/2014/main" id="{A0730E49-700B-1E3F-5E56-4A7A175E8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Noise refers to modification of original values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Examples: distortion of a person’s voice when talking on a poor phone and “snow” on television screen</a:t>
            </a:r>
          </a:p>
          <a:p>
            <a:pPr lvl="1"/>
            <a:endParaRPr lang="en-US" altLang="it-IT">
              <a:ea typeface="ＭＳ Ｐゴシック" panose="020B0600070205080204" pitchFamily="34" charset="-128"/>
            </a:endParaRPr>
          </a:p>
          <a:p>
            <a:pPr lvl="1"/>
            <a:endParaRPr lang="en-US" altLang="it-IT">
              <a:ea typeface="ＭＳ Ｐゴシック" panose="020B0600070205080204" pitchFamily="34" charset="-128"/>
            </a:endParaRPr>
          </a:p>
        </p:txBody>
      </p:sp>
      <p:pic>
        <p:nvPicPr>
          <p:cNvPr id="93187" name="Picture 4">
            <a:extLst>
              <a:ext uri="{FF2B5EF4-FFF2-40B4-BE49-F238E27FC236}">
                <a16:creationId xmlns:a16="http://schemas.microsoft.com/office/drawing/2014/main" id="{D46979E8-52B7-7E9A-2C9A-8ADA19027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/>
          <a:stretch>
            <a:fillRect/>
          </a:stretch>
        </p:blipFill>
        <p:spPr bwMode="auto">
          <a:xfrm>
            <a:off x="609600" y="2508250"/>
            <a:ext cx="4103688" cy="328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8" name="Picture 5">
            <a:extLst>
              <a:ext uri="{FF2B5EF4-FFF2-40B4-BE49-F238E27FC236}">
                <a16:creationId xmlns:a16="http://schemas.microsoft.com/office/drawing/2014/main" id="{2FBCB566-F8D3-3031-D427-DF5A010B1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6250"/>
          <a:stretch>
            <a:fillRect/>
          </a:stretch>
        </p:blipFill>
        <p:spPr bwMode="auto">
          <a:xfrm>
            <a:off x="4719638" y="2514600"/>
            <a:ext cx="3738562" cy="328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9" name="Text Box 6">
            <a:extLst>
              <a:ext uri="{FF2B5EF4-FFF2-40B4-BE49-F238E27FC236}">
                <a16:creationId xmlns:a16="http://schemas.microsoft.com/office/drawing/2014/main" id="{94606945-52CB-0CDD-08ED-513C1A09F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9436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Two Sine Waves</a:t>
            </a:r>
          </a:p>
        </p:txBody>
      </p:sp>
      <p:sp>
        <p:nvSpPr>
          <p:cNvPr id="93190" name="Text Box 7">
            <a:extLst>
              <a:ext uri="{FF2B5EF4-FFF2-40B4-BE49-F238E27FC236}">
                <a16:creationId xmlns:a16="http://schemas.microsoft.com/office/drawing/2014/main" id="{9BD6FFE1-964C-ED29-D1E3-BD854B161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943600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Two Sine Waves + Noise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C39D9F8-04CD-D8F5-B13B-76F083CBB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Outliers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5E9D40A7-931A-6815-0804-2A75FB4D9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Outliers are data objects with characteristics that are considerably different than most of the other data objects in the data set</a:t>
            </a:r>
          </a:p>
          <a:p>
            <a:pPr>
              <a:buFont typeface="Monotype Sorts" charset="0"/>
              <a:buChar char="l"/>
              <a:defRPr/>
            </a:pPr>
            <a:endParaRPr lang="en-US">
              <a:cs typeface="+mn-cs"/>
            </a:endParaRPr>
          </a:p>
        </p:txBody>
      </p:sp>
      <p:grpSp>
        <p:nvGrpSpPr>
          <p:cNvPr id="94211" name="Group 4">
            <a:extLst>
              <a:ext uri="{FF2B5EF4-FFF2-40B4-BE49-F238E27FC236}">
                <a16:creationId xmlns:a16="http://schemas.microsoft.com/office/drawing/2014/main" id="{D75E2DD0-7CD1-9B79-57EE-4CD79CC150B7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667000"/>
            <a:ext cx="4267200" cy="3505200"/>
            <a:chOff x="3648" y="2448"/>
            <a:chExt cx="2112" cy="1872"/>
          </a:xfrm>
        </p:grpSpPr>
        <p:pic>
          <p:nvPicPr>
            <p:cNvPr id="94212" name="Picture 5">
              <a:extLst>
                <a:ext uri="{FF2B5EF4-FFF2-40B4-BE49-F238E27FC236}">
                  <a16:creationId xmlns:a16="http://schemas.microsoft.com/office/drawing/2014/main" id="{37D17B7C-6747-C3E5-D4C2-34D8F30C3B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213" name="Oval 6">
              <a:extLst>
                <a:ext uri="{FF2B5EF4-FFF2-40B4-BE49-F238E27FC236}">
                  <a16:creationId xmlns:a16="http://schemas.microsoft.com/office/drawing/2014/main" id="{876E0027-F16F-D0EB-C162-F5F4742BF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  <p:sp>
          <p:nvSpPr>
            <p:cNvPr id="94214" name="Oval 7">
              <a:extLst>
                <a:ext uri="{FF2B5EF4-FFF2-40B4-BE49-F238E27FC236}">
                  <a16:creationId xmlns:a16="http://schemas.microsoft.com/office/drawing/2014/main" id="{E62F0289-E46E-8E01-364A-18A558980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  <p:sp>
          <p:nvSpPr>
            <p:cNvPr id="94215" name="Oval 8">
              <a:extLst>
                <a:ext uri="{FF2B5EF4-FFF2-40B4-BE49-F238E27FC236}">
                  <a16:creationId xmlns:a16="http://schemas.microsoft.com/office/drawing/2014/main" id="{10E59E36-A77E-55EE-DE30-6BEA90D5B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2" y="3871"/>
              <a:ext cx="86" cy="86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  <p:sp>
          <p:nvSpPr>
            <p:cNvPr id="94216" name="Oval 9">
              <a:extLst>
                <a:ext uri="{FF2B5EF4-FFF2-40B4-BE49-F238E27FC236}">
                  <a16:creationId xmlns:a16="http://schemas.microsoft.com/office/drawing/2014/main" id="{F54D2A77-025A-7553-7422-350619847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  <p:sp>
          <p:nvSpPr>
            <p:cNvPr id="94217" name="Rectangle 10">
              <a:extLst>
                <a:ext uri="{FF2B5EF4-FFF2-40B4-BE49-F238E27FC236}">
                  <a16:creationId xmlns:a16="http://schemas.microsoft.com/office/drawing/2014/main" id="{66AF86AF-FABA-0D7C-5E50-DFC002416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  <p:sp>
          <p:nvSpPr>
            <p:cNvPr id="94218" name="Rectangle 11">
              <a:extLst>
                <a:ext uri="{FF2B5EF4-FFF2-40B4-BE49-F238E27FC236}">
                  <a16:creationId xmlns:a16="http://schemas.microsoft.com/office/drawing/2014/main" id="{4B804E72-8EEA-C434-AF8B-7CC808E44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itchFamily="2" charset="2"/>
                <a:buChar char="u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it-IT" altLang="it-IT" sz="1400"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932E-88E0-774E-ADE3-23649B9F4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Outlier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A33C7-D552-FF4F-8DD3-1D61F644A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Single attribute:</a:t>
            </a:r>
          </a:p>
          <a:p>
            <a:pPr lvl="1"/>
            <a:r>
              <a:rPr lang="en-GB" b="1" dirty="0"/>
              <a:t>Categorical</a:t>
            </a:r>
            <a:r>
              <a:rPr lang="en-GB" dirty="0"/>
              <a:t> attributes: An outlier is a value that occurs with a frequency extremely lower than the frequency of all other values.</a:t>
            </a:r>
          </a:p>
          <a:p>
            <a:pPr lvl="1"/>
            <a:r>
              <a:rPr lang="en-GB" b="1" dirty="0"/>
              <a:t>Numerical</a:t>
            </a:r>
            <a:r>
              <a:rPr lang="en-GB" dirty="0"/>
              <a:t> attributes: box plots </a:t>
            </a:r>
          </a:p>
          <a:p>
            <a:r>
              <a:rPr lang="en-GB" b="1" dirty="0">
                <a:solidFill>
                  <a:srgbClr val="0070C0"/>
                </a:solidFill>
              </a:rPr>
              <a:t>Multidimensional attribute:</a:t>
            </a:r>
          </a:p>
          <a:p>
            <a:pPr lvl="1"/>
            <a:r>
              <a:rPr lang="en-GB" dirty="0"/>
              <a:t>Scatter plots for (visually detecting) outliers </a:t>
            </a:r>
            <a:r>
              <a:rPr lang="en-GB" dirty="0" err="1"/>
              <a:t>w.r.t.</a:t>
            </a:r>
            <a:r>
              <a:rPr lang="en-GB" dirty="0"/>
              <a:t> two attributes</a:t>
            </a:r>
          </a:p>
          <a:p>
            <a:pPr lvl="1"/>
            <a:r>
              <a:rPr lang="en-GB" dirty="0"/>
              <a:t>PCA plots for (visually detecting) outliers</a:t>
            </a:r>
          </a:p>
          <a:p>
            <a:pPr lvl="1"/>
            <a:r>
              <a:rPr lang="en-GB" dirty="0"/>
              <a:t>Cluster analysis techniques: Outliers are those points which cannot be assigned to any cluster. </a:t>
            </a:r>
          </a:p>
          <a:p>
            <a:endParaRPr lang="en-GB" dirty="0"/>
          </a:p>
          <a:p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42410744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C82A0C56-E7EB-4D23-32F3-D79EAC71C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Missing Values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id="{AA5EC6D2-0B32-7E2C-955B-392869DF7C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Reasons for missing values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Information is not collected </a:t>
            </a:r>
            <a:br>
              <a:rPr lang="en-US"/>
            </a:br>
            <a:r>
              <a:rPr lang="en-US"/>
              <a:t>(e.g., people decline to give their age and weight)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Attributes may not be applicable to all cases </a:t>
            </a:r>
            <a:br>
              <a:rPr lang="en-US"/>
            </a:br>
            <a:r>
              <a:rPr lang="en-US"/>
              <a:t>(e.g., annual income is not applicable to children)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endParaRPr lang="en-US"/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Handling missing values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Eliminate Data Objects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Estimate Missing Values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Ignore the Missing Value During Analysis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Replace with all possible values (weighted by their probabilities)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86A56CC-2A38-5E91-F67A-F2EE9CC95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Duplicate Data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49BAB3B-D9D3-5E04-91EE-76C5BB326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Data set may include data objects that are duplicates, or almost duplicates of one another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Major issue when merging data from heterogeous sources</a:t>
            </a:r>
          </a:p>
          <a:p>
            <a:pPr lvl="1">
              <a:buFont typeface="Arial" charset="0"/>
              <a:buChar char="–"/>
              <a:defRPr/>
            </a:pPr>
            <a:endParaRPr lang="en-US"/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Examples: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Same person with multiple email addresses</a:t>
            </a:r>
          </a:p>
          <a:p>
            <a:pPr lvl="1">
              <a:buFont typeface="Arial" charset="0"/>
              <a:buChar char="–"/>
              <a:defRPr/>
            </a:pPr>
            <a:endParaRPr lang="en-US"/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Data cleaning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Process of dealing with duplicate data issues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2172B37-BFBF-F334-53F5-F0C784E86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it-IT" sz="6600" dirty="0">
                <a:cs typeface="+mj-cs"/>
              </a:rPr>
              <a:t>Data </a:t>
            </a:r>
            <a:r>
              <a:rPr lang="it-IT" sz="6600" dirty="0" err="1">
                <a:cs typeface="+mj-cs"/>
              </a:rPr>
              <a:t>preparation</a:t>
            </a:r>
            <a:endParaRPr lang="it-IT" sz="6600" dirty="0">
              <a:cs typeface="+mj-cs"/>
            </a:endParaRPr>
          </a:p>
        </p:txBody>
      </p:sp>
      <p:sp>
        <p:nvSpPr>
          <p:cNvPr id="2" name="Sottotitolo 1">
            <a:extLst>
              <a:ext uri="{FF2B5EF4-FFF2-40B4-BE49-F238E27FC236}">
                <a16:creationId xmlns:a16="http://schemas.microsoft.com/office/drawing/2014/main" id="{3BCC26A9-7969-C576-1856-AC78A3053B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Monotype Sorts" charset="0"/>
              <a:buNone/>
              <a:defRPr/>
            </a:pPr>
            <a:endParaRPr lang="it-IT">
              <a:cs typeface="+mn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6">
            <a:extLst>
              <a:ext uri="{FF2B5EF4-FFF2-40B4-BE49-F238E27FC236}">
                <a16:creationId xmlns:a16="http://schemas.microsoft.com/office/drawing/2014/main" id="{090B2560-DEB1-C211-B865-A071CAC5F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Data Preprocessing</a:t>
            </a:r>
          </a:p>
        </p:txBody>
      </p:sp>
      <p:sp>
        <p:nvSpPr>
          <p:cNvPr id="27651" name="Rectangle 1027">
            <a:extLst>
              <a:ext uri="{FF2B5EF4-FFF2-40B4-BE49-F238E27FC236}">
                <a16:creationId xmlns:a16="http://schemas.microsoft.com/office/drawing/2014/main" id="{3C4164D8-8E68-18C6-829C-C4F6EB586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Aggregation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Sampling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Dimensionality Reduction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Feature subset selection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Feature creation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Discretization and Binarization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Attribute Transformation</a:t>
            </a:r>
          </a:p>
          <a:p>
            <a:pPr>
              <a:buFont typeface="Monotype Sorts" charset="0"/>
              <a:buChar char="l"/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3CD684D-5F52-9930-4FB2-2AEE915E61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Aggregation</a:t>
            </a: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41A6F5B8-8BB2-6DEB-FC1D-3B31B635B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Combining two or more attributes (or objects) into a single attribute (or object)</a:t>
            </a:r>
          </a:p>
          <a:p>
            <a:endParaRPr lang="en-US" altLang="it-IT">
              <a:ea typeface="ＭＳ Ｐゴシック" panose="020B0600070205080204" pitchFamily="34" charset="-128"/>
            </a:endParaRPr>
          </a:p>
          <a:p>
            <a:r>
              <a:rPr lang="en-US" altLang="it-IT">
                <a:ea typeface="ＭＳ Ｐゴシック" panose="020B0600070205080204" pitchFamily="34" charset="-128"/>
              </a:rPr>
              <a:t>Purpose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Data reduction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Reduce the number of attributes or objects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Change of scale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Cities aggregated into regions, states, countries, etc</a:t>
            </a:r>
          </a:p>
          <a:p>
            <a:pPr lvl="1"/>
            <a:r>
              <a:rPr lang="en-US" altLang="it-IT">
                <a:ea typeface="ＭＳ Ｐゴシック" panose="020B0600070205080204" pitchFamily="34" charset="-128"/>
              </a:rPr>
              <a:t>More “stable” data</a:t>
            </a:r>
          </a:p>
          <a:p>
            <a:pPr lvl="2"/>
            <a:r>
              <a:rPr lang="en-US" altLang="it-IT">
                <a:ea typeface="ＭＳ Ｐゴシック" panose="020B0600070205080204" pitchFamily="34" charset="-128"/>
              </a:rPr>
              <a:t> Aggregated data tends to have less variability 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E661473-195C-0548-2FB5-CE67C4E0D0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Aggregation</a:t>
            </a:r>
          </a:p>
        </p:txBody>
      </p:sp>
      <p:sp>
        <p:nvSpPr>
          <p:cNvPr id="101378" name="Text Box 4">
            <a:extLst>
              <a:ext uri="{FF2B5EF4-FFF2-40B4-BE49-F238E27FC236}">
                <a16:creationId xmlns:a16="http://schemas.microsoft.com/office/drawing/2014/main" id="{FA6CEB3D-61C7-32F6-40A1-AAB9F258A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01379" name="Text Box 5">
            <a:extLst>
              <a:ext uri="{FF2B5EF4-FFF2-40B4-BE49-F238E27FC236}">
                <a16:creationId xmlns:a16="http://schemas.microsoft.com/office/drawing/2014/main" id="{2847B5D4-B8B3-AF2C-DF1C-59669456D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654675"/>
            <a:ext cx="2895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Standard Deviation of Average Monthly Precipitation</a:t>
            </a:r>
          </a:p>
        </p:txBody>
      </p:sp>
      <p:sp>
        <p:nvSpPr>
          <p:cNvPr id="101380" name="Rectangle 6">
            <a:extLst>
              <a:ext uri="{FF2B5EF4-FFF2-40B4-BE49-F238E27FC236}">
                <a16:creationId xmlns:a16="http://schemas.microsoft.com/office/drawing/2014/main" id="{B34C8F27-CC83-308E-F24D-EEAD56D8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01381" name="Text Box 7">
            <a:extLst>
              <a:ext uri="{FF2B5EF4-FFF2-40B4-BE49-F238E27FC236}">
                <a16:creationId xmlns:a16="http://schemas.microsoft.com/office/drawing/2014/main" id="{993CE692-79C2-E142-8C94-AA2F5671C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654675"/>
            <a:ext cx="2895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Standard Deviation of Average Yearly Precipitation</a:t>
            </a:r>
          </a:p>
        </p:txBody>
      </p:sp>
      <p:pic>
        <p:nvPicPr>
          <p:cNvPr id="101382" name="Picture 8">
            <a:extLst>
              <a:ext uri="{FF2B5EF4-FFF2-40B4-BE49-F238E27FC236}">
                <a16:creationId xmlns:a16="http://schemas.microsoft.com/office/drawing/2014/main" id="{827F9CA6-3D26-DAE5-F892-689BFF70C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r="18164"/>
          <a:stretch>
            <a:fillRect/>
          </a:stretch>
        </p:blipFill>
        <p:spPr bwMode="auto">
          <a:xfrm>
            <a:off x="152400" y="1768475"/>
            <a:ext cx="4038600" cy="384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3" name="Picture 9">
            <a:extLst>
              <a:ext uri="{FF2B5EF4-FFF2-40B4-BE49-F238E27FC236}">
                <a16:creationId xmlns:a16="http://schemas.microsoft.com/office/drawing/2014/main" id="{C0ACF99E-1AE7-2142-CDCB-4C0D87909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r="5850"/>
          <a:stretch>
            <a:fillRect/>
          </a:stretch>
        </p:blipFill>
        <p:spPr bwMode="auto">
          <a:xfrm>
            <a:off x="4648200" y="1768475"/>
            <a:ext cx="4495800" cy="384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4" name="Text Box 10">
            <a:extLst>
              <a:ext uri="{FF2B5EF4-FFF2-40B4-BE49-F238E27FC236}">
                <a16:creationId xmlns:a16="http://schemas.microsoft.com/office/drawing/2014/main" id="{F27039D9-2671-4C76-E80C-F20172E1D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480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cs typeface="Arial" panose="020B0604020202020204" pitchFamily="34" charset="0"/>
              </a:rPr>
              <a:t>Variation of Precipitation in Australia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583C868-7AE2-E302-EA68-2D055FC12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Sampling </a:t>
            </a:r>
          </a:p>
        </p:txBody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AE694369-C4DB-650D-9497-6A831454E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it-IT" sz="2400" b="1">
                <a:latin typeface="Times New Roman" panose="02020603050405020304" pitchFamily="18" charset="0"/>
                <a:ea typeface="MS Mincho" panose="02020609040205080304" pitchFamily="49" charset="-128"/>
              </a:rPr>
              <a:t>Sampling is the main technique employed for data selection.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en-US" altLang="it-IT" sz="2000" b="1">
                <a:latin typeface="Times New Roman" panose="02020603050405020304" pitchFamily="18" charset="0"/>
                <a:ea typeface="MS Mincho" panose="02020609040205080304" pitchFamily="49" charset="-128"/>
              </a:rPr>
              <a:t>It is often used for both the preliminary investigation of the data and the final data analysis.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it-IT" sz="2000" b="1"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endParaRPr lang="en-US" altLang="it-IT" sz="2000" b="1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it-IT" sz="2400" b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Statisticians sample because </a:t>
            </a:r>
            <a:r>
              <a:rPr lang="en-US" altLang="it-IT" sz="2400" b="1">
                <a:solidFill>
                  <a:srgbClr val="CC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obtaining</a:t>
            </a:r>
            <a:r>
              <a:rPr lang="en-US" altLang="it-IT" sz="2400" b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 the entire set of data of interest is too expensive or time consuming.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it-IT" sz="2400" b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altLang="it-IT" sz="2400" b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Sampling is used in data mining because </a:t>
            </a:r>
            <a:r>
              <a:rPr lang="en-US" altLang="it-IT" sz="2400" b="1">
                <a:solidFill>
                  <a:srgbClr val="CC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processing</a:t>
            </a:r>
            <a:r>
              <a:rPr lang="en-US" altLang="it-IT" sz="2400" b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 the entire set of data of interest is too expensive or time consuming.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4">
            <a:extLst>
              <a:ext uri="{FF2B5EF4-FFF2-40B4-BE49-F238E27FC236}">
                <a16:creationId xmlns:a16="http://schemas.microsoft.com/office/drawing/2014/main" id="{567AA603-585E-2CC1-332B-BBEF37FCE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Sampling … 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0A0EF6CA-C563-6113-A179-BA510FCA4B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The key principle for effective sampling is the following: 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using a sample will work almost as well as using the entire data sets, if the sample is representative</a:t>
            </a:r>
            <a:br>
              <a:rPr lang="en-US"/>
            </a:br>
            <a:endParaRPr lang="en-US"/>
          </a:p>
          <a:p>
            <a:pPr lvl="1">
              <a:buFont typeface="Arial" charset="0"/>
              <a:buChar char="–"/>
              <a:defRPr/>
            </a:pPr>
            <a:r>
              <a:rPr lang="en-US"/>
              <a:t>A sample is representative if it has approximately the same property (of interest) as the original set of data  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14BE21CB-6EDD-7CE5-8517-DCCFC2C957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Types of Sampling</a:t>
            </a: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1E53F51A-7E97-A9C0-8BD0-1A659E4755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Simple Random Sampling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/>
              <a:t>There is an equal probability of selecting any particular item</a:t>
            </a:r>
          </a:p>
          <a:p>
            <a:pPr lvl="4">
              <a:lnSpc>
                <a:spcPct val="90000"/>
              </a:lnSpc>
              <a:defRPr/>
            </a:pPr>
            <a:endParaRPr lang="en-US" sz="1800">
              <a:latin typeface="Times New Roman" charset="0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Sampling without replacement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/>
              <a:t>As each item is selected, it is removed from the population</a:t>
            </a:r>
          </a:p>
          <a:p>
            <a:pPr lvl="4">
              <a:lnSpc>
                <a:spcPct val="90000"/>
              </a:lnSpc>
              <a:defRPr/>
            </a:pPr>
            <a:endParaRPr lang="en-US" sz="1800">
              <a:latin typeface="Times New Roman" charset="0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Sampling with replacement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/>
              <a:t>Objects are not removed from the population as they are selected for the sample.   </a:t>
            </a:r>
          </a:p>
          <a:p>
            <a:pPr lvl="2">
              <a:lnSpc>
                <a:spcPct val="90000"/>
              </a:lnSpc>
              <a:buFont typeface="Wingdings" charset="0"/>
              <a:buChar char="u"/>
              <a:defRPr/>
            </a:pPr>
            <a:r>
              <a:rPr lang="en-US" sz="1800"/>
              <a:t>  In sampling with replacement, the same object can be picked up more than once</a:t>
            </a:r>
          </a:p>
          <a:p>
            <a:pPr lvl="4">
              <a:lnSpc>
                <a:spcPct val="90000"/>
              </a:lnSpc>
              <a:defRPr/>
            </a:pPr>
            <a:endParaRPr lang="en-US" sz="1800">
              <a:latin typeface="Times New Roman" charset="0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Stratified sampling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sz="2000"/>
              <a:t>Split the data into several partitions; then draw random samples from each partition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>
            <a:extLst>
              <a:ext uri="{FF2B5EF4-FFF2-40B4-BE49-F238E27FC236}">
                <a16:creationId xmlns:a16="http://schemas.microsoft.com/office/drawing/2014/main" id="{22403CB1-11C0-D6CB-399F-E456E4760E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Sample Size</a:t>
            </a:r>
          </a:p>
        </p:txBody>
      </p:sp>
      <p:sp>
        <p:nvSpPr>
          <p:cNvPr id="109570" name="Rectangle 1027">
            <a:extLst>
              <a:ext uri="{FF2B5EF4-FFF2-40B4-BE49-F238E27FC236}">
                <a16:creationId xmlns:a16="http://schemas.microsoft.com/office/drawing/2014/main" id="{4CE50D4B-4BAA-7130-13DC-6C3F1E425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altLang="it-IT" b="1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it-IT" b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  <p:pic>
        <p:nvPicPr>
          <p:cNvPr id="109571" name="Picture 1028">
            <a:extLst>
              <a:ext uri="{FF2B5EF4-FFF2-40B4-BE49-F238E27FC236}">
                <a16:creationId xmlns:a16="http://schemas.microsoft.com/office/drawing/2014/main" id="{D8C98DB2-5F22-9CA4-1980-2CEA0620F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2" r="12462"/>
          <a:stretch>
            <a:fillRect/>
          </a:stretch>
        </p:blipFill>
        <p:spPr bwMode="auto">
          <a:xfrm>
            <a:off x="457200" y="1752600"/>
            <a:ext cx="2819400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2" name="Picture 1029">
            <a:extLst>
              <a:ext uri="{FF2B5EF4-FFF2-40B4-BE49-F238E27FC236}">
                <a16:creationId xmlns:a16="http://schemas.microsoft.com/office/drawing/2014/main" id="{5463AE84-E5F9-2848-62C3-3FC70B371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22" t="13898" r="14546" b="11060"/>
          <a:stretch>
            <a:fillRect/>
          </a:stretch>
        </p:blipFill>
        <p:spPr bwMode="auto">
          <a:xfrm>
            <a:off x="3276600" y="2209800"/>
            <a:ext cx="2743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3" name="Picture 1030">
            <a:extLst>
              <a:ext uri="{FF2B5EF4-FFF2-40B4-BE49-F238E27FC236}">
                <a16:creationId xmlns:a16="http://schemas.microsoft.com/office/drawing/2014/main" id="{FFA51D84-0C7E-7CC1-6157-C95BFF76B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1" r="13287"/>
          <a:stretch>
            <a:fillRect/>
          </a:stretch>
        </p:blipFill>
        <p:spPr bwMode="auto">
          <a:xfrm>
            <a:off x="6096000" y="1828800"/>
            <a:ext cx="2743200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4" name="Text Box 1031">
            <a:extLst>
              <a:ext uri="{FF2B5EF4-FFF2-40B4-BE49-F238E27FC236}">
                <a16:creationId xmlns:a16="http://schemas.microsoft.com/office/drawing/2014/main" id="{CD43B25D-09D0-C1B1-7A1A-27D94255E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495800"/>
            <a:ext cx="807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8000 points		         2000 Points			500 Points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61692BC-E975-9FE4-C1A2-C363A7D9C4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Sample Size</a:t>
            </a:r>
          </a:p>
        </p:txBody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DFC810C6-36BA-249F-ADC4-5FC70B5334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r>
              <a:rPr lang="en-US" altLang="it-IT" b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What sample size is necessary to get at least one object from each of 10 groups.</a:t>
            </a:r>
          </a:p>
        </p:txBody>
      </p:sp>
      <p:pic>
        <p:nvPicPr>
          <p:cNvPr id="111619" name="Picture 4">
            <a:extLst>
              <a:ext uri="{FF2B5EF4-FFF2-40B4-BE49-F238E27FC236}">
                <a16:creationId xmlns:a16="http://schemas.microsoft.com/office/drawing/2014/main" id="{76B61290-2EDA-B527-3351-3F67A6FC7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2"/>
          <a:stretch>
            <a:fillRect/>
          </a:stretch>
        </p:blipFill>
        <p:spPr bwMode="auto">
          <a:xfrm>
            <a:off x="304800" y="2590800"/>
            <a:ext cx="3132138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620" name="Picture 5">
            <a:extLst>
              <a:ext uri="{FF2B5EF4-FFF2-40B4-BE49-F238E27FC236}">
                <a16:creationId xmlns:a16="http://schemas.microsoft.com/office/drawing/2014/main" id="{842FAB9D-BF68-6CDA-20E8-218B800E6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905000"/>
            <a:ext cx="5484813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9">
            <a:extLst>
              <a:ext uri="{FF2B5EF4-FFF2-40B4-BE49-F238E27FC236}">
                <a16:creationId xmlns:a16="http://schemas.microsoft.com/office/drawing/2014/main" id="{D9478375-285C-3CA7-AAD9-49BD490E74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Curse of Dimensionality</a:t>
            </a:r>
          </a:p>
        </p:txBody>
      </p:sp>
      <p:sp>
        <p:nvSpPr>
          <p:cNvPr id="35843" name="Rectangle 10">
            <a:extLst>
              <a:ext uri="{FF2B5EF4-FFF2-40B4-BE49-F238E27FC236}">
                <a16:creationId xmlns:a16="http://schemas.microsoft.com/office/drawing/2014/main" id="{21D6418A-3510-8C66-1E86-90F8B856325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When dimensionality increases, data becomes increasingly sparse in the space that it occupies</a:t>
            </a:r>
          </a:p>
          <a:p>
            <a:pPr>
              <a:buFont typeface="Monotype Sorts" charset="0"/>
              <a:buChar char="l"/>
              <a:defRPr/>
            </a:pPr>
            <a:endParaRPr lang="en-US" sz="240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Definitions of density and distance between points, which is critical for clustering and outlier detection, become less meaningful</a:t>
            </a:r>
          </a:p>
        </p:txBody>
      </p:sp>
      <p:sp>
        <p:nvSpPr>
          <p:cNvPr id="113667" name="Text Box 4">
            <a:extLst>
              <a:ext uri="{FF2B5EF4-FFF2-40B4-BE49-F238E27FC236}">
                <a16:creationId xmlns:a16="http://schemas.microsoft.com/office/drawing/2014/main" id="{CD779D9C-9C3C-3236-842B-D984EEBDB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3668" name="Rectangle 5">
            <a:extLst>
              <a:ext uri="{FF2B5EF4-FFF2-40B4-BE49-F238E27FC236}">
                <a16:creationId xmlns:a16="http://schemas.microsoft.com/office/drawing/2014/main" id="{C83AAE66-09B2-C8A4-71B9-97D32A468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pic>
        <p:nvPicPr>
          <p:cNvPr id="113669" name="Picture 11">
            <a:extLst>
              <a:ext uri="{FF2B5EF4-FFF2-40B4-BE49-F238E27FC236}">
                <a16:creationId xmlns:a16="http://schemas.microsoft.com/office/drawing/2014/main" id="{F6E5DEE7-6144-291E-1A7E-E08B2ECFF34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447800"/>
            <a:ext cx="4572000" cy="3429000"/>
          </a:xfrm>
        </p:spPr>
      </p:pic>
      <p:sp>
        <p:nvSpPr>
          <p:cNvPr id="113670" name="Text Box 13">
            <a:extLst>
              <a:ext uri="{FF2B5EF4-FFF2-40B4-BE49-F238E27FC236}">
                <a16:creationId xmlns:a16="http://schemas.microsoft.com/office/drawing/2014/main" id="{3AA7B61B-122C-5E85-92B0-17CFA45F6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181600"/>
            <a:ext cx="4038600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4300" indent="-1143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1400">
                <a:cs typeface="Arial" panose="020B0604020202020204" pitchFamily="34" charset="0"/>
              </a:rPr>
              <a:t>Randomly generate 500 points</a:t>
            </a:r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it-IT" sz="1400">
                <a:cs typeface="Arial" panose="020B0604020202020204" pitchFamily="34" charset="0"/>
              </a:rPr>
              <a:t>Compute difference between max and min distance between any pair of points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3849E24-E784-42B8-8709-CC5A5CAE56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Dimensionality Reduction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795B573-558E-4D49-AAF4-139CA359C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Purpose: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Avoid curse of dimensionality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Reduce amount of time and memory required by data mining algorithms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Allow data to be more easily visualized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May help to eliminate irrelevant features or reduce noise</a:t>
            </a:r>
          </a:p>
          <a:p>
            <a:pPr lvl="4">
              <a:lnSpc>
                <a:spcPct val="90000"/>
              </a:lnSpc>
              <a:defRPr/>
            </a:pPr>
            <a:endParaRPr lang="en-US">
              <a:latin typeface="Times New Roman" charset="0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Techniques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Principle Component Analysis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Singular Value Decomposition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Others: supervised and non-linear techniques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2">
            <a:extLst>
              <a:ext uri="{FF2B5EF4-FFF2-40B4-BE49-F238E27FC236}">
                <a16:creationId xmlns:a16="http://schemas.microsoft.com/office/drawing/2014/main" id="{A4BFE6E8-81FD-4E36-E0ED-B4134C9F7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Dimensionality Reduction: PCA</a:t>
            </a:r>
          </a:p>
        </p:txBody>
      </p:sp>
      <p:sp>
        <p:nvSpPr>
          <p:cNvPr id="37891" name="Rectangle 33">
            <a:extLst>
              <a:ext uri="{FF2B5EF4-FFF2-40B4-BE49-F238E27FC236}">
                <a16:creationId xmlns:a16="http://schemas.microsoft.com/office/drawing/2014/main" id="{BF88D73E-0F36-6E6C-B77A-EAB1BC3D5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Goal is to find a projection that captures the largest  amount of variation in data</a:t>
            </a:r>
          </a:p>
          <a:p>
            <a:pPr>
              <a:buFont typeface="Monotype Sorts" charset="0"/>
              <a:buChar char="l"/>
              <a:defRPr/>
            </a:pPr>
            <a:endParaRPr lang="en-US">
              <a:cs typeface="+mn-cs"/>
            </a:endParaRPr>
          </a:p>
        </p:txBody>
      </p:sp>
      <p:sp>
        <p:nvSpPr>
          <p:cNvPr id="116739" name="Line 35">
            <a:extLst>
              <a:ext uri="{FF2B5EF4-FFF2-40B4-BE49-F238E27FC236}">
                <a16:creationId xmlns:a16="http://schemas.microsoft.com/office/drawing/2014/main" id="{8BEAC663-D7F8-8BF1-7CDB-AAFC1AA4C9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9250" y="2641600"/>
            <a:ext cx="0" cy="262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16740" name="Line 36">
            <a:extLst>
              <a:ext uri="{FF2B5EF4-FFF2-40B4-BE49-F238E27FC236}">
                <a16:creationId xmlns:a16="http://schemas.microsoft.com/office/drawing/2014/main" id="{888C0FE2-D3CA-559E-B1BE-DC085BB21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9250" y="5270500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16741" name="Line 37">
            <a:extLst>
              <a:ext uri="{FF2B5EF4-FFF2-40B4-BE49-F238E27FC236}">
                <a16:creationId xmlns:a16="http://schemas.microsoft.com/office/drawing/2014/main" id="{E31CFE9A-90FF-247A-1636-C65957253A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1950" y="3856038"/>
            <a:ext cx="2590800" cy="14001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16742" name="Oval 39">
            <a:extLst>
              <a:ext uri="{FF2B5EF4-FFF2-40B4-BE49-F238E27FC236}">
                <a16:creationId xmlns:a16="http://schemas.microsoft.com/office/drawing/2014/main" id="{A42BA4C8-80F4-FF50-6930-C29C59483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46767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43" name="Oval 40">
            <a:extLst>
              <a:ext uri="{FF2B5EF4-FFF2-40B4-BE49-F238E27FC236}">
                <a16:creationId xmlns:a16="http://schemas.microsoft.com/office/drawing/2014/main" id="{FD463062-C670-3CF8-4D0B-AE9C14F0C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4452938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44" name="Oval 41">
            <a:extLst>
              <a:ext uri="{FF2B5EF4-FFF2-40B4-BE49-F238E27FC236}">
                <a16:creationId xmlns:a16="http://schemas.microsoft.com/office/drawing/2014/main" id="{18154FBB-F228-A1DD-881C-89724AD95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4967288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45" name="Oval 42">
            <a:extLst>
              <a:ext uri="{FF2B5EF4-FFF2-40B4-BE49-F238E27FC236}">
                <a16:creationId xmlns:a16="http://schemas.microsoft.com/office/drawing/2014/main" id="{94A9F153-5055-F9E1-33E0-9881153A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0" y="4559300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46" name="Oval 43">
            <a:extLst>
              <a:ext uri="{FF2B5EF4-FFF2-40B4-BE49-F238E27FC236}">
                <a16:creationId xmlns:a16="http://schemas.microsoft.com/office/drawing/2014/main" id="{DDF6F49E-59FE-221B-E463-11AB003A8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46640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47" name="Oval 44">
            <a:extLst>
              <a:ext uri="{FF2B5EF4-FFF2-40B4-BE49-F238E27FC236}">
                <a16:creationId xmlns:a16="http://schemas.microsoft.com/office/drawing/2014/main" id="{EA53076F-6117-8C80-CA68-A4EE46C1D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46513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48" name="Oval 45">
            <a:extLst>
              <a:ext uri="{FF2B5EF4-FFF2-40B4-BE49-F238E27FC236}">
                <a16:creationId xmlns:a16="http://schemas.microsoft.com/office/drawing/2014/main" id="{CBEA1AC1-5CF4-3FEF-0C41-C054CE93A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550" y="4981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49" name="Oval 46">
            <a:extLst>
              <a:ext uri="{FF2B5EF4-FFF2-40B4-BE49-F238E27FC236}">
                <a16:creationId xmlns:a16="http://schemas.microsoft.com/office/drawing/2014/main" id="{C1F65630-3B71-EE8D-070A-8862C2960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4875213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0" name="Oval 47">
            <a:extLst>
              <a:ext uri="{FF2B5EF4-FFF2-40B4-BE49-F238E27FC236}">
                <a16:creationId xmlns:a16="http://schemas.microsoft.com/office/drawing/2014/main" id="{E1780169-8C13-58D8-980D-E183863BB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43338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1" name="Oval 48">
            <a:extLst>
              <a:ext uri="{FF2B5EF4-FFF2-40B4-BE49-F238E27FC236}">
                <a16:creationId xmlns:a16="http://schemas.microsoft.com/office/drawing/2014/main" id="{8D0D0595-90A2-8D00-5B9D-AAB5B2E6C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4452938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2" name="Oval 49">
            <a:extLst>
              <a:ext uri="{FF2B5EF4-FFF2-40B4-BE49-F238E27FC236}">
                <a16:creationId xmlns:a16="http://schemas.microsoft.com/office/drawing/2014/main" id="{2730F67E-3D6A-3E39-81E8-59CA07494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3937000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3" name="Oval 50">
            <a:extLst>
              <a:ext uri="{FF2B5EF4-FFF2-40B4-BE49-F238E27FC236}">
                <a16:creationId xmlns:a16="http://schemas.microsoft.com/office/drawing/2014/main" id="{85BE419D-E514-3817-64A8-8A920073E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50069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4" name="Oval 51">
            <a:extLst>
              <a:ext uri="{FF2B5EF4-FFF2-40B4-BE49-F238E27FC236}">
                <a16:creationId xmlns:a16="http://schemas.microsoft.com/office/drawing/2014/main" id="{A757D3BE-CA45-693E-0E5D-3F89F3867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0" y="4306888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5" name="Oval 52">
            <a:extLst>
              <a:ext uri="{FF2B5EF4-FFF2-40B4-BE49-F238E27FC236}">
                <a16:creationId xmlns:a16="http://schemas.microsoft.com/office/drawing/2014/main" id="{5CC38A27-A83D-70B2-112B-FB3E287CC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40163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6" name="Oval 53">
            <a:extLst>
              <a:ext uri="{FF2B5EF4-FFF2-40B4-BE49-F238E27FC236}">
                <a16:creationId xmlns:a16="http://schemas.microsoft.com/office/drawing/2014/main" id="{84DD3F35-D75C-3F81-2989-86C6E584F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550" y="4346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7" name="Oval 54">
            <a:extLst>
              <a:ext uri="{FF2B5EF4-FFF2-40B4-BE49-F238E27FC236}">
                <a16:creationId xmlns:a16="http://schemas.microsoft.com/office/drawing/2014/main" id="{4777E4BB-107C-431C-4EA6-7C8C4CA73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4149725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8" name="Oval 55">
            <a:extLst>
              <a:ext uri="{FF2B5EF4-FFF2-40B4-BE49-F238E27FC236}">
                <a16:creationId xmlns:a16="http://schemas.microsoft.com/office/drawing/2014/main" id="{676025A5-6133-92D9-B45D-0C08C7EA7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4691063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59" name="Freeform 56">
            <a:extLst>
              <a:ext uri="{FF2B5EF4-FFF2-40B4-BE49-F238E27FC236}">
                <a16:creationId xmlns:a16="http://schemas.microsoft.com/office/drawing/2014/main" id="{6725F3F9-1B86-0E48-2052-48984FABCDD0}"/>
              </a:ext>
            </a:extLst>
          </p:cNvPr>
          <p:cNvSpPr>
            <a:spLocks/>
          </p:cNvSpPr>
          <p:nvPr/>
        </p:nvSpPr>
        <p:spPr bwMode="auto">
          <a:xfrm>
            <a:off x="3060700" y="3824288"/>
            <a:ext cx="2312988" cy="1597025"/>
          </a:xfrm>
          <a:custGeom>
            <a:avLst/>
            <a:gdLst>
              <a:gd name="T0" fmla="*/ 2147483646 w 1457"/>
              <a:gd name="T1" fmla="*/ 2147483646 h 968"/>
              <a:gd name="T2" fmla="*/ 2147483646 w 1457"/>
              <a:gd name="T3" fmla="*/ 2147483646 h 968"/>
              <a:gd name="T4" fmla="*/ 2147483646 w 1457"/>
              <a:gd name="T5" fmla="*/ 2147483646 h 968"/>
              <a:gd name="T6" fmla="*/ 2147483646 w 1457"/>
              <a:gd name="T7" fmla="*/ 2147483646 h 968"/>
              <a:gd name="T8" fmla="*/ 2147483646 w 1457"/>
              <a:gd name="T9" fmla="*/ 2147483646 h 968"/>
              <a:gd name="T10" fmla="*/ 2147483646 w 1457"/>
              <a:gd name="T11" fmla="*/ 2147483646 h 968"/>
              <a:gd name="T12" fmla="*/ 2147483646 w 1457"/>
              <a:gd name="T13" fmla="*/ 2147483646 h 968"/>
              <a:gd name="T14" fmla="*/ 2147483646 w 1457"/>
              <a:gd name="T15" fmla="*/ 2147483646 h 9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57" h="968">
                <a:moveTo>
                  <a:pt x="4" y="796"/>
                </a:moveTo>
                <a:cubicBezTo>
                  <a:pt x="8" y="703"/>
                  <a:pt x="93" y="499"/>
                  <a:pt x="212" y="388"/>
                </a:cubicBezTo>
                <a:cubicBezTo>
                  <a:pt x="331" y="277"/>
                  <a:pt x="525" y="193"/>
                  <a:pt x="716" y="132"/>
                </a:cubicBezTo>
                <a:cubicBezTo>
                  <a:pt x="907" y="71"/>
                  <a:pt x="1255" y="0"/>
                  <a:pt x="1356" y="20"/>
                </a:cubicBezTo>
                <a:cubicBezTo>
                  <a:pt x="1457" y="40"/>
                  <a:pt x="1393" y="139"/>
                  <a:pt x="1324" y="252"/>
                </a:cubicBezTo>
                <a:cubicBezTo>
                  <a:pt x="1255" y="365"/>
                  <a:pt x="1129" y="584"/>
                  <a:pt x="940" y="700"/>
                </a:cubicBezTo>
                <a:cubicBezTo>
                  <a:pt x="751" y="816"/>
                  <a:pt x="344" y="928"/>
                  <a:pt x="188" y="948"/>
                </a:cubicBezTo>
                <a:cubicBezTo>
                  <a:pt x="32" y="968"/>
                  <a:pt x="0" y="889"/>
                  <a:pt x="4" y="796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16760" name="Oval 57">
            <a:extLst>
              <a:ext uri="{FF2B5EF4-FFF2-40B4-BE49-F238E27FC236}">
                <a16:creationId xmlns:a16="http://schemas.microsoft.com/office/drawing/2014/main" id="{7E8A0230-AD49-3AB6-229E-3C9C0604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5192713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6761" name="Text Box 61">
            <a:extLst>
              <a:ext uri="{FF2B5EF4-FFF2-40B4-BE49-F238E27FC236}">
                <a16:creationId xmlns:a16="http://schemas.microsoft.com/office/drawing/2014/main" id="{48646C73-3298-9714-D315-AEF56BEC0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5" y="25908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 b="0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it-IT" sz="2400" b="0" baseline="-2500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6762" name="Text Box 62">
            <a:extLst>
              <a:ext uri="{FF2B5EF4-FFF2-40B4-BE49-F238E27FC236}">
                <a16:creationId xmlns:a16="http://schemas.microsoft.com/office/drawing/2014/main" id="{89ED792A-07F1-206E-1A76-C9E282F39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3340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 b="0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it-IT" sz="2400" b="0" baseline="-2500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6763" name="Text Box 63">
            <a:extLst>
              <a:ext uri="{FF2B5EF4-FFF2-40B4-BE49-F238E27FC236}">
                <a16:creationId xmlns:a16="http://schemas.microsoft.com/office/drawing/2014/main" id="{80B7FBED-9A0E-370A-432D-A27FFCD2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5052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 b="0">
                <a:latin typeface="Times New Roman" panose="02020603050405020304" pitchFamily="18" charset="0"/>
                <a:cs typeface="Arial" panose="020B0604020202020204" pitchFamily="34" charset="0"/>
              </a:rPr>
              <a:t>e</a:t>
            </a:r>
            <a:endParaRPr lang="en-US" altLang="it-IT" sz="2400" b="0" baseline="-250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2">
            <a:extLst>
              <a:ext uri="{FF2B5EF4-FFF2-40B4-BE49-F238E27FC236}">
                <a16:creationId xmlns:a16="http://schemas.microsoft.com/office/drawing/2014/main" id="{28A232D4-A31F-8E41-9A15-C4596F3D4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Dimensionality Reduction: PCA</a:t>
            </a:r>
          </a:p>
        </p:txBody>
      </p:sp>
      <p:sp>
        <p:nvSpPr>
          <p:cNvPr id="38915" name="Rectangle 33">
            <a:extLst>
              <a:ext uri="{FF2B5EF4-FFF2-40B4-BE49-F238E27FC236}">
                <a16:creationId xmlns:a16="http://schemas.microsoft.com/office/drawing/2014/main" id="{FC997EBC-F369-7391-02AD-1A4DC60D4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Find the eigenvectors of the covariance matrix</a:t>
            </a: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The eigenvectors define the new space</a:t>
            </a:r>
          </a:p>
        </p:txBody>
      </p:sp>
      <p:sp>
        <p:nvSpPr>
          <p:cNvPr id="117763" name="Line 34">
            <a:extLst>
              <a:ext uri="{FF2B5EF4-FFF2-40B4-BE49-F238E27FC236}">
                <a16:creationId xmlns:a16="http://schemas.microsoft.com/office/drawing/2014/main" id="{6C2450B0-93DE-0355-91EB-B3B0AF61A8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9250" y="3098800"/>
            <a:ext cx="0" cy="2628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17764" name="Line 35">
            <a:extLst>
              <a:ext uri="{FF2B5EF4-FFF2-40B4-BE49-F238E27FC236}">
                <a16:creationId xmlns:a16="http://schemas.microsoft.com/office/drawing/2014/main" id="{5D0BD0E8-3E94-F902-4DD2-81EFC2222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9250" y="5727700"/>
            <a:ext cx="271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17765" name="Line 36">
            <a:extLst>
              <a:ext uri="{FF2B5EF4-FFF2-40B4-BE49-F238E27FC236}">
                <a16:creationId xmlns:a16="http://schemas.microsoft.com/office/drawing/2014/main" id="{B816F696-B623-D3B9-FFF9-B93BBC59C3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1950" y="4313238"/>
            <a:ext cx="2590800" cy="1400175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17766" name="Oval 37">
            <a:extLst>
              <a:ext uri="{FF2B5EF4-FFF2-40B4-BE49-F238E27FC236}">
                <a16:creationId xmlns:a16="http://schemas.microsoft.com/office/drawing/2014/main" id="{78BB6C30-30A9-B586-A8C4-FF07C4644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350" y="51339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67" name="Oval 38">
            <a:extLst>
              <a:ext uri="{FF2B5EF4-FFF2-40B4-BE49-F238E27FC236}">
                <a16:creationId xmlns:a16="http://schemas.microsoft.com/office/drawing/2014/main" id="{44A2CAE9-9D8D-2F9C-1E26-1C4E5928A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4910138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68" name="Oval 39">
            <a:extLst>
              <a:ext uri="{FF2B5EF4-FFF2-40B4-BE49-F238E27FC236}">
                <a16:creationId xmlns:a16="http://schemas.microsoft.com/office/drawing/2014/main" id="{0A7CD989-E39F-7F6C-2AF5-89B9E89D4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5424488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69" name="Oval 40">
            <a:extLst>
              <a:ext uri="{FF2B5EF4-FFF2-40B4-BE49-F238E27FC236}">
                <a16:creationId xmlns:a16="http://schemas.microsoft.com/office/drawing/2014/main" id="{6E0AFC19-F2F7-5C75-875B-BF38775A6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0" y="5016500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0" name="Oval 41">
            <a:extLst>
              <a:ext uri="{FF2B5EF4-FFF2-40B4-BE49-F238E27FC236}">
                <a16:creationId xmlns:a16="http://schemas.microsoft.com/office/drawing/2014/main" id="{9E51DD07-8878-9E0F-2D32-63767BBBE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050" y="51212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1" name="Oval 42">
            <a:extLst>
              <a:ext uri="{FF2B5EF4-FFF2-40B4-BE49-F238E27FC236}">
                <a16:creationId xmlns:a16="http://schemas.microsoft.com/office/drawing/2014/main" id="{F74919DF-17F5-179F-65A4-B3306A019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5108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2" name="Oval 43">
            <a:extLst>
              <a:ext uri="{FF2B5EF4-FFF2-40B4-BE49-F238E27FC236}">
                <a16:creationId xmlns:a16="http://schemas.microsoft.com/office/drawing/2014/main" id="{0457D887-5736-43CC-2DC4-763A223C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6550" y="54387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3" name="Oval 44">
            <a:extLst>
              <a:ext uri="{FF2B5EF4-FFF2-40B4-BE49-F238E27FC236}">
                <a16:creationId xmlns:a16="http://schemas.microsoft.com/office/drawing/2014/main" id="{A4E30606-2AA6-6D18-D516-E9276B2BC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950" y="5332413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4" name="Oval 45">
            <a:extLst>
              <a:ext uri="{FF2B5EF4-FFF2-40B4-BE49-F238E27FC236}">
                <a16:creationId xmlns:a16="http://schemas.microsoft.com/office/drawing/2014/main" id="{20EF02A9-653B-5CA6-7F97-FEF6FEC39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8450" y="47910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5" name="Oval 46">
            <a:extLst>
              <a:ext uri="{FF2B5EF4-FFF2-40B4-BE49-F238E27FC236}">
                <a16:creationId xmlns:a16="http://schemas.microsoft.com/office/drawing/2014/main" id="{6313CDB4-B8C0-06F8-CF00-002F8C6AF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4910138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6" name="Oval 47">
            <a:extLst>
              <a:ext uri="{FF2B5EF4-FFF2-40B4-BE49-F238E27FC236}">
                <a16:creationId xmlns:a16="http://schemas.microsoft.com/office/drawing/2014/main" id="{853F45C4-960F-9EAA-2037-CEF39FA28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350" y="4394200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7" name="Oval 48">
            <a:extLst>
              <a:ext uri="{FF2B5EF4-FFF2-40B4-BE49-F238E27FC236}">
                <a16:creationId xmlns:a16="http://schemas.microsoft.com/office/drawing/2014/main" id="{306CBEE4-278E-E8C9-C700-BC14C9A62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9650" y="54641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8" name="Oval 49">
            <a:extLst>
              <a:ext uri="{FF2B5EF4-FFF2-40B4-BE49-F238E27FC236}">
                <a16:creationId xmlns:a16="http://schemas.microsoft.com/office/drawing/2014/main" id="{F77861A6-384A-1BCC-43D5-B9AB5A7F1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150" y="4764088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79" name="Oval 50">
            <a:extLst>
              <a:ext uri="{FF2B5EF4-FFF2-40B4-BE49-F238E27FC236}">
                <a16:creationId xmlns:a16="http://schemas.microsoft.com/office/drawing/2014/main" id="{53DC4411-6C15-0396-7B37-0D1813E15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44735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80" name="Oval 51">
            <a:extLst>
              <a:ext uri="{FF2B5EF4-FFF2-40B4-BE49-F238E27FC236}">
                <a16:creationId xmlns:a16="http://schemas.microsoft.com/office/drawing/2014/main" id="{72F764DC-66D5-D49F-3753-236BFC86B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550" y="4803775"/>
            <a:ext cx="74613" cy="777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81" name="Oval 52">
            <a:extLst>
              <a:ext uri="{FF2B5EF4-FFF2-40B4-BE49-F238E27FC236}">
                <a16:creationId xmlns:a16="http://schemas.microsoft.com/office/drawing/2014/main" id="{818D35BC-341D-47D9-E7AE-F9BBD7339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4606925"/>
            <a:ext cx="74613" cy="76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82" name="Oval 53">
            <a:extLst>
              <a:ext uri="{FF2B5EF4-FFF2-40B4-BE49-F238E27FC236}">
                <a16:creationId xmlns:a16="http://schemas.microsoft.com/office/drawing/2014/main" id="{9771B9F8-7473-2D7D-D7B4-B75E51ACC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6450" y="5148263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83" name="Freeform 54">
            <a:extLst>
              <a:ext uri="{FF2B5EF4-FFF2-40B4-BE49-F238E27FC236}">
                <a16:creationId xmlns:a16="http://schemas.microsoft.com/office/drawing/2014/main" id="{76549889-CD19-2C74-BFA5-C41973F8156C}"/>
              </a:ext>
            </a:extLst>
          </p:cNvPr>
          <p:cNvSpPr>
            <a:spLocks/>
          </p:cNvSpPr>
          <p:nvPr/>
        </p:nvSpPr>
        <p:spPr bwMode="auto">
          <a:xfrm>
            <a:off x="3060700" y="4281488"/>
            <a:ext cx="2312988" cy="1597025"/>
          </a:xfrm>
          <a:custGeom>
            <a:avLst/>
            <a:gdLst>
              <a:gd name="T0" fmla="*/ 2147483646 w 1457"/>
              <a:gd name="T1" fmla="*/ 2147483646 h 968"/>
              <a:gd name="T2" fmla="*/ 2147483646 w 1457"/>
              <a:gd name="T3" fmla="*/ 2147483646 h 968"/>
              <a:gd name="T4" fmla="*/ 2147483646 w 1457"/>
              <a:gd name="T5" fmla="*/ 2147483646 h 968"/>
              <a:gd name="T6" fmla="*/ 2147483646 w 1457"/>
              <a:gd name="T7" fmla="*/ 2147483646 h 968"/>
              <a:gd name="T8" fmla="*/ 2147483646 w 1457"/>
              <a:gd name="T9" fmla="*/ 2147483646 h 968"/>
              <a:gd name="T10" fmla="*/ 2147483646 w 1457"/>
              <a:gd name="T11" fmla="*/ 2147483646 h 968"/>
              <a:gd name="T12" fmla="*/ 2147483646 w 1457"/>
              <a:gd name="T13" fmla="*/ 2147483646 h 968"/>
              <a:gd name="T14" fmla="*/ 2147483646 w 1457"/>
              <a:gd name="T15" fmla="*/ 2147483646 h 9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57" h="968">
                <a:moveTo>
                  <a:pt x="4" y="796"/>
                </a:moveTo>
                <a:cubicBezTo>
                  <a:pt x="8" y="703"/>
                  <a:pt x="93" y="499"/>
                  <a:pt x="212" y="388"/>
                </a:cubicBezTo>
                <a:cubicBezTo>
                  <a:pt x="331" y="277"/>
                  <a:pt x="525" y="193"/>
                  <a:pt x="716" y="132"/>
                </a:cubicBezTo>
                <a:cubicBezTo>
                  <a:pt x="907" y="71"/>
                  <a:pt x="1255" y="0"/>
                  <a:pt x="1356" y="20"/>
                </a:cubicBezTo>
                <a:cubicBezTo>
                  <a:pt x="1457" y="40"/>
                  <a:pt x="1393" y="139"/>
                  <a:pt x="1324" y="252"/>
                </a:cubicBezTo>
                <a:cubicBezTo>
                  <a:pt x="1255" y="365"/>
                  <a:pt x="1129" y="584"/>
                  <a:pt x="940" y="700"/>
                </a:cubicBezTo>
                <a:cubicBezTo>
                  <a:pt x="751" y="816"/>
                  <a:pt x="344" y="928"/>
                  <a:pt x="188" y="948"/>
                </a:cubicBezTo>
                <a:cubicBezTo>
                  <a:pt x="32" y="968"/>
                  <a:pt x="0" y="889"/>
                  <a:pt x="4" y="796"/>
                </a:cubicBezTo>
                <a:close/>
              </a:path>
            </a:pathLst>
          </a:custGeom>
          <a:noFill/>
          <a:ln w="19050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17784" name="Oval 55">
            <a:extLst>
              <a:ext uri="{FF2B5EF4-FFF2-40B4-BE49-F238E27FC236}">
                <a16:creationId xmlns:a16="http://schemas.microsoft.com/office/drawing/2014/main" id="{B90DA58A-D706-083A-2501-52923636E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5649913"/>
            <a:ext cx="74613" cy="7778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7785" name="Text Box 56">
            <a:extLst>
              <a:ext uri="{FF2B5EF4-FFF2-40B4-BE49-F238E27FC236}">
                <a16:creationId xmlns:a16="http://schemas.microsoft.com/office/drawing/2014/main" id="{F2C2B115-1585-90A9-BABC-A8CCE4E70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075" y="30480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 b="0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it-IT" sz="2400" b="0" baseline="-2500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7786" name="Text Box 57">
            <a:extLst>
              <a:ext uri="{FF2B5EF4-FFF2-40B4-BE49-F238E27FC236}">
                <a16:creationId xmlns:a16="http://schemas.microsoft.com/office/drawing/2014/main" id="{7B33CC44-0AF0-D2BA-340D-EA5D9FBA5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791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 b="0">
                <a:latin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en-US" altLang="it-IT" sz="2400" b="0" baseline="-2500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7787" name="Text Box 58">
            <a:extLst>
              <a:ext uri="{FF2B5EF4-FFF2-40B4-BE49-F238E27FC236}">
                <a16:creationId xmlns:a16="http://schemas.microsoft.com/office/drawing/2014/main" id="{B22508CF-F7E8-1027-B3D3-DFA8A3D82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9624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400" b="0">
                <a:latin typeface="Times New Roman" panose="02020603050405020304" pitchFamily="18" charset="0"/>
                <a:cs typeface="Arial" panose="020B0604020202020204" pitchFamily="34" charset="0"/>
              </a:rPr>
              <a:t>e</a:t>
            </a:r>
            <a:endParaRPr lang="en-US" altLang="it-IT" sz="2400" b="0" baseline="-250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5" name="Picture 32">
            <a:extLst>
              <a:ext uri="{FF2B5EF4-FFF2-40B4-BE49-F238E27FC236}">
                <a16:creationId xmlns:a16="http://schemas.microsoft.com/office/drawing/2014/main" id="{0C40408F-ADF3-A1CF-6827-6428B0134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77" name="Picture 33">
            <a:extLst>
              <a:ext uri="{FF2B5EF4-FFF2-40B4-BE49-F238E27FC236}">
                <a16:creationId xmlns:a16="http://schemas.microsoft.com/office/drawing/2014/main" id="{96D4F6C7-8213-4AEF-82A7-B7A2DFDC2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78" name="Picture 34">
            <a:extLst>
              <a:ext uri="{FF2B5EF4-FFF2-40B4-BE49-F238E27FC236}">
                <a16:creationId xmlns:a16="http://schemas.microsoft.com/office/drawing/2014/main" id="{6195CD1F-0D2E-51E3-E9E5-9E3A90549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79" name="Picture 35">
            <a:extLst>
              <a:ext uri="{FF2B5EF4-FFF2-40B4-BE49-F238E27FC236}">
                <a16:creationId xmlns:a16="http://schemas.microsoft.com/office/drawing/2014/main" id="{ADD29DEF-7A63-AE88-24DB-ECE69BFA7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0" name="Picture 36">
            <a:extLst>
              <a:ext uri="{FF2B5EF4-FFF2-40B4-BE49-F238E27FC236}">
                <a16:creationId xmlns:a16="http://schemas.microsoft.com/office/drawing/2014/main" id="{89CEE3D6-BAD8-BD68-4FAE-67A410DEA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1" name="Picture 37">
            <a:extLst>
              <a:ext uri="{FF2B5EF4-FFF2-40B4-BE49-F238E27FC236}">
                <a16:creationId xmlns:a16="http://schemas.microsoft.com/office/drawing/2014/main" id="{63657C20-7C97-1C75-7A27-52A91BB02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447800"/>
            <a:ext cx="6300787" cy="472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8" name="Rectangle 2">
            <a:extLst>
              <a:ext uri="{FF2B5EF4-FFF2-40B4-BE49-F238E27FC236}">
                <a16:creationId xmlns:a16="http://schemas.microsoft.com/office/drawing/2014/main" id="{939F1887-782C-D360-8EC3-304DA909DB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Dimensionality Reduction: PCA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03A4021F-3774-1B91-38EA-68D44D3B81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Feature Subset Selection</a:t>
            </a: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296EBA9C-FA40-1592-BCFD-C78C290379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Another way to reduce dimensionality of data</a:t>
            </a:r>
          </a:p>
          <a:p>
            <a:pPr lvl="4">
              <a:lnSpc>
                <a:spcPct val="90000"/>
              </a:lnSpc>
              <a:defRPr/>
            </a:pPr>
            <a:endParaRPr lang="en-US">
              <a:latin typeface="Times New Roman" charset="0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Redundant features 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duplicate much or all of the information contained in one or more other attributes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Example: purchase price of a product and the amount of sales tax paid</a:t>
            </a:r>
          </a:p>
          <a:p>
            <a:pPr lvl="4">
              <a:lnSpc>
                <a:spcPct val="90000"/>
              </a:lnSpc>
              <a:defRPr/>
            </a:pPr>
            <a:endParaRPr lang="en-US">
              <a:latin typeface="Times New Roman" charset="0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Irrelevant features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contain no information that is useful for the data mining task at hand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/>
              <a:t>Example: students' ID is often irrelevant to the task of predicting students' GPA</a:t>
            </a:r>
          </a:p>
        </p:txBody>
      </p:sp>
      <p:sp>
        <p:nvSpPr>
          <p:cNvPr id="119811" name="Text Box 4">
            <a:extLst>
              <a:ext uri="{FF2B5EF4-FFF2-40B4-BE49-F238E27FC236}">
                <a16:creationId xmlns:a16="http://schemas.microsoft.com/office/drawing/2014/main" id="{F0D7EF6A-B145-EA4B-9450-BA7D7F82E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19812" name="Rectangle 5">
            <a:extLst>
              <a:ext uri="{FF2B5EF4-FFF2-40B4-BE49-F238E27FC236}">
                <a16:creationId xmlns:a16="http://schemas.microsoft.com/office/drawing/2014/main" id="{0DAF2DB5-7C44-6FC4-B750-3549A32D8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F92DA67-E1D5-69DD-0CFC-9CCFAE21F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Feature Subset Selection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BDBE6BA-382D-4120-F38D-BC637035E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Techniques: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Brute-force approch:</a:t>
            </a:r>
          </a:p>
          <a:p>
            <a:pPr lvl="2">
              <a:buFont typeface="Wingdings" charset="0"/>
              <a:buChar char="u"/>
              <a:defRPr/>
            </a:pPr>
            <a:r>
              <a:rPr lang="en-US"/>
              <a:t>Try all possible feature subsets as input to data mining algorithm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Embedded approaches:</a:t>
            </a:r>
          </a:p>
          <a:p>
            <a:pPr lvl="2">
              <a:buFont typeface="Wingdings" charset="0"/>
              <a:buChar char="u"/>
              <a:defRPr/>
            </a:pPr>
            <a:r>
              <a:rPr lang="en-US"/>
              <a:t> Feature selection occurs naturally as part of the data mining algorithm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Filter approaches:</a:t>
            </a:r>
          </a:p>
          <a:p>
            <a:pPr lvl="2">
              <a:buFont typeface="Wingdings" charset="0"/>
              <a:buChar char="u"/>
              <a:defRPr/>
            </a:pPr>
            <a:r>
              <a:rPr lang="en-US"/>
              <a:t> Features are selected before data mining algorithm is run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Wrapper approaches:</a:t>
            </a:r>
          </a:p>
          <a:p>
            <a:pPr lvl="2">
              <a:buFont typeface="Wingdings" charset="0"/>
              <a:buChar char="u"/>
              <a:defRPr/>
            </a:pPr>
            <a:r>
              <a:rPr lang="en-US"/>
              <a:t> Use the data mining algorithm as a black box to find best subset of attributes</a:t>
            </a:r>
          </a:p>
          <a:p>
            <a:pPr lvl="1">
              <a:buFont typeface="Arial" charset="0"/>
              <a:buChar char="–"/>
              <a:defRPr/>
            </a:pPr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78B9D35F-68A8-C717-2E21-1BC157C13D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Feature Creation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CEA26FF-96D5-B6CC-4BE8-C3541379D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Create new attributes that can capture the important information in a data set much more efficiently than the original attributes</a:t>
            </a:r>
          </a:p>
          <a:p>
            <a:pPr lvl="4">
              <a:defRPr/>
            </a:pPr>
            <a:endParaRPr lang="en-US">
              <a:latin typeface="Times New Roman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Three general methodologies: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Feature Extraction</a:t>
            </a:r>
          </a:p>
          <a:p>
            <a:pPr lvl="2">
              <a:buFont typeface="Wingdings" charset="0"/>
              <a:buChar char="u"/>
              <a:defRPr/>
            </a:pPr>
            <a:r>
              <a:rPr lang="en-US"/>
              <a:t> domain-specific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Mapping Data to New Space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Feature Construction</a:t>
            </a:r>
          </a:p>
          <a:p>
            <a:pPr lvl="2">
              <a:buFont typeface="Wingdings" charset="0"/>
              <a:buChar char="u"/>
              <a:defRPr/>
            </a:pPr>
            <a:r>
              <a:rPr lang="en-US"/>
              <a:t> combining features 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>
            <a:extLst>
              <a:ext uri="{FF2B5EF4-FFF2-40B4-BE49-F238E27FC236}">
                <a16:creationId xmlns:a16="http://schemas.microsoft.com/office/drawing/2014/main" id="{657F4E10-8F7E-B666-52D1-AD191FAF2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Discretization</a:t>
            </a:r>
            <a:endParaRPr lang="it-IT" dirty="0">
              <a:cs typeface="+mj-cs"/>
            </a:endParaRPr>
          </a:p>
        </p:txBody>
      </p:sp>
      <p:sp>
        <p:nvSpPr>
          <p:cNvPr id="123906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1BF1FD6F-4CFB-B253-82A1-43FCAC2A8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318500" cy="51816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Unsupervised vs. Supervised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Global vs. Local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Static vs. Dynamic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Difficult Task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It is difficult to know a priori what the optimal discretization is.</a:t>
            </a:r>
          </a:p>
          <a:p>
            <a:pPr lvl="2" eaLnBrk="1" hangingPunct="1"/>
            <a:r>
              <a:rPr lang="it-IT" altLang="it-IT">
                <a:ea typeface="ＭＳ Ｐゴシック" panose="020B0600070205080204" pitchFamily="34" charset="-128"/>
              </a:rPr>
              <a:t>You would need to know the actual distribution of the data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496B2678-4764-1BE9-651C-01133EB3B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Original data can have extremely scattered continuous values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Discretized data may be easier to interpret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Discretized data distributions may have a 'Normal' shape.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Discretized data may still be extremely scattered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Elimination of the variable in question</a:t>
            </a:r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D172F1F2-CB1F-8F97-CF69-DF6B2CFCB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Disxcretization: why?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>
            <a:extLst>
              <a:ext uri="{FF2B5EF4-FFF2-40B4-BE49-F238E27FC236}">
                <a16:creationId xmlns:a16="http://schemas.microsoft.com/office/drawing/2014/main" id="{61311D20-7352-664B-7ABA-2E8FD227E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>
                <a:cs typeface="+mj-cs"/>
              </a:rPr>
              <a:t>Unsupervised</a:t>
            </a:r>
            <a:r>
              <a:rPr lang="it-IT" dirty="0">
                <a:cs typeface="+mj-cs"/>
              </a:rPr>
              <a:t> </a:t>
            </a:r>
            <a:r>
              <a:rPr lang="it-IT" dirty="0" err="1">
                <a:cs typeface="+mj-cs"/>
              </a:rPr>
              <a:t>Discretization</a:t>
            </a:r>
            <a:endParaRPr lang="it-IT" dirty="0">
              <a:cs typeface="+mj-cs"/>
            </a:endParaRPr>
          </a:p>
        </p:txBody>
      </p:sp>
      <p:sp>
        <p:nvSpPr>
          <p:cNvPr id="128002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1D59F3C-D3D0-AFB7-02EC-2F2A467E5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057400"/>
            <a:ext cx="8001000" cy="3886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Caratteristiche: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Non usa etichetta le istanze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Il numero di intervalli (“bin”) è noto a priori</a:t>
            </a:r>
          </a:p>
          <a:p>
            <a:pPr eaLnBrk="1" hangingPunct="1">
              <a:lnSpc>
                <a:spcPct val="80000"/>
              </a:lnSpc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Tecniche di </a:t>
            </a:r>
            <a:r>
              <a:rPr lang="it-IT" altLang="it-IT" sz="2400" i="1">
                <a:ea typeface="ＭＳ Ｐゴシック" panose="020B0600070205080204" pitchFamily="34" charset="-128"/>
              </a:rPr>
              <a:t>binning</a:t>
            </a:r>
            <a:r>
              <a:rPr lang="it-IT" altLang="it-IT" sz="2400">
                <a:ea typeface="ＭＳ Ｐゴシック" panose="020B0600070205080204" pitchFamily="34" charset="-128"/>
              </a:rPr>
              <a:t>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Natural binning</a:t>
            </a:r>
            <a:r>
              <a:rPr lang="it-IT" altLang="it-IT" sz="2000">
                <a:ea typeface="ＭＳ Ｐゴシック" panose="020B0600070205080204" pitchFamily="34" charset="-128"/>
              </a:rPr>
              <a:t>		    </a:t>
            </a:r>
            <a:r>
              <a:rPr lang="it-IT" altLang="it-IT" sz="2000"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it-IT" altLang="it-IT" sz="2000">
                <a:ea typeface="ＭＳ Ｐゴシック" panose="020B0600070205080204" pitchFamily="34" charset="-128"/>
              </a:rPr>
              <a:t>Intervalli di identica ampiezza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Equal Frequency binning </a:t>
            </a:r>
            <a:r>
              <a:rPr lang="it-IT" altLang="it-IT" sz="2000"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it-IT" altLang="it-IT" sz="2000">
                <a:ea typeface="ＭＳ Ｐゴシック" panose="020B0600070205080204" pitchFamily="34" charset="-128"/>
              </a:rPr>
              <a:t>Intervalli di identica frequenza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b="1">
                <a:ea typeface="ＭＳ Ｐゴシック" panose="020B0600070205080204" pitchFamily="34" charset="-128"/>
              </a:rPr>
              <a:t>Statistical binning </a:t>
            </a:r>
            <a:r>
              <a:rPr lang="it-IT" altLang="it-IT" sz="2000">
                <a:ea typeface="ＭＳ Ｐゴシック" panose="020B0600070205080204" pitchFamily="34" charset="-128"/>
              </a:rPr>
              <a:t>	    </a:t>
            </a:r>
            <a:r>
              <a:rPr lang="it-IT" altLang="it-IT" sz="2000"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it-IT" altLang="it-IT" sz="2000">
                <a:ea typeface="ＭＳ Ｐゴシック" panose="020B0600070205080204" pitchFamily="34" charset="-128"/>
              </a:rPr>
              <a:t>Uso di informazioni statistiche                      				        (Media, varianza, Quartili)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Rectangle 2">
            <a:extLst>
              <a:ext uri="{FF2B5EF4-FFF2-40B4-BE49-F238E27FC236}">
                <a16:creationId xmlns:a16="http://schemas.microsoft.com/office/drawing/2014/main" id="{AC103FF9-7F30-6E09-B345-79DA05365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Discretization of q</a:t>
            </a:r>
            <a:r>
              <a:rPr lang="it-IT" dirty="0" err="1">
                <a:cs typeface="+mj-cs"/>
              </a:rPr>
              <a:t>uantitative</a:t>
            </a:r>
            <a:r>
              <a:rPr lang="it-IT" dirty="0">
                <a:cs typeface="+mj-cs"/>
              </a:rPr>
              <a:t> </a:t>
            </a:r>
            <a:r>
              <a:rPr lang="it-IT" dirty="0" err="1">
                <a:cs typeface="+mj-cs"/>
              </a:rPr>
              <a:t>attributes</a:t>
            </a:r>
            <a:endParaRPr lang="en-US" dirty="0">
              <a:cs typeface="+mj-cs"/>
            </a:endParaRPr>
          </a:p>
        </p:txBody>
      </p:sp>
      <p:sp>
        <p:nvSpPr>
          <p:cNvPr id="154629" name="Text Box 3">
            <a:extLst>
              <a:ext uri="{FF2B5EF4-FFF2-40B4-BE49-F238E27FC236}">
                <a16:creationId xmlns:a16="http://schemas.microsoft.com/office/drawing/2014/main" id="{5AC600C5-A9F1-5EDB-209F-85464DBB1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90600"/>
            <a:ext cx="8686800" cy="15700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it-IT" dirty="0" err="1">
                <a:solidFill>
                  <a:schemeClr val="accent1"/>
                </a:solidFill>
                <a:latin typeface="+mn-lt"/>
              </a:rPr>
              <a:t>Each</a:t>
            </a:r>
            <a:r>
              <a:rPr lang="it-IT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dirty="0">
                <a:latin typeface="+mn-lt"/>
              </a:rPr>
              <a:t>value is replaced by the interval to which it belongs</a:t>
            </a:r>
            <a:r>
              <a:rPr lang="it-IT" dirty="0">
                <a:latin typeface="+mn-lt"/>
              </a:rPr>
              <a:t>.</a:t>
            </a:r>
          </a:p>
          <a:p>
            <a:pPr eaLnBrk="1" hangingPunct="1">
              <a:defRPr/>
            </a:pPr>
            <a:r>
              <a:rPr lang="en-US" b="0" dirty="0">
                <a:latin typeface="+mn-lt"/>
              </a:rPr>
              <a:t>height:  </a:t>
            </a:r>
            <a:r>
              <a:rPr lang="it-IT" b="0" dirty="0">
                <a:latin typeface="+mn-lt"/>
              </a:rPr>
              <a:t>0-150cm, </a:t>
            </a:r>
            <a:r>
              <a:rPr lang="en-US" b="0" dirty="0">
                <a:latin typeface="+mn-lt"/>
              </a:rPr>
              <a:t> </a:t>
            </a:r>
            <a:r>
              <a:rPr lang="it-IT" b="0" dirty="0">
                <a:latin typeface="+mn-lt"/>
              </a:rPr>
              <a:t>151-170cm, 171-180cm, </a:t>
            </a:r>
            <a:r>
              <a:rPr lang="en-US" b="0" dirty="0">
                <a:latin typeface="+mn-lt"/>
              </a:rPr>
              <a:t> </a:t>
            </a:r>
            <a:r>
              <a:rPr lang="it-IT" b="0" dirty="0">
                <a:latin typeface="+mn-lt"/>
              </a:rPr>
              <a:t>&gt;180cm</a:t>
            </a:r>
          </a:p>
          <a:p>
            <a:pPr eaLnBrk="1" hangingPunct="1">
              <a:defRPr/>
            </a:pPr>
            <a:r>
              <a:rPr lang="en-US" b="0" dirty="0">
                <a:latin typeface="+mn-lt"/>
              </a:rPr>
              <a:t>weight: </a:t>
            </a:r>
            <a:r>
              <a:rPr lang="it-IT" b="0" dirty="0">
                <a:latin typeface="+mn-lt"/>
              </a:rPr>
              <a:t>0-40kg, </a:t>
            </a:r>
            <a:r>
              <a:rPr lang="en-US" b="0" dirty="0">
                <a:latin typeface="+mn-lt"/>
              </a:rPr>
              <a:t> </a:t>
            </a:r>
            <a:r>
              <a:rPr lang="it-IT" b="0" dirty="0">
                <a:latin typeface="+mn-lt"/>
              </a:rPr>
              <a:t>41-60kg, </a:t>
            </a:r>
            <a:r>
              <a:rPr lang="en-US" b="0" dirty="0">
                <a:latin typeface="+mn-lt"/>
              </a:rPr>
              <a:t> </a:t>
            </a:r>
            <a:r>
              <a:rPr lang="it-IT" b="0" dirty="0">
                <a:latin typeface="+mn-lt"/>
              </a:rPr>
              <a:t>60-80kg, </a:t>
            </a:r>
            <a:r>
              <a:rPr lang="en-US" b="0" dirty="0">
                <a:latin typeface="+mn-lt"/>
              </a:rPr>
              <a:t>	 </a:t>
            </a:r>
            <a:r>
              <a:rPr lang="it-IT" b="0" dirty="0">
                <a:latin typeface="+mn-lt"/>
              </a:rPr>
              <a:t>&gt;80kg</a:t>
            </a:r>
          </a:p>
          <a:p>
            <a:pPr eaLnBrk="1" hangingPunct="1">
              <a:defRPr/>
            </a:pPr>
            <a:r>
              <a:rPr lang="en-US" b="0" dirty="0">
                <a:latin typeface="+mn-lt"/>
              </a:rPr>
              <a:t>income: </a:t>
            </a:r>
            <a:r>
              <a:rPr lang="it-IT" b="0" dirty="0">
                <a:latin typeface="+mn-lt"/>
              </a:rPr>
              <a:t>0-10ML, 11-20ML, 20-25ML, 25-30ML, &gt;30ML</a:t>
            </a:r>
          </a:p>
        </p:txBody>
      </p:sp>
      <p:graphicFrame>
        <p:nvGraphicFramePr>
          <p:cNvPr id="130051" name="Object 2">
            <a:extLst>
              <a:ext uri="{FF2B5EF4-FFF2-40B4-BE49-F238E27FC236}">
                <a16:creationId xmlns:a16="http://schemas.microsoft.com/office/drawing/2014/main" id="{2ABC7CBA-0FDC-31C5-0C0A-E4E4F5FC5A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352800"/>
          <a:ext cx="5802313" cy="239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34874200" imgH="14452600" progId="Word.Document.8">
                  <p:embed/>
                </p:oleObj>
              </mc:Choice>
              <mc:Fallback>
                <p:oleObj name="Documento" r:id="rId2" imgW="34874200" imgH="144526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352800"/>
                        <a:ext cx="5802313" cy="239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2" name="Rectangle 5">
            <a:extLst>
              <a:ext uri="{FF2B5EF4-FFF2-40B4-BE49-F238E27FC236}">
                <a16:creationId xmlns:a16="http://schemas.microsoft.com/office/drawing/2014/main" id="{D7635A07-727D-E2F8-5817-0A2C1947E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562600"/>
            <a:ext cx="815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solidFill>
                  <a:schemeClr val="accent1"/>
                </a:solidFill>
                <a:latin typeface="Comic Sans MS" panose="030F0902030302020204" pitchFamily="66" charset="0"/>
              </a:rPr>
              <a:t>Problem</a:t>
            </a:r>
            <a:r>
              <a:rPr lang="it-IT" altLang="it-IT" sz="1400">
                <a:latin typeface="Comic Sans MS" panose="030F0902030302020204" pitchFamily="66" charset="0"/>
              </a:rPr>
              <a:t>: </a:t>
            </a:r>
            <a:r>
              <a:rPr lang="en-US" altLang="it-IT" sz="1400">
                <a:latin typeface="Comic Sans MS" panose="030F0902030302020204" pitchFamily="66" charset="0"/>
              </a:rPr>
              <a:t>the discretization may be useless</a:t>
            </a:r>
            <a:r>
              <a:rPr lang="it-IT" altLang="it-IT" sz="1400">
                <a:latin typeface="Comic Sans MS" panose="030F0902030302020204" pitchFamily="66" charset="0"/>
              </a:rPr>
              <a:t> (</a:t>
            </a:r>
            <a:r>
              <a:rPr lang="en-US" altLang="it-IT" sz="1400">
                <a:latin typeface="Comic Sans MS" panose="030F0902030302020204" pitchFamily="66" charset="0"/>
              </a:rPr>
              <a:t>see weight</a:t>
            </a:r>
            <a:r>
              <a:rPr lang="it-IT" altLang="it-IT" sz="1400">
                <a:latin typeface="Comic Sans MS" panose="030F0902030302020204" pitchFamily="66" charset="0"/>
              </a:rPr>
              <a:t>).</a:t>
            </a:r>
          </a:p>
        </p:txBody>
      </p:sp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2">
            <a:extLst>
              <a:ext uri="{FF2B5EF4-FFF2-40B4-BE49-F238E27FC236}">
                <a16:creationId xmlns:a16="http://schemas.microsoft.com/office/drawing/2014/main" id="{FBAD569C-60BE-A613-2726-5320CA539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-76200"/>
            <a:ext cx="9144000" cy="9144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How to choose intervals?</a:t>
            </a:r>
            <a:endParaRPr lang="it-IT" dirty="0">
              <a:cs typeface="+mj-cs"/>
            </a:endParaRPr>
          </a:p>
        </p:txBody>
      </p:sp>
      <p:sp>
        <p:nvSpPr>
          <p:cNvPr id="131074" name="Text Box 3">
            <a:extLst>
              <a:ext uri="{FF2B5EF4-FFF2-40B4-BE49-F238E27FC236}">
                <a16:creationId xmlns:a16="http://schemas.microsoft.com/office/drawing/2014/main" id="{1F707FDF-0A84-D441-808B-947CDCC0F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331913"/>
            <a:ext cx="7924800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it-IT" sz="2000"/>
              <a:t>Interval with a fixed “reasonable” granularity</a:t>
            </a:r>
            <a:br>
              <a:rPr lang="en-US" altLang="it-IT" sz="2000"/>
            </a:br>
            <a:r>
              <a:rPr lang="it-IT" altLang="it-IT" sz="2000"/>
              <a:t> </a:t>
            </a:r>
            <a:r>
              <a:rPr lang="en-US" altLang="it-IT" sz="2000"/>
              <a:t>Ex. </a:t>
            </a:r>
            <a:r>
              <a:rPr lang="it-IT" altLang="it-IT" sz="2000">
                <a:solidFill>
                  <a:srgbClr val="FF0000"/>
                </a:solidFill>
              </a:rPr>
              <a:t>interval</a:t>
            </a:r>
            <a:r>
              <a:rPr lang="en-US" altLang="it-IT" sz="2000">
                <a:solidFill>
                  <a:srgbClr val="FF0000"/>
                </a:solidFill>
              </a:rPr>
              <a:t>s</a:t>
            </a:r>
            <a:r>
              <a:rPr lang="it-IT" altLang="it-IT" sz="2000">
                <a:solidFill>
                  <a:srgbClr val="FF0000"/>
                </a:solidFill>
              </a:rPr>
              <a:t> </a:t>
            </a:r>
            <a:r>
              <a:rPr lang="en-US" altLang="it-IT" sz="2000">
                <a:solidFill>
                  <a:srgbClr val="FF0000"/>
                </a:solidFill>
              </a:rPr>
              <a:t>of </a:t>
            </a:r>
            <a:r>
              <a:rPr lang="it-IT" altLang="it-IT" sz="2000">
                <a:solidFill>
                  <a:srgbClr val="FF0000"/>
                </a:solidFill>
              </a:rPr>
              <a:t> 10 cm </a:t>
            </a:r>
            <a:r>
              <a:rPr lang="en-US" altLang="it-IT" sz="2000">
                <a:solidFill>
                  <a:srgbClr val="FF0000"/>
                </a:solidFill>
              </a:rPr>
              <a:t>for height</a:t>
            </a:r>
            <a:r>
              <a:rPr lang="it-IT" altLang="it-IT" sz="2000">
                <a:solidFill>
                  <a:srgbClr val="FF0000"/>
                </a:solidFill>
              </a:rPr>
              <a:t>.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it-IT" altLang="it-IT" sz="2000"/>
              <a:t>Interval</a:t>
            </a:r>
            <a:r>
              <a:rPr lang="en-US" altLang="it-IT" sz="2000"/>
              <a:t> size is defined</a:t>
            </a:r>
            <a:r>
              <a:rPr lang="it-IT" altLang="it-IT" sz="2000"/>
              <a:t> </a:t>
            </a:r>
            <a:r>
              <a:rPr lang="en-US" altLang="it-IT" sz="2000"/>
              <a:t>by some </a:t>
            </a:r>
            <a:r>
              <a:rPr lang="it-IT" altLang="it-IT" sz="2000"/>
              <a:t>dom</a:t>
            </a:r>
            <a:r>
              <a:rPr lang="en-US" altLang="it-IT" sz="2000"/>
              <a:t>ain dependent criterion </a:t>
            </a:r>
            <a:br>
              <a:rPr lang="en-US" altLang="it-IT" sz="2000"/>
            </a:br>
            <a:r>
              <a:rPr lang="it-IT" altLang="it-IT" sz="2000">
                <a:solidFill>
                  <a:srgbClr val="FF0000"/>
                </a:solidFill>
              </a:rPr>
              <a:t>E</a:t>
            </a:r>
            <a:r>
              <a:rPr lang="en-US" altLang="it-IT" sz="2000">
                <a:solidFill>
                  <a:srgbClr val="FF0000"/>
                </a:solidFill>
              </a:rPr>
              <a:t>x</a:t>
            </a:r>
            <a:r>
              <a:rPr lang="it-IT" altLang="it-IT" sz="2000">
                <a:solidFill>
                  <a:srgbClr val="FF0000"/>
                </a:solidFill>
              </a:rPr>
              <a:t>.: 0-20ML, 21-22ML, 23-24ML, 25-26ML, &gt;26ML</a:t>
            </a:r>
            <a:endParaRPr lang="en-US" altLang="it-IT" sz="200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it-IT" sz="2000"/>
              <a:t>Interval size determined by analyzing data, studying the distribution or using clustering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lang="it-IT" altLang="it-IT" sz="2000"/>
          </a:p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endParaRPr lang="it-IT" altLang="it-IT" sz="2000"/>
          </a:p>
        </p:txBody>
      </p:sp>
      <p:graphicFrame>
        <p:nvGraphicFramePr>
          <p:cNvPr id="131075" name="Object 2">
            <a:extLst>
              <a:ext uri="{FF2B5EF4-FFF2-40B4-BE49-F238E27FC236}">
                <a16:creationId xmlns:a16="http://schemas.microsoft.com/office/drawing/2014/main" id="{FD93DC96-C02C-B4C2-59EC-21DBEC9E1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8400" y="3530600"/>
          <a:ext cx="6264275" cy="31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521450" imgH="3321050" progId="Excel.Chart.8">
                  <p:embed/>
                </p:oleObj>
              </mc:Choice>
              <mc:Fallback>
                <p:oleObj r:id="rId2" imgW="6521450" imgH="3321050" progId="Excel.Char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3530600"/>
                        <a:ext cx="6264275" cy="318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6" name="Rectangle 6">
            <a:extLst>
              <a:ext uri="{FF2B5EF4-FFF2-40B4-BE49-F238E27FC236}">
                <a16:creationId xmlns:a16="http://schemas.microsoft.com/office/drawing/2014/main" id="{FCF7A4DC-1DB3-A10D-7ED3-F8F3709A7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4267200"/>
            <a:ext cx="25908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it-IT" sz="1400">
                <a:solidFill>
                  <a:srgbClr val="FF0000"/>
                </a:solidFill>
                <a:latin typeface="Comic Sans MS" panose="030F0902030302020204" pitchFamily="66" charset="0"/>
              </a:rPr>
              <a:t>50 - 58 kg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it-IT" sz="1400">
                <a:solidFill>
                  <a:srgbClr val="FF0000"/>
                </a:solidFill>
                <a:latin typeface="Comic Sans MS" panose="030F0902030302020204" pitchFamily="66" charset="0"/>
              </a:rPr>
              <a:t>59-67 kg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it-IT" sz="1400">
                <a:solidFill>
                  <a:srgbClr val="FF0000"/>
                </a:solidFill>
                <a:latin typeface="Comic Sans MS" panose="030F0902030302020204" pitchFamily="66" charset="0"/>
              </a:rPr>
              <a:t>&gt; 687 kg</a:t>
            </a:r>
          </a:p>
        </p:txBody>
      </p:sp>
    </p:spTree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>
            <a:extLst>
              <a:ext uri="{FF2B5EF4-FFF2-40B4-BE49-F238E27FC236}">
                <a16:creationId xmlns:a16="http://schemas.microsoft.com/office/drawing/2014/main" id="{84F2DFA9-8B56-D9FB-8693-64FB600CE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Natural Binning</a:t>
            </a:r>
          </a:p>
        </p:txBody>
      </p:sp>
      <p:sp>
        <p:nvSpPr>
          <p:cNvPr id="132098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91EF849D-D3FA-204E-56A5-24C272D64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77724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altLang="it-IT" sz="2400" dirty="0">
                <a:ea typeface="ＭＳ Ｐゴシック" panose="020B0600070205080204" pitchFamily="34" charset="-128"/>
              </a:rPr>
              <a:t> I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sort</a:t>
            </a:r>
            <a:r>
              <a:rPr lang="it-IT" altLang="it-IT" sz="2400" dirty="0">
                <a:ea typeface="ＭＳ Ｐゴシック" panose="020B0600070205080204" pitchFamily="34" charset="-128"/>
              </a:rPr>
              <a:t> the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values</a:t>
            </a:r>
            <a:r>
              <a:rPr lang="it-IT" altLang="it-IT" sz="2400" dirty="0">
                <a:ea typeface="ＭＳ Ｐゴシック" panose="020B0600070205080204" pitchFamily="34" charset="-128"/>
              </a:rPr>
              <a:t>,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then</a:t>
            </a:r>
            <a:r>
              <a:rPr lang="it-IT" altLang="it-IT" sz="2400" dirty="0">
                <a:ea typeface="ＭＳ Ｐゴシック" panose="020B0600070205080204" pitchFamily="34" charset="-128"/>
              </a:rPr>
              <a:t> divide the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range</a:t>
            </a:r>
            <a:r>
              <a:rPr lang="it-IT" altLang="it-IT" sz="2400" dirty="0">
                <a:ea typeface="ＭＳ Ｐゴシック" panose="020B0600070205080204" pitchFamily="34" charset="-128"/>
              </a:rPr>
              <a:t> of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values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into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i="1" dirty="0">
                <a:ea typeface="ＭＳ Ｐゴシック" panose="020B0600070205080204" pitchFamily="34" charset="-128"/>
              </a:rPr>
              <a:t>k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parts</a:t>
            </a:r>
            <a:r>
              <a:rPr lang="it-IT" altLang="it-IT" sz="2400" dirty="0">
                <a:ea typeface="ＭＳ Ｐゴシック" panose="020B0600070205080204" pitchFamily="34" charset="-128"/>
              </a:rPr>
              <a:t> of the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same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size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it-IT" altLang="it-IT" sz="20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it-IT" altLang="ja-JP" sz="2400" dirty="0" err="1">
                <a:ea typeface="ＭＳ Ｐゴシック" panose="020B0600070205080204" pitchFamily="34" charset="-128"/>
              </a:rPr>
              <a:t>element</a:t>
            </a:r>
            <a:r>
              <a:rPr lang="it-IT" altLang="ja-JP" sz="24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ja-JP" i="1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r>
              <a:rPr lang="it-IT" altLang="ja-JP" i="1" baseline="-25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j</a:t>
            </a:r>
            <a:r>
              <a:rPr lang="it-IT" altLang="ja-JP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ja-JP" sz="2400" dirty="0" err="1">
                <a:ea typeface="ＭＳ Ｐゴシック" panose="020B0600070205080204" pitchFamily="34" charset="-128"/>
              </a:rPr>
              <a:t>belongs</a:t>
            </a:r>
            <a:r>
              <a:rPr lang="it-IT" altLang="ja-JP" sz="2400" dirty="0">
                <a:ea typeface="ＭＳ Ｐゴシック" panose="020B0600070205080204" pitchFamily="34" charset="-128"/>
              </a:rPr>
              <a:t> to  </a:t>
            </a:r>
            <a:r>
              <a:rPr lang="it-IT" altLang="ja-JP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</a:t>
            </a:r>
            <a:r>
              <a:rPr lang="it-IT" altLang="ja-JP" sz="2400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ja-JP" sz="2400" dirty="0" err="1">
                <a:ea typeface="ＭＳ Ｐゴシック" panose="020B0600070205080204" pitchFamily="34" charset="-128"/>
              </a:rPr>
              <a:t>if</a:t>
            </a:r>
            <a:endParaRPr lang="it-IT" altLang="ja-JP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000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		</a:t>
            </a:r>
            <a:r>
              <a:rPr lang="it-IT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it-IT" i="1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r>
              <a:rPr lang="it-IT" altLang="it-IT" i="1" baseline="-25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j</a:t>
            </a:r>
            <a:r>
              <a:rPr lang="it-IT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 </a:t>
            </a:r>
            <a:r>
              <a:rPr lang="it-IT" altLang="it-IT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[</a:t>
            </a:r>
            <a:r>
              <a:rPr lang="it-IT" altLang="it-IT" i="1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r>
              <a:rPr lang="it-IT" altLang="it-IT" i="1" baseline="-25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min</a:t>
            </a:r>
            <a:r>
              <a:rPr lang="it-IT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+ i</a:t>
            </a:r>
            <a:r>
              <a:rPr lang="it-IT" altLang="it-IT" dirty="0">
                <a:ea typeface="ＭＳ Ｐゴシック" panose="020B0600070205080204" pitchFamily="34" charset="-128"/>
                <a:sym typeface="Symbol" pitchFamily="2" charset="2"/>
              </a:rPr>
              <a:t></a:t>
            </a:r>
            <a:r>
              <a:rPr lang="it-IT" altLang="it-IT" dirty="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,</a:t>
            </a:r>
            <a:r>
              <a:rPr lang="it-IT" altLang="it-IT" dirty="0">
                <a:ea typeface="ＭＳ Ｐゴシック" panose="020B0600070205080204" pitchFamily="34" charset="-128"/>
                <a:sym typeface="Symbol" pitchFamily="2" charset="2"/>
              </a:rPr>
              <a:t>  </a:t>
            </a:r>
            <a:r>
              <a:rPr lang="it-IT" altLang="it-IT" i="1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r>
              <a:rPr lang="it-IT" altLang="it-IT" i="1" baseline="-25000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min</a:t>
            </a:r>
            <a:r>
              <a:rPr lang="it-IT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+ (i+1)</a:t>
            </a:r>
            <a:r>
              <a:rPr lang="it-IT" altLang="it-IT" dirty="0">
                <a:ea typeface="ＭＳ Ｐゴシック" panose="020B0600070205080204" pitchFamily="34" charset="-128"/>
                <a:sym typeface="Symbol" pitchFamily="2" charset="2"/>
              </a:rPr>
              <a:t></a:t>
            </a:r>
            <a:r>
              <a:rPr lang="it-IT" altLang="it-IT" dirty="0"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)</a:t>
            </a:r>
            <a:endParaRPr lang="it-IT" altLang="it-IT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it-IT" altLang="it-IT" sz="2400" dirty="0">
                <a:ea typeface="ＭＳ Ｐゴシック" panose="020B0600070205080204" pitchFamily="34" charset="-128"/>
              </a:rPr>
              <a:t>Can produce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very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unbalanced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distributions</a:t>
            </a:r>
            <a:endParaRPr lang="it-IT" altLang="it-IT" sz="2400" dirty="0"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90000"/>
              </a:lnSpc>
              <a:buFont typeface="Monotype Sorts" pitchFamily="2" charset="2"/>
              <a:buNone/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132099" name="Object 4">
            <a:extLst>
              <a:ext uri="{FF2B5EF4-FFF2-40B4-BE49-F238E27FC236}">
                <a16:creationId xmlns:a16="http://schemas.microsoft.com/office/drawing/2014/main" id="{B5080392-3254-81BE-C084-890B50F5D3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2133600"/>
          <a:ext cx="2590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653500" imgH="9067800" progId="Equation.3">
                  <p:embed/>
                </p:oleObj>
              </mc:Choice>
              <mc:Fallback>
                <p:oleObj name="Equation" r:id="rId3" imgW="21653500" imgH="906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133600"/>
                        <a:ext cx="25908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>
            <a:extLst>
              <a:ext uri="{FF2B5EF4-FFF2-40B4-BE49-F238E27FC236}">
                <a16:creationId xmlns:a16="http://schemas.microsoft.com/office/drawing/2014/main" id="{A9C38F6B-E665-6A90-0546-64EB3EEF4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-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>
                <a:cs typeface="+mj-cs"/>
              </a:rPr>
              <a:t>Example</a:t>
            </a:r>
            <a:endParaRPr lang="it-IT" dirty="0">
              <a:cs typeface="+mj-cs"/>
            </a:endParaRPr>
          </a:p>
        </p:txBody>
      </p:sp>
      <p:sp>
        <p:nvSpPr>
          <p:cNvPr id="474115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4C5B08D9-F744-1650-26C0-4E5B5817598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24400" y="2667000"/>
            <a:ext cx="3813175" cy="27098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Monotype Sorts" charset="0"/>
              <a:buChar char="l"/>
              <a:defRPr/>
            </a:pPr>
            <a:r>
              <a:rPr lang="it-IT" sz="2400">
                <a:cs typeface="+mn-cs"/>
                <a:sym typeface="Symbol" charset="0"/>
              </a:rPr>
              <a:t> </a:t>
            </a:r>
            <a:r>
              <a:rPr lang="it-IT" sz="2400">
                <a:latin typeface="Times New Roman" charset="0"/>
                <a:cs typeface="+mn-cs"/>
              </a:rPr>
              <a:t>=(160-100)/4 = 15</a:t>
            </a:r>
          </a:p>
          <a:p>
            <a:pPr eaLnBrk="1" hangingPunct="1">
              <a:lnSpc>
                <a:spcPct val="80000"/>
              </a:lnSpc>
              <a:buFont typeface="Monotype Sorts" charset="0"/>
              <a:buChar char="l"/>
              <a:defRPr/>
            </a:pPr>
            <a:r>
              <a:rPr lang="it-IT" sz="2400">
                <a:cs typeface="+mn-cs"/>
              </a:rPr>
              <a:t>classe 1: [100,115)</a:t>
            </a:r>
          </a:p>
          <a:p>
            <a:pPr eaLnBrk="1" hangingPunct="1">
              <a:lnSpc>
                <a:spcPct val="80000"/>
              </a:lnSpc>
              <a:buFont typeface="Monotype Sorts" charset="0"/>
              <a:buChar char="l"/>
              <a:defRPr/>
            </a:pPr>
            <a:r>
              <a:rPr lang="it-IT" sz="2400">
                <a:cs typeface="+mn-cs"/>
              </a:rPr>
              <a:t>classe 2: [115,130)</a:t>
            </a:r>
          </a:p>
          <a:p>
            <a:pPr eaLnBrk="1" hangingPunct="1">
              <a:lnSpc>
                <a:spcPct val="80000"/>
              </a:lnSpc>
              <a:buFont typeface="Monotype Sorts" charset="0"/>
              <a:buChar char="l"/>
              <a:defRPr/>
            </a:pPr>
            <a:r>
              <a:rPr lang="it-IT" sz="2400">
                <a:cs typeface="+mn-cs"/>
              </a:rPr>
              <a:t>classe 3: [130,145)</a:t>
            </a:r>
          </a:p>
          <a:p>
            <a:pPr eaLnBrk="1" hangingPunct="1">
              <a:lnSpc>
                <a:spcPct val="80000"/>
              </a:lnSpc>
              <a:buFont typeface="Monotype Sorts" charset="0"/>
              <a:buChar char="l"/>
              <a:defRPr/>
            </a:pPr>
            <a:r>
              <a:rPr lang="it-IT" sz="2400">
                <a:cs typeface="+mn-cs"/>
              </a:rPr>
              <a:t>classe 4: [145, 160]</a:t>
            </a:r>
          </a:p>
          <a:p>
            <a:pPr eaLnBrk="1" hangingPunct="1">
              <a:lnSpc>
                <a:spcPct val="80000"/>
              </a:lnSpc>
              <a:buFont typeface="Wingdings" charset="0"/>
              <a:buNone/>
              <a:defRPr/>
            </a:pPr>
            <a:endParaRPr lang="it-IT">
              <a:cs typeface="+mn-cs"/>
            </a:endParaRPr>
          </a:p>
        </p:txBody>
      </p:sp>
      <p:graphicFrame>
        <p:nvGraphicFramePr>
          <p:cNvPr id="134147" name="Object 4">
            <a:extLst>
              <a:ext uri="{FF2B5EF4-FFF2-40B4-BE49-F238E27FC236}">
                <a16:creationId xmlns:a16="http://schemas.microsoft.com/office/drawing/2014/main" id="{DB506708-E232-8B57-21DC-12566619B7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752600"/>
          <a:ext cx="2667000" cy="461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19532600" imgH="33807400" progId="Word.Document.8">
                  <p:embed/>
                </p:oleObj>
              </mc:Choice>
              <mc:Fallback>
                <p:oleObj name="Documento" r:id="rId3" imgW="19532600" imgH="33807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752600"/>
                        <a:ext cx="2667000" cy="461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>
            <a:extLst>
              <a:ext uri="{FF2B5EF4-FFF2-40B4-BE49-F238E27FC236}">
                <a16:creationId xmlns:a16="http://schemas.microsoft.com/office/drawing/2014/main" id="{400303C7-0B26-0EF5-33BA-C8A8991D3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Equal Frequency Binning</a:t>
            </a:r>
          </a:p>
        </p:txBody>
      </p:sp>
      <p:sp>
        <p:nvSpPr>
          <p:cNvPr id="136194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DD76506F-4808-6067-8EC2-988E8D113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altLang="it-IT" sz="2400" dirty="0">
                <a:ea typeface="ＭＳ Ｐゴシック" panose="020B0600070205080204" pitchFamily="34" charset="-128"/>
              </a:rPr>
              <a:t>I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order</a:t>
            </a:r>
            <a:r>
              <a:rPr lang="it-IT" altLang="it-IT" sz="2400" dirty="0">
                <a:ea typeface="ＭＳ Ｐゴシック" panose="020B0600070205080204" pitchFamily="34" charset="-128"/>
              </a:rPr>
              <a:t> and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count</a:t>
            </a:r>
            <a:r>
              <a:rPr lang="it-IT" altLang="it-IT" sz="2400" dirty="0">
                <a:ea typeface="ＭＳ Ｐゴシック" panose="020B0600070205080204" pitchFamily="34" charset="-128"/>
              </a:rPr>
              <a:t> the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elements</a:t>
            </a:r>
            <a:r>
              <a:rPr lang="it-IT" altLang="it-IT" sz="2400" dirty="0">
                <a:ea typeface="ＭＳ Ｐゴシック" panose="020B0600070205080204" pitchFamily="34" charset="-128"/>
              </a:rPr>
              <a:t>,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then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define</a:t>
            </a:r>
            <a:r>
              <a:rPr lang="it-IT" altLang="it-IT" sz="2400" dirty="0">
                <a:ea typeface="ＭＳ Ｐゴシック" panose="020B0600070205080204" pitchFamily="34" charset="-128"/>
              </a:rPr>
              <a:t> k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intervals</a:t>
            </a:r>
            <a:r>
              <a:rPr lang="it-IT" altLang="it-IT" sz="2400" dirty="0">
                <a:ea typeface="ＭＳ Ｐゴシック" panose="020B0600070205080204" pitchFamily="34" charset="-128"/>
              </a:rPr>
              <a:t> of </a:t>
            </a:r>
            <a:r>
              <a:rPr lang="it-IT" altLang="it-IT" sz="2400" i="1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f</a:t>
            </a:r>
            <a:r>
              <a:rPr lang="it-IT" altLang="it-IT" sz="2400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elements</a:t>
            </a:r>
            <a:r>
              <a:rPr lang="it-IT" altLang="it-IT" sz="2400" dirty="0">
                <a:ea typeface="ＭＳ Ｐゴシック" panose="020B0600070205080204" pitchFamily="34" charset="-128"/>
              </a:rPr>
              <a:t>,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where</a:t>
            </a:r>
            <a:r>
              <a:rPr lang="it-IT" altLang="it-IT" sz="2400" dirty="0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90000"/>
              </a:lnSpc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it-IT" altLang="it-IT" sz="2400" dirty="0">
                <a:ea typeface="ＭＳ Ｐゴシック" panose="020B0600070205080204" pitchFamily="34" charset="-128"/>
              </a:rPr>
              <a:t>	(</a:t>
            </a:r>
            <a:r>
              <a:rPr lang="it-IT" altLang="it-IT" sz="2400" i="1" dirty="0" err="1">
                <a:ea typeface="ＭＳ Ｐゴシック" panose="020B0600070205080204" pitchFamily="34" charset="-128"/>
              </a:rPr>
              <a:t>N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is</a:t>
            </a:r>
            <a:r>
              <a:rPr lang="it-IT" altLang="it-IT" sz="2400" dirty="0">
                <a:ea typeface="ＭＳ Ｐゴシック" panose="020B0600070205080204" pitchFamily="34" charset="-128"/>
              </a:rPr>
              <a:t> the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number</a:t>
            </a:r>
            <a:r>
              <a:rPr lang="it-IT" altLang="it-IT" sz="2400" dirty="0">
                <a:ea typeface="ＭＳ Ｐゴシック" panose="020B0600070205080204" pitchFamily="34" charset="-128"/>
              </a:rPr>
              <a:t> of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elements</a:t>
            </a:r>
            <a:r>
              <a:rPr lang="it-IT" altLang="it-IT" sz="2400" dirty="0">
                <a:ea typeface="ＭＳ Ｐゴシック" panose="020B0600070205080204" pitchFamily="34" charset="-128"/>
              </a:rPr>
              <a:t> of the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datasets</a:t>
            </a:r>
            <a:r>
              <a:rPr lang="it-IT" altLang="it-IT" sz="2400" dirty="0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it-IT" altLang="it-IT" sz="2400" dirty="0" err="1">
                <a:ea typeface="ＭＳ Ｐゴシック" panose="020B0600070205080204" pitchFamily="34" charset="-128"/>
              </a:rPr>
              <a:t>Element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ja-JP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r>
              <a:rPr lang="it-IT" altLang="ja-JP" i="1" baseline="-25000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i</a:t>
            </a:r>
            <a:r>
              <a:rPr lang="it-IT" altLang="ja-JP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ja-JP" sz="2400" dirty="0" err="1">
                <a:ea typeface="ＭＳ Ｐゴシック" panose="020B0600070205080204" pitchFamily="34" charset="-128"/>
              </a:rPr>
              <a:t>belongs</a:t>
            </a:r>
            <a:r>
              <a:rPr lang="it-IT" altLang="ja-JP" sz="2400" dirty="0">
                <a:ea typeface="ＭＳ Ｐゴシック" panose="020B0600070205080204" pitchFamily="34" charset="-128"/>
              </a:rPr>
              <a:t> to </a:t>
            </a:r>
            <a:r>
              <a:rPr lang="it-IT" altLang="ja-JP" sz="2400" dirty="0" err="1">
                <a:ea typeface="ＭＳ Ｐゴシック" panose="020B0600070205080204" pitchFamily="34" charset="-128"/>
              </a:rPr>
              <a:t>class</a:t>
            </a:r>
            <a:r>
              <a:rPr lang="it-IT" altLang="ja-JP" sz="2400" dirty="0">
                <a:ea typeface="ＭＳ Ｐゴシック" panose="020B0600070205080204" pitchFamily="34" charset="-128"/>
              </a:rPr>
              <a:t> </a:t>
            </a:r>
            <a:r>
              <a:rPr lang="it-IT" altLang="ja-JP" i="1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j</a:t>
            </a:r>
            <a:r>
              <a:rPr lang="it-IT" altLang="ja-JP" sz="2400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ja-JP" sz="2400" i="1" dirty="0" err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is</a:t>
            </a:r>
            <a:endParaRPr lang="it-IT" altLang="ja-JP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it-IT" altLang="it-IT" i="1" dirty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			</a:t>
            </a:r>
            <a:r>
              <a:rPr lang="it-IT" altLang="it-IT" i="1" dirty="0" err="1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j</a:t>
            </a:r>
            <a:r>
              <a:rPr lang="it-IT" altLang="it-IT" i="1" dirty="0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it-IT" i="1" dirty="0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 </a:t>
            </a:r>
            <a:r>
              <a:rPr lang="it-IT" altLang="it-IT" i="1" dirty="0" err="1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f</a:t>
            </a:r>
            <a:r>
              <a:rPr lang="it-IT" altLang="it-IT" i="1" dirty="0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  <a:r>
              <a:rPr lang="it-IT" altLang="it-IT" i="1" dirty="0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</a:t>
            </a:r>
            <a:r>
              <a:rPr lang="it-IT" altLang="it-IT" i="1" dirty="0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  i &lt; (j+1) </a:t>
            </a:r>
            <a:r>
              <a:rPr lang="it-IT" altLang="it-IT" i="1" dirty="0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sym typeface="Symbol" pitchFamily="2" charset="2"/>
              </a:rPr>
              <a:t>  </a:t>
            </a:r>
            <a:r>
              <a:rPr lang="it-IT" altLang="it-IT" i="1" dirty="0" err="1">
                <a:solidFill>
                  <a:srgbClr val="0033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rPr>
              <a:t>f</a:t>
            </a:r>
            <a:endParaRPr lang="it-IT" altLang="it-IT" i="1" dirty="0">
              <a:solidFill>
                <a:srgbClr val="003300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it-IT" altLang="it-IT" sz="2400" dirty="0" err="1">
                <a:ea typeface="ＭＳ Ｐゴシック" panose="020B0600070205080204" pitchFamily="34" charset="-128"/>
              </a:rPr>
              <a:t>Not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always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suitable</a:t>
            </a:r>
            <a:r>
              <a:rPr lang="it-IT" altLang="it-IT" sz="2400" dirty="0">
                <a:ea typeface="ＭＳ Ｐゴシック" panose="020B0600070205080204" pitchFamily="34" charset="-128"/>
              </a:rPr>
              <a:t> for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highlighting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interesting</a:t>
            </a:r>
            <a:r>
              <a:rPr lang="it-IT" altLang="it-IT" sz="2400" dirty="0">
                <a:ea typeface="ＭＳ Ｐゴシック" panose="020B0600070205080204" pitchFamily="34" charset="-128"/>
              </a:rPr>
              <a:t> </a:t>
            </a:r>
            <a:r>
              <a:rPr lang="it-IT" altLang="it-IT" sz="2400" dirty="0" err="1">
                <a:ea typeface="ＭＳ Ｐゴシック" panose="020B0600070205080204" pitchFamily="34" charset="-128"/>
              </a:rPr>
              <a:t>correlations</a:t>
            </a:r>
            <a:endParaRPr lang="it-IT" altLang="it-IT" sz="2400" dirty="0">
              <a:ea typeface="ＭＳ Ｐゴシック" panose="020B0600070205080204" pitchFamily="34" charset="-128"/>
            </a:endParaRPr>
          </a:p>
          <a:p>
            <a:pPr marL="0" indent="0" eaLnBrk="1" hangingPunct="1">
              <a:lnSpc>
                <a:spcPct val="90000"/>
              </a:lnSpc>
              <a:buFont typeface="Monotype Sorts" pitchFamily="2" charset="2"/>
              <a:buNone/>
              <a:defRPr/>
            </a:pPr>
            <a:endParaRPr lang="it-IT" altLang="it-IT" sz="24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136195" name="Object 4">
            <a:extLst>
              <a:ext uri="{FF2B5EF4-FFF2-40B4-BE49-F238E27FC236}">
                <a16:creationId xmlns:a16="http://schemas.microsoft.com/office/drawing/2014/main" id="{701B3BED-CA7E-AAD2-10D3-59EFF4C66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2438400"/>
          <a:ext cx="12954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28300" imgH="9067800" progId="Equation.3">
                  <p:embed/>
                </p:oleObj>
              </mc:Choice>
              <mc:Fallback>
                <p:oleObj name="Equation" r:id="rId3" imgW="10528300" imgH="906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438400"/>
                        <a:ext cx="12954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>
            <a:extLst>
              <a:ext uri="{FF2B5EF4-FFF2-40B4-BE49-F238E27FC236}">
                <a16:creationId xmlns:a16="http://schemas.microsoft.com/office/drawing/2014/main" id="{7A2460ED-1C50-EE40-26BA-10013E3CE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err="1">
                <a:cs typeface="+mj-cs"/>
              </a:rPr>
              <a:t>Example</a:t>
            </a:r>
            <a:endParaRPr lang="it-IT" dirty="0">
              <a:cs typeface="+mj-cs"/>
            </a:endParaRPr>
          </a:p>
        </p:txBody>
      </p:sp>
      <p:sp>
        <p:nvSpPr>
          <p:cNvPr id="478211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7953E5B7-CFE1-8F0E-A4FD-7CBE5F3CF17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2438400"/>
            <a:ext cx="3813175" cy="2743200"/>
          </a:xfrm>
        </p:spPr>
        <p:txBody>
          <a:bodyPr/>
          <a:lstStyle/>
          <a:p>
            <a:pPr eaLnBrk="1" hangingPunct="1">
              <a:buFont typeface="Monotype Sorts" charset="0"/>
              <a:buChar char="l"/>
              <a:defRPr/>
            </a:pPr>
            <a:r>
              <a:rPr lang="it-IT" sz="2400" i="1">
                <a:latin typeface="Times New Roman" charset="0"/>
                <a:cs typeface="+mn-cs"/>
              </a:rPr>
              <a:t>f = </a:t>
            </a:r>
            <a:r>
              <a:rPr lang="it-IT" sz="2400">
                <a:latin typeface="Times New Roman" charset="0"/>
                <a:cs typeface="+mn-cs"/>
              </a:rPr>
              <a:t>12/4 = 3</a:t>
            </a:r>
          </a:p>
          <a:p>
            <a:pPr eaLnBrk="1" hangingPunct="1">
              <a:buFont typeface="Monotype Sorts" charset="0"/>
              <a:buChar char="l"/>
              <a:defRPr/>
            </a:pPr>
            <a:r>
              <a:rPr lang="it-IT" sz="2400">
                <a:cs typeface="+mn-cs"/>
              </a:rPr>
              <a:t>classe 1: {100,110,110}</a:t>
            </a:r>
          </a:p>
          <a:p>
            <a:pPr eaLnBrk="1" hangingPunct="1">
              <a:buFont typeface="Monotype Sorts" charset="0"/>
              <a:buChar char="l"/>
              <a:defRPr/>
            </a:pPr>
            <a:r>
              <a:rPr lang="it-IT" sz="2400">
                <a:cs typeface="+mn-cs"/>
              </a:rPr>
              <a:t>classe 2: {120,120,125}</a:t>
            </a:r>
          </a:p>
          <a:p>
            <a:pPr eaLnBrk="1" hangingPunct="1">
              <a:buFont typeface="Monotype Sorts" charset="0"/>
              <a:buChar char="l"/>
              <a:defRPr/>
            </a:pPr>
            <a:r>
              <a:rPr lang="it-IT" sz="2400">
                <a:cs typeface="+mn-cs"/>
              </a:rPr>
              <a:t>classe 3: {130,130,135}</a:t>
            </a:r>
          </a:p>
          <a:p>
            <a:pPr eaLnBrk="1" hangingPunct="1">
              <a:buFont typeface="Monotype Sorts" charset="0"/>
              <a:buChar char="l"/>
              <a:defRPr/>
            </a:pPr>
            <a:r>
              <a:rPr lang="it-IT" sz="2400">
                <a:cs typeface="+mn-cs"/>
              </a:rPr>
              <a:t>classe 4: {140,150,160</a:t>
            </a:r>
            <a:r>
              <a:rPr lang="it-IT">
                <a:cs typeface="+mn-cs"/>
              </a:rPr>
              <a:t>}</a:t>
            </a:r>
          </a:p>
          <a:p>
            <a:pPr eaLnBrk="1" hangingPunct="1">
              <a:buFont typeface="Monotype Sorts" charset="0"/>
              <a:buChar char="l"/>
              <a:defRPr/>
            </a:pPr>
            <a:endParaRPr lang="it-IT" sz="2400">
              <a:cs typeface="+mn-cs"/>
            </a:endParaRPr>
          </a:p>
          <a:p>
            <a:pPr eaLnBrk="1" hangingPunct="1">
              <a:buFont typeface="Wingdings" charset="0"/>
              <a:buNone/>
              <a:defRPr/>
            </a:pPr>
            <a:endParaRPr lang="it-IT">
              <a:cs typeface="+mn-cs"/>
            </a:endParaRPr>
          </a:p>
        </p:txBody>
      </p:sp>
      <p:graphicFrame>
        <p:nvGraphicFramePr>
          <p:cNvPr id="138243" name="Object 4">
            <a:extLst>
              <a:ext uri="{FF2B5EF4-FFF2-40B4-BE49-F238E27FC236}">
                <a16:creationId xmlns:a16="http://schemas.microsoft.com/office/drawing/2014/main" id="{BBF00FD8-8D3D-708A-F8C4-257AF1CA71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1752600"/>
          <a:ext cx="2590800" cy="449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19532600" imgH="33807400" progId="Word.Document.8">
                  <p:embed/>
                </p:oleObj>
              </mc:Choice>
              <mc:Fallback>
                <p:oleObj name="Documento" r:id="rId3" imgW="19532600" imgH="3380740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52600"/>
                        <a:ext cx="2590800" cy="449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756BA104-9937-B6A6-5FDE-F7AC9B616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8229600" cy="4972050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If too few 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=&gt; loss of distribution information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If too many 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=&gt; scatters the values and does not manifest the shape of the distribution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The optimal number C of intervals is a function of the number N of elements (Sturges, 1929).</a:t>
            </a:r>
          </a:p>
          <a:p>
            <a:pPr eaLnBrk="1" hangingPunct="1">
              <a:buFont typeface="Monotype Sorts" pitchFamily="2" charset="2"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The optimal interval width depends on the variance and the number of data (Scott, 1979).</a:t>
            </a: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</p:txBody>
      </p:sp>
      <p:sp>
        <p:nvSpPr>
          <p:cNvPr id="792578" name="Rectangle 2">
            <a:extLst>
              <a:ext uri="{FF2B5EF4-FFF2-40B4-BE49-F238E27FC236}">
                <a16:creationId xmlns:a16="http://schemas.microsoft.com/office/drawing/2014/main" id="{AFF7E324-F18C-E5C9-2E1D-B764F5994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4000" dirty="0">
                <a:cs typeface="+mj-cs"/>
              </a:rPr>
              <a:t>How </a:t>
            </a:r>
            <a:r>
              <a:rPr lang="it-IT" sz="4000" dirty="0" err="1">
                <a:cs typeface="+mj-cs"/>
              </a:rPr>
              <a:t>many</a:t>
            </a:r>
            <a:r>
              <a:rPr lang="it-IT" sz="4000" dirty="0">
                <a:cs typeface="+mj-cs"/>
              </a:rPr>
              <a:t> </a:t>
            </a:r>
            <a:r>
              <a:rPr lang="it-IT" sz="4000" dirty="0" err="1">
                <a:cs typeface="+mj-cs"/>
              </a:rPr>
              <a:t>intervals</a:t>
            </a:r>
            <a:r>
              <a:rPr lang="it-IT" sz="4000" dirty="0">
                <a:cs typeface="+mj-cs"/>
              </a:rPr>
              <a:t>?</a:t>
            </a:r>
            <a:endParaRPr lang="it-IT" dirty="0">
              <a:cs typeface="+mj-cs"/>
            </a:endParaRPr>
          </a:p>
        </p:txBody>
      </p:sp>
      <p:graphicFrame>
        <p:nvGraphicFramePr>
          <p:cNvPr id="140291" name="Object 4">
            <a:extLst>
              <a:ext uri="{FF2B5EF4-FFF2-40B4-BE49-F238E27FC236}">
                <a16:creationId xmlns:a16="http://schemas.microsoft.com/office/drawing/2014/main" id="{6AE05905-CDA6-206F-1A15-1350A53D76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1700" y="4157663"/>
          <a:ext cx="28194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800300" imgH="9067800" progId="Equation.3">
                  <p:embed/>
                </p:oleObj>
              </mc:Choice>
              <mc:Fallback>
                <p:oleObj name="Equation" r:id="rId3" imgW="27800300" imgH="906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0" y="4157663"/>
                        <a:ext cx="2819400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2" name="Object 5">
            <a:extLst>
              <a:ext uri="{FF2B5EF4-FFF2-40B4-BE49-F238E27FC236}">
                <a16:creationId xmlns:a16="http://schemas.microsoft.com/office/drawing/2014/main" id="{4450AED8-B2C4-318C-E969-0A67920688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5334000"/>
          <a:ext cx="1450975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338300" imgH="9652000" progId="Equation.3">
                  <p:embed/>
                </p:oleObj>
              </mc:Choice>
              <mc:Fallback>
                <p:oleObj name="Equation" r:id="rId5" imgW="14338300" imgH="9652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5334000"/>
                        <a:ext cx="1450975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A7D62D42-D567-AFD4-7778-C2F8E1842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Discretization</a:t>
            </a:r>
          </a:p>
        </p:txBody>
      </p:sp>
      <p:sp>
        <p:nvSpPr>
          <p:cNvPr id="142338" name="Rectangle 3">
            <a:extLst>
              <a:ext uri="{FF2B5EF4-FFF2-40B4-BE49-F238E27FC236}">
                <a16:creationId xmlns:a16="http://schemas.microsoft.com/office/drawing/2014/main" id="{0CEB3DE4-1243-2EB3-9C43-2DDEF6A9B8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pitchFamily="2" charset="2"/>
              <a:buNone/>
              <a:tabLst>
                <a:tab pos="1198563" algn="l"/>
              </a:tabLst>
            </a:pPr>
            <a:endParaRPr lang="it-IT" altLang="it-IT" b="1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pic>
        <p:nvPicPr>
          <p:cNvPr id="142339" name="Picture 4">
            <a:extLst>
              <a:ext uri="{FF2B5EF4-FFF2-40B4-BE49-F238E27FC236}">
                <a16:creationId xmlns:a16="http://schemas.microsoft.com/office/drawing/2014/main" id="{8634C02B-33BA-11A7-EAA4-A75EDCAAA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81200"/>
            <a:ext cx="3657600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340" name="Picture 5">
            <a:extLst>
              <a:ext uri="{FF2B5EF4-FFF2-40B4-BE49-F238E27FC236}">
                <a16:creationId xmlns:a16="http://schemas.microsoft.com/office/drawing/2014/main" id="{088E0215-DCFF-7BCF-CE6A-93FDAA9B0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981200"/>
            <a:ext cx="3810000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341" name="Picture 6">
            <a:extLst>
              <a:ext uri="{FF2B5EF4-FFF2-40B4-BE49-F238E27FC236}">
                <a16:creationId xmlns:a16="http://schemas.microsoft.com/office/drawing/2014/main" id="{24ABC14F-DE45-AFB8-58F7-BD64057DC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14800"/>
            <a:ext cx="373380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2" name="Text Box 7">
            <a:extLst>
              <a:ext uri="{FF2B5EF4-FFF2-40B4-BE49-F238E27FC236}">
                <a16:creationId xmlns:a16="http://schemas.microsoft.com/office/drawing/2014/main" id="{8FF8B42E-F35C-8A77-AFDE-5F6723B3B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it-IT" altLang="it-IT" sz="1400">
              <a:cs typeface="Arial" panose="020B0604020202020204" pitchFamily="34" charset="0"/>
            </a:endParaRPr>
          </a:p>
        </p:txBody>
      </p:sp>
      <p:sp>
        <p:nvSpPr>
          <p:cNvPr id="142343" name="Text Box 8">
            <a:extLst>
              <a:ext uri="{FF2B5EF4-FFF2-40B4-BE49-F238E27FC236}">
                <a16:creationId xmlns:a16="http://schemas.microsoft.com/office/drawing/2014/main" id="{D58CF665-7E61-71CC-8A2A-A3B6EA85F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42344" name="Text Box 9">
            <a:extLst>
              <a:ext uri="{FF2B5EF4-FFF2-40B4-BE49-F238E27FC236}">
                <a16:creationId xmlns:a16="http://schemas.microsoft.com/office/drawing/2014/main" id="{AAAAF71B-9B30-D280-7F00-055B64F09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8100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Equal interval width</a:t>
            </a:r>
          </a:p>
        </p:txBody>
      </p:sp>
      <p:sp>
        <p:nvSpPr>
          <p:cNvPr id="142345" name="Text Box 10">
            <a:extLst>
              <a:ext uri="{FF2B5EF4-FFF2-40B4-BE49-F238E27FC236}">
                <a16:creationId xmlns:a16="http://schemas.microsoft.com/office/drawing/2014/main" id="{C70523D5-CEAF-E43A-70AF-43C9AC59F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60198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Equal frequency</a:t>
            </a:r>
          </a:p>
        </p:txBody>
      </p:sp>
      <p:sp>
        <p:nvSpPr>
          <p:cNvPr id="142346" name="Text Box 11">
            <a:extLst>
              <a:ext uri="{FF2B5EF4-FFF2-40B4-BE49-F238E27FC236}">
                <a16:creationId xmlns:a16="http://schemas.microsoft.com/office/drawing/2014/main" id="{FF9A845E-3836-1CEC-9B25-D94D6619F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6019800"/>
            <a:ext cx="1905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1400">
                <a:cs typeface="Arial" panose="020B0604020202020204" pitchFamily="34" charset="0"/>
              </a:rPr>
              <a:t>Clustering</a:t>
            </a:r>
          </a:p>
        </p:txBody>
      </p:sp>
      <p:pic>
        <p:nvPicPr>
          <p:cNvPr id="142347" name="Picture 12">
            <a:extLst>
              <a:ext uri="{FF2B5EF4-FFF2-40B4-BE49-F238E27FC236}">
                <a16:creationId xmlns:a16="http://schemas.microsoft.com/office/drawing/2014/main" id="{8AD7102E-1775-F876-4E55-111A5D3FB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191000"/>
            <a:ext cx="3962400" cy="183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>
            <a:extLst>
              <a:ext uri="{FF2B5EF4-FFF2-40B4-BE49-F238E27FC236}">
                <a16:creationId xmlns:a16="http://schemas.microsoft.com/office/drawing/2014/main" id="{B877E7DD-694F-F905-CE7F-CA50F92B9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>
                <a:cs typeface="+mj-cs"/>
              </a:rPr>
              <a:t>Supervised Discretization</a:t>
            </a:r>
          </a:p>
        </p:txBody>
      </p:sp>
      <p:sp>
        <p:nvSpPr>
          <p:cNvPr id="144386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C7013EE3-BB9A-85D6-CA8B-9A1AFC78DE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7620000" cy="42672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 Caratteristiche:</a:t>
            </a:r>
          </a:p>
          <a:p>
            <a:pPr lvl="1" eaLnBrk="1" hangingPunct="1">
              <a:lnSpc>
                <a:spcPct val="14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La discretizzazione è riferita ad una etichetta presente nei dati.</a:t>
            </a:r>
          </a:p>
          <a:p>
            <a:pPr lvl="1" eaLnBrk="1" hangingPunct="1">
              <a:lnSpc>
                <a:spcPct val="14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Il numero di classi non è noto a priori</a:t>
            </a:r>
          </a:p>
          <a:p>
            <a:pPr eaLnBrk="1" hangingPunct="1">
              <a:lnSpc>
                <a:spcPct val="14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Tecniche:</a:t>
            </a:r>
          </a:p>
          <a:p>
            <a:pPr lvl="1" eaLnBrk="1" hangingPunct="1">
              <a:lnSpc>
                <a:spcPct val="14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ChiMerge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Discretizzazione basata sull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Entropia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Discretizzazione basata sui percentili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3" name="Picture 6">
            <a:extLst>
              <a:ext uri="{FF2B5EF4-FFF2-40B4-BE49-F238E27FC236}">
                <a16:creationId xmlns:a16="http://schemas.microsoft.com/office/drawing/2014/main" id="{8CD83D43-4DC6-FEB7-C850-0DD5F33ADD7D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3603625"/>
            <a:ext cx="4648200" cy="2797175"/>
          </a:xfrm>
        </p:spPr>
      </p:pic>
      <p:sp>
        <p:nvSpPr>
          <p:cNvPr id="48131" name="Rectangle 2">
            <a:extLst>
              <a:ext uri="{FF2B5EF4-FFF2-40B4-BE49-F238E27FC236}">
                <a16:creationId xmlns:a16="http://schemas.microsoft.com/office/drawing/2014/main" id="{544FCF07-9382-72FC-7FA5-060CE2022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Attribute Transformation</a:t>
            </a: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AF8102E-89D4-1511-6BC6-02CAD285A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A function that maps the entire set of values of a given attribute to a new set of replacement values such that each old value can be identified with one of the new values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Simple functions: x</a:t>
            </a:r>
            <a:r>
              <a:rPr lang="en-US" baseline="30000"/>
              <a:t>k</a:t>
            </a:r>
            <a:r>
              <a:rPr lang="en-US"/>
              <a:t>, log(x), e</a:t>
            </a:r>
            <a:r>
              <a:rPr lang="en-US" baseline="30000"/>
              <a:t>x</a:t>
            </a:r>
            <a:r>
              <a:rPr lang="en-US"/>
              <a:t>, |x|</a:t>
            </a:r>
          </a:p>
          <a:p>
            <a:pPr lvl="1">
              <a:buFont typeface="Arial" charset="0"/>
              <a:buChar char="–"/>
              <a:defRPr/>
            </a:pPr>
            <a:r>
              <a:rPr lang="en-US"/>
              <a:t>Standardization and Normalization 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id="{7F01A753-183F-3EBB-378E-3B8C0D0CD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4000" dirty="0">
                <a:cs typeface="+mj-cs"/>
              </a:rPr>
              <a:t>Data </a:t>
            </a:r>
            <a:r>
              <a:rPr lang="it-IT" sz="4000" dirty="0" err="1">
                <a:cs typeface="+mj-cs"/>
              </a:rPr>
              <a:t>Transformation</a:t>
            </a:r>
            <a:endParaRPr lang="it-IT" sz="4000" dirty="0">
              <a:cs typeface="+mj-cs"/>
            </a:endParaRPr>
          </a:p>
        </p:txBody>
      </p:sp>
      <p:sp>
        <p:nvSpPr>
          <p:cNvPr id="147458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2414F4D9-6912-6CA7-957F-0A96CE72BE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2800" y="1828800"/>
            <a:ext cx="8318500" cy="51816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 Data with errors or incomplete data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Poorly distributed data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Strong data sparsity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Strong data asymmetry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Many peaks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Data transformation can alleviate these problems</a:t>
            </a:r>
            <a:endParaRPr lang="it-IT" altLang="it-IT" sz="3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>
            <a:extLst>
              <a:ext uri="{FF2B5EF4-FFF2-40B4-BE49-F238E27FC236}">
                <a16:creationId xmlns:a16="http://schemas.microsoft.com/office/drawing/2014/main" id="{D2F4524A-C406-8167-B997-94463A3665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4000" dirty="0">
                <a:cs typeface="+mj-cs"/>
              </a:rPr>
              <a:t>Data </a:t>
            </a:r>
            <a:r>
              <a:rPr lang="it-IT" sz="4000" dirty="0" err="1">
                <a:cs typeface="+mj-cs"/>
              </a:rPr>
              <a:t>transformation</a:t>
            </a:r>
            <a:endParaRPr lang="it-IT" dirty="0">
              <a:cs typeface="+mj-cs"/>
            </a:endParaRPr>
          </a:p>
        </p:txBody>
      </p:sp>
      <p:sp>
        <p:nvSpPr>
          <p:cNvPr id="149506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D9DB24BE-88D1-8599-E86D-7B51491A1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Dfine a transformation </a:t>
            </a:r>
            <a:r>
              <a:rPr lang="it-IT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T </a:t>
            </a:r>
            <a:r>
              <a:rPr lang="it-IT" altLang="it-IT">
                <a:ea typeface="ＭＳ Ｐゴシック" panose="020B0600070205080204" pitchFamily="34" charset="-128"/>
              </a:rPr>
              <a:t>on attribute</a:t>
            </a:r>
            <a:r>
              <a:rPr lang="it-IT" altLang="ja-JP">
                <a:ea typeface="ＭＳ Ｐゴシック" panose="020B0600070205080204" pitchFamily="34" charset="-128"/>
              </a:rPr>
              <a:t> X:</a:t>
            </a:r>
            <a:endParaRPr lang="it-IT" altLang="ja-JP" i="1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it-IT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			Y</a:t>
            </a:r>
            <a:r>
              <a:rPr lang="it-IT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 = T(</a:t>
            </a:r>
            <a:r>
              <a:rPr lang="it-IT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r>
              <a:rPr lang="it-IT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) 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it-IT" altLang="it-IT">
                <a:latin typeface="Times New Roman" panose="02020603050405020304" pitchFamily="18" charset="0"/>
                <a:ea typeface="ＭＳ Ｐゴシック" panose="020B0600070205080204" pitchFamily="34" charset="-128"/>
              </a:rPr>
              <a:t>	</a:t>
            </a:r>
            <a:r>
              <a:rPr lang="it-IT" altLang="it-IT">
                <a:ea typeface="ＭＳ Ｐゴシック" panose="020B0600070205080204" pitchFamily="34" charset="-128"/>
              </a:rPr>
              <a:t>such that:</a:t>
            </a:r>
          </a:p>
          <a:p>
            <a:pPr lvl="1" eaLnBrk="1" hangingPunct="1">
              <a:lnSpc>
                <a:spcPct val="110000"/>
              </a:lnSpc>
            </a:pPr>
            <a:r>
              <a:rPr lang="it-IT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Y</a:t>
            </a:r>
            <a:r>
              <a:rPr lang="it-IT" altLang="it-IT">
                <a:ea typeface="ＭＳ Ｐゴシック" panose="020B0600070205080204" pitchFamily="34" charset="-128"/>
              </a:rPr>
              <a:t> preserves «relavant» information of </a:t>
            </a:r>
            <a:r>
              <a:rPr lang="it-IT" altLang="ja-JP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endParaRPr lang="it-IT" altLang="ja-JP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110000"/>
              </a:lnSpc>
            </a:pPr>
            <a:r>
              <a:rPr lang="it-IT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Y</a:t>
            </a:r>
            <a:r>
              <a:rPr lang="it-IT" altLang="it-IT">
                <a:ea typeface="ＭＳ Ｐゴシック" panose="020B0600070205080204" pitchFamily="34" charset="-128"/>
              </a:rPr>
              <a:t> remove at least one of the problems of </a:t>
            </a:r>
            <a:r>
              <a:rPr lang="it-IT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110000"/>
              </a:lnSpc>
            </a:pPr>
            <a:r>
              <a:rPr lang="it-IT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Y</a:t>
            </a:r>
            <a:r>
              <a:rPr lang="it-IT" altLang="it-IT">
                <a:ea typeface="ＭＳ Ｐゴシック" panose="020B0600070205080204" pitchFamily="34" charset="-128"/>
              </a:rPr>
              <a:t> is more </a:t>
            </a:r>
            <a:r>
              <a:rPr lang="ja-JP" altLang="it-IT">
                <a:ea typeface="ＭＳ Ｐゴシック" panose="020B0600070205080204" pitchFamily="34" charset="-128"/>
              </a:rPr>
              <a:t>“</a:t>
            </a:r>
            <a:r>
              <a:rPr lang="it-IT" altLang="ja-JP">
                <a:ea typeface="ＭＳ Ｐゴシック" panose="020B0600070205080204" pitchFamily="34" charset="-128"/>
              </a:rPr>
              <a:t>useful</a:t>
            </a:r>
            <a:r>
              <a:rPr lang="ja-JP" altLang="it-IT">
                <a:ea typeface="ＭＳ Ｐゴシック" panose="020B0600070205080204" pitchFamily="34" charset="-128"/>
              </a:rPr>
              <a:t>”</a:t>
            </a:r>
            <a:r>
              <a:rPr lang="it-IT" altLang="ja-JP">
                <a:ea typeface="ＭＳ Ｐゴシック" panose="020B0600070205080204" pitchFamily="34" charset="-128"/>
              </a:rPr>
              <a:t> di </a:t>
            </a:r>
            <a:r>
              <a:rPr lang="it-IT" altLang="ja-JP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X</a:t>
            </a:r>
            <a:endParaRPr lang="it-IT" altLang="it-IT" sz="2000" i="1">
              <a:latin typeface="Times New Roman" panose="02020603050405020304" pitchFamily="18" charset="0"/>
              <a:ea typeface="ＭＳ Ｐゴシック" panose="020B0600070205080204" pitchFamily="34" charset="-128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C3126A98-6E72-F7F7-E135-EBC656BFC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4000" dirty="0">
                <a:cs typeface="+mj-cs"/>
              </a:rPr>
              <a:t>GOALS</a:t>
            </a:r>
            <a:endParaRPr lang="it-IT" dirty="0">
              <a:cs typeface="+mj-cs"/>
            </a:endParaRPr>
          </a:p>
        </p:txBody>
      </p:sp>
      <p:sp>
        <p:nvSpPr>
          <p:cNvPr id="151554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5F8D4957-A1A6-D97A-2E8A-A3A23D6E0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7772400" cy="44196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Main goals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stabilising variances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normalising variable distributions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Linearising relationships between variables</a:t>
            </a: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Secondary purposes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to simplify the processing of data with undesirable characteristics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to represent the data in a scale considered more suitable.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>
            <a:extLst>
              <a:ext uri="{FF2B5EF4-FFF2-40B4-BE49-F238E27FC236}">
                <a16:creationId xmlns:a16="http://schemas.microsoft.com/office/drawing/2014/main" id="{B5A0284E-5965-491E-866C-5BC4F28D0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Why normality, linearity, etc? 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53602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6989A229-19C5-5851-AF63-885D2220F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318500" cy="51816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Many statistical methodologies require linear correlations, normal distributions, absence of outliers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Many data mining algorithms have the ability to </a:t>
            </a:r>
            <a:r>
              <a:rPr lang="it-IT" altLang="it-IT">
                <a:solidFill>
                  <a:srgbClr val="FF0000"/>
                </a:solidFill>
                <a:ea typeface="ＭＳ Ｐゴシック" panose="020B0600070205080204" pitchFamily="34" charset="-128"/>
              </a:rPr>
              <a:t>automatically</a:t>
            </a:r>
            <a:r>
              <a:rPr lang="it-IT" altLang="it-IT">
                <a:ea typeface="ＭＳ Ｐゴシック" panose="020B0600070205080204" pitchFamily="34" charset="-128"/>
              </a:rPr>
              <a:t> deal with non-linearities and non-normalities.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Algorithms work better if these problems are handled.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2">
            <a:extLst>
              <a:ext uri="{FF2B5EF4-FFF2-40B4-BE49-F238E27FC236}">
                <a16:creationId xmlns:a16="http://schemas.microsoft.com/office/drawing/2014/main" id="{DA59E5AC-14EC-9274-9CD6-4985068BE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Improve interpretability </a:t>
            </a:r>
            <a:r>
              <a:rPr lang="it-IT" altLang="ja-JP" sz="4000">
                <a:ea typeface="ＭＳ Ｐゴシック" panose="020B0600070205080204" pitchFamily="34" charset="-128"/>
              </a:rPr>
              <a:t>`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55650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E6CF6DF4-5C05-06DD-752D-C1B22BBF99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 Linear transformations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			1€ = 1936.27 Lit.</a:t>
            </a:r>
          </a:p>
          <a:p>
            <a:pPr lvl="1" eaLnBrk="1" hangingPunct="1"/>
            <a:r>
              <a:rPr lang="it-IT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p=1, a= 1936.27 ,b =0</a:t>
            </a:r>
          </a:p>
          <a:p>
            <a:pPr eaLnBrk="1" hangingPunct="1">
              <a:buFont typeface="Wingdings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		</a:t>
            </a:r>
          </a:p>
          <a:p>
            <a:pPr eaLnBrk="1" hangingPunct="1">
              <a:buFont typeface="Wingdings" pitchFamily="2" charset="2"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			ºC= 5/9(ºF -32)</a:t>
            </a:r>
          </a:p>
          <a:p>
            <a:pPr lvl="1" eaLnBrk="1" hangingPunct="1"/>
            <a:r>
              <a:rPr lang="it-IT" altLang="it-IT" i="1">
                <a:latin typeface="Times New Roman" panose="02020603050405020304" pitchFamily="18" charset="0"/>
                <a:ea typeface="ＭＳ Ｐゴシック" panose="020B0600070205080204" pitchFamily="34" charset="-128"/>
              </a:rPr>
              <a:t>p = 1, a = 5/9, b = -160/9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5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3BC02B6B-F040-DA4F-C8BD-AC95817259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495800"/>
          </a:xfrm>
        </p:spPr>
        <p:txBody>
          <a:bodyPr/>
          <a:lstStyle/>
          <a:p>
            <a:pPr eaLnBrk="1" hangingPunct="1"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min-max normalization</a:t>
            </a:r>
          </a:p>
          <a:p>
            <a:pPr lvl="1" eaLnBrk="1" hangingPunct="1">
              <a:buFont typeface="Arial" charset="0"/>
              <a:buChar char="–"/>
              <a:defRPr/>
            </a:pPr>
            <a:endParaRPr lang="en-US" dirty="0"/>
          </a:p>
          <a:p>
            <a:pPr lvl="1" eaLnBrk="1" hangingPunct="1">
              <a:buFont typeface="Arial" charset="0"/>
              <a:buChar char="–"/>
              <a:defRPr/>
            </a:pPr>
            <a:endParaRPr lang="en-US" dirty="0"/>
          </a:p>
          <a:p>
            <a:pPr eaLnBrk="1" hangingPunct="1"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z-score normalization</a:t>
            </a:r>
          </a:p>
          <a:p>
            <a:pPr lvl="1" eaLnBrk="1" hangingPunct="1">
              <a:buFont typeface="Arial" charset="0"/>
              <a:buChar char="–"/>
              <a:defRPr/>
            </a:pPr>
            <a:endParaRPr lang="en-US" dirty="0"/>
          </a:p>
          <a:p>
            <a:pPr lvl="1" eaLnBrk="1" hangingPunct="1">
              <a:buFont typeface="Arial" charset="0"/>
              <a:buChar char="–"/>
              <a:defRPr/>
            </a:pPr>
            <a:endParaRPr lang="en-US" dirty="0"/>
          </a:p>
          <a:p>
            <a:pPr eaLnBrk="1" hangingPunct="1"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normalization with decimal scaling</a:t>
            </a:r>
          </a:p>
          <a:p>
            <a:pPr lvl="1" eaLnBrk="1" hangingPunct="1">
              <a:buFont typeface="Arial" charset="0"/>
              <a:buChar char="–"/>
              <a:defRPr/>
            </a:pPr>
            <a:endParaRPr lang="en-US" dirty="0"/>
          </a:p>
          <a:p>
            <a:pPr lvl="1" eaLnBrk="1" hangingPunct="1">
              <a:buFont typeface="Wingdings" charset="0"/>
              <a:buNone/>
              <a:defRPr/>
            </a:pPr>
            <a:endParaRPr lang="en-US" dirty="0"/>
          </a:p>
        </p:txBody>
      </p:sp>
      <p:sp>
        <p:nvSpPr>
          <p:cNvPr id="509954" name="Rectangle 2">
            <a:extLst>
              <a:ext uri="{FF2B5EF4-FFF2-40B4-BE49-F238E27FC236}">
                <a16:creationId xmlns:a16="http://schemas.microsoft.com/office/drawing/2014/main" id="{89DC1E23-D9CA-B721-6A17-C69D7352C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-381000"/>
            <a:ext cx="50927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Normalization</a:t>
            </a:r>
          </a:p>
        </p:txBody>
      </p:sp>
      <p:graphicFrame>
        <p:nvGraphicFramePr>
          <p:cNvPr id="157699" name="Object 4">
            <a:extLst>
              <a:ext uri="{FF2B5EF4-FFF2-40B4-BE49-F238E27FC236}">
                <a16:creationId xmlns:a16="http://schemas.microsoft.com/office/drawing/2014/main" id="{B047827F-8D5A-FDBC-8EA5-833AD3CA3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209800"/>
          <a:ext cx="73215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949300" imgH="9067800" progId="Equation.3">
                  <p:embed/>
                </p:oleObj>
              </mc:Choice>
              <mc:Fallback>
                <p:oleObj name="Equation" r:id="rId2" imgW="76949300" imgH="9067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09800"/>
                        <a:ext cx="73215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5">
            <a:extLst>
              <a:ext uri="{FF2B5EF4-FFF2-40B4-BE49-F238E27FC236}">
                <a16:creationId xmlns:a16="http://schemas.microsoft.com/office/drawing/2014/main" id="{6EE61E92-E432-D92B-B9F3-2D5F77B5C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657600"/>
          <a:ext cx="3048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98200" imgH="9652000" progId="Equation.3">
                  <p:embed/>
                </p:oleObj>
              </mc:Choice>
              <mc:Fallback>
                <p:oleObj name="Equation" r:id="rId4" imgW="23698200" imgH="9652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657600"/>
                        <a:ext cx="3048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1" name="Object 6">
            <a:extLst>
              <a:ext uri="{FF2B5EF4-FFF2-40B4-BE49-F238E27FC236}">
                <a16:creationId xmlns:a16="http://schemas.microsoft.com/office/drawing/2014/main" id="{8488B06E-22C6-6F82-8CC7-8BD28B2EB6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953000"/>
          <a:ext cx="10668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04600" imgH="9067800" progId="Equation.3">
                  <p:embed/>
                </p:oleObj>
              </mc:Choice>
              <mc:Fallback>
                <p:oleObj name="Equation" r:id="rId6" imgW="11404600" imgH="9067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953000"/>
                        <a:ext cx="10668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2" name="Object 7">
            <a:extLst>
              <a:ext uri="{FF2B5EF4-FFF2-40B4-BE49-F238E27FC236}">
                <a16:creationId xmlns:a16="http://schemas.microsoft.com/office/drawing/2014/main" id="{4F990960-5E81-97D6-EE5B-09BFC857AB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3210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8900" imgH="4978400" progId="Equation.3">
                  <p:embed/>
                </p:oleObj>
              </mc:Choice>
              <mc:Fallback>
                <p:oleObj name="Equation" r:id="rId8" imgW="2628900" imgH="497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3" name="Text Box 8">
            <a:extLst>
              <a:ext uri="{FF2B5EF4-FFF2-40B4-BE49-F238E27FC236}">
                <a16:creationId xmlns:a16="http://schemas.microsoft.com/office/drawing/2014/main" id="{C63EBC4E-1673-5C5B-A568-F80EE86E6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181600"/>
            <a:ext cx="6126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it-IT" sz="2000">
                <a:latin typeface="Times New Roman" panose="02020603050405020304" pitchFamily="18" charset="0"/>
              </a:rPr>
              <a:t>dove </a:t>
            </a:r>
            <a:r>
              <a:rPr lang="en-US" altLang="it-IT" sz="2000" i="1">
                <a:latin typeface="Times New Roman" panose="02020603050405020304" pitchFamily="18" charset="0"/>
              </a:rPr>
              <a:t>j</a:t>
            </a:r>
            <a:r>
              <a:rPr lang="en-US" altLang="it-IT" sz="2000">
                <a:latin typeface="Times New Roman" panose="02020603050405020304" pitchFamily="18" charset="0"/>
              </a:rPr>
              <a:t> è il più piccolo intero tale che Max(|     |)&lt;1</a:t>
            </a:r>
            <a:endParaRPr lang="en-US" altLang="it-IT" sz="2400">
              <a:latin typeface="Times New Roman" panose="02020603050405020304" pitchFamily="18" charset="0"/>
            </a:endParaRPr>
          </a:p>
        </p:txBody>
      </p:sp>
      <p:graphicFrame>
        <p:nvGraphicFramePr>
          <p:cNvPr id="157704" name="Object 9">
            <a:extLst>
              <a:ext uri="{FF2B5EF4-FFF2-40B4-BE49-F238E27FC236}">
                <a16:creationId xmlns:a16="http://schemas.microsoft.com/office/drawing/2014/main" id="{642412E2-615B-2715-6ABD-B63C282089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5157788"/>
          <a:ext cx="32067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13100" imgH="4102100" progId="Equation.3">
                  <p:embed/>
                </p:oleObj>
              </mc:Choice>
              <mc:Fallback>
                <p:oleObj name="Equation" r:id="rId10" imgW="3213100" imgH="4102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5157788"/>
                        <a:ext cx="32067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hecker dir="vert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544B9268-4B1E-6719-8F0B-38F1B2F87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Logaritmic transformation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Applies to positive values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homogenises variances of 'long tail' distributions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E.g.: normalises seasonal peaks</a:t>
            </a:r>
          </a:p>
        </p:txBody>
      </p:sp>
      <p:sp>
        <p:nvSpPr>
          <p:cNvPr id="437250" name="Rectangle 2">
            <a:extLst>
              <a:ext uri="{FF2B5EF4-FFF2-40B4-BE49-F238E27FC236}">
                <a16:creationId xmlns:a16="http://schemas.microsoft.com/office/drawing/2014/main" id="{A286EE44-4971-8A69-81D8-26AD2F587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4000" dirty="0" err="1">
                <a:cs typeface="+mj-cs"/>
              </a:rPr>
              <a:t>Variance</a:t>
            </a:r>
            <a:r>
              <a:rPr lang="it-IT" sz="4000" dirty="0">
                <a:cs typeface="+mj-cs"/>
              </a:rPr>
              <a:t> </a:t>
            </a:r>
            <a:r>
              <a:rPr lang="it-IT" sz="4000" dirty="0" err="1">
                <a:cs typeface="+mj-cs"/>
              </a:rPr>
              <a:t>stabilisation</a:t>
            </a:r>
            <a:endParaRPr lang="it-IT" dirty="0">
              <a:cs typeface="+mj-cs"/>
            </a:endParaRPr>
          </a:p>
        </p:txBody>
      </p:sp>
      <p:graphicFrame>
        <p:nvGraphicFramePr>
          <p:cNvPr id="158723" name="Object 4">
            <a:extLst>
              <a:ext uri="{FF2B5EF4-FFF2-40B4-BE49-F238E27FC236}">
                <a16:creationId xmlns:a16="http://schemas.microsoft.com/office/drawing/2014/main" id="{4A03895A-4856-E0F0-2CE4-C06A37A554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1905000"/>
          <a:ext cx="28225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58700" imgH="4686300" progId="Equation.3">
                  <p:embed/>
                </p:oleObj>
              </mc:Choice>
              <mc:Fallback>
                <p:oleObj name="Equation" r:id="rId3" imgW="25158700" imgH="4686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05000"/>
                        <a:ext cx="28225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>
            <a:extLst>
              <a:ext uri="{FF2B5EF4-FFF2-40B4-BE49-F238E27FC236}">
                <a16:creationId xmlns:a16="http://schemas.microsoft.com/office/drawing/2014/main" id="{8D8E1BFD-7791-24C1-BA75-07EA2591F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/>
          <a:lstStyle/>
          <a:p>
            <a:pPr eaLnBrk="1" hangingPunct="1">
              <a:defRPr/>
            </a:pPr>
            <a:r>
              <a:rPr lang="it-IT" sz="4000" dirty="0" err="1">
                <a:cs typeface="+mj-cs"/>
              </a:rPr>
              <a:t>Logarithmic</a:t>
            </a:r>
            <a:r>
              <a:rPr lang="it-IT" sz="4000" dirty="0">
                <a:cs typeface="+mj-cs"/>
              </a:rPr>
              <a:t> </a:t>
            </a:r>
            <a:r>
              <a:rPr lang="it-IT" sz="4000" dirty="0" err="1">
                <a:cs typeface="+mj-cs"/>
              </a:rPr>
              <a:t>transformation</a:t>
            </a:r>
            <a:endParaRPr lang="it-IT" dirty="0">
              <a:cs typeface="+mj-cs"/>
            </a:endParaRPr>
          </a:p>
        </p:txBody>
      </p:sp>
      <p:graphicFrame>
        <p:nvGraphicFramePr>
          <p:cNvPr id="160770" name="Object 3">
            <a:extLst>
              <a:ext uri="{FF2B5EF4-FFF2-40B4-BE49-F238E27FC236}">
                <a16:creationId xmlns:a16="http://schemas.microsoft.com/office/drawing/2014/main" id="{8BF8F327-293D-E0E9-D79B-6FDAAFC76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1828800"/>
          <a:ext cx="4572000" cy="252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3" imgW="3136900" imgH="1549400" progId="Excel.Sheet.8">
                  <p:embed/>
                </p:oleObj>
              </mc:Choice>
              <mc:Fallback>
                <p:oleObj name="Foglio di lavoro" r:id="rId3" imgW="3136900" imgH="15494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828800"/>
                        <a:ext cx="4572000" cy="252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1" name="Text Box 4">
            <a:extLst>
              <a:ext uri="{FF2B5EF4-FFF2-40B4-BE49-F238E27FC236}">
                <a16:creationId xmlns:a16="http://schemas.microsoft.com/office/drawing/2014/main" id="{988D0B01-49C5-24FA-9E15-D6C6874FF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5013325"/>
            <a:ext cx="33972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itchFamily="2" charset="2"/>
              <a:buChar char="u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it-IT"/>
              <a:t>Too sparse data!!!</a:t>
            </a:r>
          </a:p>
        </p:txBody>
      </p:sp>
      <p:graphicFrame>
        <p:nvGraphicFramePr>
          <p:cNvPr id="160772" name="Object 5">
            <a:extLst>
              <a:ext uri="{FF2B5EF4-FFF2-40B4-BE49-F238E27FC236}">
                <a16:creationId xmlns:a16="http://schemas.microsoft.com/office/drawing/2014/main" id="{858148D6-F6DF-CC1B-71F6-06BE52F8AB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752600"/>
          <a:ext cx="3292475" cy="396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5" imgW="2794000" imgH="3213100" progId="Excel.Sheet.8">
                  <p:embed/>
                </p:oleObj>
              </mc:Choice>
              <mc:Fallback>
                <p:oleObj name="Foglio di lavoro" r:id="rId5" imgW="2794000" imgH="3213100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52600"/>
                        <a:ext cx="3292475" cy="396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>
            <a:extLst>
              <a:ext uri="{FF2B5EF4-FFF2-40B4-BE49-F238E27FC236}">
                <a16:creationId xmlns:a16="http://schemas.microsoft.com/office/drawing/2014/main" id="{B5A57213-27FA-966B-1F90-2F16E4DBB7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6400" y="-381000"/>
            <a:ext cx="8128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it-IT" sz="4000" dirty="0" err="1"/>
              <a:t>Logarithmic</a:t>
            </a:r>
            <a:r>
              <a:rPr lang="it-IT" sz="4000" dirty="0"/>
              <a:t> </a:t>
            </a:r>
            <a:r>
              <a:rPr lang="it-IT" sz="4000" dirty="0" err="1"/>
              <a:t>transformation</a:t>
            </a:r>
            <a:endParaRPr lang="it-IT" dirty="0">
              <a:cs typeface="+mj-cs"/>
            </a:endParaRPr>
          </a:p>
        </p:txBody>
      </p:sp>
      <p:graphicFrame>
        <p:nvGraphicFramePr>
          <p:cNvPr id="162818" name="Object 3">
            <a:extLst>
              <a:ext uri="{FF2B5EF4-FFF2-40B4-BE49-F238E27FC236}">
                <a16:creationId xmlns:a16="http://schemas.microsoft.com/office/drawing/2014/main" id="{0FF61E9C-CF77-BB12-3A12-C0227AE50D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752600"/>
          <a:ext cx="3371850" cy="384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124200" imgH="3213100" progId="Excel.Sheet.8">
                  <p:embed/>
                </p:oleObj>
              </mc:Choice>
              <mc:Fallback>
                <p:oleObj name="Worksheet" r:id="rId3" imgW="3124200" imgH="3213100" progId="Excel.Shee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52600"/>
                        <a:ext cx="3371850" cy="384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819" name="Object 4">
            <a:extLst>
              <a:ext uri="{FF2B5EF4-FFF2-40B4-BE49-F238E27FC236}">
                <a16:creationId xmlns:a16="http://schemas.microsoft.com/office/drawing/2014/main" id="{60473290-3C52-542A-ACB6-162D1680D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1905000"/>
          <a:ext cx="4419600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glio di lavoro" r:id="rId5" imgW="3060700" imgH="1549400" progId="Excel.Sheet.8">
                  <p:embed/>
                </p:oleObj>
              </mc:Choice>
              <mc:Fallback>
                <p:oleObj name="Foglio di lavoro" r:id="rId5" imgW="3060700" imgH="154940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905000"/>
                        <a:ext cx="4419600" cy="250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it-IT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it-IT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2F56ABDEDC3044B30E8C8676A91964" ma:contentTypeVersion="3" ma:contentTypeDescription="Create a new document." ma:contentTypeScope="" ma:versionID="60f18a3f8ed5c10c259d19238dccd45b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b28c83e30bba9edc264006bde1afadf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FDA3F45-665A-46BF-A7FE-19A98C9CAB1A}"/>
</file>

<file path=customXml/itemProps2.xml><?xml version="1.0" encoding="utf-8"?>
<ds:datastoreItem xmlns:ds="http://schemas.openxmlformats.org/officeDocument/2006/customXml" ds:itemID="{30CC8DC0-5C42-404A-8D73-576746D6BAAB}"/>
</file>

<file path=customXml/itemProps3.xml><?xml version="1.0" encoding="utf-8"?>
<ds:datastoreItem xmlns:ds="http://schemas.openxmlformats.org/officeDocument/2006/customXml" ds:itemID="{2EF011C4-E6FB-4F5E-ACEA-94A26A32BE76}"/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146489577</TotalTime>
  <Pages>3</Pages>
  <Words>4644</Words>
  <Application>Microsoft Macintosh PowerPoint</Application>
  <PresentationFormat>Presentazione su schermo (4:3)</PresentationFormat>
  <Paragraphs>665</Paragraphs>
  <Slides>118</Slides>
  <Notes>57</Notes>
  <HiddenSlides>3</HiddenSlides>
  <MMClips>0</MMClips>
  <ScaleCrop>false</ScaleCrop>
  <HeadingPairs>
    <vt:vector size="8" baseType="variant">
      <vt:variant>
        <vt:lpstr>Caratteri utilizzati</vt:lpstr>
      </vt:variant>
      <vt:variant>
        <vt:i4>12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8</vt:i4>
      </vt:variant>
      <vt:variant>
        <vt:lpstr>Titoli diapositive</vt:lpstr>
      </vt:variant>
      <vt:variant>
        <vt:i4>118</vt:i4>
      </vt:variant>
    </vt:vector>
  </HeadingPairs>
  <TitlesOfParts>
    <vt:vector size="139" baseType="lpstr">
      <vt:lpstr>ＭＳ Ｐゴシック</vt:lpstr>
      <vt:lpstr>Arial</vt:lpstr>
      <vt:lpstr>Calibri</vt:lpstr>
      <vt:lpstr>CMSS10</vt:lpstr>
      <vt:lpstr>Comic Sans MS</vt:lpstr>
      <vt:lpstr>Gill Sans</vt:lpstr>
      <vt:lpstr>Gill Sans MT</vt:lpstr>
      <vt:lpstr>Monotype Sorts</vt:lpstr>
      <vt:lpstr>Symbol</vt:lpstr>
      <vt:lpstr>Tahoma</vt:lpstr>
      <vt:lpstr>Times New Roman</vt:lpstr>
      <vt:lpstr>Wingdings</vt:lpstr>
      <vt:lpstr>LC.BRev.FY97</vt:lpstr>
      <vt:lpstr>Document</vt:lpstr>
      <vt:lpstr>VISIO</vt:lpstr>
      <vt:lpstr>Visio</vt:lpstr>
      <vt:lpstr>Documento</vt:lpstr>
      <vt:lpstr>Excel.Chart.8</vt:lpstr>
      <vt:lpstr>Equation</vt:lpstr>
      <vt:lpstr>Foglio di lavoro</vt:lpstr>
      <vt:lpstr>Worksheet</vt:lpstr>
      <vt:lpstr>Introduction to MACHINE LEARNING: module 1 The basics of data Science. </vt:lpstr>
      <vt:lpstr>Data Preparation &amp; Exploration</vt:lpstr>
      <vt:lpstr>Getting To Know Your Data </vt:lpstr>
      <vt:lpstr>Data</vt:lpstr>
      <vt:lpstr>What is Data?</vt:lpstr>
      <vt:lpstr>Types of Attributes </vt:lpstr>
      <vt:lpstr>Properties of Attribute Values </vt:lpstr>
      <vt:lpstr>Presentazione standard di PowerPoint</vt:lpstr>
      <vt:lpstr>Presentazione standard di PowerPoint</vt:lpstr>
      <vt:lpstr>Types of data sets </vt:lpstr>
      <vt:lpstr>Record (Tabular)  Data </vt:lpstr>
      <vt:lpstr>Data Matrix (vectors) </vt:lpstr>
      <vt:lpstr>Document Data</vt:lpstr>
      <vt:lpstr>Transaction Data</vt:lpstr>
      <vt:lpstr>Graph Data </vt:lpstr>
      <vt:lpstr>Ordered Data </vt:lpstr>
      <vt:lpstr>Ordered Data </vt:lpstr>
      <vt:lpstr>Ordered Data</vt:lpstr>
      <vt:lpstr>Types of Attributes </vt:lpstr>
      <vt:lpstr>Types of Attributes </vt:lpstr>
      <vt:lpstr>Discrete and Continuous Attributes </vt:lpstr>
      <vt:lpstr>Properties of Attribute Values </vt:lpstr>
      <vt:lpstr>Presentazione standard di PowerPoint</vt:lpstr>
      <vt:lpstr>Data Quality </vt:lpstr>
      <vt:lpstr>Data Quality …</vt:lpstr>
      <vt:lpstr>Data exploration</vt:lpstr>
      <vt:lpstr>What is data exploration?</vt:lpstr>
      <vt:lpstr>Data exploration – understanding </vt:lpstr>
      <vt:lpstr>Questions in data understanding</vt:lpstr>
      <vt:lpstr>Visualization</vt:lpstr>
      <vt:lpstr>Data visualization</vt:lpstr>
      <vt:lpstr>Data Visualization</vt:lpstr>
      <vt:lpstr>Observing Data Distribution</vt:lpstr>
      <vt:lpstr>Example</vt:lpstr>
      <vt:lpstr>Arrangement</vt:lpstr>
      <vt:lpstr>Example: Sea Surface Temperature</vt:lpstr>
      <vt:lpstr>Bar charts for categorical attributes</vt:lpstr>
      <vt:lpstr>Histograms for Numerical Attributes</vt:lpstr>
      <vt:lpstr>Histograms: number of bins</vt:lpstr>
      <vt:lpstr>Histograms: number of bins</vt:lpstr>
      <vt:lpstr>Measuring the Central Tendency</vt:lpstr>
      <vt:lpstr>Measuring the Dispersion of Data </vt:lpstr>
      <vt:lpstr>Measuring the Dispersion of Data </vt:lpstr>
      <vt:lpstr>Box Plot: Five-number summary of a distribution</vt:lpstr>
      <vt:lpstr>Reminder: quantiles, median, quartiles</vt:lpstr>
      <vt:lpstr>Iris Sample Data Set  </vt:lpstr>
      <vt:lpstr>Boxplots</vt:lpstr>
      <vt:lpstr>Boxplots</vt:lpstr>
      <vt:lpstr>Boxplots</vt:lpstr>
      <vt:lpstr>Boxplots</vt:lpstr>
      <vt:lpstr>Boxplots</vt:lpstr>
      <vt:lpstr>Histograms Often Tell More than Boxplots </vt:lpstr>
      <vt:lpstr>Scatter Plot</vt:lpstr>
      <vt:lpstr>Scatter Plot</vt:lpstr>
      <vt:lpstr>Scatter plots</vt:lpstr>
      <vt:lpstr>Scatter plots</vt:lpstr>
      <vt:lpstr>Scatter plots</vt:lpstr>
      <vt:lpstr>3D scatter plots</vt:lpstr>
      <vt:lpstr>Higher-dimensional data</vt:lpstr>
      <vt:lpstr>Visualization as a Test</vt:lpstr>
      <vt:lpstr>Parallel Coordinates</vt:lpstr>
      <vt:lpstr>Parallel coordinates</vt:lpstr>
      <vt:lpstr>Radar plots</vt:lpstr>
      <vt:lpstr>Star plots</vt:lpstr>
      <vt:lpstr>Correlation Analysis</vt:lpstr>
      <vt:lpstr>Correlation analysis</vt:lpstr>
      <vt:lpstr>Pearson’s correlation coefficient</vt:lpstr>
      <vt:lpstr>Pearson’s correlation coefficient</vt:lpstr>
      <vt:lpstr>Visualization of the Iris Correlation Matrix</vt:lpstr>
      <vt:lpstr>Spearman’s rank correlation coefficient</vt:lpstr>
      <vt:lpstr>Spearman’s rank correlation coefficient</vt:lpstr>
      <vt:lpstr>Checklist for data understanding</vt:lpstr>
      <vt:lpstr>Checklist for data understanding: MUST DO</vt:lpstr>
      <vt:lpstr>Data Quality </vt:lpstr>
      <vt:lpstr>Noise</vt:lpstr>
      <vt:lpstr>Outliers</vt:lpstr>
      <vt:lpstr>Outlier Detection</vt:lpstr>
      <vt:lpstr>Missing Values</vt:lpstr>
      <vt:lpstr>Duplicate Data</vt:lpstr>
      <vt:lpstr>Data preparation</vt:lpstr>
      <vt:lpstr>Data Preprocessing</vt:lpstr>
      <vt:lpstr>Aggregation</vt:lpstr>
      <vt:lpstr>Aggregation</vt:lpstr>
      <vt:lpstr>Sampling </vt:lpstr>
      <vt:lpstr>Sampling … </vt:lpstr>
      <vt:lpstr>Types of Sampling</vt:lpstr>
      <vt:lpstr>Sample Size</vt:lpstr>
      <vt:lpstr>Sample Size</vt:lpstr>
      <vt:lpstr>Curse of Dimensionality</vt:lpstr>
      <vt:lpstr>Dimensionality Reduction</vt:lpstr>
      <vt:lpstr>Dimensionality Reduction: PCA</vt:lpstr>
      <vt:lpstr>Dimensionality Reduction: PCA</vt:lpstr>
      <vt:lpstr>Dimensionality Reduction: PCA</vt:lpstr>
      <vt:lpstr>Feature Subset Selection</vt:lpstr>
      <vt:lpstr>Feature Subset Selection</vt:lpstr>
      <vt:lpstr>Feature Creation</vt:lpstr>
      <vt:lpstr>Discretization</vt:lpstr>
      <vt:lpstr>Disxcretization: why?</vt:lpstr>
      <vt:lpstr>Unsupervised Discretization</vt:lpstr>
      <vt:lpstr>Discretization of quantitative attributes</vt:lpstr>
      <vt:lpstr>How to choose intervals?</vt:lpstr>
      <vt:lpstr>Natural Binning</vt:lpstr>
      <vt:lpstr>Example</vt:lpstr>
      <vt:lpstr>Equal Frequency Binning</vt:lpstr>
      <vt:lpstr>Example</vt:lpstr>
      <vt:lpstr>How many intervals?</vt:lpstr>
      <vt:lpstr>Discretization</vt:lpstr>
      <vt:lpstr>Supervised Discretization</vt:lpstr>
      <vt:lpstr>Attribute Transformation</vt:lpstr>
      <vt:lpstr>Data Transformation</vt:lpstr>
      <vt:lpstr>Data transformation</vt:lpstr>
      <vt:lpstr>GOALS</vt:lpstr>
      <vt:lpstr>Why normality, linearity, etc? </vt:lpstr>
      <vt:lpstr>Improve interpretability `</vt:lpstr>
      <vt:lpstr>Normalization</vt:lpstr>
      <vt:lpstr>Variance stabilisation</vt:lpstr>
      <vt:lpstr>Logarithmic transformation</vt:lpstr>
      <vt:lpstr>Logarithmic transformation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subject/>
  <dc:creator>Computations</dc:creator>
  <cp:keywords/>
  <dc:description/>
  <cp:lastModifiedBy>FG-ITALY</cp:lastModifiedBy>
  <cp:revision>370</cp:revision>
  <cp:lastPrinted>2001-08-28T17:59:37Z</cp:lastPrinted>
  <dcterms:created xsi:type="dcterms:W3CDTF">1998-03-18T13:44:31Z</dcterms:created>
  <dcterms:modified xsi:type="dcterms:W3CDTF">2026-03-03T09:08:43Z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