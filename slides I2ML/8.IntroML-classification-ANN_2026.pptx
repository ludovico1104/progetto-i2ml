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4" r:id="rId4"/>
  </p:sldMasterIdLst>
  <p:notesMasterIdLst>
    <p:notesMasterId r:id="rId161"/>
  </p:notesMasterIdLst>
  <p:handoutMasterIdLst>
    <p:handoutMasterId r:id="rId162"/>
  </p:handoutMasterIdLst>
  <p:sldIdLst>
    <p:sldId id="1168" r:id="rId5"/>
    <p:sldId id="1223" r:id="rId6"/>
    <p:sldId id="1305" r:id="rId7"/>
    <p:sldId id="1333" r:id="rId8"/>
    <p:sldId id="1340" r:id="rId9"/>
    <p:sldId id="259" r:id="rId10"/>
    <p:sldId id="1341" r:id="rId11"/>
    <p:sldId id="1342" r:id="rId12"/>
    <p:sldId id="1343" r:id="rId13"/>
    <p:sldId id="269" r:id="rId14"/>
    <p:sldId id="1345" r:id="rId15"/>
    <p:sldId id="1346" r:id="rId16"/>
    <p:sldId id="1347" r:id="rId17"/>
    <p:sldId id="1348" r:id="rId18"/>
    <p:sldId id="1344" r:id="rId19"/>
    <p:sldId id="1349" r:id="rId20"/>
    <p:sldId id="1350" r:id="rId21"/>
    <p:sldId id="1304" r:id="rId22"/>
    <p:sldId id="582" r:id="rId23"/>
    <p:sldId id="583" r:id="rId24"/>
    <p:sldId id="584" r:id="rId25"/>
    <p:sldId id="331" r:id="rId26"/>
    <p:sldId id="456" r:id="rId27"/>
    <p:sldId id="1196" r:id="rId28"/>
    <p:sldId id="1300" r:id="rId29"/>
    <p:sldId id="1301" r:id="rId30"/>
    <p:sldId id="587" r:id="rId31"/>
    <p:sldId id="1302" r:id="rId32"/>
    <p:sldId id="589" r:id="rId33"/>
    <p:sldId id="1303" r:id="rId34"/>
    <p:sldId id="1201" r:id="rId35"/>
    <p:sldId id="1172" r:id="rId36"/>
    <p:sldId id="1175" r:id="rId37"/>
    <p:sldId id="1179" r:id="rId38"/>
    <p:sldId id="1180" r:id="rId39"/>
    <p:sldId id="1181" r:id="rId40"/>
    <p:sldId id="1182" r:id="rId41"/>
    <p:sldId id="1183" r:id="rId42"/>
    <p:sldId id="1191" r:id="rId43"/>
    <p:sldId id="1192" r:id="rId44"/>
    <p:sldId id="1184" r:id="rId45"/>
    <p:sldId id="1185" r:id="rId46"/>
    <p:sldId id="1186" r:id="rId47"/>
    <p:sldId id="1187" r:id="rId48"/>
    <p:sldId id="1334" r:id="rId49"/>
    <p:sldId id="1335" r:id="rId50"/>
    <p:sldId id="1336" r:id="rId51"/>
    <p:sldId id="1193" r:id="rId52"/>
    <p:sldId id="1337" r:id="rId53"/>
    <p:sldId id="1338" r:id="rId54"/>
    <p:sldId id="1339" r:id="rId55"/>
    <p:sldId id="1197" r:id="rId56"/>
    <p:sldId id="590" r:id="rId57"/>
    <p:sldId id="1306" r:id="rId58"/>
    <p:sldId id="679" r:id="rId59"/>
    <p:sldId id="1307" r:id="rId60"/>
    <p:sldId id="1308" r:id="rId61"/>
    <p:sldId id="678" r:id="rId62"/>
    <p:sldId id="1309" r:id="rId63"/>
    <p:sldId id="593" r:id="rId64"/>
    <p:sldId id="1386" r:id="rId65"/>
    <p:sldId id="585" r:id="rId66"/>
    <p:sldId id="1198" r:id="rId67"/>
    <p:sldId id="1310" r:id="rId68"/>
    <p:sldId id="1311" r:id="rId69"/>
    <p:sldId id="1312" r:id="rId70"/>
    <p:sldId id="1313" r:id="rId71"/>
    <p:sldId id="1314" r:id="rId72"/>
    <p:sldId id="1315" r:id="rId73"/>
    <p:sldId id="1260" r:id="rId74"/>
    <p:sldId id="1262" r:id="rId75"/>
    <p:sldId id="1263" r:id="rId76"/>
    <p:sldId id="1316" r:id="rId77"/>
    <p:sldId id="595" r:id="rId78"/>
    <p:sldId id="1388" r:id="rId79"/>
    <p:sldId id="1389" r:id="rId80"/>
    <p:sldId id="596" r:id="rId81"/>
    <p:sldId id="1264" r:id="rId82"/>
    <p:sldId id="597" r:id="rId83"/>
    <p:sldId id="1164" r:id="rId84"/>
    <p:sldId id="1275" r:id="rId85"/>
    <p:sldId id="1292" r:id="rId86"/>
    <p:sldId id="1390" r:id="rId87"/>
    <p:sldId id="1317" r:id="rId88"/>
    <p:sldId id="1351" r:id="rId89"/>
    <p:sldId id="1352" r:id="rId90"/>
    <p:sldId id="1353" r:id="rId91"/>
    <p:sldId id="1354" r:id="rId92"/>
    <p:sldId id="1355" r:id="rId93"/>
    <p:sldId id="1356" r:id="rId94"/>
    <p:sldId id="1357" r:id="rId95"/>
    <p:sldId id="1319" r:id="rId96"/>
    <p:sldId id="1320" r:id="rId97"/>
    <p:sldId id="1321" r:id="rId98"/>
    <p:sldId id="1322" r:id="rId99"/>
    <p:sldId id="1323" r:id="rId100"/>
    <p:sldId id="1324" r:id="rId101"/>
    <p:sldId id="1327" r:id="rId102"/>
    <p:sldId id="1325" r:id="rId103"/>
    <p:sldId id="1328" r:id="rId104"/>
    <p:sldId id="1329" r:id="rId105"/>
    <p:sldId id="1330" r:id="rId106"/>
    <p:sldId id="1358" r:id="rId107"/>
    <p:sldId id="1332" r:id="rId108"/>
    <p:sldId id="1359" r:id="rId109"/>
    <p:sldId id="1360" r:id="rId110"/>
    <p:sldId id="1361" r:id="rId111"/>
    <p:sldId id="1362" r:id="rId112"/>
    <p:sldId id="1363" r:id="rId113"/>
    <p:sldId id="1364" r:id="rId114"/>
    <p:sldId id="1365" r:id="rId115"/>
    <p:sldId id="1366" r:id="rId116"/>
    <p:sldId id="1367" r:id="rId117"/>
    <p:sldId id="1368" r:id="rId118"/>
    <p:sldId id="1369" r:id="rId119"/>
    <p:sldId id="1370" r:id="rId120"/>
    <p:sldId id="1371" r:id="rId121"/>
    <p:sldId id="1372" r:id="rId122"/>
    <p:sldId id="1373" r:id="rId123"/>
    <p:sldId id="1374" r:id="rId124"/>
    <p:sldId id="1375" r:id="rId125"/>
    <p:sldId id="1376" r:id="rId126"/>
    <p:sldId id="1377" r:id="rId127"/>
    <p:sldId id="1378" r:id="rId128"/>
    <p:sldId id="1379" r:id="rId129"/>
    <p:sldId id="1380" r:id="rId130"/>
    <p:sldId id="1381" r:id="rId131"/>
    <p:sldId id="1382" r:id="rId132"/>
    <p:sldId id="1383" r:id="rId133"/>
    <p:sldId id="1384" r:id="rId134"/>
    <p:sldId id="1385" r:id="rId135"/>
    <p:sldId id="481" r:id="rId136"/>
    <p:sldId id="1259" r:id="rId137"/>
    <p:sldId id="598" r:id="rId138"/>
    <p:sldId id="599" r:id="rId139"/>
    <p:sldId id="1293" r:id="rId140"/>
    <p:sldId id="478" r:id="rId141"/>
    <p:sldId id="480" r:id="rId142"/>
    <p:sldId id="475" r:id="rId143"/>
    <p:sldId id="1294" r:id="rId144"/>
    <p:sldId id="477" r:id="rId145"/>
    <p:sldId id="419" r:id="rId146"/>
    <p:sldId id="420" r:id="rId147"/>
    <p:sldId id="1295" r:id="rId148"/>
    <p:sldId id="1296" r:id="rId149"/>
    <p:sldId id="332" r:id="rId150"/>
    <p:sldId id="333" r:id="rId151"/>
    <p:sldId id="334" r:id="rId152"/>
    <p:sldId id="1318" r:id="rId153"/>
    <p:sldId id="1297" r:id="rId154"/>
    <p:sldId id="1387" r:id="rId155"/>
    <p:sldId id="1176" r:id="rId156"/>
    <p:sldId id="1177" r:id="rId157"/>
    <p:sldId id="1221" r:id="rId158"/>
    <p:sldId id="1222" r:id="rId159"/>
    <p:sldId id="1331" r:id="rId160"/>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193"/>
    <a:srgbClr val="0096FF"/>
    <a:srgbClr val="00FB92"/>
    <a:srgbClr val="FF2F92"/>
    <a:srgbClr val="FF8AD8"/>
    <a:srgbClr val="FF85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Stile chi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2DE63D5-997A-4646-A377-4702673A728D}" styleName="Stile chiaro 2 - Colore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93D81CF-94F2-401A-BA57-92F5A7B2D0C5}" styleName="Stile medio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6708" autoAdjust="0"/>
    <p:restoredTop sz="86452" autoAdjust="0"/>
  </p:normalViewPr>
  <p:slideViewPr>
    <p:cSldViewPr snapToGrid="0" snapToObjects="1">
      <p:cViewPr>
        <p:scale>
          <a:sx n="148" d="100"/>
          <a:sy n="148" d="100"/>
        </p:scale>
        <p:origin x="752" y="2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45" d="100"/>
        <a:sy n="145" d="100"/>
      </p:scale>
      <p:origin x="0" y="0"/>
    </p:cViewPr>
  </p:sorterViewPr>
  <p:notesViewPr>
    <p:cSldViewPr snapToGrid="0" snapToObjects="1">
      <p:cViewPr varScale="1">
        <p:scale>
          <a:sx n="80" d="100"/>
          <a:sy n="80" d="100"/>
        </p:scale>
        <p:origin x="-3462"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40" Type="http://schemas.openxmlformats.org/officeDocument/2006/relationships/slide" Target="slides/slide136.xml"/><Relationship Id="rId145" Type="http://schemas.openxmlformats.org/officeDocument/2006/relationships/slide" Target="slides/slide141.xml"/><Relationship Id="rId161" Type="http://schemas.openxmlformats.org/officeDocument/2006/relationships/notesMaster" Target="notesMasters/notesMaster1.xml"/><Relationship Id="rId16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51" Type="http://schemas.openxmlformats.org/officeDocument/2006/relationships/slide" Target="slides/slide147.xml"/><Relationship Id="rId156" Type="http://schemas.openxmlformats.org/officeDocument/2006/relationships/slide" Target="slides/slide152.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openxmlformats.org/officeDocument/2006/relationships/slide" Target="slides/slide14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162" Type="http://schemas.openxmlformats.org/officeDocument/2006/relationships/handoutMaster" Target="handoutMasters/handoutMaster1.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157" Type="http://schemas.openxmlformats.org/officeDocument/2006/relationships/slide" Target="slides/slide153.xml"/><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slide" Target="slides/slide14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presProps" Target="presProps.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theme" Target="theme/theme1.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1BA908-2374-4336-9F74-89846C788B6B}" type="doc">
      <dgm:prSet loTypeId="urn:microsoft.com/office/officeart/2005/8/layout/venn2" loCatId="relationship" qsTypeId="urn:microsoft.com/office/officeart/2005/8/quickstyle/simple1" qsCatId="simple" csTypeId="urn:microsoft.com/office/officeart/2005/8/colors/accent1_2" csCatId="accent1" phldr="1"/>
      <dgm:spPr/>
      <dgm:t>
        <a:bodyPr/>
        <a:lstStyle/>
        <a:p>
          <a:endParaRPr lang="en-US"/>
        </a:p>
      </dgm:t>
    </dgm:pt>
    <dgm:pt modelId="{4653B218-6B4D-45BE-BB59-029D8B44A375}">
      <dgm:prSet phldrT="[Text]" custT="1"/>
      <dgm:spPr>
        <a:solidFill>
          <a:srgbClr val="002060"/>
        </a:solidFill>
      </dgm:spPr>
      <dgm:t>
        <a:bodyPr/>
        <a:lstStyle/>
        <a:p>
          <a:r>
            <a:rPr lang="en-US" sz="2400" dirty="0">
              <a:effectLst>
                <a:outerShdw blurRad="38100" dist="38100" dir="2700000" algn="tl">
                  <a:srgbClr val="000000">
                    <a:alpha val="43137"/>
                  </a:srgbClr>
                </a:outerShdw>
              </a:effectLst>
            </a:rPr>
            <a:t>AI</a:t>
          </a:r>
        </a:p>
      </dgm:t>
    </dgm:pt>
    <dgm:pt modelId="{F99CE114-2382-49A6-AE49-C735E84A254B}" type="parTrans" cxnId="{46E88898-6C4A-4FA5-AB88-42AE45904DF7}">
      <dgm:prSet/>
      <dgm:spPr/>
      <dgm:t>
        <a:bodyPr/>
        <a:lstStyle/>
        <a:p>
          <a:endParaRPr lang="en-US"/>
        </a:p>
      </dgm:t>
    </dgm:pt>
    <dgm:pt modelId="{F4EF125E-1AB8-40F5-9647-693341AD4631}" type="sibTrans" cxnId="{46E88898-6C4A-4FA5-AB88-42AE45904DF7}">
      <dgm:prSet/>
      <dgm:spPr/>
      <dgm:t>
        <a:bodyPr/>
        <a:lstStyle/>
        <a:p>
          <a:endParaRPr lang="en-US"/>
        </a:p>
      </dgm:t>
    </dgm:pt>
    <dgm:pt modelId="{850CF9E5-2CFC-4A5B-9F28-9033550A06E5}">
      <dgm:prSet phldrT="[Text]" custT="1"/>
      <dgm:spPr>
        <a:solidFill>
          <a:srgbClr val="00B050"/>
        </a:solidFill>
      </dgm:spPr>
      <dgm:t>
        <a:bodyPr/>
        <a:lstStyle/>
        <a:p>
          <a:r>
            <a:rPr lang="en-US" sz="2000" dirty="0">
              <a:effectLst>
                <a:outerShdw blurRad="38100" dist="38100" dir="2700000" algn="tl">
                  <a:srgbClr val="000000">
                    <a:alpha val="43137"/>
                  </a:srgbClr>
                </a:outerShdw>
              </a:effectLst>
            </a:rPr>
            <a:t>Machine Learning</a:t>
          </a:r>
        </a:p>
      </dgm:t>
    </dgm:pt>
    <dgm:pt modelId="{D139CD15-13D1-4CFF-A1CA-443FD25458CE}" type="parTrans" cxnId="{98BC2CB7-DCC8-402A-8A7F-2CB4A7FFA358}">
      <dgm:prSet/>
      <dgm:spPr/>
      <dgm:t>
        <a:bodyPr/>
        <a:lstStyle/>
        <a:p>
          <a:endParaRPr lang="en-US"/>
        </a:p>
      </dgm:t>
    </dgm:pt>
    <dgm:pt modelId="{0BDFFFD3-C2B3-470A-92B1-698BFB0FDE0E}" type="sibTrans" cxnId="{98BC2CB7-DCC8-402A-8A7F-2CB4A7FFA358}">
      <dgm:prSet/>
      <dgm:spPr/>
      <dgm:t>
        <a:bodyPr/>
        <a:lstStyle/>
        <a:p>
          <a:endParaRPr lang="en-US"/>
        </a:p>
      </dgm:t>
    </dgm:pt>
    <dgm:pt modelId="{F969F0CB-385D-44AF-8C5C-93464CFF6EAA}">
      <dgm:prSet phldrT="[Text]" custT="1"/>
      <dgm:spPr>
        <a:solidFill>
          <a:schemeClr val="accent1">
            <a:lumMod val="75000"/>
          </a:schemeClr>
        </a:solidFill>
      </dgm:spPr>
      <dgm:t>
        <a:bodyPr/>
        <a:lstStyle/>
        <a:p>
          <a:r>
            <a:rPr lang="en-US" sz="2000">
              <a:effectLst>
                <a:outerShdw blurRad="38100" dist="38100" dir="2700000" algn="tl">
                  <a:srgbClr val="000000">
                    <a:alpha val="43137"/>
                  </a:srgbClr>
                </a:outerShdw>
              </a:effectLst>
            </a:rPr>
            <a:t>Repres.</a:t>
          </a:r>
          <a:endParaRPr lang="en-US" sz="2000" dirty="0">
            <a:effectLst>
              <a:outerShdw blurRad="38100" dist="38100" dir="2700000" algn="tl">
                <a:srgbClr val="000000">
                  <a:alpha val="43137"/>
                </a:srgbClr>
              </a:outerShdw>
            </a:effectLst>
          </a:endParaRPr>
        </a:p>
        <a:p>
          <a:r>
            <a:rPr lang="en-US" sz="2000" dirty="0">
              <a:effectLst>
                <a:outerShdw blurRad="38100" dist="38100" dir="2700000" algn="tl">
                  <a:srgbClr val="000000">
                    <a:alpha val="43137"/>
                  </a:srgbClr>
                </a:outerShdw>
              </a:effectLst>
            </a:rPr>
            <a:t>Learning</a:t>
          </a:r>
        </a:p>
      </dgm:t>
    </dgm:pt>
    <dgm:pt modelId="{05712B62-6AC5-4E8E-A213-50E40AE11F2D}" type="parTrans" cxnId="{8CC0CB3F-1120-4EDA-91D0-BB8F7332CBF8}">
      <dgm:prSet/>
      <dgm:spPr/>
      <dgm:t>
        <a:bodyPr/>
        <a:lstStyle/>
        <a:p>
          <a:endParaRPr lang="en-US"/>
        </a:p>
      </dgm:t>
    </dgm:pt>
    <dgm:pt modelId="{AA04207A-592C-47E1-B1CF-783853A21C63}" type="sibTrans" cxnId="{8CC0CB3F-1120-4EDA-91D0-BB8F7332CBF8}">
      <dgm:prSet/>
      <dgm:spPr/>
      <dgm:t>
        <a:bodyPr/>
        <a:lstStyle/>
        <a:p>
          <a:endParaRPr lang="en-US"/>
        </a:p>
      </dgm:t>
    </dgm:pt>
    <dgm:pt modelId="{FB67B53A-09BE-4417-B0C8-A8ADDC705980}">
      <dgm:prSet phldrT="[Text]" custT="1"/>
      <dgm:spPr>
        <a:solidFill>
          <a:srgbClr val="E21310"/>
        </a:solidFill>
      </dgm:spPr>
      <dgm:t>
        <a:bodyPr/>
        <a:lstStyle/>
        <a:p>
          <a:r>
            <a:rPr lang="en-US" sz="2000" dirty="0">
              <a:effectLst>
                <a:outerShdw blurRad="38100" dist="38100" dir="2700000" algn="tl">
                  <a:srgbClr val="000000">
                    <a:alpha val="43137"/>
                  </a:srgbClr>
                </a:outerShdw>
              </a:effectLst>
            </a:rPr>
            <a:t>Deep Learning</a:t>
          </a:r>
        </a:p>
      </dgm:t>
    </dgm:pt>
    <dgm:pt modelId="{07A6B8C1-CEF8-4075-9D23-72AEEB65B8FF}" type="parTrans" cxnId="{1904D63F-7717-4CC2-8593-87BA72428F5D}">
      <dgm:prSet/>
      <dgm:spPr/>
      <dgm:t>
        <a:bodyPr/>
        <a:lstStyle/>
        <a:p>
          <a:endParaRPr lang="en-US"/>
        </a:p>
      </dgm:t>
    </dgm:pt>
    <dgm:pt modelId="{F8535FB8-4B0B-4AF9-B6CC-8CB12A5F8CC9}" type="sibTrans" cxnId="{1904D63F-7717-4CC2-8593-87BA72428F5D}">
      <dgm:prSet/>
      <dgm:spPr/>
      <dgm:t>
        <a:bodyPr/>
        <a:lstStyle/>
        <a:p>
          <a:endParaRPr lang="en-US"/>
        </a:p>
      </dgm:t>
    </dgm:pt>
    <dgm:pt modelId="{C9E13135-37FE-45B0-93B5-5548382B7027}" type="pres">
      <dgm:prSet presAssocID="{1B1BA908-2374-4336-9F74-89846C788B6B}" presName="Name0" presStyleCnt="0">
        <dgm:presLayoutVars>
          <dgm:chMax val="7"/>
          <dgm:resizeHandles val="exact"/>
        </dgm:presLayoutVars>
      </dgm:prSet>
      <dgm:spPr/>
    </dgm:pt>
    <dgm:pt modelId="{8215224A-F470-4096-BC2A-B62B66E2A17D}" type="pres">
      <dgm:prSet presAssocID="{1B1BA908-2374-4336-9F74-89846C788B6B}" presName="comp1" presStyleCnt="0"/>
      <dgm:spPr/>
    </dgm:pt>
    <dgm:pt modelId="{82C4109D-0F4D-439B-AE89-86560272CA5A}" type="pres">
      <dgm:prSet presAssocID="{1B1BA908-2374-4336-9F74-89846C788B6B}" presName="circle1" presStyleLbl="node1" presStyleIdx="0" presStyleCnt="4" custLinFactNeighborY="17949"/>
      <dgm:spPr/>
    </dgm:pt>
    <dgm:pt modelId="{F176B58E-E761-423E-A1AE-5111D8EA37D9}" type="pres">
      <dgm:prSet presAssocID="{1B1BA908-2374-4336-9F74-89846C788B6B}" presName="c1text" presStyleLbl="node1" presStyleIdx="0" presStyleCnt="4">
        <dgm:presLayoutVars>
          <dgm:bulletEnabled val="1"/>
        </dgm:presLayoutVars>
      </dgm:prSet>
      <dgm:spPr/>
    </dgm:pt>
    <dgm:pt modelId="{7F54315A-6A53-4F7B-AC88-593F201C3E54}" type="pres">
      <dgm:prSet presAssocID="{1B1BA908-2374-4336-9F74-89846C788B6B}" presName="comp2" presStyleCnt="0"/>
      <dgm:spPr/>
    </dgm:pt>
    <dgm:pt modelId="{D74F41CF-BA11-4FFA-9111-CB26B6944618}" type="pres">
      <dgm:prSet presAssocID="{1B1BA908-2374-4336-9F74-89846C788B6B}" presName="circle2" presStyleLbl="node1" presStyleIdx="1" presStyleCnt="4"/>
      <dgm:spPr/>
    </dgm:pt>
    <dgm:pt modelId="{FC370811-9E1E-4166-8399-AEE733E8B416}" type="pres">
      <dgm:prSet presAssocID="{1B1BA908-2374-4336-9F74-89846C788B6B}" presName="c2text" presStyleLbl="node1" presStyleIdx="1" presStyleCnt="4">
        <dgm:presLayoutVars>
          <dgm:bulletEnabled val="1"/>
        </dgm:presLayoutVars>
      </dgm:prSet>
      <dgm:spPr/>
    </dgm:pt>
    <dgm:pt modelId="{FA248F81-1B72-445A-93F3-23C22DA32335}" type="pres">
      <dgm:prSet presAssocID="{1B1BA908-2374-4336-9F74-89846C788B6B}" presName="comp3" presStyleCnt="0"/>
      <dgm:spPr/>
    </dgm:pt>
    <dgm:pt modelId="{4DDED1BF-F01F-4FCB-8F1F-BBA0526E0A30}" type="pres">
      <dgm:prSet presAssocID="{1B1BA908-2374-4336-9F74-89846C788B6B}" presName="circle3" presStyleLbl="node1" presStyleIdx="2" presStyleCnt="4"/>
      <dgm:spPr/>
    </dgm:pt>
    <dgm:pt modelId="{8E3E6020-AA98-402D-9A5A-6BD0ACA38AF5}" type="pres">
      <dgm:prSet presAssocID="{1B1BA908-2374-4336-9F74-89846C788B6B}" presName="c3text" presStyleLbl="node1" presStyleIdx="2" presStyleCnt="4">
        <dgm:presLayoutVars>
          <dgm:bulletEnabled val="1"/>
        </dgm:presLayoutVars>
      </dgm:prSet>
      <dgm:spPr/>
    </dgm:pt>
    <dgm:pt modelId="{3AC81805-AFD0-4316-86C7-8AEF9A4DAA65}" type="pres">
      <dgm:prSet presAssocID="{1B1BA908-2374-4336-9F74-89846C788B6B}" presName="comp4" presStyleCnt="0"/>
      <dgm:spPr/>
    </dgm:pt>
    <dgm:pt modelId="{07EFDE8D-C74A-4972-9192-0D589AA5E152}" type="pres">
      <dgm:prSet presAssocID="{1B1BA908-2374-4336-9F74-89846C788B6B}" presName="circle4" presStyleLbl="node1" presStyleIdx="3" presStyleCnt="4"/>
      <dgm:spPr/>
    </dgm:pt>
    <dgm:pt modelId="{2318A161-C834-4AC7-96E0-F37462A733C2}" type="pres">
      <dgm:prSet presAssocID="{1B1BA908-2374-4336-9F74-89846C788B6B}" presName="c4text" presStyleLbl="node1" presStyleIdx="3" presStyleCnt="4">
        <dgm:presLayoutVars>
          <dgm:bulletEnabled val="1"/>
        </dgm:presLayoutVars>
      </dgm:prSet>
      <dgm:spPr/>
    </dgm:pt>
  </dgm:ptLst>
  <dgm:cxnLst>
    <dgm:cxn modelId="{41918318-CC86-4857-9AE6-393F1C1FF8B2}" type="presOf" srcId="{850CF9E5-2CFC-4A5B-9F28-9033550A06E5}" destId="{D74F41CF-BA11-4FFA-9111-CB26B6944618}" srcOrd="0" destOrd="0" presId="urn:microsoft.com/office/officeart/2005/8/layout/venn2"/>
    <dgm:cxn modelId="{8CC0CB3F-1120-4EDA-91D0-BB8F7332CBF8}" srcId="{1B1BA908-2374-4336-9F74-89846C788B6B}" destId="{F969F0CB-385D-44AF-8C5C-93464CFF6EAA}" srcOrd="2" destOrd="0" parTransId="{05712B62-6AC5-4E8E-A213-50E40AE11F2D}" sibTransId="{AA04207A-592C-47E1-B1CF-783853A21C63}"/>
    <dgm:cxn modelId="{1904D63F-7717-4CC2-8593-87BA72428F5D}" srcId="{1B1BA908-2374-4336-9F74-89846C788B6B}" destId="{FB67B53A-09BE-4417-B0C8-A8ADDC705980}" srcOrd="3" destOrd="0" parTransId="{07A6B8C1-CEF8-4075-9D23-72AEEB65B8FF}" sibTransId="{F8535FB8-4B0B-4AF9-B6CC-8CB12A5F8CC9}"/>
    <dgm:cxn modelId="{4ED4A753-13DB-4394-8599-DA166401F210}" type="presOf" srcId="{850CF9E5-2CFC-4A5B-9F28-9033550A06E5}" destId="{FC370811-9E1E-4166-8399-AEE733E8B416}" srcOrd="1" destOrd="0" presId="urn:microsoft.com/office/officeart/2005/8/layout/venn2"/>
    <dgm:cxn modelId="{96C2B45B-D1E0-47C8-8D31-2DF027EB543A}" type="presOf" srcId="{FB67B53A-09BE-4417-B0C8-A8ADDC705980}" destId="{07EFDE8D-C74A-4972-9192-0D589AA5E152}" srcOrd="0" destOrd="0" presId="urn:microsoft.com/office/officeart/2005/8/layout/venn2"/>
    <dgm:cxn modelId="{D60EDE5C-434D-4A9C-8185-D92F816FDEE8}" type="presOf" srcId="{FB67B53A-09BE-4417-B0C8-A8ADDC705980}" destId="{2318A161-C834-4AC7-96E0-F37462A733C2}" srcOrd="1" destOrd="0" presId="urn:microsoft.com/office/officeart/2005/8/layout/venn2"/>
    <dgm:cxn modelId="{CBEC5B66-6AD3-4F67-A1DF-0BC55B4EEF00}" type="presOf" srcId="{F969F0CB-385D-44AF-8C5C-93464CFF6EAA}" destId="{8E3E6020-AA98-402D-9A5A-6BD0ACA38AF5}" srcOrd="1" destOrd="0" presId="urn:microsoft.com/office/officeart/2005/8/layout/venn2"/>
    <dgm:cxn modelId="{BDE28E72-CFD9-4E94-8D13-430B0134AD8E}" type="presOf" srcId="{4653B218-6B4D-45BE-BB59-029D8B44A375}" destId="{F176B58E-E761-423E-A1AE-5111D8EA37D9}" srcOrd="1" destOrd="0" presId="urn:microsoft.com/office/officeart/2005/8/layout/venn2"/>
    <dgm:cxn modelId="{1F45A181-A06F-4451-9428-DF0453D08C12}" type="presOf" srcId="{1B1BA908-2374-4336-9F74-89846C788B6B}" destId="{C9E13135-37FE-45B0-93B5-5548382B7027}" srcOrd="0" destOrd="0" presId="urn:microsoft.com/office/officeart/2005/8/layout/venn2"/>
    <dgm:cxn modelId="{46E88898-6C4A-4FA5-AB88-42AE45904DF7}" srcId="{1B1BA908-2374-4336-9F74-89846C788B6B}" destId="{4653B218-6B4D-45BE-BB59-029D8B44A375}" srcOrd="0" destOrd="0" parTransId="{F99CE114-2382-49A6-AE49-C735E84A254B}" sibTransId="{F4EF125E-1AB8-40F5-9647-693341AD4631}"/>
    <dgm:cxn modelId="{AAF38499-B173-48DE-AE06-9FF069FC4637}" type="presOf" srcId="{4653B218-6B4D-45BE-BB59-029D8B44A375}" destId="{82C4109D-0F4D-439B-AE89-86560272CA5A}" srcOrd="0" destOrd="0" presId="urn:microsoft.com/office/officeart/2005/8/layout/venn2"/>
    <dgm:cxn modelId="{98BC2CB7-DCC8-402A-8A7F-2CB4A7FFA358}" srcId="{1B1BA908-2374-4336-9F74-89846C788B6B}" destId="{850CF9E5-2CFC-4A5B-9F28-9033550A06E5}" srcOrd="1" destOrd="0" parTransId="{D139CD15-13D1-4CFF-A1CA-443FD25458CE}" sibTransId="{0BDFFFD3-C2B3-470A-92B1-698BFB0FDE0E}"/>
    <dgm:cxn modelId="{CDE28CF8-698C-4315-9906-A141C57C0137}" type="presOf" srcId="{F969F0CB-385D-44AF-8C5C-93464CFF6EAA}" destId="{4DDED1BF-F01F-4FCB-8F1F-BBA0526E0A30}" srcOrd="0" destOrd="0" presId="urn:microsoft.com/office/officeart/2005/8/layout/venn2"/>
    <dgm:cxn modelId="{35D05A56-7C3B-40D1-9080-3D70536F1AD5}" type="presParOf" srcId="{C9E13135-37FE-45B0-93B5-5548382B7027}" destId="{8215224A-F470-4096-BC2A-B62B66E2A17D}" srcOrd="0" destOrd="0" presId="urn:microsoft.com/office/officeart/2005/8/layout/venn2"/>
    <dgm:cxn modelId="{B81F51B8-04B5-481D-953F-6501EFADA01A}" type="presParOf" srcId="{8215224A-F470-4096-BC2A-B62B66E2A17D}" destId="{82C4109D-0F4D-439B-AE89-86560272CA5A}" srcOrd="0" destOrd="0" presId="urn:microsoft.com/office/officeart/2005/8/layout/venn2"/>
    <dgm:cxn modelId="{C51813A1-5860-44D5-9503-88F3E5F31477}" type="presParOf" srcId="{8215224A-F470-4096-BC2A-B62B66E2A17D}" destId="{F176B58E-E761-423E-A1AE-5111D8EA37D9}" srcOrd="1" destOrd="0" presId="urn:microsoft.com/office/officeart/2005/8/layout/venn2"/>
    <dgm:cxn modelId="{E9E62E03-B1D8-4B9E-8F6F-D21F9430598D}" type="presParOf" srcId="{C9E13135-37FE-45B0-93B5-5548382B7027}" destId="{7F54315A-6A53-4F7B-AC88-593F201C3E54}" srcOrd="1" destOrd="0" presId="urn:microsoft.com/office/officeart/2005/8/layout/venn2"/>
    <dgm:cxn modelId="{3CB8FF80-442C-4304-B73C-1B9413ABBCD1}" type="presParOf" srcId="{7F54315A-6A53-4F7B-AC88-593F201C3E54}" destId="{D74F41CF-BA11-4FFA-9111-CB26B6944618}" srcOrd="0" destOrd="0" presId="urn:microsoft.com/office/officeart/2005/8/layout/venn2"/>
    <dgm:cxn modelId="{2D3D011E-ABA7-4D94-AF5A-954709D10F74}" type="presParOf" srcId="{7F54315A-6A53-4F7B-AC88-593F201C3E54}" destId="{FC370811-9E1E-4166-8399-AEE733E8B416}" srcOrd="1" destOrd="0" presId="urn:microsoft.com/office/officeart/2005/8/layout/venn2"/>
    <dgm:cxn modelId="{E5CCB266-DE36-4A1C-925E-B271B4F731E0}" type="presParOf" srcId="{C9E13135-37FE-45B0-93B5-5548382B7027}" destId="{FA248F81-1B72-445A-93F3-23C22DA32335}" srcOrd="2" destOrd="0" presId="urn:microsoft.com/office/officeart/2005/8/layout/venn2"/>
    <dgm:cxn modelId="{628F80E6-E187-45E4-B627-BA599B751895}" type="presParOf" srcId="{FA248F81-1B72-445A-93F3-23C22DA32335}" destId="{4DDED1BF-F01F-4FCB-8F1F-BBA0526E0A30}" srcOrd="0" destOrd="0" presId="urn:microsoft.com/office/officeart/2005/8/layout/venn2"/>
    <dgm:cxn modelId="{9FAA5908-EE58-4485-BF49-C9B55BCD029F}" type="presParOf" srcId="{FA248F81-1B72-445A-93F3-23C22DA32335}" destId="{8E3E6020-AA98-402D-9A5A-6BD0ACA38AF5}" srcOrd="1" destOrd="0" presId="urn:microsoft.com/office/officeart/2005/8/layout/venn2"/>
    <dgm:cxn modelId="{65627822-2DEA-461A-9699-46B4B3581351}" type="presParOf" srcId="{C9E13135-37FE-45B0-93B5-5548382B7027}" destId="{3AC81805-AFD0-4316-86C7-8AEF9A4DAA65}" srcOrd="3" destOrd="0" presId="urn:microsoft.com/office/officeart/2005/8/layout/venn2"/>
    <dgm:cxn modelId="{F062435E-2DB4-4EEA-B4DB-C2E067426730}" type="presParOf" srcId="{3AC81805-AFD0-4316-86C7-8AEF9A4DAA65}" destId="{07EFDE8D-C74A-4972-9192-0D589AA5E152}" srcOrd="0" destOrd="0" presId="urn:microsoft.com/office/officeart/2005/8/layout/venn2"/>
    <dgm:cxn modelId="{F70BF9E4-19CF-42DA-B300-5A3000C7B127}" type="presParOf" srcId="{3AC81805-AFD0-4316-86C7-8AEF9A4DAA65}" destId="{2318A161-C834-4AC7-96E0-F37462A733C2}" srcOrd="1" destOrd="0" presId="urn:microsoft.com/office/officeart/2005/8/layout/ven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C4109D-0F4D-439B-AE89-86560272CA5A}">
      <dsp:nvSpPr>
        <dsp:cNvPr id="0" name=""/>
        <dsp:cNvSpPr/>
      </dsp:nvSpPr>
      <dsp:spPr>
        <a:xfrm>
          <a:off x="573883" y="0"/>
          <a:ext cx="4245447" cy="4245447"/>
        </a:xfrm>
        <a:prstGeom prst="ellipse">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effectLst>
                <a:outerShdw blurRad="38100" dist="38100" dir="2700000" algn="tl">
                  <a:srgbClr val="000000">
                    <a:alpha val="43137"/>
                  </a:srgbClr>
                </a:outerShdw>
              </a:effectLst>
            </a:rPr>
            <a:t>AI</a:t>
          </a:r>
        </a:p>
      </dsp:txBody>
      <dsp:txXfrm>
        <a:off x="2103094" y="212272"/>
        <a:ext cx="1187026" cy="636817"/>
      </dsp:txXfrm>
    </dsp:sp>
    <dsp:sp modelId="{D74F41CF-BA11-4FFA-9111-CB26B6944618}">
      <dsp:nvSpPr>
        <dsp:cNvPr id="0" name=""/>
        <dsp:cNvSpPr/>
      </dsp:nvSpPr>
      <dsp:spPr>
        <a:xfrm>
          <a:off x="998428" y="849089"/>
          <a:ext cx="3396357" cy="3396357"/>
        </a:xfrm>
        <a:prstGeom prst="ellipse">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effectLst>
                <a:outerShdw blurRad="38100" dist="38100" dir="2700000" algn="tl">
                  <a:srgbClr val="000000">
                    <a:alpha val="43137"/>
                  </a:srgbClr>
                </a:outerShdw>
              </a:effectLst>
            </a:rPr>
            <a:t>Machine Learning</a:t>
          </a:r>
        </a:p>
      </dsp:txBody>
      <dsp:txXfrm>
        <a:off x="2103094" y="1052870"/>
        <a:ext cx="1187026" cy="611344"/>
      </dsp:txXfrm>
    </dsp:sp>
    <dsp:sp modelId="{4DDED1BF-F01F-4FCB-8F1F-BBA0526E0A30}">
      <dsp:nvSpPr>
        <dsp:cNvPr id="0" name=""/>
        <dsp:cNvSpPr/>
      </dsp:nvSpPr>
      <dsp:spPr>
        <a:xfrm>
          <a:off x="1422973" y="1698178"/>
          <a:ext cx="2547268" cy="2547268"/>
        </a:xfrm>
        <a:prstGeom prst="ellipse">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a:effectLst>
                <a:outerShdw blurRad="38100" dist="38100" dir="2700000" algn="tl">
                  <a:srgbClr val="000000">
                    <a:alpha val="43137"/>
                  </a:srgbClr>
                </a:outerShdw>
              </a:effectLst>
            </a:rPr>
            <a:t>Repres.</a:t>
          </a:r>
          <a:endParaRPr lang="en-US" sz="2000" kern="1200" dirty="0">
            <a:effectLst>
              <a:outerShdw blurRad="38100" dist="38100" dir="2700000" algn="tl">
                <a:srgbClr val="000000">
                  <a:alpha val="43137"/>
                </a:srgbClr>
              </a:outerShdw>
            </a:effectLst>
          </a:endParaRPr>
        </a:p>
        <a:p>
          <a:pPr marL="0" lvl="0" indent="0" algn="ctr" defTabSz="889000">
            <a:lnSpc>
              <a:spcPct val="90000"/>
            </a:lnSpc>
            <a:spcBef>
              <a:spcPct val="0"/>
            </a:spcBef>
            <a:spcAft>
              <a:spcPct val="35000"/>
            </a:spcAft>
            <a:buNone/>
          </a:pPr>
          <a:r>
            <a:rPr lang="en-US" sz="2000" kern="1200" dirty="0">
              <a:effectLst>
                <a:outerShdw blurRad="38100" dist="38100" dir="2700000" algn="tl">
                  <a:srgbClr val="000000">
                    <a:alpha val="43137"/>
                  </a:srgbClr>
                </a:outerShdw>
              </a:effectLst>
            </a:rPr>
            <a:t>Learning</a:t>
          </a:r>
        </a:p>
      </dsp:txBody>
      <dsp:txXfrm>
        <a:off x="2103094" y="1889223"/>
        <a:ext cx="1187026" cy="573135"/>
      </dsp:txXfrm>
    </dsp:sp>
    <dsp:sp modelId="{07EFDE8D-C74A-4972-9192-0D589AA5E152}">
      <dsp:nvSpPr>
        <dsp:cNvPr id="0" name=""/>
        <dsp:cNvSpPr/>
      </dsp:nvSpPr>
      <dsp:spPr>
        <a:xfrm>
          <a:off x="1847518" y="2547268"/>
          <a:ext cx="1698178" cy="1698178"/>
        </a:xfrm>
        <a:prstGeom prst="ellipse">
          <a:avLst/>
        </a:prstGeom>
        <a:solidFill>
          <a:srgbClr val="E2131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effectLst>
                <a:outerShdw blurRad="38100" dist="38100" dir="2700000" algn="tl">
                  <a:srgbClr val="000000">
                    <a:alpha val="43137"/>
                  </a:srgbClr>
                </a:outerShdw>
              </a:effectLst>
            </a:rPr>
            <a:t>Deep Learning</a:t>
          </a:r>
        </a:p>
      </dsp:txBody>
      <dsp:txXfrm>
        <a:off x="2096210" y="2971812"/>
        <a:ext cx="1200793" cy="849089"/>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24F6E6D-E6D8-4C83-A38E-BFB06991A8DA}" type="datetimeFigureOut">
              <a:rPr lang="en-US" smtClean="0"/>
              <a:t>4/20/26</a:t>
            </a:fld>
            <a:endParaRPr lang="en-US"/>
          </a:p>
        </p:txBody>
      </p:sp>
      <p:sp>
        <p:nvSpPr>
          <p:cNvPr id="4" name="Espace réservé du pied de page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Espace réservé du numéro de diapositiv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1E01FBA-0126-406C-BE32-94E8E08112CC}" type="slidenum">
              <a:rPr lang="en-US" smtClean="0"/>
              <a:t>‹N›</a:t>
            </a:fld>
            <a:endParaRPr lang="en-US"/>
          </a:p>
        </p:txBody>
      </p:sp>
    </p:spTree>
    <p:extLst>
      <p:ext uri="{BB962C8B-B14F-4D97-AF65-F5344CB8AC3E}">
        <p14:creationId xmlns:p14="http://schemas.microsoft.com/office/powerpoint/2010/main" val="49149041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7AB91D-D08F-F14D-AE19-84E96A5339C3}" type="datetimeFigureOut">
              <a:rPr lang="en-US" smtClean="0"/>
              <a:t>4/20/26</a:t>
            </a:fld>
            <a:endParaRPr lang="en-US"/>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lang="it-IT"/>
              <a:t>Modifica gli stili del testo dello schema
Secondo livello
Terzo livello
Quarto livello
Quinto livello</a:t>
            </a:r>
            <a:endParaRPr lang="en-US"/>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F71684-922B-C647-B005-6CA642B2C4B1}" type="slidenum">
              <a:rPr lang="en-US" smtClean="0"/>
              <a:t>‹N›</a:t>
            </a:fld>
            <a:endParaRPr lang="en-US"/>
          </a:p>
        </p:txBody>
      </p:sp>
    </p:spTree>
    <p:extLst>
      <p:ext uri="{BB962C8B-B14F-4D97-AF65-F5344CB8AC3E}">
        <p14:creationId xmlns:p14="http://schemas.microsoft.com/office/powerpoint/2010/main" val="2270924045"/>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Tree>
    <p:extLst>
      <p:ext uri="{BB962C8B-B14F-4D97-AF65-F5344CB8AC3E}">
        <p14:creationId xmlns:p14="http://schemas.microsoft.com/office/powerpoint/2010/main" val="4208847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Tree>
    <p:extLst>
      <p:ext uri="{BB962C8B-B14F-4D97-AF65-F5344CB8AC3E}">
        <p14:creationId xmlns:p14="http://schemas.microsoft.com/office/powerpoint/2010/main" val="24115981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The </a:t>
            </a:r>
            <a:r>
              <a:rPr lang="it-IT" dirty="0" err="1"/>
              <a:t>study</a:t>
            </a:r>
            <a:r>
              <a:rPr lang="it-IT" dirty="0"/>
              <a:t> of ANN </a:t>
            </a:r>
            <a:r>
              <a:rPr lang="it-IT" dirty="0" err="1"/>
              <a:t>was</a:t>
            </a:r>
            <a:r>
              <a:rPr lang="it-IT" dirty="0"/>
              <a:t> </a:t>
            </a:r>
            <a:r>
              <a:rPr lang="it-IT" dirty="0" err="1"/>
              <a:t>inspired</a:t>
            </a:r>
            <a:r>
              <a:rPr lang="it-IT" dirty="0"/>
              <a:t> by </a:t>
            </a:r>
            <a:r>
              <a:rPr lang="it-IT" dirty="0" err="1"/>
              <a:t>attempts</a:t>
            </a:r>
            <a:r>
              <a:rPr lang="it-IT" dirty="0"/>
              <a:t> to simulate </a:t>
            </a:r>
            <a:r>
              <a:rPr lang="it-IT" dirty="0" err="1"/>
              <a:t>biological</a:t>
            </a:r>
            <a:r>
              <a:rPr lang="it-IT" dirty="0"/>
              <a:t> </a:t>
            </a:r>
            <a:r>
              <a:rPr lang="it-IT" dirty="0" err="1"/>
              <a:t>neural</a:t>
            </a:r>
            <a:r>
              <a:rPr lang="it-IT" dirty="0"/>
              <a:t> </a:t>
            </a:r>
            <a:r>
              <a:rPr lang="it-IT" dirty="0" err="1"/>
              <a:t>systems</a:t>
            </a:r>
            <a:r>
              <a:rPr lang="it-IT" dirty="0"/>
              <a:t>. </a:t>
            </a:r>
          </a:p>
          <a:p>
            <a:r>
              <a:rPr lang="it-IT" dirty="0" err="1"/>
              <a:t>Neurons</a:t>
            </a:r>
            <a:r>
              <a:rPr lang="it-IT" dirty="0"/>
              <a:t> are </a:t>
            </a:r>
            <a:r>
              <a:rPr lang="it-IT" dirty="0" err="1"/>
              <a:t>linked</a:t>
            </a:r>
            <a:r>
              <a:rPr lang="it-IT" dirty="0"/>
              <a:t> </a:t>
            </a:r>
            <a:r>
              <a:rPr lang="it-IT" dirty="0" err="1"/>
              <a:t>through</a:t>
            </a:r>
            <a:r>
              <a:rPr lang="it-IT" dirty="0"/>
              <a:t> </a:t>
            </a:r>
            <a:r>
              <a:rPr lang="it-IT" dirty="0" err="1"/>
              <a:t>axons</a:t>
            </a:r>
            <a:r>
              <a:rPr lang="it-IT" dirty="0"/>
              <a:t> </a:t>
            </a:r>
            <a:r>
              <a:rPr lang="it-IT" dirty="0" err="1"/>
              <a:t>that</a:t>
            </a:r>
            <a:r>
              <a:rPr lang="it-IT" dirty="0"/>
              <a:t> </a:t>
            </a:r>
            <a:r>
              <a:rPr lang="it-IT" dirty="0" err="1"/>
              <a:t>tarnsmits</a:t>
            </a:r>
            <a:r>
              <a:rPr lang="it-IT" dirty="0"/>
              <a:t> </a:t>
            </a:r>
            <a:r>
              <a:rPr lang="it-IT" dirty="0" err="1"/>
              <a:t>nerve</a:t>
            </a:r>
            <a:r>
              <a:rPr lang="it-IT" dirty="0"/>
              <a:t> </a:t>
            </a:r>
            <a:r>
              <a:rPr lang="it-IT" dirty="0" err="1"/>
              <a:t>inpulses</a:t>
            </a:r>
            <a:r>
              <a:rPr lang="it-IT" dirty="0"/>
              <a:t> </a:t>
            </a:r>
            <a:r>
              <a:rPr lang="it-IT" dirty="0" err="1"/>
              <a:t>when</a:t>
            </a:r>
            <a:r>
              <a:rPr lang="it-IT" dirty="0"/>
              <a:t> </a:t>
            </a:r>
            <a:r>
              <a:rPr lang="it-IT" dirty="0" err="1"/>
              <a:t>stimulated</a:t>
            </a:r>
            <a:r>
              <a:rPr lang="it-IT" dirty="0"/>
              <a:t>.</a:t>
            </a:r>
          </a:p>
          <a:p>
            <a:r>
              <a:rPr lang="it-IT" dirty="0"/>
              <a:t> A </a:t>
            </a:r>
            <a:r>
              <a:rPr lang="it-IT" dirty="0" err="1"/>
              <a:t>neuron</a:t>
            </a:r>
            <a:r>
              <a:rPr lang="it-IT" dirty="0"/>
              <a:t> </a:t>
            </a:r>
            <a:r>
              <a:rPr lang="it-IT" dirty="0" err="1"/>
              <a:t>is</a:t>
            </a:r>
            <a:r>
              <a:rPr lang="it-IT" dirty="0"/>
              <a:t> </a:t>
            </a:r>
            <a:r>
              <a:rPr lang="it-IT" dirty="0" err="1"/>
              <a:t>connected</a:t>
            </a:r>
            <a:r>
              <a:rPr lang="it-IT" dirty="0"/>
              <a:t> to the </a:t>
            </a:r>
            <a:r>
              <a:rPr lang="it-IT" dirty="0" err="1"/>
              <a:t>axons</a:t>
            </a:r>
            <a:r>
              <a:rPr lang="it-IT" dirty="0"/>
              <a:t> of </a:t>
            </a:r>
            <a:r>
              <a:rPr lang="it-IT" dirty="0" err="1"/>
              <a:t>other</a:t>
            </a:r>
            <a:r>
              <a:rPr lang="it-IT" dirty="0"/>
              <a:t> </a:t>
            </a:r>
            <a:r>
              <a:rPr lang="it-IT" dirty="0" err="1"/>
              <a:t>neurons</a:t>
            </a:r>
            <a:r>
              <a:rPr lang="it-IT" dirty="0"/>
              <a:t> via </a:t>
            </a:r>
            <a:r>
              <a:rPr lang="it-IT" dirty="0" err="1"/>
              <a:t>dendrites</a:t>
            </a:r>
            <a:r>
              <a:rPr lang="it-IT" dirty="0"/>
              <a:t> </a:t>
            </a:r>
            <a:r>
              <a:rPr lang="it-IT" dirty="0" err="1"/>
              <a:t>which</a:t>
            </a:r>
            <a:r>
              <a:rPr lang="it-IT" dirty="0"/>
              <a:t> are </a:t>
            </a:r>
            <a:r>
              <a:rPr lang="it-IT" dirty="0" err="1"/>
              <a:t>extnesions</a:t>
            </a:r>
            <a:r>
              <a:rPr lang="it-IT" dirty="0"/>
              <a:t> for the </a:t>
            </a:r>
            <a:r>
              <a:rPr lang="it-IT" dirty="0" err="1"/>
              <a:t>cell</a:t>
            </a:r>
            <a:r>
              <a:rPr lang="it-IT" dirty="0"/>
              <a:t> body of </a:t>
            </a:r>
            <a:r>
              <a:rPr lang="it-IT" dirty="0" err="1"/>
              <a:t>neurons</a:t>
            </a:r>
            <a:r>
              <a:rPr lang="it-IT" dirty="0"/>
              <a:t>. </a:t>
            </a:r>
          </a:p>
          <a:p>
            <a:r>
              <a:rPr lang="it-IT" dirty="0"/>
              <a:t>The </a:t>
            </a:r>
            <a:r>
              <a:rPr lang="it-IT" dirty="0" err="1"/>
              <a:t>contact</a:t>
            </a:r>
            <a:r>
              <a:rPr lang="it-IT" dirty="0"/>
              <a:t> </a:t>
            </a:r>
            <a:r>
              <a:rPr lang="it-IT" dirty="0" err="1"/>
              <a:t>point</a:t>
            </a:r>
            <a:r>
              <a:rPr lang="it-IT" dirty="0"/>
              <a:t> </a:t>
            </a:r>
            <a:r>
              <a:rPr lang="it-IT" dirty="0" err="1"/>
              <a:t>between</a:t>
            </a:r>
            <a:r>
              <a:rPr lang="it-IT" dirty="0"/>
              <a:t> a dendrite and an </a:t>
            </a:r>
            <a:r>
              <a:rPr lang="it-IT" dirty="0" err="1"/>
              <a:t>axon</a:t>
            </a:r>
            <a:r>
              <a:rPr lang="it-IT" dirty="0"/>
              <a:t> </a:t>
            </a:r>
            <a:r>
              <a:rPr lang="it-IT" dirty="0" err="1"/>
              <a:t>is</a:t>
            </a:r>
            <a:r>
              <a:rPr lang="it-IT" dirty="0"/>
              <a:t> a </a:t>
            </a:r>
            <a:r>
              <a:rPr lang="it-IT" dirty="0" err="1"/>
              <a:t>synapse</a:t>
            </a:r>
            <a:r>
              <a:rPr lang="it-IT" dirty="0"/>
              <a:t>.</a:t>
            </a:r>
          </a:p>
          <a:p>
            <a:r>
              <a:rPr lang="it-IT" dirty="0"/>
              <a:t>Human </a:t>
            </a:r>
            <a:r>
              <a:rPr lang="it-IT" dirty="0" err="1"/>
              <a:t>barin</a:t>
            </a:r>
            <a:r>
              <a:rPr lang="it-IT" dirty="0"/>
              <a:t> </a:t>
            </a:r>
            <a:r>
              <a:rPr lang="it-IT" dirty="0" err="1"/>
              <a:t>learns</a:t>
            </a:r>
            <a:r>
              <a:rPr lang="it-IT" dirty="0"/>
              <a:t> by </a:t>
            </a:r>
            <a:r>
              <a:rPr lang="it-IT" dirty="0" err="1"/>
              <a:t>changing</a:t>
            </a:r>
            <a:r>
              <a:rPr lang="it-IT" dirty="0"/>
              <a:t> the </a:t>
            </a:r>
            <a:r>
              <a:rPr lang="it-IT" dirty="0" err="1"/>
              <a:t>strength</a:t>
            </a:r>
            <a:r>
              <a:rPr lang="it-IT" dirty="0"/>
              <a:t> of the </a:t>
            </a:r>
            <a:r>
              <a:rPr lang="it-IT" dirty="0" err="1"/>
              <a:t>synaptic</a:t>
            </a:r>
            <a:r>
              <a:rPr lang="it-IT" dirty="0"/>
              <a:t> connection </a:t>
            </a:r>
            <a:r>
              <a:rPr lang="it-IT" dirty="0" err="1"/>
              <a:t>between</a:t>
            </a:r>
            <a:r>
              <a:rPr lang="it-IT" dirty="0"/>
              <a:t> </a:t>
            </a:r>
            <a:r>
              <a:rPr lang="it-IT" dirty="0" err="1"/>
              <a:t>neurons</a:t>
            </a:r>
            <a:r>
              <a:rPr lang="it-IT" dirty="0"/>
              <a:t> </a:t>
            </a:r>
            <a:r>
              <a:rPr lang="it-IT" dirty="0" err="1"/>
              <a:t>upon</a:t>
            </a:r>
            <a:r>
              <a:rPr lang="it-IT" dirty="0"/>
              <a:t> </a:t>
            </a:r>
            <a:r>
              <a:rPr lang="it-IT" dirty="0" err="1"/>
              <a:t>repeated</a:t>
            </a:r>
            <a:r>
              <a:rPr lang="it-IT" dirty="0"/>
              <a:t> </a:t>
            </a:r>
            <a:r>
              <a:rPr lang="it-IT" dirty="0" err="1"/>
              <a:t>stimulation</a:t>
            </a:r>
            <a:r>
              <a:rPr lang="it-IT" dirty="0"/>
              <a:t> by the </a:t>
            </a:r>
            <a:r>
              <a:rPr lang="it-IT" dirty="0" err="1"/>
              <a:t>same</a:t>
            </a:r>
            <a:r>
              <a:rPr lang="it-IT" dirty="0"/>
              <a:t> </a:t>
            </a:r>
            <a:r>
              <a:rPr lang="it-IT" dirty="0" err="1"/>
              <a:t>impulse</a:t>
            </a:r>
            <a:r>
              <a:rPr lang="it-IT" dirty="0"/>
              <a:t>.</a:t>
            </a:r>
          </a:p>
        </p:txBody>
      </p:sp>
    </p:spTree>
    <p:extLst>
      <p:ext uri="{BB962C8B-B14F-4D97-AF65-F5344CB8AC3E}">
        <p14:creationId xmlns:p14="http://schemas.microsoft.com/office/powerpoint/2010/main" val="20121329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altLang="en-US" sz="1200" dirty="0"/>
              <a:t>The model is an assembly of inter-connected nodes and weighted links</a:t>
            </a:r>
          </a:p>
          <a:p>
            <a:endParaRPr lang="en-US" altLang="en-US" sz="1200" dirty="0"/>
          </a:p>
          <a:p>
            <a:r>
              <a:rPr lang="en-US" altLang="en-US" sz="1200" dirty="0"/>
              <a:t>Output node sums up each of its input value according to the weights of its links</a:t>
            </a:r>
          </a:p>
          <a:p>
            <a:endParaRPr lang="en-US" altLang="en-US" sz="1200" dirty="0"/>
          </a:p>
          <a:p>
            <a:r>
              <a:rPr lang="en-US" altLang="en-US" sz="1200" dirty="0"/>
              <a:t>Compare output node against some threshold t or bias b</a:t>
            </a:r>
          </a:p>
          <a:p>
            <a:endParaRPr lang="it-IT" dirty="0"/>
          </a:p>
        </p:txBody>
      </p:sp>
    </p:spTree>
    <p:extLst>
      <p:ext uri="{BB962C8B-B14F-4D97-AF65-F5344CB8AC3E}">
        <p14:creationId xmlns:p14="http://schemas.microsoft.com/office/powerpoint/2010/main" val="4059448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a:t>A perceptron computes its output by performing a weighted sum on its inputs, subtracting a bias factor from the sum and the examining the sign of the result.</a:t>
            </a:r>
          </a:p>
        </p:txBody>
      </p:sp>
      <p:sp>
        <p:nvSpPr>
          <p:cNvPr id="4" name="Slide Number Placeholder 3"/>
          <p:cNvSpPr>
            <a:spLocks noGrp="1"/>
          </p:cNvSpPr>
          <p:nvPr>
            <p:ph type="sldNum" sz="quarter" idx="10"/>
          </p:nvPr>
        </p:nvSpPr>
        <p:spPr/>
        <p:txBody>
          <a:bodyPr/>
          <a:lstStyle/>
          <a:p>
            <a:fld id="{3BC97D60-1F67-9049-9332-09B31DA49069}" type="slidenum">
              <a:rPr lang="en-US" smtClean="0"/>
              <a:pPr/>
              <a:t>24</a:t>
            </a:fld>
            <a:endParaRPr lang="en-US"/>
          </a:p>
        </p:txBody>
      </p:sp>
    </p:spTree>
    <p:extLst>
      <p:ext uri="{BB962C8B-B14F-4D97-AF65-F5344CB8AC3E}">
        <p14:creationId xmlns:p14="http://schemas.microsoft.com/office/powerpoint/2010/main" val="27706547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a:t>A perceptron computes its output by performing a weighted sum on its inputs, subtracting a bias factor from the sum and the examining the sign of the result.</a:t>
            </a:r>
          </a:p>
        </p:txBody>
      </p:sp>
      <p:sp>
        <p:nvSpPr>
          <p:cNvPr id="4" name="Slide Number Placeholder 3"/>
          <p:cNvSpPr>
            <a:spLocks noGrp="1"/>
          </p:cNvSpPr>
          <p:nvPr>
            <p:ph type="sldNum" sz="quarter" idx="10"/>
          </p:nvPr>
        </p:nvSpPr>
        <p:spPr/>
        <p:txBody>
          <a:bodyPr/>
          <a:lstStyle/>
          <a:p>
            <a:fld id="{3BC97D60-1F67-9049-9332-09B31DA49069}" type="slidenum">
              <a:rPr lang="en-US" smtClean="0"/>
              <a:pPr/>
              <a:t>25</a:t>
            </a:fld>
            <a:endParaRPr lang="en-US"/>
          </a:p>
        </p:txBody>
      </p:sp>
    </p:spTree>
    <p:extLst>
      <p:ext uri="{BB962C8B-B14F-4D97-AF65-F5344CB8AC3E}">
        <p14:creationId xmlns:p14="http://schemas.microsoft.com/office/powerpoint/2010/main" val="40532729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dirty="0"/>
          </a:p>
        </p:txBody>
      </p:sp>
      <p:sp>
        <p:nvSpPr>
          <p:cNvPr id="4" name="Slide Number Placeholder 3"/>
          <p:cNvSpPr>
            <a:spLocks noGrp="1"/>
          </p:cNvSpPr>
          <p:nvPr>
            <p:ph type="sldNum" sz="quarter" idx="10"/>
          </p:nvPr>
        </p:nvSpPr>
        <p:spPr/>
        <p:txBody>
          <a:bodyPr/>
          <a:lstStyle/>
          <a:p>
            <a:fld id="{3BC97D60-1F67-9049-9332-09B31DA49069}" type="slidenum">
              <a:rPr lang="en-US" smtClean="0"/>
              <a:pPr/>
              <a:t>26</a:t>
            </a:fld>
            <a:endParaRPr lang="en-US"/>
          </a:p>
        </p:txBody>
      </p:sp>
    </p:spTree>
    <p:extLst>
      <p:ext uri="{BB962C8B-B14F-4D97-AF65-F5344CB8AC3E}">
        <p14:creationId xmlns:p14="http://schemas.microsoft.com/office/powerpoint/2010/main" val="40141401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The new </a:t>
            </a:r>
            <a:r>
              <a:rPr lang="it-IT" dirty="0" err="1"/>
              <a:t>weight</a:t>
            </a:r>
            <a:r>
              <a:rPr lang="it-IT" dirty="0"/>
              <a:t> </a:t>
            </a:r>
            <a:r>
              <a:rPr lang="it-IT" dirty="0" err="1"/>
              <a:t>is</a:t>
            </a:r>
            <a:r>
              <a:rPr lang="it-IT" dirty="0"/>
              <a:t> a </a:t>
            </a:r>
            <a:r>
              <a:rPr lang="it-IT" dirty="0" err="1"/>
              <a:t>combination</a:t>
            </a:r>
            <a:r>
              <a:rPr lang="it-IT" dirty="0"/>
              <a:t> of the </a:t>
            </a:r>
            <a:r>
              <a:rPr lang="it-IT" dirty="0" err="1"/>
              <a:t>old</a:t>
            </a:r>
            <a:r>
              <a:rPr lang="it-IT" dirty="0"/>
              <a:t> </a:t>
            </a:r>
            <a:r>
              <a:rPr lang="it-IT" dirty="0" err="1"/>
              <a:t>weight</a:t>
            </a:r>
            <a:r>
              <a:rPr lang="it-IT" dirty="0"/>
              <a:t> and a </a:t>
            </a:r>
            <a:r>
              <a:rPr lang="it-IT" dirty="0" err="1"/>
              <a:t>term</a:t>
            </a:r>
            <a:r>
              <a:rPr lang="it-IT" dirty="0"/>
              <a:t> </a:t>
            </a:r>
            <a:r>
              <a:rPr lang="it-IT" dirty="0" err="1"/>
              <a:t>proportional</a:t>
            </a:r>
            <a:r>
              <a:rPr lang="it-IT" dirty="0"/>
              <a:t> to the </a:t>
            </a:r>
            <a:r>
              <a:rPr lang="it-IT" dirty="0" err="1"/>
              <a:t>prediction</a:t>
            </a:r>
            <a:r>
              <a:rPr lang="it-IT" dirty="0"/>
              <a:t> </a:t>
            </a:r>
            <a:r>
              <a:rPr lang="it-IT" dirty="0" err="1"/>
              <a:t>error</a:t>
            </a:r>
            <a:r>
              <a:rPr lang="it-IT" dirty="0"/>
              <a:t>. </a:t>
            </a:r>
            <a:r>
              <a:rPr lang="it-IT" dirty="0" err="1"/>
              <a:t>If</a:t>
            </a:r>
            <a:r>
              <a:rPr lang="it-IT" dirty="0"/>
              <a:t> the </a:t>
            </a:r>
            <a:r>
              <a:rPr lang="it-IT" dirty="0" err="1"/>
              <a:t>prediction</a:t>
            </a:r>
            <a:r>
              <a:rPr lang="it-IT" dirty="0"/>
              <a:t> </a:t>
            </a:r>
            <a:r>
              <a:rPr lang="it-IT" dirty="0" err="1"/>
              <a:t>is</a:t>
            </a:r>
            <a:r>
              <a:rPr lang="it-IT" dirty="0"/>
              <a:t> </a:t>
            </a:r>
            <a:r>
              <a:rPr lang="it-IT" dirty="0" err="1"/>
              <a:t>correct</a:t>
            </a:r>
            <a:r>
              <a:rPr lang="it-IT" dirty="0"/>
              <a:t> the </a:t>
            </a:r>
            <a:r>
              <a:rPr lang="it-IT" dirty="0" err="1"/>
              <a:t>weight</a:t>
            </a:r>
            <a:r>
              <a:rPr lang="it-IT" dirty="0"/>
              <a:t> </a:t>
            </a:r>
            <a:r>
              <a:rPr lang="it-IT" dirty="0" err="1"/>
              <a:t>remains</a:t>
            </a:r>
            <a:r>
              <a:rPr lang="it-IT" dirty="0"/>
              <a:t> </a:t>
            </a:r>
            <a:r>
              <a:rPr lang="it-IT" dirty="0" err="1"/>
              <a:t>unchanged</a:t>
            </a:r>
            <a:r>
              <a:rPr lang="it-IT" dirty="0"/>
              <a:t>.</a:t>
            </a:r>
          </a:p>
        </p:txBody>
      </p:sp>
    </p:spTree>
    <p:extLst>
      <p:ext uri="{BB962C8B-B14F-4D97-AF65-F5344CB8AC3E}">
        <p14:creationId xmlns:p14="http://schemas.microsoft.com/office/powerpoint/2010/main" val="42645823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Tree>
    <p:extLst>
      <p:ext uri="{BB962C8B-B14F-4D97-AF65-F5344CB8AC3E}">
        <p14:creationId xmlns:p14="http://schemas.microsoft.com/office/powerpoint/2010/main" val="41835781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63703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Tree>
    <p:extLst>
      <p:ext uri="{BB962C8B-B14F-4D97-AF65-F5344CB8AC3E}">
        <p14:creationId xmlns:p14="http://schemas.microsoft.com/office/powerpoint/2010/main" val="42057374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BC97D60-1F67-9049-9332-09B31DA49069}" type="slidenum">
              <a:rPr lang="en-US" smtClean="0"/>
              <a:pPr/>
              <a:t>66</a:t>
            </a:fld>
            <a:endParaRPr lang="en-US"/>
          </a:p>
        </p:txBody>
      </p:sp>
    </p:spTree>
    <p:extLst>
      <p:ext uri="{BB962C8B-B14F-4D97-AF65-F5344CB8AC3E}">
        <p14:creationId xmlns:p14="http://schemas.microsoft.com/office/powerpoint/2010/main" val="31227468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3BC97D60-1F67-9049-9332-09B31DA49069}" type="slidenum">
              <a:rPr lang="en-US" smtClean="0"/>
              <a:pPr/>
              <a:t>67</a:t>
            </a:fld>
            <a:endParaRPr lang="en-US"/>
          </a:p>
        </p:txBody>
      </p:sp>
    </p:spTree>
    <p:extLst>
      <p:ext uri="{BB962C8B-B14F-4D97-AF65-F5344CB8AC3E}">
        <p14:creationId xmlns:p14="http://schemas.microsoft.com/office/powerpoint/2010/main" val="11040854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3BC97D60-1F67-9049-9332-09B31DA49069}" type="slidenum">
              <a:rPr lang="en-US" smtClean="0"/>
              <a:pPr/>
              <a:t>68</a:t>
            </a:fld>
            <a:endParaRPr lang="en-US"/>
          </a:p>
        </p:txBody>
      </p:sp>
    </p:spTree>
    <p:extLst>
      <p:ext uri="{BB962C8B-B14F-4D97-AF65-F5344CB8AC3E}">
        <p14:creationId xmlns:p14="http://schemas.microsoft.com/office/powerpoint/2010/main" val="3159908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The SGD can be </a:t>
            </a:r>
            <a:r>
              <a:rPr lang="it-IT" dirty="0" err="1"/>
              <a:t>used</a:t>
            </a:r>
            <a:r>
              <a:rPr lang="it-IT" dirty="0"/>
              <a:t> to </a:t>
            </a:r>
            <a:r>
              <a:rPr lang="it-IT" dirty="0" err="1"/>
              <a:t>learn</a:t>
            </a:r>
            <a:r>
              <a:rPr lang="it-IT" dirty="0"/>
              <a:t> the </a:t>
            </a:r>
            <a:r>
              <a:rPr lang="it-IT" dirty="0" err="1"/>
              <a:t>weights</a:t>
            </a:r>
            <a:r>
              <a:rPr lang="it-IT" dirty="0"/>
              <a:t> of a </a:t>
            </a:r>
            <a:r>
              <a:rPr lang="it-IT" dirty="0" err="1"/>
              <a:t>multilayer</a:t>
            </a:r>
            <a:r>
              <a:rPr lang="it-IT" dirty="0"/>
              <a:t> ANN.</a:t>
            </a:r>
          </a:p>
        </p:txBody>
      </p:sp>
    </p:spTree>
    <p:extLst>
      <p:ext uri="{BB962C8B-B14F-4D97-AF65-F5344CB8AC3E}">
        <p14:creationId xmlns:p14="http://schemas.microsoft.com/office/powerpoint/2010/main" val="3107471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For </a:t>
            </a:r>
            <a:r>
              <a:rPr lang="it-IT" dirty="0" err="1"/>
              <a:t>hidden</a:t>
            </a:r>
            <a:r>
              <a:rPr lang="it-IT" dirty="0"/>
              <a:t> </a:t>
            </a:r>
            <a:r>
              <a:rPr lang="it-IT" dirty="0" err="1"/>
              <a:t>nodes</a:t>
            </a:r>
            <a:r>
              <a:rPr lang="it-IT" dirty="0"/>
              <a:t>, the </a:t>
            </a:r>
            <a:r>
              <a:rPr lang="it-IT" dirty="0" err="1"/>
              <a:t>computation</a:t>
            </a:r>
            <a:r>
              <a:rPr lang="it-IT" dirty="0"/>
              <a:t> </a:t>
            </a:r>
            <a:r>
              <a:rPr lang="it-IT" dirty="0" err="1"/>
              <a:t>is</a:t>
            </a:r>
            <a:r>
              <a:rPr lang="it-IT" dirty="0"/>
              <a:t> </a:t>
            </a:r>
            <a:r>
              <a:rPr lang="it-IT" dirty="0" err="1"/>
              <a:t>not</a:t>
            </a:r>
            <a:r>
              <a:rPr lang="it-IT" dirty="0"/>
              <a:t> </a:t>
            </a:r>
            <a:r>
              <a:rPr lang="it-IT" dirty="0" err="1"/>
              <a:t>trivial</a:t>
            </a:r>
            <a:r>
              <a:rPr lang="it-IT" dirty="0"/>
              <a:t> </a:t>
            </a:r>
            <a:r>
              <a:rPr lang="it-IT" dirty="0" err="1"/>
              <a:t>because</a:t>
            </a:r>
            <a:r>
              <a:rPr lang="it-IT" dirty="0"/>
              <a:t> </a:t>
            </a:r>
            <a:r>
              <a:rPr lang="it-IT" dirty="0" err="1"/>
              <a:t>it</a:t>
            </a:r>
            <a:r>
              <a:rPr lang="it-IT" dirty="0"/>
              <a:t> </a:t>
            </a:r>
            <a:r>
              <a:rPr lang="it-IT" dirty="0" err="1"/>
              <a:t>is</a:t>
            </a:r>
            <a:r>
              <a:rPr lang="it-IT" dirty="0"/>
              <a:t> </a:t>
            </a:r>
            <a:r>
              <a:rPr lang="it-IT" dirty="0" err="1"/>
              <a:t>difficult</a:t>
            </a:r>
            <a:r>
              <a:rPr lang="it-IT" dirty="0"/>
              <a:t> to </a:t>
            </a:r>
            <a:r>
              <a:rPr lang="it-IT" dirty="0" err="1"/>
              <a:t>asses</a:t>
            </a:r>
            <a:r>
              <a:rPr lang="it-IT" dirty="0"/>
              <a:t> the </a:t>
            </a:r>
            <a:r>
              <a:rPr lang="it-IT" dirty="0" err="1"/>
              <a:t>error</a:t>
            </a:r>
            <a:r>
              <a:rPr lang="it-IT" dirty="0"/>
              <a:t> </a:t>
            </a:r>
            <a:r>
              <a:rPr lang="it-IT" dirty="0" err="1"/>
              <a:t>term</a:t>
            </a:r>
            <a:r>
              <a:rPr lang="it-IT" dirty="0"/>
              <a:t> </a:t>
            </a:r>
            <a:r>
              <a:rPr lang="it-IT" dirty="0" err="1"/>
              <a:t>without</a:t>
            </a:r>
            <a:r>
              <a:rPr lang="it-IT" dirty="0"/>
              <a:t> </a:t>
            </a:r>
            <a:r>
              <a:rPr lang="it-IT" dirty="0" err="1"/>
              <a:t>knowing</a:t>
            </a:r>
            <a:r>
              <a:rPr lang="it-IT" dirty="0"/>
              <a:t> </a:t>
            </a:r>
            <a:r>
              <a:rPr lang="it-IT" dirty="0" err="1"/>
              <a:t>what</a:t>
            </a:r>
            <a:r>
              <a:rPr lang="it-IT" dirty="0"/>
              <a:t> </a:t>
            </a:r>
            <a:r>
              <a:rPr lang="it-IT" dirty="0" err="1"/>
              <a:t>their</a:t>
            </a:r>
            <a:r>
              <a:rPr lang="it-IT" dirty="0"/>
              <a:t> output </a:t>
            </a:r>
            <a:r>
              <a:rPr lang="it-IT" dirty="0" err="1"/>
              <a:t>values</a:t>
            </a:r>
            <a:r>
              <a:rPr lang="it-IT" dirty="0"/>
              <a:t> </a:t>
            </a:r>
            <a:r>
              <a:rPr lang="it-IT" dirty="0" err="1"/>
              <a:t>should</a:t>
            </a:r>
            <a:r>
              <a:rPr lang="it-IT" dirty="0"/>
              <a:t> be.</a:t>
            </a:r>
          </a:p>
          <a:p>
            <a:r>
              <a:rPr lang="it-IT" dirty="0"/>
              <a:t>Back-</a:t>
            </a:r>
            <a:r>
              <a:rPr lang="it-IT" dirty="0" err="1"/>
              <a:t>propagation</a:t>
            </a:r>
            <a:r>
              <a:rPr lang="it-IT" dirty="0"/>
              <a:t> </a:t>
            </a:r>
            <a:r>
              <a:rPr lang="it-IT" dirty="0" err="1"/>
              <a:t>solves</a:t>
            </a:r>
            <a:r>
              <a:rPr lang="it-IT" dirty="0"/>
              <a:t> </a:t>
            </a:r>
            <a:r>
              <a:rPr lang="it-IT" dirty="0" err="1"/>
              <a:t>this</a:t>
            </a:r>
            <a:r>
              <a:rPr lang="it-IT" dirty="0"/>
              <a:t> </a:t>
            </a:r>
            <a:r>
              <a:rPr lang="it-IT" dirty="0" err="1"/>
              <a:t>problem</a:t>
            </a:r>
            <a:r>
              <a:rPr lang="it-IT" dirty="0"/>
              <a:t>.</a:t>
            </a:r>
          </a:p>
          <a:p>
            <a:endParaRPr lang="en-GB" dirty="0"/>
          </a:p>
        </p:txBody>
      </p:sp>
      <p:sp>
        <p:nvSpPr>
          <p:cNvPr id="4" name="Segnaposto numero diapositiva 3"/>
          <p:cNvSpPr>
            <a:spLocks noGrp="1"/>
          </p:cNvSpPr>
          <p:nvPr>
            <p:ph type="sldNum" sz="quarter" idx="5"/>
          </p:nvPr>
        </p:nvSpPr>
        <p:spPr/>
        <p:txBody>
          <a:bodyPr/>
          <a:lstStyle/>
          <a:p>
            <a:fld id="{73C0905A-1575-4498-9D67-3005A6DCC3DF}" type="slidenum">
              <a:rPr lang="en-GB" smtClean="0"/>
              <a:t>81</a:t>
            </a:fld>
            <a:endParaRPr lang="en-GB"/>
          </a:p>
        </p:txBody>
      </p:sp>
    </p:spTree>
    <p:extLst>
      <p:ext uri="{BB962C8B-B14F-4D97-AF65-F5344CB8AC3E}">
        <p14:creationId xmlns:p14="http://schemas.microsoft.com/office/powerpoint/2010/main" val="7673125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noProof="0" dirty="0"/>
              <a:t>For hidden nodes, the computation is not trivial because it is difficult to asses the error term without knowing what their output values should be.</a:t>
            </a:r>
          </a:p>
          <a:p>
            <a:r>
              <a:rPr lang="en-US" noProof="0" dirty="0"/>
              <a:t>Back-propagation solves this problem.</a:t>
            </a:r>
          </a:p>
          <a:p>
            <a:r>
              <a:rPr lang="en-US" noProof="0" dirty="0"/>
              <a:t>The forward phase  the weights obtained from previous iteration are used to compute the the output value for each neuron in the network.</a:t>
            </a:r>
          </a:p>
          <a:p>
            <a:r>
              <a:rPr lang="en-US" noProof="0" dirty="0"/>
              <a:t>The computation progresses in the forward direction: the output from layer k is used to compute outputs at level k+1.</a:t>
            </a:r>
          </a:p>
          <a:p>
            <a:r>
              <a:rPr lang="en-US" noProof="0" dirty="0"/>
              <a:t>During the backward phase the weight update formula is applied in the reverse direction: weights at level k+1 are updated before the weights at level k are updated.</a:t>
            </a:r>
          </a:p>
          <a:p>
            <a:r>
              <a:rPr lang="en-US" noProof="0" dirty="0"/>
              <a:t>This allows to use the error s for neurons at layer k+1 to estimate the errors for neurons at layer k.</a:t>
            </a:r>
          </a:p>
        </p:txBody>
      </p:sp>
      <p:sp>
        <p:nvSpPr>
          <p:cNvPr id="4" name="Segnaposto numero diapositiva 3"/>
          <p:cNvSpPr>
            <a:spLocks noGrp="1"/>
          </p:cNvSpPr>
          <p:nvPr>
            <p:ph type="sldNum" sz="quarter" idx="5"/>
          </p:nvPr>
        </p:nvSpPr>
        <p:spPr/>
        <p:txBody>
          <a:bodyPr/>
          <a:lstStyle/>
          <a:p>
            <a:fld id="{73C0905A-1575-4498-9D67-3005A6DCC3DF}" type="slidenum">
              <a:rPr lang="en-GB" smtClean="0"/>
              <a:t>82</a:t>
            </a:fld>
            <a:endParaRPr lang="en-GB"/>
          </a:p>
        </p:txBody>
      </p:sp>
    </p:spTree>
    <p:extLst>
      <p:ext uri="{BB962C8B-B14F-4D97-AF65-F5344CB8AC3E}">
        <p14:creationId xmlns:p14="http://schemas.microsoft.com/office/powerpoint/2010/main" val="9889225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Tree>
    <p:extLst>
      <p:ext uri="{BB962C8B-B14F-4D97-AF65-F5344CB8AC3E}">
        <p14:creationId xmlns:p14="http://schemas.microsoft.com/office/powerpoint/2010/main" val="1366258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dirty="0"/>
          </a:p>
        </p:txBody>
      </p:sp>
      <p:sp>
        <p:nvSpPr>
          <p:cNvPr id="4" name="Segnaposto numero diapositiva 3"/>
          <p:cNvSpPr>
            <a:spLocks noGrp="1"/>
          </p:cNvSpPr>
          <p:nvPr>
            <p:ph type="sldNum" sz="quarter" idx="10"/>
          </p:nvPr>
        </p:nvSpPr>
        <p:spPr/>
        <p:txBody>
          <a:bodyPr/>
          <a:lstStyle/>
          <a:p>
            <a:fld id="{843BD563-0B48-4A64-AFF5-FDC342896F21}" type="slidenum">
              <a:rPr lang="en-US" smtClean="0"/>
              <a:t>140</a:t>
            </a:fld>
            <a:endParaRPr lang="en-US"/>
          </a:p>
        </p:txBody>
      </p:sp>
    </p:spTree>
    <p:extLst>
      <p:ext uri="{BB962C8B-B14F-4D97-AF65-F5344CB8AC3E}">
        <p14:creationId xmlns:p14="http://schemas.microsoft.com/office/powerpoint/2010/main" val="19320479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dirty="0"/>
          </a:p>
        </p:txBody>
      </p:sp>
      <p:sp>
        <p:nvSpPr>
          <p:cNvPr id="4" name="Segnaposto numero diapositiva 3"/>
          <p:cNvSpPr>
            <a:spLocks noGrp="1"/>
          </p:cNvSpPr>
          <p:nvPr>
            <p:ph type="sldNum" sz="quarter" idx="10"/>
          </p:nvPr>
        </p:nvSpPr>
        <p:spPr/>
        <p:txBody>
          <a:bodyPr/>
          <a:lstStyle/>
          <a:p>
            <a:fld id="{843BD563-0B48-4A64-AFF5-FDC342896F21}" type="slidenum">
              <a:rPr lang="en-US" smtClean="0"/>
              <a:t>146</a:t>
            </a:fld>
            <a:endParaRPr lang="en-US"/>
          </a:p>
        </p:txBody>
      </p:sp>
    </p:spTree>
    <p:extLst>
      <p:ext uri="{BB962C8B-B14F-4D97-AF65-F5344CB8AC3E}">
        <p14:creationId xmlns:p14="http://schemas.microsoft.com/office/powerpoint/2010/main" val="30840609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dirty="0"/>
          </a:p>
        </p:txBody>
      </p:sp>
      <p:sp>
        <p:nvSpPr>
          <p:cNvPr id="4" name="Segnaposto numero diapositiva 3"/>
          <p:cNvSpPr>
            <a:spLocks noGrp="1"/>
          </p:cNvSpPr>
          <p:nvPr>
            <p:ph type="sldNum" sz="quarter" idx="10"/>
          </p:nvPr>
        </p:nvSpPr>
        <p:spPr/>
        <p:txBody>
          <a:bodyPr/>
          <a:lstStyle/>
          <a:p>
            <a:fld id="{843BD563-0B48-4A64-AFF5-FDC342896F21}" type="slidenum">
              <a:rPr lang="en-US" smtClean="0"/>
              <a:t>147</a:t>
            </a:fld>
            <a:endParaRPr lang="en-US"/>
          </a:p>
        </p:txBody>
      </p:sp>
    </p:spTree>
    <p:extLst>
      <p:ext uri="{BB962C8B-B14F-4D97-AF65-F5344CB8AC3E}">
        <p14:creationId xmlns:p14="http://schemas.microsoft.com/office/powerpoint/2010/main" val="22248040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dirty="0"/>
          </a:p>
        </p:txBody>
      </p:sp>
      <p:sp>
        <p:nvSpPr>
          <p:cNvPr id="4" name="Segnaposto numero diapositiva 3"/>
          <p:cNvSpPr>
            <a:spLocks noGrp="1"/>
          </p:cNvSpPr>
          <p:nvPr>
            <p:ph type="sldNum" sz="quarter" idx="10"/>
          </p:nvPr>
        </p:nvSpPr>
        <p:spPr/>
        <p:txBody>
          <a:bodyPr/>
          <a:lstStyle/>
          <a:p>
            <a:fld id="{843BD563-0B48-4A64-AFF5-FDC342896F21}" type="slidenum">
              <a:rPr lang="en-US" smtClean="0"/>
              <a:t>148</a:t>
            </a:fld>
            <a:endParaRPr lang="en-US"/>
          </a:p>
        </p:txBody>
      </p:sp>
    </p:spTree>
    <p:extLst>
      <p:ext uri="{BB962C8B-B14F-4D97-AF65-F5344CB8AC3E}">
        <p14:creationId xmlns:p14="http://schemas.microsoft.com/office/powerpoint/2010/main" val="13679107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dirty="0"/>
          </a:p>
        </p:txBody>
      </p:sp>
      <p:sp>
        <p:nvSpPr>
          <p:cNvPr id="4" name="Segnaposto numero diapositiva 3"/>
          <p:cNvSpPr>
            <a:spLocks noGrp="1"/>
          </p:cNvSpPr>
          <p:nvPr>
            <p:ph type="sldNum" sz="quarter" idx="10"/>
          </p:nvPr>
        </p:nvSpPr>
        <p:spPr/>
        <p:txBody>
          <a:bodyPr/>
          <a:lstStyle/>
          <a:p>
            <a:fld id="{843BD563-0B48-4A64-AFF5-FDC342896F21}" type="slidenum">
              <a:rPr lang="en-US" smtClean="0"/>
              <a:t>149</a:t>
            </a:fld>
            <a:endParaRPr lang="en-US"/>
          </a:p>
        </p:txBody>
      </p:sp>
    </p:spTree>
    <p:extLst>
      <p:ext uri="{BB962C8B-B14F-4D97-AF65-F5344CB8AC3E}">
        <p14:creationId xmlns:p14="http://schemas.microsoft.com/office/powerpoint/2010/main" val="3123719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Tree>
    <p:extLst>
      <p:ext uri="{BB962C8B-B14F-4D97-AF65-F5344CB8AC3E}">
        <p14:creationId xmlns:p14="http://schemas.microsoft.com/office/powerpoint/2010/main" val="34517316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49204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Tree>
    <p:extLst>
      <p:ext uri="{BB962C8B-B14F-4D97-AF65-F5344CB8AC3E}">
        <p14:creationId xmlns:p14="http://schemas.microsoft.com/office/powerpoint/2010/main" val="33453318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CDBE0CA-5111-D04D-8D12-935552D94F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ottotitolo 2">
            <a:extLst>
              <a:ext uri="{FF2B5EF4-FFF2-40B4-BE49-F238E27FC236}">
                <a16:creationId xmlns:a16="http://schemas.microsoft.com/office/drawing/2014/main" id="{C36BC96A-9426-4A41-862F-AE5D98B4FE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Segnaposto data 3">
            <a:extLst>
              <a:ext uri="{FF2B5EF4-FFF2-40B4-BE49-F238E27FC236}">
                <a16:creationId xmlns:a16="http://schemas.microsoft.com/office/drawing/2014/main" id="{0CDEE8EA-B811-484E-9AD4-125197A0E9B4}"/>
              </a:ext>
            </a:extLst>
          </p:cNvPr>
          <p:cNvSpPr>
            <a:spLocks noGrp="1"/>
          </p:cNvSpPr>
          <p:nvPr>
            <p:ph type="dt" sz="half" idx="10"/>
          </p:nvPr>
        </p:nvSpPr>
        <p:spPr/>
        <p:txBody>
          <a:bodyPr/>
          <a:lstStyle/>
          <a:p>
            <a:fld id="{1909E66D-B003-4C4E-864A-E43A8D2280BD}" type="datetime1">
              <a:rPr lang="it-IT" smtClean="0"/>
              <a:t>20/04/26</a:t>
            </a:fld>
            <a:endParaRPr lang="en-US"/>
          </a:p>
        </p:txBody>
      </p:sp>
      <p:sp>
        <p:nvSpPr>
          <p:cNvPr id="5" name="Segnaposto piè di pagina 4">
            <a:extLst>
              <a:ext uri="{FF2B5EF4-FFF2-40B4-BE49-F238E27FC236}">
                <a16:creationId xmlns:a16="http://schemas.microsoft.com/office/drawing/2014/main" id="{A0A87B73-2633-AA49-BD18-F8F801EACAEA}"/>
              </a:ext>
            </a:extLst>
          </p:cNvPr>
          <p:cNvSpPr>
            <a:spLocks noGrp="1"/>
          </p:cNvSpPr>
          <p:nvPr>
            <p:ph type="ftr" sz="quarter" idx="11"/>
          </p:nvPr>
        </p:nvSpPr>
        <p:spPr/>
        <p:txBody>
          <a:bodyPr/>
          <a:lstStyle/>
          <a:p>
            <a:r>
              <a:rPr lang="en-US"/>
              <a:t>Wurzburg, Germany, ECML-PKDD 2019, Tutorial on XKDD</a:t>
            </a:r>
          </a:p>
        </p:txBody>
      </p:sp>
    </p:spTree>
    <p:extLst>
      <p:ext uri="{BB962C8B-B14F-4D97-AF65-F5344CB8AC3E}">
        <p14:creationId xmlns:p14="http://schemas.microsoft.com/office/powerpoint/2010/main" val="1225103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CC0DF7A-92CF-2848-9DB4-1B5627B91BA5}"/>
              </a:ext>
            </a:extLst>
          </p:cNvPr>
          <p:cNvSpPr>
            <a:spLocks noGrp="1"/>
          </p:cNvSpPr>
          <p:nvPr>
            <p:ph type="title"/>
          </p:nvPr>
        </p:nvSpPr>
        <p:spPr/>
        <p:txBody>
          <a:bodyPr/>
          <a:lstStyle>
            <a:lvl1pPr>
              <a:defRPr b="1"/>
            </a:lvl1pPr>
          </a:lstStyle>
          <a:p>
            <a:r>
              <a:rPr lang="en-US" dirty="0"/>
              <a:t>Click to edit Master title style</a:t>
            </a:r>
          </a:p>
        </p:txBody>
      </p:sp>
      <p:sp>
        <p:nvSpPr>
          <p:cNvPr id="3" name="Segnaposto contenuto 2">
            <a:extLst>
              <a:ext uri="{FF2B5EF4-FFF2-40B4-BE49-F238E27FC236}">
                <a16:creationId xmlns:a16="http://schemas.microsoft.com/office/drawing/2014/main" id="{7942309D-38BE-FB4A-A153-E7BF232DC35A}"/>
              </a:ext>
            </a:extLst>
          </p:cNvPr>
          <p:cNvSpPr>
            <a:spLocks noGrp="1"/>
          </p:cNvSpPr>
          <p:nvPr>
            <p:ph idx="1"/>
          </p:nvPr>
        </p:nvSpPr>
        <p:spPr/>
        <p:txBody>
          <a:bodyPr/>
          <a:lstStyle/>
          <a:p>
            <a:pPr lvl="0"/>
            <a:r>
              <a:rPr lang="en-US"/>
              <a:t>Edit Master text styles</a:t>
            </a:r>
          </a:p>
        </p:txBody>
      </p:sp>
      <p:sp>
        <p:nvSpPr>
          <p:cNvPr id="4" name="Segnaposto data 3">
            <a:extLst>
              <a:ext uri="{FF2B5EF4-FFF2-40B4-BE49-F238E27FC236}">
                <a16:creationId xmlns:a16="http://schemas.microsoft.com/office/drawing/2014/main" id="{12A7E30A-C665-904E-811B-93A46D9D502A}"/>
              </a:ext>
            </a:extLst>
          </p:cNvPr>
          <p:cNvSpPr>
            <a:spLocks noGrp="1"/>
          </p:cNvSpPr>
          <p:nvPr>
            <p:ph type="dt" sz="half" idx="10"/>
          </p:nvPr>
        </p:nvSpPr>
        <p:spPr/>
        <p:txBody>
          <a:bodyPr/>
          <a:lstStyle>
            <a:lvl1pPr>
              <a:defRPr/>
            </a:lvl1pPr>
          </a:lstStyle>
          <a:p>
            <a:fld id="{08F26437-C4B7-604C-861E-5D3C0D33BE5F}" type="datetime1">
              <a:rPr lang="it-IT" smtClean="0"/>
              <a:t>20/04/26</a:t>
            </a:fld>
            <a:endParaRPr lang="en-US" dirty="0"/>
          </a:p>
        </p:txBody>
      </p:sp>
      <p:sp>
        <p:nvSpPr>
          <p:cNvPr id="5" name="Segnaposto piè di pagina 4">
            <a:extLst>
              <a:ext uri="{FF2B5EF4-FFF2-40B4-BE49-F238E27FC236}">
                <a16:creationId xmlns:a16="http://schemas.microsoft.com/office/drawing/2014/main" id="{D06F7EE2-4B79-B948-8ACA-1A13A30CB1FE}"/>
              </a:ext>
            </a:extLst>
          </p:cNvPr>
          <p:cNvSpPr>
            <a:spLocks noGrp="1"/>
          </p:cNvSpPr>
          <p:nvPr>
            <p:ph type="ftr" sz="quarter" idx="11"/>
          </p:nvPr>
        </p:nvSpPr>
        <p:spPr/>
        <p:txBody>
          <a:bodyPr/>
          <a:lstStyle/>
          <a:p>
            <a:r>
              <a:rPr lang="en-US"/>
              <a:t>Wurzburg, Germany, ECML-PKDD 2019, Tutorial on XKDD</a:t>
            </a:r>
            <a:endParaRPr lang="en-US" dirty="0"/>
          </a:p>
        </p:txBody>
      </p:sp>
      <p:cxnSp>
        <p:nvCxnSpPr>
          <p:cNvPr id="8" name="Connettore 1 7">
            <a:extLst>
              <a:ext uri="{FF2B5EF4-FFF2-40B4-BE49-F238E27FC236}">
                <a16:creationId xmlns:a16="http://schemas.microsoft.com/office/drawing/2014/main" id="{97C08697-B432-D649-AD79-87B7574B2E35}"/>
              </a:ext>
            </a:extLst>
          </p:cNvPr>
          <p:cNvCxnSpPr/>
          <p:nvPr userDrawn="1"/>
        </p:nvCxnSpPr>
        <p:spPr>
          <a:xfrm>
            <a:off x="0" y="1332881"/>
            <a:ext cx="11353800" cy="0"/>
          </a:xfrm>
          <a:prstGeom prst="line">
            <a:avLst/>
          </a:prstGeom>
          <a:ln w="76200">
            <a:solidFill>
              <a:srgbClr val="00919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5926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BBB1760-1D6E-514E-BBBA-90A5FFA11744}"/>
              </a:ext>
            </a:extLst>
          </p:cNvPr>
          <p:cNvSpPr>
            <a:spLocks noGrp="1"/>
          </p:cNvSpPr>
          <p:nvPr>
            <p:ph type="title"/>
          </p:nvPr>
        </p:nvSpPr>
        <p:spPr>
          <a:xfrm>
            <a:off x="831850" y="1709738"/>
            <a:ext cx="10515600" cy="2852737"/>
          </a:xfrm>
        </p:spPr>
        <p:txBody>
          <a:bodyPr anchor="b"/>
          <a:lstStyle>
            <a:lvl1pPr>
              <a:defRPr sz="6000" b="1"/>
            </a:lvl1pPr>
          </a:lstStyle>
          <a:p>
            <a:r>
              <a:rPr lang="en-US" dirty="0"/>
              <a:t>Click to edit Master title style</a:t>
            </a:r>
          </a:p>
        </p:txBody>
      </p:sp>
      <p:sp>
        <p:nvSpPr>
          <p:cNvPr id="3" name="Segnaposto testo 2">
            <a:extLst>
              <a:ext uri="{FF2B5EF4-FFF2-40B4-BE49-F238E27FC236}">
                <a16:creationId xmlns:a16="http://schemas.microsoft.com/office/drawing/2014/main" id="{700AE6B2-F4ED-8C4E-84AB-8DC3DD570E0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Segnaposto data 3">
            <a:extLst>
              <a:ext uri="{FF2B5EF4-FFF2-40B4-BE49-F238E27FC236}">
                <a16:creationId xmlns:a16="http://schemas.microsoft.com/office/drawing/2014/main" id="{7D395726-958D-3549-89E0-A190673A4585}"/>
              </a:ext>
            </a:extLst>
          </p:cNvPr>
          <p:cNvSpPr>
            <a:spLocks noGrp="1"/>
          </p:cNvSpPr>
          <p:nvPr>
            <p:ph type="dt" sz="half" idx="10"/>
          </p:nvPr>
        </p:nvSpPr>
        <p:spPr/>
        <p:txBody>
          <a:bodyPr/>
          <a:lstStyle>
            <a:lvl1pPr>
              <a:defRPr/>
            </a:lvl1pPr>
          </a:lstStyle>
          <a:p>
            <a:fld id="{11C28B9B-7C80-B543-BDBB-A92A7AEFD72F}" type="datetime1">
              <a:rPr lang="it-IT" smtClean="0"/>
              <a:t>20/04/26</a:t>
            </a:fld>
            <a:endParaRPr lang="en-US" dirty="0"/>
          </a:p>
        </p:txBody>
      </p:sp>
      <p:sp>
        <p:nvSpPr>
          <p:cNvPr id="5" name="Segnaposto piè di pagina 4">
            <a:extLst>
              <a:ext uri="{FF2B5EF4-FFF2-40B4-BE49-F238E27FC236}">
                <a16:creationId xmlns:a16="http://schemas.microsoft.com/office/drawing/2014/main" id="{C4EACAE3-5BD7-D34D-91E6-6EB901BE9B40}"/>
              </a:ext>
            </a:extLst>
          </p:cNvPr>
          <p:cNvSpPr>
            <a:spLocks noGrp="1"/>
          </p:cNvSpPr>
          <p:nvPr>
            <p:ph type="ftr" sz="quarter" idx="11"/>
          </p:nvPr>
        </p:nvSpPr>
        <p:spPr/>
        <p:txBody>
          <a:bodyPr/>
          <a:lstStyle/>
          <a:p>
            <a:r>
              <a:rPr lang="en-US"/>
              <a:t>Wurzburg, Germany, ECML-PKDD 2019, Tutorial on XKDD</a:t>
            </a:r>
            <a:endParaRPr lang="en-US" dirty="0"/>
          </a:p>
        </p:txBody>
      </p:sp>
      <p:cxnSp>
        <p:nvCxnSpPr>
          <p:cNvPr id="7" name="Connettore 1 6">
            <a:extLst>
              <a:ext uri="{FF2B5EF4-FFF2-40B4-BE49-F238E27FC236}">
                <a16:creationId xmlns:a16="http://schemas.microsoft.com/office/drawing/2014/main" id="{EF479E78-DA7B-C944-8244-979118C4A42C}"/>
              </a:ext>
            </a:extLst>
          </p:cNvPr>
          <p:cNvCxnSpPr/>
          <p:nvPr userDrawn="1"/>
        </p:nvCxnSpPr>
        <p:spPr>
          <a:xfrm>
            <a:off x="0" y="4568262"/>
            <a:ext cx="11353800" cy="0"/>
          </a:xfrm>
          <a:prstGeom prst="line">
            <a:avLst/>
          </a:prstGeom>
          <a:ln w="76200">
            <a:solidFill>
              <a:srgbClr val="00919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9265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D7BC0BA-3DD1-6F4D-958D-0CFF774B7308}"/>
              </a:ext>
            </a:extLst>
          </p:cNvPr>
          <p:cNvSpPr>
            <a:spLocks noGrp="1"/>
          </p:cNvSpPr>
          <p:nvPr>
            <p:ph type="title"/>
          </p:nvPr>
        </p:nvSpPr>
        <p:spPr/>
        <p:txBody>
          <a:bodyPr/>
          <a:lstStyle>
            <a:lvl1pPr>
              <a:defRPr b="1"/>
            </a:lvl1pPr>
          </a:lstStyle>
          <a:p>
            <a:r>
              <a:rPr lang="en-US" dirty="0"/>
              <a:t>Click to edit Master title style</a:t>
            </a:r>
          </a:p>
        </p:txBody>
      </p:sp>
      <p:sp>
        <p:nvSpPr>
          <p:cNvPr id="3" name="Segnaposto contenuto 2">
            <a:extLst>
              <a:ext uri="{FF2B5EF4-FFF2-40B4-BE49-F238E27FC236}">
                <a16:creationId xmlns:a16="http://schemas.microsoft.com/office/drawing/2014/main" id="{C8821535-ED3B-1E4C-9BBE-4E2F63316ECA}"/>
              </a:ext>
            </a:extLst>
          </p:cNvPr>
          <p:cNvSpPr>
            <a:spLocks noGrp="1"/>
          </p:cNvSpPr>
          <p:nvPr>
            <p:ph sz="half" idx="1"/>
          </p:nvPr>
        </p:nvSpPr>
        <p:spPr>
          <a:xfrm>
            <a:off x="838200" y="1825625"/>
            <a:ext cx="5181600" cy="4351338"/>
          </a:xfrm>
        </p:spPr>
        <p:txBody>
          <a:bodyPr/>
          <a:lstStyle/>
          <a:p>
            <a:pPr lvl="0"/>
            <a:r>
              <a:rPr lang="en-US"/>
              <a:t>Edit Master text styles</a:t>
            </a:r>
          </a:p>
        </p:txBody>
      </p:sp>
      <p:sp>
        <p:nvSpPr>
          <p:cNvPr id="4" name="Segnaposto contenuto 3">
            <a:extLst>
              <a:ext uri="{FF2B5EF4-FFF2-40B4-BE49-F238E27FC236}">
                <a16:creationId xmlns:a16="http://schemas.microsoft.com/office/drawing/2014/main" id="{D6C8D277-1C2D-6A43-9A64-CF03C6DADF81}"/>
              </a:ext>
            </a:extLst>
          </p:cNvPr>
          <p:cNvSpPr>
            <a:spLocks noGrp="1"/>
          </p:cNvSpPr>
          <p:nvPr>
            <p:ph sz="half" idx="2"/>
          </p:nvPr>
        </p:nvSpPr>
        <p:spPr>
          <a:xfrm>
            <a:off x="6172200" y="1825625"/>
            <a:ext cx="5181600" cy="4351338"/>
          </a:xfrm>
        </p:spPr>
        <p:txBody>
          <a:bodyPr/>
          <a:lstStyle/>
          <a:p>
            <a:pPr lvl="0"/>
            <a:r>
              <a:rPr lang="en-US"/>
              <a:t>Edit Master text styles</a:t>
            </a:r>
          </a:p>
        </p:txBody>
      </p:sp>
      <p:sp>
        <p:nvSpPr>
          <p:cNvPr id="5" name="Segnaposto data 4">
            <a:extLst>
              <a:ext uri="{FF2B5EF4-FFF2-40B4-BE49-F238E27FC236}">
                <a16:creationId xmlns:a16="http://schemas.microsoft.com/office/drawing/2014/main" id="{6A6A55CF-0328-2042-8867-0545FCFCD758}"/>
              </a:ext>
            </a:extLst>
          </p:cNvPr>
          <p:cNvSpPr>
            <a:spLocks noGrp="1"/>
          </p:cNvSpPr>
          <p:nvPr>
            <p:ph type="dt" sz="half" idx="10"/>
          </p:nvPr>
        </p:nvSpPr>
        <p:spPr/>
        <p:txBody>
          <a:bodyPr/>
          <a:lstStyle>
            <a:lvl1pPr>
              <a:defRPr/>
            </a:lvl1pPr>
          </a:lstStyle>
          <a:p>
            <a:fld id="{F08C9651-A614-D546-8E5D-E84C7A0F43D0}" type="datetime1">
              <a:rPr lang="it-IT" smtClean="0"/>
              <a:t>20/04/26</a:t>
            </a:fld>
            <a:endParaRPr lang="en-US" dirty="0"/>
          </a:p>
        </p:txBody>
      </p:sp>
      <p:sp>
        <p:nvSpPr>
          <p:cNvPr id="6" name="Segnaposto piè di pagina 5">
            <a:extLst>
              <a:ext uri="{FF2B5EF4-FFF2-40B4-BE49-F238E27FC236}">
                <a16:creationId xmlns:a16="http://schemas.microsoft.com/office/drawing/2014/main" id="{C3E56001-C03F-CE40-B8BD-AD028CAD3D43}"/>
              </a:ext>
            </a:extLst>
          </p:cNvPr>
          <p:cNvSpPr>
            <a:spLocks noGrp="1"/>
          </p:cNvSpPr>
          <p:nvPr>
            <p:ph type="ftr" sz="quarter" idx="11"/>
          </p:nvPr>
        </p:nvSpPr>
        <p:spPr/>
        <p:txBody>
          <a:bodyPr/>
          <a:lstStyle/>
          <a:p>
            <a:r>
              <a:rPr lang="en-US"/>
              <a:t>Wurzburg, Germany, ECML-PKDD 2019, Tutorial on XKDD</a:t>
            </a:r>
            <a:endParaRPr lang="en-US" dirty="0"/>
          </a:p>
        </p:txBody>
      </p:sp>
      <p:cxnSp>
        <p:nvCxnSpPr>
          <p:cNvPr id="9" name="Connettore 1 8">
            <a:extLst>
              <a:ext uri="{FF2B5EF4-FFF2-40B4-BE49-F238E27FC236}">
                <a16:creationId xmlns:a16="http://schemas.microsoft.com/office/drawing/2014/main" id="{3EA728E4-6B64-4E40-811F-04DF1CBB7D31}"/>
              </a:ext>
            </a:extLst>
          </p:cNvPr>
          <p:cNvCxnSpPr/>
          <p:nvPr userDrawn="1"/>
        </p:nvCxnSpPr>
        <p:spPr>
          <a:xfrm>
            <a:off x="0" y="1332881"/>
            <a:ext cx="11353800" cy="0"/>
          </a:xfrm>
          <a:prstGeom prst="line">
            <a:avLst/>
          </a:prstGeom>
          <a:ln w="76200">
            <a:solidFill>
              <a:srgbClr val="00919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29317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F6ABA12-78D7-6048-8681-A36AC099A5AA}"/>
              </a:ext>
            </a:extLst>
          </p:cNvPr>
          <p:cNvSpPr>
            <a:spLocks noGrp="1"/>
          </p:cNvSpPr>
          <p:nvPr>
            <p:ph type="title"/>
          </p:nvPr>
        </p:nvSpPr>
        <p:spPr>
          <a:xfrm>
            <a:off x="839788" y="365125"/>
            <a:ext cx="10515600" cy="1325563"/>
          </a:xfrm>
        </p:spPr>
        <p:txBody>
          <a:bodyPr/>
          <a:lstStyle>
            <a:lvl1pPr>
              <a:defRPr b="1"/>
            </a:lvl1pPr>
          </a:lstStyle>
          <a:p>
            <a:r>
              <a:rPr lang="en-US" dirty="0"/>
              <a:t>Click to edit Master title style</a:t>
            </a:r>
          </a:p>
        </p:txBody>
      </p:sp>
      <p:sp>
        <p:nvSpPr>
          <p:cNvPr id="3" name="Segnaposto testo 2">
            <a:extLst>
              <a:ext uri="{FF2B5EF4-FFF2-40B4-BE49-F238E27FC236}">
                <a16:creationId xmlns:a16="http://schemas.microsoft.com/office/drawing/2014/main" id="{8C04B37B-2090-8D41-B9BF-D88C3E98E0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Segnaposto contenuto 3">
            <a:extLst>
              <a:ext uri="{FF2B5EF4-FFF2-40B4-BE49-F238E27FC236}">
                <a16:creationId xmlns:a16="http://schemas.microsoft.com/office/drawing/2014/main" id="{7BDC3BAF-954D-8E4C-A6EB-B3ADEB1C2A66}"/>
              </a:ext>
            </a:extLst>
          </p:cNvPr>
          <p:cNvSpPr>
            <a:spLocks noGrp="1"/>
          </p:cNvSpPr>
          <p:nvPr>
            <p:ph sz="half" idx="2"/>
          </p:nvPr>
        </p:nvSpPr>
        <p:spPr>
          <a:xfrm>
            <a:off x="839788" y="2505075"/>
            <a:ext cx="5157787" cy="3684588"/>
          </a:xfrm>
        </p:spPr>
        <p:txBody>
          <a:bodyPr/>
          <a:lstStyle/>
          <a:p>
            <a:pPr lvl="0"/>
            <a:r>
              <a:rPr lang="en-US"/>
              <a:t>Edit Master text styles</a:t>
            </a:r>
          </a:p>
        </p:txBody>
      </p:sp>
      <p:sp>
        <p:nvSpPr>
          <p:cNvPr id="5" name="Segnaposto testo 4">
            <a:extLst>
              <a:ext uri="{FF2B5EF4-FFF2-40B4-BE49-F238E27FC236}">
                <a16:creationId xmlns:a16="http://schemas.microsoft.com/office/drawing/2014/main" id="{7BB0CDEC-EF4F-6540-9159-D69B5F79B7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Segnaposto contenuto 5">
            <a:extLst>
              <a:ext uri="{FF2B5EF4-FFF2-40B4-BE49-F238E27FC236}">
                <a16:creationId xmlns:a16="http://schemas.microsoft.com/office/drawing/2014/main" id="{E698BE13-F69E-1A45-8586-E81C6FD52E82}"/>
              </a:ext>
            </a:extLst>
          </p:cNvPr>
          <p:cNvSpPr>
            <a:spLocks noGrp="1"/>
          </p:cNvSpPr>
          <p:nvPr>
            <p:ph sz="quarter" idx="4"/>
          </p:nvPr>
        </p:nvSpPr>
        <p:spPr>
          <a:xfrm>
            <a:off x="6172200" y="2505075"/>
            <a:ext cx="5183188" cy="3684588"/>
          </a:xfrm>
        </p:spPr>
        <p:txBody>
          <a:bodyPr/>
          <a:lstStyle/>
          <a:p>
            <a:pPr lvl="0"/>
            <a:r>
              <a:rPr lang="en-US"/>
              <a:t>Edit Master text styles</a:t>
            </a:r>
          </a:p>
        </p:txBody>
      </p:sp>
      <p:sp>
        <p:nvSpPr>
          <p:cNvPr id="7" name="Segnaposto data 6">
            <a:extLst>
              <a:ext uri="{FF2B5EF4-FFF2-40B4-BE49-F238E27FC236}">
                <a16:creationId xmlns:a16="http://schemas.microsoft.com/office/drawing/2014/main" id="{20F0C53D-183A-FC4B-9702-71A74ADCBFF5}"/>
              </a:ext>
            </a:extLst>
          </p:cNvPr>
          <p:cNvSpPr>
            <a:spLocks noGrp="1"/>
          </p:cNvSpPr>
          <p:nvPr>
            <p:ph type="dt" sz="half" idx="10"/>
          </p:nvPr>
        </p:nvSpPr>
        <p:spPr/>
        <p:txBody>
          <a:bodyPr/>
          <a:lstStyle>
            <a:lvl1pPr>
              <a:defRPr/>
            </a:lvl1pPr>
          </a:lstStyle>
          <a:p>
            <a:fld id="{B4F22444-9F01-A64E-BA90-B0526793B5AE}" type="datetime1">
              <a:rPr lang="it-IT" smtClean="0"/>
              <a:t>20/04/26</a:t>
            </a:fld>
            <a:endParaRPr lang="en-US" dirty="0"/>
          </a:p>
        </p:txBody>
      </p:sp>
      <p:sp>
        <p:nvSpPr>
          <p:cNvPr id="8" name="Segnaposto piè di pagina 7">
            <a:extLst>
              <a:ext uri="{FF2B5EF4-FFF2-40B4-BE49-F238E27FC236}">
                <a16:creationId xmlns:a16="http://schemas.microsoft.com/office/drawing/2014/main" id="{5835C857-F677-FE40-AFFD-96E8C3DFDE25}"/>
              </a:ext>
            </a:extLst>
          </p:cNvPr>
          <p:cNvSpPr>
            <a:spLocks noGrp="1"/>
          </p:cNvSpPr>
          <p:nvPr>
            <p:ph type="ftr" sz="quarter" idx="11"/>
          </p:nvPr>
        </p:nvSpPr>
        <p:spPr/>
        <p:txBody>
          <a:bodyPr/>
          <a:lstStyle/>
          <a:p>
            <a:r>
              <a:rPr lang="en-US"/>
              <a:t>Wurzburg, Germany, ECML-PKDD 2019, Tutorial on XKDD</a:t>
            </a:r>
            <a:endParaRPr lang="en-US" dirty="0"/>
          </a:p>
        </p:txBody>
      </p:sp>
      <p:cxnSp>
        <p:nvCxnSpPr>
          <p:cNvPr id="11" name="Connettore 1 10">
            <a:extLst>
              <a:ext uri="{FF2B5EF4-FFF2-40B4-BE49-F238E27FC236}">
                <a16:creationId xmlns:a16="http://schemas.microsoft.com/office/drawing/2014/main" id="{0891173D-1780-9E40-A31D-CFB5D057907D}"/>
              </a:ext>
            </a:extLst>
          </p:cNvPr>
          <p:cNvCxnSpPr/>
          <p:nvPr userDrawn="1"/>
        </p:nvCxnSpPr>
        <p:spPr>
          <a:xfrm>
            <a:off x="0" y="1332881"/>
            <a:ext cx="11353800" cy="0"/>
          </a:xfrm>
          <a:prstGeom prst="line">
            <a:avLst/>
          </a:prstGeom>
          <a:ln w="76200">
            <a:solidFill>
              <a:srgbClr val="00919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9116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94FAAE9-4446-224F-A5F9-DD4D37B4DF1D}"/>
              </a:ext>
            </a:extLst>
          </p:cNvPr>
          <p:cNvSpPr>
            <a:spLocks noGrp="1"/>
          </p:cNvSpPr>
          <p:nvPr>
            <p:ph type="title"/>
          </p:nvPr>
        </p:nvSpPr>
        <p:spPr/>
        <p:txBody>
          <a:bodyPr/>
          <a:lstStyle>
            <a:lvl1pPr>
              <a:defRPr b="1"/>
            </a:lvl1pPr>
          </a:lstStyle>
          <a:p>
            <a:r>
              <a:rPr lang="en-US" dirty="0"/>
              <a:t>Click to edit Master title style</a:t>
            </a:r>
          </a:p>
        </p:txBody>
      </p:sp>
      <p:sp>
        <p:nvSpPr>
          <p:cNvPr id="3" name="Segnaposto data 2">
            <a:extLst>
              <a:ext uri="{FF2B5EF4-FFF2-40B4-BE49-F238E27FC236}">
                <a16:creationId xmlns:a16="http://schemas.microsoft.com/office/drawing/2014/main" id="{7932027A-979A-0147-B957-23F6E4E45450}"/>
              </a:ext>
            </a:extLst>
          </p:cNvPr>
          <p:cNvSpPr>
            <a:spLocks noGrp="1"/>
          </p:cNvSpPr>
          <p:nvPr>
            <p:ph type="dt" sz="half" idx="10"/>
          </p:nvPr>
        </p:nvSpPr>
        <p:spPr/>
        <p:txBody>
          <a:bodyPr/>
          <a:lstStyle>
            <a:lvl1pPr>
              <a:defRPr/>
            </a:lvl1pPr>
          </a:lstStyle>
          <a:p>
            <a:fld id="{71E2C575-4E74-CB45-AA63-265EDD3F4832}" type="datetime1">
              <a:rPr lang="it-IT" smtClean="0"/>
              <a:t>20/04/26</a:t>
            </a:fld>
            <a:endParaRPr lang="en-US" dirty="0"/>
          </a:p>
        </p:txBody>
      </p:sp>
      <p:sp>
        <p:nvSpPr>
          <p:cNvPr id="4" name="Segnaposto piè di pagina 3">
            <a:extLst>
              <a:ext uri="{FF2B5EF4-FFF2-40B4-BE49-F238E27FC236}">
                <a16:creationId xmlns:a16="http://schemas.microsoft.com/office/drawing/2014/main" id="{6569AC3D-0D57-8446-B251-CDE0E3A6B7D3}"/>
              </a:ext>
            </a:extLst>
          </p:cNvPr>
          <p:cNvSpPr>
            <a:spLocks noGrp="1"/>
          </p:cNvSpPr>
          <p:nvPr>
            <p:ph type="ftr" sz="quarter" idx="11"/>
          </p:nvPr>
        </p:nvSpPr>
        <p:spPr/>
        <p:txBody>
          <a:bodyPr/>
          <a:lstStyle/>
          <a:p>
            <a:r>
              <a:rPr lang="en-US"/>
              <a:t>Wurzburg, Germany, ECML-PKDD 2019, Tutorial on XKDD</a:t>
            </a:r>
            <a:endParaRPr lang="en-US" dirty="0"/>
          </a:p>
        </p:txBody>
      </p:sp>
      <p:cxnSp>
        <p:nvCxnSpPr>
          <p:cNvPr id="7" name="Connettore 1 6">
            <a:extLst>
              <a:ext uri="{FF2B5EF4-FFF2-40B4-BE49-F238E27FC236}">
                <a16:creationId xmlns:a16="http://schemas.microsoft.com/office/drawing/2014/main" id="{04EB78F9-ACE7-AD48-AC0A-3615A1AC3B39}"/>
              </a:ext>
            </a:extLst>
          </p:cNvPr>
          <p:cNvCxnSpPr/>
          <p:nvPr userDrawn="1"/>
        </p:nvCxnSpPr>
        <p:spPr>
          <a:xfrm>
            <a:off x="0" y="1332881"/>
            <a:ext cx="11353800" cy="0"/>
          </a:xfrm>
          <a:prstGeom prst="line">
            <a:avLst/>
          </a:prstGeom>
          <a:ln w="76200">
            <a:solidFill>
              <a:srgbClr val="00919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76708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CD7CCD44-38AF-2748-9927-0AF5DEAF6E5C}"/>
              </a:ext>
            </a:extLst>
          </p:cNvPr>
          <p:cNvSpPr>
            <a:spLocks noGrp="1"/>
          </p:cNvSpPr>
          <p:nvPr>
            <p:ph type="dt" sz="half" idx="10"/>
          </p:nvPr>
        </p:nvSpPr>
        <p:spPr/>
        <p:txBody>
          <a:bodyPr/>
          <a:lstStyle>
            <a:lvl1pPr>
              <a:defRPr/>
            </a:lvl1pPr>
          </a:lstStyle>
          <a:p>
            <a:fld id="{8687C649-8927-E144-A3AA-F7E863ABE54D}" type="datetime1">
              <a:rPr lang="it-IT" smtClean="0"/>
              <a:t>20/04/26</a:t>
            </a:fld>
            <a:endParaRPr lang="en-US" dirty="0"/>
          </a:p>
        </p:txBody>
      </p:sp>
      <p:sp>
        <p:nvSpPr>
          <p:cNvPr id="3" name="Segnaposto piè di pagina 2">
            <a:extLst>
              <a:ext uri="{FF2B5EF4-FFF2-40B4-BE49-F238E27FC236}">
                <a16:creationId xmlns:a16="http://schemas.microsoft.com/office/drawing/2014/main" id="{D90ECF18-5B6D-0E46-8351-479B96D48AAF}"/>
              </a:ext>
            </a:extLst>
          </p:cNvPr>
          <p:cNvSpPr>
            <a:spLocks noGrp="1"/>
          </p:cNvSpPr>
          <p:nvPr>
            <p:ph type="ftr" sz="quarter" idx="11"/>
          </p:nvPr>
        </p:nvSpPr>
        <p:spPr/>
        <p:txBody>
          <a:bodyPr/>
          <a:lstStyle/>
          <a:p>
            <a:r>
              <a:rPr lang="en-US"/>
              <a:t>Wurzburg, Germany, ECML-PKDD 2019, Tutorial on XKDD</a:t>
            </a:r>
            <a:endParaRPr lang="en-US" dirty="0"/>
          </a:p>
        </p:txBody>
      </p:sp>
    </p:spTree>
    <p:extLst>
      <p:ext uri="{BB962C8B-B14F-4D97-AF65-F5344CB8AC3E}">
        <p14:creationId xmlns:p14="http://schemas.microsoft.com/office/powerpoint/2010/main" val="4171160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DF3A5D9-CE4F-6F49-B7F4-45A75BFFDD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Segnaposto contenuto 2">
            <a:extLst>
              <a:ext uri="{FF2B5EF4-FFF2-40B4-BE49-F238E27FC236}">
                <a16:creationId xmlns:a16="http://schemas.microsoft.com/office/drawing/2014/main" id="{8AACBE50-3DDC-5D47-8266-FF7265729E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p:txBody>
      </p:sp>
      <p:sp>
        <p:nvSpPr>
          <p:cNvPr id="4" name="Segnaposto testo 3">
            <a:extLst>
              <a:ext uri="{FF2B5EF4-FFF2-40B4-BE49-F238E27FC236}">
                <a16:creationId xmlns:a16="http://schemas.microsoft.com/office/drawing/2014/main" id="{250F3E9B-90C3-E044-9151-5A48304D71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Segnaposto data 4">
            <a:extLst>
              <a:ext uri="{FF2B5EF4-FFF2-40B4-BE49-F238E27FC236}">
                <a16:creationId xmlns:a16="http://schemas.microsoft.com/office/drawing/2014/main" id="{296F02DC-9538-7B4C-8AEC-00FD62F103AF}"/>
              </a:ext>
            </a:extLst>
          </p:cNvPr>
          <p:cNvSpPr>
            <a:spLocks noGrp="1"/>
          </p:cNvSpPr>
          <p:nvPr>
            <p:ph type="dt" sz="half" idx="10"/>
          </p:nvPr>
        </p:nvSpPr>
        <p:spPr/>
        <p:txBody>
          <a:bodyPr/>
          <a:lstStyle>
            <a:lvl1pPr>
              <a:defRPr/>
            </a:lvl1pPr>
          </a:lstStyle>
          <a:p>
            <a:fld id="{4DCE9C45-2ACA-2146-A9BA-1A8801DF3D90}" type="datetime1">
              <a:rPr lang="it-IT" smtClean="0"/>
              <a:t>20/04/26</a:t>
            </a:fld>
            <a:endParaRPr lang="en-US" dirty="0"/>
          </a:p>
        </p:txBody>
      </p:sp>
      <p:sp>
        <p:nvSpPr>
          <p:cNvPr id="6" name="Segnaposto piè di pagina 5">
            <a:extLst>
              <a:ext uri="{FF2B5EF4-FFF2-40B4-BE49-F238E27FC236}">
                <a16:creationId xmlns:a16="http://schemas.microsoft.com/office/drawing/2014/main" id="{C61039E8-E9EA-1F47-A455-118B30785EFA}"/>
              </a:ext>
            </a:extLst>
          </p:cNvPr>
          <p:cNvSpPr>
            <a:spLocks noGrp="1"/>
          </p:cNvSpPr>
          <p:nvPr>
            <p:ph type="ftr" sz="quarter" idx="11"/>
          </p:nvPr>
        </p:nvSpPr>
        <p:spPr/>
        <p:txBody>
          <a:bodyPr/>
          <a:lstStyle/>
          <a:p>
            <a:r>
              <a:rPr lang="en-US"/>
              <a:t>Wurzburg, Germany, ECML-PKDD 2019, Tutorial on XKDD</a:t>
            </a:r>
            <a:endParaRPr lang="en-US" dirty="0"/>
          </a:p>
        </p:txBody>
      </p:sp>
    </p:spTree>
    <p:extLst>
      <p:ext uri="{BB962C8B-B14F-4D97-AF65-F5344CB8AC3E}">
        <p14:creationId xmlns:p14="http://schemas.microsoft.com/office/powerpoint/2010/main" val="3416744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129C229-E370-0C4E-84BE-990E328EDD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Segnaposto immagine 2">
            <a:extLst>
              <a:ext uri="{FF2B5EF4-FFF2-40B4-BE49-F238E27FC236}">
                <a16:creationId xmlns:a16="http://schemas.microsoft.com/office/drawing/2014/main" id="{83911D92-876D-1D49-8C85-0314159E6C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Segnaposto testo 3">
            <a:extLst>
              <a:ext uri="{FF2B5EF4-FFF2-40B4-BE49-F238E27FC236}">
                <a16:creationId xmlns:a16="http://schemas.microsoft.com/office/drawing/2014/main" id="{7A241640-23F2-9847-A7E4-8FDAE2B6A1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Segnaposto data 4">
            <a:extLst>
              <a:ext uri="{FF2B5EF4-FFF2-40B4-BE49-F238E27FC236}">
                <a16:creationId xmlns:a16="http://schemas.microsoft.com/office/drawing/2014/main" id="{8EFE7DC9-F86D-4C42-BBB5-65A6196545FD}"/>
              </a:ext>
            </a:extLst>
          </p:cNvPr>
          <p:cNvSpPr>
            <a:spLocks noGrp="1"/>
          </p:cNvSpPr>
          <p:nvPr>
            <p:ph type="dt" sz="half" idx="10"/>
          </p:nvPr>
        </p:nvSpPr>
        <p:spPr/>
        <p:txBody>
          <a:bodyPr/>
          <a:lstStyle>
            <a:lvl1pPr>
              <a:defRPr/>
            </a:lvl1pPr>
          </a:lstStyle>
          <a:p>
            <a:fld id="{E957C8EA-2611-3F4A-8E99-618C2757CF42}" type="datetime1">
              <a:rPr lang="it-IT" smtClean="0"/>
              <a:t>20/04/26</a:t>
            </a:fld>
            <a:endParaRPr lang="en-US" dirty="0"/>
          </a:p>
        </p:txBody>
      </p:sp>
      <p:sp>
        <p:nvSpPr>
          <p:cNvPr id="6" name="Segnaposto piè di pagina 5">
            <a:extLst>
              <a:ext uri="{FF2B5EF4-FFF2-40B4-BE49-F238E27FC236}">
                <a16:creationId xmlns:a16="http://schemas.microsoft.com/office/drawing/2014/main" id="{D1B8BFF4-DFD9-E941-A9EA-E6FD29ECC841}"/>
              </a:ext>
            </a:extLst>
          </p:cNvPr>
          <p:cNvSpPr>
            <a:spLocks noGrp="1"/>
          </p:cNvSpPr>
          <p:nvPr>
            <p:ph type="ftr" sz="quarter" idx="11"/>
          </p:nvPr>
        </p:nvSpPr>
        <p:spPr/>
        <p:txBody>
          <a:bodyPr/>
          <a:lstStyle/>
          <a:p>
            <a:r>
              <a:rPr lang="en-US"/>
              <a:t>Wurzburg, Germany, ECML-PKDD 2019, Tutorial on XKDD</a:t>
            </a:r>
            <a:endParaRPr lang="en-US" dirty="0"/>
          </a:p>
        </p:txBody>
      </p:sp>
    </p:spTree>
    <p:extLst>
      <p:ext uri="{BB962C8B-B14F-4D97-AF65-F5344CB8AC3E}">
        <p14:creationId xmlns:p14="http://schemas.microsoft.com/office/powerpoint/2010/main" val="4000411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A79B98E-8402-EE4F-A656-DCC6A48EA6F0}"/>
              </a:ext>
            </a:extLst>
          </p:cNvPr>
          <p:cNvSpPr>
            <a:spLocks noGrp="1"/>
          </p:cNvSpPr>
          <p:nvPr>
            <p:ph type="title"/>
          </p:nvPr>
        </p:nvSpPr>
        <p:spPr/>
        <p:txBody>
          <a:bodyPr/>
          <a:lstStyle>
            <a:lvl1pPr>
              <a:defRPr b="1"/>
            </a:lvl1pPr>
          </a:lstStyle>
          <a:p>
            <a:r>
              <a:rPr lang="en-US" dirty="0"/>
              <a:t>Click to edit Master title style</a:t>
            </a:r>
          </a:p>
        </p:txBody>
      </p:sp>
      <p:sp>
        <p:nvSpPr>
          <p:cNvPr id="3" name="Segnaposto testo verticale 2">
            <a:extLst>
              <a:ext uri="{FF2B5EF4-FFF2-40B4-BE49-F238E27FC236}">
                <a16:creationId xmlns:a16="http://schemas.microsoft.com/office/drawing/2014/main" id="{8C7ED7AD-51E7-F740-93FD-1025332C0DD3}"/>
              </a:ext>
            </a:extLst>
          </p:cNvPr>
          <p:cNvSpPr>
            <a:spLocks noGrp="1"/>
          </p:cNvSpPr>
          <p:nvPr>
            <p:ph type="body" orient="vert" idx="1"/>
          </p:nvPr>
        </p:nvSpPr>
        <p:spPr/>
        <p:txBody>
          <a:bodyPr vert="eaVert"/>
          <a:lstStyle/>
          <a:p>
            <a:pPr lvl="0"/>
            <a:r>
              <a:rPr lang="en-US"/>
              <a:t>Edit Master text styles</a:t>
            </a:r>
          </a:p>
        </p:txBody>
      </p:sp>
      <p:sp>
        <p:nvSpPr>
          <p:cNvPr id="4" name="Segnaposto data 3">
            <a:extLst>
              <a:ext uri="{FF2B5EF4-FFF2-40B4-BE49-F238E27FC236}">
                <a16:creationId xmlns:a16="http://schemas.microsoft.com/office/drawing/2014/main" id="{3C297406-BB99-2640-B389-5F24A3DC807C}"/>
              </a:ext>
            </a:extLst>
          </p:cNvPr>
          <p:cNvSpPr>
            <a:spLocks noGrp="1"/>
          </p:cNvSpPr>
          <p:nvPr>
            <p:ph type="dt" sz="half" idx="10"/>
          </p:nvPr>
        </p:nvSpPr>
        <p:spPr/>
        <p:txBody>
          <a:bodyPr/>
          <a:lstStyle>
            <a:lvl1pPr>
              <a:defRPr/>
            </a:lvl1pPr>
          </a:lstStyle>
          <a:p>
            <a:fld id="{2ED2041F-5EF3-3145-A49B-0814F547AEF9}" type="datetime1">
              <a:rPr lang="it-IT" smtClean="0"/>
              <a:t>20/04/26</a:t>
            </a:fld>
            <a:endParaRPr lang="en-US" dirty="0"/>
          </a:p>
        </p:txBody>
      </p:sp>
      <p:sp>
        <p:nvSpPr>
          <p:cNvPr id="5" name="Segnaposto piè di pagina 4">
            <a:extLst>
              <a:ext uri="{FF2B5EF4-FFF2-40B4-BE49-F238E27FC236}">
                <a16:creationId xmlns:a16="http://schemas.microsoft.com/office/drawing/2014/main" id="{AF519D53-C423-8F45-AA29-CDE0650DB855}"/>
              </a:ext>
            </a:extLst>
          </p:cNvPr>
          <p:cNvSpPr>
            <a:spLocks noGrp="1"/>
          </p:cNvSpPr>
          <p:nvPr>
            <p:ph type="ftr" sz="quarter" idx="11"/>
          </p:nvPr>
        </p:nvSpPr>
        <p:spPr/>
        <p:txBody>
          <a:bodyPr/>
          <a:lstStyle/>
          <a:p>
            <a:r>
              <a:rPr lang="en-US"/>
              <a:t>Wurzburg, Germany, ECML-PKDD 2019, Tutorial on XKDD</a:t>
            </a:r>
            <a:endParaRPr lang="en-US" dirty="0"/>
          </a:p>
        </p:txBody>
      </p:sp>
      <p:cxnSp>
        <p:nvCxnSpPr>
          <p:cNvPr id="8" name="Connettore 1 7">
            <a:extLst>
              <a:ext uri="{FF2B5EF4-FFF2-40B4-BE49-F238E27FC236}">
                <a16:creationId xmlns:a16="http://schemas.microsoft.com/office/drawing/2014/main" id="{112DD419-0A67-9744-B3B9-809AFC711840}"/>
              </a:ext>
            </a:extLst>
          </p:cNvPr>
          <p:cNvCxnSpPr/>
          <p:nvPr userDrawn="1"/>
        </p:nvCxnSpPr>
        <p:spPr>
          <a:xfrm>
            <a:off x="0" y="1332881"/>
            <a:ext cx="11353800" cy="0"/>
          </a:xfrm>
          <a:prstGeom prst="line">
            <a:avLst/>
          </a:prstGeom>
          <a:ln w="76200">
            <a:solidFill>
              <a:srgbClr val="00FB9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89369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A99B30F2-9DD7-A449-8E34-650F9CFCFC4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Segnaposto testo verticale 2">
            <a:extLst>
              <a:ext uri="{FF2B5EF4-FFF2-40B4-BE49-F238E27FC236}">
                <a16:creationId xmlns:a16="http://schemas.microsoft.com/office/drawing/2014/main" id="{869B78D2-A881-6F42-89DA-8AC00B23816A}"/>
              </a:ext>
            </a:extLst>
          </p:cNvPr>
          <p:cNvSpPr>
            <a:spLocks noGrp="1"/>
          </p:cNvSpPr>
          <p:nvPr>
            <p:ph type="body" orient="vert" idx="1"/>
          </p:nvPr>
        </p:nvSpPr>
        <p:spPr>
          <a:xfrm>
            <a:off x="838200" y="365125"/>
            <a:ext cx="7734300" cy="5811838"/>
          </a:xfrm>
        </p:spPr>
        <p:txBody>
          <a:bodyPr vert="eaVert"/>
          <a:lstStyle/>
          <a:p>
            <a:pPr lvl="0"/>
            <a:r>
              <a:rPr lang="en-US"/>
              <a:t>Edit Master text styles</a:t>
            </a:r>
          </a:p>
        </p:txBody>
      </p:sp>
      <p:sp>
        <p:nvSpPr>
          <p:cNvPr id="4" name="Segnaposto data 3">
            <a:extLst>
              <a:ext uri="{FF2B5EF4-FFF2-40B4-BE49-F238E27FC236}">
                <a16:creationId xmlns:a16="http://schemas.microsoft.com/office/drawing/2014/main" id="{F7511472-DCCA-1F4E-80B9-8E99EC281E23}"/>
              </a:ext>
            </a:extLst>
          </p:cNvPr>
          <p:cNvSpPr>
            <a:spLocks noGrp="1"/>
          </p:cNvSpPr>
          <p:nvPr>
            <p:ph type="dt" sz="half" idx="10"/>
          </p:nvPr>
        </p:nvSpPr>
        <p:spPr/>
        <p:txBody>
          <a:bodyPr/>
          <a:lstStyle>
            <a:lvl1pPr>
              <a:defRPr/>
            </a:lvl1pPr>
          </a:lstStyle>
          <a:p>
            <a:fld id="{FD0F37EA-E13C-9545-99A5-5937716205AB}" type="datetime1">
              <a:rPr lang="it-IT" smtClean="0"/>
              <a:t>20/04/26</a:t>
            </a:fld>
            <a:endParaRPr lang="en-US" dirty="0"/>
          </a:p>
        </p:txBody>
      </p:sp>
      <p:sp>
        <p:nvSpPr>
          <p:cNvPr id="5" name="Segnaposto piè di pagina 4">
            <a:extLst>
              <a:ext uri="{FF2B5EF4-FFF2-40B4-BE49-F238E27FC236}">
                <a16:creationId xmlns:a16="http://schemas.microsoft.com/office/drawing/2014/main" id="{1CA25BF8-9292-B945-8562-F53E73BEAF41}"/>
              </a:ext>
            </a:extLst>
          </p:cNvPr>
          <p:cNvSpPr>
            <a:spLocks noGrp="1"/>
          </p:cNvSpPr>
          <p:nvPr>
            <p:ph type="ftr" sz="quarter" idx="11"/>
          </p:nvPr>
        </p:nvSpPr>
        <p:spPr/>
        <p:txBody>
          <a:bodyPr/>
          <a:lstStyle/>
          <a:p>
            <a:r>
              <a:rPr lang="en-US"/>
              <a:t>Wurzburg, Germany, ECML-PKDD 2019, Tutorial on XKDD</a:t>
            </a:r>
            <a:endParaRPr lang="en-US" dirty="0"/>
          </a:p>
        </p:txBody>
      </p:sp>
    </p:spTree>
    <p:extLst>
      <p:ext uri="{BB962C8B-B14F-4D97-AF65-F5344CB8AC3E}">
        <p14:creationId xmlns:p14="http://schemas.microsoft.com/office/powerpoint/2010/main" val="25153347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152400"/>
            <a:ext cx="11040533" cy="533400"/>
          </a:xfrm>
        </p:spPr>
        <p:txBody>
          <a:bodyPr/>
          <a:lstStyle/>
          <a:p>
            <a:r>
              <a:rPr lang="en-US"/>
              <a:t>Click to edit Master title style</a:t>
            </a:r>
          </a:p>
        </p:txBody>
      </p:sp>
      <p:sp>
        <p:nvSpPr>
          <p:cNvPr id="3" name="Text Placeholder 2"/>
          <p:cNvSpPr>
            <a:spLocks noGrp="1"/>
          </p:cNvSpPr>
          <p:nvPr>
            <p:ph type="body" sz="half" idx="1"/>
          </p:nvPr>
        </p:nvSpPr>
        <p:spPr>
          <a:xfrm>
            <a:off x="548217" y="1143000"/>
            <a:ext cx="5444067"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5484" y="1143000"/>
            <a:ext cx="5444067"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1">
            <a:extLst>
              <a:ext uri="{FF2B5EF4-FFF2-40B4-BE49-F238E27FC236}">
                <a16:creationId xmlns:a16="http://schemas.microsoft.com/office/drawing/2014/main" id="{6912AA19-543F-0C4D-B30E-705307E425F0}"/>
              </a:ext>
            </a:extLst>
          </p:cNvPr>
          <p:cNvSpPr>
            <a:spLocks noGrp="1"/>
          </p:cNvSpPr>
          <p:nvPr>
            <p:ph type="ftr" sz="quarter" idx="10"/>
          </p:nvPr>
        </p:nvSpPr>
        <p:spPr/>
        <p:txBody>
          <a:bodyPr/>
          <a:lstStyle>
            <a:lvl1pPr>
              <a:defRPr/>
            </a:lvl1pPr>
          </a:lstStyle>
          <a:p>
            <a:pPr>
              <a:defRPr/>
            </a:pPr>
            <a:r>
              <a:rPr lang="en-US"/>
              <a:t>Introduction to Data Mining, 2</a:t>
            </a:r>
            <a:r>
              <a:rPr lang="en-US" baseline="30000"/>
              <a:t>nd</a:t>
            </a:r>
            <a:r>
              <a:rPr lang="en-US"/>
              <a:t> Edition</a:t>
            </a:r>
          </a:p>
        </p:txBody>
      </p:sp>
      <p:sp>
        <p:nvSpPr>
          <p:cNvPr id="6" name="Slide Number Placeholder 2">
            <a:extLst>
              <a:ext uri="{FF2B5EF4-FFF2-40B4-BE49-F238E27FC236}">
                <a16:creationId xmlns:a16="http://schemas.microsoft.com/office/drawing/2014/main" id="{88FE169F-F229-7B48-9D98-5DCA5F223233}"/>
              </a:ext>
            </a:extLst>
          </p:cNvPr>
          <p:cNvSpPr>
            <a:spLocks noGrp="1"/>
          </p:cNvSpPr>
          <p:nvPr>
            <p:ph type="sldNum" sz="quarter" idx="11"/>
          </p:nvPr>
        </p:nvSpPr>
        <p:spPr/>
        <p:txBody>
          <a:bodyPr/>
          <a:lstStyle>
            <a:lvl1pPr>
              <a:defRPr/>
            </a:lvl1pPr>
          </a:lstStyle>
          <a:p>
            <a:pPr>
              <a:defRPr/>
            </a:pPr>
            <a:fld id="{868C4B8C-6B23-E143-9946-3031804F1879}" type="slidenum">
              <a:rPr lang="en-US" altLang="en-IT"/>
              <a:pPr>
                <a:defRPr/>
              </a:pPr>
              <a:t>‹N›</a:t>
            </a:fld>
            <a:endParaRPr lang="en-US" altLang="en-IT"/>
          </a:p>
        </p:txBody>
      </p:sp>
      <p:sp>
        <p:nvSpPr>
          <p:cNvPr id="7" name="Date Placeholder 3">
            <a:extLst>
              <a:ext uri="{FF2B5EF4-FFF2-40B4-BE49-F238E27FC236}">
                <a16:creationId xmlns:a16="http://schemas.microsoft.com/office/drawing/2014/main" id="{E04236D8-66D7-DC4A-B7B9-683453FCCC17}"/>
              </a:ext>
            </a:extLst>
          </p:cNvPr>
          <p:cNvSpPr>
            <a:spLocks noGrp="1"/>
          </p:cNvSpPr>
          <p:nvPr>
            <p:ph type="dt" sz="half" idx="12"/>
          </p:nvPr>
        </p:nvSpPr>
        <p:spPr/>
        <p:txBody>
          <a:bodyPr/>
          <a:lstStyle>
            <a:lvl1pPr>
              <a:defRPr/>
            </a:lvl1pPr>
          </a:lstStyle>
          <a:p>
            <a:pPr>
              <a:defRPr/>
            </a:pPr>
            <a:fld id="{217B492D-E3BD-0740-B9BC-B11982F8EADD}" type="datetime1">
              <a:rPr lang="en-US" altLang="en-IT"/>
              <a:pPr>
                <a:defRPr/>
              </a:pPr>
              <a:t>4/20/26</a:t>
            </a:fld>
            <a:endParaRPr lang="en-US" altLang="en-IT"/>
          </a:p>
        </p:txBody>
      </p:sp>
    </p:spTree>
    <p:extLst>
      <p:ext uri="{BB962C8B-B14F-4D97-AF65-F5344CB8AC3E}">
        <p14:creationId xmlns:p14="http://schemas.microsoft.com/office/powerpoint/2010/main" val="1170262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B931ADDB-CF09-4C4A-A381-EBEAEC8695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dirty="0"/>
              <a:t>Fare clic per modificare lo stile del titolo dello schema</a:t>
            </a:r>
            <a:endParaRPr lang="en-US" dirty="0"/>
          </a:p>
        </p:txBody>
      </p:sp>
      <p:sp>
        <p:nvSpPr>
          <p:cNvPr id="3" name="Segnaposto testo 2">
            <a:extLst>
              <a:ext uri="{FF2B5EF4-FFF2-40B4-BE49-F238E27FC236}">
                <a16:creationId xmlns:a16="http://schemas.microsoft.com/office/drawing/2014/main" id="{BF631CBA-384C-8F47-AD02-D9465EAF86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r>
              <a:rPr lang="it-IT"/>
              <a:t>Modifica gli stili del testo dello schema
Secondo livello
Terzo livello
Quarto livello
Quinto livello</a:t>
            </a:r>
            <a:endParaRPr lang="en-US"/>
          </a:p>
        </p:txBody>
      </p:sp>
      <p:sp>
        <p:nvSpPr>
          <p:cNvPr id="4" name="Segnaposto data 3">
            <a:extLst>
              <a:ext uri="{FF2B5EF4-FFF2-40B4-BE49-F238E27FC236}">
                <a16:creationId xmlns:a16="http://schemas.microsoft.com/office/drawing/2014/main" id="{66AB79F8-8BC7-EA4F-A539-66731CC399C8}"/>
              </a:ext>
            </a:extLst>
          </p:cNvPr>
          <p:cNvSpPr>
            <a:spLocks noGrp="1"/>
          </p:cNvSpPr>
          <p:nvPr>
            <p:ph type="dt" sz="half" idx="2"/>
          </p:nvPr>
        </p:nvSpPr>
        <p:spPr>
          <a:xfrm>
            <a:off x="838200" y="6499468"/>
            <a:ext cx="2743200" cy="365125"/>
          </a:xfrm>
          <a:prstGeom prst="rect">
            <a:avLst/>
          </a:prstGeom>
        </p:spPr>
        <p:txBody>
          <a:bodyPr vert="horz" lIns="91440" tIns="45720" rIns="91440" bIns="45720" rtlCol="0" anchor="b"/>
          <a:lstStyle>
            <a:lvl1pPr algn="l">
              <a:defRPr sz="1200">
                <a:solidFill>
                  <a:schemeClr val="tx1">
                    <a:tint val="75000"/>
                  </a:schemeClr>
                </a:solidFill>
              </a:defRPr>
            </a:lvl1pPr>
          </a:lstStyle>
          <a:p>
            <a:fld id="{1D422C14-3BC9-D542-B4D4-B9E4C141C801}" type="datetime1">
              <a:rPr lang="it-IT" smtClean="0"/>
              <a:t>20/04/26</a:t>
            </a:fld>
            <a:endParaRPr lang="en-US" dirty="0"/>
          </a:p>
        </p:txBody>
      </p:sp>
      <p:sp>
        <p:nvSpPr>
          <p:cNvPr id="5" name="Segnaposto piè di pagina 4">
            <a:extLst>
              <a:ext uri="{FF2B5EF4-FFF2-40B4-BE49-F238E27FC236}">
                <a16:creationId xmlns:a16="http://schemas.microsoft.com/office/drawing/2014/main" id="{582DF6E6-74CD-BD43-9A7F-E93E6BAD2FF5}"/>
              </a:ext>
            </a:extLst>
          </p:cNvPr>
          <p:cNvSpPr>
            <a:spLocks noGrp="1"/>
          </p:cNvSpPr>
          <p:nvPr>
            <p:ph type="ftr" sz="quarter" idx="3"/>
          </p:nvPr>
        </p:nvSpPr>
        <p:spPr>
          <a:xfrm>
            <a:off x="4038600" y="6499468"/>
            <a:ext cx="4114800" cy="365125"/>
          </a:xfrm>
          <a:prstGeom prst="rect">
            <a:avLst/>
          </a:prstGeom>
        </p:spPr>
        <p:txBody>
          <a:bodyPr vert="horz" lIns="91440" tIns="45720" rIns="91440" bIns="45720" rtlCol="0" anchor="b"/>
          <a:lstStyle>
            <a:lvl1pPr algn="ctr">
              <a:defRPr sz="1200">
                <a:solidFill>
                  <a:schemeClr val="tx1">
                    <a:tint val="75000"/>
                  </a:schemeClr>
                </a:solidFill>
              </a:defRPr>
            </a:lvl1pPr>
          </a:lstStyle>
          <a:p>
            <a:r>
              <a:rPr lang="en-US"/>
              <a:t>Wurzburg, Germany, ECML-PKDD 2019, Tutorial on XKDD</a:t>
            </a:r>
            <a:endParaRPr lang="en-US" dirty="0"/>
          </a:p>
        </p:txBody>
      </p:sp>
    </p:spTree>
    <p:extLst>
      <p:ext uri="{BB962C8B-B14F-4D97-AF65-F5344CB8AC3E}">
        <p14:creationId xmlns:p14="http://schemas.microsoft.com/office/powerpoint/2010/main" val="413852787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7"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25.wmf"/><Relationship Id="rId4" Type="http://schemas.openxmlformats.org/officeDocument/2006/relationships/oleObject" Target="../embeddings/oleObject2.bin"/></Relationships>
</file>

<file path=ppt/slides/_rels/slide19.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8.wmf"/><Relationship Id="rId5" Type="http://schemas.openxmlformats.org/officeDocument/2006/relationships/oleObject" Target="../embeddings/oleObject5.bin"/><Relationship Id="rId4" Type="http://schemas.openxmlformats.org/officeDocument/2006/relationships/image" Target="../media/image27.emf"/></Relationships>
</file>

<file path=ppt/slides/_rels/slide21.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oleObject" Target="../embeddings/oleObject6.bin"/><Relationship Id="rId1" Type="http://schemas.openxmlformats.org/officeDocument/2006/relationships/slideLayout" Target="../slideLayouts/slideLayout2.xml"/><Relationship Id="rId5" Type="http://schemas.openxmlformats.org/officeDocument/2006/relationships/image" Target="../media/image30.wmf"/><Relationship Id="rId4" Type="http://schemas.openxmlformats.org/officeDocument/2006/relationships/oleObject" Target="../embeddings/oleObject7.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NULL"/></Relationships>
</file>

<file path=ppt/slides/_rels/slide26.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4.wmf"/></Relationships>
</file>

<file path=ppt/slides/_rels/slide29.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10.bin"/><Relationship Id="rId1" Type="http://schemas.openxmlformats.org/officeDocument/2006/relationships/slideLayout" Target="../slideLayouts/slideLayout2.xml"/><Relationship Id="rId5" Type="http://schemas.openxmlformats.org/officeDocument/2006/relationships/image" Target="../media/image36.wmf"/><Relationship Id="rId4" Type="http://schemas.openxmlformats.org/officeDocument/2006/relationships/oleObject" Target="../embeddings/oleObject11.bin"/></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12.bin"/><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12.bin"/><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12.bin"/><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12.bin"/><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12.bin"/><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12.bin"/><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12.bin"/><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12.bin"/><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12.bin"/><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12.bin"/><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12.bin"/><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12.bin"/><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12.bin"/><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12.bin"/><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12.bin"/><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12.bin"/><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12.bin"/><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12.bin"/><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12.bin"/><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42.emf"/><Relationship Id="rId3" Type="http://schemas.openxmlformats.org/officeDocument/2006/relationships/image" Target="../media/image37.emf"/><Relationship Id="rId7" Type="http://schemas.openxmlformats.org/officeDocument/2006/relationships/image" Target="../media/image39.wmf"/><Relationship Id="rId12" Type="http://schemas.openxmlformats.org/officeDocument/2006/relationships/oleObject" Target="../embeddings/oleObject18.bin"/><Relationship Id="rId2" Type="http://schemas.openxmlformats.org/officeDocument/2006/relationships/oleObject" Target="../embeddings/oleObject13.bin"/><Relationship Id="rId1" Type="http://schemas.openxmlformats.org/officeDocument/2006/relationships/slideLayout" Target="../slideLayouts/slideLayout2.xml"/><Relationship Id="rId6" Type="http://schemas.openxmlformats.org/officeDocument/2006/relationships/oleObject" Target="../embeddings/oleObject15.bin"/><Relationship Id="rId11" Type="http://schemas.openxmlformats.org/officeDocument/2006/relationships/image" Target="../media/image41.wmf"/><Relationship Id="rId5" Type="http://schemas.openxmlformats.org/officeDocument/2006/relationships/image" Target="../media/image38.wmf"/><Relationship Id="rId10" Type="http://schemas.openxmlformats.org/officeDocument/2006/relationships/oleObject" Target="../embeddings/oleObject17.bin"/><Relationship Id="rId4" Type="http://schemas.openxmlformats.org/officeDocument/2006/relationships/oleObject" Target="../embeddings/oleObject14.bin"/><Relationship Id="rId9" Type="http://schemas.openxmlformats.org/officeDocument/2006/relationships/image" Target="../media/image40.e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jpe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25.wmf"/><Relationship Id="rId4" Type="http://schemas.openxmlformats.org/officeDocument/2006/relationships/oleObject" Target="../embeddings/oleObject2.bin"/></Relationships>
</file>

<file path=ppt/slides/_rels/slide60.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oleObject" Target="../embeddings/oleObject19.bin"/><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6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oleObject" Target="../embeddings/oleObject20.bin"/><Relationship Id="rId1" Type="http://schemas.openxmlformats.org/officeDocument/2006/relationships/slideLayout" Target="../slideLayouts/slideLayout4.xml"/><Relationship Id="rId5" Type="http://schemas.openxmlformats.org/officeDocument/2006/relationships/image" Target="../media/image53.emf"/><Relationship Id="rId4" Type="http://schemas.openxmlformats.org/officeDocument/2006/relationships/oleObject" Target="../embeddings/oleObject21.bin"/></Relationships>
</file>

<file path=ppt/slides/_rels/slide63.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oleObject" Target="../embeddings/oleObject22.bin"/><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63.png"/><Relationship Id="rId7" Type="http://schemas.openxmlformats.org/officeDocument/2006/relationships/image" Target="NULL"/><Relationship Id="rId12" Type="http://schemas.openxmlformats.org/officeDocument/2006/relationships/image" Target="NULL"/><Relationship Id="rId2"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66.png"/><Relationship Id="rId11" Type="http://schemas.openxmlformats.org/officeDocument/2006/relationships/image" Target="NULL"/><Relationship Id="rId5" Type="http://schemas.openxmlformats.org/officeDocument/2006/relationships/image" Target="../media/image65.png"/><Relationship Id="rId10" Type="http://schemas.openxmlformats.org/officeDocument/2006/relationships/image" Target="NULL"/><Relationship Id="rId4" Type="http://schemas.openxmlformats.org/officeDocument/2006/relationships/image" Target="../media/image64.png"/><Relationship Id="rId9" Type="http://schemas.openxmlformats.org/officeDocument/2006/relationships/image" Target="NUL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8" Type="http://schemas.openxmlformats.org/officeDocument/2006/relationships/image" Target="../media/image69.wmf"/><Relationship Id="rId3" Type="http://schemas.openxmlformats.org/officeDocument/2006/relationships/oleObject" Target="../embeddings/oleObject23.bin"/><Relationship Id="rId7" Type="http://schemas.openxmlformats.org/officeDocument/2006/relationships/oleObject" Target="../embeddings/oleObject25.bin"/><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68.wmf"/><Relationship Id="rId5" Type="http://schemas.openxmlformats.org/officeDocument/2006/relationships/oleObject" Target="../embeddings/oleObject24.bin"/><Relationship Id="rId4" Type="http://schemas.openxmlformats.org/officeDocument/2006/relationships/image" Target="../media/image67.wmf"/></Relationships>
</file>

<file path=ppt/slides/_rels/slide78.x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oleObject" Target="../embeddings/oleObject23.bin"/><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79.xml.rels><?xml version="1.0" encoding="UTF-8" standalone="yes"?>
<Relationships xmlns="http://schemas.openxmlformats.org/package/2006/relationships"><Relationship Id="rId3" Type="http://schemas.openxmlformats.org/officeDocument/2006/relationships/image" Target="../media/image71.emf"/><Relationship Id="rId2" Type="http://schemas.openxmlformats.org/officeDocument/2006/relationships/oleObject" Target="../embeddings/oleObject26.bin"/><Relationship Id="rId1" Type="http://schemas.openxmlformats.org/officeDocument/2006/relationships/slideLayout" Target="../slideLayouts/slideLayout2.xml"/><Relationship Id="rId5" Type="http://schemas.openxmlformats.org/officeDocument/2006/relationships/image" Target="../media/image72.wmf"/><Relationship Id="rId4" Type="http://schemas.openxmlformats.org/officeDocument/2006/relationships/oleObject" Target="../embeddings/oleObject27.bin"/></Relationships>
</file>

<file path=ppt/slides/_rels/slide80.xml.rels><?xml version="1.0" encoding="UTF-8" standalone="yes"?>
<Relationships xmlns="http://schemas.openxmlformats.org/package/2006/relationships"><Relationship Id="rId2" Type="http://schemas.openxmlformats.org/officeDocument/2006/relationships/image" Target="../media/image73.emf"/><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3" Type="http://schemas.openxmlformats.org/officeDocument/2006/relationships/image" Target="../media/image74.emf"/><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NULL"/></Relationships>
</file>

<file path=ppt/slides/_rels/slide8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hyperlink" Target="https://mattmazur.com/2015/03/17/a-step-by-step-backpropagation-example/" TargetMode="External"/></Relationships>
</file>

<file path=ppt/slides/_rels/slide83.xml.rels><?xml version="1.0" encoding="UTF-8" standalone="yes"?>
<Relationships xmlns="http://schemas.openxmlformats.org/package/2006/relationships"><Relationship Id="rId2" Type="http://schemas.openxmlformats.org/officeDocument/2006/relationships/image" Target="../media/image75.jpg"/><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3" Type="http://schemas.openxmlformats.org/officeDocument/2006/relationships/hyperlink" Target="https://towardsdatascience.com/how-does-back-propagation-in-artificial-neural-networks-work-c7cad873ea7" TargetMode="External"/><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6.xml"/><Relationship Id="rId4" Type="http://schemas.openxmlformats.org/officeDocument/2006/relationships/image" Target="../media/image80.png"/></Relationships>
</file>

<file path=ppt/slides/_rels/slide9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6.xml"/><Relationship Id="rId5" Type="http://schemas.openxmlformats.org/officeDocument/2006/relationships/image" Target="../media/image81.png"/><Relationship Id="rId4" Type="http://schemas.openxmlformats.org/officeDocument/2006/relationships/image" Target="../media/image80.png"/></Relationships>
</file>

<file path=ppt/slides/_rels/slide9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92.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0.png"/><Relationship Id="rId7" Type="http://schemas.openxmlformats.org/officeDocument/2006/relationships/image" Target="../media/image86.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85.png"/><Relationship Id="rId5" Type="http://schemas.openxmlformats.org/officeDocument/2006/relationships/image" Target="../media/image84.png"/><Relationship Id="rId10" Type="http://schemas.openxmlformats.org/officeDocument/2006/relationships/image" Target="../media/image82.png"/><Relationship Id="rId4" Type="http://schemas.openxmlformats.org/officeDocument/2006/relationships/image" Target="../media/image81.png"/><Relationship Id="rId9" Type="http://schemas.openxmlformats.org/officeDocument/2006/relationships/image" Target="../media/image83.png"/></Relationships>
</file>

<file path=ppt/slides/_rels/slide9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82.png"/><Relationship Id="rId5" Type="http://schemas.openxmlformats.org/officeDocument/2006/relationships/image" Target="../media/image83.png"/><Relationship Id="rId4" Type="http://schemas.openxmlformats.org/officeDocument/2006/relationships/image" Target="../media/image81.png"/></Relationships>
</file>

<file path=ppt/slides/_rels/slide94.xml.rels><?xml version="1.0" encoding="UTF-8" standalone="yes"?>
<Relationships xmlns="http://schemas.openxmlformats.org/package/2006/relationships"><Relationship Id="rId3" Type="http://schemas.openxmlformats.org/officeDocument/2006/relationships/image" Target="../media/image80.png"/><Relationship Id="rId7" Type="http://schemas.openxmlformats.org/officeDocument/2006/relationships/image" Target="../media/image82.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83.png"/><Relationship Id="rId5" Type="http://schemas.openxmlformats.org/officeDocument/2006/relationships/image" Target="../media/image88.png"/><Relationship Id="rId4" Type="http://schemas.openxmlformats.org/officeDocument/2006/relationships/image" Target="../media/image81.png"/></Relationships>
</file>

<file path=ppt/slides/_rels/slide95.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80.png"/><Relationship Id="rId7" Type="http://schemas.openxmlformats.org/officeDocument/2006/relationships/image" Target="../media/image83.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1.png"/></Relationships>
</file>

<file path=ppt/slides/_rels/slide96.xml.rels><?xml version="1.0" encoding="UTF-8" standalone="yes"?>
<Relationships xmlns="http://schemas.openxmlformats.org/package/2006/relationships"><Relationship Id="rId3" Type="http://schemas.openxmlformats.org/officeDocument/2006/relationships/image" Target="../media/image80.png"/><Relationship Id="rId7" Type="http://schemas.openxmlformats.org/officeDocument/2006/relationships/image" Target="../media/image82.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83.png"/><Relationship Id="rId5" Type="http://schemas.openxmlformats.org/officeDocument/2006/relationships/image" Target="../media/image88.png"/><Relationship Id="rId4" Type="http://schemas.openxmlformats.org/officeDocument/2006/relationships/image" Target="../media/image81.png"/></Relationships>
</file>

<file path=ppt/slides/_rels/slide97.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80.png"/><Relationship Id="rId7" Type="http://schemas.openxmlformats.org/officeDocument/2006/relationships/image" Target="../media/image83.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90.png"/><Relationship Id="rId5" Type="http://schemas.openxmlformats.org/officeDocument/2006/relationships/image" Target="../media/image88.png"/><Relationship Id="rId4" Type="http://schemas.openxmlformats.org/officeDocument/2006/relationships/image" Target="../media/image81.png"/></Relationships>
</file>

<file path=ppt/slides/_rels/slide98.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80.png"/><Relationship Id="rId7" Type="http://schemas.openxmlformats.org/officeDocument/2006/relationships/image" Target="../media/image91.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90.png"/><Relationship Id="rId5" Type="http://schemas.openxmlformats.org/officeDocument/2006/relationships/image" Target="../media/image88.png"/><Relationship Id="rId4" Type="http://schemas.openxmlformats.org/officeDocument/2006/relationships/image" Target="../media/image81.png"/><Relationship Id="rId9" Type="http://schemas.openxmlformats.org/officeDocument/2006/relationships/image" Target="../media/image82.png"/></Relationships>
</file>

<file path=ppt/slides/_rels/slide99.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80.png"/><Relationship Id="rId7" Type="http://schemas.openxmlformats.org/officeDocument/2006/relationships/image" Target="../media/image91.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90.png"/><Relationship Id="rId5" Type="http://schemas.openxmlformats.org/officeDocument/2006/relationships/image" Target="../media/image88.png"/><Relationship Id="rId10" Type="http://schemas.openxmlformats.org/officeDocument/2006/relationships/image" Target="../media/image82.png"/><Relationship Id="rId4" Type="http://schemas.openxmlformats.org/officeDocument/2006/relationships/image" Target="../media/image81.png"/><Relationship Id="rId9" Type="http://schemas.openxmlformats.org/officeDocument/2006/relationships/image" Target="../media/image83.png"/></Relationships>
</file>

<file path=ppt/slides/_rels/slide100.xml.rels><?xml version="1.0" encoding="UTF-8" standalone="yes"?>
<Relationships xmlns="http://schemas.openxmlformats.org/package/2006/relationships"><Relationship Id="rId3" Type="http://schemas.openxmlformats.org/officeDocument/2006/relationships/image" Target="../media/image80.png"/><Relationship Id="rId7" Type="http://schemas.openxmlformats.org/officeDocument/2006/relationships/image" Target="../media/image82.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83.png"/><Relationship Id="rId5" Type="http://schemas.openxmlformats.org/officeDocument/2006/relationships/image" Target="../media/image88.png"/><Relationship Id="rId4" Type="http://schemas.openxmlformats.org/officeDocument/2006/relationships/image" Target="../media/image81.png"/></Relationships>
</file>

<file path=ppt/slides/_rels/slide101.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80.png"/><Relationship Id="rId7" Type="http://schemas.openxmlformats.org/officeDocument/2006/relationships/image" Target="../media/image83.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93.png"/><Relationship Id="rId5" Type="http://schemas.openxmlformats.org/officeDocument/2006/relationships/image" Target="../media/image88.png"/><Relationship Id="rId4" Type="http://schemas.openxmlformats.org/officeDocument/2006/relationships/image" Target="../media/image81.png"/></Relationships>
</file>

<file path=ppt/slides/_rels/slide102.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80.png"/><Relationship Id="rId7" Type="http://schemas.openxmlformats.org/officeDocument/2006/relationships/image" Target="../media/image94.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93.png"/><Relationship Id="rId5" Type="http://schemas.openxmlformats.org/officeDocument/2006/relationships/image" Target="../media/image88.png"/><Relationship Id="rId4" Type="http://schemas.openxmlformats.org/officeDocument/2006/relationships/image" Target="../media/image81.png"/><Relationship Id="rId9" Type="http://schemas.openxmlformats.org/officeDocument/2006/relationships/image" Target="../media/image82.png"/></Relationships>
</file>

<file path=ppt/slides/_rels/slide103.xml.rels><?xml version="1.0" encoding="UTF-8" standalone="yes"?>
<Relationships xmlns="http://schemas.openxmlformats.org/package/2006/relationships"><Relationship Id="rId3" Type="http://schemas.openxmlformats.org/officeDocument/2006/relationships/image" Target="../media/image80.png"/><Relationship Id="rId7" Type="http://schemas.openxmlformats.org/officeDocument/2006/relationships/image" Target="../media/image82.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83.png"/><Relationship Id="rId5" Type="http://schemas.openxmlformats.org/officeDocument/2006/relationships/image" Target="../media/image88.png"/><Relationship Id="rId4" Type="http://schemas.openxmlformats.org/officeDocument/2006/relationships/image" Target="../media/image81.png"/></Relationships>
</file>

<file path=ppt/slides/_rels/slide104.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80.png"/><Relationship Id="rId7" Type="http://schemas.openxmlformats.org/officeDocument/2006/relationships/image" Target="../media/image82.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83.png"/><Relationship Id="rId5" Type="http://schemas.openxmlformats.org/officeDocument/2006/relationships/image" Target="../media/image88.png"/><Relationship Id="rId4" Type="http://schemas.openxmlformats.org/officeDocument/2006/relationships/image" Target="../media/image81.png"/></Relationships>
</file>

<file path=ppt/slides/_rels/slide105.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80.png"/><Relationship Id="rId7" Type="http://schemas.openxmlformats.org/officeDocument/2006/relationships/image" Target="../media/image82.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83.png"/><Relationship Id="rId5" Type="http://schemas.openxmlformats.org/officeDocument/2006/relationships/image" Target="../media/image88.png"/><Relationship Id="rId4" Type="http://schemas.openxmlformats.org/officeDocument/2006/relationships/image" Target="../media/image81.png"/><Relationship Id="rId9" Type="http://schemas.openxmlformats.org/officeDocument/2006/relationships/image" Target="../media/image96.png"/></Relationships>
</file>

<file path=ppt/slides/_rels/slide106.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80.png"/><Relationship Id="rId7" Type="http://schemas.openxmlformats.org/officeDocument/2006/relationships/image" Target="../media/image82.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83.png"/><Relationship Id="rId5" Type="http://schemas.openxmlformats.org/officeDocument/2006/relationships/image" Target="../media/image88.png"/><Relationship Id="rId4" Type="http://schemas.openxmlformats.org/officeDocument/2006/relationships/image" Target="../media/image81.png"/></Relationships>
</file>

<file path=ppt/slides/_rels/slide107.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image" Target="../media/image80.png"/><Relationship Id="rId7" Type="http://schemas.openxmlformats.org/officeDocument/2006/relationships/image" Target="../media/image82.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83.png"/><Relationship Id="rId5" Type="http://schemas.openxmlformats.org/officeDocument/2006/relationships/image" Target="../media/image88.png"/><Relationship Id="rId4" Type="http://schemas.openxmlformats.org/officeDocument/2006/relationships/image" Target="../media/image81.png"/></Relationships>
</file>

<file path=ppt/slides/_rels/slide108.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image" Target="../media/image80.png"/><Relationship Id="rId7" Type="http://schemas.openxmlformats.org/officeDocument/2006/relationships/image" Target="../media/image82.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83.png"/><Relationship Id="rId5" Type="http://schemas.openxmlformats.org/officeDocument/2006/relationships/image" Target="../media/image88.png"/><Relationship Id="rId4" Type="http://schemas.openxmlformats.org/officeDocument/2006/relationships/image" Target="../media/image81.png"/><Relationship Id="rId9" Type="http://schemas.openxmlformats.org/officeDocument/2006/relationships/image" Target="../media/image99.png"/></Relationships>
</file>

<file path=ppt/slides/_rels/slide109.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image" Target="../media/image80.png"/><Relationship Id="rId7" Type="http://schemas.openxmlformats.org/officeDocument/2006/relationships/image" Target="../media/image82.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83.png"/><Relationship Id="rId5" Type="http://schemas.openxmlformats.org/officeDocument/2006/relationships/image" Target="../media/image88.png"/><Relationship Id="rId10" Type="http://schemas.openxmlformats.org/officeDocument/2006/relationships/image" Target="../media/image100.png"/><Relationship Id="rId4" Type="http://schemas.openxmlformats.org/officeDocument/2006/relationships/image" Target="../media/image81.png"/><Relationship Id="rId9" Type="http://schemas.openxmlformats.org/officeDocument/2006/relationships/image" Target="../media/image99.png"/></Relationships>
</file>

<file path=ppt/slides/_rels/slide110.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image" Target="../media/image80.png"/><Relationship Id="rId7" Type="http://schemas.openxmlformats.org/officeDocument/2006/relationships/image" Target="../media/image82.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83.png"/><Relationship Id="rId11" Type="http://schemas.openxmlformats.org/officeDocument/2006/relationships/image" Target="../media/image101.png"/><Relationship Id="rId5" Type="http://schemas.openxmlformats.org/officeDocument/2006/relationships/image" Target="../media/image88.png"/><Relationship Id="rId10" Type="http://schemas.openxmlformats.org/officeDocument/2006/relationships/image" Target="../media/image100.png"/><Relationship Id="rId4" Type="http://schemas.openxmlformats.org/officeDocument/2006/relationships/image" Target="../media/image81.png"/><Relationship Id="rId9" Type="http://schemas.openxmlformats.org/officeDocument/2006/relationships/image" Target="../media/image99.png"/></Relationships>
</file>

<file path=ppt/slides/_rels/slide111.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80.png"/><Relationship Id="rId7" Type="http://schemas.openxmlformats.org/officeDocument/2006/relationships/image" Target="../media/image82.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83.png"/><Relationship Id="rId5" Type="http://schemas.openxmlformats.org/officeDocument/2006/relationships/image" Target="../media/image88.png"/><Relationship Id="rId4" Type="http://schemas.openxmlformats.org/officeDocument/2006/relationships/image" Target="../media/image81.png"/><Relationship Id="rId9" Type="http://schemas.openxmlformats.org/officeDocument/2006/relationships/image" Target="../media/image102.png"/></Relationships>
</file>

<file path=ppt/slides/_rels/slide112.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80.png"/><Relationship Id="rId7" Type="http://schemas.openxmlformats.org/officeDocument/2006/relationships/image" Target="../media/image82.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83.png"/><Relationship Id="rId5" Type="http://schemas.openxmlformats.org/officeDocument/2006/relationships/image" Target="../media/image88.png"/><Relationship Id="rId4" Type="http://schemas.openxmlformats.org/officeDocument/2006/relationships/image" Target="../media/image81.png"/><Relationship Id="rId9" Type="http://schemas.openxmlformats.org/officeDocument/2006/relationships/image" Target="../media/image102.png"/></Relationships>
</file>

<file path=ppt/slides/_rels/slide113.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80.png"/><Relationship Id="rId7" Type="http://schemas.openxmlformats.org/officeDocument/2006/relationships/image" Target="../media/image82.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83.png"/><Relationship Id="rId5" Type="http://schemas.openxmlformats.org/officeDocument/2006/relationships/image" Target="../media/image88.png"/><Relationship Id="rId4" Type="http://schemas.openxmlformats.org/officeDocument/2006/relationships/image" Target="../media/image81.png"/><Relationship Id="rId9" Type="http://schemas.openxmlformats.org/officeDocument/2006/relationships/image" Target="../media/image102.png"/></Relationships>
</file>

<file path=ppt/slides/_rels/slide11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82.png"/><Relationship Id="rId5" Type="http://schemas.openxmlformats.org/officeDocument/2006/relationships/image" Target="../media/image83.png"/><Relationship Id="rId4" Type="http://schemas.openxmlformats.org/officeDocument/2006/relationships/image" Target="../media/image81.png"/></Relationships>
</file>

<file path=ppt/slides/_rels/slide115.xml.rels><?xml version="1.0" encoding="UTF-8" standalone="yes"?>
<Relationships xmlns="http://schemas.openxmlformats.org/package/2006/relationships"><Relationship Id="rId3" Type="http://schemas.openxmlformats.org/officeDocument/2006/relationships/image" Target="../media/image80.png"/><Relationship Id="rId7" Type="http://schemas.openxmlformats.org/officeDocument/2006/relationships/image" Target="../media/image103.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82.png"/><Relationship Id="rId5" Type="http://schemas.openxmlformats.org/officeDocument/2006/relationships/image" Target="../media/image83.png"/><Relationship Id="rId4" Type="http://schemas.openxmlformats.org/officeDocument/2006/relationships/image" Target="../media/image81.png"/></Relationships>
</file>

<file path=ppt/slides/_rels/slide116.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image" Target="../media/image80.png"/><Relationship Id="rId7" Type="http://schemas.openxmlformats.org/officeDocument/2006/relationships/image" Target="../media/image103.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82.png"/><Relationship Id="rId5" Type="http://schemas.openxmlformats.org/officeDocument/2006/relationships/image" Target="../media/image83.png"/><Relationship Id="rId4" Type="http://schemas.openxmlformats.org/officeDocument/2006/relationships/image" Target="../media/image81.png"/></Relationships>
</file>

<file path=ppt/slides/_rels/slide117.xml.rels><?xml version="1.0" encoding="UTF-8" standalone="yes"?>
<Relationships xmlns="http://schemas.openxmlformats.org/package/2006/relationships"><Relationship Id="rId3" Type="http://schemas.openxmlformats.org/officeDocument/2006/relationships/image" Target="../media/image80.png"/><Relationship Id="rId7" Type="http://schemas.openxmlformats.org/officeDocument/2006/relationships/image" Target="../media/image103.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82.png"/><Relationship Id="rId5" Type="http://schemas.openxmlformats.org/officeDocument/2006/relationships/image" Target="../media/image83.png"/><Relationship Id="rId4" Type="http://schemas.openxmlformats.org/officeDocument/2006/relationships/image" Target="../media/image81.png"/></Relationships>
</file>

<file path=ppt/slides/_rels/slide118.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80.png"/><Relationship Id="rId7" Type="http://schemas.openxmlformats.org/officeDocument/2006/relationships/image" Target="../media/image103.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82.png"/><Relationship Id="rId5" Type="http://schemas.openxmlformats.org/officeDocument/2006/relationships/image" Target="../media/image83.png"/><Relationship Id="rId4" Type="http://schemas.openxmlformats.org/officeDocument/2006/relationships/image" Target="../media/image81.png"/></Relationships>
</file>

<file path=ppt/slides/_rels/slide119.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80.png"/><Relationship Id="rId7" Type="http://schemas.openxmlformats.org/officeDocument/2006/relationships/image" Target="../media/image103.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82.png"/><Relationship Id="rId5" Type="http://schemas.openxmlformats.org/officeDocument/2006/relationships/image" Target="../media/image83.png"/><Relationship Id="rId4" Type="http://schemas.openxmlformats.org/officeDocument/2006/relationships/image" Target="../media/image81.png"/><Relationship Id="rId9" Type="http://schemas.openxmlformats.org/officeDocument/2006/relationships/image" Target="../media/image106.png"/></Relationships>
</file>

<file path=ppt/slides/_rels/slide120.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image" Target="../media/image106.png"/><Relationship Id="rId1" Type="http://schemas.openxmlformats.org/officeDocument/2006/relationships/slideLayout" Target="../slideLayouts/slideLayout6.xml"/><Relationship Id="rId6" Type="http://schemas.openxmlformats.org/officeDocument/2006/relationships/image" Target="../media/image83.png"/><Relationship Id="rId5" Type="http://schemas.openxmlformats.org/officeDocument/2006/relationships/image" Target="../media/image81.png"/><Relationship Id="rId10" Type="http://schemas.openxmlformats.org/officeDocument/2006/relationships/image" Target="../media/image107.png"/><Relationship Id="rId4" Type="http://schemas.openxmlformats.org/officeDocument/2006/relationships/image" Target="../media/image80.png"/><Relationship Id="rId9" Type="http://schemas.openxmlformats.org/officeDocument/2006/relationships/image" Target="../media/image105.png"/></Relationships>
</file>

<file path=ppt/slides/_rels/slide121.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image" Target="../media/image106.png"/><Relationship Id="rId1" Type="http://schemas.openxmlformats.org/officeDocument/2006/relationships/slideLayout" Target="../slideLayouts/slideLayout6.xml"/><Relationship Id="rId6" Type="http://schemas.openxmlformats.org/officeDocument/2006/relationships/image" Target="../media/image83.png"/><Relationship Id="rId11" Type="http://schemas.openxmlformats.org/officeDocument/2006/relationships/image" Target="../media/image108.png"/><Relationship Id="rId5" Type="http://schemas.openxmlformats.org/officeDocument/2006/relationships/image" Target="../media/image81.png"/><Relationship Id="rId10" Type="http://schemas.openxmlformats.org/officeDocument/2006/relationships/image" Target="../media/image107.png"/><Relationship Id="rId4" Type="http://schemas.openxmlformats.org/officeDocument/2006/relationships/image" Target="../media/image80.png"/><Relationship Id="rId9" Type="http://schemas.openxmlformats.org/officeDocument/2006/relationships/image" Target="../media/image105.png"/></Relationships>
</file>

<file path=ppt/slides/_rels/slide122.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image" Target="../media/image78.png"/><Relationship Id="rId7" Type="http://schemas.openxmlformats.org/officeDocument/2006/relationships/image" Target="../media/image82.png"/><Relationship Id="rId12" Type="http://schemas.openxmlformats.org/officeDocument/2006/relationships/image" Target="../media/image109.png"/><Relationship Id="rId2" Type="http://schemas.openxmlformats.org/officeDocument/2006/relationships/image" Target="../media/image106.png"/><Relationship Id="rId1" Type="http://schemas.openxmlformats.org/officeDocument/2006/relationships/slideLayout" Target="../slideLayouts/slideLayout6.xml"/><Relationship Id="rId6" Type="http://schemas.openxmlformats.org/officeDocument/2006/relationships/image" Target="../media/image83.png"/><Relationship Id="rId11" Type="http://schemas.openxmlformats.org/officeDocument/2006/relationships/image" Target="../media/image107.png"/><Relationship Id="rId5" Type="http://schemas.openxmlformats.org/officeDocument/2006/relationships/image" Target="../media/image81.png"/><Relationship Id="rId10" Type="http://schemas.openxmlformats.org/officeDocument/2006/relationships/image" Target="../media/image108.png"/><Relationship Id="rId4" Type="http://schemas.openxmlformats.org/officeDocument/2006/relationships/image" Target="../media/image80.png"/><Relationship Id="rId9" Type="http://schemas.openxmlformats.org/officeDocument/2006/relationships/image" Target="../media/image105.png"/></Relationships>
</file>

<file path=ppt/slides/_rels/slide123.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image" Target="../media/image106.png"/><Relationship Id="rId7" Type="http://schemas.openxmlformats.org/officeDocument/2006/relationships/image" Target="../media/image82.png"/><Relationship Id="rId12" Type="http://schemas.openxmlformats.org/officeDocument/2006/relationships/image" Target="../media/image109.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83.png"/><Relationship Id="rId11" Type="http://schemas.openxmlformats.org/officeDocument/2006/relationships/image" Target="../media/image108.png"/><Relationship Id="rId5" Type="http://schemas.openxmlformats.org/officeDocument/2006/relationships/image" Target="../media/image81.png"/><Relationship Id="rId10" Type="http://schemas.openxmlformats.org/officeDocument/2006/relationships/image" Target="../media/image107.png"/><Relationship Id="rId4" Type="http://schemas.openxmlformats.org/officeDocument/2006/relationships/image" Target="../media/image80.png"/><Relationship Id="rId9" Type="http://schemas.openxmlformats.org/officeDocument/2006/relationships/image" Target="../media/image105.png"/></Relationships>
</file>

<file path=ppt/slides/_rels/slide124.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109.png"/><Relationship Id="rId3" Type="http://schemas.openxmlformats.org/officeDocument/2006/relationships/image" Target="../media/image80.png"/><Relationship Id="rId7" Type="http://schemas.openxmlformats.org/officeDocument/2006/relationships/image" Target="../media/image103.png"/><Relationship Id="rId12" Type="http://schemas.openxmlformats.org/officeDocument/2006/relationships/image" Target="../media/image106.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82.png"/><Relationship Id="rId11" Type="http://schemas.openxmlformats.org/officeDocument/2006/relationships/image" Target="../media/image107.png"/><Relationship Id="rId5" Type="http://schemas.openxmlformats.org/officeDocument/2006/relationships/image" Target="../media/image83.png"/><Relationship Id="rId10" Type="http://schemas.openxmlformats.org/officeDocument/2006/relationships/image" Target="../media/image108.png"/><Relationship Id="rId4" Type="http://schemas.openxmlformats.org/officeDocument/2006/relationships/image" Target="../media/image81.png"/><Relationship Id="rId9" Type="http://schemas.openxmlformats.org/officeDocument/2006/relationships/image" Target="../media/image105.png"/><Relationship Id="rId14" Type="http://schemas.openxmlformats.org/officeDocument/2006/relationships/image" Target="../media/image111.png"/></Relationships>
</file>

<file path=ppt/slides/_rels/slide125.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80.png"/><Relationship Id="rId7" Type="http://schemas.openxmlformats.org/officeDocument/2006/relationships/image" Target="../media/image103.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82.png"/><Relationship Id="rId5" Type="http://schemas.openxmlformats.org/officeDocument/2006/relationships/image" Target="../media/image83.png"/><Relationship Id="rId4" Type="http://schemas.openxmlformats.org/officeDocument/2006/relationships/image" Target="../media/image81.png"/></Relationships>
</file>

<file path=ppt/slides/_rels/slide126.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80.png"/><Relationship Id="rId7" Type="http://schemas.openxmlformats.org/officeDocument/2006/relationships/image" Target="../media/image103.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82.png"/><Relationship Id="rId5" Type="http://schemas.openxmlformats.org/officeDocument/2006/relationships/image" Target="../media/image83.png"/><Relationship Id="rId4" Type="http://schemas.openxmlformats.org/officeDocument/2006/relationships/image" Target="../media/image81.png"/></Relationships>
</file>

<file path=ppt/slides/_rels/slide127.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80.png"/><Relationship Id="rId7" Type="http://schemas.openxmlformats.org/officeDocument/2006/relationships/image" Target="../media/image103.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82.png"/><Relationship Id="rId5" Type="http://schemas.openxmlformats.org/officeDocument/2006/relationships/image" Target="../media/image83.png"/><Relationship Id="rId4" Type="http://schemas.openxmlformats.org/officeDocument/2006/relationships/image" Target="../media/image81.png"/><Relationship Id="rId9" Type="http://schemas.openxmlformats.org/officeDocument/2006/relationships/image" Target="../media/image114.png"/></Relationships>
</file>

<file path=ppt/slides/_rels/slide128.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80.png"/><Relationship Id="rId7" Type="http://schemas.openxmlformats.org/officeDocument/2006/relationships/image" Target="../media/image103.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82.png"/><Relationship Id="rId5" Type="http://schemas.openxmlformats.org/officeDocument/2006/relationships/image" Target="../media/image83.png"/><Relationship Id="rId4" Type="http://schemas.openxmlformats.org/officeDocument/2006/relationships/image" Target="../media/image81.png"/></Relationships>
</file>

<file path=ppt/slides/_rels/slide129.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80.png"/><Relationship Id="rId7" Type="http://schemas.openxmlformats.org/officeDocument/2006/relationships/image" Target="../media/image103.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82.png"/><Relationship Id="rId5" Type="http://schemas.openxmlformats.org/officeDocument/2006/relationships/image" Target="../media/image83.png"/><Relationship Id="rId4" Type="http://schemas.openxmlformats.org/officeDocument/2006/relationships/image" Target="../media/image81.png"/><Relationship Id="rId9" Type="http://schemas.openxmlformats.org/officeDocument/2006/relationships/image" Target="../media/image116.png"/></Relationships>
</file>

<file path=ppt/slides/_rels/slide130.xml.rels><?xml version="1.0" encoding="UTF-8" standalone="yes"?>
<Relationships xmlns="http://schemas.openxmlformats.org/package/2006/relationships"><Relationship Id="rId8" Type="http://schemas.openxmlformats.org/officeDocument/2006/relationships/image" Target="../media/image117.png"/><Relationship Id="rId3" Type="http://schemas.openxmlformats.org/officeDocument/2006/relationships/image" Target="../media/image80.png"/><Relationship Id="rId7" Type="http://schemas.openxmlformats.org/officeDocument/2006/relationships/image" Target="../media/image103.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82.png"/><Relationship Id="rId5" Type="http://schemas.openxmlformats.org/officeDocument/2006/relationships/image" Target="../media/image83.png"/><Relationship Id="rId4" Type="http://schemas.openxmlformats.org/officeDocument/2006/relationships/image" Target="../media/image81.png"/></Relationships>
</file>

<file path=ppt/slides/_rels/slide131.xml.rels><?xml version="1.0" encoding="UTF-8" standalone="yes"?>
<Relationships xmlns="http://schemas.openxmlformats.org/package/2006/relationships"><Relationship Id="rId8" Type="http://schemas.openxmlformats.org/officeDocument/2006/relationships/image" Target="../media/image117.png"/><Relationship Id="rId3" Type="http://schemas.openxmlformats.org/officeDocument/2006/relationships/image" Target="../media/image80.png"/><Relationship Id="rId7" Type="http://schemas.openxmlformats.org/officeDocument/2006/relationships/image" Target="../media/image103.png"/><Relationship Id="rId2" Type="http://schemas.openxmlformats.org/officeDocument/2006/relationships/image" Target="../media/image78.png"/><Relationship Id="rId1" Type="http://schemas.openxmlformats.org/officeDocument/2006/relationships/slideLayout" Target="../slideLayouts/slideLayout6.xml"/><Relationship Id="rId6" Type="http://schemas.openxmlformats.org/officeDocument/2006/relationships/image" Target="../media/image82.png"/><Relationship Id="rId5" Type="http://schemas.openxmlformats.org/officeDocument/2006/relationships/image" Target="../media/image83.png"/><Relationship Id="rId4" Type="http://schemas.openxmlformats.org/officeDocument/2006/relationships/image" Target="../media/image81.png"/><Relationship Id="rId9" Type="http://schemas.openxmlformats.org/officeDocument/2006/relationships/image" Target="../media/image118.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119.emf"/><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NUL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4" Type="http://schemas.openxmlformats.org/officeDocument/2006/relationships/image" Target="NULL"/></Relationships>
</file>

<file path=ppt/slides/_rels/slide14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152.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6.xml"/></Relationships>
</file>

<file path=ppt/slides/_rels/slide153.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6.xml"/></Relationships>
</file>

<file path=ppt/slides/_rels/slide154.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6.xml"/></Relationships>
</file>

<file path=ppt/slides/_rels/slide155.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6.xml"/><Relationship Id="rId4" Type="http://schemas.openxmlformats.org/officeDocument/2006/relationships/image" Target="../media/image123.png"/></Relationships>
</file>

<file path=ppt/slides/_rels/slide15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B56805-27B6-9941-9623-EE2991DF12D6}"/>
              </a:ext>
            </a:extLst>
          </p:cNvPr>
          <p:cNvSpPr>
            <a:spLocks noGrp="1"/>
          </p:cNvSpPr>
          <p:nvPr>
            <p:ph type="ctrTitle"/>
          </p:nvPr>
        </p:nvSpPr>
        <p:spPr>
          <a:xfrm>
            <a:off x="659807" y="2176424"/>
            <a:ext cx="10693993" cy="2261802"/>
          </a:xfrm>
        </p:spPr>
        <p:txBody>
          <a:bodyPr>
            <a:normAutofit/>
          </a:bodyPr>
          <a:lstStyle/>
          <a:p>
            <a:pPr algn="l"/>
            <a:r>
              <a:rPr lang="en-US" b="1" dirty="0">
                <a:solidFill>
                  <a:srgbClr val="009193"/>
                </a:solidFill>
              </a:rPr>
              <a:t>Introduction to M</a:t>
            </a:r>
            <a:r>
              <a:rPr lang="en-US" b="1" dirty="0"/>
              <a:t>ACHINE </a:t>
            </a:r>
            <a:r>
              <a:rPr lang="en-US" b="1" dirty="0">
                <a:solidFill>
                  <a:srgbClr val="009193"/>
                </a:solidFill>
              </a:rPr>
              <a:t>L</a:t>
            </a:r>
            <a:r>
              <a:rPr lang="en-US" b="1" dirty="0"/>
              <a:t>EARNING: module 1.</a:t>
            </a:r>
            <a:br>
              <a:rPr lang="en-US" sz="7200" b="1" dirty="0"/>
            </a:br>
            <a:endParaRPr lang="en-US" sz="2800" b="1" dirty="0"/>
          </a:p>
        </p:txBody>
      </p:sp>
      <p:sp>
        <p:nvSpPr>
          <p:cNvPr id="7" name="Sottotitolo 6">
            <a:extLst>
              <a:ext uri="{FF2B5EF4-FFF2-40B4-BE49-F238E27FC236}">
                <a16:creationId xmlns:a16="http://schemas.microsoft.com/office/drawing/2014/main" id="{5F5693D1-C37C-884D-ABF4-994E895B246D}"/>
              </a:ext>
            </a:extLst>
          </p:cNvPr>
          <p:cNvSpPr>
            <a:spLocks noGrp="1"/>
          </p:cNvSpPr>
          <p:nvPr>
            <p:ph type="subTitle" idx="1"/>
          </p:nvPr>
        </p:nvSpPr>
        <p:spPr>
          <a:xfrm>
            <a:off x="659807" y="4727461"/>
            <a:ext cx="9144000" cy="1724851"/>
          </a:xfrm>
        </p:spPr>
        <p:txBody>
          <a:bodyPr>
            <a:normAutofit fontScale="85000" lnSpcReduction="10000"/>
          </a:bodyPr>
          <a:lstStyle/>
          <a:p>
            <a:pPr lvl="0" algn="l">
              <a:lnSpc>
                <a:spcPct val="100000"/>
              </a:lnSpc>
              <a:spcBef>
                <a:spcPts val="0"/>
              </a:spcBef>
              <a:defRPr/>
            </a:pPr>
            <a:r>
              <a:rPr lang="en-IE" dirty="0" err="1"/>
              <a:t>Fosca</a:t>
            </a:r>
            <a:r>
              <a:rPr lang="en-IE" dirty="0"/>
              <a:t> Giannotti</a:t>
            </a:r>
          </a:p>
          <a:p>
            <a:pPr lvl="0" algn="l">
              <a:lnSpc>
                <a:spcPct val="100000"/>
              </a:lnSpc>
              <a:spcBef>
                <a:spcPts val="0"/>
              </a:spcBef>
              <a:defRPr/>
            </a:pPr>
            <a:endParaRPr lang="en-IE" dirty="0"/>
          </a:p>
          <a:p>
            <a:pPr lvl="0" algn="l">
              <a:lnSpc>
                <a:spcPct val="100000"/>
              </a:lnSpc>
              <a:spcBef>
                <a:spcPts val="0"/>
              </a:spcBef>
              <a:defRPr/>
            </a:pPr>
            <a:r>
              <a:rPr lang="en-IE" sz="2000" dirty="0"/>
              <a:t>Revisited slides from Lecture Notes for Chapter 7 “Introduction to Data Mining”, 2nd Edition by Tan, Steinbach, </a:t>
            </a:r>
            <a:r>
              <a:rPr lang="en-IE" sz="2000" dirty="0" err="1"/>
              <a:t>Karpatne</a:t>
            </a:r>
            <a:r>
              <a:rPr lang="en-IE" sz="2000" dirty="0"/>
              <a:t>, Kumar, with insertion from other recommended references- </a:t>
            </a:r>
          </a:p>
          <a:p>
            <a:pPr lvl="0" algn="l">
              <a:lnSpc>
                <a:spcPct val="100000"/>
              </a:lnSpc>
              <a:spcBef>
                <a:spcPts val="0"/>
              </a:spcBef>
              <a:defRPr/>
            </a:pPr>
            <a:r>
              <a:rPr lang="en-IE" sz="2000" dirty="0"/>
              <a:t>Slides used within the 2021 edition of course DM&amp;ML master Big Data Analytics, University of Pisa</a:t>
            </a:r>
          </a:p>
          <a:p>
            <a:pPr lvl="0" algn="l">
              <a:lnSpc>
                <a:spcPct val="100000"/>
              </a:lnSpc>
              <a:spcBef>
                <a:spcPts val="0"/>
              </a:spcBef>
              <a:defRPr/>
            </a:pPr>
            <a:endParaRPr lang="en-IE" sz="2000" dirty="0"/>
          </a:p>
          <a:p>
            <a:pPr lvl="0" algn="l">
              <a:lnSpc>
                <a:spcPct val="100000"/>
              </a:lnSpc>
              <a:spcBef>
                <a:spcPts val="0"/>
              </a:spcBef>
              <a:defRPr/>
            </a:pPr>
            <a:endParaRPr lang="en-IE" dirty="0" err="1"/>
          </a:p>
        </p:txBody>
      </p:sp>
      <p:cxnSp>
        <p:nvCxnSpPr>
          <p:cNvPr id="17" name="Connettore 1 16">
            <a:extLst>
              <a:ext uri="{FF2B5EF4-FFF2-40B4-BE49-F238E27FC236}">
                <a16:creationId xmlns:a16="http://schemas.microsoft.com/office/drawing/2014/main" id="{D6F288DE-7B36-1745-8291-1D66544FBE52}"/>
              </a:ext>
            </a:extLst>
          </p:cNvPr>
          <p:cNvCxnSpPr/>
          <p:nvPr/>
        </p:nvCxnSpPr>
        <p:spPr>
          <a:xfrm>
            <a:off x="0" y="4568262"/>
            <a:ext cx="11353800" cy="0"/>
          </a:xfrm>
          <a:prstGeom prst="line">
            <a:avLst/>
          </a:prstGeom>
          <a:ln w="76200">
            <a:solidFill>
              <a:srgbClr val="009193"/>
            </a:solidFill>
          </a:ln>
        </p:spPr>
        <p:style>
          <a:lnRef idx="1">
            <a:schemeClr val="accent1"/>
          </a:lnRef>
          <a:fillRef idx="0">
            <a:schemeClr val="accent1"/>
          </a:fillRef>
          <a:effectRef idx="0">
            <a:schemeClr val="accent1"/>
          </a:effectRef>
          <a:fontRef idx="minor">
            <a:schemeClr val="tx1"/>
          </a:fontRef>
        </p:style>
      </p:cxnSp>
      <p:pic>
        <p:nvPicPr>
          <p:cNvPr id="380930" name="Picture 2" descr="Home">
            <a:extLst>
              <a:ext uri="{FF2B5EF4-FFF2-40B4-BE49-F238E27FC236}">
                <a16:creationId xmlns:a16="http://schemas.microsoft.com/office/drawing/2014/main" id="{105582FA-4696-A64D-A035-AA1DB060F519}"/>
              </a:ext>
            </a:extLst>
          </p:cNvPr>
          <p:cNvPicPr>
            <a:picLocks noChangeAspect="1" noChangeArrowheads="1"/>
          </p:cNvPicPr>
          <p:nvPr/>
        </p:nvPicPr>
        <p:blipFill>
          <a:blip r:embed="rId2">
            <a:duotone>
              <a:prstClr val="black"/>
              <a:schemeClr val="accent3">
                <a:tint val="45000"/>
                <a:satMod val="400000"/>
              </a:schemeClr>
            </a:duotone>
            <a:extLst>
              <a:ext uri="{BEBA8EAE-BF5A-486C-A8C5-ECC9F3942E4B}">
                <a14:imgProps xmlns:a14="http://schemas.microsoft.com/office/drawing/2010/main">
                  <a14:imgLayer r:embed="rId3">
                    <a14:imgEffect>
                      <a14:artisticPaintStrokes/>
                    </a14:imgEffect>
                  </a14:imgLayer>
                </a14:imgProps>
              </a:ext>
              <a:ext uri="{28A0092B-C50C-407E-A947-70E740481C1C}">
                <a14:useLocalDpi xmlns:a14="http://schemas.microsoft.com/office/drawing/2010/main" val="0"/>
              </a:ext>
            </a:extLst>
          </a:blip>
          <a:srcRect/>
          <a:stretch>
            <a:fillRect/>
          </a:stretch>
        </p:blipFill>
        <p:spPr bwMode="auto">
          <a:xfrm>
            <a:off x="9707914" y="5402180"/>
            <a:ext cx="2255486" cy="1323467"/>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8171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B56805-27B6-9941-9623-EE2991DF12D6}"/>
              </a:ext>
            </a:extLst>
          </p:cNvPr>
          <p:cNvSpPr>
            <a:spLocks noGrp="1"/>
          </p:cNvSpPr>
          <p:nvPr>
            <p:ph type="title"/>
          </p:nvPr>
        </p:nvSpPr>
        <p:spPr/>
        <p:txBody>
          <a:bodyPr>
            <a:normAutofit/>
          </a:bodyPr>
          <a:lstStyle/>
          <a:p>
            <a:r>
              <a:rPr lang="en-US" dirty="0"/>
              <a:t>Supervised Learning: Classification (</a:t>
            </a:r>
            <a:r>
              <a:rPr lang="en-US" dirty="0" err="1"/>
              <a:t>cnt</a:t>
            </a:r>
            <a:r>
              <a:rPr lang="en-US" dirty="0"/>
              <a:t>)</a:t>
            </a:r>
            <a:br>
              <a:rPr lang="en-US" dirty="0"/>
            </a:br>
            <a:r>
              <a:rPr lang="en-US" b="1" dirty="0"/>
              <a:t>Neural Networks (Perceptron)</a:t>
            </a:r>
            <a:endParaRPr lang="en-US" sz="3000" b="1" dirty="0"/>
          </a:p>
        </p:txBody>
      </p:sp>
      <p:cxnSp>
        <p:nvCxnSpPr>
          <p:cNvPr id="17" name="Connettore 1 16">
            <a:extLst>
              <a:ext uri="{FF2B5EF4-FFF2-40B4-BE49-F238E27FC236}">
                <a16:creationId xmlns:a16="http://schemas.microsoft.com/office/drawing/2014/main" id="{D6F288DE-7B36-1745-8291-1D66544FBE52}"/>
              </a:ext>
            </a:extLst>
          </p:cNvPr>
          <p:cNvCxnSpPr/>
          <p:nvPr/>
        </p:nvCxnSpPr>
        <p:spPr>
          <a:xfrm>
            <a:off x="0" y="4568262"/>
            <a:ext cx="11353800" cy="0"/>
          </a:xfrm>
          <a:prstGeom prst="line">
            <a:avLst/>
          </a:prstGeom>
          <a:ln w="76200">
            <a:solidFill>
              <a:srgbClr val="00919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23165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3C3A3AC-3479-954B-8863-B2FCBFDCBB23}"/>
              </a:ext>
            </a:extLst>
          </p:cNvPr>
          <p:cNvSpPr>
            <a:spLocks noGrp="1"/>
          </p:cNvSpPr>
          <p:nvPr>
            <p:ph type="title"/>
          </p:nvPr>
        </p:nvSpPr>
        <p:spPr/>
        <p:txBody>
          <a:bodyPr/>
          <a:lstStyle/>
          <a:p>
            <a:r>
              <a:rPr lang="en-US" noProof="0" dirty="0"/>
              <a:t>References</a:t>
            </a:r>
          </a:p>
        </p:txBody>
      </p:sp>
      <p:sp>
        <p:nvSpPr>
          <p:cNvPr id="3" name="Segnaposto contenuto 2">
            <a:extLst>
              <a:ext uri="{FF2B5EF4-FFF2-40B4-BE49-F238E27FC236}">
                <a16:creationId xmlns:a16="http://schemas.microsoft.com/office/drawing/2014/main" id="{6446C7E5-9491-8A4A-86AB-1AA2743CBAAD}"/>
              </a:ext>
            </a:extLst>
          </p:cNvPr>
          <p:cNvSpPr>
            <a:spLocks noGrp="1"/>
          </p:cNvSpPr>
          <p:nvPr>
            <p:ph idx="1"/>
          </p:nvPr>
        </p:nvSpPr>
        <p:spPr>
          <a:xfrm>
            <a:off x="838200" y="1825625"/>
            <a:ext cx="6521605" cy="4351338"/>
          </a:xfrm>
        </p:spPr>
        <p:txBody>
          <a:bodyPr/>
          <a:lstStyle/>
          <a:p>
            <a:r>
              <a:rPr lang="en-US" noProof="0" dirty="0"/>
              <a:t>Artificial Neural Network. Chapter 5.4 and 5.5. Introduction to Data Mining.</a:t>
            </a:r>
          </a:p>
          <a:p>
            <a:r>
              <a:rPr lang="en-US" noProof="0" dirty="0"/>
              <a:t>Hands-on Machine Learning with </a:t>
            </a:r>
            <a:r>
              <a:rPr lang="en-US" noProof="0" dirty="0" err="1"/>
              <a:t>Scikit</a:t>
            </a:r>
            <a:r>
              <a:rPr lang="en-US" noProof="0" dirty="0"/>
              <a:t>-Learn, </a:t>
            </a:r>
            <a:r>
              <a:rPr lang="en-US" noProof="0" dirty="0" err="1"/>
              <a:t>Keras</a:t>
            </a:r>
            <a:r>
              <a:rPr lang="en-US" noProof="0" dirty="0"/>
              <a:t> &amp; </a:t>
            </a:r>
            <a:r>
              <a:rPr lang="en-US" noProof="0" dirty="0" err="1"/>
              <a:t>Tensorflow</a:t>
            </a:r>
            <a:r>
              <a:rPr lang="en-US" noProof="0" dirty="0"/>
              <a:t>. A practical handbook to start wrestling with Machine Learning models (2nd ed).</a:t>
            </a:r>
          </a:p>
          <a:p>
            <a:r>
              <a:rPr lang="en-US" noProof="0" dirty="0"/>
              <a:t>Deep Learning. Ian Goodfellow, </a:t>
            </a:r>
            <a:r>
              <a:rPr lang="en-US" noProof="0" dirty="0" err="1"/>
              <a:t>Yoshua</a:t>
            </a:r>
            <a:r>
              <a:rPr lang="en-US" noProof="0" dirty="0"/>
              <a:t> </a:t>
            </a:r>
            <a:r>
              <a:rPr lang="en-US" noProof="0" dirty="0" err="1"/>
              <a:t>Bengio</a:t>
            </a:r>
            <a:r>
              <a:rPr lang="en-US" noProof="0" dirty="0"/>
              <a:t>, and Aaron Courville. The reference book for deep learning models.</a:t>
            </a:r>
          </a:p>
          <a:p>
            <a:endParaRPr lang="en-US" noProof="0" dirty="0"/>
          </a:p>
          <a:p>
            <a:endParaRPr lang="en-US" noProof="0" dirty="0"/>
          </a:p>
        </p:txBody>
      </p:sp>
      <p:pic>
        <p:nvPicPr>
          <p:cNvPr id="6" name="Immagine 5">
            <a:extLst>
              <a:ext uri="{FF2B5EF4-FFF2-40B4-BE49-F238E27FC236}">
                <a16:creationId xmlns:a16="http://schemas.microsoft.com/office/drawing/2014/main" id="{F7071210-6483-7E4C-BDE3-DBB7686DB9BB}"/>
              </a:ext>
            </a:extLst>
          </p:cNvPr>
          <p:cNvPicPr>
            <a:picLocks noChangeAspect="1"/>
          </p:cNvPicPr>
          <p:nvPr/>
        </p:nvPicPr>
        <p:blipFill>
          <a:blip r:embed="rId3"/>
          <a:stretch>
            <a:fillRect/>
          </a:stretch>
        </p:blipFill>
        <p:spPr>
          <a:xfrm>
            <a:off x="9463356" y="1471061"/>
            <a:ext cx="1841458" cy="2317168"/>
          </a:xfrm>
          <a:prstGeom prst="rect">
            <a:avLst/>
          </a:prstGeom>
        </p:spPr>
      </p:pic>
      <p:pic>
        <p:nvPicPr>
          <p:cNvPr id="5" name="Immagine 4" descr="Immagine che contiene animale, rettile, lucertola&#10;&#10;Descrizione generata automaticamente">
            <a:extLst>
              <a:ext uri="{FF2B5EF4-FFF2-40B4-BE49-F238E27FC236}">
                <a16:creationId xmlns:a16="http://schemas.microsoft.com/office/drawing/2014/main" id="{FD3DC371-5F96-9846-B924-87DAAA98A6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59805" y="2830443"/>
            <a:ext cx="1905000" cy="2495001"/>
          </a:xfrm>
          <a:prstGeom prst="rect">
            <a:avLst/>
          </a:prstGeom>
        </p:spPr>
      </p:pic>
      <p:pic>
        <p:nvPicPr>
          <p:cNvPr id="7" name="Picture 2" descr="data:image/jpeg;base64,/9j/4AAQSkZJRgABAQAAAQABAAD/2wBDABQODxIPDRQSEBIXFRQYHjIhHhwcHj0sLiQySUBMS0dARkVQWnNiUFVtVkVGZIhlbXd7gYKBTmCNl4x9lnN+gXz/2wBDARUXFx4aHjshITt8U0ZTfHx8fHx8fHx8fHx8fHx8fHx8fHx8fHx8fHx8fHx8fHx8fHx8fHx8fHx8fHx8fHx8fHz/wAARCAEKAMg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C4jus9xmWRgJDjLHC9/wAucVnyX07arsWSUAQ/LGHOCfU/hVxgZJrjy3b5pG4HHTg5P1rKs5y+rTXAIKu5jXPoB/8Aqro6IxW7NGaSaIQMbiQ+Y+Gw5I6Hj6ZqG9ubgFB58iBscq5GFDDJ+p4o1P8AeCJlTncQRno3OD9ajumM13bomDkqSR0H3j/QflTaQlfct+ZPw7SyrjkLuP60huJRaGUTSEkZHzE8np/SkmkP3c4bj8Ceh/Dk/hTViKskWMIvzDnnA6D9aqyJTZPA84jw8smfUsSce9LFLJgnzZCD90byTULOZ12ocRj7xAySfQVPGGSMbowvHH+yKdkS2yJ5ZlRi0si/MMkOT+FUzeXKTbfPlAbBG5yRVq8DxsfLBYAZ+U4NVZ1M1u0kUm4qN2COcdfz4qWVB9GWFlnYyRm4lG4ZDeYflP51BHc3JR83M2QoP3zzmkhZWt45mORkA/qP8Ki2u7+TnG5tufpz/Lmky0WIri4ll3C4m8tMsRvPPoP1/SrKXEwy0krkdlDEVS8xjcvFGMYKqx+lSySnLBe64BpomSZZ86SSQDz5FOORuOB/9eo1uZ1lctO3ynkFjionKMwRDtcYJ/HmoXkIZXKl2BO3B444yaegrPYsT3Mruyi6kiQDJIfknrgf57ipIriURAtLIWbqQ5x+FQooijAVcnOWJH3j1z+dSOxVjGANp6gDqKaQX6Eck9y7nFxKqqOcORk0t1cyQhH+1TK2OVyT+mac/wC5XIGXAG0erdh/KoRCI8uR5jjrkcFvWk12Gn5kEkl8Yi/n3aMBk4lOCO/Gev0os9RuW2xyXL79pALSN8xzV9VZk3DIJ4C9hWRcwNazsmP3Lt8rY456j+dZTjy6mkJc2jNNbm4iU5nllLc8MT/9YVXuJ75onZZLgBTgMsp/z7fn7VLbXKrB5Tn94MqpPRh/iKPtAt7YkSIGHY/MST1/U09GhXdxLC6uXuLUm5kZJmGdzkjjGR+NFQaXBL9pjUHZidTIhPoc/wCNFYs16mpczLYx3kvGAWKj3J/xrNt7Uwxaex4LMWYN0yQT/LFSa1ukultCSxklPTrszn/EfhUl+22K2fJLBiwP0HQVsY/qLesqHYMsitkkjhWCnioLOQI7vLw0aZOe2fuj8AP1qzeZjsoogP3krYB65JBGfzIpkVoZrpxy0cJAXYvLHA6+w/rVa3FpYfGJWm89xtcrhQf4V+ncmknCfaBvDMqpkqp5Yn1/LvUt0s8bYSGR5ZOmVOB15PsKdbW00SlmV2PV32n5j/nincXmV7RGMoGU2D/lmnRf8auui5LyuQenAqIxTRTJJ5bktnICnAHFPkSWZSwhkC8DG0+vNVdCd73I5w4AdAAoPC5Iz9KghZN3HJIbbkep7/lVu4MsamIwyspHJWMnFZ6W9wo3CCRijZ4U/N6kfgc1LdmOKdtRbfYbZ4TnG/jA4xwf5VGg/wBLLNwSWGc8AjAJqWKCTznAhlK4BzsPI70wwzk7fIk5d+Qh6EgVN00VYlt188sFXCMxy544AxSTFJJWPyrCp5Yjr7U9YJYLcSyRyEFSwQIepOcY9aSON4grSQy8DOAhJJ/L600xalWV2LDYAqZJAHBI/Gp4GJkJkUbAoUBMnaOevrRFaXU05mkiZU6DKknHpj+tXY4HGNkcoHptOKa3CXYjEZJD5BUdcdxUdxwvyDdnGMd88CppEnVsCKTHqqk4+tMjilO4CFycYwUOKsi7uVmkLyBAwbB3MR7dqsxE5bP3fugnuB3pDbyplFhlHHLFTmkjhnY4FvIFA4ypGPwpDsOZsrkHDZ6fSkdI7iIo44I5XIpjxXEw8pYJQA33th4/H6/zpfOlj5mtzDGBklhjn/D3ouOz6GTcQNayiKYs0X8Dg9/rikkiVBC52SGThYx6/wB4n6/zq9fyR3EYgQmVmwwC8r7c1TEUluCkjBd33X7ZB/xH5VzSST8jaLbjruW9PD2mo24kKsspCgg5GciipIEF7d206dY5F3r0wQef6fXNFTJWGiO6kkm1q4dSW+yhgoUZzycj64Jqzra7raMoQQ53pjpnqf8APvUttb+Rf3RY/NLK7A4+6SxIGfoBVW6lChIc71CtJEPRSrcfgelape7qZ3TloJcXBnjt7jawQFUTuc/eYj2GB+Rqx4fuw93MsavNIVY8fc6gdfpiqEyyXcltZw7VCptIB4UDgn8elbuiwJbXDxLtJCdeN3b07UO7DRaFiS7W1uRHIk81yy7z5Kbtq5x/OpILxL1mELlfLP7xHUq656ZB6VBcTRwa4xkdU3WeFLsBk7+lR2jLd64ZrVhKsdv5ckq/d3EggD1IGfzqDQli1VLryjb2t2Y36SGE4+ualk1GOOaS2W3uZpIsbzFEWAyMj9KztDciwtCNUVQFH7giMf8AAc9alYt/bGoFdRFmymPgqnzfIOfmouBbub6OJIHMUzPPwsSoS/HJyO1Nt72OeRnh3IUOHjdSrIfcH2xVa8LS3Wm+RcgMXfE+0MD8nXHTmp47b7LLK0srTTTuDJIQBuAHAAHAGDSBDzOsV/HCc75FJGOmOP8AEVHc3S2qrvSSSWVtsaxruOcZPFV52SLWbbzXVF8mQDc2AMlf8aZdyh7ywdLpYU8xv3wwwU+WfXjtikMvxTicEGGeIr185CueO1NhvIrq7nt43Aa3wHz2HtUEl2LS2mlkuxeMoypwv3jwFG31NVE+0WAsbieykiEBIupWdDuDn5iQDnhsGmI1HvUt5TB5V1M4UOwiiLbQenT6Gll1Kzgso7xpibaVgquATgnPUdRjBqrere/2pfvp0wSRLeNthQN5nL8AnoetMb7N/Z2lC3JltnulOZOS2QxbPvknNO4jUnnW3WMt0ldUUrzkt0phuowbled1soaXjsRnj14FZVzuspbTTnJaL7TG9q5Oflzyh91yMexqaYZm1w5+7Cvb/pm1FwL0F3Dc2IvIG3QkEn1GOoNMkv4Y7SO5ZmEcoUxqBl2J6ADuazJVNhZpdrn7Ncwqs6j+FtuA+P0P4U+JltRo93OcWy2+ze3SNiq4J9AcEUXHY0INREkhjkt7iB8Fv3seAR9RkfnVLWY2mltmkbYibjt65PHX6U+6upRqdqiXKPBOTmLaMgBc5z16iqevEmSFdzHO75QMkjjtTi9RNaCW0YSBmjQKJGLBQMU2e1SWOWNzxgOpzypx1H5U2OaYJtjtp3OeSxA/WmSfa/MwohBx7nj0/lW2lrGPUg05X/tCKOdjHLHIoYLwGwQRn2oqaWGZL+xmkZWYzIpMa4/i79ciiuaSs7G6d9S1fu8Uk6yjOTlD04ycflkg/UVV17fEFMe35/mG0YxwF6++asawTLC4iYmWJmODg8c5/p19qo65O9xKiKOPIWVtvO0Dnn8cfpWr2M473JtEt2Q3O3bneFaQDjgdF/Wt6wVUkZY+FCnOByTkVnWu21sokaNy6jnPcnknj3q3b3BLMyZBZcf7vIFVtEm95Etwbe6uDE6xMyKMtIBhcnHU/Q1ZEsFvbEIyRxx8kAgbeO/pVaTTILqIs7yx7kCtsIBYcjH/AI8f0pj2dpbhpJOYpx5T+j7mJPT3bFYmw+2js5VVxbpDtIy0kGwknpjIqzPBayF3lS3dlxvMgBI9Mk9Pxql/ZVvLK8c1zJJdMoZ87NxXBXkbcdzz196kl0iAFpBK4ctuT7p2kkk9RzyT97OO1MRHbz2twdsO1VXbsYqBsLDIA98U6O5iuHba2P4BnjLeg/KmNo9uyqo8z5AOhHIChcHjHRR/k1XgtLO7kYRSuVI+ZsDBz1AyO+3qOeOtIo0JYobhWEixSMwVl3AHHGf6VWgax85rZ448IxJjZBhcDJb0A56+poTTooL3zInaKTktnkYznA/DKj2NMu4rYQrLM5jklwNwHQKxYdj39aBEyiziuBlYkDPgYUADuGP5davHywrid4ypyCGIxjp3qhFpVsrpy5jEYG04wcLgE8dcU1tJiJ8sTTgEY4I4B5PbnJGec0AXprm3tZkSTKu4ADBCeM4GSOgye/rSr9n6fugN52rxw3+P+NQT2EM0kDOzD7OgC4xyMgjkjI6dQRUMWlWqhR+8bH3SSDgfLxnHbaOaYi87QOVV9jkNwcA7GAPPt0NIPLZWYBWDjDMBnePf1qhDoikyfaX+U4CLHjgAMBnjn75656ck1bhtvsylRKzR9dpAHzEkk8euenTimANggqEVYzwQRxj0xTSQ48pU+QjG3+Ej0xT2wf4T04HrT1TaOeoHGO1IZTS2giObe2jjdjj5UC8fhUGqRY8hlPIBBwcZ6YrSSLksx5GQMemao6vFvkgy2xQCWwevTiqitSZPQrgh4xg7eOD0qMK6DczZ5yT61UhV5mYq5Qbjh88sPZTwOe9WjYxbSSHLnu0jZ+vWtrsyskSK/wDpUOcY3ABR25oqulmI7qB3kaWTzV27+wyKK56u+prT20LWowxiKaaQfvCdokLY25OOnpWLZ2olaBSTuu2wcjB8lP5ZI/SrGsX/AJkUlsufP+0Mu0HjAYgfnx+tTafZy2SEvC007/J5gYYXHb1A+marRsWyNZ3KToigOuOncf54qCGVXvvLhOWK/OMcDDDn/PpUCiOYx/6S7HO0jONvBJGB7j37VHqzvbWpnhPlSxYXKgFWUkZ/DpVN6ERWpp3OnfbpkJmdFCMMKPuhgR19SG6e35sfTYkmSRGOI5Nyx7Rxhi2B6D5se+BUVnfzPbK0blkOQXOMk59KqC/vZ9UkiWQZUA8KCEHXH1P8qjlNFLU1W0zzLiS5Nw6TybgSACApXGMe2B+VNOixCDZ5hL5yGZQRjJO3B7fN09h6UiXVySokkHHVlHDf4VFLe3SEyeYGjHXaMkD1p8hPPd2LFtp0drM0iSNISm1i3JYEKBn6bf1NVTpZYpayXDGJRtQFAdowQPxweD2IFMkmvVvFZJsxyA4XAxn0zjuMmqzXl4boxQT5Zo1Me5QOcklT78fpScClK5oz6aqTJLJIZgshYRuoIIO48+vLfpUVtpEcoA818Ipyx568D8gAKZqF3czaX59tLhlTfuwPxH8/yqlZXt2dLLtcEbn2k4UY5Ht6ZNJxswUtDYtbAW9w8qSMzXGSQ3ZevP8AT0FXiBGQW49TWJbXd1cTGR3IB4VCo49B+WT+NS313PHZs3mk7T6DP+cVXK7XE5K9jTUE/fGWI4HpUikt0zj1NY73V0G/dy7i4+Z+MZ749cZFN+3XJlKRSsdg6sAAv14601BsXOtjbb7wBzxTXQkD27VQFzPt4lye/AqP7RdGTAm7+gp8jFzo01Q9T1pSOD2PpWa13KqFklPy9eBTBfzF0y5Ab1AGO9HKxqdzTyVxwTVDVo1YxNKNx52qemeKa13cHBVyRjrgf4Ujym42PI25kPAPaiKsxORXiiIVQVAKn8hSXDMrDbkjpj0qeM7id4Ix1x1Y1HdEiP5ANueh7VoRuyG3ZpbiJ+oDrkehzRS277LmJkCqHZVIz196K56m5tDQxmBfxJJnaMTu3zdOCcV0Rb7OgIUbhw205Gff0PrWFPCY/E8saIZyzOQucH5gT+maueaCkcNt5kkmQWWXABx1AzyTnjjNVDRCmrsuNFJOquZS7kZAQBSp/EdB6E1Qu5VuJYIn8qDdIUlVzhScHtnp7jvipb/WltS6oEjnxgrncecenA/H8qy7WW4YbhZzT3DZUO/Eag9sYxQ2iYxa1ZPE0k0gsxMbVoU+eVer9hj2PWrlhts/3ErMC7Z8wrnzCf6/4VDHpaRxYkdmuHwzPngnB/TOKvW8ouYjDIvzAYcZ/WqSY5NPQurICBtdQB696rzMyOCQoGcc8UkK4w+MOMgn17UyaVfMPyNKR8u4NgZ7/wCRVmaVhRJ5MRD4KxMHXn+HOCPwyf0qrqSkXayRAhtm8Y74OCfyanyRjyw9oQwIIeEjHB649On6VDbXIdrMcqRvjy/HykZHJ9gv51DaehST3RHNOqWF1HCRsOAV7Ddjp+tJpEAKRyXIBhOdiZ75+8R37/lVa9jEdnlWOAxT2IDYP/sv61Zjk26XCEU+cfuA85yT098dqjrqadNDRt1byWmYgM0rMG6jqecfT+lJdnzmWMA4lcI+Ow+8SD9MfnTrfEdosITzZNm1h0K/XOKrWk032/zVRnjwdi9eC3LD2yKq+ljNIsSHyoPLUAswIXB7Z5/n+lR2m0JGm8F2G9sdT6ClAO7ybZSZnVTJgcRkkn/Iq8IkQAp91BjjtiqQPRWGMYwfm9cYqJjuOVf744HoPamXTKsEuxhv6qfUYFQ2yhrRSxy3Zh2HQU+bWwculxFmcsQQVZeCw6H61C0khmRiRheHX0ycH6nFXPMcF/NVPlXO7Bx+PFYrSNLM0hZeTlR/d9KyqStoaU4tts2FaRCSw2p0VSct+dJuVQrxvkqcEHoR6/1qGO5doN+VZzwI9ucn2PU1HCJgTiFweyhTj1wCCcfjVqRHLa9zTimX7uQCegz1qPyw5UPnZjIFVna2lUNJFLCrnBmJBwR69f1q2gePEbPvRkYqW6gj6djk/lTuJxGRQhrxNoOxXBBPJOD/APWoqxbDHls3TdgY9zwaKyqGsDBnlSXxSzO5jjDtGzZ29Mjr+FSz3P21zYaUiiDIDy44XtxUOtWq/wBqxQ8BZnOSOp3SEmtZ7f7LAot0CRjARR/P3NNXtYTa0K1nZLal1gSMyRH5nYHc/wCP+elWriYsqgpkOwXIycfh1B4qeeFPkb/WOi464Jz79ulU5EVppWcbDgrkHqff/ParWhmtXckfJjU5GVJI9CPenJGu1XjGTnr6jvmkQu6fIBIV4ZycBiPfv/KpnXf5ZDFTn8DTTESQyFo8YGSOpqIhYyfLRuD1C9T9TU42SkAqRjnbjqajuZ0Q4zul7Koyf17UwZXA3uWOYrgjhiD849Md6zYXKvE0gGBLH8oGRyNuP5/981fuhK4XAVVY4OXJ7/Tjk1TuIn3wWpyZPPw3PJVjuBz36EVDsXETUQn9nXW048u5OPfODVgRtGbIqq+XEybif7xXH5gEfpUOrokSXUScB1jfbjGCCQf6VbjIl8PgMFUKgcdeoOcj3zU9SuhLd7LjUYYCjFQGLAcblxwD7cfpVVrp4oGkKrtmwiDPzbR6D0Jz9c1HeNcPdLb2277QyZkP9wfMDj0BBB/GptIgEjJvHMPypvPyqfYevTk+tO92K1kXbJoYYRHuLMx3Nt5+Y8n3PpT5ZhFGxVWOeeRjPt/KpZpxB+6jUySYz5ca5IHqecD8apSxvchpbs+UsSnEeeT9ccCquRa5n3sjLiMHKsQxHt2A/P8AlUumyGGYx/wOuST2wOv0qF90pEsis7dctzilC7byHzGYYIBI9K51JuVze3uWJL4zFlAOyM5wD1b3NZgKGTgn0BJ6mtjVACUAU4xjaB9739s1SOHyrR7DjHOMH6U5v3hw+EbbN5NwZW4DAgsOo9jV+KaV7bAIiAXIGeSB3Pp/Os6IF5DHjlshQfb/AA/wrVCQrEBs81SBj0ye5x3/AMKuGxE9yj5Bld3USOmNxVjgOOPy704W1ywSGaeSMLzgYwI/Td3OeMVfV9sq+YcsRnbt79s+tVrmO4ub62eIbYmwpO7kY9f8+lUSiO1hnF/E8M4lhSRVG45JGeR7YFFNskks9SjTcAjsFGew3d/ckiis5GiItRkE/iiCMHcInAP4EmtuYNPGdqgnsfcVgWsJl1+/kH3YpZOfcsf6ZrftHJG09O1aw2MprUhWd5JBFDEFcruBb7qgjr/n0PpUdzCkFoQ2XlYFA5PLE+np/wDWqxZRf6O0ZbEiyFWbvx0/8dxTZsS3vUMsC85/vH09wM/nTJ6jEeSNVztiXou1c4/p+lKjlmDSLjn7wOcn+lV5Zv3agMWOQFwMggH9DirECCNy0rY5JAznNNB5lkBtn7hQCeCx9aiWERJIHPJOd560jXD+XgfKCcnjOf8ACkS5YMVmzgDhsH9ePWi4vMqzxrcRsrFl2RlQAP4gRg/1qO5LyQ6bqWRtDIJAeBg98/XI/Griuou1fcriZMcdMj0/A1FFHLPoVxp6oDLbBo3zxkg5XH4YqWWir4oVY54Dt2/KxPvj/wCvV6NY7XTLZZ4C0gQAKP4lI+YfkT+lZU0y6xqFvuY7dsaNnscjdWu+rq9zMGiYpGrLuDAggehxjnipWrZdnZIo28kkV1PMZkIyIFzjLJ03fWrEl3HZxbLN982SWcYO3J7E96xos3ErpaqVySWcgkRjv07CrUMEN1HCUeTc7MrqDyT2bH92gtxXU0bfVY7X7QTGfsyYYPnLOTjJYk81MbgXLSyiJxD5eV3Y5OOvH1qtpul+d5kl/Cxz8ixdjt78duOlWdQeC3tdgbd5Q2qg6tn/AAp3uQ0m9Ch8pQYbYADlaSI5urcbvMOVwOhNQxS+aheSPy8HHAyf1qQb/PVmUmIY6v1H4f41zpWepbJbyQSXCiFGQAEcscEf7J781RaOWV+GKck56n8q0Gkie5Hl796nbh1HC/wge1Mld92SBxwcU5PXQForFOwRm1ApMDkDHJJyT3rUIaLy4gCwWQ7Tn5eCRk+lULRSbiQSH5gQqkDoe361pI7m3ePlZSzGT8z/AJFXEmS1ILmX7HeFXG9mU5Y9j6D9PyrPhuZIpz9qZo3IwwIz+X/66d5czPG1yoeFXHzA5wp//UfpkVZgigmu51nKvE5ynH3cZzz9P51pfsWlZaEQZ/7WgQt0lTdnjPI/z+FFID5uqWkkaYTzVByc/wAXH6UVnIT2RPp7RxT6mzkbmu5Aozgnnj+daEGEbCRMz9yBgfhVHRVZ9S1QcbBcsenXk1ubmcfu1BUfxHv9K0i9DCa1MeV5Yr2SBWVZLnaUY9FxwxPvgL+dTXCW9tbLB5jAg545Zj3OOpqK9JjvozcEMPLcKF5JOQQPrxVq3iEcQmkjDtLy23JwOwx6AUXBq2pnTQzeUJeVXI+7y34+nGauylYoSoHlH+Jjwf8AP0pLhw9vIbYEOozgA8Hn8OaJka+ijmY+Tbv1c8FhjPHoOOv/AOunce6KHmTzkoAWVRk7eNtSCV7UkPIxkIyMsDj0FTXcsiWTrbRiEg7Tn5Rj6duKzD/pLCXziei/MuOnBHvx3rOU2tEaQgpK5bmkWSBZxBlo33eYuFJGOVbnIqWXzNOuBdWzOGZR5kUnPmLnAGfXB4I56+nMehyQrLdJKwCPgZY/Ljv/AEq2t2gi+xFlk8twvmA5JA5VgR3AH6UyWrOxhBlku3VP3UJfc68BsZ6f54rTNwkt0phg8mB0KBlYFwAPx+lZYzLqZefMiNITI2ANwFWZYZltGeLCQqSVbuVzx9fSkmuproRW+7zpIowISw2sQcAjuD7dP0q/Y24siXLsGDGMnoNvX+X86pW6xlslw54Dbhn8Af61Z3SSebDCp8zGBk8kcf4VDlZg9TSu5Ly2kZ7OQG2dgEAGSoxySew/xrFlid5JY3mUPIc4Dbvxz9KtsZkshbLuDHlgxzkevFULhrZbhd8RVmxnYT8pPP8AOqvcUd7BEJLcyqCJphyijncO/wDWrMUnlwq0wCsGI55z74qGKCXL+QVLkjaxPYnnPpimeW0kTZDSOOq9Dtzzilp1LsTtdfaJjEMK/Zx1Ue1Sv5sbfPmUdcnAb/CqodN+WRY5kbucbQOuePar6yxyKUMgLHv6flQ1fVA1fYoRToJ5kkPlMxBRm6HtVpb0xxSknMuc5Bzn1/pT7gxQhTIFZdxGAKqzC2tpNygxleS0bcD2x0pJPchoVppiTA0LB/7qjt6/SoUSVQwZWUj5oyv8s09L9LmdRJyuDnPYf/XNVx5qu3mFjASUZ1PQ+taX7lrTcu2MT3F1bO4YeUykZ7nNFJYTp/aMCxykguAeCQ3Pr2/+tRUy3JluaGixM97qhVdwN02QTgdT1raPmlfugcfw81kaaxifUGUHa10+7pkc9aS6vC9o6xSnOflZeGqltYycW5CSELe2xIwwZ1OfQjP49P51fSGaAjyJAUP3o5OBn2Pb/wDVXP8A2uUsjM3zK27ce5xip7XUZhcpJJKxUMCcHr65o2G4uJsXksMtlcM6tG8aEFT94MeB+vfpTre0RoY2mfzHCBgp+6nHYevvVLU721uYHUH5ipAKHpnsfao5NTk8orvw+PlK9uKXMLl0L2pxhLQ4AxkcAcfjWLIy/ZkG0cqRkDoKkS/le3MEvzrncSTzUKo8iFVPAHBPas37z0NIrlRY0eaKCR0dggkwN+MkY9KsaqrwzCW2ZTLATyTyV75rOR1mbYjgtjHT+tKMuvzAqxBGTTu0S1dlOE7mWMyFI5PvNn7uKnnb7S6Rq22BehPC9etRhUCqSjF1bOFOOe1TxRIy7m4PG5Rn8qWppuWHjhiVIkj3LgcnORUcplaTzI12scA+gFMa7WLLSyn5iQsagYX60x5LiSI+UxIPIx1I6U+VFqI93cqFMxjkXliP60RsuYndF+0Z24Pf14pojeNVeR41ZeC0g5x6gflSrHMJSWRSem/bkBeoNVZA/Qlsomg3yNvWT+JOv+eKfEIiPtAyJSPvN1A5zjt3NV3MqZfBDAYcr8xb8KfbXSvIZXOMKRsP8RJwPwqWkQ0hstvG6BxuaSQ7Q39ap3CfZpgincV+8+OM1OJGKiNWCPn7oHHTv+pqSSNHViZ18zlvu8H8O3196fQZFI0gk81lBhA3KH7/AOf5U95XUK6RoHfP+sPOTwR+YximLMqhZ7hQ+3gAc4J9RS70MkfnkmUYZXA4cdh/OqWo3YkeQ2ybWgUMwyyqB19MCnWkf7rKkgM2ChHT2x2FBtp57oTYI+fGG4ye39fypq2brbvKysHwX3K3TqPxpSaYnZoNNKxXXlgAbp0K47880VZFsi3ttMuEdnQ8Dhhkc/pRS6IhlaTfBe3rJOAGmcvg4x83T3qKRlJ3bR7AZ/8A1A1JOii/usFcGViT6cnNSRjC/KvX5xznIHHJFNMqOjK4CFlcqwPUsBkfTHp1z9acWG0/Lh9vBfkY9RUiToCzNGqH2Hf1NNExGd4YRkna7dCRVXKIg+5mBX5gMAH7x9/SpQN4yqsT6GmDfMhLJlecEYVTT4oVlBBkKxherv09B9ahq5NhNyq8YJzzyoPH41GwUzyeTJ+7HU9MZq2kMcZ3ySGSMLnZjbg44Aqmh85SsEJ3bjnbkbQMUcrtYLCKY2I8sNuA+Z8cex/Pn8aniE8isgYoRzu/+tUwtwt15Py42hiw6D1/pTpRDLt3l5ok++yDH0GKYyv5n7zhAZDx/vHtwKlVSodrhv3agM2ACc/55pWNvcMVjlZJACCH6dRjH6VBMHkCxrJlFyxJbjmm9C9EJi3kQxbWRWOM479+fenyyYcgF1lziOMY4GOtNKJGyApnGFEY7HtUoaMneuVmcYLE42Y6cVN7BcZG/nMnmYBRc7UGOcd6WGOZpQGYpGeWx+lLxu2q4V8Y3HoefX86mnVCkRZykQ/i3Y3Z7e9CV9QSvqBeO1iMe0szDls8mmW+x4igxMwk3oxHP0/PNVL2OVXZdx8sDMbvk78dqkhjuLeMFFbG0lm67ff69aem1hWW1hJrST5xuO6RgAc/dHr/ADqQ2zRR7YwMrzjPJx3PfNJFJNc42xCUKuPm4DZ/liiHJdirokq/eB6kU9Og7IbbRNMpbftLg71I6fj9KljsljULNJuU4KnH3v8A61MaQySM0OBKOCOeTSvO10I7eTcm08+gOPX/AD1ourC+RaN6JAzEECNjtHqeOaa7PFYS/eO4/MN3QHiovs0IEUZLDGcsG+8epP0pixzyxuFcRFfvs3O40rd1qK3cVxIdSsRknEiFj7bhRQUEd9ZFJS6tMgZfcGik79SJJrRliU4v52kIIRmO3GQBnjP1pd6c7ApCYIBOASB0x6Z5+lSzRopmJ+ZpZH4B+6ATyRVSQrGyKyn+82eNwpX1AfMny78YbOdoUde/4VnmMs0OMsu7O0DOD6VcV4mDMHaMDlQTmmlmK7C+5GBKsBnH1p3Hch3K8n7xywOQAh4X6e9PgtVuJwvzRqw3EkfMw9vxpsNnM0YEG0lj93pux35/lVua3mh8rIQEAfMD9z2/nU3AmdLuUCKIKqIgIMnGf/r0GR52EUTmKVRyuwfN6gc4/Gm3kzuySNhQMfKf4vwqKS/WeWSQIBKVG3HQcVdx3GRCTzZpywjki+UqxzU6KIJVeN8l8l+e/wD+umPKI7JdyDzZCWJPr9aITbskrSTKMrhRn7uOv41Fr6EpvZCeYk+pACBS5BUg4AY+9WjEkLhplWIluIgM5AH61mQ/PN5jM5YDJPde45qWe5muFCsCXiH3h8vHelolYE9NSykfnXEwuH+zrjcFfqB6daqNYyI8glxluVwQAR6g06VkmmDqfNkbhsn+Hv8A/qoebdJsRfMZcou7gbc079Cm76MDEkgwSkaxjLKxxnr/AFzSRTBJk3IZFC4RCM46dPT/AOvVdEkLur7Tj7y+mfSllWVXVSxbJwSh5GfrSTtsF7OxJM0zuVlj+UHIBpIGkVkgjmBRzg5PzDPUUuzO1ZTn+HkHAP8APtTZ1iMKgRpuOS0i9T6Ef4Va7jTd7lrU/Kis1KoBtIAXODVFbkZwqAZ5Of8AH8KbI8zfNMFITPU5/PH4U+CIoxkEb3FvGxLEDCk44ob5gbu7kwX7WkcSsYABneOrfQ0hZppRbO6uYsdMjI/xqvMCHZ4DiMtxtzx/hToRtjaTy96kYLdNrd8+vWlzCTuWVS3FvG6qVlPHJztH/wBam3KT20oBcGMgOGj4z61Da3SwSBiq/dPyn+h+tXIryPywjxbsHnvjPP8AhRdPyK5kxbOUuYUjhyolT5/T5gTn3xRTrFJBfxCJv3LtuA7Y659+wop3uZz1H3DK9xKsIydziXPrnjHp0qlLMjQ7/m3A7euOB/LrV6WF7m9uF+4JH2KFOOc4BP1qm1tFan9+WlI4Ow8Dt/MfpWdw6DjEsU0COqFEUjcM/MT39+oNMJaOVUDJKqEkEdHz6037SkNq1uVBMr7gx5Ix2qrLLNLIWLLkjPPWqV3sJ36GkMPDBHFCRKGONnfvx/SpbxLlLWUy4MYbcVLbiOmKzYLgxyBlmIuD3xzj/DrW0P3qrPIjRxxLuLg5LsPbvimtXqWtTPvYgtrbs829yoJJ/h9qm+1LHZpEkeyQJjc3cnvRbTgQyyygSSuzKRj7nqcdhyKiit4pLUszGWVWO2NDnjPH50Ju+gtehVjd54XjUGVguE9Ryc4/KoIZxgRBThDg4XOa1NMFxHNJCLdROBvKsO3QYNSeSkcJubYbbgrteIc8+ntRyqw+Vbmc7s8KS7CFJGCi4LcdPf8A/XU325GhV1QEMNpIPXHODVzTBA2HnAEC5AI48tz2/I1XtobWOaaS8BMfVC3QDpzS3ErPUqQYV8uSjY+RmHT3zVqa6afy4ejKSQ/Td3A4pXjgSyjZvOaRlAQMcqMHmoIQ6KBFs3nJViBx7HPp1oeg/IJAyStJyzEAZzxjuc9z0qzLJGw8qJTGWIMjkcMP84qrOWIM2/cVPJUdD/k0hZvlDAGJhyffn/61Tcm5ftCtjFK7HcWwBt42k59e1U3RTI82GdT0A4HuSO3ao/lllESMWQAkgLn35NSw26LdBvlkXBJGchsdv5fnRqO11YdHFvmhRjvH/LSIDgH6/lQ8hZngthIA7FM4wDz0p9jIEje4VZGmySYzn5xnPPrTjK0kTRMEjLMSSp+63XPt6U7pKzC6sRiyEUzRySbCACoBzz71VJfIQZSMnIPRWb2z+FX9ySWpCQ754hh5AdpIzjP4/wBajlmd7JUXLwggg4+4RwPpzS9BDpD9pAhZUM0fzM54CjsKYqwi1zEpaXOee7fyp/2ZVg/1he6l6Bf5e1QMXUKcY2uGaMnqQRz/AJ9avVblNtblqxkY3ECS5Xa46gjJJ/8ArD86KRJ01C9tGRwpikU7GHOMiigmW428iZbuadWb5JWPB6+38+lMSPy43EisQwJVQxB47n17U25neS6ut8YMMczKNn97J61O0jQ6Zh9kjynaGdssqjsPb/8AVWT5kZt9CpOFcQqUClAUVu7n3/z3pFkh/sdlkt0WbzP9f357flU8MikiWRN3l/OuRkE+n04/U1Mr21zMkksUR3li0QA2k46f4e5quay0LjLqyhpcDTyzbURlUcu3Ucdv61rNObF2STdKc/umPYgdaTfFbI1uttsV2ARl6E55zUUhe5SS2lCM0aFgZOw/n2/GqW9xoFv/ACrOf7Q29n5Vl43ccUry2MMcckaln2q3mMTnd/8ArFNnkk8y2do1Ntu3sqJkDpnP06028uFVyipGYj8x2jIJ9vb/ABpttIp7Fq81FVAaBMzKecjnb35qFkSJVlWRknlOXOcqBj5jiqILDIQlscHIyDz3q0t3HZMCUSWVFVjjPoTkH8cfjUuTe4r824x4/m+yQOZ4mbIdeAGp0MYtRLI7JKVUgqT19sflUb6gYrSWExrGXbcQO/vgcA0trL5OJJQWIwoyAeG5PX2ptK2gJJCxNJa3ME1wjKp+ZcHqO5Hv/wDWqJh5srGMZ3NkZGBStLJeL5LjoflGSdopWhCgFwAUYK6jv6EUrW1GkNvA9pCuEydwjZQQQeM/jwadbRx3jwpJmOJcllGct6A+3+NV55JiYJElwyvlTkZbJ9O/ela+mN0Ll2LMG6N3/AUR1BmoLmGy8y2twuVH712HBU/154FZ8UkFrcD7xVDhsLk49fr0/Kpby5DkJIkJWRtyvGAWXIAA/r+VMhtjfTOUmEbbMuxA6n+nWm7tid29C/LttkS5MYcOegODgnP51T81EmLLGV3EjYw6L/n+VPvbSWztUaVi5UYQ4yFqhbzKjNFOznccErjjHcDH8+tKScncJWY9WZn8wMQ3UN61Yglf7JJGxGTwy7ex5J+uf50tvBFFG3lPI6Ngq5XGzsccn1ppUrJ9nVVgRwwIB5J4Ktnvn/GpT1sgTsRW8ksdx5sLAoDuUEZU8f8A66dKN0izbXZnIXBB5PQkeuahcncyBvMycAY6H1xV+aSUhbaOVJEjyI24G7jGPTvVPzAithGL2HgNKJU3HORjcB/n6UUyyLJqyQSRFCZFKkjAwCMfjxRTRLEvGNtqFz5wCs8jFF9QScNnpS2sT3MgB5zwAT074/UVNdTQT3k1tdq7oJWCSKuTCc/qD6UJp5jbbcTJJu5QL91l9c1M1ZXRm0nuVbgxpIGcvsxzt7fjVu0sEifdeRuZGG6E57ZGM8d+Pzp0tvHdIquyhRx8o5bHUk/h+tTi5lneGaYKFiO2U9OR6D8ahSVgjZD7yKWBWYsZHlIOyMY6darsojiZWUhpHADqMkL6Grt64gmEkxIQj5T35/yKzZmLyZ2ZK/Plz07Adfx5qtEy20mTXllLBEkvm7FJ5Xdkj86W3tRII5rpdsO7b1xn0/CnFZZ7JVkfzDyVOcECoHvf3P2d8KMYBP8AX86E43uNNN3JJLcwxtLA4kj37W2HkkevoM1REMr3DSMCW3YHH+eP8Pxq7HPIli1s3EUh6gjIPUc/l+dVBFJ9kjeQhOGJQkAZHAOeuOfx4pKV32La6i6ZMLS9d5I1uR9wk84J9KtRvZm3a1kjLTbyfMBwM9wD6dqp2qeRC1yxBHIjPq56kewHP1xVeIDhs4jXhi3JY9wBWl2wXmXreeyhgjhmWRJWbiWPGcZ7jnP09qWVo57g73HnHCbo1+UgY546Hj3pq30KWU0cluizSHAY/eT8ah0oA3WzZ5jMDtBHcfypPa4m7FmXTILXzXv5QsuwtCQ24gD9Oufzqpa25mVDINkIBbf1J7HA/L0rQaa2uHWOeFTK+UV9wKKe2f5/iKW0lg82WKWMl4lJAZAF6+/1/Q+1LmErmdpLRDUQ8x2gA4Zzxntmid1N08sbmKN8oSOR/n86nCQ+cBcKREY9xJGSRnhQPr/KmQ2y3beZPE6W+3c237pYdvrz7U+a+xZNJd3ItFS4kUR92OCWA/hx6/41R+zFjuTjeu5ATyy/41dlSLVmDKPLCL8gBwNv07VZ+zDajfxqBnceOABwPzNQ5JGfOlKxlwNcRuiJKAM9O3PtV1JsSbLuMBYx8soUhkP0PUf5FMkjS5leZ4WWIHKsG+bp09D+I/GnKqSRBnmn25yCyL17c7un+NPRlpLcLmxeV/OtjF5MnJm3hQB3HPTn+nvSXMcQt4YoliUxY3yg8Ec9c/56UunwQT+d5pZyBhC7AKT+HT8arTtDMT5MTKSuGZjwzZ4x7dqryKepaQqs9kUuCwkmT91124OPwFFVbK3mgubF3UiGSddnze460VSM5D9QuU+2zKoXCyNvUDlsMRk/57CnWl19n3KUaSzLZXjlT7Vbu7YNqBl2qYwzEkjknPSoJ7SL7yupDLyr9M4J/wDr1N+VmScdmSi1jwCJC6SZ2youdx/2j1GPTpmpYpo4nglkYCIsdx25+bBH/wBeqKSXGnESMP3TjDqxyG/w+tLd2z3Uf2mwmZ415eH+JD/hS5Lu8Q5bNO5LdzCeVdiiTy3KoFJY/X60ki7ocqCXb0PPAxg/jUunqPLjutgR8FS2SefXFRXFws0kiABpN4CANtwR1z7ms222TJtu7Fu8zyK8CGMMMonTFZ800gXyRtnPIZgvC/StNzILTK5MoY8Z6jPv0rJtbe5uGZrdOp3YLe/XJ/zxTi9NS6UtdSVLyUBd21sD93uwAT6egqZ7wBE821hnifqxYtz6ZH4VFZ2f2qRpJwSiMQ+7gHI/THBzVqaCC3snRLgyxAh1QcsD06+nNHu7G0qivYjuPJkk3pvJUDbCfugY45zyP/r1FJcySuAFVZOm0KOnpS6dH9puBC+WVlIyOMd6unSgibkkxMh3BR14HQe+RT5lHRilJRZnSxyQuXni2gklsnnP5YNSWN0ttdbmB2ONrKRzz05q+l19tDWki4lCjcem3p+v6VAumvC8ZhJbaTvL/dI7cUKXfcj2ttyW6tUn2sqRea7gqH7LnNNubYSkKyFHdhmU9Cc9P5VOlsMyyMS7EbkLHJ/SnPdn7LsWJgyc7WHLdgRWa82ZqXNfUdJblo/tDxJ5sZVQuOODgc9qSW3vJLh0jlVYN2/GOp74/Ss2a9VLdSyOZCSCCcDOfX9aZBqGYhG7TTbW3HByQMdc9cVtF6WsbX02L1rL9onUSOmIU+dsbeo6e1Pe5jh3YkU/MPm5OAM/kelZbWrvG5k3QwsQ+XHJHt61E5BEZT7gGBx1PoRWfIhKkmrssC8mTzR8jNMQTu42n0FEhTYELNJMeWOOF/2R+tVnjK8MTGO2QePx/rRh42XOFYDcpIHP+IrWyNUrbD3BZ/KUOWY9BxuPYVe+1QNbW9vcKqiJhswPvdc7j+XFVVhe5t5J02l1Y7lJ59c5qwmmGWO2bOHlyWdf4eMjI9e1JtPqQ5IZHK91qFm7Z2JOgRemPm6e+P6UUy1imTV7eMrIqrIucrgHBznNFUiXZ7G1M8bPMrHd85DLiqRiFtKPNckOMJtHsec1v/Z4d2/yo955LbRnNH2aB1KtDGynsVBHNRFdGc7jc4+6kc3S7XZ06DOD+OP8at2sfkXTmOULO6BlYZ47n8MCukSws4jujtYEPqsYFKLW3AwIIh1HCDv1/kKrU1eisYDlNSiYQyeRcOPuqxCSHHGD+PSoYmnIYPFDAYX3tuXLntn8fWujOn2QwRaW4I5GIl4/SnSWtvcY8+CKXH99Af502lJXBrSxz8U3nxiFTiJvk80qf3vc4/DjmrQhYSZjIC4weOgHQfhWv5EKrsESBAMBQowKDFGeqL+VYSjbYzcTGiUQWhZWB2sPvE89Bz+tUNRuYJoQI22yk8xbB8pPXPFdOIYlYlY0BPXCjmg2Vq7b3toWb+8YwTTjHW5cY66nMWU7RhokdY0P3cDOG9T3xxU0LAJFPlxsXc+5SS3PABPr7V0S28EQKxQxoG5IVQM0G2gOQYYyG+98o5+tOUdRz1kYEkkVxcK9ucXTLkMORj/a+melWnSSdliUlVBLO3972H4/yrW8mIA4jQf8BFJ5aAcIv5VLhYzs3oY6vIQu9BGR/dGeQeg/AfrTZUWVisrK6bdvlqOcnn+g/OtoxRnjy1x9KTyIeD5SZHI+UcUuQnl1OeuLdZlMTRB1XhcNyAP5U2Bbe3uYCpHyc7VPLY7NXSeREesSH/gIpv2G03eZ9lg3j+Lyxn860imtblRTvuYWqzu9uBIm6R/9WOyj2FY+XhkcE4cYztPQ9cV24toCwYwxll4U7RkfSk+w2hBBtYCG5OYxzTim9WbqbTONd4lTZnczHJYjvjHHtjHFRmRVQbmwT2967X+z7Lj/AES346ful4/Sj+zbE9bK2OP+mS/4VVi3I5a2tZQgGTG8uVYEdQVyP5Gr6S+RAqKH2I2xW6s59f1/WtwwQ8fuk+X7vyjj6UeTEeDGhHX7o61m1c5mnLdmJa3EF1PaxI2MMZVD8OSDg0VsmxtN3m/ZYPMU7g/ljIPrmitIqyNIqyP/2Q==">
            <a:extLst>
              <a:ext uri="{FF2B5EF4-FFF2-40B4-BE49-F238E27FC236}">
                <a16:creationId xmlns:a16="http://schemas.microsoft.com/office/drawing/2014/main" id="{11A55D6B-EAA4-0749-9B81-8ABC7E8D497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63356" y="4019970"/>
            <a:ext cx="1905000" cy="2533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2348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3C3A3AC-3479-954B-8863-B2FCBFDCBB23}"/>
              </a:ext>
            </a:extLst>
          </p:cNvPr>
          <p:cNvSpPr>
            <a:spLocks noGrp="1"/>
          </p:cNvSpPr>
          <p:nvPr>
            <p:ph type="title"/>
          </p:nvPr>
        </p:nvSpPr>
        <p:spPr/>
        <p:txBody>
          <a:bodyPr/>
          <a:lstStyle/>
          <a:p>
            <a:r>
              <a:rPr lang="en-US" noProof="0" dirty="0"/>
              <a:t>References</a:t>
            </a:r>
          </a:p>
        </p:txBody>
      </p:sp>
      <p:sp>
        <p:nvSpPr>
          <p:cNvPr id="3" name="Segnaposto contenuto 2">
            <a:extLst>
              <a:ext uri="{FF2B5EF4-FFF2-40B4-BE49-F238E27FC236}">
                <a16:creationId xmlns:a16="http://schemas.microsoft.com/office/drawing/2014/main" id="{6446C7E5-9491-8A4A-86AB-1AA2743CBAAD}"/>
              </a:ext>
            </a:extLst>
          </p:cNvPr>
          <p:cNvSpPr>
            <a:spLocks noGrp="1"/>
          </p:cNvSpPr>
          <p:nvPr>
            <p:ph idx="1"/>
          </p:nvPr>
        </p:nvSpPr>
        <p:spPr>
          <a:xfrm>
            <a:off x="838201" y="1825625"/>
            <a:ext cx="4864768" cy="4351338"/>
          </a:xfrm>
        </p:spPr>
        <p:txBody>
          <a:bodyPr/>
          <a:lstStyle/>
          <a:p>
            <a:r>
              <a:rPr lang="en-US" noProof="0" dirty="0"/>
              <a:t>Artificial Intelligence: A modern approach, fourth edition</a:t>
            </a:r>
          </a:p>
          <a:p>
            <a:r>
              <a:rPr lang="en-US" dirty="0"/>
              <a:t>Stuart Russel and Peter </a:t>
            </a:r>
            <a:r>
              <a:rPr lang="en-US" dirty="0" err="1"/>
              <a:t>Norvig</a:t>
            </a:r>
            <a:endParaRPr lang="en-US" dirty="0"/>
          </a:p>
          <a:p>
            <a:r>
              <a:rPr lang="en-US" noProof="0" dirty="0" err="1"/>
              <a:t>Chapt</a:t>
            </a:r>
            <a:r>
              <a:rPr lang="en-US" dirty="0"/>
              <a:t>er</a:t>
            </a:r>
            <a:r>
              <a:rPr lang="en-US" noProof="0" dirty="0"/>
              <a:t> 19 and 22</a:t>
            </a:r>
          </a:p>
          <a:p>
            <a:endParaRPr lang="en-US" noProof="0" dirty="0"/>
          </a:p>
          <a:p>
            <a:endParaRPr lang="en-US" noProof="0" dirty="0"/>
          </a:p>
        </p:txBody>
      </p:sp>
      <p:pic>
        <p:nvPicPr>
          <p:cNvPr id="8" name="Picture 2">
            <a:extLst>
              <a:ext uri="{FF2B5EF4-FFF2-40B4-BE49-F238E27FC236}">
                <a16:creationId xmlns:a16="http://schemas.microsoft.com/office/drawing/2014/main" id="{7FA98F48-41E2-9048-A970-FE053079F0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0415" y="1576555"/>
            <a:ext cx="3641606" cy="46004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37337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C211580-41FF-8782-37D2-7AE27B277F08}"/>
              </a:ext>
            </a:extLst>
          </p:cNvPr>
          <p:cNvSpPr>
            <a:spLocks noGrp="1"/>
          </p:cNvSpPr>
          <p:nvPr>
            <p:ph type="title"/>
          </p:nvPr>
        </p:nvSpPr>
        <p:spPr/>
        <p:txBody>
          <a:bodyPr/>
          <a:lstStyle/>
          <a:p>
            <a:r>
              <a:rPr lang="it-IT" dirty="0" err="1"/>
              <a:t>Biological</a:t>
            </a:r>
            <a:r>
              <a:rPr lang="it-IT" dirty="0"/>
              <a:t> </a:t>
            </a:r>
            <a:r>
              <a:rPr lang="it-IT" dirty="0" err="1"/>
              <a:t>Neural</a:t>
            </a:r>
            <a:r>
              <a:rPr lang="it-IT" dirty="0"/>
              <a:t> Networks</a:t>
            </a:r>
          </a:p>
        </p:txBody>
      </p:sp>
      <p:sp>
        <p:nvSpPr>
          <p:cNvPr id="3" name="Segnaposto contenuto 2">
            <a:extLst>
              <a:ext uri="{FF2B5EF4-FFF2-40B4-BE49-F238E27FC236}">
                <a16:creationId xmlns:a16="http://schemas.microsoft.com/office/drawing/2014/main" id="{6274AEAE-9B9F-D182-02D9-CB86BFE9D0BC}"/>
              </a:ext>
            </a:extLst>
          </p:cNvPr>
          <p:cNvSpPr>
            <a:spLocks noGrp="1"/>
          </p:cNvSpPr>
          <p:nvPr>
            <p:ph idx="1"/>
          </p:nvPr>
        </p:nvSpPr>
        <p:spPr/>
        <p:txBody>
          <a:bodyPr/>
          <a:lstStyle/>
          <a:p>
            <a:endParaRPr lang="it-IT"/>
          </a:p>
        </p:txBody>
      </p:sp>
      <p:pic>
        <p:nvPicPr>
          <p:cNvPr id="4" name="Immagine 3">
            <a:extLst>
              <a:ext uri="{FF2B5EF4-FFF2-40B4-BE49-F238E27FC236}">
                <a16:creationId xmlns:a16="http://schemas.microsoft.com/office/drawing/2014/main" id="{B9DF00EC-DF95-E9D6-0297-22987A729D23}"/>
              </a:ext>
            </a:extLst>
          </p:cNvPr>
          <p:cNvPicPr>
            <a:picLocks noChangeAspect="1"/>
          </p:cNvPicPr>
          <p:nvPr/>
        </p:nvPicPr>
        <p:blipFill>
          <a:blip r:embed="rId2"/>
          <a:stretch>
            <a:fillRect/>
          </a:stretch>
        </p:blipFill>
        <p:spPr>
          <a:xfrm>
            <a:off x="2134041" y="1500548"/>
            <a:ext cx="6694768" cy="5001491"/>
          </a:xfrm>
          <a:prstGeom prst="rect">
            <a:avLst/>
          </a:prstGeom>
        </p:spPr>
      </p:pic>
    </p:spTree>
    <p:extLst>
      <p:ext uri="{BB962C8B-B14F-4D97-AF65-F5344CB8AC3E}">
        <p14:creationId xmlns:p14="http://schemas.microsoft.com/office/powerpoint/2010/main" val="35147920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The Neuron Metaphor</a:t>
            </a:r>
          </a:p>
        </p:txBody>
      </p:sp>
      <p:sp>
        <p:nvSpPr>
          <p:cNvPr id="3" name="Content Placeholder 2"/>
          <p:cNvSpPr>
            <a:spLocks noGrp="1"/>
          </p:cNvSpPr>
          <p:nvPr>
            <p:ph idx="1"/>
          </p:nvPr>
        </p:nvSpPr>
        <p:spPr>
          <a:xfrm>
            <a:off x="838200" y="1825624"/>
            <a:ext cx="10515600" cy="2409465"/>
          </a:xfrm>
        </p:spPr>
        <p:txBody>
          <a:bodyPr>
            <a:normAutofit/>
          </a:bodyPr>
          <a:lstStyle/>
          <a:p>
            <a:r>
              <a:rPr lang="en-US" noProof="0" dirty="0"/>
              <a:t>Neurons</a:t>
            </a:r>
          </a:p>
          <a:p>
            <a:pPr lvl="1"/>
            <a:r>
              <a:rPr lang="en-US" noProof="0" dirty="0"/>
              <a:t>accept information from multiple inputs, </a:t>
            </a:r>
          </a:p>
          <a:p>
            <a:pPr lvl="1"/>
            <a:r>
              <a:rPr lang="en-US" noProof="0" dirty="0"/>
              <a:t>transmit information to other neurons.</a:t>
            </a:r>
          </a:p>
          <a:p>
            <a:r>
              <a:rPr lang="en-US" noProof="0" dirty="0"/>
              <a:t>Multiply inputs by weights along edges</a:t>
            </a:r>
          </a:p>
          <a:p>
            <a:r>
              <a:rPr lang="en-US" noProof="0" dirty="0"/>
              <a:t>Apply some function to the set of inputs at each node</a:t>
            </a:r>
          </a:p>
        </p:txBody>
      </p:sp>
      <p:sp>
        <p:nvSpPr>
          <p:cNvPr id="5" name="Slide Number Placeholder 4"/>
          <p:cNvSpPr>
            <a:spLocks noGrp="1"/>
          </p:cNvSpPr>
          <p:nvPr>
            <p:ph type="sldNum" sz="quarter" idx="4294967295"/>
          </p:nvPr>
        </p:nvSpPr>
        <p:spPr>
          <a:xfrm>
            <a:off x="10134600" y="6356350"/>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D5CD1A5-E6E0-42A5-84CC-9AA958E63032}" type="slidenum">
              <a:rPr lang="en-GB" smtClean="0"/>
              <a:pPr/>
              <a:t>6</a:t>
            </a:fld>
            <a:endParaRPr lang="en-US"/>
          </a:p>
        </p:txBody>
      </p:sp>
      <p:pic>
        <p:nvPicPr>
          <p:cNvPr id="4" name="Picture 3"/>
          <p:cNvPicPr>
            <a:picLocks noChangeAspect="1"/>
          </p:cNvPicPr>
          <p:nvPr/>
        </p:nvPicPr>
        <p:blipFill>
          <a:blip r:embed="rId3"/>
          <a:stretch>
            <a:fillRect/>
          </a:stretch>
        </p:blipFill>
        <p:spPr>
          <a:xfrm>
            <a:off x="2055778" y="4235090"/>
            <a:ext cx="8080444" cy="2622910"/>
          </a:xfrm>
          <a:prstGeom prst="rect">
            <a:avLst/>
          </a:prstGeom>
        </p:spPr>
      </p:pic>
    </p:spTree>
    <p:extLst>
      <p:ext uri="{BB962C8B-B14F-4D97-AF65-F5344CB8AC3E}">
        <p14:creationId xmlns:p14="http://schemas.microsoft.com/office/powerpoint/2010/main" val="220332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1B2DD45-902B-A317-CA73-49F3157215E3}"/>
              </a:ext>
            </a:extLst>
          </p:cNvPr>
          <p:cNvSpPr>
            <a:spLocks noGrp="1"/>
          </p:cNvSpPr>
          <p:nvPr>
            <p:ph type="title"/>
          </p:nvPr>
        </p:nvSpPr>
        <p:spPr/>
        <p:txBody>
          <a:bodyPr/>
          <a:lstStyle/>
          <a:p>
            <a:endParaRPr lang="it-IT"/>
          </a:p>
        </p:txBody>
      </p:sp>
      <p:sp>
        <p:nvSpPr>
          <p:cNvPr id="3" name="Segnaposto contenuto 2">
            <a:extLst>
              <a:ext uri="{FF2B5EF4-FFF2-40B4-BE49-F238E27FC236}">
                <a16:creationId xmlns:a16="http://schemas.microsoft.com/office/drawing/2014/main" id="{49BC1D62-74FC-4699-3DCA-FFBF9848A4D5}"/>
              </a:ext>
            </a:extLst>
          </p:cNvPr>
          <p:cNvSpPr>
            <a:spLocks noGrp="1"/>
          </p:cNvSpPr>
          <p:nvPr>
            <p:ph idx="1"/>
          </p:nvPr>
        </p:nvSpPr>
        <p:spPr/>
        <p:txBody>
          <a:bodyPr/>
          <a:lstStyle/>
          <a:p>
            <a:endParaRPr lang="it-IT"/>
          </a:p>
        </p:txBody>
      </p:sp>
      <p:pic>
        <p:nvPicPr>
          <p:cNvPr id="4" name="Immagine 3">
            <a:extLst>
              <a:ext uri="{FF2B5EF4-FFF2-40B4-BE49-F238E27FC236}">
                <a16:creationId xmlns:a16="http://schemas.microsoft.com/office/drawing/2014/main" id="{3AE39A60-B30C-AC24-D26E-A495A39DAFD3}"/>
              </a:ext>
            </a:extLst>
          </p:cNvPr>
          <p:cNvPicPr>
            <a:picLocks noChangeAspect="1"/>
          </p:cNvPicPr>
          <p:nvPr/>
        </p:nvPicPr>
        <p:blipFill>
          <a:blip r:embed="rId2"/>
          <a:stretch>
            <a:fillRect/>
          </a:stretch>
        </p:blipFill>
        <p:spPr>
          <a:xfrm>
            <a:off x="1385455" y="1310403"/>
            <a:ext cx="8645236" cy="5182472"/>
          </a:xfrm>
          <a:prstGeom prst="rect">
            <a:avLst/>
          </a:prstGeom>
        </p:spPr>
      </p:pic>
    </p:spTree>
    <p:extLst>
      <p:ext uri="{BB962C8B-B14F-4D97-AF65-F5344CB8AC3E}">
        <p14:creationId xmlns:p14="http://schemas.microsoft.com/office/powerpoint/2010/main" val="1434895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8AEED77-8436-5769-697E-20855BB33775}"/>
              </a:ext>
            </a:extLst>
          </p:cNvPr>
          <p:cNvSpPr>
            <a:spLocks noGrp="1"/>
          </p:cNvSpPr>
          <p:nvPr>
            <p:ph type="title"/>
          </p:nvPr>
        </p:nvSpPr>
        <p:spPr/>
        <p:txBody>
          <a:bodyPr/>
          <a:lstStyle/>
          <a:p>
            <a:r>
              <a:rPr lang="it-IT" dirty="0"/>
              <a:t>A </a:t>
            </a:r>
            <a:r>
              <a:rPr lang="it-IT" dirty="0" err="1"/>
              <a:t>Neuron</a:t>
            </a:r>
            <a:endParaRPr lang="it-IT" dirty="0"/>
          </a:p>
        </p:txBody>
      </p:sp>
      <p:sp>
        <p:nvSpPr>
          <p:cNvPr id="3" name="Segnaposto contenuto 2">
            <a:extLst>
              <a:ext uri="{FF2B5EF4-FFF2-40B4-BE49-F238E27FC236}">
                <a16:creationId xmlns:a16="http://schemas.microsoft.com/office/drawing/2014/main" id="{88F69179-8F00-8252-60DD-A62897D7A906}"/>
              </a:ext>
            </a:extLst>
          </p:cNvPr>
          <p:cNvSpPr>
            <a:spLocks noGrp="1"/>
          </p:cNvSpPr>
          <p:nvPr>
            <p:ph idx="1"/>
          </p:nvPr>
        </p:nvSpPr>
        <p:spPr/>
        <p:txBody>
          <a:bodyPr/>
          <a:lstStyle/>
          <a:p>
            <a:endParaRPr lang="it-IT"/>
          </a:p>
        </p:txBody>
      </p:sp>
      <p:pic>
        <p:nvPicPr>
          <p:cNvPr id="4" name="Immagine 3">
            <a:extLst>
              <a:ext uri="{FF2B5EF4-FFF2-40B4-BE49-F238E27FC236}">
                <a16:creationId xmlns:a16="http://schemas.microsoft.com/office/drawing/2014/main" id="{83072435-A66A-C0ED-B543-F5726F884CD7}"/>
              </a:ext>
            </a:extLst>
          </p:cNvPr>
          <p:cNvPicPr>
            <a:picLocks noChangeAspect="1"/>
          </p:cNvPicPr>
          <p:nvPr/>
        </p:nvPicPr>
        <p:blipFill>
          <a:blip r:embed="rId2"/>
          <a:stretch>
            <a:fillRect/>
          </a:stretch>
        </p:blipFill>
        <p:spPr>
          <a:xfrm>
            <a:off x="2178135" y="1472725"/>
            <a:ext cx="7215248" cy="5020150"/>
          </a:xfrm>
          <a:prstGeom prst="rect">
            <a:avLst/>
          </a:prstGeom>
        </p:spPr>
      </p:pic>
    </p:spTree>
    <p:extLst>
      <p:ext uri="{BB962C8B-B14F-4D97-AF65-F5344CB8AC3E}">
        <p14:creationId xmlns:p14="http://schemas.microsoft.com/office/powerpoint/2010/main" val="2643362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8F1A1A9-6341-F487-BE69-2F9EDE8D92E4}"/>
              </a:ext>
            </a:extLst>
          </p:cNvPr>
          <p:cNvSpPr>
            <a:spLocks noGrp="1"/>
          </p:cNvSpPr>
          <p:nvPr>
            <p:ph type="title"/>
          </p:nvPr>
        </p:nvSpPr>
        <p:spPr/>
        <p:txBody>
          <a:bodyPr/>
          <a:lstStyle/>
          <a:p>
            <a:r>
              <a:rPr lang="it-IT" dirty="0"/>
              <a:t>The </a:t>
            </a:r>
            <a:r>
              <a:rPr lang="it-IT" dirty="0" err="1"/>
              <a:t>simple</a:t>
            </a:r>
            <a:r>
              <a:rPr lang="it-IT" dirty="0"/>
              <a:t> </a:t>
            </a:r>
            <a:r>
              <a:rPr lang="it-IT" dirty="0" err="1"/>
              <a:t>perceptron</a:t>
            </a:r>
            <a:endParaRPr lang="it-IT" dirty="0"/>
          </a:p>
        </p:txBody>
      </p:sp>
      <p:sp>
        <p:nvSpPr>
          <p:cNvPr id="3" name="Segnaposto contenuto 2">
            <a:extLst>
              <a:ext uri="{FF2B5EF4-FFF2-40B4-BE49-F238E27FC236}">
                <a16:creationId xmlns:a16="http://schemas.microsoft.com/office/drawing/2014/main" id="{77895058-63D3-EC78-BC58-E7D911B96B55}"/>
              </a:ext>
            </a:extLst>
          </p:cNvPr>
          <p:cNvSpPr>
            <a:spLocks noGrp="1"/>
          </p:cNvSpPr>
          <p:nvPr>
            <p:ph idx="1"/>
          </p:nvPr>
        </p:nvSpPr>
        <p:spPr/>
        <p:txBody>
          <a:bodyPr/>
          <a:lstStyle/>
          <a:p>
            <a:endParaRPr lang="it-IT" dirty="0"/>
          </a:p>
        </p:txBody>
      </p:sp>
      <p:pic>
        <p:nvPicPr>
          <p:cNvPr id="5" name="Immagine 4">
            <a:extLst>
              <a:ext uri="{FF2B5EF4-FFF2-40B4-BE49-F238E27FC236}">
                <a16:creationId xmlns:a16="http://schemas.microsoft.com/office/drawing/2014/main" id="{95103652-9D56-6B66-C030-D6CE34FEF97B}"/>
              </a:ext>
            </a:extLst>
          </p:cNvPr>
          <p:cNvPicPr>
            <a:picLocks noChangeAspect="1"/>
          </p:cNvPicPr>
          <p:nvPr/>
        </p:nvPicPr>
        <p:blipFill>
          <a:blip r:embed="rId2"/>
          <a:stretch>
            <a:fillRect/>
          </a:stretch>
        </p:blipFill>
        <p:spPr>
          <a:xfrm>
            <a:off x="1769968" y="1690688"/>
            <a:ext cx="6743650" cy="4692026"/>
          </a:xfrm>
          <a:prstGeom prst="rect">
            <a:avLst/>
          </a:prstGeom>
        </p:spPr>
      </p:pic>
    </p:spTree>
    <p:extLst>
      <p:ext uri="{BB962C8B-B14F-4D97-AF65-F5344CB8AC3E}">
        <p14:creationId xmlns:p14="http://schemas.microsoft.com/office/powerpoint/2010/main" val="3737093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5726" y="342462"/>
            <a:ext cx="20838253" cy="711415"/>
          </a:xfrm>
          <a:prstGeom prst="rect">
            <a:avLst/>
          </a:prstGeom>
        </p:spPr>
        <p:txBody>
          <a:bodyPr vert="horz" wrap="square" lIns="0" tIns="33975" rIns="0" bIns="0" rtlCol="0" anchor="ctr">
            <a:spAutoFit/>
          </a:bodyPr>
          <a:lstStyle/>
          <a:p>
            <a:pPr marL="25168">
              <a:lnSpc>
                <a:spcPct val="100000"/>
              </a:lnSpc>
              <a:spcBef>
                <a:spcPts val="268"/>
              </a:spcBef>
              <a:tabLst>
                <a:tab pos="8699177" algn="l"/>
              </a:tabLst>
            </a:pPr>
            <a:r>
              <a:rPr spc="307" dirty="0"/>
              <a:t> </a:t>
            </a:r>
            <a:r>
              <a:rPr dirty="0"/>
              <a:t>The</a:t>
            </a:r>
            <a:r>
              <a:rPr spc="119" dirty="0"/>
              <a:t> </a:t>
            </a:r>
            <a:r>
              <a:rPr spc="-99" dirty="0"/>
              <a:t>simple</a:t>
            </a:r>
            <a:r>
              <a:rPr spc="139" dirty="0"/>
              <a:t> </a:t>
            </a:r>
            <a:r>
              <a:rPr spc="-20" dirty="0"/>
              <a:t>perceptron</a:t>
            </a:r>
            <a:r>
              <a:rPr dirty="0"/>
              <a:t>	</a:t>
            </a:r>
          </a:p>
        </p:txBody>
      </p:sp>
      <p:sp>
        <p:nvSpPr>
          <p:cNvPr id="3" name="object 3"/>
          <p:cNvSpPr txBox="1"/>
          <p:nvPr/>
        </p:nvSpPr>
        <p:spPr>
          <a:xfrm>
            <a:off x="7146278" y="631132"/>
            <a:ext cx="3938631" cy="358348"/>
          </a:xfrm>
          <a:prstGeom prst="rect">
            <a:avLst/>
          </a:prstGeom>
        </p:spPr>
        <p:txBody>
          <a:bodyPr vert="horz" wrap="square" lIns="0" tIns="22650" rIns="0" bIns="0" rtlCol="0">
            <a:spAutoFit/>
          </a:bodyPr>
          <a:lstStyle/>
          <a:p>
            <a:pPr marL="25168">
              <a:spcBef>
                <a:spcPts val="178"/>
              </a:spcBef>
            </a:pPr>
            <a:r>
              <a:rPr sz="2180" spc="-99" dirty="0">
                <a:latin typeface="Arial"/>
                <a:cs typeface="Arial"/>
              </a:rPr>
              <a:t>Schematic</a:t>
            </a:r>
            <a:r>
              <a:rPr sz="2180" spc="-40" dirty="0">
                <a:latin typeface="Arial"/>
                <a:cs typeface="Arial"/>
              </a:rPr>
              <a:t> </a:t>
            </a:r>
            <a:r>
              <a:rPr sz="2180" spc="-69" dirty="0">
                <a:latin typeface="Arial"/>
                <a:cs typeface="Arial"/>
              </a:rPr>
              <a:t>model</a:t>
            </a:r>
            <a:r>
              <a:rPr sz="2180" spc="-30" dirty="0">
                <a:latin typeface="Arial"/>
                <a:cs typeface="Arial"/>
              </a:rPr>
              <a:t> </a:t>
            </a:r>
            <a:r>
              <a:rPr sz="2180" dirty="0">
                <a:latin typeface="Arial"/>
                <a:cs typeface="Arial"/>
              </a:rPr>
              <a:t>of</a:t>
            </a:r>
            <a:r>
              <a:rPr sz="2180" spc="-30" dirty="0">
                <a:latin typeface="Arial"/>
                <a:cs typeface="Arial"/>
              </a:rPr>
              <a:t> </a:t>
            </a:r>
            <a:r>
              <a:rPr sz="2180" dirty="0">
                <a:latin typeface="Arial"/>
                <a:cs typeface="Arial"/>
              </a:rPr>
              <a:t>a</a:t>
            </a:r>
            <a:r>
              <a:rPr sz="2180" spc="-40" dirty="0">
                <a:latin typeface="Arial"/>
                <a:cs typeface="Arial"/>
              </a:rPr>
              <a:t> </a:t>
            </a:r>
            <a:r>
              <a:rPr sz="2180" spc="-59" dirty="0">
                <a:latin typeface="Arial"/>
                <a:cs typeface="Arial"/>
              </a:rPr>
              <a:t>perceptron:</a:t>
            </a:r>
            <a:endParaRPr sz="2180" dirty="0">
              <a:latin typeface="Arial"/>
              <a:cs typeface="Arial"/>
            </a:endParaRPr>
          </a:p>
        </p:txBody>
      </p:sp>
      <p:pic>
        <p:nvPicPr>
          <p:cNvPr id="4" name="object 4"/>
          <p:cNvPicPr/>
          <p:nvPr/>
        </p:nvPicPr>
        <p:blipFill>
          <a:blip r:embed="rId2" cstate="print"/>
          <a:stretch>
            <a:fillRect/>
          </a:stretch>
        </p:blipFill>
        <p:spPr>
          <a:xfrm>
            <a:off x="4884952" y="1429029"/>
            <a:ext cx="2403137" cy="2577910"/>
          </a:xfrm>
          <a:prstGeom prst="rect">
            <a:avLst/>
          </a:prstGeom>
        </p:spPr>
      </p:pic>
      <p:sp>
        <p:nvSpPr>
          <p:cNvPr id="5" name="object 5"/>
          <p:cNvSpPr txBox="1"/>
          <p:nvPr/>
        </p:nvSpPr>
        <p:spPr>
          <a:xfrm>
            <a:off x="2817222" y="4424477"/>
            <a:ext cx="902236" cy="358348"/>
          </a:xfrm>
          <a:prstGeom prst="rect">
            <a:avLst/>
          </a:prstGeom>
        </p:spPr>
        <p:txBody>
          <a:bodyPr vert="horz" wrap="square" lIns="0" tIns="22650" rIns="0" bIns="0" rtlCol="0">
            <a:spAutoFit/>
          </a:bodyPr>
          <a:lstStyle/>
          <a:p>
            <a:pPr marL="25168">
              <a:spcBef>
                <a:spcPts val="178"/>
              </a:spcBef>
            </a:pPr>
            <a:r>
              <a:rPr sz="2180" i="1" dirty="0">
                <a:latin typeface="Times New Roman"/>
                <a:cs typeface="Times New Roman"/>
              </a:rPr>
              <a:t>a</a:t>
            </a:r>
            <a:r>
              <a:rPr sz="2180" i="1" spc="-139" dirty="0">
                <a:latin typeface="Times New Roman"/>
                <a:cs typeface="Times New Roman"/>
              </a:rPr>
              <a:t> </a:t>
            </a:r>
            <a:r>
              <a:rPr sz="2180" dirty="0">
                <a:latin typeface="Times New Roman"/>
                <a:cs typeface="Times New Roman"/>
              </a:rPr>
              <a:t>(</a:t>
            </a:r>
            <a:r>
              <a:rPr sz="2180" i="1" spc="-525" dirty="0">
                <a:latin typeface="Times New Roman"/>
                <a:cs typeface="Times New Roman"/>
              </a:rPr>
              <a:t> </a:t>
            </a:r>
            <a:r>
              <a:rPr sz="2180" i="1" spc="178" dirty="0">
                <a:latin typeface="Times New Roman"/>
                <a:cs typeface="Times New Roman"/>
              </a:rPr>
              <a:t>x</a:t>
            </a:r>
            <a:r>
              <a:rPr sz="2180" spc="178" dirty="0">
                <a:latin typeface="Times New Roman"/>
                <a:cs typeface="Times New Roman"/>
              </a:rPr>
              <a:t>)</a:t>
            </a:r>
            <a:r>
              <a:rPr sz="2180" spc="139" dirty="0">
                <a:latin typeface="Times New Roman"/>
                <a:cs typeface="Times New Roman"/>
              </a:rPr>
              <a:t> </a:t>
            </a:r>
            <a:r>
              <a:rPr sz="2180" spc="327" dirty="0">
                <a:latin typeface="Times New Roman"/>
                <a:cs typeface="Times New Roman"/>
              </a:rPr>
              <a:t>=</a:t>
            </a:r>
            <a:endParaRPr sz="2180">
              <a:latin typeface="Times New Roman"/>
              <a:cs typeface="Times New Roman"/>
            </a:endParaRPr>
          </a:p>
        </p:txBody>
      </p:sp>
      <p:sp>
        <p:nvSpPr>
          <p:cNvPr id="6" name="object 6"/>
          <p:cNvSpPr txBox="1"/>
          <p:nvPr/>
        </p:nvSpPr>
        <p:spPr>
          <a:xfrm>
            <a:off x="3744599" y="4218559"/>
            <a:ext cx="341012" cy="358348"/>
          </a:xfrm>
          <a:prstGeom prst="rect">
            <a:avLst/>
          </a:prstGeom>
        </p:spPr>
        <p:txBody>
          <a:bodyPr vert="horz" wrap="square" lIns="0" tIns="22650" rIns="0" bIns="0" rtlCol="0">
            <a:spAutoFit/>
          </a:bodyPr>
          <a:lstStyle/>
          <a:p>
            <a:pPr marL="25168">
              <a:spcBef>
                <a:spcPts val="178"/>
              </a:spcBef>
            </a:pPr>
            <a:r>
              <a:rPr sz="2180" dirty="0">
                <a:latin typeface="Arial"/>
                <a:cs typeface="Arial"/>
              </a:rPr>
              <a:t> </a:t>
            </a:r>
            <a:endParaRPr sz="2180">
              <a:latin typeface="Arial"/>
              <a:cs typeface="Arial"/>
            </a:endParaRPr>
          </a:p>
        </p:txBody>
      </p:sp>
      <p:sp>
        <p:nvSpPr>
          <p:cNvPr id="8" name="object 8"/>
          <p:cNvSpPr txBox="1"/>
          <p:nvPr/>
        </p:nvSpPr>
        <p:spPr>
          <a:xfrm>
            <a:off x="4362095" y="4424478"/>
            <a:ext cx="2942019" cy="358348"/>
          </a:xfrm>
          <a:prstGeom prst="rect">
            <a:avLst/>
          </a:prstGeom>
        </p:spPr>
        <p:txBody>
          <a:bodyPr vert="horz" wrap="square" lIns="0" tIns="22650" rIns="0" bIns="0" rtlCol="0">
            <a:spAutoFit/>
          </a:bodyPr>
          <a:lstStyle/>
          <a:p>
            <a:pPr marL="100670">
              <a:spcBef>
                <a:spcPts val="178"/>
              </a:spcBef>
              <a:tabLst>
                <a:tab pos="1554099" algn="l"/>
              </a:tabLst>
            </a:pPr>
            <a:r>
              <a:rPr sz="2180" i="1" dirty="0">
                <a:latin typeface="Times New Roman"/>
                <a:cs typeface="Times New Roman"/>
              </a:rPr>
              <a:t>w</a:t>
            </a:r>
            <a:r>
              <a:rPr sz="2378" i="1" baseline="-10416" dirty="0">
                <a:latin typeface="Times New Roman"/>
                <a:cs typeface="Times New Roman"/>
              </a:rPr>
              <a:t>i</a:t>
            </a:r>
            <a:r>
              <a:rPr sz="2378" i="1" spc="414" baseline="-10416" dirty="0">
                <a:latin typeface="Times New Roman"/>
                <a:cs typeface="Times New Roman"/>
              </a:rPr>
              <a:t> </a:t>
            </a:r>
            <a:r>
              <a:rPr sz="2180" i="1" spc="-723" dirty="0">
                <a:latin typeface="Menlo"/>
                <a:cs typeface="Menlo"/>
              </a:rPr>
              <a:t>·</a:t>
            </a:r>
            <a:r>
              <a:rPr sz="2180" i="1" spc="-743" dirty="0">
                <a:latin typeface="Menlo"/>
                <a:cs typeface="Menlo"/>
              </a:rPr>
              <a:t> </a:t>
            </a:r>
            <a:r>
              <a:rPr sz="2180" i="1" spc="139" dirty="0">
                <a:latin typeface="Times New Roman"/>
                <a:cs typeface="Times New Roman"/>
              </a:rPr>
              <a:t>x</a:t>
            </a:r>
            <a:r>
              <a:rPr sz="2378" i="1" spc="206" baseline="-10416" dirty="0">
                <a:latin typeface="Times New Roman"/>
                <a:cs typeface="Times New Roman"/>
              </a:rPr>
              <a:t>i</a:t>
            </a:r>
            <a:r>
              <a:rPr sz="2378" i="1" baseline="-10416" dirty="0">
                <a:latin typeface="Times New Roman"/>
                <a:cs typeface="Times New Roman"/>
              </a:rPr>
              <a:t>	</a:t>
            </a:r>
            <a:r>
              <a:rPr sz="2180" i="1" dirty="0">
                <a:latin typeface="Times New Roman"/>
                <a:cs typeface="Times New Roman"/>
              </a:rPr>
              <a:t>o</a:t>
            </a:r>
            <a:r>
              <a:rPr sz="2180" i="1" spc="119" dirty="0">
                <a:latin typeface="Times New Roman"/>
                <a:cs typeface="Times New Roman"/>
              </a:rPr>
              <a:t> </a:t>
            </a:r>
            <a:r>
              <a:rPr sz="2180" spc="426" dirty="0">
                <a:latin typeface="Times New Roman"/>
                <a:cs typeface="Times New Roman"/>
              </a:rPr>
              <a:t>=</a:t>
            </a:r>
            <a:r>
              <a:rPr sz="2180" spc="119" dirty="0">
                <a:latin typeface="Times New Roman"/>
                <a:cs typeface="Times New Roman"/>
              </a:rPr>
              <a:t> </a:t>
            </a:r>
            <a:r>
              <a:rPr sz="2180" i="1" spc="454" dirty="0">
                <a:latin typeface="Times New Roman"/>
                <a:cs typeface="Times New Roman"/>
              </a:rPr>
              <a:t>f</a:t>
            </a:r>
            <a:r>
              <a:rPr sz="2180" i="1" spc="-287" dirty="0">
                <a:latin typeface="Times New Roman"/>
                <a:cs typeface="Times New Roman"/>
              </a:rPr>
              <a:t> </a:t>
            </a:r>
            <a:r>
              <a:rPr sz="2180" dirty="0">
                <a:latin typeface="Times New Roman"/>
                <a:cs typeface="Times New Roman"/>
              </a:rPr>
              <a:t>(</a:t>
            </a:r>
            <a:r>
              <a:rPr sz="2180" i="1" dirty="0">
                <a:latin typeface="Times New Roman"/>
                <a:cs typeface="Times New Roman"/>
              </a:rPr>
              <a:t>a</a:t>
            </a:r>
            <a:r>
              <a:rPr sz="2180" dirty="0">
                <a:latin typeface="Times New Roman"/>
                <a:cs typeface="Times New Roman"/>
              </a:rPr>
              <a:t>)</a:t>
            </a:r>
            <a:r>
              <a:rPr sz="2180" spc="119" dirty="0">
                <a:latin typeface="Times New Roman"/>
                <a:cs typeface="Times New Roman"/>
              </a:rPr>
              <a:t> </a:t>
            </a:r>
            <a:r>
              <a:rPr sz="2180" spc="327" dirty="0">
                <a:latin typeface="Times New Roman"/>
                <a:cs typeface="Times New Roman"/>
              </a:rPr>
              <a:t>=</a:t>
            </a:r>
            <a:endParaRPr sz="2180" dirty="0">
              <a:latin typeface="Times New Roman"/>
              <a:cs typeface="Times New Roman"/>
            </a:endParaRPr>
          </a:p>
        </p:txBody>
      </p:sp>
      <p:sp>
        <p:nvSpPr>
          <p:cNvPr id="9" name="object 9"/>
          <p:cNvSpPr txBox="1"/>
          <p:nvPr/>
        </p:nvSpPr>
        <p:spPr>
          <a:xfrm>
            <a:off x="7288089" y="3313619"/>
            <a:ext cx="341012" cy="1684865"/>
          </a:xfrm>
          <a:prstGeom prst="rect">
            <a:avLst/>
          </a:prstGeom>
        </p:spPr>
        <p:txBody>
          <a:bodyPr vert="horz" wrap="square" lIns="0" tIns="22650" rIns="0" bIns="0" rtlCol="0">
            <a:spAutoFit/>
          </a:bodyPr>
          <a:lstStyle/>
          <a:p>
            <a:pPr marL="25168">
              <a:spcBef>
                <a:spcPts val="178"/>
              </a:spcBef>
            </a:pPr>
            <a:r>
              <a:rPr sz="5400" spc="-454" dirty="0">
                <a:latin typeface="Arial"/>
                <a:cs typeface="Arial"/>
              </a:rPr>
              <a:t>�</a:t>
            </a:r>
            <a:r>
              <a:rPr lang="it-IT" sz="5400" spc="-454" dirty="0">
                <a:latin typeface="Arial"/>
                <a:cs typeface="Arial"/>
              </a:rPr>
              <a:t>{</a:t>
            </a:r>
            <a:endParaRPr sz="5400" dirty="0">
              <a:latin typeface="Arial"/>
              <a:cs typeface="Arial"/>
            </a:endParaRPr>
          </a:p>
        </p:txBody>
      </p:sp>
      <p:sp>
        <p:nvSpPr>
          <p:cNvPr id="10" name="object 10"/>
          <p:cNvSpPr txBox="1"/>
          <p:nvPr/>
        </p:nvSpPr>
        <p:spPr>
          <a:xfrm>
            <a:off x="7610776" y="4253541"/>
            <a:ext cx="1604394" cy="706648"/>
          </a:xfrm>
          <a:prstGeom prst="rect">
            <a:avLst/>
          </a:prstGeom>
        </p:spPr>
        <p:txBody>
          <a:bodyPr vert="horz" wrap="square" lIns="0" tIns="22650" rIns="0" bIns="0" rtlCol="0">
            <a:spAutoFit/>
          </a:bodyPr>
          <a:lstStyle/>
          <a:p>
            <a:pPr marL="25168">
              <a:spcBef>
                <a:spcPts val="178"/>
              </a:spcBef>
              <a:tabLst>
                <a:tab pos="503352" algn="l"/>
              </a:tabLst>
            </a:pPr>
            <a:r>
              <a:rPr sz="2180" spc="-99" dirty="0">
                <a:latin typeface="Times New Roman"/>
                <a:cs typeface="Times New Roman"/>
              </a:rPr>
              <a:t>1</a:t>
            </a:r>
            <a:r>
              <a:rPr sz="2180" dirty="0">
                <a:latin typeface="Times New Roman"/>
                <a:cs typeface="Times New Roman"/>
              </a:rPr>
              <a:t>	</a:t>
            </a:r>
            <a:r>
              <a:rPr sz="2180" dirty="0">
                <a:latin typeface="Arial"/>
                <a:cs typeface="Arial"/>
              </a:rPr>
              <a:t>if</a:t>
            </a:r>
            <a:r>
              <a:rPr sz="2180" spc="139" dirty="0">
                <a:latin typeface="Arial"/>
                <a:cs typeface="Arial"/>
              </a:rPr>
              <a:t> </a:t>
            </a:r>
            <a:r>
              <a:rPr sz="2180" i="1" dirty="0">
                <a:latin typeface="Times New Roman"/>
                <a:cs typeface="Times New Roman"/>
              </a:rPr>
              <a:t>a</a:t>
            </a:r>
            <a:r>
              <a:rPr sz="2180" i="1" spc="466" dirty="0">
                <a:latin typeface="Times New Roman"/>
                <a:cs typeface="Times New Roman"/>
              </a:rPr>
              <a:t> </a:t>
            </a:r>
            <a:r>
              <a:rPr sz="2180" i="1" spc="198" dirty="0">
                <a:latin typeface="Times New Roman"/>
                <a:cs typeface="Times New Roman"/>
              </a:rPr>
              <a:t>&gt;</a:t>
            </a:r>
            <a:r>
              <a:rPr sz="2180" i="1" spc="454" dirty="0">
                <a:latin typeface="Times New Roman"/>
                <a:cs typeface="Times New Roman"/>
              </a:rPr>
              <a:t> </a:t>
            </a:r>
            <a:r>
              <a:rPr sz="2180" i="1" spc="-99" dirty="0">
                <a:latin typeface="Times New Roman"/>
                <a:cs typeface="Times New Roman"/>
              </a:rPr>
              <a:t>θ</a:t>
            </a:r>
            <a:endParaRPr sz="2180">
              <a:latin typeface="Times New Roman"/>
              <a:cs typeface="Times New Roman"/>
            </a:endParaRPr>
          </a:p>
          <a:p>
            <a:pPr marL="25168">
              <a:spcBef>
                <a:spcPts val="69"/>
              </a:spcBef>
              <a:tabLst>
                <a:tab pos="503352" algn="l"/>
              </a:tabLst>
            </a:pPr>
            <a:r>
              <a:rPr sz="2180" spc="-99" dirty="0">
                <a:latin typeface="Times New Roman"/>
                <a:cs typeface="Times New Roman"/>
              </a:rPr>
              <a:t>0</a:t>
            </a:r>
            <a:r>
              <a:rPr sz="2180" dirty="0">
                <a:latin typeface="Times New Roman"/>
                <a:cs typeface="Times New Roman"/>
              </a:rPr>
              <a:t>	</a:t>
            </a:r>
            <a:r>
              <a:rPr sz="2180" spc="-99" dirty="0">
                <a:latin typeface="Arial"/>
                <a:cs typeface="Arial"/>
              </a:rPr>
              <a:t>otherwise</a:t>
            </a:r>
            <a:endParaRPr sz="2180">
              <a:latin typeface="Arial"/>
              <a:cs typeface="Arial"/>
            </a:endParaRPr>
          </a:p>
        </p:txBody>
      </p:sp>
      <p:pic>
        <p:nvPicPr>
          <p:cNvPr id="11" name="object 11"/>
          <p:cNvPicPr/>
          <p:nvPr/>
        </p:nvPicPr>
        <p:blipFill>
          <a:blip r:embed="rId3" cstate="print"/>
          <a:stretch>
            <a:fillRect/>
          </a:stretch>
        </p:blipFill>
        <p:spPr>
          <a:xfrm>
            <a:off x="2085216" y="5475328"/>
            <a:ext cx="129332" cy="129332"/>
          </a:xfrm>
          <a:prstGeom prst="rect">
            <a:avLst/>
          </a:prstGeom>
        </p:spPr>
      </p:pic>
      <p:sp>
        <p:nvSpPr>
          <p:cNvPr id="12" name="object 12"/>
          <p:cNvSpPr txBox="1"/>
          <p:nvPr/>
        </p:nvSpPr>
        <p:spPr>
          <a:xfrm>
            <a:off x="2214548" y="5276808"/>
            <a:ext cx="6388636" cy="1150849"/>
          </a:xfrm>
          <a:prstGeom prst="rect">
            <a:avLst/>
          </a:prstGeom>
        </p:spPr>
        <p:txBody>
          <a:bodyPr vert="horz" wrap="square" lIns="0" tIns="25167" rIns="0" bIns="0" rtlCol="0">
            <a:spAutoFit/>
          </a:bodyPr>
          <a:lstStyle/>
          <a:p>
            <a:pPr marL="75503" marR="60402">
              <a:lnSpc>
                <a:spcPct val="111500"/>
              </a:lnSpc>
              <a:spcBef>
                <a:spcPts val="198"/>
              </a:spcBef>
            </a:pPr>
            <a:r>
              <a:rPr sz="2180" spc="-40" dirty="0">
                <a:latin typeface="Arial"/>
                <a:cs typeface="Arial"/>
              </a:rPr>
              <a:t>(Numerical)</a:t>
            </a:r>
            <a:r>
              <a:rPr sz="2180" spc="20" dirty="0">
                <a:latin typeface="Arial"/>
                <a:cs typeface="Arial"/>
              </a:rPr>
              <a:t> </a:t>
            </a:r>
            <a:r>
              <a:rPr sz="2180" dirty="0">
                <a:latin typeface="Arial"/>
                <a:cs typeface="Arial"/>
              </a:rPr>
              <a:t>input</a:t>
            </a:r>
            <a:r>
              <a:rPr sz="2180" spc="30" dirty="0">
                <a:latin typeface="Arial"/>
                <a:cs typeface="Arial"/>
              </a:rPr>
              <a:t> </a:t>
            </a:r>
            <a:r>
              <a:rPr sz="2180" spc="-20" dirty="0">
                <a:latin typeface="Arial"/>
                <a:cs typeface="Arial"/>
              </a:rPr>
              <a:t>attributes</a:t>
            </a:r>
            <a:r>
              <a:rPr sz="2180" spc="20" dirty="0">
                <a:latin typeface="Arial"/>
                <a:cs typeface="Arial"/>
              </a:rPr>
              <a:t> </a:t>
            </a:r>
            <a:r>
              <a:rPr sz="2180" i="1" spc="159" dirty="0">
                <a:latin typeface="Times New Roman"/>
                <a:cs typeface="Times New Roman"/>
              </a:rPr>
              <a:t>A</a:t>
            </a:r>
            <a:r>
              <a:rPr sz="2378" i="1" spc="238" baseline="-10416" dirty="0">
                <a:latin typeface="Times New Roman"/>
                <a:cs typeface="Times New Roman"/>
              </a:rPr>
              <a:t>i</a:t>
            </a:r>
            <a:r>
              <a:rPr sz="2180" spc="159" dirty="0">
                <a:latin typeface="Arial"/>
                <a:cs typeface="Arial"/>
              </a:rPr>
              <a:t>,</a:t>
            </a:r>
            <a:r>
              <a:rPr sz="2180" spc="30" dirty="0">
                <a:latin typeface="Arial"/>
                <a:cs typeface="Arial"/>
              </a:rPr>
              <a:t> </a:t>
            </a:r>
            <a:r>
              <a:rPr sz="2180" dirty="0">
                <a:latin typeface="Arial"/>
                <a:cs typeface="Arial"/>
              </a:rPr>
              <a:t>output</a:t>
            </a:r>
            <a:r>
              <a:rPr sz="2180" spc="20" dirty="0">
                <a:latin typeface="Arial"/>
                <a:cs typeface="Arial"/>
              </a:rPr>
              <a:t> </a:t>
            </a:r>
            <a:r>
              <a:rPr sz="2180" spc="-159" dirty="0">
                <a:latin typeface="Arial"/>
                <a:cs typeface="Arial"/>
              </a:rPr>
              <a:t>class</a:t>
            </a:r>
            <a:r>
              <a:rPr sz="2180" spc="30" dirty="0">
                <a:latin typeface="Arial"/>
                <a:cs typeface="Arial"/>
              </a:rPr>
              <a:t> </a:t>
            </a:r>
            <a:r>
              <a:rPr sz="2180" dirty="0">
                <a:latin typeface="Arial"/>
                <a:cs typeface="Arial"/>
              </a:rPr>
              <a:t>(0</a:t>
            </a:r>
            <a:r>
              <a:rPr sz="2180" spc="20" dirty="0">
                <a:latin typeface="Arial"/>
                <a:cs typeface="Arial"/>
              </a:rPr>
              <a:t> </a:t>
            </a:r>
            <a:r>
              <a:rPr sz="2180" dirty="0">
                <a:latin typeface="Arial"/>
                <a:cs typeface="Arial"/>
              </a:rPr>
              <a:t>or</a:t>
            </a:r>
            <a:r>
              <a:rPr sz="2180" spc="30" dirty="0">
                <a:latin typeface="Arial"/>
                <a:cs typeface="Arial"/>
              </a:rPr>
              <a:t> </a:t>
            </a:r>
            <a:r>
              <a:rPr sz="2180" spc="-50" dirty="0">
                <a:latin typeface="Arial"/>
                <a:cs typeface="Arial"/>
              </a:rPr>
              <a:t>1). </a:t>
            </a:r>
            <a:r>
              <a:rPr sz="2180" spc="-99" dirty="0">
                <a:latin typeface="Arial"/>
                <a:cs typeface="Arial"/>
              </a:rPr>
              <a:t>Classifier</a:t>
            </a:r>
            <a:r>
              <a:rPr sz="2180" spc="40" dirty="0">
                <a:latin typeface="Arial"/>
                <a:cs typeface="Arial"/>
              </a:rPr>
              <a:t> </a:t>
            </a:r>
            <a:r>
              <a:rPr sz="2180" dirty="0">
                <a:latin typeface="Arial"/>
                <a:cs typeface="Arial"/>
              </a:rPr>
              <a:t>for</a:t>
            </a:r>
            <a:r>
              <a:rPr sz="2180" spc="40" dirty="0">
                <a:latin typeface="Arial"/>
                <a:cs typeface="Arial"/>
              </a:rPr>
              <a:t> </a:t>
            </a:r>
            <a:r>
              <a:rPr sz="2180" spc="-99" dirty="0">
                <a:latin typeface="Arial"/>
                <a:cs typeface="Arial"/>
              </a:rPr>
              <a:t>two-</a:t>
            </a:r>
            <a:r>
              <a:rPr sz="2180" spc="-129" dirty="0">
                <a:latin typeface="Arial"/>
                <a:cs typeface="Arial"/>
              </a:rPr>
              <a:t>class</a:t>
            </a:r>
            <a:r>
              <a:rPr sz="2180" spc="50" dirty="0">
                <a:latin typeface="Arial"/>
                <a:cs typeface="Arial"/>
              </a:rPr>
              <a:t> </a:t>
            </a:r>
            <a:r>
              <a:rPr sz="2180" spc="-20" dirty="0">
                <a:latin typeface="Arial"/>
                <a:cs typeface="Arial"/>
              </a:rPr>
              <a:t>problem.</a:t>
            </a:r>
            <a:endParaRPr sz="2180" dirty="0">
              <a:latin typeface="Arial"/>
              <a:cs typeface="Arial"/>
            </a:endParaRPr>
          </a:p>
          <a:p>
            <a:pPr marL="75503">
              <a:spcBef>
                <a:spcPts val="297"/>
              </a:spcBef>
            </a:pPr>
            <a:r>
              <a:rPr sz="2180" spc="-59" dirty="0">
                <a:latin typeface="Arial"/>
                <a:cs typeface="Arial"/>
              </a:rPr>
              <a:t>For</a:t>
            </a:r>
            <a:r>
              <a:rPr sz="2180" spc="-30" dirty="0">
                <a:latin typeface="Arial"/>
                <a:cs typeface="Arial"/>
              </a:rPr>
              <a:t> </a:t>
            </a:r>
            <a:r>
              <a:rPr sz="2180" spc="-79" dirty="0">
                <a:latin typeface="Arial"/>
                <a:cs typeface="Arial"/>
              </a:rPr>
              <a:t>multiclass</a:t>
            </a:r>
            <a:r>
              <a:rPr sz="2180" spc="10" dirty="0">
                <a:latin typeface="Arial"/>
                <a:cs typeface="Arial"/>
              </a:rPr>
              <a:t> </a:t>
            </a:r>
            <a:r>
              <a:rPr sz="2180" spc="-129" dirty="0">
                <a:latin typeface="Arial"/>
                <a:cs typeface="Arial"/>
              </a:rPr>
              <a:t>problems</a:t>
            </a:r>
            <a:r>
              <a:rPr sz="2180" spc="10" dirty="0">
                <a:latin typeface="Arial"/>
                <a:cs typeface="Arial"/>
              </a:rPr>
              <a:t> </a:t>
            </a:r>
            <a:r>
              <a:rPr sz="2180" spc="-198" dirty="0">
                <a:latin typeface="Arial"/>
                <a:cs typeface="Arial"/>
              </a:rPr>
              <a:t>use</a:t>
            </a:r>
            <a:r>
              <a:rPr sz="2180" spc="50" dirty="0">
                <a:latin typeface="Arial"/>
                <a:cs typeface="Arial"/>
              </a:rPr>
              <a:t> </a:t>
            </a:r>
            <a:r>
              <a:rPr sz="2180" spc="-129" dirty="0">
                <a:latin typeface="Arial"/>
                <a:cs typeface="Arial"/>
              </a:rPr>
              <a:t>one</a:t>
            </a:r>
            <a:r>
              <a:rPr sz="2180" spc="20" dirty="0">
                <a:latin typeface="Arial"/>
                <a:cs typeface="Arial"/>
              </a:rPr>
              <a:t> </a:t>
            </a:r>
            <a:r>
              <a:rPr sz="2180" spc="-79" dirty="0">
                <a:latin typeface="Arial"/>
                <a:cs typeface="Arial"/>
              </a:rPr>
              <a:t>perceptron</a:t>
            </a:r>
            <a:r>
              <a:rPr sz="2180" spc="10" dirty="0">
                <a:latin typeface="Arial"/>
                <a:cs typeface="Arial"/>
              </a:rPr>
              <a:t> </a:t>
            </a:r>
            <a:r>
              <a:rPr sz="2180" spc="-40" dirty="0">
                <a:latin typeface="Arial"/>
                <a:cs typeface="Arial"/>
              </a:rPr>
              <a:t>per</a:t>
            </a:r>
            <a:r>
              <a:rPr sz="2180" spc="10" dirty="0">
                <a:latin typeface="Arial"/>
                <a:cs typeface="Arial"/>
              </a:rPr>
              <a:t> </a:t>
            </a:r>
            <a:r>
              <a:rPr sz="2180" spc="-20" dirty="0">
                <a:latin typeface="Arial"/>
                <a:cs typeface="Arial"/>
              </a:rPr>
              <a:t>class.</a:t>
            </a:r>
            <a:endParaRPr sz="2180" dirty="0">
              <a:latin typeface="Arial"/>
              <a:cs typeface="Arial"/>
            </a:endParaRPr>
          </a:p>
        </p:txBody>
      </p:sp>
      <p:pic>
        <p:nvPicPr>
          <p:cNvPr id="13" name="object 13"/>
          <p:cNvPicPr/>
          <p:nvPr/>
        </p:nvPicPr>
        <p:blipFill>
          <a:blip r:embed="rId4" cstate="print"/>
          <a:stretch>
            <a:fillRect/>
          </a:stretch>
        </p:blipFill>
        <p:spPr>
          <a:xfrm>
            <a:off x="2085216" y="5845583"/>
            <a:ext cx="129332" cy="129332"/>
          </a:xfrm>
          <a:prstGeom prst="rect">
            <a:avLst/>
          </a:prstGeom>
        </p:spPr>
      </p:pic>
      <p:pic>
        <p:nvPicPr>
          <p:cNvPr id="14" name="object 14"/>
          <p:cNvPicPr/>
          <p:nvPr/>
        </p:nvPicPr>
        <p:blipFill>
          <a:blip r:embed="rId5" cstate="print"/>
          <a:stretch>
            <a:fillRect/>
          </a:stretch>
        </p:blipFill>
        <p:spPr>
          <a:xfrm>
            <a:off x="2085216" y="6215815"/>
            <a:ext cx="129332" cy="129332"/>
          </a:xfrm>
          <a:prstGeom prst="rect">
            <a:avLst/>
          </a:prstGeom>
        </p:spPr>
      </p:pic>
      <p:sp>
        <p:nvSpPr>
          <p:cNvPr id="15" name="object 15"/>
          <p:cNvSpPr txBox="1">
            <a:spLocks noGrp="1"/>
          </p:cNvSpPr>
          <p:nvPr>
            <p:ph type="ftr" sz="quarter" idx="5"/>
          </p:nvPr>
        </p:nvSpPr>
        <p:spPr>
          <a:xfrm>
            <a:off x="1120062" y="6561400"/>
            <a:ext cx="9340673" cy="153888"/>
          </a:xfrm>
          <a:prstGeom prst="rect">
            <a:avLst/>
          </a:prstGeom>
        </p:spPr>
        <p:txBody>
          <a:bodyPr vert="horz" wrap="square" lIns="0" tIns="0" rIns="0" bIns="0" rtlCol="0">
            <a:spAutoFit/>
          </a:bodyPr>
          <a:lstStyle>
            <a:defPPr>
              <a:defRPr kern="0"/>
            </a:defPPr>
            <a:lvl1pPr>
              <a:defRPr sz="500" b="0" i="0">
                <a:solidFill>
                  <a:schemeClr val="tx1"/>
                </a:solidFill>
                <a:latin typeface="Arial"/>
                <a:cs typeface="Arial"/>
              </a:defRPr>
            </a:lvl1pPr>
          </a:lstStyle>
          <a:p>
            <a:pPr marL="12700">
              <a:lnSpc>
                <a:spcPts val="550"/>
              </a:lnSpc>
            </a:pPr>
            <a:r>
              <a:rPr lang="it-IT" dirty="0" err="1"/>
              <a:t>Compendium</a:t>
            </a:r>
            <a:r>
              <a:rPr lang="it-IT" spc="40" dirty="0"/>
              <a:t> </a:t>
            </a:r>
            <a:r>
              <a:rPr lang="it-IT" spc="-10" dirty="0"/>
              <a:t>slides</a:t>
            </a:r>
            <a:r>
              <a:rPr lang="it-IT" spc="40" dirty="0"/>
              <a:t> </a:t>
            </a:r>
            <a:r>
              <a:rPr lang="it-IT" dirty="0"/>
              <a:t>for</a:t>
            </a:r>
            <a:r>
              <a:rPr lang="it-IT" spc="45" dirty="0"/>
              <a:t> </a:t>
            </a:r>
            <a:r>
              <a:rPr lang="it-IT" dirty="0"/>
              <a:t>“Guide</a:t>
            </a:r>
            <a:r>
              <a:rPr lang="it-IT" spc="40" dirty="0"/>
              <a:t> </a:t>
            </a:r>
            <a:r>
              <a:rPr lang="it-IT" dirty="0"/>
              <a:t>to</a:t>
            </a:r>
            <a:r>
              <a:rPr lang="it-IT" spc="40" dirty="0"/>
              <a:t> </a:t>
            </a:r>
            <a:r>
              <a:rPr lang="it-IT" dirty="0" err="1"/>
              <a:t>Intelligent</a:t>
            </a:r>
            <a:r>
              <a:rPr lang="it-IT" spc="45" dirty="0"/>
              <a:t> </a:t>
            </a:r>
            <a:r>
              <a:rPr lang="it-IT" dirty="0"/>
              <a:t>Data</a:t>
            </a:r>
            <a:r>
              <a:rPr lang="it-IT" spc="40" dirty="0"/>
              <a:t> </a:t>
            </a:r>
            <a:r>
              <a:rPr lang="it-IT" dirty="0"/>
              <a:t>Analysis”,</a:t>
            </a:r>
            <a:r>
              <a:rPr lang="it-IT" spc="40" dirty="0"/>
              <a:t> </a:t>
            </a:r>
            <a:r>
              <a:rPr lang="it-IT" spc="-10" dirty="0"/>
              <a:t>Springer</a:t>
            </a:r>
            <a:r>
              <a:rPr lang="it-IT" spc="45" dirty="0"/>
              <a:t> </a:t>
            </a:r>
            <a:r>
              <a:rPr lang="it-IT" spc="-10" dirty="0"/>
              <a:t>2011.</a:t>
            </a:r>
          </a:p>
          <a:p>
            <a:pPr marL="12700">
              <a:lnSpc>
                <a:spcPts val="570"/>
              </a:lnSpc>
            </a:pPr>
            <a:r>
              <a:rPr lang="it-IT" i="1" spc="-85" dirty="0" err="1"/>
              <a:t>Q</a:t>
            </a:r>
            <a:r>
              <a:rPr lang="it-IT" spc="-85" dirty="0" err="1"/>
              <a:t>c</a:t>
            </a:r>
            <a:r>
              <a:rPr lang="it-IT" spc="65" dirty="0"/>
              <a:t> </a:t>
            </a:r>
            <a:r>
              <a:rPr lang="it-IT" dirty="0"/>
              <a:t>Michael</a:t>
            </a:r>
            <a:r>
              <a:rPr lang="it-IT" spc="25" dirty="0"/>
              <a:t> </a:t>
            </a:r>
            <a:r>
              <a:rPr lang="it-IT" dirty="0" err="1"/>
              <a:t>R</a:t>
            </a:r>
            <a:r>
              <a:rPr lang="it-IT" dirty="0"/>
              <a:t>.</a:t>
            </a:r>
            <a:r>
              <a:rPr lang="it-IT" spc="30" dirty="0"/>
              <a:t> </a:t>
            </a:r>
            <a:r>
              <a:rPr lang="it-IT" dirty="0"/>
              <a:t>Berthold,</a:t>
            </a:r>
            <a:r>
              <a:rPr lang="it-IT" spc="25" dirty="0"/>
              <a:t> </a:t>
            </a:r>
            <a:r>
              <a:rPr lang="it-IT" dirty="0"/>
              <a:t>Christian</a:t>
            </a:r>
            <a:r>
              <a:rPr lang="it-IT" spc="30" dirty="0"/>
              <a:t> </a:t>
            </a:r>
            <a:r>
              <a:rPr lang="it-IT" dirty="0" err="1"/>
              <a:t>Borgelt</a:t>
            </a:r>
            <a:r>
              <a:rPr lang="it-IT" dirty="0"/>
              <a:t>,</a:t>
            </a:r>
            <a:r>
              <a:rPr lang="it-IT" spc="25" dirty="0"/>
              <a:t> </a:t>
            </a:r>
            <a:r>
              <a:rPr lang="it-IT" dirty="0"/>
              <a:t>Frank</a:t>
            </a:r>
            <a:r>
              <a:rPr lang="it-IT" spc="30" dirty="0"/>
              <a:t> </a:t>
            </a:r>
            <a:r>
              <a:rPr lang="it-IT" spc="-20" dirty="0" err="1"/>
              <a:t>H¨oppner</a:t>
            </a:r>
            <a:r>
              <a:rPr lang="it-IT" spc="-20" dirty="0"/>
              <a:t>,</a:t>
            </a:r>
            <a:r>
              <a:rPr lang="it-IT" spc="30" dirty="0"/>
              <a:t> </a:t>
            </a:r>
            <a:r>
              <a:rPr lang="it-IT" dirty="0"/>
              <a:t>Frank</a:t>
            </a:r>
            <a:r>
              <a:rPr lang="it-IT" spc="25" dirty="0"/>
              <a:t> </a:t>
            </a:r>
            <a:r>
              <a:rPr lang="it-IT" dirty="0" err="1"/>
              <a:t>Klawonn</a:t>
            </a:r>
            <a:r>
              <a:rPr lang="it-IT" spc="30" dirty="0"/>
              <a:t> </a:t>
            </a:r>
            <a:r>
              <a:rPr lang="it-IT" dirty="0"/>
              <a:t>and</a:t>
            </a:r>
            <a:r>
              <a:rPr lang="it-IT" spc="25" dirty="0"/>
              <a:t> </a:t>
            </a:r>
            <a:r>
              <a:rPr lang="it-IT" dirty="0"/>
              <a:t>Iris</a:t>
            </a:r>
            <a:r>
              <a:rPr lang="it-IT" spc="30" dirty="0"/>
              <a:t> </a:t>
            </a:r>
            <a:r>
              <a:rPr lang="it-IT" spc="-20" dirty="0" err="1"/>
              <a:t>Ad¨a</a:t>
            </a:r>
            <a:endParaRPr spc="-40" dirty="0"/>
          </a:p>
        </p:txBody>
      </p:sp>
      <p:sp>
        <p:nvSpPr>
          <p:cNvPr id="16" name="object 16"/>
          <p:cNvSpPr txBox="1">
            <a:spLocks noGrp="1"/>
          </p:cNvSpPr>
          <p:nvPr>
            <p:ph type="sldNum" sz="quarter" idx="7"/>
          </p:nvPr>
        </p:nvSpPr>
        <p:spPr>
          <a:xfrm>
            <a:off x="10737143" y="6584645"/>
            <a:ext cx="1303966" cy="908514"/>
          </a:xfrm>
          <a:prstGeom prst="rect">
            <a:avLst/>
          </a:prstGeom>
        </p:spPr>
        <p:txBody>
          <a:bodyPr vert="horz" wrap="square" lIns="0" tIns="0" rIns="0" bIns="0" rtlCol="0">
            <a:spAutoFit/>
          </a:bodyPr>
          <a:lstStyle>
            <a:defPPr>
              <a:defRPr kern="0"/>
            </a:defPPr>
            <a:lvl1pPr>
              <a:defRPr sz="600" b="0" i="0">
                <a:solidFill>
                  <a:schemeClr val="tx1"/>
                </a:solidFill>
                <a:latin typeface="Arial"/>
                <a:cs typeface="Arial"/>
              </a:defRPr>
            </a:lvl1pPr>
          </a:lstStyle>
          <a:p>
            <a:pPr marL="154781">
              <a:lnSpc>
                <a:spcPts val="1338"/>
              </a:lnSpc>
            </a:pPr>
            <a:endParaRPr spc="-50" dirty="0"/>
          </a:p>
        </p:txBody>
      </p:sp>
      <mc:AlternateContent xmlns:mc="http://schemas.openxmlformats.org/markup-compatibility/2006" xmlns:a14="http://schemas.microsoft.com/office/drawing/2010/main">
        <mc:Choice Requires="a14">
          <p:sp>
            <p:nvSpPr>
              <p:cNvPr id="20" name="CasellaDiTesto 19">
                <a:extLst>
                  <a:ext uri="{FF2B5EF4-FFF2-40B4-BE49-F238E27FC236}">
                    <a16:creationId xmlns:a16="http://schemas.microsoft.com/office/drawing/2014/main" id="{87450345-3F43-FE9B-C6D9-BA54D331CA3F}"/>
                  </a:ext>
                </a:extLst>
              </p:cNvPr>
              <p:cNvSpPr txBox="1"/>
              <p:nvPr/>
            </p:nvSpPr>
            <p:spPr>
              <a:xfrm>
                <a:off x="-850987" y="4245015"/>
                <a:ext cx="10530072" cy="87985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ctrlPr>
                            <a:rPr lang="en-GB" sz="1800" i="1" smtClean="0">
                              <a:solidFill>
                                <a:srgbClr val="000000"/>
                              </a:solidFill>
                              <a:latin typeface="Cambria Math" panose="02040503050406030204" pitchFamily="18" charset="0"/>
                            </a:rPr>
                          </m:ctrlPr>
                        </m:naryPr>
                        <m:sub>
                          <m:r>
                            <a:rPr lang="it-IT" sz="1800" b="0" i="1" smtClean="0">
                              <a:solidFill>
                                <a:srgbClr val="000000"/>
                              </a:solidFill>
                              <a:latin typeface="Cambria Math" panose="02040503050406030204" pitchFamily="18" charset="0"/>
                            </a:rPr>
                            <m:t>𝑖</m:t>
                          </m:r>
                          <m:r>
                            <a:rPr lang="en-GB" sz="1800" i="1">
                              <a:solidFill>
                                <a:srgbClr val="000000"/>
                              </a:solidFill>
                              <a:latin typeface="Cambria Math" panose="02040503050406030204" pitchFamily="18" charset="0"/>
                            </a:rPr>
                            <m:t>=0</m:t>
                          </m:r>
                        </m:sub>
                        <m:sup>
                          <m:r>
                            <a:rPr lang="it-IT" sz="1800" b="0" i="1" smtClean="0">
                              <a:solidFill>
                                <a:srgbClr val="000000"/>
                              </a:solidFill>
                              <a:latin typeface="Cambria Math" panose="02040503050406030204" pitchFamily="18" charset="0"/>
                            </a:rPr>
                            <m:t>𝑚</m:t>
                          </m:r>
                        </m:sup>
                        <m:e/>
                      </m:nary>
                    </m:oMath>
                  </m:oMathPara>
                </a14:m>
                <a:endParaRPr lang="it-IT" dirty="0"/>
              </a:p>
            </p:txBody>
          </p:sp>
        </mc:Choice>
        <mc:Fallback xmlns="">
          <p:sp>
            <p:nvSpPr>
              <p:cNvPr id="20" name="CasellaDiTesto 19">
                <a:extLst>
                  <a:ext uri="{FF2B5EF4-FFF2-40B4-BE49-F238E27FC236}">
                    <a16:creationId xmlns:a16="http://schemas.microsoft.com/office/drawing/2014/main" id="{87450345-3F43-FE9B-C6D9-BA54D331CA3F}"/>
                  </a:ext>
                </a:extLst>
              </p:cNvPr>
              <p:cNvSpPr txBox="1">
                <a:spLocks noRot="1" noChangeAspect="1" noMove="1" noResize="1" noEditPoints="1" noAdjustHandles="1" noChangeArrowheads="1" noChangeShapeType="1" noTextEdit="1"/>
              </p:cNvSpPr>
              <p:nvPr/>
            </p:nvSpPr>
            <p:spPr>
              <a:xfrm>
                <a:off x="-850987" y="4245015"/>
                <a:ext cx="10530072" cy="879856"/>
              </a:xfrm>
              <a:prstGeom prst="rect">
                <a:avLst/>
              </a:prstGeom>
              <a:blipFill>
                <a:blip r:embed="rId6"/>
                <a:stretch>
                  <a:fillRect t="-97143" b="-144286"/>
                </a:stretch>
              </a:blipFill>
            </p:spPr>
            <p:txBody>
              <a:bodyPr/>
              <a:lstStyle/>
              <a:p>
                <a:r>
                  <a:rPr lang="it-IT">
                    <a:noFill/>
                  </a:rPr>
                  <a:t> </a:t>
                </a:r>
              </a:p>
            </p:txBody>
          </p:sp>
        </mc:Fallback>
      </mc:AlternateContent>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3F8D232-CDEF-1769-9432-36218D391ACB}"/>
              </a:ext>
            </a:extLst>
          </p:cNvPr>
          <p:cNvSpPr>
            <a:spLocks noGrp="1"/>
          </p:cNvSpPr>
          <p:nvPr>
            <p:ph type="title"/>
          </p:nvPr>
        </p:nvSpPr>
        <p:spPr/>
        <p:txBody>
          <a:bodyPr/>
          <a:lstStyle/>
          <a:p>
            <a:r>
              <a:rPr lang="it-IT" dirty="0" err="1"/>
              <a:t>Percetron</a:t>
            </a:r>
            <a:r>
              <a:rPr lang="it-IT" dirty="0"/>
              <a:t> learning </a:t>
            </a:r>
            <a:r>
              <a:rPr lang="it-IT" dirty="0" err="1"/>
              <a:t>algorithm</a:t>
            </a:r>
            <a:endParaRPr lang="it-IT" dirty="0"/>
          </a:p>
        </p:txBody>
      </p:sp>
      <p:sp>
        <p:nvSpPr>
          <p:cNvPr id="3" name="Segnaposto contenuto 2">
            <a:extLst>
              <a:ext uri="{FF2B5EF4-FFF2-40B4-BE49-F238E27FC236}">
                <a16:creationId xmlns:a16="http://schemas.microsoft.com/office/drawing/2014/main" id="{99E41428-437C-5892-06F8-8BEAC4AC1553}"/>
              </a:ext>
            </a:extLst>
          </p:cNvPr>
          <p:cNvSpPr>
            <a:spLocks noGrp="1"/>
          </p:cNvSpPr>
          <p:nvPr>
            <p:ph idx="1"/>
          </p:nvPr>
        </p:nvSpPr>
        <p:spPr/>
        <p:txBody>
          <a:bodyPr/>
          <a:lstStyle/>
          <a:p>
            <a:endParaRPr lang="it-IT"/>
          </a:p>
        </p:txBody>
      </p:sp>
      <p:pic>
        <p:nvPicPr>
          <p:cNvPr id="4" name="Immagine 3">
            <a:extLst>
              <a:ext uri="{FF2B5EF4-FFF2-40B4-BE49-F238E27FC236}">
                <a16:creationId xmlns:a16="http://schemas.microsoft.com/office/drawing/2014/main" id="{EC1A836E-BDCC-B01E-8A8C-1F60E252C92C}"/>
              </a:ext>
            </a:extLst>
          </p:cNvPr>
          <p:cNvPicPr>
            <a:picLocks noChangeAspect="1"/>
          </p:cNvPicPr>
          <p:nvPr/>
        </p:nvPicPr>
        <p:blipFill>
          <a:blip r:embed="rId2"/>
          <a:stretch>
            <a:fillRect/>
          </a:stretch>
        </p:blipFill>
        <p:spPr>
          <a:xfrm>
            <a:off x="838200" y="1594485"/>
            <a:ext cx="7772400" cy="5407799"/>
          </a:xfrm>
          <a:prstGeom prst="rect">
            <a:avLst/>
          </a:prstGeom>
        </p:spPr>
      </p:pic>
    </p:spTree>
    <p:extLst>
      <p:ext uri="{BB962C8B-B14F-4D97-AF65-F5344CB8AC3E}">
        <p14:creationId xmlns:p14="http://schemas.microsoft.com/office/powerpoint/2010/main" val="4972193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92931DE-8B23-A0F2-A897-AA6401BCA6FE}"/>
              </a:ext>
            </a:extLst>
          </p:cNvPr>
          <p:cNvSpPr>
            <a:spLocks noGrp="1"/>
          </p:cNvSpPr>
          <p:nvPr>
            <p:ph type="title"/>
          </p:nvPr>
        </p:nvSpPr>
        <p:spPr/>
        <p:txBody>
          <a:bodyPr/>
          <a:lstStyle/>
          <a:p>
            <a:r>
              <a:rPr lang="it-IT" dirty="0"/>
              <a:t>The delta rule</a:t>
            </a:r>
          </a:p>
        </p:txBody>
      </p:sp>
      <p:sp>
        <p:nvSpPr>
          <p:cNvPr id="3" name="Segnaposto contenuto 2">
            <a:extLst>
              <a:ext uri="{FF2B5EF4-FFF2-40B4-BE49-F238E27FC236}">
                <a16:creationId xmlns:a16="http://schemas.microsoft.com/office/drawing/2014/main" id="{16ED1994-62B8-0A2C-482B-B52DE8090FC4}"/>
              </a:ext>
            </a:extLst>
          </p:cNvPr>
          <p:cNvSpPr>
            <a:spLocks noGrp="1"/>
          </p:cNvSpPr>
          <p:nvPr>
            <p:ph idx="1"/>
          </p:nvPr>
        </p:nvSpPr>
        <p:spPr/>
        <p:txBody>
          <a:bodyPr/>
          <a:lstStyle/>
          <a:p>
            <a:endParaRPr lang="it-IT"/>
          </a:p>
        </p:txBody>
      </p:sp>
      <p:pic>
        <p:nvPicPr>
          <p:cNvPr id="4" name="Immagine 3">
            <a:extLst>
              <a:ext uri="{FF2B5EF4-FFF2-40B4-BE49-F238E27FC236}">
                <a16:creationId xmlns:a16="http://schemas.microsoft.com/office/drawing/2014/main" id="{E7DDC2C5-2A54-601E-51B8-36701C2CE4C1}"/>
              </a:ext>
            </a:extLst>
          </p:cNvPr>
          <p:cNvPicPr>
            <a:picLocks noChangeAspect="1"/>
          </p:cNvPicPr>
          <p:nvPr/>
        </p:nvPicPr>
        <p:blipFill>
          <a:blip r:embed="rId2"/>
          <a:stretch>
            <a:fillRect/>
          </a:stretch>
        </p:blipFill>
        <p:spPr>
          <a:xfrm>
            <a:off x="1097280" y="1690688"/>
            <a:ext cx="6233160" cy="4336843"/>
          </a:xfrm>
          <a:prstGeom prst="rect">
            <a:avLst/>
          </a:prstGeom>
        </p:spPr>
      </p:pic>
    </p:spTree>
    <p:extLst>
      <p:ext uri="{BB962C8B-B14F-4D97-AF65-F5344CB8AC3E}">
        <p14:creationId xmlns:p14="http://schemas.microsoft.com/office/powerpoint/2010/main" val="3391139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92931DE-8B23-A0F2-A897-AA6401BCA6FE}"/>
              </a:ext>
            </a:extLst>
          </p:cNvPr>
          <p:cNvSpPr>
            <a:spLocks noGrp="1"/>
          </p:cNvSpPr>
          <p:nvPr>
            <p:ph type="title"/>
          </p:nvPr>
        </p:nvSpPr>
        <p:spPr/>
        <p:txBody>
          <a:bodyPr/>
          <a:lstStyle/>
          <a:p>
            <a:r>
              <a:rPr lang="it-IT" dirty="0"/>
              <a:t>The delta rule</a:t>
            </a:r>
          </a:p>
        </p:txBody>
      </p:sp>
      <p:sp>
        <p:nvSpPr>
          <p:cNvPr id="3" name="Segnaposto contenuto 2">
            <a:extLst>
              <a:ext uri="{FF2B5EF4-FFF2-40B4-BE49-F238E27FC236}">
                <a16:creationId xmlns:a16="http://schemas.microsoft.com/office/drawing/2014/main" id="{16ED1994-62B8-0A2C-482B-B52DE8090FC4}"/>
              </a:ext>
            </a:extLst>
          </p:cNvPr>
          <p:cNvSpPr>
            <a:spLocks noGrp="1"/>
          </p:cNvSpPr>
          <p:nvPr>
            <p:ph idx="1"/>
          </p:nvPr>
        </p:nvSpPr>
        <p:spPr/>
        <p:txBody>
          <a:bodyPr/>
          <a:lstStyle/>
          <a:p>
            <a:endParaRPr lang="it-IT" dirty="0"/>
          </a:p>
        </p:txBody>
      </p:sp>
      <p:pic>
        <p:nvPicPr>
          <p:cNvPr id="5" name="Immagine 4">
            <a:extLst>
              <a:ext uri="{FF2B5EF4-FFF2-40B4-BE49-F238E27FC236}">
                <a16:creationId xmlns:a16="http://schemas.microsoft.com/office/drawing/2014/main" id="{40CE8AB3-32D3-7383-11D1-1CE27DE486ED}"/>
              </a:ext>
            </a:extLst>
          </p:cNvPr>
          <p:cNvPicPr>
            <a:picLocks noChangeAspect="1"/>
          </p:cNvPicPr>
          <p:nvPr/>
        </p:nvPicPr>
        <p:blipFill>
          <a:blip r:embed="rId2"/>
          <a:stretch>
            <a:fillRect/>
          </a:stretch>
        </p:blipFill>
        <p:spPr>
          <a:xfrm>
            <a:off x="838200" y="1733800"/>
            <a:ext cx="6384601" cy="4442211"/>
          </a:xfrm>
          <a:prstGeom prst="rect">
            <a:avLst/>
          </a:prstGeom>
        </p:spPr>
      </p:pic>
    </p:spTree>
    <p:extLst>
      <p:ext uri="{BB962C8B-B14F-4D97-AF65-F5344CB8AC3E}">
        <p14:creationId xmlns:p14="http://schemas.microsoft.com/office/powerpoint/2010/main" val="2813688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92931DE-8B23-A0F2-A897-AA6401BCA6FE}"/>
              </a:ext>
            </a:extLst>
          </p:cNvPr>
          <p:cNvSpPr>
            <a:spLocks noGrp="1"/>
          </p:cNvSpPr>
          <p:nvPr>
            <p:ph type="title"/>
          </p:nvPr>
        </p:nvSpPr>
        <p:spPr/>
        <p:txBody>
          <a:bodyPr/>
          <a:lstStyle/>
          <a:p>
            <a:r>
              <a:rPr lang="it-IT" dirty="0"/>
              <a:t>The delta rule</a:t>
            </a:r>
          </a:p>
        </p:txBody>
      </p:sp>
      <p:sp>
        <p:nvSpPr>
          <p:cNvPr id="3" name="Segnaposto contenuto 2">
            <a:extLst>
              <a:ext uri="{FF2B5EF4-FFF2-40B4-BE49-F238E27FC236}">
                <a16:creationId xmlns:a16="http://schemas.microsoft.com/office/drawing/2014/main" id="{16ED1994-62B8-0A2C-482B-B52DE8090FC4}"/>
              </a:ext>
            </a:extLst>
          </p:cNvPr>
          <p:cNvSpPr>
            <a:spLocks noGrp="1"/>
          </p:cNvSpPr>
          <p:nvPr>
            <p:ph idx="1"/>
          </p:nvPr>
        </p:nvSpPr>
        <p:spPr/>
        <p:txBody>
          <a:bodyPr/>
          <a:lstStyle/>
          <a:p>
            <a:endParaRPr lang="it-IT" dirty="0"/>
          </a:p>
        </p:txBody>
      </p:sp>
      <p:pic>
        <p:nvPicPr>
          <p:cNvPr id="4" name="Immagine 3">
            <a:extLst>
              <a:ext uri="{FF2B5EF4-FFF2-40B4-BE49-F238E27FC236}">
                <a16:creationId xmlns:a16="http://schemas.microsoft.com/office/drawing/2014/main" id="{270F0CD2-8295-27D5-B40D-2F36DF823874}"/>
              </a:ext>
            </a:extLst>
          </p:cNvPr>
          <p:cNvPicPr>
            <a:picLocks noChangeAspect="1"/>
          </p:cNvPicPr>
          <p:nvPr/>
        </p:nvPicPr>
        <p:blipFill>
          <a:blip r:embed="rId2"/>
          <a:stretch>
            <a:fillRect/>
          </a:stretch>
        </p:blipFill>
        <p:spPr>
          <a:xfrm>
            <a:off x="838200" y="1822269"/>
            <a:ext cx="6156960" cy="4283825"/>
          </a:xfrm>
          <a:prstGeom prst="rect">
            <a:avLst/>
          </a:prstGeom>
        </p:spPr>
      </p:pic>
    </p:spTree>
    <p:extLst>
      <p:ext uri="{BB962C8B-B14F-4D97-AF65-F5344CB8AC3E}">
        <p14:creationId xmlns:p14="http://schemas.microsoft.com/office/powerpoint/2010/main" val="10845052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6C3099B-6A41-AFCC-3408-7A3AD69610F7}"/>
              </a:ext>
            </a:extLst>
          </p:cNvPr>
          <p:cNvSpPr>
            <a:spLocks noGrp="1"/>
          </p:cNvSpPr>
          <p:nvPr>
            <p:ph type="title"/>
          </p:nvPr>
        </p:nvSpPr>
        <p:spPr/>
        <p:txBody>
          <a:bodyPr/>
          <a:lstStyle/>
          <a:p>
            <a:r>
              <a:rPr lang="it-IT" dirty="0"/>
              <a:t>Linear </a:t>
            </a:r>
            <a:r>
              <a:rPr lang="it-IT" dirty="0" err="1"/>
              <a:t>Separability</a:t>
            </a:r>
            <a:endParaRPr lang="it-IT" dirty="0"/>
          </a:p>
        </p:txBody>
      </p:sp>
      <p:sp>
        <p:nvSpPr>
          <p:cNvPr id="3" name="Segnaposto contenuto 2">
            <a:extLst>
              <a:ext uri="{FF2B5EF4-FFF2-40B4-BE49-F238E27FC236}">
                <a16:creationId xmlns:a16="http://schemas.microsoft.com/office/drawing/2014/main" id="{C7AC28C2-1606-8202-3D48-4909505FA217}"/>
              </a:ext>
            </a:extLst>
          </p:cNvPr>
          <p:cNvSpPr>
            <a:spLocks noGrp="1"/>
          </p:cNvSpPr>
          <p:nvPr>
            <p:ph idx="1"/>
          </p:nvPr>
        </p:nvSpPr>
        <p:spPr/>
        <p:txBody>
          <a:bodyPr/>
          <a:lstStyle/>
          <a:p>
            <a:pPr marL="0" indent="0">
              <a:buNone/>
            </a:pPr>
            <a:endParaRPr lang="it-IT" dirty="0"/>
          </a:p>
        </p:txBody>
      </p:sp>
      <p:pic>
        <p:nvPicPr>
          <p:cNvPr id="4" name="Immagine 3">
            <a:extLst>
              <a:ext uri="{FF2B5EF4-FFF2-40B4-BE49-F238E27FC236}">
                <a16:creationId xmlns:a16="http://schemas.microsoft.com/office/drawing/2014/main" id="{79BBEC3D-2AFC-9AF4-B0B6-8450768D9339}"/>
              </a:ext>
            </a:extLst>
          </p:cNvPr>
          <p:cNvPicPr>
            <a:picLocks noChangeAspect="1"/>
          </p:cNvPicPr>
          <p:nvPr/>
        </p:nvPicPr>
        <p:blipFill>
          <a:blip r:embed="rId2"/>
          <a:stretch>
            <a:fillRect/>
          </a:stretch>
        </p:blipFill>
        <p:spPr>
          <a:xfrm>
            <a:off x="274320" y="1355049"/>
            <a:ext cx="7109460" cy="4976284"/>
          </a:xfrm>
          <a:prstGeom prst="rect">
            <a:avLst/>
          </a:prstGeom>
        </p:spPr>
      </p:pic>
      <p:pic>
        <p:nvPicPr>
          <p:cNvPr id="5" name="Immagine 4">
            <a:extLst>
              <a:ext uri="{FF2B5EF4-FFF2-40B4-BE49-F238E27FC236}">
                <a16:creationId xmlns:a16="http://schemas.microsoft.com/office/drawing/2014/main" id="{434B4343-8EEE-9D4E-D188-C30BDA0C7FE1}"/>
              </a:ext>
            </a:extLst>
          </p:cNvPr>
          <p:cNvPicPr>
            <a:picLocks noChangeAspect="1"/>
          </p:cNvPicPr>
          <p:nvPr/>
        </p:nvPicPr>
        <p:blipFill>
          <a:blip r:embed="rId3"/>
          <a:stretch>
            <a:fillRect/>
          </a:stretch>
        </p:blipFill>
        <p:spPr>
          <a:xfrm>
            <a:off x="137160" y="5123027"/>
            <a:ext cx="7772400" cy="1734973"/>
          </a:xfrm>
          <a:prstGeom prst="rect">
            <a:avLst/>
          </a:prstGeom>
        </p:spPr>
      </p:pic>
    </p:spTree>
    <p:extLst>
      <p:ext uri="{BB962C8B-B14F-4D97-AF65-F5344CB8AC3E}">
        <p14:creationId xmlns:p14="http://schemas.microsoft.com/office/powerpoint/2010/main" val="1978302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733B569-7557-088C-F669-B8C62905615B}"/>
              </a:ext>
            </a:extLst>
          </p:cNvPr>
          <p:cNvSpPr>
            <a:spLocks noGrp="1"/>
          </p:cNvSpPr>
          <p:nvPr>
            <p:ph type="title"/>
          </p:nvPr>
        </p:nvSpPr>
        <p:spPr/>
        <p:txBody>
          <a:bodyPr/>
          <a:lstStyle/>
          <a:p>
            <a:endParaRPr lang="it-IT"/>
          </a:p>
        </p:txBody>
      </p:sp>
      <p:sp>
        <p:nvSpPr>
          <p:cNvPr id="3" name="Segnaposto contenuto 2">
            <a:extLst>
              <a:ext uri="{FF2B5EF4-FFF2-40B4-BE49-F238E27FC236}">
                <a16:creationId xmlns:a16="http://schemas.microsoft.com/office/drawing/2014/main" id="{93818999-D90A-4C71-D34A-0D7C70482C53}"/>
              </a:ext>
            </a:extLst>
          </p:cNvPr>
          <p:cNvSpPr>
            <a:spLocks noGrp="1"/>
          </p:cNvSpPr>
          <p:nvPr>
            <p:ph idx="1"/>
          </p:nvPr>
        </p:nvSpPr>
        <p:spPr/>
        <p:txBody>
          <a:bodyPr/>
          <a:lstStyle/>
          <a:p>
            <a:endParaRPr lang="it-IT"/>
          </a:p>
        </p:txBody>
      </p:sp>
      <p:pic>
        <p:nvPicPr>
          <p:cNvPr id="4" name="Immagine 3">
            <a:extLst>
              <a:ext uri="{FF2B5EF4-FFF2-40B4-BE49-F238E27FC236}">
                <a16:creationId xmlns:a16="http://schemas.microsoft.com/office/drawing/2014/main" id="{28B44398-2B38-D532-139A-2228FD1ABBA9}"/>
              </a:ext>
            </a:extLst>
          </p:cNvPr>
          <p:cNvPicPr>
            <a:picLocks noChangeAspect="1"/>
          </p:cNvPicPr>
          <p:nvPr/>
        </p:nvPicPr>
        <p:blipFill>
          <a:blip r:embed="rId2"/>
          <a:stretch>
            <a:fillRect/>
          </a:stretch>
        </p:blipFill>
        <p:spPr>
          <a:xfrm>
            <a:off x="1036320" y="1825625"/>
            <a:ext cx="6080760" cy="4230807"/>
          </a:xfrm>
          <a:prstGeom prst="rect">
            <a:avLst/>
          </a:prstGeom>
        </p:spPr>
      </p:pic>
    </p:spTree>
    <p:extLst>
      <p:ext uri="{BB962C8B-B14F-4D97-AF65-F5344CB8AC3E}">
        <p14:creationId xmlns:p14="http://schemas.microsoft.com/office/powerpoint/2010/main" val="41750365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01E7525-701A-8156-058F-ED7E51E1EB86}"/>
              </a:ext>
            </a:extLst>
          </p:cNvPr>
          <p:cNvSpPr>
            <a:spLocks noGrp="1"/>
          </p:cNvSpPr>
          <p:nvPr>
            <p:ph type="title"/>
          </p:nvPr>
        </p:nvSpPr>
        <p:spPr/>
        <p:txBody>
          <a:bodyPr/>
          <a:lstStyle/>
          <a:p>
            <a:endParaRPr lang="it-IT"/>
          </a:p>
        </p:txBody>
      </p:sp>
      <p:sp>
        <p:nvSpPr>
          <p:cNvPr id="3" name="Segnaposto contenuto 2">
            <a:extLst>
              <a:ext uri="{FF2B5EF4-FFF2-40B4-BE49-F238E27FC236}">
                <a16:creationId xmlns:a16="http://schemas.microsoft.com/office/drawing/2014/main" id="{900D63D8-69FF-EBF5-5D78-5929FEE73F67}"/>
              </a:ext>
            </a:extLst>
          </p:cNvPr>
          <p:cNvSpPr>
            <a:spLocks noGrp="1"/>
          </p:cNvSpPr>
          <p:nvPr>
            <p:ph idx="1"/>
          </p:nvPr>
        </p:nvSpPr>
        <p:spPr/>
        <p:txBody>
          <a:bodyPr/>
          <a:lstStyle/>
          <a:p>
            <a:endParaRPr lang="it-IT" dirty="0"/>
          </a:p>
        </p:txBody>
      </p:sp>
      <p:pic>
        <p:nvPicPr>
          <p:cNvPr id="4" name="Immagine 3">
            <a:extLst>
              <a:ext uri="{FF2B5EF4-FFF2-40B4-BE49-F238E27FC236}">
                <a16:creationId xmlns:a16="http://schemas.microsoft.com/office/drawing/2014/main" id="{97A323EE-20CC-2414-43CE-D3AE365D4420}"/>
              </a:ext>
            </a:extLst>
          </p:cNvPr>
          <p:cNvPicPr>
            <a:picLocks noChangeAspect="1"/>
          </p:cNvPicPr>
          <p:nvPr/>
        </p:nvPicPr>
        <p:blipFill>
          <a:blip r:embed="rId2"/>
          <a:stretch>
            <a:fillRect/>
          </a:stretch>
        </p:blipFill>
        <p:spPr>
          <a:xfrm>
            <a:off x="838200" y="1690688"/>
            <a:ext cx="6842760" cy="4779070"/>
          </a:xfrm>
          <a:prstGeom prst="rect">
            <a:avLst/>
          </a:prstGeom>
        </p:spPr>
      </p:pic>
    </p:spTree>
    <p:extLst>
      <p:ext uri="{BB962C8B-B14F-4D97-AF65-F5344CB8AC3E}">
        <p14:creationId xmlns:p14="http://schemas.microsoft.com/office/powerpoint/2010/main" val="20239125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4">
            <a:extLst>
              <a:ext uri="{FF2B5EF4-FFF2-40B4-BE49-F238E27FC236}">
                <a16:creationId xmlns:a16="http://schemas.microsoft.com/office/drawing/2014/main" id="{1086B54B-6F2E-A643-AB8D-556032EBAC25}"/>
              </a:ext>
            </a:extLst>
          </p:cNvPr>
          <p:cNvSpPr>
            <a:spLocks noGrp="1"/>
          </p:cNvSpPr>
          <p:nvPr>
            <p:ph type="title"/>
          </p:nvPr>
        </p:nvSpPr>
        <p:spPr/>
        <p:txBody>
          <a:bodyPr/>
          <a:lstStyle/>
          <a:p>
            <a:r>
              <a:rPr lang="en-US" dirty="0"/>
              <a:t>Nonlinearly Separable Data</a:t>
            </a:r>
          </a:p>
        </p:txBody>
      </p:sp>
      <p:sp>
        <p:nvSpPr>
          <p:cNvPr id="6" name="Segnaposto contenuto 5">
            <a:extLst>
              <a:ext uri="{FF2B5EF4-FFF2-40B4-BE49-F238E27FC236}">
                <a16:creationId xmlns:a16="http://schemas.microsoft.com/office/drawing/2014/main" id="{FA7C6240-514B-7343-B780-31BFB0CFDE35}"/>
              </a:ext>
            </a:extLst>
          </p:cNvPr>
          <p:cNvSpPr>
            <a:spLocks noGrp="1"/>
          </p:cNvSpPr>
          <p:nvPr>
            <p:ph idx="1"/>
          </p:nvPr>
        </p:nvSpPr>
        <p:spPr>
          <a:xfrm>
            <a:off x="838200" y="1825624"/>
            <a:ext cx="5257800" cy="4556515"/>
          </a:xfrm>
        </p:spPr>
        <p:txBody>
          <a:bodyPr>
            <a:normAutofit/>
          </a:bodyPr>
          <a:lstStyle/>
          <a:p>
            <a:r>
              <a:rPr lang="en-US" altLang="en-US" dirty="0"/>
              <a:t>Since </a:t>
            </a:r>
            <a:r>
              <a:rPr lang="en-US" altLang="en-US" i="1" dirty="0"/>
              <a:t>f(</a:t>
            </a:r>
            <a:r>
              <a:rPr lang="en-US" altLang="en-US" i="1" dirty="0" err="1"/>
              <a:t>w,x</a:t>
            </a:r>
            <a:r>
              <a:rPr lang="en-US" altLang="en-US" i="1" dirty="0"/>
              <a:t>)</a:t>
            </a:r>
            <a:r>
              <a:rPr lang="en-US" altLang="en-US" dirty="0"/>
              <a:t> is a linear combination of input variables, decision boundary is linear.</a:t>
            </a:r>
          </a:p>
          <a:p>
            <a:r>
              <a:rPr lang="en-US" altLang="en-US" dirty="0"/>
              <a:t>For nonlinearly separable problems, the perceptron fails because no linear hyperplane can separate the data perfectly.</a:t>
            </a:r>
          </a:p>
          <a:p>
            <a:r>
              <a:rPr lang="en-US" altLang="en-US" dirty="0"/>
              <a:t>An example of nonlinearly separable data is the XOR function.</a:t>
            </a:r>
          </a:p>
          <a:p>
            <a:endParaRPr lang="en-US" dirty="0"/>
          </a:p>
        </p:txBody>
      </p:sp>
      <p:graphicFrame>
        <p:nvGraphicFramePr>
          <p:cNvPr id="7" name="Object 2">
            <a:extLst>
              <a:ext uri="{FF2B5EF4-FFF2-40B4-BE49-F238E27FC236}">
                <a16:creationId xmlns:a16="http://schemas.microsoft.com/office/drawing/2014/main" id="{7C0049F5-3506-9F4D-B2E5-0B6FA0B8A939}"/>
              </a:ext>
            </a:extLst>
          </p:cNvPr>
          <p:cNvGraphicFramePr>
            <a:graphicFrameLocks noChangeAspect="1"/>
          </p:cNvGraphicFramePr>
          <p:nvPr/>
        </p:nvGraphicFramePr>
        <p:xfrm>
          <a:off x="6096000" y="2565918"/>
          <a:ext cx="5845880" cy="2972124"/>
        </p:xfrm>
        <a:graphic>
          <a:graphicData uri="http://schemas.openxmlformats.org/presentationml/2006/ole">
            <mc:AlternateContent xmlns:mc="http://schemas.openxmlformats.org/markup-compatibility/2006">
              <mc:Choice xmlns:v="urn:schemas-microsoft-com:vml" Requires="v">
                <p:oleObj name="VISIO" r:id="rId2" imgW="9586620" imgH="4684064" progId="Visio.Drawing.6">
                  <p:embed/>
                </p:oleObj>
              </mc:Choice>
              <mc:Fallback>
                <p:oleObj name="VISIO" r:id="rId2" imgW="9586620" imgH="4684064" progId="Visio.Drawing.6">
                  <p:embed/>
                  <p:pic>
                    <p:nvPicPr>
                      <p:cNvPr id="7" name="Object 2">
                        <a:extLst>
                          <a:ext uri="{FF2B5EF4-FFF2-40B4-BE49-F238E27FC236}">
                            <a16:creationId xmlns:a16="http://schemas.microsoft.com/office/drawing/2014/main" id="{7C0049F5-3506-9F4D-B2E5-0B6FA0B8A9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922"/>
                      <a:stretch>
                        <a:fillRect/>
                      </a:stretch>
                    </p:blipFill>
                    <p:spPr bwMode="auto">
                      <a:xfrm>
                        <a:off x="6096000" y="2565918"/>
                        <a:ext cx="5845880" cy="2972124"/>
                      </a:xfrm>
                      <a:prstGeom prst="rect">
                        <a:avLst/>
                      </a:prstGeom>
                      <a:noFill/>
                      <a:ln>
                        <a:noFill/>
                      </a:ln>
                    </p:spPr>
                  </p:pic>
                </p:oleObj>
              </mc:Fallback>
            </mc:AlternateContent>
          </a:graphicData>
        </a:graphic>
      </p:graphicFrame>
      <p:graphicFrame>
        <p:nvGraphicFramePr>
          <p:cNvPr id="8" name="Object 3">
            <a:extLst>
              <a:ext uri="{FF2B5EF4-FFF2-40B4-BE49-F238E27FC236}">
                <a16:creationId xmlns:a16="http://schemas.microsoft.com/office/drawing/2014/main" id="{BA3D9E1C-928E-CD41-9F88-701CA85F8731}"/>
              </a:ext>
            </a:extLst>
          </p:cNvPr>
          <p:cNvGraphicFramePr>
            <a:graphicFrameLocks noChangeAspect="1"/>
          </p:cNvGraphicFramePr>
          <p:nvPr/>
        </p:nvGraphicFramePr>
        <p:xfrm>
          <a:off x="9018940" y="2015412"/>
          <a:ext cx="2092325" cy="635000"/>
        </p:xfrm>
        <a:graphic>
          <a:graphicData uri="http://schemas.openxmlformats.org/presentationml/2006/ole">
            <mc:AlternateContent xmlns:mc="http://schemas.openxmlformats.org/markup-compatibility/2006">
              <mc:Choice xmlns:v="urn:schemas-microsoft-com:vml" Requires="v">
                <p:oleObj name="Equation" r:id="rId4" imgW="710891" imgH="215806" progId="Equation.3">
                  <p:embed/>
                </p:oleObj>
              </mc:Choice>
              <mc:Fallback>
                <p:oleObj name="Equation" r:id="rId4" imgW="710891" imgH="215806" progId="Equation.3">
                  <p:embed/>
                  <p:pic>
                    <p:nvPicPr>
                      <p:cNvPr id="8" name="Object 3">
                        <a:extLst>
                          <a:ext uri="{FF2B5EF4-FFF2-40B4-BE49-F238E27FC236}">
                            <a16:creationId xmlns:a16="http://schemas.microsoft.com/office/drawing/2014/main" id="{BA3D9E1C-928E-CD41-9F88-701CA85F87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18940" y="2015412"/>
                        <a:ext cx="2092325" cy="63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Text Box 5">
            <a:extLst>
              <a:ext uri="{FF2B5EF4-FFF2-40B4-BE49-F238E27FC236}">
                <a16:creationId xmlns:a16="http://schemas.microsoft.com/office/drawing/2014/main" id="{D024A179-C14F-D44E-9BA2-32783AF3264E}"/>
              </a:ext>
            </a:extLst>
          </p:cNvPr>
          <p:cNvSpPr txBox="1">
            <a:spLocks noChangeArrowheads="1"/>
          </p:cNvSpPr>
          <p:nvPr/>
        </p:nvSpPr>
        <p:spPr bwMode="auto">
          <a:xfrm>
            <a:off x="6188004" y="2862959"/>
            <a:ext cx="134827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8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4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2000" dirty="0"/>
              <a:t>XOR Data</a:t>
            </a:r>
          </a:p>
        </p:txBody>
      </p:sp>
    </p:spTree>
    <p:extLst>
      <p:ext uri="{BB962C8B-B14F-4D97-AF65-F5344CB8AC3E}">
        <p14:creationId xmlns:p14="http://schemas.microsoft.com/office/powerpoint/2010/main" val="19066496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altLang="en-US" dirty="0" err="1"/>
              <a:t>Recap:Artificial</a:t>
            </a:r>
            <a:r>
              <a:rPr lang="en-US" altLang="en-US" dirty="0"/>
              <a:t> Neural Networks (ANN)</a:t>
            </a:r>
          </a:p>
        </p:txBody>
      </p:sp>
      <p:graphicFrame>
        <p:nvGraphicFramePr>
          <p:cNvPr id="3075" name="Object 2"/>
          <p:cNvGraphicFramePr>
            <a:graphicFrameLocks noGrp="1" noChangeAspect="1"/>
          </p:cNvGraphicFramePr>
          <p:nvPr>
            <p:ph idx="1"/>
          </p:nvPr>
        </p:nvGraphicFramePr>
        <p:xfrm>
          <a:off x="2057400" y="1219201"/>
          <a:ext cx="8078788" cy="3503613"/>
        </p:xfrm>
        <a:graphic>
          <a:graphicData uri="http://schemas.openxmlformats.org/presentationml/2006/ole">
            <mc:AlternateContent xmlns:mc="http://schemas.openxmlformats.org/markup-compatibility/2006">
              <mc:Choice xmlns:v="urn:schemas-microsoft-com:vml" Requires="v">
                <p:oleObj name="Visio" r:id="rId2" imgW="8939428" imgH="3877354" progId="Visio.Drawing.6">
                  <p:embed/>
                </p:oleObj>
              </mc:Choice>
              <mc:Fallback>
                <p:oleObj name="Visio" r:id="rId2" imgW="8939428" imgH="3877354" progId="Visio.Drawing.6">
                  <p:embed/>
                  <p:pic>
                    <p:nvPicPr>
                      <p:cNvPr id="3075"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219201"/>
                        <a:ext cx="8078788" cy="3503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6" name="Text Box 4"/>
          <p:cNvSpPr txBox="1">
            <a:spLocks noChangeArrowheads="1"/>
          </p:cNvSpPr>
          <p:nvPr/>
        </p:nvSpPr>
        <p:spPr bwMode="auto">
          <a:xfrm>
            <a:off x="2667000" y="5334001"/>
            <a:ext cx="6705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8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4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800"/>
              <a:t>Output Y is 1 if at least two of the three inputs are equal to 1.</a:t>
            </a:r>
          </a:p>
        </p:txBody>
      </p:sp>
    </p:spTree>
    <p:extLst>
      <p:ext uri="{BB962C8B-B14F-4D97-AF65-F5344CB8AC3E}">
        <p14:creationId xmlns:p14="http://schemas.microsoft.com/office/powerpoint/2010/main" val="27497479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altLang="en-US" dirty="0"/>
              <a:t>Artificial Neural Networks (ANN)</a:t>
            </a:r>
          </a:p>
        </p:txBody>
      </p:sp>
      <p:graphicFrame>
        <p:nvGraphicFramePr>
          <p:cNvPr id="4099" name="Object 2"/>
          <p:cNvGraphicFramePr>
            <a:graphicFrameLocks noGrp="1" noChangeAspect="1"/>
          </p:cNvGraphicFramePr>
          <p:nvPr>
            <p:ph idx="1"/>
          </p:nvPr>
        </p:nvGraphicFramePr>
        <p:xfrm>
          <a:off x="2054225" y="1144588"/>
          <a:ext cx="8078788" cy="3503612"/>
        </p:xfrm>
        <a:graphic>
          <a:graphicData uri="http://schemas.openxmlformats.org/presentationml/2006/ole">
            <mc:AlternateContent xmlns:mc="http://schemas.openxmlformats.org/markup-compatibility/2006">
              <mc:Choice xmlns:v="urn:schemas-microsoft-com:vml" Requires="v">
                <p:oleObj name="Visio" r:id="rId3" imgW="8939428" imgH="3877354" progId="Visio.Drawing.6">
                  <p:embed/>
                </p:oleObj>
              </mc:Choice>
              <mc:Fallback>
                <p:oleObj name="Visio" r:id="rId3" imgW="8939428" imgH="3877354" progId="Visio.Drawing.6">
                  <p:embed/>
                  <p:pic>
                    <p:nvPicPr>
                      <p:cNvPr id="4099"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4225" y="1144588"/>
                        <a:ext cx="8078788" cy="3503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00" name="Object 3"/>
          <p:cNvGraphicFramePr>
            <a:graphicFrameLocks noChangeAspect="1"/>
          </p:cNvGraphicFramePr>
          <p:nvPr/>
        </p:nvGraphicFramePr>
        <p:xfrm>
          <a:off x="3455988" y="4953001"/>
          <a:ext cx="5346700" cy="1412875"/>
        </p:xfrm>
        <a:graphic>
          <a:graphicData uri="http://schemas.openxmlformats.org/presentationml/2006/ole">
            <mc:AlternateContent xmlns:mc="http://schemas.openxmlformats.org/markup-compatibility/2006">
              <mc:Choice xmlns:v="urn:schemas-microsoft-com:vml" Requires="v">
                <p:oleObj name="Equation" r:id="rId5" imgW="2362200" imgH="711200" progId="Equation.3">
                  <p:embed/>
                </p:oleObj>
              </mc:Choice>
              <mc:Fallback>
                <p:oleObj name="Equation" r:id="rId5" imgW="2362200" imgH="711200" progId="Equation.3">
                  <p:embed/>
                  <p:pic>
                    <p:nvPicPr>
                      <p:cNvPr id="410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55988" y="4953001"/>
                        <a:ext cx="5346700" cy="1412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9518216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rmAutofit/>
          </a:bodyPr>
          <a:lstStyle/>
          <a:p>
            <a:r>
              <a:rPr lang="en-US" altLang="en-US" dirty="0"/>
              <a:t>Artificial Neural Networks (ANN)</a:t>
            </a:r>
          </a:p>
        </p:txBody>
      </p:sp>
      <p:graphicFrame>
        <p:nvGraphicFramePr>
          <p:cNvPr id="5124" name="Object 2"/>
          <p:cNvGraphicFramePr>
            <a:graphicFrameLocks noGrp="1" noChangeAspect="1"/>
          </p:cNvGraphicFramePr>
          <p:nvPr>
            <p:ph idx="1"/>
          </p:nvPr>
        </p:nvGraphicFramePr>
        <p:xfrm>
          <a:off x="6742112" y="1751013"/>
          <a:ext cx="4799013" cy="3043238"/>
        </p:xfrm>
        <a:graphic>
          <a:graphicData uri="http://schemas.openxmlformats.org/presentationml/2006/ole">
            <mc:AlternateContent xmlns:mc="http://schemas.openxmlformats.org/markup-compatibility/2006">
              <mc:Choice xmlns:v="urn:schemas-microsoft-com:vml" Requires="v">
                <p:oleObj name="Visio" r:id="rId2" imgW="6766001" imgH="4291319" progId="Visio.Drawing.6">
                  <p:embed/>
                </p:oleObj>
              </mc:Choice>
              <mc:Fallback>
                <p:oleObj name="Visio" r:id="rId2" imgW="6766001" imgH="4291319" progId="Visio.Drawing.6">
                  <p:embed/>
                  <p:pic>
                    <p:nvPicPr>
                      <p:cNvPr id="512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2112" y="1751013"/>
                        <a:ext cx="4799013" cy="304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3" name="Rectangle 3"/>
          <p:cNvSpPr>
            <a:spLocks noGrp="1" noChangeArrowheads="1"/>
          </p:cNvSpPr>
          <p:nvPr>
            <p:ph type="body" sz="half" idx="4294967295"/>
          </p:nvPr>
        </p:nvSpPr>
        <p:spPr>
          <a:xfrm>
            <a:off x="285939" y="1875096"/>
            <a:ext cx="7626790" cy="4487133"/>
          </a:xfrm>
        </p:spPr>
        <p:txBody>
          <a:bodyPr>
            <a:normAutofit fontScale="92500" lnSpcReduction="20000"/>
          </a:bodyPr>
          <a:lstStyle/>
          <a:p>
            <a:r>
              <a:rPr lang="it-IT" sz="3000" dirty="0"/>
              <a:t>The model </a:t>
            </a:r>
            <a:r>
              <a:rPr lang="it-IT" sz="3000" dirty="0" err="1"/>
              <a:t>is</a:t>
            </a:r>
            <a:r>
              <a:rPr lang="it-IT" sz="3000" dirty="0"/>
              <a:t> a set of </a:t>
            </a:r>
            <a:r>
              <a:rPr lang="it-IT" sz="3000" dirty="0" err="1"/>
              <a:t>interconnected</a:t>
            </a:r>
            <a:r>
              <a:rPr lang="it-IT" sz="3000" dirty="0"/>
              <a:t> </a:t>
            </a:r>
            <a:r>
              <a:rPr lang="it-IT" sz="3000" dirty="0" err="1"/>
              <a:t>nodes</a:t>
            </a:r>
            <a:r>
              <a:rPr lang="it-IT" sz="3000" dirty="0"/>
              <a:t> and </a:t>
            </a:r>
            <a:r>
              <a:rPr lang="it-IT" sz="3000" dirty="0" err="1"/>
              <a:t>weighted</a:t>
            </a:r>
            <a:r>
              <a:rPr lang="it-IT" sz="3000" dirty="0"/>
              <a:t> links.</a:t>
            </a:r>
            <a:br>
              <a:rPr lang="it-IT" sz="3000" dirty="0"/>
            </a:br>
            <a:endParaRPr lang="it-IT" sz="3000" dirty="0"/>
          </a:p>
          <a:p>
            <a:r>
              <a:rPr lang="it-IT" sz="3000" dirty="0"/>
              <a:t>The output </a:t>
            </a:r>
            <a:r>
              <a:rPr lang="it-IT" sz="3000" dirty="0" err="1"/>
              <a:t>node</a:t>
            </a:r>
            <a:r>
              <a:rPr lang="it-IT" sz="3000" dirty="0"/>
              <a:t> sums </a:t>
            </a:r>
            <a:r>
              <a:rPr lang="it-IT" sz="3000" dirty="0" err="1"/>
              <a:t>each</a:t>
            </a:r>
            <a:r>
              <a:rPr lang="it-IT" sz="3000" dirty="0"/>
              <a:t> input </a:t>
            </a:r>
            <a:r>
              <a:rPr lang="it-IT" sz="3000" dirty="0" err="1"/>
              <a:t>value</a:t>
            </a:r>
            <a:r>
              <a:rPr lang="it-IT" sz="3000" dirty="0"/>
              <a:t> by the weights of </a:t>
            </a:r>
            <a:r>
              <a:rPr lang="it-IT" sz="3000" dirty="0" err="1"/>
              <a:t>its</a:t>
            </a:r>
            <a:r>
              <a:rPr lang="it-IT" sz="3000" dirty="0"/>
              <a:t> links.</a:t>
            </a:r>
            <a:br>
              <a:rPr lang="it-IT" sz="3000" dirty="0"/>
            </a:br>
            <a:endParaRPr lang="it-IT" sz="3000" dirty="0"/>
          </a:p>
          <a:p>
            <a:r>
              <a:rPr lang="it-IT" sz="3300" dirty="0" err="1"/>
              <a:t>Calculate</a:t>
            </a:r>
            <a:r>
              <a:rPr lang="it-IT" sz="3300" dirty="0"/>
              <a:t> the </a:t>
            </a:r>
            <a:r>
              <a:rPr lang="it-IT" sz="3300" dirty="0" err="1"/>
              <a:t>value</a:t>
            </a:r>
            <a:r>
              <a:rPr lang="it-IT" sz="3300" dirty="0"/>
              <a:t> of the output </a:t>
            </a:r>
            <a:r>
              <a:rPr lang="it-IT" sz="3300" dirty="0" err="1"/>
              <a:t>node</a:t>
            </a:r>
            <a:r>
              <a:rPr lang="it-IT" sz="3300" dirty="0"/>
              <a:t> by </a:t>
            </a:r>
          </a:p>
          <a:p>
            <a:pPr lvl="1"/>
            <a:r>
              <a:rPr lang="it-IT" sz="2800" dirty="0"/>
              <a:t>a) </a:t>
            </a:r>
            <a:r>
              <a:rPr lang="it-IT" sz="2800" dirty="0" err="1"/>
              <a:t>comparing</a:t>
            </a:r>
            <a:r>
              <a:rPr lang="it-IT" sz="2800" dirty="0"/>
              <a:t> </a:t>
            </a:r>
            <a:r>
              <a:rPr lang="it-IT" sz="2800" dirty="0" err="1"/>
              <a:t>it</a:t>
            </a:r>
            <a:r>
              <a:rPr lang="it-IT" sz="2800" dirty="0"/>
              <a:t> with a </a:t>
            </a:r>
            <a:r>
              <a:rPr lang="it-IT" sz="2800" dirty="0" err="1"/>
              <a:t>threshold</a:t>
            </a:r>
            <a:r>
              <a:rPr lang="it-IT" sz="2800" dirty="0"/>
              <a:t> t (</a:t>
            </a:r>
            <a:r>
              <a:rPr lang="it-IT" sz="2800" dirty="0" err="1"/>
              <a:t>also</a:t>
            </a:r>
            <a:r>
              <a:rPr lang="it-IT" sz="2800" dirty="0"/>
              <a:t> </a:t>
            </a:r>
            <a:r>
              <a:rPr lang="it-IT" sz="2800" dirty="0" err="1"/>
              <a:t>called</a:t>
            </a:r>
            <a:r>
              <a:rPr lang="it-IT" sz="2800" dirty="0"/>
              <a:t> </a:t>
            </a:r>
            <a:r>
              <a:rPr lang="it-IT" sz="2800" dirty="0" err="1"/>
              <a:t>bias</a:t>
            </a:r>
            <a:r>
              <a:rPr lang="it-IT" sz="2800" dirty="0"/>
              <a:t>)</a:t>
            </a:r>
          </a:p>
          <a:p>
            <a:pPr lvl="1"/>
            <a:r>
              <a:rPr lang="it-IT" sz="2800" dirty="0"/>
              <a:t> b)MINIMISE THE ERROR</a:t>
            </a:r>
            <a:br>
              <a:rPr lang="it-IT" sz="2200" dirty="0"/>
            </a:br>
            <a:endParaRPr lang="it-IT" sz="2200" dirty="0"/>
          </a:p>
          <a:p>
            <a:r>
              <a:rPr lang="it-IT" sz="3600" b="1" dirty="0" err="1"/>
              <a:t>All</a:t>
            </a:r>
            <a:r>
              <a:rPr lang="it-IT" sz="6200" b="1" dirty="0"/>
              <a:t> </a:t>
            </a:r>
            <a:r>
              <a:rPr lang="it-IT" sz="3600" b="1" dirty="0"/>
              <a:t>in </a:t>
            </a:r>
            <a:r>
              <a:rPr lang="it-IT" sz="3600" b="1" dirty="0" err="1"/>
              <a:t>many</a:t>
            </a:r>
            <a:r>
              <a:rPr lang="it-IT" sz="3600" dirty="0"/>
              <a:t> </a:t>
            </a:r>
            <a:r>
              <a:rPr lang="it-IT" sz="3600" b="1" dirty="0"/>
              <a:t>'backward' and '</a:t>
            </a:r>
            <a:r>
              <a:rPr lang="it-IT" sz="3600" b="1" dirty="0" err="1"/>
              <a:t>forward</a:t>
            </a:r>
            <a:r>
              <a:rPr lang="it-IT" sz="3600" b="1" dirty="0"/>
              <a:t>' steps</a:t>
            </a:r>
            <a:endParaRPr lang="it-IT" sz="1600" dirty="0"/>
          </a:p>
        </p:txBody>
      </p:sp>
      <p:graphicFrame>
        <p:nvGraphicFramePr>
          <p:cNvPr id="7" name="Object 3">
            <a:extLst>
              <a:ext uri="{FF2B5EF4-FFF2-40B4-BE49-F238E27FC236}">
                <a16:creationId xmlns:a16="http://schemas.microsoft.com/office/drawing/2014/main" id="{363A4597-780A-944F-9E27-21C2FFC2A2D9}"/>
              </a:ext>
            </a:extLst>
          </p:cNvPr>
          <p:cNvGraphicFramePr>
            <a:graphicFrameLocks noChangeAspect="1"/>
          </p:cNvGraphicFramePr>
          <p:nvPr/>
        </p:nvGraphicFramePr>
        <p:xfrm>
          <a:off x="7780175" y="4559300"/>
          <a:ext cx="2901950" cy="1933575"/>
        </p:xfrm>
        <a:graphic>
          <a:graphicData uri="http://schemas.openxmlformats.org/presentationml/2006/ole">
            <mc:AlternateContent xmlns:mc="http://schemas.openxmlformats.org/markup-compatibility/2006">
              <mc:Choice xmlns:v="urn:schemas-microsoft-com:vml" Requires="v">
                <p:oleObj name="Equation" r:id="rId4" imgW="1333500" imgH="889000" progId="Equation.3">
                  <p:embed/>
                </p:oleObj>
              </mc:Choice>
              <mc:Fallback>
                <p:oleObj name="Equation" r:id="rId4" imgW="1333500" imgH="889000" progId="Equation.3">
                  <p:embed/>
                  <p:pic>
                    <p:nvPicPr>
                      <p:cNvPr id="7" name="Object 3">
                        <a:extLst>
                          <a:ext uri="{FF2B5EF4-FFF2-40B4-BE49-F238E27FC236}">
                            <a16:creationId xmlns:a16="http://schemas.microsoft.com/office/drawing/2014/main" id="{363A4597-780A-944F-9E27-21C2FFC2A2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80175" y="4559300"/>
                        <a:ext cx="2901950" cy="1933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2996835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2">
            <a:extLst>
              <a:ext uri="{FF2B5EF4-FFF2-40B4-BE49-F238E27FC236}">
                <a16:creationId xmlns:a16="http://schemas.microsoft.com/office/drawing/2014/main" id="{E19CA8BD-0B29-4B55-ABD5-21B16E34953F}"/>
              </a:ext>
            </a:extLst>
          </p:cNvPr>
          <p:cNvSpPr>
            <a:spLocks noGrp="1"/>
          </p:cNvSpPr>
          <p:nvPr>
            <p:ph type="title"/>
          </p:nvPr>
        </p:nvSpPr>
        <p:spPr/>
        <p:txBody>
          <a:bodyPr/>
          <a:lstStyle/>
          <a:p>
            <a:r>
              <a:rPr lang="en-US" noProof="0" dirty="0"/>
              <a:t>Characterizing the Artificial Neuron</a:t>
            </a:r>
          </a:p>
        </p:txBody>
      </p:sp>
      <p:sp>
        <p:nvSpPr>
          <p:cNvPr id="97283" name="Rectangle 3">
            <a:extLst>
              <a:ext uri="{FF2B5EF4-FFF2-40B4-BE49-F238E27FC236}">
                <a16:creationId xmlns:a16="http://schemas.microsoft.com/office/drawing/2014/main" id="{7D8E132B-6F6A-489D-9EDA-2F4E408C7A2E}"/>
              </a:ext>
            </a:extLst>
          </p:cNvPr>
          <p:cNvSpPr>
            <a:spLocks noGrp="1" noChangeArrowheads="1"/>
          </p:cNvSpPr>
          <p:nvPr>
            <p:ph idx="1"/>
          </p:nvPr>
        </p:nvSpPr>
        <p:spPr>
          <a:xfrm>
            <a:off x="838199" y="1825625"/>
            <a:ext cx="10686861" cy="4351338"/>
          </a:xfrm>
        </p:spPr>
        <p:txBody>
          <a:bodyPr>
            <a:normAutofit fontScale="92500" lnSpcReduction="10000"/>
          </a:bodyPr>
          <a:lstStyle/>
          <a:p>
            <a:r>
              <a:rPr lang="en-US" altLang="en-US" noProof="0" dirty="0" err="1"/>
              <a:t>Input/Output</a:t>
            </a:r>
            <a:r>
              <a:rPr lang="en-US" altLang="en-US" noProof="0" dirty="0"/>
              <a:t> signal may be.</a:t>
            </a:r>
          </a:p>
          <a:p>
            <a:pPr lvl="1"/>
            <a:r>
              <a:rPr lang="en-US" altLang="en-US" noProof="0" dirty="0"/>
              <a:t>Real value.</a:t>
            </a:r>
          </a:p>
          <a:p>
            <a:pPr lvl="1"/>
            <a:r>
              <a:rPr lang="en-US" altLang="en-US" noProof="0" dirty="0"/>
              <a:t>Unipolar {0, 1}.</a:t>
            </a:r>
          </a:p>
          <a:p>
            <a:pPr lvl="1"/>
            <a:r>
              <a:rPr lang="en-US" altLang="en-US" noProof="0" dirty="0"/>
              <a:t>Bipolar {-1, +1}.</a:t>
            </a:r>
          </a:p>
          <a:p>
            <a:r>
              <a:rPr lang="en-US" altLang="en-US" b="1" noProof="0" dirty="0"/>
              <a:t>Weight</a:t>
            </a:r>
            <a:r>
              <a:rPr lang="en-US" altLang="en-US" noProof="0" dirty="0"/>
              <a:t> (w or sigma): </a:t>
            </a:r>
            <a:r>
              <a:rPr lang="en-US" altLang="en-US" i="1" noProof="0" dirty="0" err="1"/>
              <a:t>θ</a:t>
            </a:r>
            <a:r>
              <a:rPr lang="en-US" altLang="en-US" i="1" baseline="-25000" noProof="0" dirty="0" err="1"/>
              <a:t>ij</a:t>
            </a:r>
            <a:r>
              <a:rPr lang="en-US" altLang="en-US" i="1" noProof="0" dirty="0"/>
              <a:t> – </a:t>
            </a:r>
            <a:r>
              <a:rPr lang="en-US" altLang="en-US" noProof="0" dirty="0"/>
              <a:t>strength of connection from unit </a:t>
            </a:r>
            <a:r>
              <a:rPr lang="en-US" altLang="en-US" i="1" noProof="0" dirty="0"/>
              <a:t>j</a:t>
            </a:r>
            <a:r>
              <a:rPr lang="en-US" altLang="en-US" noProof="0" dirty="0"/>
              <a:t> to unit </a:t>
            </a:r>
            <a:r>
              <a:rPr lang="en-US" altLang="en-US" i="1" noProof="0" dirty="0" err="1"/>
              <a:t>i</a:t>
            </a:r>
            <a:r>
              <a:rPr lang="en-US" altLang="en-US" noProof="0" dirty="0"/>
              <a:t> </a:t>
            </a:r>
          </a:p>
          <a:p>
            <a:r>
              <a:rPr lang="en-US" altLang="en-US" sz="3500" noProof="0" dirty="0">
                <a:solidFill>
                  <a:srgbClr val="FF0000"/>
                </a:solidFill>
              </a:rPr>
              <a:t>Learning amounts to </a:t>
            </a:r>
            <a:r>
              <a:rPr lang="en-US" altLang="en-US" sz="3500" b="1" noProof="0" dirty="0">
                <a:solidFill>
                  <a:srgbClr val="FF0000"/>
                </a:solidFill>
              </a:rPr>
              <a:t>adjusting the weights</a:t>
            </a:r>
            <a:r>
              <a:rPr lang="en-US" altLang="en-US" sz="3500" noProof="0" dirty="0">
                <a:solidFill>
                  <a:srgbClr val="FF0000"/>
                </a:solidFill>
              </a:rPr>
              <a:t> </a:t>
            </a:r>
            <a:r>
              <a:rPr lang="en-US" altLang="en-US" sz="3500" i="1" noProof="0" dirty="0" err="1">
                <a:solidFill>
                  <a:srgbClr val="FF0000"/>
                </a:solidFill>
              </a:rPr>
              <a:t>θ</a:t>
            </a:r>
            <a:r>
              <a:rPr lang="en-US" altLang="en-US" sz="3500" i="1" baseline="-25000" noProof="0" dirty="0" err="1">
                <a:solidFill>
                  <a:srgbClr val="FF0000"/>
                </a:solidFill>
              </a:rPr>
              <a:t>ij</a:t>
            </a:r>
            <a:r>
              <a:rPr lang="en-US" altLang="en-US" sz="3500" i="1" noProof="0" dirty="0">
                <a:solidFill>
                  <a:srgbClr val="FF0000"/>
                </a:solidFill>
              </a:rPr>
              <a:t> </a:t>
            </a:r>
            <a:r>
              <a:rPr lang="en-US" altLang="en-US" sz="3500" noProof="0" dirty="0">
                <a:solidFill>
                  <a:srgbClr val="FF0000"/>
                </a:solidFill>
              </a:rPr>
              <a:t>by means of an </a:t>
            </a:r>
            <a:r>
              <a:rPr lang="en-US" altLang="en-US" sz="3500" b="1" noProof="0" dirty="0">
                <a:solidFill>
                  <a:srgbClr val="FF0000"/>
                </a:solidFill>
              </a:rPr>
              <a:t>optimization algorithm </a:t>
            </a:r>
            <a:r>
              <a:rPr lang="en-US" altLang="en-US" sz="3500" noProof="0" dirty="0">
                <a:solidFill>
                  <a:srgbClr val="FF0000"/>
                </a:solidFill>
              </a:rPr>
              <a:t>aiming to minimize a cost function, </a:t>
            </a:r>
          </a:p>
          <a:p>
            <a:r>
              <a:rPr lang="en-US" altLang="en-US" sz="3500" noProof="0" dirty="0"/>
              <a:t>i.e., as in biological systems training a perceptron model amounts to </a:t>
            </a:r>
            <a:r>
              <a:rPr lang="en-US" altLang="en-US" sz="3500" b="1" noProof="0" dirty="0"/>
              <a:t>adapting the weights of the links</a:t>
            </a:r>
            <a:r>
              <a:rPr lang="en-US" altLang="en-US" sz="3500" noProof="0" dirty="0"/>
              <a:t> </a:t>
            </a:r>
            <a:r>
              <a:rPr lang="en-US" altLang="en-US" sz="3500" noProof="0" dirty="0">
                <a:solidFill>
                  <a:srgbClr val="FF0000"/>
                </a:solidFill>
              </a:rPr>
              <a:t>until they fit the input output relationships of the underlying data</a:t>
            </a:r>
            <a:r>
              <a:rPr lang="en-US" altLang="en-US" sz="3500" noProof="0" dirty="0"/>
              <a:t>.</a:t>
            </a:r>
          </a:p>
        </p:txBody>
      </p:sp>
      <p:sp>
        <p:nvSpPr>
          <p:cNvPr id="4" name="Segnaposto numero diapositiva 5">
            <a:extLst>
              <a:ext uri="{FF2B5EF4-FFF2-40B4-BE49-F238E27FC236}">
                <a16:creationId xmlns:a16="http://schemas.microsoft.com/office/drawing/2014/main" id="{16F31300-2C95-4EA1-9E71-687ECC292C28}"/>
              </a:ext>
            </a:extLst>
          </p:cNvPr>
          <p:cNvSpPr>
            <a:spLocks noGrp="1"/>
          </p:cNvSpPr>
          <p:nvPr>
            <p:ph type="sldNum" sz="quarter" idx="4294967295"/>
          </p:nvPr>
        </p:nvSpPr>
        <p:spPr>
          <a:xfrm>
            <a:off x="10134600" y="6356350"/>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D5CD1A5-E6E0-42A5-84CC-9AA958E63032}" type="slidenum">
              <a:rPr lang="en-GB" smtClean="0"/>
              <a:pPr/>
              <a:t>22</a:t>
            </a:fld>
            <a:endParaRPr lang="en-US" altLang="en-US"/>
          </a:p>
        </p:txBody>
      </p:sp>
    </p:spTree>
    <p:extLst>
      <p:ext uri="{BB962C8B-B14F-4D97-AF65-F5344CB8AC3E}">
        <p14:creationId xmlns:p14="http://schemas.microsoft.com/office/powerpoint/2010/main" val="18940077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2">
            <a:extLst>
              <a:ext uri="{FF2B5EF4-FFF2-40B4-BE49-F238E27FC236}">
                <a16:creationId xmlns:a16="http://schemas.microsoft.com/office/drawing/2014/main" id="{E19CA8BD-0B29-4B55-ABD5-21B16E34953F}"/>
              </a:ext>
            </a:extLst>
          </p:cNvPr>
          <p:cNvSpPr>
            <a:spLocks noGrp="1"/>
          </p:cNvSpPr>
          <p:nvPr>
            <p:ph type="title"/>
          </p:nvPr>
        </p:nvSpPr>
        <p:spPr/>
        <p:txBody>
          <a:bodyPr/>
          <a:lstStyle/>
          <a:p>
            <a:r>
              <a:rPr lang="en-US" noProof="0" dirty="0"/>
              <a:t>Characterizing the Artificial Neuron</a:t>
            </a:r>
          </a:p>
        </p:txBody>
      </p:sp>
      <mc:AlternateContent xmlns:mc="http://schemas.openxmlformats.org/markup-compatibility/2006" xmlns:a14="http://schemas.microsoft.com/office/drawing/2010/main">
        <mc:Choice Requires="a14">
          <p:sp>
            <p:nvSpPr>
              <p:cNvPr id="4" name="Segnaposto contenuto 3">
                <a:extLst>
                  <a:ext uri="{FF2B5EF4-FFF2-40B4-BE49-F238E27FC236}">
                    <a16:creationId xmlns:a16="http://schemas.microsoft.com/office/drawing/2014/main" id="{155C5BA2-80E1-9342-BC75-815B517C7C73}"/>
                  </a:ext>
                </a:extLst>
              </p:cNvPr>
              <p:cNvSpPr>
                <a:spLocks noGrp="1"/>
              </p:cNvSpPr>
              <p:nvPr>
                <p:ph idx="1"/>
              </p:nvPr>
            </p:nvSpPr>
            <p:spPr>
              <a:xfrm>
                <a:off x="838200" y="1825625"/>
                <a:ext cx="9481457" cy="4351338"/>
              </a:xfrm>
            </p:spPr>
            <p:txBody>
              <a:bodyPr>
                <a:normAutofit lnSpcReduction="10000"/>
              </a:bodyPr>
              <a:lstStyle/>
              <a:p>
                <a:pPr>
                  <a:lnSpc>
                    <a:spcPct val="120000"/>
                  </a:lnSpc>
                </a:pPr>
                <a:r>
                  <a:rPr lang="en-US" altLang="en-US" noProof="0" dirty="0"/>
                  <a:t>The bias </a:t>
                </a:r>
                <a:r>
                  <a:rPr lang="en-US" altLang="en-US" i="1" noProof="0" dirty="0"/>
                  <a:t>b</a:t>
                </a:r>
                <a:r>
                  <a:rPr lang="en-US" altLang="en-US" noProof="0" dirty="0"/>
                  <a:t> is a constant that can be written as </a:t>
                </a:r>
                <a:r>
                  <a:rPr lang="en-US" altLang="en-US" i="1" noProof="0" dirty="0"/>
                  <a:t>θ</a:t>
                </a:r>
                <a:r>
                  <a:rPr lang="en-US" altLang="en-US" i="1" baseline="-25000" noProof="0" dirty="0"/>
                  <a:t>i0</a:t>
                </a:r>
                <a:r>
                  <a:rPr lang="en-US" altLang="en-US" i="1" noProof="0" dirty="0"/>
                  <a:t>x</a:t>
                </a:r>
                <a:r>
                  <a:rPr lang="en-US" altLang="en-US" i="1" baseline="-25000" noProof="0" dirty="0"/>
                  <a:t>0</a:t>
                </a:r>
                <a:r>
                  <a:rPr lang="en-US" altLang="en-US" noProof="0" dirty="0"/>
                  <a:t> with </a:t>
                </a:r>
                <a:r>
                  <a:rPr lang="en-US" altLang="en-US" i="1" noProof="0" dirty="0"/>
                  <a:t>x</a:t>
                </a:r>
                <a:r>
                  <a:rPr lang="en-US" altLang="en-US" i="1" baseline="-25000" noProof="0" dirty="0"/>
                  <a:t>0 </a:t>
                </a:r>
                <a:r>
                  <a:rPr lang="en-US" altLang="en-US" noProof="0" dirty="0"/>
                  <a:t>= </a:t>
                </a:r>
                <a:r>
                  <a:rPr lang="en-US" altLang="en-US" i="1" noProof="0" dirty="0"/>
                  <a:t>1</a:t>
                </a:r>
                <a:r>
                  <a:rPr lang="en-US" altLang="en-US" noProof="0" dirty="0"/>
                  <a:t> and </a:t>
                </a:r>
                <a:r>
                  <a:rPr lang="en-US" altLang="en-US" i="1" noProof="0" dirty="0" err="1"/>
                  <a:t>θ</a:t>
                </a:r>
                <a:r>
                  <a:rPr lang="en-US" altLang="en-US" i="1" noProof="0" dirty="0"/>
                  <a:t> </a:t>
                </a:r>
                <a:r>
                  <a:rPr lang="en-US" altLang="en-US" i="1" baseline="-25000" noProof="0" dirty="0"/>
                  <a:t>i0 </a:t>
                </a:r>
                <a:r>
                  <a:rPr lang="en-US" altLang="en-US" noProof="0" dirty="0"/>
                  <a:t>= b such that </a:t>
                </a:r>
              </a:p>
              <a:p>
                <a:pPr>
                  <a:lnSpc>
                    <a:spcPct val="120000"/>
                  </a:lnSpc>
                  <a:buFont typeface="Wingdings" panose="05000000000000000000" pitchFamily="2" charset="2"/>
                  <a:buNone/>
                </a:pPr>
                <a:r>
                  <a:rPr lang="en-US" altLang="en-US" noProof="0" dirty="0"/>
                  <a:t>             </a:t>
                </a:r>
              </a:p>
              <a:p>
                <a:pPr>
                  <a:lnSpc>
                    <a:spcPct val="120000"/>
                  </a:lnSpc>
                  <a:buFont typeface="Wingdings" panose="05000000000000000000" pitchFamily="2" charset="2"/>
                  <a:buNone/>
                </a:pPr>
                <a:endParaRPr lang="en-US" altLang="en-US" noProof="0" dirty="0"/>
              </a:p>
              <a:p>
                <a:pPr>
                  <a:lnSpc>
                    <a:spcPct val="120000"/>
                  </a:lnSpc>
                </a:pPr>
                <a:r>
                  <a:rPr lang="en-US" altLang="en-US" noProof="0" dirty="0"/>
                  <a:t>The function </a:t>
                </a:r>
                <a:r>
                  <a:rPr lang="en-US" altLang="en-US" i="1" noProof="0" dirty="0"/>
                  <a:t>f(</a:t>
                </a:r>
                <a14:m>
                  <m:oMath xmlns:m="http://schemas.openxmlformats.org/officeDocument/2006/math">
                    <m:r>
                      <a:rPr lang="en-US" i="1" noProof="0">
                        <a:solidFill>
                          <a:srgbClr val="000000"/>
                        </a:solidFill>
                        <a:latin typeface="Cambria Math" panose="02040503050406030204" pitchFamily="18" charset="0"/>
                      </a:rPr>
                      <m:t>𝑛𝑒</m:t>
                    </m:r>
                    <m:sSub>
                      <m:sSubPr>
                        <m:ctrlPr>
                          <a:rPr lang="en-US" i="1" noProof="0">
                            <a:solidFill>
                              <a:srgbClr val="000000"/>
                            </a:solidFill>
                            <a:latin typeface="Cambria Math" panose="02040503050406030204" pitchFamily="18" charset="0"/>
                          </a:rPr>
                        </m:ctrlPr>
                      </m:sSubPr>
                      <m:e>
                        <m:r>
                          <a:rPr lang="en-US" i="1" noProof="0">
                            <a:solidFill>
                              <a:srgbClr val="000000"/>
                            </a:solidFill>
                            <a:latin typeface="Cambria Math" panose="02040503050406030204" pitchFamily="18" charset="0"/>
                          </a:rPr>
                          <m:t>𝑡</m:t>
                        </m:r>
                      </m:e>
                      <m:sub>
                        <m:r>
                          <a:rPr lang="en-US" i="1" noProof="0">
                            <a:solidFill>
                              <a:srgbClr val="000000"/>
                            </a:solidFill>
                            <a:latin typeface="Cambria Math" panose="02040503050406030204" pitchFamily="18" charset="0"/>
                          </a:rPr>
                          <m:t>𝑖</m:t>
                        </m:r>
                      </m:sub>
                    </m:sSub>
                  </m:oMath>
                </a14:m>
                <a:r>
                  <a:rPr lang="en-US" altLang="en-US" i="1" noProof="0" dirty="0"/>
                  <a:t>(x))  </a:t>
                </a:r>
                <a:r>
                  <a:rPr lang="en-US" altLang="en-US" noProof="0" dirty="0">
                    <a:solidFill>
                      <a:srgbClr val="FF0000"/>
                    </a:solidFill>
                  </a:rPr>
                  <a:t>is the unit’s </a:t>
                </a:r>
                <a:r>
                  <a:rPr lang="en-US" altLang="en-US" b="1" noProof="0" dirty="0">
                    <a:solidFill>
                      <a:srgbClr val="FF0000"/>
                    </a:solidFill>
                  </a:rPr>
                  <a:t>activation function</a:t>
                </a:r>
                <a:r>
                  <a:rPr lang="en-US" altLang="en-US" noProof="0" dirty="0"/>
                  <a:t>. In the simplest case, </a:t>
                </a:r>
                <a:r>
                  <a:rPr lang="en-US" altLang="en-US" i="1" noProof="0" dirty="0"/>
                  <a:t>f </a:t>
                </a:r>
                <a:r>
                  <a:rPr lang="en-US" altLang="en-US" noProof="0" dirty="0"/>
                  <a:t>is the identity function, and the unit’s output is just its net input. This is called a </a:t>
                </a:r>
                <a:r>
                  <a:rPr lang="en-US" altLang="en-US" b="1" i="1" noProof="0" dirty="0"/>
                  <a:t>linear unit. </a:t>
                </a:r>
                <a:r>
                  <a:rPr lang="en-US" altLang="en-US" noProof="0" dirty="0"/>
                  <a:t>Otherwise we can have a </a:t>
                </a:r>
                <a:r>
                  <a:rPr lang="en-US" altLang="en-US" b="1" i="1" noProof="0" dirty="0"/>
                  <a:t>sign unit, </a:t>
                </a:r>
                <a:r>
                  <a:rPr lang="en-US" altLang="en-US" noProof="0" dirty="0"/>
                  <a:t>or a</a:t>
                </a:r>
                <a:r>
                  <a:rPr lang="en-US" altLang="en-US" b="1" i="1" noProof="0" dirty="0"/>
                  <a:t> logistic unit.</a:t>
                </a:r>
                <a:endParaRPr lang="en-US" altLang="en-US" b="1" noProof="0" dirty="0"/>
              </a:p>
              <a:p>
                <a:endParaRPr lang="en-US" noProof="0" dirty="0"/>
              </a:p>
            </p:txBody>
          </p:sp>
        </mc:Choice>
        <mc:Fallback xmlns="">
          <p:sp>
            <p:nvSpPr>
              <p:cNvPr id="4" name="Segnaposto contenuto 3">
                <a:extLst>
                  <a:ext uri="{FF2B5EF4-FFF2-40B4-BE49-F238E27FC236}">
                    <a16:creationId xmlns:a16="http://schemas.microsoft.com/office/drawing/2014/main" id="{155C5BA2-80E1-9342-BC75-815B517C7C73}"/>
                  </a:ext>
                </a:extLst>
              </p:cNvPr>
              <p:cNvSpPr>
                <a:spLocks noGrp="1" noRot="1" noChangeAspect="1" noMove="1" noResize="1" noEditPoints="1" noAdjustHandles="1" noChangeArrowheads="1" noChangeShapeType="1" noTextEdit="1"/>
              </p:cNvSpPr>
              <p:nvPr>
                <p:ph idx="1"/>
              </p:nvPr>
            </p:nvSpPr>
            <p:spPr>
              <a:xfrm>
                <a:off x="838200" y="1825625"/>
                <a:ext cx="9481457" cy="4351338"/>
              </a:xfrm>
              <a:blipFill>
                <a:blip r:embed="rId2"/>
                <a:stretch>
                  <a:fillRect l="-1205" t="-872" r="-2142" b="-291"/>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Object 4">
                <a:extLst>
                  <a:ext uri="{FF2B5EF4-FFF2-40B4-BE49-F238E27FC236}">
                    <a16:creationId xmlns:a16="http://schemas.microsoft.com/office/drawing/2014/main" id="{25213671-DF10-4461-97BB-FEA2CF0E5DCA}"/>
                  </a:ext>
                </a:extLst>
              </p:cNvPr>
              <p:cNvSpPr txBox="1"/>
              <p:nvPr/>
            </p:nvSpPr>
            <p:spPr bwMode="auto">
              <a:xfrm>
                <a:off x="4710389" y="2971800"/>
                <a:ext cx="2404545" cy="9144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GB" sz="2400" i="1">
                          <a:solidFill>
                            <a:srgbClr val="000000"/>
                          </a:solidFill>
                          <a:latin typeface="Cambria Math" panose="02040503050406030204" pitchFamily="18" charset="0"/>
                        </a:rPr>
                        <m:t>𝑛𝑒</m:t>
                      </m:r>
                      <m:sSub>
                        <m:sSubPr>
                          <m:ctrlPr>
                            <a:rPr lang="en-GB" sz="2400" i="1">
                              <a:solidFill>
                                <a:srgbClr val="000000"/>
                              </a:solidFill>
                              <a:latin typeface="Cambria Math" panose="02040503050406030204" pitchFamily="18" charset="0"/>
                            </a:rPr>
                          </m:ctrlPr>
                        </m:sSubPr>
                        <m:e>
                          <m:r>
                            <a:rPr lang="en-GB" sz="2400" i="1">
                              <a:solidFill>
                                <a:srgbClr val="000000"/>
                              </a:solidFill>
                              <a:latin typeface="Cambria Math" panose="02040503050406030204" pitchFamily="18" charset="0"/>
                            </a:rPr>
                            <m:t>𝑡</m:t>
                          </m:r>
                        </m:e>
                        <m:sub>
                          <m:r>
                            <a:rPr lang="en-GB" sz="2400" i="1">
                              <a:solidFill>
                                <a:srgbClr val="000000"/>
                              </a:solidFill>
                              <a:latin typeface="Cambria Math" panose="02040503050406030204" pitchFamily="18" charset="0"/>
                            </a:rPr>
                            <m:t>𝑖</m:t>
                          </m:r>
                        </m:sub>
                      </m:sSub>
                      <m:r>
                        <a:rPr lang="en-GB" sz="2400" i="1">
                          <a:solidFill>
                            <a:srgbClr val="000000"/>
                          </a:solidFill>
                          <a:latin typeface="Cambria Math" panose="02040503050406030204" pitchFamily="18" charset="0"/>
                        </a:rPr>
                        <m:t>=</m:t>
                      </m:r>
                      <m:nary>
                        <m:naryPr>
                          <m:chr m:val="∑"/>
                          <m:ctrlPr>
                            <a:rPr lang="en-GB" sz="2400" i="1">
                              <a:solidFill>
                                <a:srgbClr val="000000"/>
                              </a:solidFill>
                              <a:latin typeface="Cambria Math" panose="02040503050406030204" pitchFamily="18" charset="0"/>
                            </a:rPr>
                          </m:ctrlPr>
                        </m:naryPr>
                        <m:sub>
                          <m:r>
                            <a:rPr lang="en-GB" sz="2400" i="1">
                              <a:solidFill>
                                <a:srgbClr val="000000"/>
                              </a:solidFill>
                              <a:latin typeface="Cambria Math" panose="02040503050406030204" pitchFamily="18" charset="0"/>
                            </a:rPr>
                            <m:t>𝑗</m:t>
                          </m:r>
                          <m:r>
                            <a:rPr lang="en-GB" sz="2400" i="1">
                              <a:solidFill>
                                <a:srgbClr val="000000"/>
                              </a:solidFill>
                              <a:latin typeface="Cambria Math" panose="02040503050406030204" pitchFamily="18" charset="0"/>
                            </a:rPr>
                            <m:t>=0</m:t>
                          </m:r>
                        </m:sub>
                        <m:sup>
                          <m:r>
                            <a:rPr lang="en-GB" sz="2400" i="1">
                              <a:solidFill>
                                <a:srgbClr val="000000"/>
                              </a:solidFill>
                              <a:latin typeface="Cambria Math" panose="02040503050406030204" pitchFamily="18" charset="0"/>
                            </a:rPr>
                            <m:t>𝑛</m:t>
                          </m:r>
                        </m:sup>
                        <m:e>
                          <m:sSub>
                            <m:sSubPr>
                              <m:ctrlPr>
                                <a:rPr lang="en-GB" sz="2400" i="1">
                                  <a:solidFill>
                                    <a:srgbClr val="000000"/>
                                  </a:solidFill>
                                  <a:latin typeface="Cambria Math" panose="02040503050406030204" pitchFamily="18" charset="0"/>
                                </a:rPr>
                              </m:ctrlPr>
                            </m:sSubPr>
                            <m:e>
                              <m:r>
                                <m:rPr>
                                  <m:nor/>
                                </m:rPr>
                                <a:rPr lang="el-GR" altLang="en-US" sz="2400" i="1" dirty="0"/>
                                <m:t>θ</m:t>
                              </m:r>
                            </m:e>
                            <m:sub>
                              <m:r>
                                <a:rPr lang="en-GB" sz="2400" i="1">
                                  <a:solidFill>
                                    <a:srgbClr val="000000"/>
                                  </a:solidFill>
                                  <a:latin typeface="Cambria Math" panose="02040503050406030204" pitchFamily="18" charset="0"/>
                                </a:rPr>
                                <m:t>𝑖𝑗</m:t>
                              </m:r>
                            </m:sub>
                          </m:sSub>
                          <m:sSub>
                            <m:sSubPr>
                              <m:ctrlPr>
                                <a:rPr lang="en-GB" sz="2400" i="1">
                                  <a:solidFill>
                                    <a:srgbClr val="000000"/>
                                  </a:solidFill>
                                  <a:latin typeface="Cambria Math" panose="02040503050406030204" pitchFamily="18" charset="0"/>
                                </a:rPr>
                              </m:ctrlPr>
                            </m:sSubPr>
                            <m:e>
                              <m:r>
                                <a:rPr lang="it-IT" sz="2400" i="1">
                                  <a:solidFill>
                                    <a:srgbClr val="000000"/>
                                  </a:solidFill>
                                  <a:latin typeface="Cambria Math" panose="02040503050406030204" pitchFamily="18" charset="0"/>
                                </a:rPr>
                                <m:t>𝑥</m:t>
                              </m:r>
                            </m:e>
                            <m:sub>
                              <m:r>
                                <a:rPr lang="en-GB" sz="2400" i="1">
                                  <a:solidFill>
                                    <a:srgbClr val="000000"/>
                                  </a:solidFill>
                                  <a:latin typeface="Cambria Math" panose="02040503050406030204" pitchFamily="18" charset="0"/>
                                </a:rPr>
                                <m:t>𝑗</m:t>
                              </m:r>
                            </m:sub>
                          </m:sSub>
                        </m:e>
                      </m:nary>
                    </m:oMath>
                  </m:oMathPara>
                </a14:m>
                <a:endParaRPr lang="en-GB" sz="2400" dirty="0"/>
              </a:p>
            </p:txBody>
          </p:sp>
        </mc:Choice>
        <mc:Fallback xmlns="">
          <p:sp>
            <p:nvSpPr>
              <p:cNvPr id="8" name="Object 4">
                <a:extLst>
                  <a:ext uri="{FF2B5EF4-FFF2-40B4-BE49-F238E27FC236}">
                    <a16:creationId xmlns:a16="http://schemas.microsoft.com/office/drawing/2014/main" id="{25213671-DF10-4461-97BB-FEA2CF0E5DCA}"/>
                  </a:ext>
                </a:extLst>
              </p:cNvPr>
              <p:cNvSpPr txBox="1">
                <a:spLocks noRot="1" noChangeAspect="1" noMove="1" noResize="1" noEditPoints="1" noAdjustHandles="1" noChangeArrowheads="1" noChangeShapeType="1" noTextEdit="1"/>
              </p:cNvSpPr>
              <p:nvPr/>
            </p:nvSpPr>
            <p:spPr bwMode="auto">
              <a:xfrm>
                <a:off x="4710389" y="2971800"/>
                <a:ext cx="2404545" cy="914400"/>
              </a:xfrm>
              <a:prstGeom prst="rect">
                <a:avLst/>
              </a:prstGeom>
              <a:blipFill>
                <a:blip r:embed="rId3"/>
                <a:stretch>
                  <a:fillRect l="-5263" t="-127397" b="-213699"/>
                </a:stretch>
              </a:blipFill>
              <a:ln>
                <a:noFill/>
              </a:ln>
              <a:effectLst/>
            </p:spPr>
            <p:txBody>
              <a:bodyPr/>
              <a:lstStyle/>
              <a:p>
                <a:r>
                  <a:rPr lang="it-IT">
                    <a:noFill/>
                  </a:rPr>
                  <a:t> </a:t>
                </a:r>
              </a:p>
            </p:txBody>
          </p:sp>
        </mc:Fallback>
      </mc:AlternateContent>
    </p:spTree>
    <p:extLst>
      <p:ext uri="{BB962C8B-B14F-4D97-AF65-F5344CB8AC3E}">
        <p14:creationId xmlns:p14="http://schemas.microsoft.com/office/powerpoint/2010/main" val="11813508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sellaDiTesto 4">
            <a:extLst>
              <a:ext uri="{FF2B5EF4-FFF2-40B4-BE49-F238E27FC236}">
                <a16:creationId xmlns:a16="http://schemas.microsoft.com/office/drawing/2014/main" id="{9DAAA90D-489B-C58C-6278-017E13310B7F}"/>
              </a:ext>
            </a:extLst>
          </p:cNvPr>
          <p:cNvSpPr txBox="1"/>
          <p:nvPr/>
        </p:nvSpPr>
        <p:spPr>
          <a:xfrm>
            <a:off x="7879080" y="2051556"/>
            <a:ext cx="613070" cy="365886"/>
          </a:xfrm>
          <a:prstGeom prst="rect">
            <a:avLst/>
          </a:prstGeom>
          <a:solidFill>
            <a:schemeClr val="bg1"/>
          </a:solidFill>
        </p:spPr>
        <p:txBody>
          <a:bodyPr wrap="square" rtlCol="0">
            <a:spAutoFit/>
          </a:bodyPr>
          <a:lstStyle/>
          <a:p>
            <a:endParaRPr lang="it-IT" dirty="0"/>
          </a:p>
        </p:txBody>
      </p:sp>
      <p:sp>
        <p:nvSpPr>
          <p:cNvPr id="2" name="Title 1"/>
          <p:cNvSpPr>
            <a:spLocks noGrp="1"/>
          </p:cNvSpPr>
          <p:nvPr>
            <p:ph type="title"/>
          </p:nvPr>
        </p:nvSpPr>
        <p:spPr/>
        <p:txBody>
          <a:bodyPr>
            <a:normAutofit/>
          </a:bodyPr>
          <a:lstStyle/>
          <a:p>
            <a:r>
              <a:rPr lang="en-US" noProof="0" dirty="0"/>
              <a:t>A Simple Linear Neuron</a:t>
            </a:r>
          </a:p>
        </p:txBody>
      </p:sp>
      <p:sp>
        <p:nvSpPr>
          <p:cNvPr id="4" name="Connector 3"/>
          <p:cNvSpPr/>
          <p:nvPr/>
        </p:nvSpPr>
        <p:spPr>
          <a:xfrm>
            <a:off x="2895600" y="5715000"/>
            <a:ext cx="822960" cy="82296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2600" dirty="0">
                <a:ln>
                  <a:solidFill>
                    <a:schemeClr val="tx1"/>
                  </a:solidFill>
                </a:ln>
                <a:solidFill>
                  <a:schemeClr val="tx1"/>
                </a:solidFill>
                <a:latin typeface="Arial"/>
                <a:cs typeface="Arial"/>
              </a:rPr>
              <a:t>x</a:t>
            </a:r>
            <a:r>
              <a:rPr lang="en-US" sz="2600" baseline="-25000" dirty="0">
                <a:ln>
                  <a:solidFill>
                    <a:schemeClr val="tx1"/>
                  </a:solidFill>
                </a:ln>
                <a:solidFill>
                  <a:schemeClr val="tx1"/>
                </a:solidFill>
                <a:latin typeface="Arial"/>
                <a:cs typeface="Arial"/>
              </a:rPr>
              <a:t>1</a:t>
            </a:r>
          </a:p>
        </p:txBody>
      </p:sp>
      <p:sp>
        <p:nvSpPr>
          <p:cNvPr id="7" name="Connector 6"/>
          <p:cNvSpPr/>
          <p:nvPr/>
        </p:nvSpPr>
        <p:spPr>
          <a:xfrm>
            <a:off x="4419600" y="5715000"/>
            <a:ext cx="822960" cy="82296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2600" dirty="0">
                <a:ln>
                  <a:solidFill>
                    <a:schemeClr val="tx1"/>
                  </a:solidFill>
                </a:ln>
                <a:solidFill>
                  <a:schemeClr val="tx1"/>
                </a:solidFill>
                <a:latin typeface="Arial"/>
                <a:cs typeface="Arial"/>
              </a:rPr>
              <a:t>x</a:t>
            </a:r>
            <a:r>
              <a:rPr lang="en-US" sz="2600" baseline="-25000" dirty="0">
                <a:ln>
                  <a:solidFill>
                    <a:schemeClr val="tx1"/>
                  </a:solidFill>
                </a:ln>
                <a:solidFill>
                  <a:schemeClr val="tx1"/>
                </a:solidFill>
                <a:latin typeface="Arial"/>
                <a:cs typeface="Arial"/>
              </a:rPr>
              <a:t>2</a:t>
            </a:r>
          </a:p>
        </p:txBody>
      </p:sp>
      <p:sp>
        <p:nvSpPr>
          <p:cNvPr id="8" name="Connector 7"/>
          <p:cNvSpPr/>
          <p:nvPr/>
        </p:nvSpPr>
        <p:spPr>
          <a:xfrm>
            <a:off x="6096000" y="5715000"/>
            <a:ext cx="822960" cy="82296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2600" dirty="0">
                <a:ln>
                  <a:solidFill>
                    <a:schemeClr val="tx1"/>
                  </a:solidFill>
                </a:ln>
                <a:solidFill>
                  <a:schemeClr val="tx1"/>
                </a:solidFill>
                <a:latin typeface="Arial"/>
                <a:cs typeface="Arial"/>
              </a:rPr>
              <a:t>x</a:t>
            </a:r>
            <a:r>
              <a:rPr lang="en-US" sz="2600" baseline="-25000" dirty="0">
                <a:ln>
                  <a:solidFill>
                    <a:schemeClr val="tx1"/>
                  </a:solidFill>
                </a:ln>
                <a:solidFill>
                  <a:schemeClr val="tx1"/>
                </a:solidFill>
                <a:latin typeface="Arial"/>
                <a:cs typeface="Arial"/>
              </a:rPr>
              <a:t>3</a:t>
            </a:r>
          </a:p>
        </p:txBody>
      </p:sp>
      <p:sp>
        <p:nvSpPr>
          <p:cNvPr id="9" name="Connector 8"/>
          <p:cNvSpPr/>
          <p:nvPr/>
        </p:nvSpPr>
        <p:spPr>
          <a:xfrm>
            <a:off x="8610600" y="5715000"/>
            <a:ext cx="822960" cy="82296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2600" dirty="0" err="1">
                <a:ln>
                  <a:solidFill>
                    <a:schemeClr val="tx1"/>
                  </a:solidFill>
                </a:ln>
                <a:solidFill>
                  <a:schemeClr val="tx1"/>
                </a:solidFill>
                <a:latin typeface="Arial"/>
                <a:cs typeface="Arial"/>
              </a:rPr>
              <a:t>x</a:t>
            </a:r>
            <a:r>
              <a:rPr lang="en-US" sz="2600" baseline="-25000" dirty="0" err="1">
                <a:ln>
                  <a:solidFill>
                    <a:schemeClr val="tx1"/>
                  </a:solidFill>
                </a:ln>
                <a:solidFill>
                  <a:schemeClr val="tx1"/>
                </a:solidFill>
                <a:latin typeface="Arial"/>
                <a:cs typeface="Arial"/>
              </a:rPr>
              <a:t>M</a:t>
            </a:r>
            <a:endParaRPr lang="en-US" sz="2600" baseline="-25000" dirty="0">
              <a:ln>
                <a:solidFill>
                  <a:schemeClr val="tx1"/>
                </a:solidFill>
              </a:ln>
              <a:solidFill>
                <a:schemeClr val="tx1"/>
              </a:solidFill>
              <a:latin typeface="Arial"/>
              <a:cs typeface="Arial"/>
            </a:endParaRPr>
          </a:p>
        </p:txBody>
      </p:sp>
      <p:sp>
        <p:nvSpPr>
          <p:cNvPr id="10" name="Connector 9"/>
          <p:cNvSpPr/>
          <p:nvPr/>
        </p:nvSpPr>
        <p:spPr>
          <a:xfrm>
            <a:off x="5791200" y="2174240"/>
            <a:ext cx="822960" cy="822960"/>
          </a:xfrm>
          <a:prstGeom prst="flowChartConnector">
            <a:avLst/>
          </a:prstGeom>
          <a:solidFill>
            <a:srgbClr val="E0D925"/>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2600" dirty="0">
                <a:ln>
                  <a:solidFill>
                    <a:schemeClr val="tx1"/>
                  </a:solidFill>
                </a:ln>
                <a:solidFill>
                  <a:schemeClr val="tx1"/>
                </a:solidFill>
                <a:latin typeface="Arial"/>
                <a:cs typeface="Arial"/>
              </a:rPr>
              <a:t>y</a:t>
            </a:r>
            <a:endParaRPr lang="en-US" sz="2600" baseline="-25000" dirty="0">
              <a:ln>
                <a:solidFill>
                  <a:schemeClr val="tx1"/>
                </a:solidFill>
              </a:ln>
              <a:solidFill>
                <a:schemeClr val="tx1"/>
              </a:solidFill>
              <a:latin typeface="Arial"/>
              <a:cs typeface="Arial"/>
            </a:endParaRPr>
          </a:p>
        </p:txBody>
      </p:sp>
      <p:sp>
        <p:nvSpPr>
          <p:cNvPr id="15" name="TextBox 14"/>
          <p:cNvSpPr txBox="1">
            <a:spLocks noChangeArrowheads="1"/>
          </p:cNvSpPr>
          <p:nvPr/>
        </p:nvSpPr>
        <p:spPr bwMode="auto">
          <a:xfrm>
            <a:off x="7543800" y="5791201"/>
            <a:ext cx="533400" cy="492125"/>
          </a:xfrm>
          <a:prstGeom prst="rect">
            <a:avLst/>
          </a:prstGeom>
          <a:noFill/>
          <a:ln w="9525">
            <a:noFill/>
            <a:miter lim="800000"/>
            <a:headEnd/>
            <a:tailEnd/>
          </a:ln>
        </p:spPr>
        <p:txBody>
          <a:bodyPr anchor="ctr">
            <a:prstTxWarp prst="textNoShape">
              <a:avLst/>
            </a:prstTxWarp>
            <a:spAutoFit/>
          </a:bodyPr>
          <a:lstStyle/>
          <a:p>
            <a:pPr algn="ctr"/>
            <a:r>
              <a:rPr lang="en-US" sz="2600" b="1"/>
              <a:t>…</a:t>
            </a:r>
          </a:p>
        </p:txBody>
      </p:sp>
      <p:cxnSp>
        <p:nvCxnSpPr>
          <p:cNvPr id="27" name="Straight Connector 26"/>
          <p:cNvCxnSpPr>
            <a:stCxn id="10" idx="4"/>
            <a:endCxn id="9" idx="0"/>
          </p:cNvCxnSpPr>
          <p:nvPr/>
        </p:nvCxnSpPr>
        <p:spPr>
          <a:xfrm>
            <a:off x="6202680" y="2997200"/>
            <a:ext cx="2819400" cy="271780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8" name="Straight Connector 27"/>
          <p:cNvCxnSpPr>
            <a:stCxn id="10" idx="4"/>
            <a:endCxn id="4" idx="0"/>
          </p:cNvCxnSpPr>
          <p:nvPr/>
        </p:nvCxnSpPr>
        <p:spPr>
          <a:xfrm flipH="1">
            <a:off x="3307080" y="2997200"/>
            <a:ext cx="2895600" cy="271780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a:stCxn id="10" idx="4"/>
            <a:endCxn id="7" idx="0"/>
          </p:cNvCxnSpPr>
          <p:nvPr/>
        </p:nvCxnSpPr>
        <p:spPr>
          <a:xfrm flipH="1">
            <a:off x="4831080" y="2997200"/>
            <a:ext cx="1371600" cy="271780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0" name="Straight Connector 29"/>
          <p:cNvCxnSpPr>
            <a:stCxn id="10" idx="4"/>
            <a:endCxn id="8" idx="0"/>
          </p:cNvCxnSpPr>
          <p:nvPr/>
        </p:nvCxnSpPr>
        <p:spPr>
          <a:xfrm>
            <a:off x="6202680" y="2997200"/>
            <a:ext cx="304800" cy="271780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sp>
        <p:nvSpPr>
          <p:cNvPr id="34" name="TextBox 74"/>
          <p:cNvSpPr txBox="1">
            <a:spLocks noChangeArrowheads="1"/>
          </p:cNvSpPr>
          <p:nvPr/>
        </p:nvSpPr>
        <p:spPr bwMode="auto">
          <a:xfrm>
            <a:off x="4739588" y="2276479"/>
            <a:ext cx="1295400" cy="369888"/>
          </a:xfrm>
          <a:prstGeom prst="rect">
            <a:avLst/>
          </a:prstGeom>
          <a:noFill/>
          <a:ln w="9525">
            <a:noFill/>
            <a:miter lim="800000"/>
            <a:headEnd/>
            <a:tailEnd/>
          </a:ln>
        </p:spPr>
        <p:txBody>
          <a:bodyPr>
            <a:prstTxWarp prst="textNoShape">
              <a:avLst/>
            </a:prstTxWarp>
            <a:spAutoFit/>
          </a:bodyPr>
          <a:lstStyle/>
          <a:p>
            <a:r>
              <a:rPr lang="en-US" dirty="0"/>
              <a:t>Output</a:t>
            </a:r>
          </a:p>
        </p:txBody>
      </p:sp>
      <p:sp>
        <p:nvSpPr>
          <p:cNvPr id="35" name="TextBox 75"/>
          <p:cNvSpPr txBox="1">
            <a:spLocks noChangeArrowheads="1"/>
          </p:cNvSpPr>
          <p:nvPr/>
        </p:nvSpPr>
        <p:spPr bwMode="auto">
          <a:xfrm>
            <a:off x="1524000" y="5943600"/>
            <a:ext cx="1295400" cy="369888"/>
          </a:xfrm>
          <a:prstGeom prst="rect">
            <a:avLst/>
          </a:prstGeom>
          <a:noFill/>
          <a:ln w="9525">
            <a:noFill/>
            <a:miter lim="800000"/>
            <a:headEnd/>
            <a:tailEnd/>
          </a:ln>
        </p:spPr>
        <p:txBody>
          <a:bodyPr>
            <a:prstTxWarp prst="textNoShape">
              <a:avLst/>
            </a:prstTxWarp>
            <a:spAutoFit/>
          </a:bodyPr>
          <a:lstStyle/>
          <a:p>
            <a:pPr algn="ctr"/>
            <a:r>
              <a:rPr lang="en-US"/>
              <a:t>Input</a:t>
            </a:r>
          </a:p>
        </p:txBody>
      </p:sp>
      <p:sp>
        <p:nvSpPr>
          <p:cNvPr id="40" name="TextBox 39"/>
          <p:cNvSpPr txBox="1"/>
          <p:nvPr/>
        </p:nvSpPr>
        <p:spPr>
          <a:xfrm>
            <a:off x="3390826" y="4700243"/>
            <a:ext cx="546870" cy="492443"/>
          </a:xfrm>
          <a:prstGeom prst="rect">
            <a:avLst/>
          </a:prstGeom>
          <a:noFill/>
        </p:spPr>
        <p:txBody>
          <a:bodyPr wrap="square" rtlCol="0">
            <a:spAutoFit/>
          </a:bodyPr>
          <a:lstStyle/>
          <a:p>
            <a:r>
              <a:rPr lang="en-US" sz="2600" dirty="0">
                <a:latin typeface="Arial"/>
                <a:cs typeface="Arial"/>
              </a:rPr>
              <a:t>θ</a:t>
            </a:r>
            <a:r>
              <a:rPr lang="en-US" sz="2600" baseline="-25000" dirty="0">
                <a:latin typeface="Arial"/>
                <a:cs typeface="Arial"/>
              </a:rPr>
              <a:t>1</a:t>
            </a:r>
            <a:endParaRPr lang="en-US" sz="2600" dirty="0">
              <a:latin typeface="Arial"/>
              <a:cs typeface="Arial"/>
            </a:endParaRPr>
          </a:p>
        </p:txBody>
      </p:sp>
      <p:sp>
        <p:nvSpPr>
          <p:cNvPr id="41" name="TextBox 40"/>
          <p:cNvSpPr txBox="1"/>
          <p:nvPr/>
        </p:nvSpPr>
        <p:spPr>
          <a:xfrm>
            <a:off x="4557645" y="4657083"/>
            <a:ext cx="546870" cy="492443"/>
          </a:xfrm>
          <a:prstGeom prst="rect">
            <a:avLst/>
          </a:prstGeom>
          <a:noFill/>
        </p:spPr>
        <p:txBody>
          <a:bodyPr wrap="square" rtlCol="0">
            <a:spAutoFit/>
          </a:bodyPr>
          <a:lstStyle/>
          <a:p>
            <a:r>
              <a:rPr lang="en-US" sz="2600" dirty="0">
                <a:latin typeface="Arial"/>
                <a:cs typeface="Arial"/>
              </a:rPr>
              <a:t>θ</a:t>
            </a:r>
            <a:r>
              <a:rPr lang="en-US" sz="2600" baseline="-25000" dirty="0">
                <a:latin typeface="Arial"/>
                <a:cs typeface="Arial"/>
              </a:rPr>
              <a:t>2</a:t>
            </a:r>
            <a:endParaRPr lang="en-US" sz="2600" dirty="0">
              <a:latin typeface="Arial"/>
              <a:cs typeface="Arial"/>
            </a:endParaRPr>
          </a:p>
        </p:txBody>
      </p:sp>
      <p:sp>
        <p:nvSpPr>
          <p:cNvPr id="42" name="TextBox 41"/>
          <p:cNvSpPr txBox="1"/>
          <p:nvPr/>
        </p:nvSpPr>
        <p:spPr>
          <a:xfrm>
            <a:off x="5859475" y="4645623"/>
            <a:ext cx="546870" cy="492443"/>
          </a:xfrm>
          <a:prstGeom prst="rect">
            <a:avLst/>
          </a:prstGeom>
          <a:noFill/>
        </p:spPr>
        <p:txBody>
          <a:bodyPr wrap="square" rtlCol="0">
            <a:spAutoFit/>
          </a:bodyPr>
          <a:lstStyle/>
          <a:p>
            <a:r>
              <a:rPr lang="en-US" sz="2600" dirty="0">
                <a:latin typeface="Arial"/>
                <a:cs typeface="Arial"/>
              </a:rPr>
              <a:t>θ</a:t>
            </a:r>
            <a:r>
              <a:rPr lang="en-US" sz="2600" baseline="-25000" dirty="0">
                <a:latin typeface="Arial"/>
                <a:cs typeface="Arial"/>
              </a:rPr>
              <a:t>3</a:t>
            </a:r>
            <a:endParaRPr lang="en-US" sz="2600" dirty="0">
              <a:latin typeface="Arial"/>
              <a:cs typeface="Arial"/>
            </a:endParaRPr>
          </a:p>
        </p:txBody>
      </p:sp>
      <p:sp>
        <p:nvSpPr>
          <p:cNvPr id="43" name="TextBox 42"/>
          <p:cNvSpPr txBox="1"/>
          <p:nvPr/>
        </p:nvSpPr>
        <p:spPr>
          <a:xfrm>
            <a:off x="7404727" y="4647818"/>
            <a:ext cx="740748" cy="492443"/>
          </a:xfrm>
          <a:prstGeom prst="rect">
            <a:avLst/>
          </a:prstGeom>
          <a:noFill/>
        </p:spPr>
        <p:txBody>
          <a:bodyPr wrap="square" rtlCol="0">
            <a:spAutoFit/>
          </a:bodyPr>
          <a:lstStyle/>
          <a:p>
            <a:r>
              <a:rPr lang="en-US" sz="2600" dirty="0" err="1">
                <a:latin typeface="Arial"/>
                <a:cs typeface="Arial"/>
              </a:rPr>
              <a:t>θ</a:t>
            </a:r>
            <a:r>
              <a:rPr lang="en-US" sz="2600" baseline="-25000" dirty="0" err="1">
                <a:latin typeface="Arial"/>
                <a:cs typeface="Arial"/>
              </a:rPr>
              <a:t>M</a:t>
            </a:r>
            <a:endParaRPr lang="en-US" sz="2600" dirty="0">
              <a:latin typeface="Arial"/>
              <a:cs typeface="Arial"/>
            </a:endParaRPr>
          </a:p>
        </p:txBody>
      </p:sp>
      <p:cxnSp>
        <p:nvCxnSpPr>
          <p:cNvPr id="20" name="Straight Connector 27">
            <a:extLst>
              <a:ext uri="{FF2B5EF4-FFF2-40B4-BE49-F238E27FC236}">
                <a16:creationId xmlns:a16="http://schemas.microsoft.com/office/drawing/2014/main" id="{2C8C827F-48B3-5D4E-BF8E-EA91CBB54AF7}"/>
              </a:ext>
            </a:extLst>
          </p:cNvPr>
          <p:cNvCxnSpPr>
            <a:cxnSpLocks/>
          </p:cNvCxnSpPr>
          <p:nvPr/>
        </p:nvCxnSpPr>
        <p:spPr>
          <a:xfrm flipH="1">
            <a:off x="2999741" y="2770664"/>
            <a:ext cx="2791459" cy="1267936"/>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sp>
        <p:nvSpPr>
          <p:cNvPr id="22" name="TextBox 39">
            <a:extLst>
              <a:ext uri="{FF2B5EF4-FFF2-40B4-BE49-F238E27FC236}">
                <a16:creationId xmlns:a16="http://schemas.microsoft.com/office/drawing/2014/main" id="{7DF315F2-6004-F846-9CD3-3522103C0AF9}"/>
              </a:ext>
            </a:extLst>
          </p:cNvPr>
          <p:cNvSpPr txBox="1"/>
          <p:nvPr/>
        </p:nvSpPr>
        <p:spPr>
          <a:xfrm>
            <a:off x="3307080" y="3182778"/>
            <a:ext cx="546870" cy="492443"/>
          </a:xfrm>
          <a:prstGeom prst="rect">
            <a:avLst/>
          </a:prstGeom>
          <a:noFill/>
        </p:spPr>
        <p:txBody>
          <a:bodyPr wrap="square" rtlCol="0">
            <a:spAutoFit/>
          </a:bodyPr>
          <a:lstStyle/>
          <a:p>
            <a:r>
              <a:rPr lang="en-US" sz="2600" dirty="0">
                <a:latin typeface="Arial"/>
                <a:cs typeface="Arial"/>
              </a:rPr>
              <a:t>θ</a:t>
            </a:r>
            <a:r>
              <a:rPr lang="en-US" sz="2600" baseline="-25000" dirty="0">
                <a:latin typeface="Arial"/>
                <a:cs typeface="Arial"/>
              </a:rPr>
              <a:t>0</a:t>
            </a:r>
            <a:endParaRPr lang="en-US" sz="2600" dirty="0">
              <a:latin typeface="Arial"/>
              <a:cs typeface="Arial"/>
            </a:endParaRPr>
          </a:p>
        </p:txBody>
      </p:sp>
      <p:sp>
        <p:nvSpPr>
          <p:cNvPr id="24" name="Connector 3">
            <a:extLst>
              <a:ext uri="{FF2B5EF4-FFF2-40B4-BE49-F238E27FC236}">
                <a16:creationId xmlns:a16="http://schemas.microsoft.com/office/drawing/2014/main" id="{93D33943-CB02-844E-A139-6BFB236352C6}"/>
              </a:ext>
            </a:extLst>
          </p:cNvPr>
          <p:cNvSpPr/>
          <p:nvPr/>
        </p:nvSpPr>
        <p:spPr>
          <a:xfrm>
            <a:off x="2200318" y="3812064"/>
            <a:ext cx="822960" cy="822960"/>
          </a:xfrm>
          <a:prstGeom prst="flowChartConnector">
            <a:avLst/>
          </a:prstGeom>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en-US" sz="1500" dirty="0">
                <a:ln>
                  <a:solidFill>
                    <a:schemeClr val="tx1"/>
                  </a:solidFill>
                </a:ln>
                <a:solidFill>
                  <a:schemeClr val="tx1"/>
                </a:solidFill>
                <a:latin typeface="Arial"/>
                <a:cs typeface="Arial"/>
              </a:rPr>
              <a:t>x</a:t>
            </a:r>
            <a:r>
              <a:rPr lang="en-US" sz="1500" baseline="-25000" dirty="0">
                <a:ln>
                  <a:solidFill>
                    <a:schemeClr val="tx1"/>
                  </a:solidFill>
                </a:ln>
                <a:solidFill>
                  <a:schemeClr val="tx1"/>
                </a:solidFill>
                <a:latin typeface="Arial"/>
                <a:cs typeface="Arial"/>
              </a:rPr>
              <a:t>0</a:t>
            </a:r>
            <a:r>
              <a:rPr lang="en-US" sz="1500" dirty="0">
                <a:ln>
                  <a:solidFill>
                    <a:schemeClr val="tx1"/>
                  </a:solidFill>
                </a:ln>
                <a:solidFill>
                  <a:schemeClr val="tx1"/>
                </a:solidFill>
                <a:latin typeface="Arial"/>
                <a:cs typeface="Arial"/>
              </a:rPr>
              <a:t>=1</a:t>
            </a:r>
            <a:endParaRPr lang="en-US" sz="1500" baseline="-25000" dirty="0">
              <a:ln>
                <a:solidFill>
                  <a:schemeClr val="tx1"/>
                </a:solidFill>
              </a:ln>
              <a:solidFill>
                <a:schemeClr val="tx1"/>
              </a:solidFill>
              <a:latin typeface="Arial"/>
              <a:cs typeface="Arial"/>
            </a:endParaRPr>
          </a:p>
        </p:txBody>
      </p:sp>
      <p:sp>
        <p:nvSpPr>
          <p:cNvPr id="26" name="TextBox 74">
            <a:extLst>
              <a:ext uri="{FF2B5EF4-FFF2-40B4-BE49-F238E27FC236}">
                <a16:creationId xmlns:a16="http://schemas.microsoft.com/office/drawing/2014/main" id="{783D6CF0-DE7C-F54D-BBF9-A745B1F3784C}"/>
              </a:ext>
            </a:extLst>
          </p:cNvPr>
          <p:cNvSpPr txBox="1">
            <a:spLocks noChangeArrowheads="1"/>
          </p:cNvSpPr>
          <p:nvPr/>
        </p:nvSpPr>
        <p:spPr bwMode="auto">
          <a:xfrm>
            <a:off x="1161921" y="4038600"/>
            <a:ext cx="1295400" cy="369888"/>
          </a:xfrm>
          <a:prstGeom prst="rect">
            <a:avLst/>
          </a:prstGeom>
          <a:noFill/>
          <a:ln w="9525">
            <a:noFill/>
            <a:miter lim="800000"/>
            <a:headEnd/>
            <a:tailEnd/>
          </a:ln>
        </p:spPr>
        <p:txBody>
          <a:bodyPr>
            <a:prstTxWarp prst="textNoShape">
              <a:avLst/>
            </a:prstTxWarp>
            <a:spAutoFit/>
          </a:bodyPr>
          <a:lstStyle/>
          <a:p>
            <a:r>
              <a:rPr lang="en-US" dirty="0"/>
              <a:t>Bias unit</a:t>
            </a:r>
          </a:p>
        </p:txBody>
      </p:sp>
      <p:sp>
        <p:nvSpPr>
          <p:cNvPr id="31" name="TextBox 74">
            <a:extLst>
              <a:ext uri="{FF2B5EF4-FFF2-40B4-BE49-F238E27FC236}">
                <a16:creationId xmlns:a16="http://schemas.microsoft.com/office/drawing/2014/main" id="{F4C85A69-BF9C-DC4A-970B-C2887F5CBF1A}"/>
              </a:ext>
            </a:extLst>
          </p:cNvPr>
          <p:cNvSpPr txBox="1">
            <a:spLocks noChangeArrowheads="1"/>
          </p:cNvSpPr>
          <p:nvPr/>
        </p:nvSpPr>
        <p:spPr bwMode="auto">
          <a:xfrm>
            <a:off x="6524574" y="4707209"/>
            <a:ext cx="1295400" cy="369888"/>
          </a:xfrm>
          <a:prstGeom prst="rect">
            <a:avLst/>
          </a:prstGeom>
          <a:noFill/>
          <a:ln w="9525">
            <a:noFill/>
            <a:miter lim="800000"/>
            <a:headEnd/>
            <a:tailEnd/>
          </a:ln>
        </p:spPr>
        <p:txBody>
          <a:bodyPr>
            <a:prstTxWarp prst="textNoShape">
              <a:avLst/>
            </a:prstTxWarp>
            <a:spAutoFit/>
          </a:bodyPr>
          <a:lstStyle/>
          <a:p>
            <a:r>
              <a:rPr lang="en-US" dirty="0"/>
              <a:t>weights</a:t>
            </a:r>
          </a:p>
        </p:txBody>
      </p:sp>
      <p:sp>
        <p:nvSpPr>
          <p:cNvPr id="32" name="TextBox 74">
            <a:extLst>
              <a:ext uri="{FF2B5EF4-FFF2-40B4-BE49-F238E27FC236}">
                <a16:creationId xmlns:a16="http://schemas.microsoft.com/office/drawing/2014/main" id="{C5D820D2-528E-1447-BB58-10AE3868DB11}"/>
              </a:ext>
            </a:extLst>
          </p:cNvPr>
          <p:cNvSpPr txBox="1">
            <a:spLocks noChangeArrowheads="1"/>
          </p:cNvSpPr>
          <p:nvPr/>
        </p:nvSpPr>
        <p:spPr bwMode="auto">
          <a:xfrm>
            <a:off x="10216364" y="1392322"/>
            <a:ext cx="2074973" cy="646331"/>
          </a:xfrm>
          <a:prstGeom prst="rect">
            <a:avLst/>
          </a:prstGeom>
          <a:noFill/>
          <a:ln w="9525">
            <a:noFill/>
            <a:miter lim="800000"/>
            <a:headEnd/>
            <a:tailEnd/>
          </a:ln>
        </p:spPr>
        <p:txBody>
          <a:bodyPr wrap="square">
            <a:prstTxWarp prst="textNoShape">
              <a:avLst/>
            </a:prstTxWarp>
            <a:spAutoFit/>
          </a:bodyPr>
          <a:lstStyle/>
          <a:p>
            <a:r>
              <a:rPr lang="en-US" dirty="0"/>
              <a:t>Linear activation function</a:t>
            </a:r>
          </a:p>
        </p:txBody>
      </p:sp>
      <p:sp>
        <p:nvSpPr>
          <p:cNvPr id="38" name="TextBox 74">
            <a:extLst>
              <a:ext uri="{FF2B5EF4-FFF2-40B4-BE49-F238E27FC236}">
                <a16:creationId xmlns:a16="http://schemas.microsoft.com/office/drawing/2014/main" id="{A31EBB57-1F63-2C48-8AFC-9B68F2CC8A99}"/>
              </a:ext>
            </a:extLst>
          </p:cNvPr>
          <p:cNvSpPr txBox="1">
            <a:spLocks noChangeArrowheads="1"/>
          </p:cNvSpPr>
          <p:nvPr/>
        </p:nvSpPr>
        <p:spPr bwMode="auto">
          <a:xfrm>
            <a:off x="9022080" y="1766889"/>
            <a:ext cx="553142" cy="369888"/>
          </a:xfrm>
          <a:prstGeom prst="rect">
            <a:avLst/>
          </a:prstGeom>
          <a:noFill/>
          <a:ln w="9525">
            <a:noFill/>
            <a:miter lim="800000"/>
            <a:headEnd/>
            <a:tailEnd/>
          </a:ln>
        </p:spPr>
        <p:txBody>
          <a:bodyPr wrap="square">
            <a:prstTxWarp prst="textNoShape">
              <a:avLst/>
            </a:prstTxWarp>
            <a:spAutoFit/>
          </a:bodyPr>
          <a:lstStyle/>
          <a:p>
            <a:r>
              <a:rPr lang="en-US" dirty="0"/>
              <a:t>net</a:t>
            </a:r>
          </a:p>
        </p:txBody>
      </p:sp>
      <p:pic>
        <p:nvPicPr>
          <p:cNvPr id="44" name="Picture 5" descr="latex-image-1.pdf">
            <a:extLst>
              <a:ext uri="{FF2B5EF4-FFF2-40B4-BE49-F238E27FC236}">
                <a16:creationId xmlns:a16="http://schemas.microsoft.com/office/drawing/2014/main" id="{E878B644-5A3E-FE41-9964-B6DED360DF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12472" y="1413530"/>
            <a:ext cx="2819400" cy="929903"/>
          </a:xfrm>
          <a:prstGeom prst="rect">
            <a:avLst/>
          </a:prstGeom>
        </p:spPr>
      </p:pic>
    </p:spTree>
    <p:extLst>
      <p:ext uri="{BB962C8B-B14F-4D97-AF65-F5344CB8AC3E}">
        <p14:creationId xmlns:p14="http://schemas.microsoft.com/office/powerpoint/2010/main" val="21434570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Linear Threshold Unit (a.k.a. Perceptron)</a:t>
            </a:r>
          </a:p>
        </p:txBody>
      </p:sp>
      <p:sp>
        <p:nvSpPr>
          <p:cNvPr id="4" name="Connector 3"/>
          <p:cNvSpPr/>
          <p:nvPr/>
        </p:nvSpPr>
        <p:spPr>
          <a:xfrm>
            <a:off x="2895600" y="5715000"/>
            <a:ext cx="822960" cy="82296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2600" dirty="0">
                <a:ln>
                  <a:solidFill>
                    <a:schemeClr val="tx1"/>
                  </a:solidFill>
                </a:ln>
                <a:solidFill>
                  <a:schemeClr val="tx1"/>
                </a:solidFill>
                <a:latin typeface="Arial"/>
                <a:cs typeface="Arial"/>
              </a:rPr>
              <a:t>x</a:t>
            </a:r>
            <a:r>
              <a:rPr lang="en-US" sz="2600" baseline="-25000" dirty="0">
                <a:ln>
                  <a:solidFill>
                    <a:schemeClr val="tx1"/>
                  </a:solidFill>
                </a:ln>
                <a:solidFill>
                  <a:schemeClr val="tx1"/>
                </a:solidFill>
                <a:latin typeface="Arial"/>
                <a:cs typeface="Arial"/>
              </a:rPr>
              <a:t>1</a:t>
            </a:r>
          </a:p>
        </p:txBody>
      </p:sp>
      <p:sp>
        <p:nvSpPr>
          <p:cNvPr id="7" name="Connector 6"/>
          <p:cNvSpPr/>
          <p:nvPr/>
        </p:nvSpPr>
        <p:spPr>
          <a:xfrm>
            <a:off x="4419600" y="5715000"/>
            <a:ext cx="822960" cy="82296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2600" dirty="0">
                <a:ln>
                  <a:solidFill>
                    <a:schemeClr val="tx1"/>
                  </a:solidFill>
                </a:ln>
                <a:solidFill>
                  <a:schemeClr val="tx1"/>
                </a:solidFill>
                <a:latin typeface="Arial"/>
                <a:cs typeface="Arial"/>
              </a:rPr>
              <a:t>x</a:t>
            </a:r>
            <a:r>
              <a:rPr lang="en-US" sz="2600" baseline="-25000" dirty="0">
                <a:ln>
                  <a:solidFill>
                    <a:schemeClr val="tx1"/>
                  </a:solidFill>
                </a:ln>
                <a:solidFill>
                  <a:schemeClr val="tx1"/>
                </a:solidFill>
                <a:latin typeface="Arial"/>
                <a:cs typeface="Arial"/>
              </a:rPr>
              <a:t>2</a:t>
            </a:r>
          </a:p>
        </p:txBody>
      </p:sp>
      <p:sp>
        <p:nvSpPr>
          <p:cNvPr id="8" name="Connector 7"/>
          <p:cNvSpPr/>
          <p:nvPr/>
        </p:nvSpPr>
        <p:spPr>
          <a:xfrm>
            <a:off x="6096000" y="5715000"/>
            <a:ext cx="822960" cy="82296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2600" dirty="0">
                <a:ln>
                  <a:solidFill>
                    <a:schemeClr val="tx1"/>
                  </a:solidFill>
                </a:ln>
                <a:solidFill>
                  <a:schemeClr val="tx1"/>
                </a:solidFill>
                <a:latin typeface="Arial"/>
                <a:cs typeface="Arial"/>
              </a:rPr>
              <a:t>x</a:t>
            </a:r>
            <a:r>
              <a:rPr lang="en-US" sz="2600" baseline="-25000" dirty="0">
                <a:ln>
                  <a:solidFill>
                    <a:schemeClr val="tx1"/>
                  </a:solidFill>
                </a:ln>
                <a:solidFill>
                  <a:schemeClr val="tx1"/>
                </a:solidFill>
                <a:latin typeface="Arial"/>
                <a:cs typeface="Arial"/>
              </a:rPr>
              <a:t>3</a:t>
            </a:r>
          </a:p>
        </p:txBody>
      </p:sp>
      <p:sp>
        <p:nvSpPr>
          <p:cNvPr id="9" name="Connector 8"/>
          <p:cNvSpPr/>
          <p:nvPr/>
        </p:nvSpPr>
        <p:spPr>
          <a:xfrm>
            <a:off x="8610600" y="5715000"/>
            <a:ext cx="822960" cy="82296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2600" dirty="0" err="1">
                <a:ln>
                  <a:solidFill>
                    <a:schemeClr val="tx1"/>
                  </a:solidFill>
                </a:ln>
                <a:solidFill>
                  <a:schemeClr val="tx1"/>
                </a:solidFill>
                <a:latin typeface="Arial"/>
                <a:cs typeface="Arial"/>
              </a:rPr>
              <a:t>x</a:t>
            </a:r>
            <a:r>
              <a:rPr lang="en-US" sz="2600" baseline="-25000" dirty="0" err="1">
                <a:ln>
                  <a:solidFill>
                    <a:schemeClr val="tx1"/>
                  </a:solidFill>
                </a:ln>
                <a:solidFill>
                  <a:schemeClr val="tx1"/>
                </a:solidFill>
                <a:latin typeface="Arial"/>
                <a:cs typeface="Arial"/>
              </a:rPr>
              <a:t>M</a:t>
            </a:r>
            <a:endParaRPr lang="en-US" sz="2600" baseline="-25000" dirty="0">
              <a:ln>
                <a:solidFill>
                  <a:schemeClr val="tx1"/>
                </a:solidFill>
              </a:ln>
              <a:solidFill>
                <a:schemeClr val="tx1"/>
              </a:solidFill>
              <a:latin typeface="Arial"/>
              <a:cs typeface="Arial"/>
            </a:endParaRPr>
          </a:p>
        </p:txBody>
      </p:sp>
      <p:sp>
        <p:nvSpPr>
          <p:cNvPr id="10" name="Connector 9"/>
          <p:cNvSpPr/>
          <p:nvPr/>
        </p:nvSpPr>
        <p:spPr>
          <a:xfrm>
            <a:off x="5791200" y="2174240"/>
            <a:ext cx="822960" cy="822960"/>
          </a:xfrm>
          <a:prstGeom prst="flowChartConnector">
            <a:avLst/>
          </a:prstGeom>
          <a:solidFill>
            <a:srgbClr val="E0D925"/>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2600" dirty="0">
                <a:ln>
                  <a:solidFill>
                    <a:schemeClr val="tx1"/>
                  </a:solidFill>
                </a:ln>
                <a:solidFill>
                  <a:schemeClr val="tx1"/>
                </a:solidFill>
                <a:latin typeface="Arial"/>
                <a:cs typeface="Arial"/>
              </a:rPr>
              <a:t>y</a:t>
            </a:r>
            <a:endParaRPr lang="en-US" sz="2600" baseline="-25000" dirty="0">
              <a:ln>
                <a:solidFill>
                  <a:schemeClr val="tx1"/>
                </a:solidFill>
              </a:ln>
              <a:solidFill>
                <a:schemeClr val="tx1"/>
              </a:solidFill>
              <a:latin typeface="Arial"/>
              <a:cs typeface="Arial"/>
            </a:endParaRPr>
          </a:p>
        </p:txBody>
      </p:sp>
      <p:sp>
        <p:nvSpPr>
          <p:cNvPr id="15" name="TextBox 14"/>
          <p:cNvSpPr txBox="1">
            <a:spLocks noChangeArrowheads="1"/>
          </p:cNvSpPr>
          <p:nvPr/>
        </p:nvSpPr>
        <p:spPr bwMode="auto">
          <a:xfrm>
            <a:off x="7543800" y="5791201"/>
            <a:ext cx="533400" cy="492125"/>
          </a:xfrm>
          <a:prstGeom prst="rect">
            <a:avLst/>
          </a:prstGeom>
          <a:noFill/>
          <a:ln w="9525">
            <a:noFill/>
            <a:miter lim="800000"/>
            <a:headEnd/>
            <a:tailEnd/>
          </a:ln>
        </p:spPr>
        <p:txBody>
          <a:bodyPr anchor="ctr">
            <a:prstTxWarp prst="textNoShape">
              <a:avLst/>
            </a:prstTxWarp>
            <a:spAutoFit/>
          </a:bodyPr>
          <a:lstStyle/>
          <a:p>
            <a:pPr algn="ctr"/>
            <a:r>
              <a:rPr lang="en-US" sz="2600" b="1"/>
              <a:t>…</a:t>
            </a:r>
          </a:p>
        </p:txBody>
      </p:sp>
      <p:cxnSp>
        <p:nvCxnSpPr>
          <p:cNvPr id="27" name="Straight Connector 26"/>
          <p:cNvCxnSpPr>
            <a:stCxn id="10" idx="4"/>
            <a:endCxn id="9" idx="0"/>
          </p:cNvCxnSpPr>
          <p:nvPr/>
        </p:nvCxnSpPr>
        <p:spPr>
          <a:xfrm>
            <a:off x="6202680" y="2997200"/>
            <a:ext cx="2819400" cy="271780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8" name="Straight Connector 27"/>
          <p:cNvCxnSpPr>
            <a:stCxn id="10" idx="4"/>
            <a:endCxn id="4" idx="0"/>
          </p:cNvCxnSpPr>
          <p:nvPr/>
        </p:nvCxnSpPr>
        <p:spPr>
          <a:xfrm flipH="1">
            <a:off x="3307080" y="2997200"/>
            <a:ext cx="2895600" cy="271780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a:stCxn id="10" idx="4"/>
            <a:endCxn id="7" idx="0"/>
          </p:cNvCxnSpPr>
          <p:nvPr/>
        </p:nvCxnSpPr>
        <p:spPr>
          <a:xfrm flipH="1">
            <a:off x="4831080" y="2997200"/>
            <a:ext cx="1371600" cy="271780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0" name="Straight Connector 29"/>
          <p:cNvCxnSpPr>
            <a:stCxn id="10" idx="4"/>
            <a:endCxn id="8" idx="0"/>
          </p:cNvCxnSpPr>
          <p:nvPr/>
        </p:nvCxnSpPr>
        <p:spPr>
          <a:xfrm>
            <a:off x="6202680" y="2997200"/>
            <a:ext cx="304800" cy="271780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sp>
        <p:nvSpPr>
          <p:cNvPr id="34" name="TextBox 74"/>
          <p:cNvSpPr txBox="1">
            <a:spLocks noChangeArrowheads="1"/>
          </p:cNvSpPr>
          <p:nvPr/>
        </p:nvSpPr>
        <p:spPr bwMode="auto">
          <a:xfrm>
            <a:off x="4739588" y="2276479"/>
            <a:ext cx="1295400" cy="369888"/>
          </a:xfrm>
          <a:prstGeom prst="rect">
            <a:avLst/>
          </a:prstGeom>
          <a:noFill/>
          <a:ln w="9525">
            <a:noFill/>
            <a:miter lim="800000"/>
            <a:headEnd/>
            <a:tailEnd/>
          </a:ln>
        </p:spPr>
        <p:txBody>
          <a:bodyPr>
            <a:prstTxWarp prst="textNoShape">
              <a:avLst/>
            </a:prstTxWarp>
            <a:spAutoFit/>
          </a:bodyPr>
          <a:lstStyle/>
          <a:p>
            <a:r>
              <a:rPr lang="en-US" dirty="0"/>
              <a:t>Output</a:t>
            </a:r>
          </a:p>
        </p:txBody>
      </p:sp>
      <p:sp>
        <p:nvSpPr>
          <p:cNvPr id="35" name="TextBox 75"/>
          <p:cNvSpPr txBox="1">
            <a:spLocks noChangeArrowheads="1"/>
          </p:cNvSpPr>
          <p:nvPr/>
        </p:nvSpPr>
        <p:spPr bwMode="auto">
          <a:xfrm>
            <a:off x="1524000" y="5943600"/>
            <a:ext cx="1295400" cy="369888"/>
          </a:xfrm>
          <a:prstGeom prst="rect">
            <a:avLst/>
          </a:prstGeom>
          <a:noFill/>
          <a:ln w="9525">
            <a:noFill/>
            <a:miter lim="800000"/>
            <a:headEnd/>
            <a:tailEnd/>
          </a:ln>
        </p:spPr>
        <p:txBody>
          <a:bodyPr>
            <a:prstTxWarp prst="textNoShape">
              <a:avLst/>
            </a:prstTxWarp>
            <a:spAutoFit/>
          </a:bodyPr>
          <a:lstStyle/>
          <a:p>
            <a:pPr algn="ctr"/>
            <a:r>
              <a:rPr lang="en-US"/>
              <a:t>Input</a:t>
            </a:r>
          </a:p>
        </p:txBody>
      </p:sp>
      <p:sp>
        <p:nvSpPr>
          <p:cNvPr id="40" name="TextBox 39"/>
          <p:cNvSpPr txBox="1"/>
          <p:nvPr/>
        </p:nvSpPr>
        <p:spPr>
          <a:xfrm>
            <a:off x="3390826" y="4700243"/>
            <a:ext cx="546870" cy="492443"/>
          </a:xfrm>
          <a:prstGeom prst="rect">
            <a:avLst/>
          </a:prstGeom>
          <a:noFill/>
        </p:spPr>
        <p:txBody>
          <a:bodyPr wrap="square" rtlCol="0">
            <a:spAutoFit/>
          </a:bodyPr>
          <a:lstStyle/>
          <a:p>
            <a:r>
              <a:rPr lang="en-US" sz="2600" dirty="0">
                <a:latin typeface="Arial"/>
                <a:cs typeface="Arial"/>
              </a:rPr>
              <a:t>θ</a:t>
            </a:r>
            <a:r>
              <a:rPr lang="en-US" sz="2600" baseline="-25000" dirty="0">
                <a:latin typeface="Arial"/>
                <a:cs typeface="Arial"/>
              </a:rPr>
              <a:t>1</a:t>
            </a:r>
            <a:endParaRPr lang="en-US" sz="2600" dirty="0">
              <a:latin typeface="Arial"/>
              <a:cs typeface="Arial"/>
            </a:endParaRPr>
          </a:p>
        </p:txBody>
      </p:sp>
      <p:sp>
        <p:nvSpPr>
          <p:cNvPr id="41" name="TextBox 40"/>
          <p:cNvSpPr txBox="1"/>
          <p:nvPr/>
        </p:nvSpPr>
        <p:spPr>
          <a:xfrm>
            <a:off x="4557645" y="4657083"/>
            <a:ext cx="546870" cy="492443"/>
          </a:xfrm>
          <a:prstGeom prst="rect">
            <a:avLst/>
          </a:prstGeom>
          <a:noFill/>
        </p:spPr>
        <p:txBody>
          <a:bodyPr wrap="square" rtlCol="0">
            <a:spAutoFit/>
          </a:bodyPr>
          <a:lstStyle/>
          <a:p>
            <a:r>
              <a:rPr lang="en-US" sz="2600" dirty="0">
                <a:latin typeface="Arial"/>
                <a:cs typeface="Arial"/>
              </a:rPr>
              <a:t>θ</a:t>
            </a:r>
            <a:r>
              <a:rPr lang="en-US" sz="2600" baseline="-25000" dirty="0">
                <a:latin typeface="Arial"/>
                <a:cs typeface="Arial"/>
              </a:rPr>
              <a:t>2</a:t>
            </a:r>
            <a:endParaRPr lang="en-US" sz="2600" dirty="0">
              <a:latin typeface="Arial"/>
              <a:cs typeface="Arial"/>
            </a:endParaRPr>
          </a:p>
        </p:txBody>
      </p:sp>
      <p:sp>
        <p:nvSpPr>
          <p:cNvPr id="42" name="TextBox 41"/>
          <p:cNvSpPr txBox="1"/>
          <p:nvPr/>
        </p:nvSpPr>
        <p:spPr>
          <a:xfrm>
            <a:off x="5859475" y="4645623"/>
            <a:ext cx="546870" cy="492443"/>
          </a:xfrm>
          <a:prstGeom prst="rect">
            <a:avLst/>
          </a:prstGeom>
          <a:noFill/>
        </p:spPr>
        <p:txBody>
          <a:bodyPr wrap="square" rtlCol="0">
            <a:spAutoFit/>
          </a:bodyPr>
          <a:lstStyle/>
          <a:p>
            <a:r>
              <a:rPr lang="en-US" sz="2600" dirty="0">
                <a:latin typeface="Arial"/>
                <a:cs typeface="Arial"/>
              </a:rPr>
              <a:t>θ</a:t>
            </a:r>
            <a:r>
              <a:rPr lang="en-US" sz="2600" baseline="-25000" dirty="0">
                <a:latin typeface="Arial"/>
                <a:cs typeface="Arial"/>
              </a:rPr>
              <a:t>3</a:t>
            </a:r>
            <a:endParaRPr lang="en-US" sz="2600" dirty="0">
              <a:latin typeface="Arial"/>
              <a:cs typeface="Arial"/>
            </a:endParaRPr>
          </a:p>
        </p:txBody>
      </p:sp>
      <p:sp>
        <p:nvSpPr>
          <p:cNvPr id="43" name="TextBox 42"/>
          <p:cNvSpPr txBox="1"/>
          <p:nvPr/>
        </p:nvSpPr>
        <p:spPr>
          <a:xfrm>
            <a:off x="7404727" y="4647818"/>
            <a:ext cx="740748" cy="492443"/>
          </a:xfrm>
          <a:prstGeom prst="rect">
            <a:avLst/>
          </a:prstGeom>
          <a:noFill/>
        </p:spPr>
        <p:txBody>
          <a:bodyPr wrap="square" rtlCol="0">
            <a:spAutoFit/>
          </a:bodyPr>
          <a:lstStyle/>
          <a:p>
            <a:r>
              <a:rPr lang="en-US" sz="2600" dirty="0" err="1">
                <a:latin typeface="Arial"/>
                <a:cs typeface="Arial"/>
              </a:rPr>
              <a:t>θ</a:t>
            </a:r>
            <a:r>
              <a:rPr lang="en-US" sz="2600" baseline="-25000" dirty="0" err="1">
                <a:latin typeface="Arial"/>
                <a:cs typeface="Arial"/>
              </a:rPr>
              <a:t>M</a:t>
            </a:r>
            <a:endParaRPr lang="en-US" sz="2600" dirty="0">
              <a:latin typeface="Arial"/>
              <a:cs typeface="Arial"/>
            </a:endParaRPr>
          </a:p>
        </p:txBody>
      </p:sp>
      <p:cxnSp>
        <p:nvCxnSpPr>
          <p:cNvPr id="20" name="Straight Connector 27">
            <a:extLst>
              <a:ext uri="{FF2B5EF4-FFF2-40B4-BE49-F238E27FC236}">
                <a16:creationId xmlns:a16="http://schemas.microsoft.com/office/drawing/2014/main" id="{2C8C827F-48B3-5D4E-BF8E-EA91CBB54AF7}"/>
              </a:ext>
            </a:extLst>
          </p:cNvPr>
          <p:cNvCxnSpPr>
            <a:cxnSpLocks/>
          </p:cNvCxnSpPr>
          <p:nvPr/>
        </p:nvCxnSpPr>
        <p:spPr>
          <a:xfrm flipH="1">
            <a:off x="2999741" y="2770664"/>
            <a:ext cx="2791459" cy="1267936"/>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sp>
        <p:nvSpPr>
          <p:cNvPr id="22" name="TextBox 39">
            <a:extLst>
              <a:ext uri="{FF2B5EF4-FFF2-40B4-BE49-F238E27FC236}">
                <a16:creationId xmlns:a16="http://schemas.microsoft.com/office/drawing/2014/main" id="{7DF315F2-6004-F846-9CD3-3522103C0AF9}"/>
              </a:ext>
            </a:extLst>
          </p:cNvPr>
          <p:cNvSpPr txBox="1"/>
          <p:nvPr/>
        </p:nvSpPr>
        <p:spPr>
          <a:xfrm>
            <a:off x="3307080" y="3182778"/>
            <a:ext cx="546870" cy="492443"/>
          </a:xfrm>
          <a:prstGeom prst="rect">
            <a:avLst/>
          </a:prstGeom>
          <a:noFill/>
        </p:spPr>
        <p:txBody>
          <a:bodyPr wrap="square" rtlCol="0">
            <a:spAutoFit/>
          </a:bodyPr>
          <a:lstStyle/>
          <a:p>
            <a:r>
              <a:rPr lang="en-US" sz="2600" dirty="0">
                <a:latin typeface="Arial"/>
                <a:cs typeface="Arial"/>
              </a:rPr>
              <a:t>θ</a:t>
            </a:r>
            <a:r>
              <a:rPr lang="en-US" sz="2600" baseline="-25000" dirty="0">
                <a:latin typeface="Arial"/>
                <a:cs typeface="Arial"/>
              </a:rPr>
              <a:t>0</a:t>
            </a:r>
            <a:endParaRPr lang="en-US" sz="2600" dirty="0">
              <a:latin typeface="Arial"/>
              <a:cs typeface="Arial"/>
            </a:endParaRPr>
          </a:p>
        </p:txBody>
      </p:sp>
      <p:sp>
        <p:nvSpPr>
          <p:cNvPr id="24" name="Connector 3">
            <a:extLst>
              <a:ext uri="{FF2B5EF4-FFF2-40B4-BE49-F238E27FC236}">
                <a16:creationId xmlns:a16="http://schemas.microsoft.com/office/drawing/2014/main" id="{93D33943-CB02-844E-A139-6BFB236352C6}"/>
              </a:ext>
            </a:extLst>
          </p:cNvPr>
          <p:cNvSpPr/>
          <p:nvPr/>
        </p:nvSpPr>
        <p:spPr>
          <a:xfrm>
            <a:off x="2200318" y="3812064"/>
            <a:ext cx="822960" cy="822960"/>
          </a:xfrm>
          <a:prstGeom prst="flowChartConnector">
            <a:avLst/>
          </a:prstGeom>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en-US" sz="1500" dirty="0">
                <a:ln>
                  <a:solidFill>
                    <a:schemeClr val="tx1"/>
                  </a:solidFill>
                </a:ln>
                <a:solidFill>
                  <a:schemeClr val="tx1"/>
                </a:solidFill>
                <a:latin typeface="Arial"/>
                <a:cs typeface="Arial"/>
              </a:rPr>
              <a:t>x</a:t>
            </a:r>
            <a:r>
              <a:rPr lang="en-US" sz="1500" baseline="-25000" dirty="0">
                <a:ln>
                  <a:solidFill>
                    <a:schemeClr val="tx1"/>
                  </a:solidFill>
                </a:ln>
                <a:solidFill>
                  <a:schemeClr val="tx1"/>
                </a:solidFill>
                <a:latin typeface="Arial"/>
                <a:cs typeface="Arial"/>
              </a:rPr>
              <a:t>0</a:t>
            </a:r>
            <a:r>
              <a:rPr lang="en-US" sz="1500" dirty="0">
                <a:ln>
                  <a:solidFill>
                    <a:schemeClr val="tx1"/>
                  </a:solidFill>
                </a:ln>
                <a:solidFill>
                  <a:schemeClr val="tx1"/>
                </a:solidFill>
                <a:latin typeface="Arial"/>
                <a:cs typeface="Arial"/>
              </a:rPr>
              <a:t>=1</a:t>
            </a:r>
            <a:endParaRPr lang="en-US" sz="1500" baseline="-25000" dirty="0">
              <a:ln>
                <a:solidFill>
                  <a:schemeClr val="tx1"/>
                </a:solidFill>
              </a:ln>
              <a:solidFill>
                <a:schemeClr val="tx1"/>
              </a:solidFill>
              <a:latin typeface="Arial"/>
              <a:cs typeface="Arial"/>
            </a:endParaRPr>
          </a:p>
        </p:txBody>
      </p:sp>
      <p:sp>
        <p:nvSpPr>
          <p:cNvPr id="26" name="TextBox 74">
            <a:extLst>
              <a:ext uri="{FF2B5EF4-FFF2-40B4-BE49-F238E27FC236}">
                <a16:creationId xmlns:a16="http://schemas.microsoft.com/office/drawing/2014/main" id="{783D6CF0-DE7C-F54D-BBF9-A745B1F3784C}"/>
              </a:ext>
            </a:extLst>
          </p:cNvPr>
          <p:cNvSpPr txBox="1">
            <a:spLocks noChangeArrowheads="1"/>
          </p:cNvSpPr>
          <p:nvPr/>
        </p:nvSpPr>
        <p:spPr bwMode="auto">
          <a:xfrm>
            <a:off x="1161921" y="4038600"/>
            <a:ext cx="1295400" cy="369888"/>
          </a:xfrm>
          <a:prstGeom prst="rect">
            <a:avLst/>
          </a:prstGeom>
          <a:noFill/>
          <a:ln w="9525">
            <a:noFill/>
            <a:miter lim="800000"/>
            <a:headEnd/>
            <a:tailEnd/>
          </a:ln>
        </p:spPr>
        <p:txBody>
          <a:bodyPr>
            <a:prstTxWarp prst="textNoShape">
              <a:avLst/>
            </a:prstTxWarp>
            <a:spAutoFit/>
          </a:bodyPr>
          <a:lstStyle/>
          <a:p>
            <a:r>
              <a:rPr lang="en-US" dirty="0"/>
              <a:t>Bias unit</a:t>
            </a:r>
          </a:p>
        </p:txBody>
      </p:sp>
      <p:sp>
        <p:nvSpPr>
          <p:cNvPr id="31" name="TextBox 74">
            <a:extLst>
              <a:ext uri="{FF2B5EF4-FFF2-40B4-BE49-F238E27FC236}">
                <a16:creationId xmlns:a16="http://schemas.microsoft.com/office/drawing/2014/main" id="{F4C85A69-BF9C-DC4A-970B-C2887F5CBF1A}"/>
              </a:ext>
            </a:extLst>
          </p:cNvPr>
          <p:cNvSpPr txBox="1">
            <a:spLocks noChangeArrowheads="1"/>
          </p:cNvSpPr>
          <p:nvPr/>
        </p:nvSpPr>
        <p:spPr bwMode="auto">
          <a:xfrm>
            <a:off x="6524574" y="4707209"/>
            <a:ext cx="1295400" cy="369888"/>
          </a:xfrm>
          <a:prstGeom prst="rect">
            <a:avLst/>
          </a:prstGeom>
          <a:noFill/>
          <a:ln w="9525">
            <a:noFill/>
            <a:miter lim="800000"/>
            <a:headEnd/>
            <a:tailEnd/>
          </a:ln>
        </p:spPr>
        <p:txBody>
          <a:bodyPr>
            <a:prstTxWarp prst="textNoShape">
              <a:avLst/>
            </a:prstTxWarp>
            <a:spAutoFit/>
          </a:bodyPr>
          <a:lstStyle/>
          <a:p>
            <a:r>
              <a:rPr lang="en-US" dirty="0"/>
              <a:t>weights</a:t>
            </a:r>
          </a:p>
        </p:txBody>
      </p:sp>
      <p:sp>
        <p:nvSpPr>
          <p:cNvPr id="32" name="TextBox 74">
            <a:extLst>
              <a:ext uri="{FF2B5EF4-FFF2-40B4-BE49-F238E27FC236}">
                <a16:creationId xmlns:a16="http://schemas.microsoft.com/office/drawing/2014/main" id="{C5D820D2-528E-1447-BB58-10AE3868DB11}"/>
              </a:ext>
            </a:extLst>
          </p:cNvPr>
          <p:cNvSpPr txBox="1">
            <a:spLocks noChangeArrowheads="1"/>
          </p:cNvSpPr>
          <p:nvPr/>
        </p:nvSpPr>
        <p:spPr bwMode="auto">
          <a:xfrm>
            <a:off x="10216364" y="1392322"/>
            <a:ext cx="2074973" cy="646331"/>
          </a:xfrm>
          <a:prstGeom prst="rect">
            <a:avLst/>
          </a:prstGeom>
          <a:noFill/>
          <a:ln w="9525">
            <a:noFill/>
            <a:miter lim="800000"/>
            <a:headEnd/>
            <a:tailEnd/>
          </a:ln>
        </p:spPr>
        <p:txBody>
          <a:bodyPr wrap="square">
            <a:prstTxWarp prst="textNoShape">
              <a:avLst/>
            </a:prstTxWarp>
            <a:spAutoFit/>
          </a:bodyPr>
          <a:lstStyle/>
          <a:p>
            <a:r>
              <a:rPr lang="en-US" dirty="0"/>
              <a:t>Sign activation function</a:t>
            </a:r>
          </a:p>
        </p:txBody>
      </p:sp>
      <p:pic>
        <p:nvPicPr>
          <p:cNvPr id="33" name="Picture 3" descr="latex-image-1.pdf">
            <a:extLst>
              <a:ext uri="{FF2B5EF4-FFF2-40B4-BE49-F238E27FC236}">
                <a16:creationId xmlns:a16="http://schemas.microsoft.com/office/drawing/2014/main" id="{8548CA1D-B2AA-0347-A46B-01AE872EA54F}"/>
              </a:ext>
            </a:extLst>
          </p:cNvPr>
          <p:cNvPicPr>
            <a:picLocks noChangeAspect="1"/>
          </p:cNvPicPr>
          <p:nvPr/>
        </p:nvPicPr>
        <p:blipFill rotWithShape="1">
          <a:blip r:embed="rId3">
            <a:extLst>
              <a:ext uri="{28A0092B-C50C-407E-A947-70E740481C1C}">
                <a14:useLocalDpi xmlns:a14="http://schemas.microsoft.com/office/drawing/2010/main" val="0"/>
              </a:ext>
            </a:extLst>
          </a:blip>
          <a:srcRect b="58895"/>
          <a:stretch/>
        </p:blipFill>
        <p:spPr>
          <a:xfrm>
            <a:off x="6751320" y="1493324"/>
            <a:ext cx="3961338" cy="545330"/>
          </a:xfrm>
          <a:prstGeom prst="rect">
            <a:avLst/>
          </a:prstGeom>
        </p:spPr>
      </p:pic>
      <mc:AlternateContent xmlns:mc="http://schemas.openxmlformats.org/markup-compatibility/2006" xmlns:a14="http://schemas.microsoft.com/office/drawing/2010/main">
        <mc:Choice Requires="a14">
          <p:sp>
            <p:nvSpPr>
              <p:cNvPr id="37" name="CasellaDiTesto 36">
                <a:extLst>
                  <a:ext uri="{FF2B5EF4-FFF2-40B4-BE49-F238E27FC236}">
                    <a16:creationId xmlns:a16="http://schemas.microsoft.com/office/drawing/2014/main" id="{C4C7B96F-35BC-B549-9E86-53EAFE06055D}"/>
                  </a:ext>
                </a:extLst>
              </p:cNvPr>
              <p:cNvSpPr txBox="1"/>
              <p:nvPr/>
            </p:nvSpPr>
            <p:spPr>
              <a:xfrm>
                <a:off x="8731989" y="2037798"/>
                <a:ext cx="2461123" cy="82381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2400" b="0" i="1" smtClean="0">
                          <a:latin typeface="Cambria Math" panose="02040503050406030204" pitchFamily="18" charset="0"/>
                        </a:rPr>
                        <m:t>𝜎</m:t>
                      </m:r>
                      <m:d>
                        <m:dPr>
                          <m:ctrlPr>
                            <a:rPr lang="it-IT" sz="2400" b="0" i="1" smtClean="0">
                              <a:latin typeface="Cambria Math" panose="02040503050406030204" pitchFamily="18" charset="0"/>
                            </a:rPr>
                          </m:ctrlPr>
                        </m:dPr>
                        <m:e>
                          <m:r>
                            <a:rPr lang="it-IT" sz="2400" b="0" i="1" smtClean="0">
                              <a:latin typeface="Cambria Math" panose="02040503050406030204" pitchFamily="18" charset="0"/>
                            </a:rPr>
                            <m:t>𝑎</m:t>
                          </m:r>
                        </m:e>
                      </m:d>
                      <m:r>
                        <a:rPr lang="it-IT" sz="2400" b="0" i="1" smtClean="0">
                          <a:latin typeface="Cambria Math" panose="02040503050406030204" pitchFamily="18" charset="0"/>
                        </a:rPr>
                        <m:t>=</m:t>
                      </m:r>
                      <m:d>
                        <m:dPr>
                          <m:begChr m:val="{"/>
                          <m:endChr m:val=""/>
                          <m:ctrlPr>
                            <a:rPr lang="it-IT" sz="2400" b="0" i="1" smtClean="0">
                              <a:latin typeface="Cambria Math" panose="02040503050406030204" pitchFamily="18" charset="0"/>
                            </a:rPr>
                          </m:ctrlPr>
                        </m:dPr>
                        <m:e>
                          <m:eqArr>
                            <m:eqArrPr>
                              <m:ctrlPr>
                                <a:rPr lang="it-IT" sz="2400" b="0" i="1" smtClean="0">
                                  <a:latin typeface="Cambria Math" panose="02040503050406030204" pitchFamily="18" charset="0"/>
                                </a:rPr>
                              </m:ctrlPr>
                            </m:eqArrPr>
                            <m:e>
                              <m:r>
                                <a:rPr lang="it-IT" sz="2400" b="0" i="1" smtClean="0">
                                  <a:latin typeface="Cambria Math" panose="02040503050406030204" pitchFamily="18" charset="0"/>
                                </a:rPr>
                                <m:t>+1 </m:t>
                              </m:r>
                              <m:r>
                                <a:rPr lang="it-IT" sz="2400" b="0" i="1" smtClean="0">
                                  <a:latin typeface="Cambria Math" panose="02040503050406030204" pitchFamily="18" charset="0"/>
                                </a:rPr>
                                <m:t>𝑎</m:t>
                              </m:r>
                              <m:r>
                                <a:rPr lang="it-IT" sz="2400" b="0" i="1" smtClean="0">
                                  <a:latin typeface="Cambria Math" panose="02040503050406030204" pitchFamily="18" charset="0"/>
                                  <a:ea typeface="Cambria Math" panose="02040503050406030204" pitchFamily="18" charset="0"/>
                                </a:rPr>
                                <m:t>≥0</m:t>
                              </m:r>
                            </m:e>
                            <m:e>
                              <m:r>
                                <a:rPr lang="it-IT" sz="2400" b="0" i="1" smtClean="0">
                                  <a:latin typeface="Cambria Math" panose="02040503050406030204" pitchFamily="18" charset="0"/>
                                </a:rPr>
                                <m:t>−1 </m:t>
                              </m:r>
                              <m:r>
                                <a:rPr lang="it-IT" sz="2400" b="0" i="1" smtClean="0">
                                  <a:latin typeface="Cambria Math" panose="02040503050406030204" pitchFamily="18" charset="0"/>
                                </a:rPr>
                                <m:t>𝑎</m:t>
                              </m:r>
                              <m:r>
                                <a:rPr lang="it-IT" sz="2400" b="0" i="1" smtClean="0">
                                  <a:latin typeface="Cambria Math" panose="02040503050406030204" pitchFamily="18" charset="0"/>
                                </a:rPr>
                                <m:t>&lt;0</m:t>
                              </m:r>
                            </m:e>
                          </m:eqArr>
                        </m:e>
                      </m:d>
                    </m:oMath>
                  </m:oMathPara>
                </a14:m>
                <a:endParaRPr lang="en-GB" sz="2400" dirty="0"/>
              </a:p>
            </p:txBody>
          </p:sp>
        </mc:Choice>
        <mc:Fallback xmlns="">
          <p:sp>
            <p:nvSpPr>
              <p:cNvPr id="37" name="CasellaDiTesto 36">
                <a:extLst>
                  <a:ext uri="{FF2B5EF4-FFF2-40B4-BE49-F238E27FC236}">
                    <a16:creationId xmlns:a16="http://schemas.microsoft.com/office/drawing/2014/main" id="{C4C7B96F-35BC-B549-9E86-53EAFE06055D}"/>
                  </a:ext>
                </a:extLst>
              </p:cNvPr>
              <p:cNvSpPr txBox="1">
                <a:spLocks noRot="1" noChangeAspect="1" noMove="1" noResize="1" noEditPoints="1" noAdjustHandles="1" noChangeArrowheads="1" noChangeShapeType="1" noTextEdit="1"/>
              </p:cNvSpPr>
              <p:nvPr/>
            </p:nvSpPr>
            <p:spPr>
              <a:xfrm>
                <a:off x="8731989" y="2037798"/>
                <a:ext cx="2461123" cy="823815"/>
              </a:xfrm>
              <a:prstGeom prst="rect">
                <a:avLst/>
              </a:prstGeom>
              <a:blipFill>
                <a:blip r:embed="rId4"/>
                <a:stretch>
                  <a:fillRect l="-20103" t="-222727" r="-6186" b="-324242"/>
                </a:stretch>
              </a:blipFill>
            </p:spPr>
            <p:txBody>
              <a:bodyPr/>
              <a:lstStyle/>
              <a:p>
                <a:r>
                  <a:rPr lang="it-IT">
                    <a:noFill/>
                  </a:rPr>
                  <a:t> </a:t>
                </a:r>
              </a:p>
            </p:txBody>
          </p:sp>
        </mc:Fallback>
      </mc:AlternateContent>
      <p:sp>
        <p:nvSpPr>
          <p:cNvPr id="38" name="TextBox 74">
            <a:extLst>
              <a:ext uri="{FF2B5EF4-FFF2-40B4-BE49-F238E27FC236}">
                <a16:creationId xmlns:a16="http://schemas.microsoft.com/office/drawing/2014/main" id="{A31EBB57-1F63-2C48-8AFC-9B68F2CC8A99}"/>
              </a:ext>
            </a:extLst>
          </p:cNvPr>
          <p:cNvSpPr txBox="1">
            <a:spLocks noChangeArrowheads="1"/>
          </p:cNvSpPr>
          <p:nvPr/>
        </p:nvSpPr>
        <p:spPr bwMode="auto">
          <a:xfrm>
            <a:off x="9022080" y="1766889"/>
            <a:ext cx="553142" cy="369888"/>
          </a:xfrm>
          <a:prstGeom prst="rect">
            <a:avLst/>
          </a:prstGeom>
          <a:noFill/>
          <a:ln w="9525">
            <a:noFill/>
            <a:miter lim="800000"/>
            <a:headEnd/>
            <a:tailEnd/>
          </a:ln>
        </p:spPr>
        <p:txBody>
          <a:bodyPr wrap="square">
            <a:prstTxWarp prst="textNoShape">
              <a:avLst/>
            </a:prstTxWarp>
            <a:spAutoFit/>
          </a:bodyPr>
          <a:lstStyle/>
          <a:p>
            <a:r>
              <a:rPr lang="en-US" dirty="0"/>
              <a:t>net</a:t>
            </a:r>
          </a:p>
        </p:txBody>
      </p:sp>
      <p:sp>
        <p:nvSpPr>
          <p:cNvPr id="39" name="TextBox 74">
            <a:extLst>
              <a:ext uri="{FF2B5EF4-FFF2-40B4-BE49-F238E27FC236}">
                <a16:creationId xmlns:a16="http://schemas.microsoft.com/office/drawing/2014/main" id="{641CC7F3-811D-194A-B7CB-8BB8F0B7B54C}"/>
              </a:ext>
            </a:extLst>
          </p:cNvPr>
          <p:cNvSpPr txBox="1">
            <a:spLocks noChangeArrowheads="1"/>
          </p:cNvSpPr>
          <p:nvPr/>
        </p:nvSpPr>
        <p:spPr bwMode="auto">
          <a:xfrm>
            <a:off x="7458049" y="2255331"/>
            <a:ext cx="822960" cy="369888"/>
          </a:xfrm>
          <a:prstGeom prst="rect">
            <a:avLst/>
          </a:prstGeom>
          <a:noFill/>
          <a:ln w="9525">
            <a:noFill/>
            <a:miter lim="800000"/>
            <a:headEnd/>
            <a:tailEnd/>
          </a:ln>
        </p:spPr>
        <p:txBody>
          <a:bodyPr wrap="square">
            <a:prstTxWarp prst="textNoShape">
              <a:avLst/>
            </a:prstTxWarp>
            <a:spAutoFit/>
          </a:bodyPr>
          <a:lstStyle/>
          <a:p>
            <a:r>
              <a:rPr lang="en-US" dirty="0"/>
              <a:t>where</a:t>
            </a:r>
          </a:p>
        </p:txBody>
      </p:sp>
    </p:spTree>
    <p:extLst>
      <p:ext uri="{BB962C8B-B14F-4D97-AF65-F5344CB8AC3E}">
        <p14:creationId xmlns:p14="http://schemas.microsoft.com/office/powerpoint/2010/main" val="26391986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noProof="0" dirty="0"/>
              <a:t>The Logistic Neuron</a:t>
            </a:r>
          </a:p>
        </p:txBody>
      </p:sp>
      <p:sp>
        <p:nvSpPr>
          <p:cNvPr id="4" name="Connector 3"/>
          <p:cNvSpPr/>
          <p:nvPr/>
        </p:nvSpPr>
        <p:spPr>
          <a:xfrm>
            <a:off x="2895600" y="5715000"/>
            <a:ext cx="822960" cy="82296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2600" dirty="0">
                <a:ln>
                  <a:solidFill>
                    <a:schemeClr val="tx1"/>
                  </a:solidFill>
                </a:ln>
                <a:solidFill>
                  <a:schemeClr val="tx1"/>
                </a:solidFill>
                <a:latin typeface="Arial"/>
                <a:cs typeface="Arial"/>
              </a:rPr>
              <a:t>x</a:t>
            </a:r>
            <a:r>
              <a:rPr lang="en-US" sz="2600" baseline="-25000" dirty="0">
                <a:ln>
                  <a:solidFill>
                    <a:schemeClr val="tx1"/>
                  </a:solidFill>
                </a:ln>
                <a:solidFill>
                  <a:schemeClr val="tx1"/>
                </a:solidFill>
                <a:latin typeface="Arial"/>
                <a:cs typeface="Arial"/>
              </a:rPr>
              <a:t>1</a:t>
            </a:r>
          </a:p>
        </p:txBody>
      </p:sp>
      <p:sp>
        <p:nvSpPr>
          <p:cNvPr id="7" name="Connector 6"/>
          <p:cNvSpPr/>
          <p:nvPr/>
        </p:nvSpPr>
        <p:spPr>
          <a:xfrm>
            <a:off x="4419600" y="5715000"/>
            <a:ext cx="822960" cy="82296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2600" dirty="0">
                <a:ln>
                  <a:solidFill>
                    <a:schemeClr val="tx1"/>
                  </a:solidFill>
                </a:ln>
                <a:solidFill>
                  <a:schemeClr val="tx1"/>
                </a:solidFill>
                <a:latin typeface="Arial"/>
                <a:cs typeface="Arial"/>
              </a:rPr>
              <a:t>x</a:t>
            </a:r>
            <a:r>
              <a:rPr lang="en-US" sz="2600" baseline="-25000" dirty="0">
                <a:ln>
                  <a:solidFill>
                    <a:schemeClr val="tx1"/>
                  </a:solidFill>
                </a:ln>
                <a:solidFill>
                  <a:schemeClr val="tx1"/>
                </a:solidFill>
                <a:latin typeface="Arial"/>
                <a:cs typeface="Arial"/>
              </a:rPr>
              <a:t>2</a:t>
            </a:r>
          </a:p>
        </p:txBody>
      </p:sp>
      <p:sp>
        <p:nvSpPr>
          <p:cNvPr id="8" name="Connector 7"/>
          <p:cNvSpPr/>
          <p:nvPr/>
        </p:nvSpPr>
        <p:spPr>
          <a:xfrm>
            <a:off x="6096000" y="5715000"/>
            <a:ext cx="822960" cy="82296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2600" dirty="0">
                <a:ln>
                  <a:solidFill>
                    <a:schemeClr val="tx1"/>
                  </a:solidFill>
                </a:ln>
                <a:solidFill>
                  <a:schemeClr val="tx1"/>
                </a:solidFill>
                <a:latin typeface="Arial"/>
                <a:cs typeface="Arial"/>
              </a:rPr>
              <a:t>x</a:t>
            </a:r>
            <a:r>
              <a:rPr lang="en-US" sz="2600" baseline="-25000" dirty="0">
                <a:ln>
                  <a:solidFill>
                    <a:schemeClr val="tx1"/>
                  </a:solidFill>
                </a:ln>
                <a:solidFill>
                  <a:schemeClr val="tx1"/>
                </a:solidFill>
                <a:latin typeface="Arial"/>
                <a:cs typeface="Arial"/>
              </a:rPr>
              <a:t>3</a:t>
            </a:r>
          </a:p>
        </p:txBody>
      </p:sp>
      <p:sp>
        <p:nvSpPr>
          <p:cNvPr id="9" name="Connector 8"/>
          <p:cNvSpPr/>
          <p:nvPr/>
        </p:nvSpPr>
        <p:spPr>
          <a:xfrm>
            <a:off x="8610600" y="5715000"/>
            <a:ext cx="822960" cy="82296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2600" dirty="0" err="1">
                <a:ln>
                  <a:solidFill>
                    <a:schemeClr val="tx1"/>
                  </a:solidFill>
                </a:ln>
                <a:solidFill>
                  <a:schemeClr val="tx1"/>
                </a:solidFill>
                <a:latin typeface="Arial"/>
                <a:cs typeface="Arial"/>
              </a:rPr>
              <a:t>x</a:t>
            </a:r>
            <a:r>
              <a:rPr lang="en-US" sz="2600" baseline="-25000" dirty="0" err="1">
                <a:ln>
                  <a:solidFill>
                    <a:schemeClr val="tx1"/>
                  </a:solidFill>
                </a:ln>
                <a:solidFill>
                  <a:schemeClr val="tx1"/>
                </a:solidFill>
                <a:latin typeface="Arial"/>
                <a:cs typeface="Arial"/>
              </a:rPr>
              <a:t>M</a:t>
            </a:r>
            <a:endParaRPr lang="en-US" sz="2600" baseline="-25000" dirty="0">
              <a:ln>
                <a:solidFill>
                  <a:schemeClr val="tx1"/>
                </a:solidFill>
              </a:ln>
              <a:solidFill>
                <a:schemeClr val="tx1"/>
              </a:solidFill>
              <a:latin typeface="Arial"/>
              <a:cs typeface="Arial"/>
            </a:endParaRPr>
          </a:p>
        </p:txBody>
      </p:sp>
      <p:sp>
        <p:nvSpPr>
          <p:cNvPr id="10" name="Connector 9"/>
          <p:cNvSpPr/>
          <p:nvPr/>
        </p:nvSpPr>
        <p:spPr>
          <a:xfrm>
            <a:off x="5791200" y="2174240"/>
            <a:ext cx="822960" cy="822960"/>
          </a:xfrm>
          <a:prstGeom prst="flowChartConnector">
            <a:avLst/>
          </a:prstGeom>
          <a:solidFill>
            <a:srgbClr val="E0D925"/>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2600" dirty="0">
                <a:ln>
                  <a:solidFill>
                    <a:schemeClr val="tx1"/>
                  </a:solidFill>
                </a:ln>
                <a:solidFill>
                  <a:schemeClr val="tx1"/>
                </a:solidFill>
                <a:latin typeface="Arial"/>
                <a:cs typeface="Arial"/>
              </a:rPr>
              <a:t>y</a:t>
            </a:r>
            <a:endParaRPr lang="en-US" sz="2600" baseline="-25000" dirty="0">
              <a:ln>
                <a:solidFill>
                  <a:schemeClr val="tx1"/>
                </a:solidFill>
              </a:ln>
              <a:solidFill>
                <a:schemeClr val="tx1"/>
              </a:solidFill>
              <a:latin typeface="Arial"/>
              <a:cs typeface="Arial"/>
            </a:endParaRPr>
          </a:p>
        </p:txBody>
      </p:sp>
      <p:sp>
        <p:nvSpPr>
          <p:cNvPr id="15" name="TextBox 14"/>
          <p:cNvSpPr txBox="1">
            <a:spLocks noChangeArrowheads="1"/>
          </p:cNvSpPr>
          <p:nvPr/>
        </p:nvSpPr>
        <p:spPr bwMode="auto">
          <a:xfrm>
            <a:off x="7543800" y="5791201"/>
            <a:ext cx="533400" cy="492125"/>
          </a:xfrm>
          <a:prstGeom prst="rect">
            <a:avLst/>
          </a:prstGeom>
          <a:noFill/>
          <a:ln w="9525">
            <a:noFill/>
            <a:miter lim="800000"/>
            <a:headEnd/>
            <a:tailEnd/>
          </a:ln>
        </p:spPr>
        <p:txBody>
          <a:bodyPr anchor="ctr">
            <a:prstTxWarp prst="textNoShape">
              <a:avLst/>
            </a:prstTxWarp>
            <a:spAutoFit/>
          </a:bodyPr>
          <a:lstStyle/>
          <a:p>
            <a:pPr algn="ctr"/>
            <a:r>
              <a:rPr lang="en-US" sz="2600" b="1"/>
              <a:t>…</a:t>
            </a:r>
          </a:p>
        </p:txBody>
      </p:sp>
      <p:cxnSp>
        <p:nvCxnSpPr>
          <p:cNvPr id="27" name="Straight Connector 26"/>
          <p:cNvCxnSpPr>
            <a:stCxn id="10" idx="4"/>
            <a:endCxn id="9" idx="0"/>
          </p:cNvCxnSpPr>
          <p:nvPr/>
        </p:nvCxnSpPr>
        <p:spPr>
          <a:xfrm>
            <a:off x="6202680" y="2997200"/>
            <a:ext cx="2819400" cy="271780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8" name="Straight Connector 27"/>
          <p:cNvCxnSpPr>
            <a:stCxn id="10" idx="4"/>
            <a:endCxn id="4" idx="0"/>
          </p:cNvCxnSpPr>
          <p:nvPr/>
        </p:nvCxnSpPr>
        <p:spPr>
          <a:xfrm flipH="1">
            <a:off x="3307080" y="2997200"/>
            <a:ext cx="2895600" cy="271780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a:stCxn id="10" idx="4"/>
            <a:endCxn id="7" idx="0"/>
          </p:cNvCxnSpPr>
          <p:nvPr/>
        </p:nvCxnSpPr>
        <p:spPr>
          <a:xfrm flipH="1">
            <a:off x="4831080" y="2997200"/>
            <a:ext cx="1371600" cy="271780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0" name="Straight Connector 29"/>
          <p:cNvCxnSpPr>
            <a:stCxn id="10" idx="4"/>
            <a:endCxn id="8" idx="0"/>
          </p:cNvCxnSpPr>
          <p:nvPr/>
        </p:nvCxnSpPr>
        <p:spPr>
          <a:xfrm>
            <a:off x="6202680" y="2997200"/>
            <a:ext cx="304800" cy="271780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sp>
        <p:nvSpPr>
          <p:cNvPr id="34" name="TextBox 74"/>
          <p:cNvSpPr txBox="1">
            <a:spLocks noChangeArrowheads="1"/>
          </p:cNvSpPr>
          <p:nvPr/>
        </p:nvSpPr>
        <p:spPr bwMode="auto">
          <a:xfrm>
            <a:off x="4739588" y="2276479"/>
            <a:ext cx="1295400" cy="369888"/>
          </a:xfrm>
          <a:prstGeom prst="rect">
            <a:avLst/>
          </a:prstGeom>
          <a:noFill/>
          <a:ln w="9525">
            <a:noFill/>
            <a:miter lim="800000"/>
            <a:headEnd/>
            <a:tailEnd/>
          </a:ln>
        </p:spPr>
        <p:txBody>
          <a:bodyPr>
            <a:prstTxWarp prst="textNoShape">
              <a:avLst/>
            </a:prstTxWarp>
            <a:spAutoFit/>
          </a:bodyPr>
          <a:lstStyle/>
          <a:p>
            <a:r>
              <a:rPr lang="en-US" dirty="0"/>
              <a:t>Output</a:t>
            </a:r>
          </a:p>
        </p:txBody>
      </p:sp>
      <p:sp>
        <p:nvSpPr>
          <p:cNvPr id="35" name="TextBox 75"/>
          <p:cNvSpPr txBox="1">
            <a:spLocks noChangeArrowheads="1"/>
          </p:cNvSpPr>
          <p:nvPr/>
        </p:nvSpPr>
        <p:spPr bwMode="auto">
          <a:xfrm>
            <a:off x="1524000" y="5943600"/>
            <a:ext cx="1295400" cy="369888"/>
          </a:xfrm>
          <a:prstGeom prst="rect">
            <a:avLst/>
          </a:prstGeom>
          <a:noFill/>
          <a:ln w="9525">
            <a:noFill/>
            <a:miter lim="800000"/>
            <a:headEnd/>
            <a:tailEnd/>
          </a:ln>
        </p:spPr>
        <p:txBody>
          <a:bodyPr>
            <a:prstTxWarp prst="textNoShape">
              <a:avLst/>
            </a:prstTxWarp>
            <a:spAutoFit/>
          </a:bodyPr>
          <a:lstStyle/>
          <a:p>
            <a:pPr algn="ctr"/>
            <a:r>
              <a:rPr lang="en-US"/>
              <a:t>Input</a:t>
            </a:r>
          </a:p>
        </p:txBody>
      </p:sp>
      <p:sp>
        <p:nvSpPr>
          <p:cNvPr id="40" name="TextBox 39"/>
          <p:cNvSpPr txBox="1"/>
          <p:nvPr/>
        </p:nvSpPr>
        <p:spPr>
          <a:xfrm>
            <a:off x="3390826" y="4700243"/>
            <a:ext cx="546870" cy="492443"/>
          </a:xfrm>
          <a:prstGeom prst="rect">
            <a:avLst/>
          </a:prstGeom>
          <a:noFill/>
        </p:spPr>
        <p:txBody>
          <a:bodyPr wrap="square" rtlCol="0">
            <a:spAutoFit/>
          </a:bodyPr>
          <a:lstStyle/>
          <a:p>
            <a:r>
              <a:rPr lang="en-US" sz="2600" dirty="0">
                <a:latin typeface="Arial"/>
                <a:cs typeface="Arial"/>
              </a:rPr>
              <a:t>θ</a:t>
            </a:r>
            <a:r>
              <a:rPr lang="en-US" sz="2600" baseline="-25000" dirty="0">
                <a:latin typeface="Arial"/>
                <a:cs typeface="Arial"/>
              </a:rPr>
              <a:t>1</a:t>
            </a:r>
            <a:endParaRPr lang="en-US" sz="2600" dirty="0">
              <a:latin typeface="Arial"/>
              <a:cs typeface="Arial"/>
            </a:endParaRPr>
          </a:p>
        </p:txBody>
      </p:sp>
      <p:sp>
        <p:nvSpPr>
          <p:cNvPr id="41" name="TextBox 40"/>
          <p:cNvSpPr txBox="1"/>
          <p:nvPr/>
        </p:nvSpPr>
        <p:spPr>
          <a:xfrm>
            <a:off x="4557645" y="4657083"/>
            <a:ext cx="546870" cy="492443"/>
          </a:xfrm>
          <a:prstGeom prst="rect">
            <a:avLst/>
          </a:prstGeom>
          <a:noFill/>
        </p:spPr>
        <p:txBody>
          <a:bodyPr wrap="square" rtlCol="0">
            <a:spAutoFit/>
          </a:bodyPr>
          <a:lstStyle/>
          <a:p>
            <a:r>
              <a:rPr lang="en-US" sz="2600" dirty="0">
                <a:latin typeface="Arial"/>
                <a:cs typeface="Arial"/>
              </a:rPr>
              <a:t>θ</a:t>
            </a:r>
            <a:r>
              <a:rPr lang="en-US" sz="2600" baseline="-25000" dirty="0">
                <a:latin typeface="Arial"/>
                <a:cs typeface="Arial"/>
              </a:rPr>
              <a:t>2</a:t>
            </a:r>
            <a:endParaRPr lang="en-US" sz="2600" dirty="0">
              <a:latin typeface="Arial"/>
              <a:cs typeface="Arial"/>
            </a:endParaRPr>
          </a:p>
        </p:txBody>
      </p:sp>
      <p:sp>
        <p:nvSpPr>
          <p:cNvPr id="42" name="TextBox 41"/>
          <p:cNvSpPr txBox="1"/>
          <p:nvPr/>
        </p:nvSpPr>
        <p:spPr>
          <a:xfrm>
            <a:off x="5859475" y="4645623"/>
            <a:ext cx="546870" cy="492443"/>
          </a:xfrm>
          <a:prstGeom prst="rect">
            <a:avLst/>
          </a:prstGeom>
          <a:noFill/>
        </p:spPr>
        <p:txBody>
          <a:bodyPr wrap="square" rtlCol="0">
            <a:spAutoFit/>
          </a:bodyPr>
          <a:lstStyle/>
          <a:p>
            <a:r>
              <a:rPr lang="en-US" sz="2600" dirty="0">
                <a:latin typeface="Arial"/>
                <a:cs typeface="Arial"/>
              </a:rPr>
              <a:t>θ</a:t>
            </a:r>
            <a:r>
              <a:rPr lang="en-US" sz="2600" baseline="-25000" dirty="0">
                <a:latin typeface="Arial"/>
                <a:cs typeface="Arial"/>
              </a:rPr>
              <a:t>3</a:t>
            </a:r>
            <a:endParaRPr lang="en-US" sz="2600" dirty="0">
              <a:latin typeface="Arial"/>
              <a:cs typeface="Arial"/>
            </a:endParaRPr>
          </a:p>
        </p:txBody>
      </p:sp>
      <p:sp>
        <p:nvSpPr>
          <p:cNvPr id="43" name="TextBox 42"/>
          <p:cNvSpPr txBox="1"/>
          <p:nvPr/>
        </p:nvSpPr>
        <p:spPr>
          <a:xfrm>
            <a:off x="7404727" y="4647818"/>
            <a:ext cx="740748" cy="492443"/>
          </a:xfrm>
          <a:prstGeom prst="rect">
            <a:avLst/>
          </a:prstGeom>
          <a:noFill/>
        </p:spPr>
        <p:txBody>
          <a:bodyPr wrap="square" rtlCol="0">
            <a:spAutoFit/>
          </a:bodyPr>
          <a:lstStyle/>
          <a:p>
            <a:r>
              <a:rPr lang="en-US" sz="2600" dirty="0" err="1">
                <a:latin typeface="Arial"/>
                <a:cs typeface="Arial"/>
              </a:rPr>
              <a:t>θ</a:t>
            </a:r>
            <a:r>
              <a:rPr lang="en-US" sz="2600" baseline="-25000" dirty="0" err="1">
                <a:latin typeface="Arial"/>
                <a:cs typeface="Arial"/>
              </a:rPr>
              <a:t>M</a:t>
            </a:r>
            <a:endParaRPr lang="en-US" sz="2600" dirty="0">
              <a:latin typeface="Arial"/>
              <a:cs typeface="Arial"/>
            </a:endParaRPr>
          </a:p>
        </p:txBody>
      </p:sp>
      <p:cxnSp>
        <p:nvCxnSpPr>
          <p:cNvPr id="20" name="Straight Connector 27">
            <a:extLst>
              <a:ext uri="{FF2B5EF4-FFF2-40B4-BE49-F238E27FC236}">
                <a16:creationId xmlns:a16="http://schemas.microsoft.com/office/drawing/2014/main" id="{2C8C827F-48B3-5D4E-BF8E-EA91CBB54AF7}"/>
              </a:ext>
            </a:extLst>
          </p:cNvPr>
          <p:cNvCxnSpPr>
            <a:cxnSpLocks/>
          </p:cNvCxnSpPr>
          <p:nvPr/>
        </p:nvCxnSpPr>
        <p:spPr>
          <a:xfrm flipH="1">
            <a:off x="2999741" y="2770664"/>
            <a:ext cx="2791459" cy="1267936"/>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sp>
        <p:nvSpPr>
          <p:cNvPr id="22" name="TextBox 39">
            <a:extLst>
              <a:ext uri="{FF2B5EF4-FFF2-40B4-BE49-F238E27FC236}">
                <a16:creationId xmlns:a16="http://schemas.microsoft.com/office/drawing/2014/main" id="{7DF315F2-6004-F846-9CD3-3522103C0AF9}"/>
              </a:ext>
            </a:extLst>
          </p:cNvPr>
          <p:cNvSpPr txBox="1"/>
          <p:nvPr/>
        </p:nvSpPr>
        <p:spPr>
          <a:xfrm>
            <a:off x="3307080" y="3182778"/>
            <a:ext cx="546870" cy="492443"/>
          </a:xfrm>
          <a:prstGeom prst="rect">
            <a:avLst/>
          </a:prstGeom>
          <a:noFill/>
        </p:spPr>
        <p:txBody>
          <a:bodyPr wrap="square" rtlCol="0">
            <a:spAutoFit/>
          </a:bodyPr>
          <a:lstStyle/>
          <a:p>
            <a:r>
              <a:rPr lang="en-US" sz="2600" dirty="0">
                <a:latin typeface="Arial"/>
                <a:cs typeface="Arial"/>
              </a:rPr>
              <a:t>θ</a:t>
            </a:r>
            <a:r>
              <a:rPr lang="en-US" sz="2600" baseline="-25000" dirty="0">
                <a:latin typeface="Arial"/>
                <a:cs typeface="Arial"/>
              </a:rPr>
              <a:t>0</a:t>
            </a:r>
            <a:endParaRPr lang="en-US" sz="2600" dirty="0">
              <a:latin typeface="Arial"/>
              <a:cs typeface="Arial"/>
            </a:endParaRPr>
          </a:p>
        </p:txBody>
      </p:sp>
      <p:sp>
        <p:nvSpPr>
          <p:cNvPr id="24" name="Connector 3">
            <a:extLst>
              <a:ext uri="{FF2B5EF4-FFF2-40B4-BE49-F238E27FC236}">
                <a16:creationId xmlns:a16="http://schemas.microsoft.com/office/drawing/2014/main" id="{93D33943-CB02-844E-A139-6BFB236352C6}"/>
              </a:ext>
            </a:extLst>
          </p:cNvPr>
          <p:cNvSpPr/>
          <p:nvPr/>
        </p:nvSpPr>
        <p:spPr>
          <a:xfrm>
            <a:off x="2200318" y="3812064"/>
            <a:ext cx="822960" cy="822960"/>
          </a:xfrm>
          <a:prstGeom prst="flowChartConnector">
            <a:avLst/>
          </a:prstGeom>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en-US" sz="1500" dirty="0">
                <a:ln>
                  <a:solidFill>
                    <a:schemeClr val="tx1"/>
                  </a:solidFill>
                </a:ln>
                <a:solidFill>
                  <a:schemeClr val="tx1"/>
                </a:solidFill>
                <a:latin typeface="Arial"/>
                <a:cs typeface="Arial"/>
              </a:rPr>
              <a:t>x</a:t>
            </a:r>
            <a:r>
              <a:rPr lang="en-US" sz="1500" baseline="-25000" dirty="0">
                <a:ln>
                  <a:solidFill>
                    <a:schemeClr val="tx1"/>
                  </a:solidFill>
                </a:ln>
                <a:solidFill>
                  <a:schemeClr val="tx1"/>
                </a:solidFill>
                <a:latin typeface="Arial"/>
                <a:cs typeface="Arial"/>
              </a:rPr>
              <a:t>0</a:t>
            </a:r>
            <a:r>
              <a:rPr lang="en-US" sz="1500" dirty="0">
                <a:ln>
                  <a:solidFill>
                    <a:schemeClr val="tx1"/>
                  </a:solidFill>
                </a:ln>
                <a:solidFill>
                  <a:schemeClr val="tx1"/>
                </a:solidFill>
                <a:latin typeface="Arial"/>
                <a:cs typeface="Arial"/>
              </a:rPr>
              <a:t>=1</a:t>
            </a:r>
            <a:endParaRPr lang="en-US" sz="1500" baseline="-25000" dirty="0">
              <a:ln>
                <a:solidFill>
                  <a:schemeClr val="tx1"/>
                </a:solidFill>
              </a:ln>
              <a:solidFill>
                <a:schemeClr val="tx1"/>
              </a:solidFill>
              <a:latin typeface="Arial"/>
              <a:cs typeface="Arial"/>
            </a:endParaRPr>
          </a:p>
        </p:txBody>
      </p:sp>
      <p:sp>
        <p:nvSpPr>
          <p:cNvPr id="26" name="TextBox 74">
            <a:extLst>
              <a:ext uri="{FF2B5EF4-FFF2-40B4-BE49-F238E27FC236}">
                <a16:creationId xmlns:a16="http://schemas.microsoft.com/office/drawing/2014/main" id="{783D6CF0-DE7C-F54D-BBF9-A745B1F3784C}"/>
              </a:ext>
            </a:extLst>
          </p:cNvPr>
          <p:cNvSpPr txBox="1">
            <a:spLocks noChangeArrowheads="1"/>
          </p:cNvSpPr>
          <p:nvPr/>
        </p:nvSpPr>
        <p:spPr bwMode="auto">
          <a:xfrm>
            <a:off x="1161921" y="4038600"/>
            <a:ext cx="1295400" cy="369888"/>
          </a:xfrm>
          <a:prstGeom prst="rect">
            <a:avLst/>
          </a:prstGeom>
          <a:noFill/>
          <a:ln w="9525">
            <a:noFill/>
            <a:miter lim="800000"/>
            <a:headEnd/>
            <a:tailEnd/>
          </a:ln>
        </p:spPr>
        <p:txBody>
          <a:bodyPr>
            <a:prstTxWarp prst="textNoShape">
              <a:avLst/>
            </a:prstTxWarp>
            <a:spAutoFit/>
          </a:bodyPr>
          <a:lstStyle/>
          <a:p>
            <a:r>
              <a:rPr lang="en-US" dirty="0"/>
              <a:t>Bias unit</a:t>
            </a:r>
          </a:p>
        </p:txBody>
      </p:sp>
      <p:sp>
        <p:nvSpPr>
          <p:cNvPr id="31" name="TextBox 74">
            <a:extLst>
              <a:ext uri="{FF2B5EF4-FFF2-40B4-BE49-F238E27FC236}">
                <a16:creationId xmlns:a16="http://schemas.microsoft.com/office/drawing/2014/main" id="{F4C85A69-BF9C-DC4A-970B-C2887F5CBF1A}"/>
              </a:ext>
            </a:extLst>
          </p:cNvPr>
          <p:cNvSpPr txBox="1">
            <a:spLocks noChangeArrowheads="1"/>
          </p:cNvSpPr>
          <p:nvPr/>
        </p:nvSpPr>
        <p:spPr bwMode="auto">
          <a:xfrm>
            <a:off x="6524574" y="4707209"/>
            <a:ext cx="1295400" cy="369888"/>
          </a:xfrm>
          <a:prstGeom prst="rect">
            <a:avLst/>
          </a:prstGeom>
          <a:noFill/>
          <a:ln w="9525">
            <a:noFill/>
            <a:miter lim="800000"/>
            <a:headEnd/>
            <a:tailEnd/>
          </a:ln>
        </p:spPr>
        <p:txBody>
          <a:bodyPr>
            <a:prstTxWarp prst="textNoShape">
              <a:avLst/>
            </a:prstTxWarp>
            <a:spAutoFit/>
          </a:bodyPr>
          <a:lstStyle/>
          <a:p>
            <a:r>
              <a:rPr lang="en-US" dirty="0"/>
              <a:t>weights</a:t>
            </a:r>
          </a:p>
        </p:txBody>
      </p:sp>
      <p:sp>
        <p:nvSpPr>
          <p:cNvPr id="32" name="TextBox 74">
            <a:extLst>
              <a:ext uri="{FF2B5EF4-FFF2-40B4-BE49-F238E27FC236}">
                <a16:creationId xmlns:a16="http://schemas.microsoft.com/office/drawing/2014/main" id="{C5D820D2-528E-1447-BB58-10AE3868DB11}"/>
              </a:ext>
            </a:extLst>
          </p:cNvPr>
          <p:cNvSpPr txBox="1">
            <a:spLocks noChangeArrowheads="1"/>
          </p:cNvSpPr>
          <p:nvPr/>
        </p:nvSpPr>
        <p:spPr bwMode="auto">
          <a:xfrm>
            <a:off x="10216364" y="1392322"/>
            <a:ext cx="2074973" cy="646331"/>
          </a:xfrm>
          <a:prstGeom prst="rect">
            <a:avLst/>
          </a:prstGeom>
          <a:noFill/>
          <a:ln w="9525">
            <a:noFill/>
            <a:miter lim="800000"/>
            <a:headEnd/>
            <a:tailEnd/>
          </a:ln>
        </p:spPr>
        <p:txBody>
          <a:bodyPr wrap="square">
            <a:prstTxWarp prst="textNoShape">
              <a:avLst/>
            </a:prstTxWarp>
            <a:spAutoFit/>
          </a:bodyPr>
          <a:lstStyle/>
          <a:p>
            <a:r>
              <a:rPr lang="en-US" dirty="0"/>
              <a:t>Sigmoid logistic activation function</a:t>
            </a:r>
          </a:p>
        </p:txBody>
      </p:sp>
      <p:pic>
        <p:nvPicPr>
          <p:cNvPr id="33" name="Picture 3" descr="latex-image-1.pdf">
            <a:extLst>
              <a:ext uri="{FF2B5EF4-FFF2-40B4-BE49-F238E27FC236}">
                <a16:creationId xmlns:a16="http://schemas.microsoft.com/office/drawing/2014/main" id="{8548CA1D-B2AA-0347-A46B-01AE872EA5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1320" y="1493323"/>
            <a:ext cx="3961338" cy="1326675"/>
          </a:xfrm>
          <a:prstGeom prst="rect">
            <a:avLst/>
          </a:prstGeom>
        </p:spPr>
      </p:pic>
      <p:pic>
        <p:nvPicPr>
          <p:cNvPr id="36" name="Picture 10">
            <a:extLst>
              <a:ext uri="{FF2B5EF4-FFF2-40B4-BE49-F238E27FC236}">
                <a16:creationId xmlns:a16="http://schemas.microsoft.com/office/drawing/2014/main" id="{1ABBD622-DD0D-7B41-8F31-4F61C692789B}"/>
              </a:ext>
            </a:extLst>
          </p:cNvPr>
          <p:cNvPicPr>
            <a:picLocks noChangeAspect="1"/>
          </p:cNvPicPr>
          <p:nvPr/>
        </p:nvPicPr>
        <p:blipFill>
          <a:blip r:embed="rId4"/>
          <a:stretch>
            <a:fillRect/>
          </a:stretch>
        </p:blipFill>
        <p:spPr>
          <a:xfrm>
            <a:off x="8750300" y="2920999"/>
            <a:ext cx="2377316" cy="1378843"/>
          </a:xfrm>
          <a:prstGeom prst="rect">
            <a:avLst/>
          </a:prstGeom>
        </p:spPr>
      </p:pic>
      <p:sp>
        <p:nvSpPr>
          <p:cNvPr id="38" name="TextBox 74">
            <a:extLst>
              <a:ext uri="{FF2B5EF4-FFF2-40B4-BE49-F238E27FC236}">
                <a16:creationId xmlns:a16="http://schemas.microsoft.com/office/drawing/2014/main" id="{A31EBB57-1F63-2C48-8AFC-9B68F2CC8A99}"/>
              </a:ext>
            </a:extLst>
          </p:cNvPr>
          <p:cNvSpPr txBox="1">
            <a:spLocks noChangeArrowheads="1"/>
          </p:cNvSpPr>
          <p:nvPr/>
        </p:nvSpPr>
        <p:spPr bwMode="auto">
          <a:xfrm>
            <a:off x="9022080" y="1766889"/>
            <a:ext cx="553142" cy="369888"/>
          </a:xfrm>
          <a:prstGeom prst="rect">
            <a:avLst/>
          </a:prstGeom>
          <a:noFill/>
          <a:ln w="9525">
            <a:noFill/>
            <a:miter lim="800000"/>
            <a:headEnd/>
            <a:tailEnd/>
          </a:ln>
        </p:spPr>
        <p:txBody>
          <a:bodyPr wrap="square">
            <a:prstTxWarp prst="textNoShape">
              <a:avLst/>
            </a:prstTxWarp>
            <a:spAutoFit/>
          </a:bodyPr>
          <a:lstStyle/>
          <a:p>
            <a:r>
              <a:rPr lang="en-US" dirty="0"/>
              <a:t>net</a:t>
            </a:r>
          </a:p>
        </p:txBody>
      </p:sp>
    </p:spTree>
    <p:extLst>
      <p:ext uri="{BB962C8B-B14F-4D97-AF65-F5344CB8AC3E}">
        <p14:creationId xmlns:p14="http://schemas.microsoft.com/office/powerpoint/2010/main" val="3211159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noProof="0" dirty="0"/>
              <a:t>Perceptron</a:t>
            </a:r>
          </a:p>
        </p:txBody>
      </p:sp>
      <p:sp>
        <p:nvSpPr>
          <p:cNvPr id="8195" name="Rectangle 3"/>
          <p:cNvSpPr>
            <a:spLocks noGrp="1" noChangeArrowheads="1"/>
          </p:cNvSpPr>
          <p:nvPr>
            <p:ph type="body" idx="1"/>
          </p:nvPr>
        </p:nvSpPr>
        <p:spPr/>
        <p:txBody>
          <a:bodyPr>
            <a:normAutofit fontScale="92500" lnSpcReduction="10000"/>
          </a:bodyPr>
          <a:lstStyle/>
          <a:p>
            <a:pPr>
              <a:lnSpc>
                <a:spcPct val="90000"/>
              </a:lnSpc>
            </a:pPr>
            <a:r>
              <a:rPr lang="en-US" altLang="en-US" noProof="0" dirty="0"/>
              <a:t>Single layer network</a:t>
            </a:r>
          </a:p>
          <a:p>
            <a:pPr lvl="1">
              <a:lnSpc>
                <a:spcPct val="90000"/>
              </a:lnSpc>
            </a:pPr>
            <a:r>
              <a:rPr lang="en-US" altLang="en-US" noProof="0" dirty="0"/>
              <a:t>Contains only input and output nodes</a:t>
            </a:r>
          </a:p>
          <a:p>
            <a:pPr lvl="3">
              <a:lnSpc>
                <a:spcPct val="90000"/>
              </a:lnSpc>
            </a:pPr>
            <a:endParaRPr lang="en-US" altLang="en-US" noProof="0" dirty="0"/>
          </a:p>
          <a:p>
            <a:pPr>
              <a:lnSpc>
                <a:spcPct val="90000"/>
              </a:lnSpc>
            </a:pPr>
            <a:r>
              <a:rPr lang="en-US" altLang="en-US" noProof="0" dirty="0"/>
              <a:t>Activation function:  f = sign(</a:t>
            </a:r>
            <a:r>
              <a:rPr lang="en-US" altLang="en-US" noProof="0" dirty="0" err="1"/>
              <a:t>w</a:t>
            </a:r>
            <a:r>
              <a:rPr lang="en-US" altLang="en-US" noProof="0" dirty="0" err="1">
                <a:sym typeface="Symbol" pitchFamily="18" charset="2"/>
              </a:rPr>
              <a:t></a:t>
            </a:r>
            <a:r>
              <a:rPr lang="en-US" altLang="en-US" noProof="0" dirty="0" err="1"/>
              <a:t>x</a:t>
            </a:r>
            <a:r>
              <a:rPr lang="en-US" altLang="en-US" noProof="0" dirty="0"/>
              <a:t>)</a:t>
            </a:r>
          </a:p>
          <a:p>
            <a:pPr lvl="3">
              <a:lnSpc>
                <a:spcPct val="90000"/>
              </a:lnSpc>
            </a:pPr>
            <a:endParaRPr lang="en-US" altLang="en-US" noProof="0" dirty="0"/>
          </a:p>
          <a:p>
            <a:pPr>
              <a:lnSpc>
                <a:spcPct val="90000"/>
              </a:lnSpc>
            </a:pPr>
            <a:r>
              <a:rPr lang="en-US" altLang="en-US" noProof="0" dirty="0"/>
              <a:t>Applying model is straightforward</a:t>
            </a:r>
          </a:p>
          <a:p>
            <a:pPr>
              <a:lnSpc>
                <a:spcPct val="90000"/>
              </a:lnSpc>
            </a:pPr>
            <a:endParaRPr lang="en-US" altLang="en-US" noProof="0" dirty="0"/>
          </a:p>
          <a:p>
            <a:pPr>
              <a:lnSpc>
                <a:spcPct val="90000"/>
              </a:lnSpc>
            </a:pPr>
            <a:endParaRPr lang="en-US" altLang="en-US" noProof="0" dirty="0"/>
          </a:p>
          <a:p>
            <a:pPr>
              <a:lnSpc>
                <a:spcPct val="90000"/>
              </a:lnSpc>
            </a:pPr>
            <a:endParaRPr lang="en-US" altLang="en-US" noProof="0" dirty="0"/>
          </a:p>
          <a:p>
            <a:pPr lvl="1">
              <a:lnSpc>
                <a:spcPct val="90000"/>
              </a:lnSpc>
            </a:pPr>
            <a:endParaRPr lang="en-US" altLang="en-US" noProof="0" dirty="0"/>
          </a:p>
          <a:p>
            <a:pPr lvl="1">
              <a:lnSpc>
                <a:spcPct val="90000"/>
              </a:lnSpc>
            </a:pPr>
            <a:r>
              <a:rPr lang="en-US" altLang="en-US" noProof="0" dirty="0"/>
              <a:t>X</a:t>
            </a:r>
            <a:r>
              <a:rPr lang="en-US" altLang="en-US" baseline="-25000" noProof="0" dirty="0"/>
              <a:t>1</a:t>
            </a:r>
            <a:r>
              <a:rPr lang="en-US" altLang="en-US" noProof="0" dirty="0"/>
              <a:t> = 1, X</a:t>
            </a:r>
            <a:r>
              <a:rPr lang="en-US" altLang="en-US" baseline="-25000" noProof="0" dirty="0"/>
              <a:t>2</a:t>
            </a:r>
            <a:r>
              <a:rPr lang="en-US" altLang="en-US" noProof="0" dirty="0"/>
              <a:t> = 0, X</a:t>
            </a:r>
            <a:r>
              <a:rPr lang="en-US" altLang="en-US" baseline="-25000" noProof="0" dirty="0"/>
              <a:t>3</a:t>
            </a:r>
            <a:r>
              <a:rPr lang="en-US" altLang="en-US" noProof="0" dirty="0"/>
              <a:t> =1 =&gt; y = sign(0.2) = 1</a:t>
            </a:r>
          </a:p>
        </p:txBody>
      </p:sp>
      <p:graphicFrame>
        <p:nvGraphicFramePr>
          <p:cNvPr id="8196" name="Object 2"/>
          <p:cNvGraphicFramePr>
            <a:graphicFrameLocks noGrp="1" noChangeAspect="1"/>
          </p:cNvGraphicFramePr>
          <p:nvPr>
            <p:ph sz="half" idx="4294967295"/>
          </p:nvPr>
        </p:nvGraphicFramePr>
        <p:xfrm>
          <a:off x="3352800" y="4001294"/>
          <a:ext cx="5257800" cy="1582738"/>
        </p:xfrm>
        <a:graphic>
          <a:graphicData uri="http://schemas.openxmlformats.org/presentationml/2006/ole">
            <mc:AlternateContent xmlns:mc="http://schemas.openxmlformats.org/markup-compatibility/2006">
              <mc:Choice xmlns:v="urn:schemas-microsoft-com:vml" Requires="v">
                <p:oleObj name="Equation" r:id="rId2" imgW="2362200" imgH="711200" progId="Equation.3">
                  <p:embed/>
                </p:oleObj>
              </mc:Choice>
              <mc:Fallback>
                <p:oleObj name="Equation" r:id="rId2" imgW="2362200" imgH="711200" progId="Equation.3">
                  <p:embed/>
                  <p:pic>
                    <p:nvPicPr>
                      <p:cNvPr id="8196"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4001294"/>
                        <a:ext cx="5257800" cy="1582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2750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19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19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19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19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19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BFB520-64B1-2045-8C3A-38AC2B74EC9E}"/>
              </a:ext>
            </a:extLst>
          </p:cNvPr>
          <p:cNvSpPr>
            <a:spLocks noGrp="1"/>
          </p:cNvSpPr>
          <p:nvPr>
            <p:ph type="title"/>
          </p:nvPr>
        </p:nvSpPr>
        <p:spPr/>
        <p:txBody>
          <a:bodyPr/>
          <a:lstStyle/>
          <a:p>
            <a:r>
              <a:rPr lang="en-US" noProof="0" dirty="0"/>
              <a:t>Learning Iterative Procedure</a:t>
            </a:r>
          </a:p>
        </p:txBody>
      </p:sp>
      <p:sp>
        <p:nvSpPr>
          <p:cNvPr id="3" name="Segnaposto contenuto 2">
            <a:extLst>
              <a:ext uri="{FF2B5EF4-FFF2-40B4-BE49-F238E27FC236}">
                <a16:creationId xmlns:a16="http://schemas.microsoft.com/office/drawing/2014/main" id="{2856506F-44ED-784F-8899-17E9F05922B7}"/>
              </a:ext>
            </a:extLst>
          </p:cNvPr>
          <p:cNvSpPr>
            <a:spLocks noGrp="1"/>
          </p:cNvSpPr>
          <p:nvPr>
            <p:ph idx="1"/>
          </p:nvPr>
        </p:nvSpPr>
        <p:spPr>
          <a:xfrm>
            <a:off x="838200" y="1834678"/>
            <a:ext cx="10515600" cy="4351338"/>
          </a:xfrm>
        </p:spPr>
        <p:txBody>
          <a:bodyPr>
            <a:normAutofit/>
          </a:bodyPr>
          <a:lstStyle/>
          <a:p>
            <a:r>
              <a:rPr lang="en-US" sz="2600" noProof="0" dirty="0"/>
              <a:t>During the training phase the weight parameters are adjusted until the outputs of the perceptron become consistent with the true outputs of the training examples.</a:t>
            </a:r>
          </a:p>
          <a:p>
            <a:r>
              <a:rPr lang="en-US" sz="2600" noProof="0" dirty="0"/>
              <a:t>Initialize the weights (w</a:t>
            </a:r>
            <a:r>
              <a:rPr lang="en-US" sz="2600" baseline="-25000" noProof="0" dirty="0"/>
              <a:t>0</a:t>
            </a:r>
            <a:r>
              <a:rPr lang="en-US" sz="2600" noProof="0" dirty="0"/>
              <a:t>, w</a:t>
            </a:r>
            <a:r>
              <a:rPr lang="en-US" sz="2600" baseline="-25000" noProof="0" dirty="0"/>
              <a:t>1</a:t>
            </a:r>
            <a:r>
              <a:rPr lang="en-US" sz="2600" noProof="0" dirty="0"/>
              <a:t>, …, </a:t>
            </a:r>
            <a:r>
              <a:rPr lang="en-US" sz="2600" noProof="0" dirty="0" err="1"/>
              <a:t>w</a:t>
            </a:r>
            <a:r>
              <a:rPr lang="en-US" sz="2600" baseline="-25000" noProof="0" dirty="0" err="1"/>
              <a:t>m</a:t>
            </a:r>
            <a:r>
              <a:rPr lang="en-US" sz="2600" noProof="0" dirty="0"/>
              <a:t>)</a:t>
            </a:r>
          </a:p>
          <a:p>
            <a:r>
              <a:rPr lang="en-US" sz="2600" noProof="0" dirty="0"/>
              <a:t>Repeat</a:t>
            </a:r>
          </a:p>
          <a:p>
            <a:pPr lvl="1"/>
            <a:r>
              <a:rPr lang="en-US" sz="2600" noProof="0" dirty="0"/>
              <a:t>For each training example (x</a:t>
            </a:r>
            <a:r>
              <a:rPr lang="en-US" sz="2600" baseline="-25000" noProof="0" dirty="0"/>
              <a:t>i</a:t>
            </a:r>
            <a:r>
              <a:rPr lang="en-US" sz="2600" noProof="0" dirty="0"/>
              <a:t>, </a:t>
            </a:r>
            <a:r>
              <a:rPr lang="en-US" sz="2600" noProof="0" dirty="0" err="1"/>
              <a:t>y</a:t>
            </a:r>
            <a:r>
              <a:rPr lang="en-US" sz="2600" baseline="-25000" noProof="0" dirty="0" err="1"/>
              <a:t>i</a:t>
            </a:r>
            <a:r>
              <a:rPr lang="en-US" sz="2600" noProof="0" dirty="0"/>
              <a:t>)</a:t>
            </a:r>
          </a:p>
          <a:p>
            <a:pPr lvl="2"/>
            <a:r>
              <a:rPr lang="en-US" sz="2600" noProof="0" dirty="0"/>
              <a:t>Compute f(w</a:t>
            </a:r>
            <a:r>
              <a:rPr lang="en-US" sz="2600" baseline="30000" noProof="0" dirty="0"/>
              <a:t>(k)</a:t>
            </a:r>
            <a:r>
              <a:rPr lang="en-US" sz="2600" noProof="0" dirty="0"/>
              <a:t>, x</a:t>
            </a:r>
            <a:r>
              <a:rPr lang="en-US" sz="2600" baseline="-25000" noProof="0" dirty="0"/>
              <a:t>i</a:t>
            </a:r>
            <a:r>
              <a:rPr lang="en-US" sz="2600" noProof="0" dirty="0"/>
              <a:t>)</a:t>
            </a:r>
          </a:p>
          <a:p>
            <a:pPr lvl="2"/>
            <a:r>
              <a:rPr lang="en-US" sz="2600" noProof="0" dirty="0"/>
              <a:t>Update the weights: </a:t>
            </a:r>
          </a:p>
          <a:p>
            <a:r>
              <a:rPr lang="en-US" sz="2600" noProof="0" dirty="0"/>
              <a:t>Until stopping condition is met</a:t>
            </a:r>
          </a:p>
        </p:txBody>
      </p:sp>
      <p:grpSp>
        <p:nvGrpSpPr>
          <p:cNvPr id="8" name="Gruppo 7">
            <a:extLst>
              <a:ext uri="{FF2B5EF4-FFF2-40B4-BE49-F238E27FC236}">
                <a16:creationId xmlns:a16="http://schemas.microsoft.com/office/drawing/2014/main" id="{EB4DFA82-82B6-094F-A4CF-6197B82BDA2A}"/>
              </a:ext>
            </a:extLst>
          </p:cNvPr>
          <p:cNvGrpSpPr/>
          <p:nvPr/>
        </p:nvGrpSpPr>
        <p:grpSpPr>
          <a:xfrm>
            <a:off x="4869025" y="4140455"/>
            <a:ext cx="4876800" cy="2036508"/>
            <a:chOff x="4869025" y="4140455"/>
            <a:chExt cx="4876800" cy="2036508"/>
          </a:xfrm>
        </p:grpSpPr>
        <p:graphicFrame>
          <p:nvGraphicFramePr>
            <p:cNvPr id="4" name="Object 2">
              <a:extLst>
                <a:ext uri="{FF2B5EF4-FFF2-40B4-BE49-F238E27FC236}">
                  <a16:creationId xmlns:a16="http://schemas.microsoft.com/office/drawing/2014/main" id="{A052F7D7-8C68-8043-A12D-40E48B12611D}"/>
                </a:ext>
              </a:extLst>
            </p:cNvPr>
            <p:cNvGraphicFramePr>
              <a:graphicFrameLocks noChangeAspect="1"/>
            </p:cNvGraphicFramePr>
            <p:nvPr/>
          </p:nvGraphicFramePr>
          <p:xfrm>
            <a:off x="4869025" y="4748953"/>
            <a:ext cx="4876800" cy="565150"/>
          </p:xfrm>
          <a:graphic>
            <a:graphicData uri="http://schemas.openxmlformats.org/presentationml/2006/ole">
              <mc:AlternateContent xmlns:mc="http://schemas.openxmlformats.org/markup-compatibility/2006">
                <mc:Choice xmlns:v="urn:schemas-microsoft-com:vml" Requires="v">
                  <p:oleObj name="Equation" r:id="rId3" imgW="2082800" imgH="241300" progId="Equation.3">
                    <p:embed/>
                  </p:oleObj>
                </mc:Choice>
                <mc:Fallback>
                  <p:oleObj name="Equation" r:id="rId3" imgW="2082800" imgH="241300" progId="Equation.3">
                    <p:embed/>
                    <p:pic>
                      <p:nvPicPr>
                        <p:cNvPr id="4" name="Object 2">
                          <a:extLst>
                            <a:ext uri="{FF2B5EF4-FFF2-40B4-BE49-F238E27FC236}">
                              <a16:creationId xmlns:a16="http://schemas.microsoft.com/office/drawing/2014/main" id="{A052F7D7-8C68-8043-A12D-40E48B1261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9025" y="4748953"/>
                          <a:ext cx="4876800" cy="565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TextBox 74">
              <a:extLst>
                <a:ext uri="{FF2B5EF4-FFF2-40B4-BE49-F238E27FC236}">
                  <a16:creationId xmlns:a16="http://schemas.microsoft.com/office/drawing/2014/main" id="{440678E2-9A6C-E844-B0EC-95CFA9B0218D}"/>
                </a:ext>
              </a:extLst>
            </p:cNvPr>
            <p:cNvSpPr txBox="1">
              <a:spLocks noChangeArrowheads="1"/>
            </p:cNvSpPr>
            <p:nvPr/>
          </p:nvSpPr>
          <p:spPr bwMode="auto">
            <a:xfrm>
              <a:off x="6346060" y="4140455"/>
              <a:ext cx="1726785" cy="369332"/>
            </a:xfrm>
            <a:prstGeom prst="rect">
              <a:avLst/>
            </a:prstGeom>
            <a:noFill/>
            <a:ln w="9525">
              <a:noFill/>
              <a:miter lim="800000"/>
              <a:headEnd/>
              <a:tailEnd/>
            </a:ln>
          </p:spPr>
          <p:txBody>
            <a:bodyPr wrap="square">
              <a:prstTxWarp prst="textNoShape">
                <a:avLst/>
              </a:prstTxWarp>
              <a:spAutoFit/>
            </a:bodyPr>
            <a:lstStyle/>
            <a:p>
              <a:pPr algn="ctr"/>
              <a:r>
                <a:rPr lang="en-US" dirty="0"/>
                <a:t>Iteration index</a:t>
              </a:r>
            </a:p>
          </p:txBody>
        </p:sp>
        <p:sp>
          <p:nvSpPr>
            <p:cNvPr id="6" name="TextBox 74">
              <a:extLst>
                <a:ext uri="{FF2B5EF4-FFF2-40B4-BE49-F238E27FC236}">
                  <a16:creationId xmlns:a16="http://schemas.microsoft.com/office/drawing/2014/main" id="{DB17B13F-2F60-8A44-AA51-4DD7A625F4C8}"/>
                </a:ext>
              </a:extLst>
            </p:cNvPr>
            <p:cNvSpPr txBox="1">
              <a:spLocks noChangeArrowheads="1"/>
            </p:cNvSpPr>
            <p:nvPr/>
          </p:nvSpPr>
          <p:spPr bwMode="auto">
            <a:xfrm>
              <a:off x="6746097" y="5807631"/>
              <a:ext cx="1726785" cy="369332"/>
            </a:xfrm>
            <a:prstGeom prst="rect">
              <a:avLst/>
            </a:prstGeom>
            <a:noFill/>
            <a:ln w="9525">
              <a:noFill/>
              <a:miter lim="800000"/>
              <a:headEnd/>
              <a:tailEnd/>
            </a:ln>
          </p:spPr>
          <p:txBody>
            <a:bodyPr wrap="square">
              <a:prstTxWarp prst="textNoShape">
                <a:avLst/>
              </a:prstTxWarp>
              <a:spAutoFit/>
            </a:bodyPr>
            <a:lstStyle/>
            <a:p>
              <a:pPr algn="ctr"/>
              <a:r>
                <a:rPr lang="en-US" dirty="0"/>
                <a:t>Learning rate</a:t>
              </a:r>
            </a:p>
          </p:txBody>
        </p:sp>
        <p:cxnSp>
          <p:nvCxnSpPr>
            <p:cNvPr id="7" name="Straight Connector 27">
              <a:extLst>
                <a:ext uri="{FF2B5EF4-FFF2-40B4-BE49-F238E27FC236}">
                  <a16:creationId xmlns:a16="http://schemas.microsoft.com/office/drawing/2014/main" id="{6749E11E-407B-774C-9AD6-937772179B3A}"/>
                </a:ext>
              </a:extLst>
            </p:cNvPr>
            <p:cNvCxnSpPr>
              <a:cxnSpLocks/>
            </p:cNvCxnSpPr>
            <p:nvPr/>
          </p:nvCxnSpPr>
          <p:spPr>
            <a:xfrm flipV="1">
              <a:off x="6490193" y="4483350"/>
              <a:ext cx="517097" cy="344156"/>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11" name="Straight Connector 27">
              <a:extLst>
                <a:ext uri="{FF2B5EF4-FFF2-40B4-BE49-F238E27FC236}">
                  <a16:creationId xmlns:a16="http://schemas.microsoft.com/office/drawing/2014/main" id="{C46DFC59-0410-1C49-8968-23A70A18DD36}"/>
                </a:ext>
              </a:extLst>
            </p:cNvPr>
            <p:cNvCxnSpPr>
              <a:cxnSpLocks/>
            </p:cNvCxnSpPr>
            <p:nvPr/>
          </p:nvCxnSpPr>
          <p:spPr>
            <a:xfrm flipV="1">
              <a:off x="5598368" y="4483350"/>
              <a:ext cx="1408922" cy="344156"/>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14" name="Straight Connector 27">
              <a:extLst>
                <a:ext uri="{FF2B5EF4-FFF2-40B4-BE49-F238E27FC236}">
                  <a16:creationId xmlns:a16="http://schemas.microsoft.com/office/drawing/2014/main" id="{B9365235-E524-ED4D-9BB1-EAE40CE2EF7D}"/>
                </a:ext>
              </a:extLst>
            </p:cNvPr>
            <p:cNvCxnSpPr>
              <a:cxnSpLocks/>
            </p:cNvCxnSpPr>
            <p:nvPr/>
          </p:nvCxnSpPr>
          <p:spPr>
            <a:xfrm>
              <a:off x="7048876" y="5203606"/>
              <a:ext cx="340969" cy="604025"/>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796248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en-US" noProof="0" dirty="0"/>
              <a:t>Perceptron Learning Rule</a:t>
            </a:r>
          </a:p>
        </p:txBody>
      </p:sp>
      <p:sp>
        <p:nvSpPr>
          <p:cNvPr id="10243" name="Rectangle 3"/>
          <p:cNvSpPr>
            <a:spLocks noGrp="1" noChangeArrowheads="1"/>
          </p:cNvSpPr>
          <p:nvPr>
            <p:ph type="body" idx="1"/>
          </p:nvPr>
        </p:nvSpPr>
        <p:spPr/>
        <p:txBody>
          <a:bodyPr/>
          <a:lstStyle/>
          <a:p>
            <a:r>
              <a:rPr lang="en-US" altLang="en-US" noProof="0" dirty="0"/>
              <a:t>Weight update formula:</a:t>
            </a:r>
          </a:p>
          <a:p>
            <a:endParaRPr lang="en-US" altLang="en-US" noProof="0" dirty="0"/>
          </a:p>
          <a:p>
            <a:endParaRPr lang="en-US" altLang="en-US" noProof="0" dirty="0"/>
          </a:p>
          <a:p>
            <a:r>
              <a:rPr lang="en-US" altLang="en-US" noProof="0" dirty="0"/>
              <a:t>Intuition:</a:t>
            </a:r>
          </a:p>
          <a:p>
            <a:pPr lvl="1"/>
            <a:r>
              <a:rPr lang="en-US" altLang="en-US" noProof="0" dirty="0"/>
              <a:t>Update weight based on error:  </a:t>
            </a:r>
          </a:p>
          <a:p>
            <a:pPr lvl="1"/>
            <a:r>
              <a:rPr lang="en-US" altLang="en-US" noProof="0" dirty="0"/>
              <a:t>If y=f(</a:t>
            </a:r>
            <a:r>
              <a:rPr lang="en-US" altLang="en-US" noProof="0" dirty="0" err="1"/>
              <a:t>x,w</a:t>
            </a:r>
            <a:r>
              <a:rPr lang="en-US" altLang="en-US" noProof="0" dirty="0"/>
              <a:t>), e=0: no update needed</a:t>
            </a:r>
          </a:p>
          <a:p>
            <a:pPr lvl="1"/>
            <a:r>
              <a:rPr lang="en-US" altLang="en-US" noProof="0" dirty="0"/>
              <a:t>If y&gt;f(</a:t>
            </a:r>
            <a:r>
              <a:rPr lang="en-US" altLang="en-US" noProof="0" dirty="0" err="1"/>
              <a:t>x,w</a:t>
            </a:r>
            <a:r>
              <a:rPr lang="en-US" altLang="en-US" noProof="0" dirty="0"/>
              <a:t>), e=2: weight must be increased so that f(</a:t>
            </a:r>
            <a:r>
              <a:rPr lang="en-US" altLang="en-US" noProof="0" dirty="0" err="1"/>
              <a:t>x,w</a:t>
            </a:r>
            <a:r>
              <a:rPr lang="en-US" altLang="en-US" noProof="0" dirty="0"/>
              <a:t>) will increase</a:t>
            </a:r>
          </a:p>
          <a:p>
            <a:pPr lvl="1"/>
            <a:r>
              <a:rPr lang="en-US" altLang="en-US" noProof="0" dirty="0"/>
              <a:t>If y&lt;f(</a:t>
            </a:r>
            <a:r>
              <a:rPr lang="en-US" altLang="en-US" noProof="0" dirty="0" err="1"/>
              <a:t>x,w</a:t>
            </a:r>
            <a:r>
              <a:rPr lang="en-US" altLang="en-US" noProof="0" dirty="0"/>
              <a:t>), e=-2: weight must be decreased so that f(</a:t>
            </a:r>
            <a:r>
              <a:rPr lang="en-US" altLang="en-US" noProof="0" dirty="0" err="1"/>
              <a:t>x,w</a:t>
            </a:r>
            <a:r>
              <a:rPr lang="en-US" altLang="en-US" noProof="0" dirty="0"/>
              <a:t>) will decrease</a:t>
            </a:r>
          </a:p>
        </p:txBody>
      </p:sp>
      <p:graphicFrame>
        <p:nvGraphicFramePr>
          <p:cNvPr id="10244" name="Object 2"/>
          <p:cNvGraphicFramePr>
            <a:graphicFrameLocks noGrp="1" noChangeAspect="1"/>
          </p:cNvGraphicFramePr>
          <p:nvPr>
            <p:ph sz="half" idx="4294967295"/>
          </p:nvPr>
        </p:nvGraphicFramePr>
        <p:xfrm>
          <a:off x="2286000" y="2356644"/>
          <a:ext cx="7620000" cy="555625"/>
        </p:xfrm>
        <a:graphic>
          <a:graphicData uri="http://schemas.openxmlformats.org/presentationml/2006/ole">
            <mc:AlternateContent xmlns:mc="http://schemas.openxmlformats.org/markup-compatibility/2006">
              <mc:Choice xmlns:v="urn:schemas-microsoft-com:vml" Requires="v">
                <p:oleObj name="Equation" r:id="rId2" imgW="3213100" imgH="241300" progId="Equation.3">
                  <p:embed/>
                </p:oleObj>
              </mc:Choice>
              <mc:Fallback>
                <p:oleObj name="Equation" r:id="rId2" imgW="3213100" imgH="241300" progId="Equation.3">
                  <p:embed/>
                  <p:pic>
                    <p:nvPicPr>
                      <p:cNvPr id="1024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2356644"/>
                        <a:ext cx="76200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5" name="Object 3"/>
          <p:cNvGraphicFramePr>
            <a:graphicFrameLocks noGrp="1" noChangeAspect="1"/>
          </p:cNvGraphicFramePr>
          <p:nvPr>
            <p:ph sz="half" idx="4294967295"/>
          </p:nvPr>
        </p:nvGraphicFramePr>
        <p:xfrm>
          <a:off x="5579706" y="3747294"/>
          <a:ext cx="2590800" cy="508000"/>
        </p:xfrm>
        <a:graphic>
          <a:graphicData uri="http://schemas.openxmlformats.org/presentationml/2006/ole">
            <mc:AlternateContent xmlns:mc="http://schemas.openxmlformats.org/markup-compatibility/2006">
              <mc:Choice xmlns:v="urn:schemas-microsoft-com:vml" Requires="v">
                <p:oleObj name="Equation" r:id="rId4" imgW="1231366" imgH="241195" progId="Equation.3">
                  <p:embed/>
                </p:oleObj>
              </mc:Choice>
              <mc:Fallback>
                <p:oleObj name="Equation" r:id="rId4" imgW="1231366" imgH="241195" progId="Equation.3">
                  <p:embed/>
                  <p:pic>
                    <p:nvPicPr>
                      <p:cNvPr id="10245"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79706" y="3747294"/>
                        <a:ext cx="25908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480257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4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24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24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24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24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24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2BD302E-3AD4-5D40-AE13-BEE91783D2A0}"/>
              </a:ext>
            </a:extLst>
          </p:cNvPr>
          <p:cNvSpPr>
            <a:spLocks noGrp="1"/>
          </p:cNvSpPr>
          <p:nvPr>
            <p:ph type="title"/>
          </p:nvPr>
        </p:nvSpPr>
        <p:spPr/>
        <p:txBody>
          <a:bodyPr/>
          <a:lstStyle/>
          <a:p>
            <a:r>
              <a:rPr lang="en-US" noProof="0" dirty="0"/>
              <a:t>The Learning Rate</a:t>
            </a:r>
          </a:p>
        </p:txBody>
      </p:sp>
      <p:sp>
        <p:nvSpPr>
          <p:cNvPr id="3" name="Segnaposto contenuto 2">
            <a:extLst>
              <a:ext uri="{FF2B5EF4-FFF2-40B4-BE49-F238E27FC236}">
                <a16:creationId xmlns:a16="http://schemas.microsoft.com/office/drawing/2014/main" id="{14220CD0-BE04-1F48-BA2F-33DD6234F1B5}"/>
              </a:ext>
            </a:extLst>
          </p:cNvPr>
          <p:cNvSpPr>
            <a:spLocks noGrp="1"/>
          </p:cNvSpPr>
          <p:nvPr>
            <p:ph idx="1"/>
          </p:nvPr>
        </p:nvSpPr>
        <p:spPr/>
        <p:txBody>
          <a:bodyPr/>
          <a:lstStyle/>
          <a:p>
            <a:r>
              <a:rPr lang="en-US" noProof="0" dirty="0"/>
              <a:t>Is a parameter with value between 0 and 1 used to control the amount of adjustment made in each iteration.</a:t>
            </a:r>
          </a:p>
          <a:p>
            <a:r>
              <a:rPr lang="en-US" dirty="0"/>
              <a:t>If is close to 0 the new weight is mostly influenced by the value of the old weight.</a:t>
            </a:r>
          </a:p>
          <a:p>
            <a:r>
              <a:rPr lang="en-US" noProof="0" dirty="0"/>
              <a:t>If it is close to 1, then the new weight is mostly influenced by the current adjustment.</a:t>
            </a:r>
          </a:p>
          <a:p>
            <a:r>
              <a:rPr lang="en-US" noProof="0" dirty="0"/>
              <a:t>The learning rate can be adaptive: initially moderately large and the gradually decreases in subsequent iterations.</a:t>
            </a:r>
          </a:p>
          <a:p>
            <a:endParaRPr lang="en-US" noProof="0" dirty="0"/>
          </a:p>
        </p:txBody>
      </p:sp>
    </p:spTree>
    <p:extLst>
      <p:ext uri="{BB962C8B-B14F-4D97-AF65-F5344CB8AC3E}">
        <p14:creationId xmlns:p14="http://schemas.microsoft.com/office/powerpoint/2010/main" val="2866681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9BE1CD46-5556-5C4F-B56F-EC49CE6DDB75}"/>
              </a:ext>
            </a:extLst>
          </p:cNvPr>
          <p:cNvSpPr>
            <a:spLocks noGrp="1"/>
          </p:cNvSpPr>
          <p:nvPr>
            <p:ph type="title"/>
          </p:nvPr>
        </p:nvSpPr>
        <p:spPr/>
        <p:txBody>
          <a:bodyPr/>
          <a:lstStyle/>
          <a:p>
            <a:r>
              <a:rPr lang="en-US" dirty="0"/>
              <a:t>Exercises - Perceptron</a:t>
            </a:r>
          </a:p>
        </p:txBody>
      </p:sp>
    </p:spTree>
    <p:extLst>
      <p:ext uri="{BB962C8B-B14F-4D97-AF65-F5344CB8AC3E}">
        <p14:creationId xmlns:p14="http://schemas.microsoft.com/office/powerpoint/2010/main" val="21141426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e 1">
            <a:extLst>
              <a:ext uri="{FF2B5EF4-FFF2-40B4-BE49-F238E27FC236}">
                <a16:creationId xmlns:a16="http://schemas.microsoft.com/office/drawing/2014/main" id="{EC9BC163-BF94-084F-A8F6-492A3C23BE80}"/>
              </a:ext>
            </a:extLst>
          </p:cNvPr>
          <p:cNvSpPr/>
          <p:nvPr/>
        </p:nvSpPr>
        <p:spPr>
          <a:xfrm>
            <a:off x="5447489" y="1984443"/>
            <a:ext cx="408562" cy="4085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 name="Ovale 2">
            <a:extLst>
              <a:ext uri="{FF2B5EF4-FFF2-40B4-BE49-F238E27FC236}">
                <a16:creationId xmlns:a16="http://schemas.microsoft.com/office/drawing/2014/main" id="{0047A035-3BFC-F048-9242-42EB789CF618}"/>
              </a:ext>
            </a:extLst>
          </p:cNvPr>
          <p:cNvSpPr/>
          <p:nvPr/>
        </p:nvSpPr>
        <p:spPr>
          <a:xfrm>
            <a:off x="5447489" y="2632953"/>
            <a:ext cx="408562" cy="4085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Ovale 3">
            <a:extLst>
              <a:ext uri="{FF2B5EF4-FFF2-40B4-BE49-F238E27FC236}">
                <a16:creationId xmlns:a16="http://schemas.microsoft.com/office/drawing/2014/main" id="{FDAA1BB0-6A89-F74C-80B9-22BF6061C155}"/>
              </a:ext>
            </a:extLst>
          </p:cNvPr>
          <p:cNvSpPr/>
          <p:nvPr/>
        </p:nvSpPr>
        <p:spPr>
          <a:xfrm>
            <a:off x="5447489" y="3300918"/>
            <a:ext cx="408562" cy="4085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 name="Ovale 4">
            <a:extLst>
              <a:ext uri="{FF2B5EF4-FFF2-40B4-BE49-F238E27FC236}">
                <a16:creationId xmlns:a16="http://schemas.microsoft.com/office/drawing/2014/main" id="{A6CBBF32-2F2E-FA4D-931D-8AF2E6DAFA03}"/>
              </a:ext>
            </a:extLst>
          </p:cNvPr>
          <p:cNvSpPr/>
          <p:nvPr/>
        </p:nvSpPr>
        <p:spPr>
          <a:xfrm>
            <a:off x="7000672" y="2632953"/>
            <a:ext cx="408562" cy="4085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6" name="Connettore 2 5">
            <a:extLst>
              <a:ext uri="{FF2B5EF4-FFF2-40B4-BE49-F238E27FC236}">
                <a16:creationId xmlns:a16="http://schemas.microsoft.com/office/drawing/2014/main" id="{E8AE6BD3-6723-FF4B-9C27-FBC0B680F126}"/>
              </a:ext>
            </a:extLst>
          </p:cNvPr>
          <p:cNvCxnSpPr>
            <a:stCxn id="2" idx="6"/>
            <a:endCxn id="5" idx="1"/>
          </p:cNvCxnSpPr>
          <p:nvPr/>
        </p:nvCxnSpPr>
        <p:spPr>
          <a:xfrm>
            <a:off x="5856051" y="2188724"/>
            <a:ext cx="1204454" cy="50406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7" name="Connettore 2 6">
            <a:extLst>
              <a:ext uri="{FF2B5EF4-FFF2-40B4-BE49-F238E27FC236}">
                <a16:creationId xmlns:a16="http://schemas.microsoft.com/office/drawing/2014/main" id="{4D7F146E-C955-B341-BCC0-C23C71D501D8}"/>
              </a:ext>
            </a:extLst>
          </p:cNvPr>
          <p:cNvCxnSpPr>
            <a:cxnSpLocks/>
            <a:endCxn id="5" idx="2"/>
          </p:cNvCxnSpPr>
          <p:nvPr/>
        </p:nvCxnSpPr>
        <p:spPr>
          <a:xfrm flipV="1">
            <a:off x="5847578" y="2837234"/>
            <a:ext cx="1153094" cy="855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8" name="Connettore 2 7">
            <a:extLst>
              <a:ext uri="{FF2B5EF4-FFF2-40B4-BE49-F238E27FC236}">
                <a16:creationId xmlns:a16="http://schemas.microsoft.com/office/drawing/2014/main" id="{054342CE-812E-B041-9F24-37188A9E8C6A}"/>
              </a:ext>
            </a:extLst>
          </p:cNvPr>
          <p:cNvCxnSpPr>
            <a:cxnSpLocks/>
            <a:stCxn id="4" idx="6"/>
            <a:endCxn id="5" idx="3"/>
          </p:cNvCxnSpPr>
          <p:nvPr/>
        </p:nvCxnSpPr>
        <p:spPr>
          <a:xfrm flipV="1">
            <a:off x="5856051" y="2981682"/>
            <a:ext cx="1204454" cy="52351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9" name="Connettore 2 8">
            <a:extLst>
              <a:ext uri="{FF2B5EF4-FFF2-40B4-BE49-F238E27FC236}">
                <a16:creationId xmlns:a16="http://schemas.microsoft.com/office/drawing/2014/main" id="{5760077B-D83E-7949-A8D7-6CDA3847C612}"/>
              </a:ext>
            </a:extLst>
          </p:cNvPr>
          <p:cNvCxnSpPr>
            <a:cxnSpLocks/>
            <a:stCxn id="5" idx="6"/>
          </p:cNvCxnSpPr>
          <p:nvPr/>
        </p:nvCxnSpPr>
        <p:spPr>
          <a:xfrm>
            <a:off x="7409234" y="2837234"/>
            <a:ext cx="382621" cy="855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0" name="CasellaDiTesto 9">
            <a:extLst>
              <a:ext uri="{FF2B5EF4-FFF2-40B4-BE49-F238E27FC236}">
                <a16:creationId xmlns:a16="http://schemas.microsoft.com/office/drawing/2014/main" id="{048C565C-5D4F-934B-B733-1A5DC49EE88F}"/>
              </a:ext>
            </a:extLst>
          </p:cNvPr>
          <p:cNvSpPr txBox="1"/>
          <p:nvPr/>
        </p:nvSpPr>
        <p:spPr>
          <a:xfrm>
            <a:off x="6273547" y="1955869"/>
            <a:ext cx="928459" cy="369332"/>
          </a:xfrm>
          <a:prstGeom prst="rect">
            <a:avLst/>
          </a:prstGeom>
          <a:noFill/>
        </p:spPr>
        <p:txBody>
          <a:bodyPr wrap="none" rtlCol="0">
            <a:spAutoFit/>
          </a:bodyPr>
          <a:lstStyle/>
          <a:p>
            <a:r>
              <a:rPr lang="it-IT" dirty="0"/>
              <a:t>W</a:t>
            </a:r>
            <a:r>
              <a:rPr lang="it-IT" baseline="-25000" dirty="0"/>
              <a:t>1</a:t>
            </a:r>
            <a:r>
              <a:rPr lang="it-IT" dirty="0"/>
              <a:t>= 0.4</a:t>
            </a:r>
            <a:endParaRPr lang="it-IT" baseline="-25000" dirty="0"/>
          </a:p>
        </p:txBody>
      </p:sp>
      <p:sp>
        <p:nvSpPr>
          <p:cNvPr id="11" name="CasellaDiTesto 10">
            <a:extLst>
              <a:ext uri="{FF2B5EF4-FFF2-40B4-BE49-F238E27FC236}">
                <a16:creationId xmlns:a16="http://schemas.microsoft.com/office/drawing/2014/main" id="{91221946-C3A7-0A4E-AF67-77FC2F649CA2}"/>
              </a:ext>
            </a:extLst>
          </p:cNvPr>
          <p:cNvSpPr txBox="1"/>
          <p:nvPr/>
        </p:nvSpPr>
        <p:spPr>
          <a:xfrm>
            <a:off x="5864003" y="2508120"/>
            <a:ext cx="998991" cy="369332"/>
          </a:xfrm>
          <a:prstGeom prst="rect">
            <a:avLst/>
          </a:prstGeom>
          <a:noFill/>
        </p:spPr>
        <p:txBody>
          <a:bodyPr wrap="none" rtlCol="0">
            <a:spAutoFit/>
          </a:bodyPr>
          <a:lstStyle/>
          <a:p>
            <a:r>
              <a:rPr lang="it-IT" dirty="0"/>
              <a:t>W</a:t>
            </a:r>
            <a:r>
              <a:rPr lang="it-IT" baseline="-25000" dirty="0"/>
              <a:t>2</a:t>
            </a:r>
            <a:r>
              <a:rPr lang="it-IT" dirty="0"/>
              <a:t>= -1.5</a:t>
            </a:r>
          </a:p>
        </p:txBody>
      </p:sp>
      <p:sp>
        <p:nvSpPr>
          <p:cNvPr id="12" name="CasellaDiTesto 11">
            <a:extLst>
              <a:ext uri="{FF2B5EF4-FFF2-40B4-BE49-F238E27FC236}">
                <a16:creationId xmlns:a16="http://schemas.microsoft.com/office/drawing/2014/main" id="{0F31454A-350E-4F42-B05C-34680823B6C6}"/>
              </a:ext>
            </a:extLst>
          </p:cNvPr>
          <p:cNvSpPr txBox="1"/>
          <p:nvPr/>
        </p:nvSpPr>
        <p:spPr>
          <a:xfrm>
            <a:off x="6001681" y="3448456"/>
            <a:ext cx="998991" cy="369332"/>
          </a:xfrm>
          <a:prstGeom prst="rect">
            <a:avLst/>
          </a:prstGeom>
          <a:noFill/>
        </p:spPr>
        <p:txBody>
          <a:bodyPr wrap="none" rtlCol="0">
            <a:spAutoFit/>
          </a:bodyPr>
          <a:lstStyle/>
          <a:p>
            <a:r>
              <a:rPr lang="it-IT" dirty="0"/>
              <a:t>W</a:t>
            </a:r>
            <a:r>
              <a:rPr lang="it-IT" baseline="-25000" dirty="0"/>
              <a:t>3</a:t>
            </a:r>
            <a:r>
              <a:rPr lang="it-IT" dirty="0"/>
              <a:t>= -0.1</a:t>
            </a:r>
          </a:p>
        </p:txBody>
      </p:sp>
      <p:cxnSp>
        <p:nvCxnSpPr>
          <p:cNvPr id="13" name="Connettore 2 12">
            <a:extLst>
              <a:ext uri="{FF2B5EF4-FFF2-40B4-BE49-F238E27FC236}">
                <a16:creationId xmlns:a16="http://schemas.microsoft.com/office/drawing/2014/main" id="{11E49099-E986-C248-B322-F441F8A0459E}"/>
              </a:ext>
            </a:extLst>
          </p:cNvPr>
          <p:cNvCxnSpPr>
            <a:cxnSpLocks/>
          </p:cNvCxnSpPr>
          <p:nvPr/>
        </p:nvCxnSpPr>
        <p:spPr>
          <a:xfrm flipV="1">
            <a:off x="7202006" y="3050065"/>
            <a:ext cx="0" cy="100106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4" name="CasellaDiTesto 13">
            <a:extLst>
              <a:ext uri="{FF2B5EF4-FFF2-40B4-BE49-F238E27FC236}">
                <a16:creationId xmlns:a16="http://schemas.microsoft.com/office/drawing/2014/main" id="{2A885890-AD4C-C541-A303-0DC26EA00374}"/>
              </a:ext>
            </a:extLst>
          </p:cNvPr>
          <p:cNvSpPr txBox="1"/>
          <p:nvPr/>
        </p:nvSpPr>
        <p:spPr>
          <a:xfrm>
            <a:off x="6737776" y="4040063"/>
            <a:ext cx="753732" cy="369332"/>
          </a:xfrm>
          <a:prstGeom prst="rect">
            <a:avLst/>
          </a:prstGeom>
          <a:noFill/>
        </p:spPr>
        <p:txBody>
          <a:bodyPr wrap="none" rtlCol="0">
            <a:spAutoFit/>
          </a:bodyPr>
          <a:lstStyle/>
          <a:p>
            <a:r>
              <a:rPr lang="it-IT" dirty="0"/>
              <a:t>W</a:t>
            </a:r>
            <a:r>
              <a:rPr lang="it-IT" baseline="-25000" dirty="0"/>
              <a:t>0</a:t>
            </a:r>
            <a:r>
              <a:rPr lang="it-IT" dirty="0"/>
              <a:t>= 1</a:t>
            </a:r>
          </a:p>
        </p:txBody>
      </p:sp>
      <p:sp>
        <p:nvSpPr>
          <p:cNvPr id="15" name="CasellaDiTesto 14">
            <a:extLst>
              <a:ext uri="{FF2B5EF4-FFF2-40B4-BE49-F238E27FC236}">
                <a16:creationId xmlns:a16="http://schemas.microsoft.com/office/drawing/2014/main" id="{19579943-27CC-7B48-9E11-0914CE9129DF}"/>
              </a:ext>
            </a:extLst>
          </p:cNvPr>
          <p:cNvSpPr txBox="1"/>
          <p:nvPr/>
        </p:nvSpPr>
        <p:spPr>
          <a:xfrm>
            <a:off x="7149908" y="2226012"/>
            <a:ext cx="744114" cy="369332"/>
          </a:xfrm>
          <a:prstGeom prst="rect">
            <a:avLst/>
          </a:prstGeom>
          <a:noFill/>
        </p:spPr>
        <p:txBody>
          <a:bodyPr wrap="none" rtlCol="0">
            <a:spAutoFit/>
          </a:bodyPr>
          <a:lstStyle/>
          <a:p>
            <a:r>
              <a:rPr lang="it-IT" dirty="0" err="1"/>
              <a:t>f</a:t>
            </a:r>
            <a:r>
              <a:rPr lang="it-IT" dirty="0"/>
              <a:t>=</a:t>
            </a:r>
            <a:r>
              <a:rPr lang="it-IT" dirty="0" err="1"/>
              <a:t>sign</a:t>
            </a:r>
            <a:endParaRPr lang="it-IT" dirty="0"/>
          </a:p>
        </p:txBody>
      </p:sp>
      <p:graphicFrame>
        <p:nvGraphicFramePr>
          <p:cNvPr id="16" name="Tabella 15">
            <a:extLst>
              <a:ext uri="{FF2B5EF4-FFF2-40B4-BE49-F238E27FC236}">
                <a16:creationId xmlns:a16="http://schemas.microsoft.com/office/drawing/2014/main" id="{F31EF755-EA8D-8C46-9A76-A1A94246A0E3}"/>
              </a:ext>
            </a:extLst>
          </p:cNvPr>
          <p:cNvGraphicFramePr>
            <a:graphicFrameLocks noGrp="1"/>
          </p:cNvGraphicFramePr>
          <p:nvPr/>
        </p:nvGraphicFramePr>
        <p:xfrm>
          <a:off x="2014659" y="2299835"/>
          <a:ext cx="2608095" cy="1854200"/>
        </p:xfrm>
        <a:graphic>
          <a:graphicData uri="http://schemas.openxmlformats.org/drawingml/2006/table">
            <a:tbl>
              <a:tblPr firstRow="1" bandRow="1">
                <a:tableStyleId>{5C22544A-7EE6-4342-B048-85BDC9FD1C3A}</a:tableStyleId>
              </a:tblPr>
              <a:tblGrid>
                <a:gridCol w="521619">
                  <a:extLst>
                    <a:ext uri="{9D8B030D-6E8A-4147-A177-3AD203B41FA5}">
                      <a16:colId xmlns:a16="http://schemas.microsoft.com/office/drawing/2014/main" val="3007943972"/>
                    </a:ext>
                  </a:extLst>
                </a:gridCol>
                <a:gridCol w="521619">
                  <a:extLst>
                    <a:ext uri="{9D8B030D-6E8A-4147-A177-3AD203B41FA5}">
                      <a16:colId xmlns:a16="http://schemas.microsoft.com/office/drawing/2014/main" val="220923671"/>
                    </a:ext>
                  </a:extLst>
                </a:gridCol>
                <a:gridCol w="521619">
                  <a:extLst>
                    <a:ext uri="{9D8B030D-6E8A-4147-A177-3AD203B41FA5}">
                      <a16:colId xmlns:a16="http://schemas.microsoft.com/office/drawing/2014/main" val="1888354542"/>
                    </a:ext>
                  </a:extLst>
                </a:gridCol>
                <a:gridCol w="521619">
                  <a:extLst>
                    <a:ext uri="{9D8B030D-6E8A-4147-A177-3AD203B41FA5}">
                      <a16:colId xmlns:a16="http://schemas.microsoft.com/office/drawing/2014/main" val="4183561819"/>
                    </a:ext>
                  </a:extLst>
                </a:gridCol>
                <a:gridCol w="521619">
                  <a:extLst>
                    <a:ext uri="{9D8B030D-6E8A-4147-A177-3AD203B41FA5}">
                      <a16:colId xmlns:a16="http://schemas.microsoft.com/office/drawing/2014/main" val="2090727010"/>
                    </a:ext>
                  </a:extLst>
                </a:gridCol>
              </a:tblGrid>
              <a:tr h="370840">
                <a:tc>
                  <a:txBody>
                    <a:bodyPr/>
                    <a:lstStyle/>
                    <a:p>
                      <a:pPr algn="ctr"/>
                      <a:r>
                        <a:rPr lang="it-IT" dirty="0"/>
                        <a:t>id</a:t>
                      </a:r>
                    </a:p>
                  </a:txBody>
                  <a:tcPr/>
                </a:tc>
                <a:tc>
                  <a:txBody>
                    <a:bodyPr/>
                    <a:lstStyle/>
                    <a:p>
                      <a:pPr algn="ctr"/>
                      <a:r>
                        <a:rPr lang="it-IT" dirty="0"/>
                        <a:t>X</a:t>
                      </a:r>
                      <a:r>
                        <a:rPr lang="it-IT" baseline="-25000" dirty="0"/>
                        <a:t>1</a:t>
                      </a:r>
                    </a:p>
                  </a:txBody>
                  <a:tcPr/>
                </a:tc>
                <a:tc>
                  <a:txBody>
                    <a:bodyPr/>
                    <a:lstStyle/>
                    <a:p>
                      <a:pPr algn="ctr"/>
                      <a:r>
                        <a:rPr lang="it-IT" dirty="0"/>
                        <a:t>X</a:t>
                      </a:r>
                      <a:r>
                        <a:rPr lang="it-IT" baseline="-25000" dirty="0"/>
                        <a:t>2</a:t>
                      </a:r>
                      <a:endParaRPr lang="it-IT" dirty="0"/>
                    </a:p>
                  </a:txBody>
                  <a:tcPr/>
                </a:tc>
                <a:tc>
                  <a:txBody>
                    <a:bodyPr/>
                    <a:lstStyle/>
                    <a:p>
                      <a:pPr algn="ctr"/>
                      <a:r>
                        <a:rPr lang="it-IT" dirty="0"/>
                        <a:t>X</a:t>
                      </a:r>
                      <a:r>
                        <a:rPr lang="it-IT" baseline="-25000" dirty="0"/>
                        <a:t>3</a:t>
                      </a:r>
                      <a:endParaRPr lang="it-IT" dirty="0"/>
                    </a:p>
                  </a:txBody>
                  <a:tcPr/>
                </a:tc>
                <a:tc>
                  <a:txBody>
                    <a:bodyPr/>
                    <a:lstStyle/>
                    <a:p>
                      <a:pPr algn="ctr"/>
                      <a:r>
                        <a:rPr lang="it-IT" dirty="0"/>
                        <a:t>Y</a:t>
                      </a:r>
                    </a:p>
                  </a:txBody>
                  <a:tcPr/>
                </a:tc>
                <a:extLst>
                  <a:ext uri="{0D108BD9-81ED-4DB2-BD59-A6C34878D82A}">
                    <a16:rowId xmlns:a16="http://schemas.microsoft.com/office/drawing/2014/main" val="647644152"/>
                  </a:ext>
                </a:extLst>
              </a:tr>
              <a:tr h="370840">
                <a:tc>
                  <a:txBody>
                    <a:bodyPr/>
                    <a:lstStyle/>
                    <a:p>
                      <a:pPr algn="ctr"/>
                      <a:r>
                        <a:rPr lang="it-IT" dirty="0"/>
                        <a:t>1</a:t>
                      </a:r>
                    </a:p>
                  </a:txBody>
                  <a:tcPr/>
                </a:tc>
                <a:tc>
                  <a:txBody>
                    <a:bodyPr/>
                    <a:lstStyle/>
                    <a:p>
                      <a:pPr algn="ctr"/>
                      <a:r>
                        <a:rPr lang="it-IT" dirty="0"/>
                        <a:t>0</a:t>
                      </a:r>
                    </a:p>
                  </a:txBody>
                  <a:tcPr/>
                </a:tc>
                <a:tc>
                  <a:txBody>
                    <a:bodyPr/>
                    <a:lstStyle/>
                    <a:p>
                      <a:pPr algn="ctr"/>
                      <a:r>
                        <a:rPr lang="it-IT" dirty="0"/>
                        <a:t>0</a:t>
                      </a:r>
                    </a:p>
                  </a:txBody>
                  <a:tcPr/>
                </a:tc>
                <a:tc>
                  <a:txBody>
                    <a:bodyPr/>
                    <a:lstStyle/>
                    <a:p>
                      <a:pPr algn="ctr"/>
                      <a:r>
                        <a:rPr lang="it-IT" dirty="0"/>
                        <a:t>0</a:t>
                      </a:r>
                    </a:p>
                  </a:txBody>
                  <a:tcPr/>
                </a:tc>
                <a:tc>
                  <a:txBody>
                    <a:bodyPr/>
                    <a:lstStyle/>
                    <a:p>
                      <a:pPr algn="ctr"/>
                      <a:endParaRPr lang="it-IT" dirty="0"/>
                    </a:p>
                  </a:txBody>
                  <a:tcPr/>
                </a:tc>
                <a:extLst>
                  <a:ext uri="{0D108BD9-81ED-4DB2-BD59-A6C34878D82A}">
                    <a16:rowId xmlns:a16="http://schemas.microsoft.com/office/drawing/2014/main" val="3006406211"/>
                  </a:ext>
                </a:extLst>
              </a:tr>
              <a:tr h="370840">
                <a:tc>
                  <a:txBody>
                    <a:bodyPr/>
                    <a:lstStyle/>
                    <a:p>
                      <a:pPr algn="ctr"/>
                      <a:r>
                        <a:rPr lang="it-IT" dirty="0"/>
                        <a:t>2</a:t>
                      </a:r>
                    </a:p>
                  </a:txBody>
                  <a:tcPr/>
                </a:tc>
                <a:tc>
                  <a:txBody>
                    <a:bodyPr/>
                    <a:lstStyle/>
                    <a:p>
                      <a:pPr algn="ctr"/>
                      <a:r>
                        <a:rPr lang="it-IT" dirty="0"/>
                        <a:t>1</a:t>
                      </a:r>
                    </a:p>
                  </a:txBody>
                  <a:tcPr/>
                </a:tc>
                <a:tc>
                  <a:txBody>
                    <a:bodyPr/>
                    <a:lstStyle/>
                    <a:p>
                      <a:pPr algn="ctr"/>
                      <a:r>
                        <a:rPr lang="it-IT" dirty="0"/>
                        <a:t>1</a:t>
                      </a:r>
                    </a:p>
                  </a:txBody>
                  <a:tcPr/>
                </a:tc>
                <a:tc>
                  <a:txBody>
                    <a:bodyPr/>
                    <a:lstStyle/>
                    <a:p>
                      <a:pPr algn="ctr"/>
                      <a:r>
                        <a:rPr lang="it-IT" dirty="0"/>
                        <a:t>1</a:t>
                      </a:r>
                    </a:p>
                  </a:txBody>
                  <a:tcPr/>
                </a:tc>
                <a:tc>
                  <a:txBody>
                    <a:bodyPr/>
                    <a:lstStyle/>
                    <a:p>
                      <a:pPr algn="ctr"/>
                      <a:endParaRPr lang="it-IT" dirty="0"/>
                    </a:p>
                  </a:txBody>
                  <a:tcPr/>
                </a:tc>
                <a:extLst>
                  <a:ext uri="{0D108BD9-81ED-4DB2-BD59-A6C34878D82A}">
                    <a16:rowId xmlns:a16="http://schemas.microsoft.com/office/drawing/2014/main" val="1442248098"/>
                  </a:ext>
                </a:extLst>
              </a:tr>
              <a:tr h="370840">
                <a:tc>
                  <a:txBody>
                    <a:bodyPr/>
                    <a:lstStyle/>
                    <a:p>
                      <a:pPr algn="ctr"/>
                      <a:r>
                        <a:rPr lang="it-IT" dirty="0"/>
                        <a:t>3</a:t>
                      </a:r>
                    </a:p>
                  </a:txBody>
                  <a:tcPr/>
                </a:tc>
                <a:tc>
                  <a:txBody>
                    <a:bodyPr/>
                    <a:lstStyle/>
                    <a:p>
                      <a:pPr algn="ctr"/>
                      <a:r>
                        <a:rPr lang="it-IT" dirty="0"/>
                        <a:t>1</a:t>
                      </a:r>
                    </a:p>
                  </a:txBody>
                  <a:tcPr/>
                </a:tc>
                <a:tc>
                  <a:txBody>
                    <a:bodyPr/>
                    <a:lstStyle/>
                    <a:p>
                      <a:pPr algn="ctr"/>
                      <a:r>
                        <a:rPr lang="it-IT" dirty="0"/>
                        <a:t>0</a:t>
                      </a:r>
                    </a:p>
                  </a:txBody>
                  <a:tcPr/>
                </a:tc>
                <a:tc>
                  <a:txBody>
                    <a:bodyPr/>
                    <a:lstStyle/>
                    <a:p>
                      <a:pPr algn="ctr"/>
                      <a:r>
                        <a:rPr lang="it-IT" dirty="0"/>
                        <a:t>1</a:t>
                      </a:r>
                    </a:p>
                  </a:txBody>
                  <a:tcPr/>
                </a:tc>
                <a:tc>
                  <a:txBody>
                    <a:bodyPr/>
                    <a:lstStyle/>
                    <a:p>
                      <a:pPr algn="ctr"/>
                      <a:endParaRPr lang="it-IT" dirty="0"/>
                    </a:p>
                  </a:txBody>
                  <a:tcPr/>
                </a:tc>
                <a:extLst>
                  <a:ext uri="{0D108BD9-81ED-4DB2-BD59-A6C34878D82A}">
                    <a16:rowId xmlns:a16="http://schemas.microsoft.com/office/drawing/2014/main" val="4095835177"/>
                  </a:ext>
                </a:extLst>
              </a:tr>
              <a:tr h="370840">
                <a:tc>
                  <a:txBody>
                    <a:bodyPr/>
                    <a:lstStyle/>
                    <a:p>
                      <a:pPr algn="ctr"/>
                      <a:r>
                        <a:rPr lang="it-IT" dirty="0"/>
                        <a:t>4</a:t>
                      </a:r>
                    </a:p>
                  </a:txBody>
                  <a:tcPr/>
                </a:tc>
                <a:tc>
                  <a:txBody>
                    <a:bodyPr/>
                    <a:lstStyle/>
                    <a:p>
                      <a:pPr algn="ctr"/>
                      <a:r>
                        <a:rPr lang="it-IT" dirty="0"/>
                        <a:t>0</a:t>
                      </a:r>
                    </a:p>
                  </a:txBody>
                  <a:tcPr/>
                </a:tc>
                <a:tc>
                  <a:txBody>
                    <a:bodyPr/>
                    <a:lstStyle/>
                    <a:p>
                      <a:pPr algn="ctr"/>
                      <a:r>
                        <a:rPr lang="it-IT" dirty="0"/>
                        <a:t>2</a:t>
                      </a:r>
                    </a:p>
                  </a:txBody>
                  <a:tcPr/>
                </a:tc>
                <a:tc>
                  <a:txBody>
                    <a:bodyPr/>
                    <a:lstStyle/>
                    <a:p>
                      <a:pPr algn="ctr"/>
                      <a:r>
                        <a:rPr lang="it-IT" dirty="0"/>
                        <a:t>0</a:t>
                      </a:r>
                    </a:p>
                  </a:txBody>
                  <a:tcPr/>
                </a:tc>
                <a:tc>
                  <a:txBody>
                    <a:bodyPr/>
                    <a:lstStyle/>
                    <a:p>
                      <a:pPr algn="ctr"/>
                      <a:endParaRPr lang="it-IT" dirty="0"/>
                    </a:p>
                  </a:txBody>
                  <a:tcPr/>
                </a:tc>
                <a:extLst>
                  <a:ext uri="{0D108BD9-81ED-4DB2-BD59-A6C34878D82A}">
                    <a16:rowId xmlns:a16="http://schemas.microsoft.com/office/drawing/2014/main" val="638479503"/>
                  </a:ext>
                </a:extLst>
              </a:tr>
            </a:tbl>
          </a:graphicData>
        </a:graphic>
      </p:graphicFrame>
      <p:sp>
        <p:nvSpPr>
          <p:cNvPr id="19" name="Titolo 18">
            <a:extLst>
              <a:ext uri="{FF2B5EF4-FFF2-40B4-BE49-F238E27FC236}">
                <a16:creationId xmlns:a16="http://schemas.microsoft.com/office/drawing/2014/main" id="{D428DA3C-1388-3041-AB1D-CEAB3C8CB902}"/>
              </a:ext>
            </a:extLst>
          </p:cNvPr>
          <p:cNvSpPr>
            <a:spLocks noGrp="1"/>
          </p:cNvSpPr>
          <p:nvPr>
            <p:ph type="title"/>
          </p:nvPr>
        </p:nvSpPr>
        <p:spPr/>
        <p:txBody>
          <a:bodyPr/>
          <a:lstStyle/>
          <a:p>
            <a:r>
              <a:rPr lang="it-IT" dirty="0" err="1"/>
              <a:t>Predict</a:t>
            </a:r>
            <a:r>
              <a:rPr lang="it-IT" dirty="0"/>
              <a:t> with </a:t>
            </a:r>
            <a:r>
              <a:rPr lang="it-IT" dirty="0" err="1"/>
              <a:t>Perceptron</a:t>
            </a:r>
            <a:endParaRPr lang="it-IT" dirty="0"/>
          </a:p>
        </p:txBody>
      </p:sp>
    </p:spTree>
    <p:extLst>
      <p:ext uri="{BB962C8B-B14F-4D97-AF65-F5344CB8AC3E}">
        <p14:creationId xmlns:p14="http://schemas.microsoft.com/office/powerpoint/2010/main" val="12025371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e 1">
            <a:extLst>
              <a:ext uri="{FF2B5EF4-FFF2-40B4-BE49-F238E27FC236}">
                <a16:creationId xmlns:a16="http://schemas.microsoft.com/office/drawing/2014/main" id="{EC9BC163-BF94-084F-A8F6-492A3C23BE80}"/>
              </a:ext>
            </a:extLst>
          </p:cNvPr>
          <p:cNvSpPr/>
          <p:nvPr/>
        </p:nvSpPr>
        <p:spPr>
          <a:xfrm>
            <a:off x="5447489" y="1984443"/>
            <a:ext cx="408562" cy="4085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 name="Ovale 2">
            <a:extLst>
              <a:ext uri="{FF2B5EF4-FFF2-40B4-BE49-F238E27FC236}">
                <a16:creationId xmlns:a16="http://schemas.microsoft.com/office/drawing/2014/main" id="{0047A035-3BFC-F048-9242-42EB789CF618}"/>
              </a:ext>
            </a:extLst>
          </p:cNvPr>
          <p:cNvSpPr/>
          <p:nvPr/>
        </p:nvSpPr>
        <p:spPr>
          <a:xfrm>
            <a:off x="5447489" y="2632953"/>
            <a:ext cx="408562" cy="4085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Ovale 3">
            <a:extLst>
              <a:ext uri="{FF2B5EF4-FFF2-40B4-BE49-F238E27FC236}">
                <a16:creationId xmlns:a16="http://schemas.microsoft.com/office/drawing/2014/main" id="{FDAA1BB0-6A89-F74C-80B9-22BF6061C155}"/>
              </a:ext>
            </a:extLst>
          </p:cNvPr>
          <p:cNvSpPr/>
          <p:nvPr/>
        </p:nvSpPr>
        <p:spPr>
          <a:xfrm>
            <a:off x="5447489" y="3300918"/>
            <a:ext cx="408562" cy="4085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 name="Ovale 4">
            <a:extLst>
              <a:ext uri="{FF2B5EF4-FFF2-40B4-BE49-F238E27FC236}">
                <a16:creationId xmlns:a16="http://schemas.microsoft.com/office/drawing/2014/main" id="{A6CBBF32-2F2E-FA4D-931D-8AF2E6DAFA03}"/>
              </a:ext>
            </a:extLst>
          </p:cNvPr>
          <p:cNvSpPr/>
          <p:nvPr/>
        </p:nvSpPr>
        <p:spPr>
          <a:xfrm>
            <a:off x="7000672" y="2632953"/>
            <a:ext cx="408562" cy="4085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6" name="Connettore 2 5">
            <a:extLst>
              <a:ext uri="{FF2B5EF4-FFF2-40B4-BE49-F238E27FC236}">
                <a16:creationId xmlns:a16="http://schemas.microsoft.com/office/drawing/2014/main" id="{E8AE6BD3-6723-FF4B-9C27-FBC0B680F126}"/>
              </a:ext>
            </a:extLst>
          </p:cNvPr>
          <p:cNvCxnSpPr>
            <a:stCxn id="2" idx="6"/>
            <a:endCxn id="5" idx="1"/>
          </p:cNvCxnSpPr>
          <p:nvPr/>
        </p:nvCxnSpPr>
        <p:spPr>
          <a:xfrm>
            <a:off x="5856051" y="2188724"/>
            <a:ext cx="1204454" cy="50406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7" name="Connettore 2 6">
            <a:extLst>
              <a:ext uri="{FF2B5EF4-FFF2-40B4-BE49-F238E27FC236}">
                <a16:creationId xmlns:a16="http://schemas.microsoft.com/office/drawing/2014/main" id="{4D7F146E-C955-B341-BCC0-C23C71D501D8}"/>
              </a:ext>
            </a:extLst>
          </p:cNvPr>
          <p:cNvCxnSpPr>
            <a:cxnSpLocks/>
            <a:endCxn id="5" idx="2"/>
          </p:cNvCxnSpPr>
          <p:nvPr/>
        </p:nvCxnSpPr>
        <p:spPr>
          <a:xfrm flipV="1">
            <a:off x="5847578" y="2837234"/>
            <a:ext cx="1153094" cy="855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8" name="Connettore 2 7">
            <a:extLst>
              <a:ext uri="{FF2B5EF4-FFF2-40B4-BE49-F238E27FC236}">
                <a16:creationId xmlns:a16="http://schemas.microsoft.com/office/drawing/2014/main" id="{054342CE-812E-B041-9F24-37188A9E8C6A}"/>
              </a:ext>
            </a:extLst>
          </p:cNvPr>
          <p:cNvCxnSpPr>
            <a:cxnSpLocks/>
            <a:stCxn id="4" idx="6"/>
            <a:endCxn id="5" idx="3"/>
          </p:cNvCxnSpPr>
          <p:nvPr/>
        </p:nvCxnSpPr>
        <p:spPr>
          <a:xfrm flipV="1">
            <a:off x="5856051" y="2981682"/>
            <a:ext cx="1204454" cy="52351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9" name="Connettore 2 8">
            <a:extLst>
              <a:ext uri="{FF2B5EF4-FFF2-40B4-BE49-F238E27FC236}">
                <a16:creationId xmlns:a16="http://schemas.microsoft.com/office/drawing/2014/main" id="{5760077B-D83E-7949-A8D7-6CDA3847C612}"/>
              </a:ext>
            </a:extLst>
          </p:cNvPr>
          <p:cNvCxnSpPr>
            <a:cxnSpLocks/>
            <a:stCxn id="5" idx="6"/>
          </p:cNvCxnSpPr>
          <p:nvPr/>
        </p:nvCxnSpPr>
        <p:spPr>
          <a:xfrm>
            <a:off x="7409234" y="2837234"/>
            <a:ext cx="382621" cy="855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0" name="CasellaDiTesto 9">
            <a:extLst>
              <a:ext uri="{FF2B5EF4-FFF2-40B4-BE49-F238E27FC236}">
                <a16:creationId xmlns:a16="http://schemas.microsoft.com/office/drawing/2014/main" id="{048C565C-5D4F-934B-B733-1A5DC49EE88F}"/>
              </a:ext>
            </a:extLst>
          </p:cNvPr>
          <p:cNvSpPr txBox="1"/>
          <p:nvPr/>
        </p:nvSpPr>
        <p:spPr>
          <a:xfrm>
            <a:off x="6273547" y="1955869"/>
            <a:ext cx="928459" cy="369332"/>
          </a:xfrm>
          <a:prstGeom prst="rect">
            <a:avLst/>
          </a:prstGeom>
          <a:noFill/>
        </p:spPr>
        <p:txBody>
          <a:bodyPr wrap="none" rtlCol="0">
            <a:spAutoFit/>
          </a:bodyPr>
          <a:lstStyle/>
          <a:p>
            <a:r>
              <a:rPr lang="it-IT" dirty="0"/>
              <a:t>W</a:t>
            </a:r>
            <a:r>
              <a:rPr lang="it-IT" baseline="-25000" dirty="0"/>
              <a:t>1</a:t>
            </a:r>
            <a:r>
              <a:rPr lang="it-IT" dirty="0"/>
              <a:t>= 0.4</a:t>
            </a:r>
            <a:endParaRPr lang="it-IT" baseline="-25000" dirty="0"/>
          </a:p>
        </p:txBody>
      </p:sp>
      <p:sp>
        <p:nvSpPr>
          <p:cNvPr id="11" name="CasellaDiTesto 10">
            <a:extLst>
              <a:ext uri="{FF2B5EF4-FFF2-40B4-BE49-F238E27FC236}">
                <a16:creationId xmlns:a16="http://schemas.microsoft.com/office/drawing/2014/main" id="{91221946-C3A7-0A4E-AF67-77FC2F649CA2}"/>
              </a:ext>
            </a:extLst>
          </p:cNvPr>
          <p:cNvSpPr txBox="1"/>
          <p:nvPr/>
        </p:nvSpPr>
        <p:spPr>
          <a:xfrm>
            <a:off x="5864003" y="2508120"/>
            <a:ext cx="998991" cy="369332"/>
          </a:xfrm>
          <a:prstGeom prst="rect">
            <a:avLst/>
          </a:prstGeom>
          <a:noFill/>
        </p:spPr>
        <p:txBody>
          <a:bodyPr wrap="none" rtlCol="0">
            <a:spAutoFit/>
          </a:bodyPr>
          <a:lstStyle/>
          <a:p>
            <a:r>
              <a:rPr lang="it-IT" dirty="0"/>
              <a:t>W</a:t>
            </a:r>
            <a:r>
              <a:rPr lang="it-IT" baseline="-25000" dirty="0"/>
              <a:t>2</a:t>
            </a:r>
            <a:r>
              <a:rPr lang="it-IT" dirty="0"/>
              <a:t>= -1.5</a:t>
            </a:r>
          </a:p>
        </p:txBody>
      </p:sp>
      <p:sp>
        <p:nvSpPr>
          <p:cNvPr id="12" name="CasellaDiTesto 11">
            <a:extLst>
              <a:ext uri="{FF2B5EF4-FFF2-40B4-BE49-F238E27FC236}">
                <a16:creationId xmlns:a16="http://schemas.microsoft.com/office/drawing/2014/main" id="{0F31454A-350E-4F42-B05C-34680823B6C6}"/>
              </a:ext>
            </a:extLst>
          </p:cNvPr>
          <p:cNvSpPr txBox="1"/>
          <p:nvPr/>
        </p:nvSpPr>
        <p:spPr>
          <a:xfrm>
            <a:off x="6001681" y="3448456"/>
            <a:ext cx="998991" cy="369332"/>
          </a:xfrm>
          <a:prstGeom prst="rect">
            <a:avLst/>
          </a:prstGeom>
          <a:noFill/>
        </p:spPr>
        <p:txBody>
          <a:bodyPr wrap="none" rtlCol="0">
            <a:spAutoFit/>
          </a:bodyPr>
          <a:lstStyle/>
          <a:p>
            <a:r>
              <a:rPr lang="it-IT" dirty="0"/>
              <a:t>W</a:t>
            </a:r>
            <a:r>
              <a:rPr lang="it-IT" baseline="-25000" dirty="0"/>
              <a:t>3</a:t>
            </a:r>
            <a:r>
              <a:rPr lang="it-IT" dirty="0"/>
              <a:t>= -0.1</a:t>
            </a:r>
          </a:p>
        </p:txBody>
      </p:sp>
      <p:cxnSp>
        <p:nvCxnSpPr>
          <p:cNvPr id="13" name="Connettore 2 12">
            <a:extLst>
              <a:ext uri="{FF2B5EF4-FFF2-40B4-BE49-F238E27FC236}">
                <a16:creationId xmlns:a16="http://schemas.microsoft.com/office/drawing/2014/main" id="{11E49099-E986-C248-B322-F441F8A0459E}"/>
              </a:ext>
            </a:extLst>
          </p:cNvPr>
          <p:cNvCxnSpPr>
            <a:cxnSpLocks/>
          </p:cNvCxnSpPr>
          <p:nvPr/>
        </p:nvCxnSpPr>
        <p:spPr>
          <a:xfrm flipV="1">
            <a:off x="7202006" y="3050065"/>
            <a:ext cx="0" cy="100106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4" name="CasellaDiTesto 13">
            <a:extLst>
              <a:ext uri="{FF2B5EF4-FFF2-40B4-BE49-F238E27FC236}">
                <a16:creationId xmlns:a16="http://schemas.microsoft.com/office/drawing/2014/main" id="{2A885890-AD4C-C541-A303-0DC26EA00374}"/>
              </a:ext>
            </a:extLst>
          </p:cNvPr>
          <p:cNvSpPr txBox="1"/>
          <p:nvPr/>
        </p:nvSpPr>
        <p:spPr>
          <a:xfrm>
            <a:off x="6737776" y="4040063"/>
            <a:ext cx="753732" cy="369332"/>
          </a:xfrm>
          <a:prstGeom prst="rect">
            <a:avLst/>
          </a:prstGeom>
          <a:noFill/>
        </p:spPr>
        <p:txBody>
          <a:bodyPr wrap="none" rtlCol="0">
            <a:spAutoFit/>
          </a:bodyPr>
          <a:lstStyle/>
          <a:p>
            <a:r>
              <a:rPr lang="it-IT" dirty="0"/>
              <a:t>W</a:t>
            </a:r>
            <a:r>
              <a:rPr lang="it-IT" baseline="-25000" dirty="0"/>
              <a:t>0</a:t>
            </a:r>
            <a:r>
              <a:rPr lang="it-IT" dirty="0"/>
              <a:t>= 1</a:t>
            </a:r>
          </a:p>
        </p:txBody>
      </p:sp>
      <p:sp>
        <p:nvSpPr>
          <p:cNvPr id="15" name="CasellaDiTesto 14">
            <a:extLst>
              <a:ext uri="{FF2B5EF4-FFF2-40B4-BE49-F238E27FC236}">
                <a16:creationId xmlns:a16="http://schemas.microsoft.com/office/drawing/2014/main" id="{19579943-27CC-7B48-9E11-0914CE9129DF}"/>
              </a:ext>
            </a:extLst>
          </p:cNvPr>
          <p:cNvSpPr txBox="1"/>
          <p:nvPr/>
        </p:nvSpPr>
        <p:spPr>
          <a:xfrm>
            <a:off x="7149908" y="2226012"/>
            <a:ext cx="744114" cy="369332"/>
          </a:xfrm>
          <a:prstGeom prst="rect">
            <a:avLst/>
          </a:prstGeom>
          <a:noFill/>
        </p:spPr>
        <p:txBody>
          <a:bodyPr wrap="none" rtlCol="0">
            <a:spAutoFit/>
          </a:bodyPr>
          <a:lstStyle/>
          <a:p>
            <a:r>
              <a:rPr lang="it-IT" dirty="0" err="1"/>
              <a:t>f</a:t>
            </a:r>
            <a:r>
              <a:rPr lang="it-IT" dirty="0"/>
              <a:t>=</a:t>
            </a:r>
            <a:r>
              <a:rPr lang="it-IT" dirty="0" err="1"/>
              <a:t>sign</a:t>
            </a:r>
            <a:endParaRPr lang="it-IT" dirty="0"/>
          </a:p>
        </p:txBody>
      </p:sp>
      <p:graphicFrame>
        <p:nvGraphicFramePr>
          <p:cNvPr id="16" name="Tabella 15">
            <a:extLst>
              <a:ext uri="{FF2B5EF4-FFF2-40B4-BE49-F238E27FC236}">
                <a16:creationId xmlns:a16="http://schemas.microsoft.com/office/drawing/2014/main" id="{F31EF755-EA8D-8C46-9A76-A1A94246A0E3}"/>
              </a:ext>
            </a:extLst>
          </p:cNvPr>
          <p:cNvGraphicFramePr>
            <a:graphicFrameLocks noGrp="1"/>
          </p:cNvGraphicFramePr>
          <p:nvPr/>
        </p:nvGraphicFramePr>
        <p:xfrm>
          <a:off x="2014659" y="2299835"/>
          <a:ext cx="2608095" cy="1854200"/>
        </p:xfrm>
        <a:graphic>
          <a:graphicData uri="http://schemas.openxmlformats.org/drawingml/2006/table">
            <a:tbl>
              <a:tblPr firstRow="1" bandRow="1">
                <a:tableStyleId>{5C22544A-7EE6-4342-B048-85BDC9FD1C3A}</a:tableStyleId>
              </a:tblPr>
              <a:tblGrid>
                <a:gridCol w="521619">
                  <a:extLst>
                    <a:ext uri="{9D8B030D-6E8A-4147-A177-3AD203B41FA5}">
                      <a16:colId xmlns:a16="http://schemas.microsoft.com/office/drawing/2014/main" val="3007943972"/>
                    </a:ext>
                  </a:extLst>
                </a:gridCol>
                <a:gridCol w="521619">
                  <a:extLst>
                    <a:ext uri="{9D8B030D-6E8A-4147-A177-3AD203B41FA5}">
                      <a16:colId xmlns:a16="http://schemas.microsoft.com/office/drawing/2014/main" val="220923671"/>
                    </a:ext>
                  </a:extLst>
                </a:gridCol>
                <a:gridCol w="521619">
                  <a:extLst>
                    <a:ext uri="{9D8B030D-6E8A-4147-A177-3AD203B41FA5}">
                      <a16:colId xmlns:a16="http://schemas.microsoft.com/office/drawing/2014/main" val="1888354542"/>
                    </a:ext>
                  </a:extLst>
                </a:gridCol>
                <a:gridCol w="521619">
                  <a:extLst>
                    <a:ext uri="{9D8B030D-6E8A-4147-A177-3AD203B41FA5}">
                      <a16:colId xmlns:a16="http://schemas.microsoft.com/office/drawing/2014/main" val="4183561819"/>
                    </a:ext>
                  </a:extLst>
                </a:gridCol>
                <a:gridCol w="521619">
                  <a:extLst>
                    <a:ext uri="{9D8B030D-6E8A-4147-A177-3AD203B41FA5}">
                      <a16:colId xmlns:a16="http://schemas.microsoft.com/office/drawing/2014/main" val="2090727010"/>
                    </a:ext>
                  </a:extLst>
                </a:gridCol>
              </a:tblGrid>
              <a:tr h="370840">
                <a:tc>
                  <a:txBody>
                    <a:bodyPr/>
                    <a:lstStyle/>
                    <a:p>
                      <a:pPr algn="ctr"/>
                      <a:r>
                        <a:rPr lang="it-IT" dirty="0"/>
                        <a:t>id</a:t>
                      </a:r>
                    </a:p>
                  </a:txBody>
                  <a:tcPr/>
                </a:tc>
                <a:tc>
                  <a:txBody>
                    <a:bodyPr/>
                    <a:lstStyle/>
                    <a:p>
                      <a:pPr algn="ctr"/>
                      <a:r>
                        <a:rPr lang="it-IT" dirty="0"/>
                        <a:t>X</a:t>
                      </a:r>
                      <a:r>
                        <a:rPr lang="it-IT" baseline="-25000" dirty="0"/>
                        <a:t>1</a:t>
                      </a:r>
                    </a:p>
                  </a:txBody>
                  <a:tcPr/>
                </a:tc>
                <a:tc>
                  <a:txBody>
                    <a:bodyPr/>
                    <a:lstStyle/>
                    <a:p>
                      <a:pPr algn="ctr"/>
                      <a:r>
                        <a:rPr lang="it-IT" dirty="0"/>
                        <a:t>X</a:t>
                      </a:r>
                      <a:r>
                        <a:rPr lang="it-IT" baseline="-25000" dirty="0"/>
                        <a:t>2</a:t>
                      </a:r>
                      <a:endParaRPr lang="it-IT" dirty="0"/>
                    </a:p>
                  </a:txBody>
                  <a:tcPr/>
                </a:tc>
                <a:tc>
                  <a:txBody>
                    <a:bodyPr/>
                    <a:lstStyle/>
                    <a:p>
                      <a:pPr algn="ctr"/>
                      <a:r>
                        <a:rPr lang="it-IT" dirty="0"/>
                        <a:t>X</a:t>
                      </a:r>
                      <a:r>
                        <a:rPr lang="it-IT" baseline="-25000" dirty="0"/>
                        <a:t>3</a:t>
                      </a:r>
                      <a:endParaRPr lang="it-IT" dirty="0"/>
                    </a:p>
                  </a:txBody>
                  <a:tcPr/>
                </a:tc>
                <a:tc>
                  <a:txBody>
                    <a:bodyPr/>
                    <a:lstStyle/>
                    <a:p>
                      <a:pPr algn="ctr"/>
                      <a:r>
                        <a:rPr lang="it-IT" dirty="0"/>
                        <a:t>Y</a:t>
                      </a:r>
                    </a:p>
                  </a:txBody>
                  <a:tcPr/>
                </a:tc>
                <a:extLst>
                  <a:ext uri="{0D108BD9-81ED-4DB2-BD59-A6C34878D82A}">
                    <a16:rowId xmlns:a16="http://schemas.microsoft.com/office/drawing/2014/main" val="647644152"/>
                  </a:ext>
                </a:extLst>
              </a:tr>
              <a:tr h="370840">
                <a:tc>
                  <a:txBody>
                    <a:bodyPr/>
                    <a:lstStyle/>
                    <a:p>
                      <a:pPr algn="ctr"/>
                      <a:r>
                        <a:rPr lang="it-IT" dirty="0"/>
                        <a:t>1</a:t>
                      </a:r>
                    </a:p>
                  </a:txBody>
                  <a:tcPr/>
                </a:tc>
                <a:tc>
                  <a:txBody>
                    <a:bodyPr/>
                    <a:lstStyle/>
                    <a:p>
                      <a:pPr algn="ctr"/>
                      <a:r>
                        <a:rPr lang="it-IT" dirty="0"/>
                        <a:t>0</a:t>
                      </a:r>
                    </a:p>
                  </a:txBody>
                  <a:tcPr/>
                </a:tc>
                <a:tc>
                  <a:txBody>
                    <a:bodyPr/>
                    <a:lstStyle/>
                    <a:p>
                      <a:pPr algn="ctr"/>
                      <a:r>
                        <a:rPr lang="it-IT" dirty="0"/>
                        <a:t>0</a:t>
                      </a:r>
                    </a:p>
                  </a:txBody>
                  <a:tcPr/>
                </a:tc>
                <a:tc>
                  <a:txBody>
                    <a:bodyPr/>
                    <a:lstStyle/>
                    <a:p>
                      <a:pPr algn="ctr"/>
                      <a:r>
                        <a:rPr lang="it-IT" dirty="0"/>
                        <a:t>0</a:t>
                      </a:r>
                    </a:p>
                  </a:txBody>
                  <a:tcPr/>
                </a:tc>
                <a:tc>
                  <a:txBody>
                    <a:bodyPr/>
                    <a:lstStyle/>
                    <a:p>
                      <a:pPr algn="ctr"/>
                      <a:r>
                        <a:rPr lang="it-IT" dirty="0"/>
                        <a:t>1</a:t>
                      </a:r>
                    </a:p>
                  </a:txBody>
                  <a:tcPr/>
                </a:tc>
                <a:extLst>
                  <a:ext uri="{0D108BD9-81ED-4DB2-BD59-A6C34878D82A}">
                    <a16:rowId xmlns:a16="http://schemas.microsoft.com/office/drawing/2014/main" val="3006406211"/>
                  </a:ext>
                </a:extLst>
              </a:tr>
              <a:tr h="370840">
                <a:tc>
                  <a:txBody>
                    <a:bodyPr/>
                    <a:lstStyle/>
                    <a:p>
                      <a:pPr algn="ctr"/>
                      <a:r>
                        <a:rPr lang="it-IT" dirty="0"/>
                        <a:t>2</a:t>
                      </a:r>
                    </a:p>
                  </a:txBody>
                  <a:tcPr/>
                </a:tc>
                <a:tc>
                  <a:txBody>
                    <a:bodyPr/>
                    <a:lstStyle/>
                    <a:p>
                      <a:pPr algn="ctr"/>
                      <a:r>
                        <a:rPr lang="it-IT" dirty="0"/>
                        <a:t>1</a:t>
                      </a:r>
                    </a:p>
                  </a:txBody>
                  <a:tcPr/>
                </a:tc>
                <a:tc>
                  <a:txBody>
                    <a:bodyPr/>
                    <a:lstStyle/>
                    <a:p>
                      <a:pPr algn="ctr"/>
                      <a:r>
                        <a:rPr lang="it-IT" dirty="0"/>
                        <a:t>1</a:t>
                      </a:r>
                    </a:p>
                  </a:txBody>
                  <a:tcPr/>
                </a:tc>
                <a:tc>
                  <a:txBody>
                    <a:bodyPr/>
                    <a:lstStyle/>
                    <a:p>
                      <a:pPr algn="ctr"/>
                      <a:r>
                        <a:rPr lang="it-IT" dirty="0"/>
                        <a:t>1</a:t>
                      </a:r>
                    </a:p>
                  </a:txBody>
                  <a:tcPr/>
                </a:tc>
                <a:tc>
                  <a:txBody>
                    <a:bodyPr/>
                    <a:lstStyle/>
                    <a:p>
                      <a:pPr algn="ctr"/>
                      <a:r>
                        <a:rPr lang="it-IT" dirty="0"/>
                        <a:t>-1</a:t>
                      </a:r>
                    </a:p>
                  </a:txBody>
                  <a:tcPr/>
                </a:tc>
                <a:extLst>
                  <a:ext uri="{0D108BD9-81ED-4DB2-BD59-A6C34878D82A}">
                    <a16:rowId xmlns:a16="http://schemas.microsoft.com/office/drawing/2014/main" val="1442248098"/>
                  </a:ext>
                </a:extLst>
              </a:tr>
              <a:tr h="370840">
                <a:tc>
                  <a:txBody>
                    <a:bodyPr/>
                    <a:lstStyle/>
                    <a:p>
                      <a:pPr algn="ctr"/>
                      <a:r>
                        <a:rPr lang="it-IT" dirty="0"/>
                        <a:t>3</a:t>
                      </a:r>
                    </a:p>
                  </a:txBody>
                  <a:tcPr/>
                </a:tc>
                <a:tc>
                  <a:txBody>
                    <a:bodyPr/>
                    <a:lstStyle/>
                    <a:p>
                      <a:pPr algn="ctr"/>
                      <a:r>
                        <a:rPr lang="it-IT" dirty="0"/>
                        <a:t>1</a:t>
                      </a:r>
                    </a:p>
                  </a:txBody>
                  <a:tcPr/>
                </a:tc>
                <a:tc>
                  <a:txBody>
                    <a:bodyPr/>
                    <a:lstStyle/>
                    <a:p>
                      <a:pPr algn="ctr"/>
                      <a:r>
                        <a:rPr lang="it-IT" dirty="0"/>
                        <a:t>0</a:t>
                      </a:r>
                    </a:p>
                  </a:txBody>
                  <a:tcPr/>
                </a:tc>
                <a:tc>
                  <a:txBody>
                    <a:bodyPr/>
                    <a:lstStyle/>
                    <a:p>
                      <a:pPr algn="ctr"/>
                      <a:r>
                        <a:rPr lang="it-IT" dirty="0"/>
                        <a:t>1</a:t>
                      </a:r>
                    </a:p>
                  </a:txBody>
                  <a:tcPr/>
                </a:tc>
                <a:tc>
                  <a:txBody>
                    <a:bodyPr/>
                    <a:lstStyle/>
                    <a:p>
                      <a:pPr algn="ctr"/>
                      <a:r>
                        <a:rPr lang="it-IT" dirty="0"/>
                        <a:t>1</a:t>
                      </a:r>
                    </a:p>
                  </a:txBody>
                  <a:tcPr/>
                </a:tc>
                <a:extLst>
                  <a:ext uri="{0D108BD9-81ED-4DB2-BD59-A6C34878D82A}">
                    <a16:rowId xmlns:a16="http://schemas.microsoft.com/office/drawing/2014/main" val="4095835177"/>
                  </a:ext>
                </a:extLst>
              </a:tr>
              <a:tr h="370840">
                <a:tc>
                  <a:txBody>
                    <a:bodyPr/>
                    <a:lstStyle/>
                    <a:p>
                      <a:pPr algn="ctr"/>
                      <a:r>
                        <a:rPr lang="it-IT" dirty="0"/>
                        <a:t>4</a:t>
                      </a:r>
                    </a:p>
                  </a:txBody>
                  <a:tcPr/>
                </a:tc>
                <a:tc>
                  <a:txBody>
                    <a:bodyPr/>
                    <a:lstStyle/>
                    <a:p>
                      <a:pPr algn="ctr"/>
                      <a:r>
                        <a:rPr lang="it-IT" dirty="0"/>
                        <a:t>0</a:t>
                      </a:r>
                    </a:p>
                  </a:txBody>
                  <a:tcPr/>
                </a:tc>
                <a:tc>
                  <a:txBody>
                    <a:bodyPr/>
                    <a:lstStyle/>
                    <a:p>
                      <a:pPr algn="ctr"/>
                      <a:r>
                        <a:rPr lang="it-IT" dirty="0"/>
                        <a:t>2</a:t>
                      </a:r>
                    </a:p>
                  </a:txBody>
                  <a:tcPr/>
                </a:tc>
                <a:tc>
                  <a:txBody>
                    <a:bodyPr/>
                    <a:lstStyle/>
                    <a:p>
                      <a:pPr algn="ctr"/>
                      <a:r>
                        <a:rPr lang="it-IT" dirty="0"/>
                        <a:t>0</a:t>
                      </a:r>
                    </a:p>
                  </a:txBody>
                  <a:tcPr/>
                </a:tc>
                <a:tc>
                  <a:txBody>
                    <a:bodyPr/>
                    <a:lstStyle/>
                    <a:p>
                      <a:pPr algn="ctr"/>
                      <a:r>
                        <a:rPr lang="it-IT" dirty="0"/>
                        <a:t>-1</a:t>
                      </a:r>
                    </a:p>
                  </a:txBody>
                  <a:tcPr/>
                </a:tc>
                <a:extLst>
                  <a:ext uri="{0D108BD9-81ED-4DB2-BD59-A6C34878D82A}">
                    <a16:rowId xmlns:a16="http://schemas.microsoft.com/office/drawing/2014/main" val="638479503"/>
                  </a:ext>
                </a:extLst>
              </a:tr>
            </a:tbl>
          </a:graphicData>
        </a:graphic>
      </p:graphicFrame>
      <p:sp>
        <p:nvSpPr>
          <p:cNvPr id="19" name="Titolo 18">
            <a:extLst>
              <a:ext uri="{FF2B5EF4-FFF2-40B4-BE49-F238E27FC236}">
                <a16:creationId xmlns:a16="http://schemas.microsoft.com/office/drawing/2014/main" id="{D428DA3C-1388-3041-AB1D-CEAB3C8CB902}"/>
              </a:ext>
            </a:extLst>
          </p:cNvPr>
          <p:cNvSpPr>
            <a:spLocks noGrp="1"/>
          </p:cNvSpPr>
          <p:nvPr>
            <p:ph type="title"/>
          </p:nvPr>
        </p:nvSpPr>
        <p:spPr/>
        <p:txBody>
          <a:bodyPr/>
          <a:lstStyle/>
          <a:p>
            <a:r>
              <a:rPr lang="it-IT" dirty="0" err="1"/>
              <a:t>Predict</a:t>
            </a:r>
            <a:r>
              <a:rPr lang="it-IT" dirty="0"/>
              <a:t> with </a:t>
            </a:r>
            <a:r>
              <a:rPr lang="it-IT" dirty="0" err="1"/>
              <a:t>Perceptron</a:t>
            </a:r>
            <a:r>
              <a:rPr lang="it-IT" dirty="0"/>
              <a:t> - Solution</a:t>
            </a:r>
          </a:p>
        </p:txBody>
      </p:sp>
      <p:sp>
        <p:nvSpPr>
          <p:cNvPr id="17" name="CasellaDiTesto 16">
            <a:extLst>
              <a:ext uri="{FF2B5EF4-FFF2-40B4-BE49-F238E27FC236}">
                <a16:creationId xmlns:a16="http://schemas.microsoft.com/office/drawing/2014/main" id="{322A8455-0450-674C-9663-353B1F73C46E}"/>
              </a:ext>
            </a:extLst>
          </p:cNvPr>
          <p:cNvSpPr txBox="1"/>
          <p:nvPr/>
        </p:nvSpPr>
        <p:spPr>
          <a:xfrm>
            <a:off x="1515943" y="4601817"/>
            <a:ext cx="5546711" cy="1200329"/>
          </a:xfrm>
          <a:prstGeom prst="rect">
            <a:avLst/>
          </a:prstGeom>
          <a:noFill/>
        </p:spPr>
        <p:txBody>
          <a:bodyPr wrap="none" rtlCol="0">
            <a:spAutoFit/>
          </a:bodyPr>
          <a:lstStyle/>
          <a:p>
            <a:r>
              <a:rPr lang="it-IT" dirty="0"/>
              <a:t>Y</a:t>
            </a:r>
            <a:r>
              <a:rPr lang="it-IT" baseline="-25000" dirty="0"/>
              <a:t>1</a:t>
            </a:r>
            <a:r>
              <a:rPr lang="it-IT" dirty="0"/>
              <a:t> = </a:t>
            </a:r>
            <a:r>
              <a:rPr lang="it-IT" dirty="0" err="1"/>
              <a:t>sign</a:t>
            </a:r>
            <a:r>
              <a:rPr lang="it-IT" dirty="0"/>
              <a:t>(1 + 0.4 * 0 + -1.5 * 0 + -0.1 * 0) = </a:t>
            </a:r>
            <a:r>
              <a:rPr lang="it-IT" dirty="0" err="1"/>
              <a:t>sign</a:t>
            </a:r>
            <a:r>
              <a:rPr lang="it-IT" dirty="0"/>
              <a:t>(1) = 1</a:t>
            </a:r>
          </a:p>
          <a:p>
            <a:r>
              <a:rPr lang="it-IT" dirty="0"/>
              <a:t>Y</a:t>
            </a:r>
            <a:r>
              <a:rPr lang="it-IT" baseline="-25000" dirty="0"/>
              <a:t>2</a:t>
            </a:r>
            <a:r>
              <a:rPr lang="it-IT" dirty="0"/>
              <a:t> = </a:t>
            </a:r>
            <a:r>
              <a:rPr lang="it-IT" dirty="0" err="1"/>
              <a:t>sign</a:t>
            </a:r>
            <a:r>
              <a:rPr lang="it-IT" dirty="0"/>
              <a:t>(1 + 0.4 * 1 + -1.5 * 1 + -0.1 * 1) = </a:t>
            </a:r>
            <a:r>
              <a:rPr lang="it-IT" dirty="0" err="1"/>
              <a:t>sign</a:t>
            </a:r>
            <a:r>
              <a:rPr lang="it-IT" dirty="0"/>
              <a:t>(-0.2) = -1</a:t>
            </a:r>
          </a:p>
          <a:p>
            <a:r>
              <a:rPr lang="it-IT" dirty="0"/>
              <a:t>Y</a:t>
            </a:r>
            <a:r>
              <a:rPr lang="it-IT" baseline="-25000" dirty="0"/>
              <a:t>3</a:t>
            </a:r>
            <a:r>
              <a:rPr lang="it-IT" dirty="0"/>
              <a:t> = </a:t>
            </a:r>
            <a:r>
              <a:rPr lang="it-IT" dirty="0" err="1"/>
              <a:t>sign</a:t>
            </a:r>
            <a:r>
              <a:rPr lang="it-IT" dirty="0"/>
              <a:t>(1 + 0.4 * 1 + -1.5 * 0 + -0.1 * 0) = </a:t>
            </a:r>
            <a:r>
              <a:rPr lang="it-IT" dirty="0" err="1"/>
              <a:t>sign</a:t>
            </a:r>
            <a:r>
              <a:rPr lang="it-IT" dirty="0"/>
              <a:t>(1.3) = 1</a:t>
            </a:r>
          </a:p>
          <a:p>
            <a:r>
              <a:rPr lang="it-IT" dirty="0"/>
              <a:t>Y</a:t>
            </a:r>
            <a:r>
              <a:rPr lang="it-IT" baseline="-25000" dirty="0"/>
              <a:t>4</a:t>
            </a:r>
            <a:r>
              <a:rPr lang="it-IT" dirty="0"/>
              <a:t> = </a:t>
            </a:r>
            <a:r>
              <a:rPr lang="it-IT" dirty="0" err="1"/>
              <a:t>sign</a:t>
            </a:r>
            <a:r>
              <a:rPr lang="it-IT" dirty="0"/>
              <a:t>(1 + 0.4 * 0 + -1.5 * 2 + -0.1 * 0) = </a:t>
            </a:r>
            <a:r>
              <a:rPr lang="it-IT" dirty="0" err="1"/>
              <a:t>sign</a:t>
            </a:r>
            <a:r>
              <a:rPr lang="it-IT" dirty="0"/>
              <a:t>(-2) = -1</a:t>
            </a:r>
          </a:p>
        </p:txBody>
      </p:sp>
    </p:spTree>
    <p:extLst>
      <p:ext uri="{BB962C8B-B14F-4D97-AF65-F5344CB8AC3E}">
        <p14:creationId xmlns:p14="http://schemas.microsoft.com/office/powerpoint/2010/main" val="3466511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6EC64A-1F68-7243-81CC-935E096D57EB}"/>
              </a:ext>
            </a:extLst>
          </p:cNvPr>
          <p:cNvSpPr>
            <a:spLocks noGrp="1"/>
          </p:cNvSpPr>
          <p:nvPr>
            <p:ph type="title"/>
          </p:nvPr>
        </p:nvSpPr>
        <p:spPr/>
        <p:txBody>
          <a:bodyPr/>
          <a:lstStyle/>
          <a:p>
            <a:r>
              <a:rPr lang="it-IT" dirty="0"/>
              <a:t>Train Linear </a:t>
            </a:r>
            <a:r>
              <a:rPr lang="it-IT" dirty="0" err="1"/>
              <a:t>Perceptron</a:t>
            </a:r>
            <a:endParaRPr lang="it-IT" dirty="0"/>
          </a:p>
        </p:txBody>
      </p:sp>
      <p:graphicFrame>
        <p:nvGraphicFramePr>
          <p:cNvPr id="4" name="Tabella 3">
            <a:extLst>
              <a:ext uri="{FF2B5EF4-FFF2-40B4-BE49-F238E27FC236}">
                <a16:creationId xmlns:a16="http://schemas.microsoft.com/office/drawing/2014/main" id="{0398B540-D1C9-3745-A9F4-F0AF9C7282A6}"/>
              </a:ext>
            </a:extLst>
          </p:cNvPr>
          <p:cNvGraphicFramePr>
            <a:graphicFrameLocks noGrp="1"/>
          </p:cNvGraphicFramePr>
          <p:nvPr/>
        </p:nvGraphicFramePr>
        <p:xfrm>
          <a:off x="3755463" y="1538539"/>
          <a:ext cx="8025320" cy="4820920"/>
        </p:xfrm>
        <a:graphic>
          <a:graphicData uri="http://schemas.openxmlformats.org/drawingml/2006/table">
            <a:tbl>
              <a:tblPr firstRow="1" bandRow="1">
                <a:tableStyleId>{5C22544A-7EE6-4342-B048-85BDC9FD1C3A}</a:tableStyleId>
              </a:tblPr>
              <a:tblGrid>
                <a:gridCol w="802532">
                  <a:extLst>
                    <a:ext uri="{9D8B030D-6E8A-4147-A177-3AD203B41FA5}">
                      <a16:colId xmlns:a16="http://schemas.microsoft.com/office/drawing/2014/main" val="3007943972"/>
                    </a:ext>
                  </a:extLst>
                </a:gridCol>
                <a:gridCol w="802532">
                  <a:extLst>
                    <a:ext uri="{9D8B030D-6E8A-4147-A177-3AD203B41FA5}">
                      <a16:colId xmlns:a16="http://schemas.microsoft.com/office/drawing/2014/main" val="220923671"/>
                    </a:ext>
                  </a:extLst>
                </a:gridCol>
                <a:gridCol w="802532">
                  <a:extLst>
                    <a:ext uri="{9D8B030D-6E8A-4147-A177-3AD203B41FA5}">
                      <a16:colId xmlns:a16="http://schemas.microsoft.com/office/drawing/2014/main" val="1888354542"/>
                    </a:ext>
                  </a:extLst>
                </a:gridCol>
                <a:gridCol w="802532">
                  <a:extLst>
                    <a:ext uri="{9D8B030D-6E8A-4147-A177-3AD203B41FA5}">
                      <a16:colId xmlns:a16="http://schemas.microsoft.com/office/drawing/2014/main" val="4183561819"/>
                    </a:ext>
                  </a:extLst>
                </a:gridCol>
                <a:gridCol w="802532">
                  <a:extLst>
                    <a:ext uri="{9D8B030D-6E8A-4147-A177-3AD203B41FA5}">
                      <a16:colId xmlns:a16="http://schemas.microsoft.com/office/drawing/2014/main" val="2090727010"/>
                    </a:ext>
                  </a:extLst>
                </a:gridCol>
                <a:gridCol w="802532">
                  <a:extLst>
                    <a:ext uri="{9D8B030D-6E8A-4147-A177-3AD203B41FA5}">
                      <a16:colId xmlns:a16="http://schemas.microsoft.com/office/drawing/2014/main" val="1559798696"/>
                    </a:ext>
                  </a:extLst>
                </a:gridCol>
                <a:gridCol w="802532">
                  <a:extLst>
                    <a:ext uri="{9D8B030D-6E8A-4147-A177-3AD203B41FA5}">
                      <a16:colId xmlns:a16="http://schemas.microsoft.com/office/drawing/2014/main" val="3564938619"/>
                    </a:ext>
                  </a:extLst>
                </a:gridCol>
                <a:gridCol w="802532">
                  <a:extLst>
                    <a:ext uri="{9D8B030D-6E8A-4147-A177-3AD203B41FA5}">
                      <a16:colId xmlns:a16="http://schemas.microsoft.com/office/drawing/2014/main" val="2640809818"/>
                    </a:ext>
                  </a:extLst>
                </a:gridCol>
                <a:gridCol w="802532">
                  <a:extLst>
                    <a:ext uri="{9D8B030D-6E8A-4147-A177-3AD203B41FA5}">
                      <a16:colId xmlns:a16="http://schemas.microsoft.com/office/drawing/2014/main" val="4147220622"/>
                    </a:ext>
                  </a:extLst>
                </a:gridCol>
                <a:gridCol w="802532">
                  <a:extLst>
                    <a:ext uri="{9D8B030D-6E8A-4147-A177-3AD203B41FA5}">
                      <a16:colId xmlns:a16="http://schemas.microsoft.com/office/drawing/2014/main" val="1678705754"/>
                    </a:ext>
                  </a:extLst>
                </a:gridCol>
              </a:tblGrid>
              <a:tr h="370840">
                <a:tc>
                  <a:txBody>
                    <a:bodyPr/>
                    <a:lstStyle/>
                    <a:p>
                      <a:pPr algn="ctr"/>
                      <a:r>
                        <a:rPr lang="it-IT" dirty="0" err="1"/>
                        <a:t>it</a:t>
                      </a:r>
                      <a:endParaRPr lang="it-IT" dirty="0"/>
                    </a:p>
                  </a:txBody>
                  <a:tcPr/>
                </a:tc>
                <a:tc>
                  <a:txBody>
                    <a:bodyPr/>
                    <a:lstStyle/>
                    <a:p>
                      <a:pPr algn="ctr"/>
                      <a:r>
                        <a:rPr lang="it-IT" baseline="0" dirty="0"/>
                        <a:t>W</a:t>
                      </a:r>
                      <a:r>
                        <a:rPr lang="it-IT" baseline="-25000" dirty="0"/>
                        <a:t>0</a:t>
                      </a:r>
                    </a:p>
                  </a:txBody>
                  <a:tcPr/>
                </a:tc>
                <a:tc>
                  <a:txBody>
                    <a:bodyPr/>
                    <a:lstStyle/>
                    <a:p>
                      <a:pPr algn="ctr"/>
                      <a:r>
                        <a:rPr lang="it-IT" baseline="0" dirty="0"/>
                        <a:t>W</a:t>
                      </a:r>
                      <a:r>
                        <a:rPr lang="it-IT" baseline="-25000" dirty="0"/>
                        <a:t>1</a:t>
                      </a:r>
                    </a:p>
                  </a:txBody>
                  <a:tcPr/>
                </a:tc>
                <a:tc>
                  <a:txBody>
                    <a:bodyPr/>
                    <a:lstStyle/>
                    <a:p>
                      <a:pPr algn="ctr"/>
                      <a:r>
                        <a:rPr lang="it-IT" baseline="0" dirty="0"/>
                        <a:t>W</a:t>
                      </a:r>
                      <a:r>
                        <a:rPr lang="it-IT" baseline="-25000" dirty="0"/>
                        <a:t>2</a:t>
                      </a:r>
                    </a:p>
                  </a:txBody>
                  <a:tcPr/>
                </a:tc>
                <a:tc>
                  <a:txBody>
                    <a:bodyPr/>
                    <a:lstStyle/>
                    <a:p>
                      <a:pPr algn="ctr"/>
                      <a:r>
                        <a:rPr lang="it-IT" dirty="0"/>
                        <a:t>X.W</a:t>
                      </a:r>
                    </a:p>
                  </a:txBody>
                  <a:tcPr/>
                </a:tc>
                <a:tc>
                  <a:txBody>
                    <a:bodyPr/>
                    <a:lstStyle/>
                    <a:p>
                      <a:pPr algn="ctr"/>
                      <a:r>
                        <a:rPr lang="it-IT" dirty="0" err="1"/>
                        <a:t>f</a:t>
                      </a:r>
                      <a:r>
                        <a:rPr lang="it-IT" dirty="0"/>
                        <a:t>(X.W)</a:t>
                      </a:r>
                    </a:p>
                  </a:txBody>
                  <a:tcPr/>
                </a:tc>
                <a:tc>
                  <a:txBody>
                    <a:bodyPr/>
                    <a:lstStyle/>
                    <a:p>
                      <a:pPr algn="ctr"/>
                      <a:r>
                        <a:rPr lang="it-IT" dirty="0" err="1"/>
                        <a:t>error</a:t>
                      </a:r>
                      <a:endParaRPr lang="it-IT" dirty="0"/>
                    </a:p>
                  </a:txBody>
                  <a:tcPr/>
                </a:tc>
                <a:tc>
                  <a:txBody>
                    <a:bodyPr/>
                    <a:lstStyle/>
                    <a:p>
                      <a:pPr algn="ctr"/>
                      <a:r>
                        <a:rPr lang="it-IT" dirty="0"/>
                        <a:t>delta</a:t>
                      </a:r>
                      <a:r>
                        <a:rPr lang="it-IT" baseline="-25000"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2</a:t>
                      </a:r>
                    </a:p>
                  </a:txBody>
                  <a:tcPr/>
                </a:tc>
                <a:extLst>
                  <a:ext uri="{0D108BD9-81ED-4DB2-BD59-A6C34878D82A}">
                    <a16:rowId xmlns:a16="http://schemas.microsoft.com/office/drawing/2014/main" val="647644152"/>
                  </a:ext>
                </a:extLst>
              </a:tr>
              <a:tr h="370840">
                <a:tc>
                  <a:txBody>
                    <a:bodyPr/>
                    <a:lstStyle/>
                    <a:p>
                      <a:pPr algn="ctr"/>
                      <a:r>
                        <a:rPr lang="it-IT" dirty="0"/>
                        <a:t>1</a:t>
                      </a:r>
                    </a:p>
                  </a:txBody>
                  <a:tcPr/>
                </a:tc>
                <a:tc>
                  <a:txBody>
                    <a:bodyPr/>
                    <a:lstStyle/>
                    <a:p>
                      <a:pPr algn="ctr"/>
                      <a:r>
                        <a:rPr lang="it-IT" dirty="0"/>
                        <a:t>-1</a:t>
                      </a:r>
                    </a:p>
                  </a:txBody>
                  <a:tcPr/>
                </a:tc>
                <a:tc>
                  <a:txBody>
                    <a:bodyPr/>
                    <a:lstStyle/>
                    <a:p>
                      <a:pPr algn="ctr"/>
                      <a:r>
                        <a:rPr lang="it-IT" dirty="0"/>
                        <a:t>0</a:t>
                      </a:r>
                    </a:p>
                  </a:txBody>
                  <a:tcPr/>
                </a:tc>
                <a:tc>
                  <a:txBody>
                    <a:bodyPr/>
                    <a:lstStyle/>
                    <a:p>
                      <a:pPr algn="ctr"/>
                      <a:r>
                        <a:rPr lang="it-IT" dirty="0"/>
                        <a:t>0</a:t>
                      </a:r>
                    </a:p>
                  </a:txBody>
                  <a:tcPr/>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3006406211"/>
                  </a:ext>
                </a:extLst>
              </a:tr>
              <a:tr h="370840">
                <a:tc>
                  <a:txBody>
                    <a:bodyPr/>
                    <a:lstStyle/>
                    <a:p>
                      <a:pPr algn="ctr"/>
                      <a:r>
                        <a:rPr lang="it-IT" dirty="0"/>
                        <a:t>2</a:t>
                      </a:r>
                    </a:p>
                  </a:txBody>
                  <a:tcPr/>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442248098"/>
                  </a:ext>
                </a:extLst>
              </a:tr>
              <a:tr h="370840">
                <a:tc>
                  <a:txBody>
                    <a:bodyPr/>
                    <a:lstStyle/>
                    <a:p>
                      <a:pPr algn="ctr"/>
                      <a:r>
                        <a:rPr lang="it-IT" dirty="0"/>
                        <a:t>3</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4095835177"/>
                  </a:ext>
                </a:extLst>
              </a:tr>
              <a:tr h="370840">
                <a:tc>
                  <a:txBody>
                    <a:bodyPr/>
                    <a:lstStyle/>
                    <a:p>
                      <a:pPr algn="ctr"/>
                      <a:r>
                        <a:rPr lang="it-IT" dirty="0"/>
                        <a:t>4</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437626370"/>
                  </a:ext>
                </a:extLst>
              </a:tr>
              <a:tr h="370840">
                <a:tc>
                  <a:txBody>
                    <a:bodyPr/>
                    <a:lstStyle/>
                    <a:p>
                      <a:pPr algn="ctr"/>
                      <a:r>
                        <a:rPr lang="it-IT" dirty="0"/>
                        <a:t>5</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3459893937"/>
                  </a:ext>
                </a:extLst>
              </a:tr>
              <a:tr h="370840">
                <a:tc>
                  <a:txBody>
                    <a:bodyPr/>
                    <a:lstStyle/>
                    <a:p>
                      <a:pPr algn="ctr"/>
                      <a:r>
                        <a:rPr lang="it-IT" dirty="0"/>
                        <a:t>6</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26436750"/>
                  </a:ext>
                </a:extLst>
              </a:tr>
              <a:tr h="370840">
                <a:tc>
                  <a:txBody>
                    <a:bodyPr/>
                    <a:lstStyle/>
                    <a:p>
                      <a:pPr algn="ctr"/>
                      <a:r>
                        <a:rPr lang="it-IT" dirty="0"/>
                        <a:t>7</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290132517"/>
                  </a:ext>
                </a:extLst>
              </a:tr>
              <a:tr h="370840">
                <a:tc>
                  <a:txBody>
                    <a:bodyPr/>
                    <a:lstStyle/>
                    <a:p>
                      <a:pPr algn="ctr"/>
                      <a:r>
                        <a:rPr lang="it-IT" dirty="0"/>
                        <a:t>8</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380738723"/>
                  </a:ext>
                </a:extLst>
              </a:tr>
              <a:tr h="370840">
                <a:tc>
                  <a:txBody>
                    <a:bodyPr/>
                    <a:lstStyle/>
                    <a:p>
                      <a:pPr algn="ctr"/>
                      <a:r>
                        <a:rPr lang="it-IT" dirty="0"/>
                        <a:t>9</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19150045"/>
                  </a:ext>
                </a:extLst>
              </a:tr>
              <a:tr h="370840">
                <a:tc>
                  <a:txBody>
                    <a:bodyPr/>
                    <a:lstStyle/>
                    <a:p>
                      <a:pPr algn="ctr"/>
                      <a:r>
                        <a:rPr lang="it-IT" dirty="0"/>
                        <a:t>10</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545436331"/>
                  </a:ext>
                </a:extLst>
              </a:tr>
              <a:tr h="370840">
                <a:tc>
                  <a:txBody>
                    <a:bodyPr/>
                    <a:lstStyle/>
                    <a:p>
                      <a:pPr algn="ctr"/>
                      <a:r>
                        <a:rPr lang="it-IT" dirty="0"/>
                        <a:t>11</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3664168057"/>
                  </a:ext>
                </a:extLst>
              </a:tr>
              <a:tr h="370840">
                <a:tc>
                  <a:txBody>
                    <a:bodyPr/>
                    <a:lstStyle/>
                    <a:p>
                      <a:pPr algn="ctr"/>
                      <a:r>
                        <a:rPr lang="it-IT" dirty="0"/>
                        <a:t>12</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137315494"/>
                  </a:ext>
                </a:extLst>
              </a:tr>
            </a:tbl>
          </a:graphicData>
        </a:graphic>
      </p:graphicFrame>
      <p:sp>
        <p:nvSpPr>
          <p:cNvPr id="5" name="CasellaDiTesto 4">
            <a:extLst>
              <a:ext uri="{FF2B5EF4-FFF2-40B4-BE49-F238E27FC236}">
                <a16:creationId xmlns:a16="http://schemas.microsoft.com/office/drawing/2014/main" id="{1C0D3F40-0FA6-AE4B-B317-31946E90F809}"/>
              </a:ext>
            </a:extLst>
          </p:cNvPr>
          <p:cNvSpPr txBox="1"/>
          <p:nvPr/>
        </p:nvSpPr>
        <p:spPr>
          <a:xfrm>
            <a:off x="1138723" y="3402142"/>
            <a:ext cx="1444626" cy="369332"/>
          </a:xfrm>
          <a:prstGeom prst="rect">
            <a:avLst/>
          </a:prstGeom>
          <a:noFill/>
        </p:spPr>
        <p:txBody>
          <a:bodyPr wrap="none" rtlCol="0">
            <a:spAutoFit/>
          </a:bodyPr>
          <a:lstStyle/>
          <a:p>
            <a:r>
              <a:rPr lang="it-IT" dirty="0"/>
              <a:t>Lambda = 0.3</a:t>
            </a:r>
          </a:p>
        </p:txBody>
      </p:sp>
      <p:graphicFrame>
        <p:nvGraphicFramePr>
          <p:cNvPr id="6" name="Tabella 5">
            <a:extLst>
              <a:ext uri="{FF2B5EF4-FFF2-40B4-BE49-F238E27FC236}">
                <a16:creationId xmlns:a16="http://schemas.microsoft.com/office/drawing/2014/main" id="{58620517-8327-5E49-9C6A-8EB32CC9A36C}"/>
              </a:ext>
            </a:extLst>
          </p:cNvPr>
          <p:cNvGraphicFramePr>
            <a:graphicFrameLocks noGrp="1"/>
          </p:cNvGraphicFramePr>
          <p:nvPr/>
        </p:nvGraphicFramePr>
        <p:xfrm>
          <a:off x="994947" y="1608113"/>
          <a:ext cx="2086476" cy="1483360"/>
        </p:xfrm>
        <a:graphic>
          <a:graphicData uri="http://schemas.openxmlformats.org/drawingml/2006/table">
            <a:tbl>
              <a:tblPr firstRow="1" bandRow="1">
                <a:tableStyleId>{5C22544A-7EE6-4342-B048-85BDC9FD1C3A}</a:tableStyleId>
              </a:tblPr>
              <a:tblGrid>
                <a:gridCol w="521619">
                  <a:extLst>
                    <a:ext uri="{9D8B030D-6E8A-4147-A177-3AD203B41FA5}">
                      <a16:colId xmlns:a16="http://schemas.microsoft.com/office/drawing/2014/main" val="3007943972"/>
                    </a:ext>
                  </a:extLst>
                </a:gridCol>
                <a:gridCol w="521619">
                  <a:extLst>
                    <a:ext uri="{9D8B030D-6E8A-4147-A177-3AD203B41FA5}">
                      <a16:colId xmlns:a16="http://schemas.microsoft.com/office/drawing/2014/main" val="220923671"/>
                    </a:ext>
                  </a:extLst>
                </a:gridCol>
                <a:gridCol w="521619">
                  <a:extLst>
                    <a:ext uri="{9D8B030D-6E8A-4147-A177-3AD203B41FA5}">
                      <a16:colId xmlns:a16="http://schemas.microsoft.com/office/drawing/2014/main" val="1888354542"/>
                    </a:ext>
                  </a:extLst>
                </a:gridCol>
                <a:gridCol w="521619">
                  <a:extLst>
                    <a:ext uri="{9D8B030D-6E8A-4147-A177-3AD203B41FA5}">
                      <a16:colId xmlns:a16="http://schemas.microsoft.com/office/drawing/2014/main" val="2090727010"/>
                    </a:ext>
                  </a:extLst>
                </a:gridCol>
              </a:tblGrid>
              <a:tr h="370840">
                <a:tc>
                  <a:txBody>
                    <a:bodyPr/>
                    <a:lstStyle/>
                    <a:p>
                      <a:pPr algn="ctr"/>
                      <a:r>
                        <a:rPr lang="it-IT" dirty="0"/>
                        <a:t>id</a:t>
                      </a:r>
                    </a:p>
                  </a:txBody>
                  <a:tcPr/>
                </a:tc>
                <a:tc>
                  <a:txBody>
                    <a:bodyPr/>
                    <a:lstStyle/>
                    <a:p>
                      <a:pPr algn="ctr"/>
                      <a:r>
                        <a:rPr lang="it-IT" dirty="0"/>
                        <a:t>X</a:t>
                      </a:r>
                      <a:r>
                        <a:rPr lang="it-IT" baseline="-25000" dirty="0"/>
                        <a:t>1</a:t>
                      </a:r>
                    </a:p>
                  </a:txBody>
                  <a:tcPr/>
                </a:tc>
                <a:tc>
                  <a:txBody>
                    <a:bodyPr/>
                    <a:lstStyle/>
                    <a:p>
                      <a:pPr algn="ctr"/>
                      <a:r>
                        <a:rPr lang="it-IT" dirty="0"/>
                        <a:t>X</a:t>
                      </a:r>
                      <a:r>
                        <a:rPr lang="it-IT" baseline="-25000" dirty="0"/>
                        <a:t>2</a:t>
                      </a:r>
                      <a:endParaRPr lang="it-IT" dirty="0"/>
                    </a:p>
                  </a:txBody>
                  <a:tcPr/>
                </a:tc>
                <a:tc>
                  <a:txBody>
                    <a:bodyPr/>
                    <a:lstStyle/>
                    <a:p>
                      <a:pPr algn="ctr"/>
                      <a:r>
                        <a:rPr lang="it-IT" dirty="0"/>
                        <a:t>Y</a:t>
                      </a:r>
                    </a:p>
                  </a:txBody>
                  <a:tcPr/>
                </a:tc>
                <a:extLst>
                  <a:ext uri="{0D108BD9-81ED-4DB2-BD59-A6C34878D82A}">
                    <a16:rowId xmlns:a16="http://schemas.microsoft.com/office/drawing/2014/main" val="647644152"/>
                  </a:ext>
                </a:extLst>
              </a:tr>
              <a:tr h="370840">
                <a:tc>
                  <a:txBody>
                    <a:bodyPr/>
                    <a:lstStyle/>
                    <a:p>
                      <a:pPr algn="ctr"/>
                      <a:r>
                        <a:rPr lang="it-IT" dirty="0"/>
                        <a:t>a</a:t>
                      </a:r>
                    </a:p>
                  </a:txBody>
                  <a:tcPr/>
                </a:tc>
                <a:tc>
                  <a:txBody>
                    <a:bodyPr/>
                    <a:lstStyle/>
                    <a:p>
                      <a:pPr algn="ctr"/>
                      <a:r>
                        <a:rPr lang="it-IT" dirty="0"/>
                        <a:t>0</a:t>
                      </a:r>
                    </a:p>
                  </a:txBody>
                  <a:tcPr/>
                </a:tc>
                <a:tc>
                  <a:txBody>
                    <a:bodyPr/>
                    <a:lstStyle/>
                    <a:p>
                      <a:pPr algn="ctr"/>
                      <a:r>
                        <a:rPr lang="it-IT" dirty="0"/>
                        <a:t>1</a:t>
                      </a:r>
                    </a:p>
                  </a:txBody>
                  <a:tcPr/>
                </a:tc>
                <a:tc>
                  <a:txBody>
                    <a:bodyPr/>
                    <a:lstStyle/>
                    <a:p>
                      <a:pPr algn="ctr"/>
                      <a:r>
                        <a:rPr lang="it-IT" dirty="0"/>
                        <a:t>-1</a:t>
                      </a:r>
                    </a:p>
                  </a:txBody>
                  <a:tcPr/>
                </a:tc>
                <a:extLst>
                  <a:ext uri="{0D108BD9-81ED-4DB2-BD59-A6C34878D82A}">
                    <a16:rowId xmlns:a16="http://schemas.microsoft.com/office/drawing/2014/main" val="3006406211"/>
                  </a:ext>
                </a:extLst>
              </a:tr>
              <a:tr h="370840">
                <a:tc>
                  <a:txBody>
                    <a:bodyPr/>
                    <a:lstStyle/>
                    <a:p>
                      <a:pPr algn="ctr"/>
                      <a:r>
                        <a:rPr lang="it-IT" dirty="0"/>
                        <a:t>b</a:t>
                      </a:r>
                    </a:p>
                  </a:txBody>
                  <a:tcPr/>
                </a:tc>
                <a:tc>
                  <a:txBody>
                    <a:bodyPr/>
                    <a:lstStyle/>
                    <a:p>
                      <a:pPr algn="ctr"/>
                      <a:r>
                        <a:rPr lang="it-IT" dirty="0"/>
                        <a:t>0</a:t>
                      </a:r>
                    </a:p>
                  </a:txBody>
                  <a:tcPr/>
                </a:tc>
                <a:tc>
                  <a:txBody>
                    <a:bodyPr/>
                    <a:lstStyle/>
                    <a:p>
                      <a:pPr algn="ctr"/>
                      <a:r>
                        <a:rPr lang="it-IT" dirty="0"/>
                        <a:t>0</a:t>
                      </a:r>
                    </a:p>
                  </a:txBody>
                  <a:tcPr/>
                </a:tc>
                <a:tc>
                  <a:txBody>
                    <a:bodyPr/>
                    <a:lstStyle/>
                    <a:p>
                      <a:pPr algn="ctr"/>
                      <a:r>
                        <a:rPr lang="it-IT" dirty="0"/>
                        <a:t>1</a:t>
                      </a:r>
                    </a:p>
                  </a:txBody>
                  <a:tcPr/>
                </a:tc>
                <a:extLst>
                  <a:ext uri="{0D108BD9-81ED-4DB2-BD59-A6C34878D82A}">
                    <a16:rowId xmlns:a16="http://schemas.microsoft.com/office/drawing/2014/main" val="1442248098"/>
                  </a:ext>
                </a:extLst>
              </a:tr>
              <a:tr h="370840">
                <a:tc>
                  <a:txBody>
                    <a:bodyPr/>
                    <a:lstStyle/>
                    <a:p>
                      <a:pPr algn="ctr"/>
                      <a:r>
                        <a:rPr lang="it-IT" dirty="0"/>
                        <a:t>c</a:t>
                      </a:r>
                    </a:p>
                  </a:txBody>
                  <a:tcPr/>
                </a:tc>
                <a:tc>
                  <a:txBody>
                    <a:bodyPr/>
                    <a:lstStyle/>
                    <a:p>
                      <a:pPr algn="ctr"/>
                      <a:r>
                        <a:rPr lang="it-IT" dirty="0"/>
                        <a:t>1</a:t>
                      </a:r>
                    </a:p>
                  </a:txBody>
                  <a:tcPr/>
                </a:tc>
                <a:tc>
                  <a:txBody>
                    <a:bodyPr/>
                    <a:lstStyle/>
                    <a:p>
                      <a:pPr algn="ctr"/>
                      <a:r>
                        <a:rPr lang="it-IT" dirty="0"/>
                        <a:t>2</a:t>
                      </a:r>
                    </a:p>
                  </a:txBody>
                  <a:tcPr/>
                </a:tc>
                <a:tc>
                  <a:txBody>
                    <a:bodyPr/>
                    <a:lstStyle/>
                    <a:p>
                      <a:pPr algn="ctr"/>
                      <a:r>
                        <a:rPr lang="it-IT" dirty="0"/>
                        <a:t>-1</a:t>
                      </a:r>
                    </a:p>
                  </a:txBody>
                  <a:tcPr/>
                </a:tc>
                <a:extLst>
                  <a:ext uri="{0D108BD9-81ED-4DB2-BD59-A6C34878D82A}">
                    <a16:rowId xmlns:a16="http://schemas.microsoft.com/office/drawing/2014/main" val="4095835177"/>
                  </a:ext>
                </a:extLst>
              </a:tr>
            </a:tbl>
          </a:graphicData>
        </a:graphic>
      </p:graphicFrame>
      <p:sp>
        <p:nvSpPr>
          <p:cNvPr id="7" name="CasellaDiTesto 6">
            <a:extLst>
              <a:ext uri="{FF2B5EF4-FFF2-40B4-BE49-F238E27FC236}">
                <a16:creationId xmlns:a16="http://schemas.microsoft.com/office/drawing/2014/main" id="{F9FC7FF3-5897-7141-9E0F-BC0E02FFB4EC}"/>
              </a:ext>
            </a:extLst>
          </p:cNvPr>
          <p:cNvSpPr txBox="1"/>
          <p:nvPr/>
        </p:nvSpPr>
        <p:spPr>
          <a:xfrm>
            <a:off x="1436079" y="3840407"/>
            <a:ext cx="849913" cy="369332"/>
          </a:xfrm>
          <a:prstGeom prst="rect">
            <a:avLst/>
          </a:prstGeom>
          <a:noFill/>
        </p:spPr>
        <p:txBody>
          <a:bodyPr wrap="none" rtlCol="0">
            <a:spAutoFit/>
          </a:bodyPr>
          <a:lstStyle/>
          <a:p>
            <a:r>
              <a:rPr lang="it-IT" dirty="0"/>
              <a:t>f = </a:t>
            </a:r>
            <a:r>
              <a:rPr lang="it-IT" dirty="0" err="1"/>
              <a:t>sign</a:t>
            </a:r>
            <a:endParaRPr lang="it-IT" dirty="0"/>
          </a:p>
        </p:txBody>
      </p:sp>
      <p:graphicFrame>
        <p:nvGraphicFramePr>
          <p:cNvPr id="8" name="Object 2">
            <a:extLst>
              <a:ext uri="{FF2B5EF4-FFF2-40B4-BE49-F238E27FC236}">
                <a16:creationId xmlns:a16="http://schemas.microsoft.com/office/drawing/2014/main" id="{F1B452C7-C945-1341-A6B8-EB1DF1C278D2}"/>
              </a:ext>
            </a:extLst>
          </p:cNvPr>
          <p:cNvGraphicFramePr>
            <a:graphicFrameLocks noChangeAspect="1"/>
          </p:cNvGraphicFramePr>
          <p:nvPr/>
        </p:nvGraphicFramePr>
        <p:xfrm>
          <a:off x="4160783" y="137754"/>
          <a:ext cx="7620000" cy="555625"/>
        </p:xfrm>
        <a:graphic>
          <a:graphicData uri="http://schemas.openxmlformats.org/presentationml/2006/ole">
            <mc:AlternateContent xmlns:mc="http://schemas.openxmlformats.org/markup-compatibility/2006">
              <mc:Choice xmlns:v="urn:schemas-microsoft-com:vml" Requires="v">
                <p:oleObj name="Equation" r:id="rId2" imgW="3213100" imgH="241300" progId="Equation.3">
                  <p:embed/>
                </p:oleObj>
              </mc:Choice>
              <mc:Fallback>
                <p:oleObj name="Equation" r:id="rId2" imgW="3213100" imgH="241300" progId="Equation.3">
                  <p:embed/>
                  <p:pic>
                    <p:nvPicPr>
                      <p:cNvPr id="8" name="Object 2">
                        <a:extLst>
                          <a:ext uri="{FF2B5EF4-FFF2-40B4-BE49-F238E27FC236}">
                            <a16:creationId xmlns:a16="http://schemas.microsoft.com/office/drawing/2014/main" id="{F1B452C7-C945-1341-A6B8-EB1DF1C278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0783" y="137754"/>
                        <a:ext cx="76200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959021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6EC64A-1F68-7243-81CC-935E096D57EB}"/>
              </a:ext>
            </a:extLst>
          </p:cNvPr>
          <p:cNvSpPr>
            <a:spLocks noGrp="1"/>
          </p:cNvSpPr>
          <p:nvPr>
            <p:ph type="title"/>
          </p:nvPr>
        </p:nvSpPr>
        <p:spPr/>
        <p:txBody>
          <a:bodyPr/>
          <a:lstStyle/>
          <a:p>
            <a:r>
              <a:rPr lang="it-IT" dirty="0"/>
              <a:t>Train Linear </a:t>
            </a:r>
            <a:r>
              <a:rPr lang="it-IT" dirty="0" err="1"/>
              <a:t>Perceptron</a:t>
            </a:r>
            <a:endParaRPr lang="it-IT" dirty="0"/>
          </a:p>
        </p:txBody>
      </p:sp>
      <p:graphicFrame>
        <p:nvGraphicFramePr>
          <p:cNvPr id="4" name="Tabella 3">
            <a:extLst>
              <a:ext uri="{FF2B5EF4-FFF2-40B4-BE49-F238E27FC236}">
                <a16:creationId xmlns:a16="http://schemas.microsoft.com/office/drawing/2014/main" id="{0398B540-D1C9-3745-A9F4-F0AF9C7282A6}"/>
              </a:ext>
            </a:extLst>
          </p:cNvPr>
          <p:cNvGraphicFramePr>
            <a:graphicFrameLocks noGrp="1"/>
          </p:cNvGraphicFramePr>
          <p:nvPr/>
        </p:nvGraphicFramePr>
        <p:xfrm>
          <a:off x="3755463" y="1538539"/>
          <a:ext cx="8025320" cy="4820920"/>
        </p:xfrm>
        <a:graphic>
          <a:graphicData uri="http://schemas.openxmlformats.org/drawingml/2006/table">
            <a:tbl>
              <a:tblPr firstRow="1" bandRow="1">
                <a:tableStyleId>{5C22544A-7EE6-4342-B048-85BDC9FD1C3A}</a:tableStyleId>
              </a:tblPr>
              <a:tblGrid>
                <a:gridCol w="802532">
                  <a:extLst>
                    <a:ext uri="{9D8B030D-6E8A-4147-A177-3AD203B41FA5}">
                      <a16:colId xmlns:a16="http://schemas.microsoft.com/office/drawing/2014/main" val="3007943972"/>
                    </a:ext>
                  </a:extLst>
                </a:gridCol>
                <a:gridCol w="802532">
                  <a:extLst>
                    <a:ext uri="{9D8B030D-6E8A-4147-A177-3AD203B41FA5}">
                      <a16:colId xmlns:a16="http://schemas.microsoft.com/office/drawing/2014/main" val="220923671"/>
                    </a:ext>
                  </a:extLst>
                </a:gridCol>
                <a:gridCol w="802532">
                  <a:extLst>
                    <a:ext uri="{9D8B030D-6E8A-4147-A177-3AD203B41FA5}">
                      <a16:colId xmlns:a16="http://schemas.microsoft.com/office/drawing/2014/main" val="1888354542"/>
                    </a:ext>
                  </a:extLst>
                </a:gridCol>
                <a:gridCol w="802532">
                  <a:extLst>
                    <a:ext uri="{9D8B030D-6E8A-4147-A177-3AD203B41FA5}">
                      <a16:colId xmlns:a16="http://schemas.microsoft.com/office/drawing/2014/main" val="4183561819"/>
                    </a:ext>
                  </a:extLst>
                </a:gridCol>
                <a:gridCol w="802532">
                  <a:extLst>
                    <a:ext uri="{9D8B030D-6E8A-4147-A177-3AD203B41FA5}">
                      <a16:colId xmlns:a16="http://schemas.microsoft.com/office/drawing/2014/main" val="2090727010"/>
                    </a:ext>
                  </a:extLst>
                </a:gridCol>
                <a:gridCol w="802532">
                  <a:extLst>
                    <a:ext uri="{9D8B030D-6E8A-4147-A177-3AD203B41FA5}">
                      <a16:colId xmlns:a16="http://schemas.microsoft.com/office/drawing/2014/main" val="1559798696"/>
                    </a:ext>
                  </a:extLst>
                </a:gridCol>
                <a:gridCol w="802532">
                  <a:extLst>
                    <a:ext uri="{9D8B030D-6E8A-4147-A177-3AD203B41FA5}">
                      <a16:colId xmlns:a16="http://schemas.microsoft.com/office/drawing/2014/main" val="3564938619"/>
                    </a:ext>
                  </a:extLst>
                </a:gridCol>
                <a:gridCol w="802532">
                  <a:extLst>
                    <a:ext uri="{9D8B030D-6E8A-4147-A177-3AD203B41FA5}">
                      <a16:colId xmlns:a16="http://schemas.microsoft.com/office/drawing/2014/main" val="2640809818"/>
                    </a:ext>
                  </a:extLst>
                </a:gridCol>
                <a:gridCol w="802532">
                  <a:extLst>
                    <a:ext uri="{9D8B030D-6E8A-4147-A177-3AD203B41FA5}">
                      <a16:colId xmlns:a16="http://schemas.microsoft.com/office/drawing/2014/main" val="4147220622"/>
                    </a:ext>
                  </a:extLst>
                </a:gridCol>
                <a:gridCol w="802532">
                  <a:extLst>
                    <a:ext uri="{9D8B030D-6E8A-4147-A177-3AD203B41FA5}">
                      <a16:colId xmlns:a16="http://schemas.microsoft.com/office/drawing/2014/main" val="1678705754"/>
                    </a:ext>
                  </a:extLst>
                </a:gridCol>
              </a:tblGrid>
              <a:tr h="370840">
                <a:tc>
                  <a:txBody>
                    <a:bodyPr/>
                    <a:lstStyle/>
                    <a:p>
                      <a:pPr algn="ctr"/>
                      <a:r>
                        <a:rPr lang="it-IT" dirty="0" err="1"/>
                        <a:t>it</a:t>
                      </a:r>
                      <a:endParaRPr lang="it-IT" dirty="0"/>
                    </a:p>
                  </a:txBody>
                  <a:tcPr/>
                </a:tc>
                <a:tc>
                  <a:txBody>
                    <a:bodyPr/>
                    <a:lstStyle/>
                    <a:p>
                      <a:pPr algn="ctr"/>
                      <a:r>
                        <a:rPr lang="it-IT" baseline="0" dirty="0"/>
                        <a:t>W</a:t>
                      </a:r>
                      <a:r>
                        <a:rPr lang="it-IT" baseline="-25000" dirty="0"/>
                        <a:t>0</a:t>
                      </a:r>
                    </a:p>
                  </a:txBody>
                  <a:tcPr/>
                </a:tc>
                <a:tc>
                  <a:txBody>
                    <a:bodyPr/>
                    <a:lstStyle/>
                    <a:p>
                      <a:pPr algn="ctr"/>
                      <a:r>
                        <a:rPr lang="it-IT" baseline="0" dirty="0"/>
                        <a:t>W</a:t>
                      </a:r>
                      <a:r>
                        <a:rPr lang="it-IT" baseline="-25000" dirty="0"/>
                        <a:t>1</a:t>
                      </a:r>
                    </a:p>
                  </a:txBody>
                  <a:tcPr/>
                </a:tc>
                <a:tc>
                  <a:txBody>
                    <a:bodyPr/>
                    <a:lstStyle/>
                    <a:p>
                      <a:pPr algn="ctr"/>
                      <a:r>
                        <a:rPr lang="it-IT" baseline="0" dirty="0"/>
                        <a:t>W</a:t>
                      </a:r>
                      <a:r>
                        <a:rPr lang="it-IT" baseline="-25000" dirty="0"/>
                        <a:t>2</a:t>
                      </a:r>
                    </a:p>
                  </a:txBody>
                  <a:tcPr/>
                </a:tc>
                <a:tc>
                  <a:txBody>
                    <a:bodyPr/>
                    <a:lstStyle/>
                    <a:p>
                      <a:pPr algn="ctr"/>
                      <a:r>
                        <a:rPr lang="it-IT" dirty="0"/>
                        <a:t>X.W</a:t>
                      </a:r>
                    </a:p>
                  </a:txBody>
                  <a:tcPr/>
                </a:tc>
                <a:tc>
                  <a:txBody>
                    <a:bodyPr/>
                    <a:lstStyle/>
                    <a:p>
                      <a:pPr algn="ctr"/>
                      <a:r>
                        <a:rPr lang="it-IT" dirty="0" err="1"/>
                        <a:t>f</a:t>
                      </a:r>
                      <a:r>
                        <a:rPr lang="it-IT" dirty="0"/>
                        <a:t>(X.W)</a:t>
                      </a:r>
                    </a:p>
                  </a:txBody>
                  <a:tcPr/>
                </a:tc>
                <a:tc>
                  <a:txBody>
                    <a:bodyPr/>
                    <a:lstStyle/>
                    <a:p>
                      <a:pPr algn="ctr"/>
                      <a:r>
                        <a:rPr lang="it-IT" dirty="0" err="1"/>
                        <a:t>error</a:t>
                      </a:r>
                      <a:endParaRPr lang="it-IT" dirty="0"/>
                    </a:p>
                  </a:txBody>
                  <a:tcPr/>
                </a:tc>
                <a:tc>
                  <a:txBody>
                    <a:bodyPr/>
                    <a:lstStyle/>
                    <a:p>
                      <a:pPr algn="ctr"/>
                      <a:r>
                        <a:rPr lang="it-IT" dirty="0"/>
                        <a:t>delta</a:t>
                      </a:r>
                      <a:r>
                        <a:rPr lang="it-IT" baseline="-25000"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2</a:t>
                      </a:r>
                    </a:p>
                  </a:txBody>
                  <a:tcPr/>
                </a:tc>
                <a:extLst>
                  <a:ext uri="{0D108BD9-81ED-4DB2-BD59-A6C34878D82A}">
                    <a16:rowId xmlns:a16="http://schemas.microsoft.com/office/drawing/2014/main" val="647644152"/>
                  </a:ext>
                </a:extLst>
              </a:tr>
              <a:tr h="370840">
                <a:tc>
                  <a:txBody>
                    <a:bodyPr/>
                    <a:lstStyle/>
                    <a:p>
                      <a:pPr algn="ctr"/>
                      <a:r>
                        <a:rPr lang="it-IT" dirty="0"/>
                        <a:t>1</a:t>
                      </a:r>
                    </a:p>
                  </a:txBody>
                  <a:tcPr/>
                </a:tc>
                <a:tc>
                  <a:txBody>
                    <a:bodyPr/>
                    <a:lstStyle/>
                    <a:p>
                      <a:pPr algn="ctr"/>
                      <a:r>
                        <a:rPr lang="it-IT" dirty="0"/>
                        <a:t>-1</a:t>
                      </a:r>
                    </a:p>
                  </a:txBody>
                  <a:tcPr/>
                </a:tc>
                <a:tc>
                  <a:txBody>
                    <a:bodyPr/>
                    <a:lstStyle/>
                    <a:p>
                      <a:pPr algn="ctr"/>
                      <a:r>
                        <a:rPr lang="it-IT" dirty="0"/>
                        <a:t>0</a:t>
                      </a:r>
                    </a:p>
                  </a:txBody>
                  <a:tcPr/>
                </a:tc>
                <a:tc>
                  <a:txBody>
                    <a:bodyPr/>
                    <a:lstStyle/>
                    <a:p>
                      <a:pPr algn="ctr"/>
                      <a:r>
                        <a:rPr lang="it-IT" dirty="0"/>
                        <a:t>0</a:t>
                      </a:r>
                    </a:p>
                  </a:txBody>
                  <a:tcPr/>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3006406211"/>
                  </a:ext>
                </a:extLst>
              </a:tr>
              <a:tr h="370840">
                <a:tc>
                  <a:txBody>
                    <a:bodyPr/>
                    <a:lstStyle/>
                    <a:p>
                      <a:pPr algn="ctr"/>
                      <a:r>
                        <a:rPr lang="it-IT" dirty="0"/>
                        <a:t>2</a:t>
                      </a:r>
                    </a:p>
                  </a:txBody>
                  <a:tcPr/>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442248098"/>
                  </a:ext>
                </a:extLst>
              </a:tr>
              <a:tr h="370840">
                <a:tc>
                  <a:txBody>
                    <a:bodyPr/>
                    <a:lstStyle/>
                    <a:p>
                      <a:pPr algn="ctr"/>
                      <a:r>
                        <a:rPr lang="it-IT" dirty="0"/>
                        <a:t>3</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4095835177"/>
                  </a:ext>
                </a:extLst>
              </a:tr>
              <a:tr h="370840">
                <a:tc>
                  <a:txBody>
                    <a:bodyPr/>
                    <a:lstStyle/>
                    <a:p>
                      <a:pPr algn="ctr"/>
                      <a:r>
                        <a:rPr lang="it-IT" dirty="0"/>
                        <a:t>4</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437626370"/>
                  </a:ext>
                </a:extLst>
              </a:tr>
              <a:tr h="370840">
                <a:tc>
                  <a:txBody>
                    <a:bodyPr/>
                    <a:lstStyle/>
                    <a:p>
                      <a:pPr algn="ctr"/>
                      <a:r>
                        <a:rPr lang="it-IT" dirty="0"/>
                        <a:t>5</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3459893937"/>
                  </a:ext>
                </a:extLst>
              </a:tr>
              <a:tr h="370840">
                <a:tc>
                  <a:txBody>
                    <a:bodyPr/>
                    <a:lstStyle/>
                    <a:p>
                      <a:pPr algn="ctr"/>
                      <a:r>
                        <a:rPr lang="it-IT" dirty="0"/>
                        <a:t>6</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26436750"/>
                  </a:ext>
                </a:extLst>
              </a:tr>
              <a:tr h="370840">
                <a:tc>
                  <a:txBody>
                    <a:bodyPr/>
                    <a:lstStyle/>
                    <a:p>
                      <a:pPr algn="ctr"/>
                      <a:r>
                        <a:rPr lang="it-IT" dirty="0"/>
                        <a:t>7</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290132517"/>
                  </a:ext>
                </a:extLst>
              </a:tr>
              <a:tr h="370840">
                <a:tc>
                  <a:txBody>
                    <a:bodyPr/>
                    <a:lstStyle/>
                    <a:p>
                      <a:pPr algn="ctr"/>
                      <a:r>
                        <a:rPr lang="it-IT" dirty="0"/>
                        <a:t>8</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380738723"/>
                  </a:ext>
                </a:extLst>
              </a:tr>
              <a:tr h="370840">
                <a:tc>
                  <a:txBody>
                    <a:bodyPr/>
                    <a:lstStyle/>
                    <a:p>
                      <a:pPr algn="ctr"/>
                      <a:r>
                        <a:rPr lang="it-IT" dirty="0"/>
                        <a:t>9</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19150045"/>
                  </a:ext>
                </a:extLst>
              </a:tr>
              <a:tr h="370840">
                <a:tc>
                  <a:txBody>
                    <a:bodyPr/>
                    <a:lstStyle/>
                    <a:p>
                      <a:pPr algn="ctr"/>
                      <a:r>
                        <a:rPr lang="it-IT" dirty="0"/>
                        <a:t>10</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545436331"/>
                  </a:ext>
                </a:extLst>
              </a:tr>
              <a:tr h="370840">
                <a:tc>
                  <a:txBody>
                    <a:bodyPr/>
                    <a:lstStyle/>
                    <a:p>
                      <a:pPr algn="ctr"/>
                      <a:r>
                        <a:rPr lang="it-IT" dirty="0"/>
                        <a:t>11</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3664168057"/>
                  </a:ext>
                </a:extLst>
              </a:tr>
              <a:tr h="370840">
                <a:tc>
                  <a:txBody>
                    <a:bodyPr/>
                    <a:lstStyle/>
                    <a:p>
                      <a:pPr algn="ctr"/>
                      <a:r>
                        <a:rPr lang="it-IT" dirty="0"/>
                        <a:t>12</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137315494"/>
                  </a:ext>
                </a:extLst>
              </a:tr>
            </a:tbl>
          </a:graphicData>
        </a:graphic>
      </p:graphicFrame>
      <p:sp>
        <p:nvSpPr>
          <p:cNvPr id="5" name="CasellaDiTesto 4">
            <a:extLst>
              <a:ext uri="{FF2B5EF4-FFF2-40B4-BE49-F238E27FC236}">
                <a16:creationId xmlns:a16="http://schemas.microsoft.com/office/drawing/2014/main" id="{1C0D3F40-0FA6-AE4B-B317-31946E90F809}"/>
              </a:ext>
            </a:extLst>
          </p:cNvPr>
          <p:cNvSpPr txBox="1"/>
          <p:nvPr/>
        </p:nvSpPr>
        <p:spPr>
          <a:xfrm>
            <a:off x="1138723" y="3402142"/>
            <a:ext cx="1444626" cy="369332"/>
          </a:xfrm>
          <a:prstGeom prst="rect">
            <a:avLst/>
          </a:prstGeom>
          <a:noFill/>
        </p:spPr>
        <p:txBody>
          <a:bodyPr wrap="none" rtlCol="0">
            <a:spAutoFit/>
          </a:bodyPr>
          <a:lstStyle/>
          <a:p>
            <a:r>
              <a:rPr lang="it-IT" dirty="0"/>
              <a:t>Lambda = 0.3</a:t>
            </a:r>
          </a:p>
        </p:txBody>
      </p:sp>
      <p:graphicFrame>
        <p:nvGraphicFramePr>
          <p:cNvPr id="6" name="Tabella 5">
            <a:extLst>
              <a:ext uri="{FF2B5EF4-FFF2-40B4-BE49-F238E27FC236}">
                <a16:creationId xmlns:a16="http://schemas.microsoft.com/office/drawing/2014/main" id="{58620517-8327-5E49-9C6A-8EB32CC9A36C}"/>
              </a:ext>
            </a:extLst>
          </p:cNvPr>
          <p:cNvGraphicFramePr>
            <a:graphicFrameLocks noGrp="1"/>
          </p:cNvGraphicFramePr>
          <p:nvPr/>
        </p:nvGraphicFramePr>
        <p:xfrm>
          <a:off x="994947" y="1608113"/>
          <a:ext cx="2086476" cy="1483360"/>
        </p:xfrm>
        <a:graphic>
          <a:graphicData uri="http://schemas.openxmlformats.org/drawingml/2006/table">
            <a:tbl>
              <a:tblPr firstRow="1" bandRow="1">
                <a:tableStyleId>{5C22544A-7EE6-4342-B048-85BDC9FD1C3A}</a:tableStyleId>
              </a:tblPr>
              <a:tblGrid>
                <a:gridCol w="521619">
                  <a:extLst>
                    <a:ext uri="{9D8B030D-6E8A-4147-A177-3AD203B41FA5}">
                      <a16:colId xmlns:a16="http://schemas.microsoft.com/office/drawing/2014/main" val="3007943972"/>
                    </a:ext>
                  </a:extLst>
                </a:gridCol>
                <a:gridCol w="521619">
                  <a:extLst>
                    <a:ext uri="{9D8B030D-6E8A-4147-A177-3AD203B41FA5}">
                      <a16:colId xmlns:a16="http://schemas.microsoft.com/office/drawing/2014/main" val="220923671"/>
                    </a:ext>
                  </a:extLst>
                </a:gridCol>
                <a:gridCol w="521619">
                  <a:extLst>
                    <a:ext uri="{9D8B030D-6E8A-4147-A177-3AD203B41FA5}">
                      <a16:colId xmlns:a16="http://schemas.microsoft.com/office/drawing/2014/main" val="1888354542"/>
                    </a:ext>
                  </a:extLst>
                </a:gridCol>
                <a:gridCol w="521619">
                  <a:extLst>
                    <a:ext uri="{9D8B030D-6E8A-4147-A177-3AD203B41FA5}">
                      <a16:colId xmlns:a16="http://schemas.microsoft.com/office/drawing/2014/main" val="2090727010"/>
                    </a:ext>
                  </a:extLst>
                </a:gridCol>
              </a:tblGrid>
              <a:tr h="370840">
                <a:tc>
                  <a:txBody>
                    <a:bodyPr/>
                    <a:lstStyle/>
                    <a:p>
                      <a:pPr algn="ctr"/>
                      <a:r>
                        <a:rPr lang="it-IT" dirty="0"/>
                        <a:t>id</a:t>
                      </a:r>
                    </a:p>
                  </a:txBody>
                  <a:tcPr/>
                </a:tc>
                <a:tc>
                  <a:txBody>
                    <a:bodyPr/>
                    <a:lstStyle/>
                    <a:p>
                      <a:pPr algn="ctr"/>
                      <a:r>
                        <a:rPr lang="it-IT" dirty="0"/>
                        <a:t>X</a:t>
                      </a:r>
                      <a:r>
                        <a:rPr lang="it-IT" baseline="-25000" dirty="0"/>
                        <a:t>1</a:t>
                      </a:r>
                    </a:p>
                  </a:txBody>
                  <a:tcPr/>
                </a:tc>
                <a:tc>
                  <a:txBody>
                    <a:bodyPr/>
                    <a:lstStyle/>
                    <a:p>
                      <a:pPr algn="ctr"/>
                      <a:r>
                        <a:rPr lang="it-IT" dirty="0"/>
                        <a:t>X</a:t>
                      </a:r>
                      <a:r>
                        <a:rPr lang="it-IT" baseline="-25000" dirty="0"/>
                        <a:t>2</a:t>
                      </a:r>
                      <a:endParaRPr lang="it-IT" dirty="0"/>
                    </a:p>
                  </a:txBody>
                  <a:tcPr/>
                </a:tc>
                <a:tc>
                  <a:txBody>
                    <a:bodyPr/>
                    <a:lstStyle/>
                    <a:p>
                      <a:pPr algn="ctr"/>
                      <a:r>
                        <a:rPr lang="it-IT" dirty="0"/>
                        <a:t>Y</a:t>
                      </a:r>
                    </a:p>
                  </a:txBody>
                  <a:tcPr/>
                </a:tc>
                <a:extLst>
                  <a:ext uri="{0D108BD9-81ED-4DB2-BD59-A6C34878D82A}">
                    <a16:rowId xmlns:a16="http://schemas.microsoft.com/office/drawing/2014/main" val="647644152"/>
                  </a:ext>
                </a:extLst>
              </a:tr>
              <a:tr h="370840">
                <a:tc>
                  <a:txBody>
                    <a:bodyPr/>
                    <a:lstStyle/>
                    <a:p>
                      <a:pPr algn="ctr"/>
                      <a:r>
                        <a:rPr lang="it-IT" dirty="0"/>
                        <a:t>a</a:t>
                      </a:r>
                    </a:p>
                  </a:txBody>
                  <a:tcPr/>
                </a:tc>
                <a:tc>
                  <a:txBody>
                    <a:bodyPr/>
                    <a:lstStyle/>
                    <a:p>
                      <a:pPr algn="ctr"/>
                      <a:r>
                        <a:rPr lang="it-IT" dirty="0"/>
                        <a:t>0</a:t>
                      </a:r>
                    </a:p>
                  </a:txBody>
                  <a:tcPr/>
                </a:tc>
                <a:tc>
                  <a:txBody>
                    <a:bodyPr/>
                    <a:lstStyle/>
                    <a:p>
                      <a:pPr algn="ctr"/>
                      <a:r>
                        <a:rPr lang="it-IT" dirty="0"/>
                        <a:t>1</a:t>
                      </a:r>
                    </a:p>
                  </a:txBody>
                  <a:tcPr/>
                </a:tc>
                <a:tc>
                  <a:txBody>
                    <a:bodyPr/>
                    <a:lstStyle/>
                    <a:p>
                      <a:pPr algn="ctr"/>
                      <a:r>
                        <a:rPr lang="it-IT" dirty="0"/>
                        <a:t>-1</a:t>
                      </a:r>
                    </a:p>
                  </a:txBody>
                  <a:tcPr/>
                </a:tc>
                <a:extLst>
                  <a:ext uri="{0D108BD9-81ED-4DB2-BD59-A6C34878D82A}">
                    <a16:rowId xmlns:a16="http://schemas.microsoft.com/office/drawing/2014/main" val="3006406211"/>
                  </a:ext>
                </a:extLst>
              </a:tr>
              <a:tr h="370840">
                <a:tc>
                  <a:txBody>
                    <a:bodyPr/>
                    <a:lstStyle/>
                    <a:p>
                      <a:pPr algn="ctr"/>
                      <a:r>
                        <a:rPr lang="it-IT" dirty="0"/>
                        <a:t>b</a:t>
                      </a:r>
                    </a:p>
                  </a:txBody>
                  <a:tcPr/>
                </a:tc>
                <a:tc>
                  <a:txBody>
                    <a:bodyPr/>
                    <a:lstStyle/>
                    <a:p>
                      <a:pPr algn="ctr"/>
                      <a:r>
                        <a:rPr lang="it-IT" dirty="0"/>
                        <a:t>0</a:t>
                      </a:r>
                    </a:p>
                  </a:txBody>
                  <a:tcPr/>
                </a:tc>
                <a:tc>
                  <a:txBody>
                    <a:bodyPr/>
                    <a:lstStyle/>
                    <a:p>
                      <a:pPr algn="ctr"/>
                      <a:r>
                        <a:rPr lang="it-IT" dirty="0"/>
                        <a:t>0</a:t>
                      </a:r>
                    </a:p>
                  </a:txBody>
                  <a:tcPr/>
                </a:tc>
                <a:tc>
                  <a:txBody>
                    <a:bodyPr/>
                    <a:lstStyle/>
                    <a:p>
                      <a:pPr algn="ctr"/>
                      <a:r>
                        <a:rPr lang="it-IT" dirty="0"/>
                        <a:t>1</a:t>
                      </a:r>
                    </a:p>
                  </a:txBody>
                  <a:tcPr/>
                </a:tc>
                <a:extLst>
                  <a:ext uri="{0D108BD9-81ED-4DB2-BD59-A6C34878D82A}">
                    <a16:rowId xmlns:a16="http://schemas.microsoft.com/office/drawing/2014/main" val="1442248098"/>
                  </a:ext>
                </a:extLst>
              </a:tr>
              <a:tr h="370840">
                <a:tc>
                  <a:txBody>
                    <a:bodyPr/>
                    <a:lstStyle/>
                    <a:p>
                      <a:pPr algn="ctr"/>
                      <a:r>
                        <a:rPr lang="it-IT" dirty="0"/>
                        <a:t>c</a:t>
                      </a:r>
                    </a:p>
                  </a:txBody>
                  <a:tcPr/>
                </a:tc>
                <a:tc>
                  <a:txBody>
                    <a:bodyPr/>
                    <a:lstStyle/>
                    <a:p>
                      <a:pPr algn="ctr"/>
                      <a:r>
                        <a:rPr lang="it-IT" dirty="0"/>
                        <a:t>1</a:t>
                      </a:r>
                    </a:p>
                  </a:txBody>
                  <a:tcPr/>
                </a:tc>
                <a:tc>
                  <a:txBody>
                    <a:bodyPr/>
                    <a:lstStyle/>
                    <a:p>
                      <a:pPr algn="ctr"/>
                      <a:r>
                        <a:rPr lang="it-IT" dirty="0"/>
                        <a:t>2</a:t>
                      </a:r>
                    </a:p>
                  </a:txBody>
                  <a:tcPr/>
                </a:tc>
                <a:tc>
                  <a:txBody>
                    <a:bodyPr/>
                    <a:lstStyle/>
                    <a:p>
                      <a:pPr algn="ctr"/>
                      <a:r>
                        <a:rPr lang="it-IT" dirty="0"/>
                        <a:t>-1</a:t>
                      </a:r>
                    </a:p>
                  </a:txBody>
                  <a:tcPr/>
                </a:tc>
                <a:extLst>
                  <a:ext uri="{0D108BD9-81ED-4DB2-BD59-A6C34878D82A}">
                    <a16:rowId xmlns:a16="http://schemas.microsoft.com/office/drawing/2014/main" val="4095835177"/>
                  </a:ext>
                </a:extLst>
              </a:tr>
            </a:tbl>
          </a:graphicData>
        </a:graphic>
      </p:graphicFrame>
      <p:sp>
        <p:nvSpPr>
          <p:cNvPr id="7" name="CasellaDiTesto 6">
            <a:extLst>
              <a:ext uri="{FF2B5EF4-FFF2-40B4-BE49-F238E27FC236}">
                <a16:creationId xmlns:a16="http://schemas.microsoft.com/office/drawing/2014/main" id="{927C77E6-5F33-8046-9F2E-9975A8958726}"/>
              </a:ext>
            </a:extLst>
          </p:cNvPr>
          <p:cNvSpPr txBox="1"/>
          <p:nvPr/>
        </p:nvSpPr>
        <p:spPr>
          <a:xfrm>
            <a:off x="1436079" y="3840407"/>
            <a:ext cx="849913" cy="369332"/>
          </a:xfrm>
          <a:prstGeom prst="rect">
            <a:avLst/>
          </a:prstGeom>
          <a:noFill/>
        </p:spPr>
        <p:txBody>
          <a:bodyPr wrap="none" rtlCol="0">
            <a:spAutoFit/>
          </a:bodyPr>
          <a:lstStyle/>
          <a:p>
            <a:r>
              <a:rPr lang="it-IT" dirty="0"/>
              <a:t>f = </a:t>
            </a:r>
            <a:r>
              <a:rPr lang="it-IT" dirty="0" err="1"/>
              <a:t>sign</a:t>
            </a:r>
            <a:endParaRPr lang="it-IT" dirty="0"/>
          </a:p>
        </p:txBody>
      </p:sp>
      <p:grpSp>
        <p:nvGrpSpPr>
          <p:cNvPr id="19" name="Gruppo 18">
            <a:extLst>
              <a:ext uri="{FF2B5EF4-FFF2-40B4-BE49-F238E27FC236}">
                <a16:creationId xmlns:a16="http://schemas.microsoft.com/office/drawing/2014/main" id="{EDB9D5EA-2D3A-0F43-BC5A-EE0BE13984E0}"/>
              </a:ext>
            </a:extLst>
          </p:cNvPr>
          <p:cNvGrpSpPr/>
          <p:nvPr/>
        </p:nvGrpSpPr>
        <p:grpSpPr>
          <a:xfrm>
            <a:off x="1861035" y="296148"/>
            <a:ext cx="3913600" cy="1242391"/>
            <a:chOff x="1861035" y="296148"/>
            <a:chExt cx="3913600" cy="1242391"/>
          </a:xfrm>
        </p:grpSpPr>
        <p:cxnSp>
          <p:nvCxnSpPr>
            <p:cNvPr id="8" name="Connettore 2 7">
              <a:extLst>
                <a:ext uri="{FF2B5EF4-FFF2-40B4-BE49-F238E27FC236}">
                  <a16:creationId xmlns:a16="http://schemas.microsoft.com/office/drawing/2014/main" id="{CB7B4015-5C6F-944A-BF18-A95A634633E2}"/>
                </a:ext>
              </a:extLst>
            </p:cNvPr>
            <p:cNvCxnSpPr/>
            <p:nvPr/>
          </p:nvCxnSpPr>
          <p:spPr>
            <a:xfrm flipH="1">
              <a:off x="1861035" y="296148"/>
              <a:ext cx="755366" cy="1242391"/>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nettore 2 9">
              <a:extLst>
                <a:ext uri="{FF2B5EF4-FFF2-40B4-BE49-F238E27FC236}">
                  <a16:creationId xmlns:a16="http://schemas.microsoft.com/office/drawing/2014/main" id="{92F86654-852B-EB40-8094-5217051BD4C6}"/>
                </a:ext>
              </a:extLst>
            </p:cNvPr>
            <p:cNvCxnSpPr>
              <a:cxnSpLocks/>
            </p:cNvCxnSpPr>
            <p:nvPr/>
          </p:nvCxnSpPr>
          <p:spPr>
            <a:xfrm>
              <a:off x="2616401" y="296148"/>
              <a:ext cx="3158234" cy="1172817"/>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0" name="Gruppo 19">
            <a:extLst>
              <a:ext uri="{FF2B5EF4-FFF2-40B4-BE49-F238E27FC236}">
                <a16:creationId xmlns:a16="http://schemas.microsoft.com/office/drawing/2014/main" id="{63F369F5-C4A0-244F-808A-85706238FBFF}"/>
              </a:ext>
            </a:extLst>
          </p:cNvPr>
          <p:cNvGrpSpPr/>
          <p:nvPr/>
        </p:nvGrpSpPr>
        <p:grpSpPr>
          <a:xfrm>
            <a:off x="2367317" y="207328"/>
            <a:ext cx="4188795" cy="1331211"/>
            <a:chOff x="2367317" y="207328"/>
            <a:chExt cx="4188795" cy="1331211"/>
          </a:xfrm>
        </p:grpSpPr>
        <p:cxnSp>
          <p:nvCxnSpPr>
            <p:cNvPr id="9" name="Connettore 2 8">
              <a:extLst>
                <a:ext uri="{FF2B5EF4-FFF2-40B4-BE49-F238E27FC236}">
                  <a16:creationId xmlns:a16="http://schemas.microsoft.com/office/drawing/2014/main" id="{D2877C96-55D1-D241-AAF6-9EEEF05F12DC}"/>
                </a:ext>
              </a:extLst>
            </p:cNvPr>
            <p:cNvCxnSpPr>
              <a:cxnSpLocks/>
            </p:cNvCxnSpPr>
            <p:nvPr/>
          </p:nvCxnSpPr>
          <p:spPr>
            <a:xfrm flipH="1">
              <a:off x="2367317" y="207328"/>
              <a:ext cx="833083" cy="1331211"/>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ttore 2 13">
              <a:extLst>
                <a:ext uri="{FF2B5EF4-FFF2-40B4-BE49-F238E27FC236}">
                  <a16:creationId xmlns:a16="http://schemas.microsoft.com/office/drawing/2014/main" id="{6AC8EB43-52F3-F345-B868-45D284AB1B98}"/>
                </a:ext>
              </a:extLst>
            </p:cNvPr>
            <p:cNvCxnSpPr>
              <a:cxnSpLocks/>
            </p:cNvCxnSpPr>
            <p:nvPr/>
          </p:nvCxnSpPr>
          <p:spPr>
            <a:xfrm>
              <a:off x="3200400" y="207328"/>
              <a:ext cx="3355712" cy="1261637"/>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7" name="Connettore 2 16">
            <a:extLst>
              <a:ext uri="{FF2B5EF4-FFF2-40B4-BE49-F238E27FC236}">
                <a16:creationId xmlns:a16="http://schemas.microsoft.com/office/drawing/2014/main" id="{02B8F3C1-2AE3-FF49-817B-18E82E142B85}"/>
              </a:ext>
            </a:extLst>
          </p:cNvPr>
          <p:cNvCxnSpPr>
            <a:cxnSpLocks/>
          </p:cNvCxnSpPr>
          <p:nvPr/>
        </p:nvCxnSpPr>
        <p:spPr>
          <a:xfrm>
            <a:off x="4957039" y="365125"/>
            <a:ext cx="1" cy="1103840"/>
          </a:xfrm>
          <a:prstGeom prst="straightConnector1">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5" name="Object 2">
            <a:extLst>
              <a:ext uri="{FF2B5EF4-FFF2-40B4-BE49-F238E27FC236}">
                <a16:creationId xmlns:a16="http://schemas.microsoft.com/office/drawing/2014/main" id="{ADFF55DA-41BC-354F-9C4A-F5B05B228468}"/>
              </a:ext>
            </a:extLst>
          </p:cNvPr>
          <p:cNvGraphicFramePr>
            <a:graphicFrameLocks noChangeAspect="1"/>
          </p:cNvGraphicFramePr>
          <p:nvPr/>
        </p:nvGraphicFramePr>
        <p:xfrm>
          <a:off x="4160783" y="137754"/>
          <a:ext cx="7620000" cy="555625"/>
        </p:xfrm>
        <a:graphic>
          <a:graphicData uri="http://schemas.openxmlformats.org/presentationml/2006/ole">
            <mc:AlternateContent xmlns:mc="http://schemas.openxmlformats.org/markup-compatibility/2006">
              <mc:Choice xmlns:v="urn:schemas-microsoft-com:vml" Requires="v">
                <p:oleObj name="Equation" r:id="rId2" imgW="3213100" imgH="241300" progId="Equation.3">
                  <p:embed/>
                </p:oleObj>
              </mc:Choice>
              <mc:Fallback>
                <p:oleObj name="Equation" r:id="rId2" imgW="3213100" imgH="241300" progId="Equation.3">
                  <p:embed/>
                  <p:pic>
                    <p:nvPicPr>
                      <p:cNvPr id="15" name="Object 2">
                        <a:extLst>
                          <a:ext uri="{FF2B5EF4-FFF2-40B4-BE49-F238E27FC236}">
                            <a16:creationId xmlns:a16="http://schemas.microsoft.com/office/drawing/2014/main" id="{ADFF55DA-41BC-354F-9C4A-F5B05B228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0783" y="137754"/>
                        <a:ext cx="76200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223108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6EC64A-1F68-7243-81CC-935E096D57EB}"/>
              </a:ext>
            </a:extLst>
          </p:cNvPr>
          <p:cNvSpPr>
            <a:spLocks noGrp="1"/>
          </p:cNvSpPr>
          <p:nvPr>
            <p:ph type="title"/>
          </p:nvPr>
        </p:nvSpPr>
        <p:spPr/>
        <p:txBody>
          <a:bodyPr/>
          <a:lstStyle/>
          <a:p>
            <a:r>
              <a:rPr lang="it-IT" dirty="0"/>
              <a:t>Train Linear </a:t>
            </a:r>
            <a:r>
              <a:rPr lang="it-IT" dirty="0" err="1"/>
              <a:t>Perceptron</a:t>
            </a:r>
            <a:endParaRPr lang="it-IT" dirty="0"/>
          </a:p>
        </p:txBody>
      </p:sp>
      <p:graphicFrame>
        <p:nvGraphicFramePr>
          <p:cNvPr id="4" name="Tabella 3">
            <a:extLst>
              <a:ext uri="{FF2B5EF4-FFF2-40B4-BE49-F238E27FC236}">
                <a16:creationId xmlns:a16="http://schemas.microsoft.com/office/drawing/2014/main" id="{0398B540-D1C9-3745-A9F4-F0AF9C7282A6}"/>
              </a:ext>
            </a:extLst>
          </p:cNvPr>
          <p:cNvGraphicFramePr>
            <a:graphicFrameLocks noGrp="1"/>
          </p:cNvGraphicFramePr>
          <p:nvPr/>
        </p:nvGraphicFramePr>
        <p:xfrm>
          <a:off x="3755463" y="1538539"/>
          <a:ext cx="8025320" cy="4820920"/>
        </p:xfrm>
        <a:graphic>
          <a:graphicData uri="http://schemas.openxmlformats.org/drawingml/2006/table">
            <a:tbl>
              <a:tblPr firstRow="1" bandRow="1">
                <a:tableStyleId>{5C22544A-7EE6-4342-B048-85BDC9FD1C3A}</a:tableStyleId>
              </a:tblPr>
              <a:tblGrid>
                <a:gridCol w="802532">
                  <a:extLst>
                    <a:ext uri="{9D8B030D-6E8A-4147-A177-3AD203B41FA5}">
                      <a16:colId xmlns:a16="http://schemas.microsoft.com/office/drawing/2014/main" val="3007943972"/>
                    </a:ext>
                  </a:extLst>
                </a:gridCol>
                <a:gridCol w="802532">
                  <a:extLst>
                    <a:ext uri="{9D8B030D-6E8A-4147-A177-3AD203B41FA5}">
                      <a16:colId xmlns:a16="http://schemas.microsoft.com/office/drawing/2014/main" val="220923671"/>
                    </a:ext>
                  </a:extLst>
                </a:gridCol>
                <a:gridCol w="802532">
                  <a:extLst>
                    <a:ext uri="{9D8B030D-6E8A-4147-A177-3AD203B41FA5}">
                      <a16:colId xmlns:a16="http://schemas.microsoft.com/office/drawing/2014/main" val="1888354542"/>
                    </a:ext>
                  </a:extLst>
                </a:gridCol>
                <a:gridCol w="802532">
                  <a:extLst>
                    <a:ext uri="{9D8B030D-6E8A-4147-A177-3AD203B41FA5}">
                      <a16:colId xmlns:a16="http://schemas.microsoft.com/office/drawing/2014/main" val="4183561819"/>
                    </a:ext>
                  </a:extLst>
                </a:gridCol>
                <a:gridCol w="802532">
                  <a:extLst>
                    <a:ext uri="{9D8B030D-6E8A-4147-A177-3AD203B41FA5}">
                      <a16:colId xmlns:a16="http://schemas.microsoft.com/office/drawing/2014/main" val="2090727010"/>
                    </a:ext>
                  </a:extLst>
                </a:gridCol>
                <a:gridCol w="802532">
                  <a:extLst>
                    <a:ext uri="{9D8B030D-6E8A-4147-A177-3AD203B41FA5}">
                      <a16:colId xmlns:a16="http://schemas.microsoft.com/office/drawing/2014/main" val="1559798696"/>
                    </a:ext>
                  </a:extLst>
                </a:gridCol>
                <a:gridCol w="802532">
                  <a:extLst>
                    <a:ext uri="{9D8B030D-6E8A-4147-A177-3AD203B41FA5}">
                      <a16:colId xmlns:a16="http://schemas.microsoft.com/office/drawing/2014/main" val="3564938619"/>
                    </a:ext>
                  </a:extLst>
                </a:gridCol>
                <a:gridCol w="802532">
                  <a:extLst>
                    <a:ext uri="{9D8B030D-6E8A-4147-A177-3AD203B41FA5}">
                      <a16:colId xmlns:a16="http://schemas.microsoft.com/office/drawing/2014/main" val="2640809818"/>
                    </a:ext>
                  </a:extLst>
                </a:gridCol>
                <a:gridCol w="802532">
                  <a:extLst>
                    <a:ext uri="{9D8B030D-6E8A-4147-A177-3AD203B41FA5}">
                      <a16:colId xmlns:a16="http://schemas.microsoft.com/office/drawing/2014/main" val="4147220622"/>
                    </a:ext>
                  </a:extLst>
                </a:gridCol>
                <a:gridCol w="802532">
                  <a:extLst>
                    <a:ext uri="{9D8B030D-6E8A-4147-A177-3AD203B41FA5}">
                      <a16:colId xmlns:a16="http://schemas.microsoft.com/office/drawing/2014/main" val="1678705754"/>
                    </a:ext>
                  </a:extLst>
                </a:gridCol>
              </a:tblGrid>
              <a:tr h="370840">
                <a:tc>
                  <a:txBody>
                    <a:bodyPr/>
                    <a:lstStyle/>
                    <a:p>
                      <a:pPr algn="ctr"/>
                      <a:r>
                        <a:rPr lang="it-IT" dirty="0" err="1"/>
                        <a:t>it</a:t>
                      </a:r>
                      <a:endParaRPr lang="it-IT" dirty="0"/>
                    </a:p>
                  </a:txBody>
                  <a:tcPr/>
                </a:tc>
                <a:tc>
                  <a:txBody>
                    <a:bodyPr/>
                    <a:lstStyle/>
                    <a:p>
                      <a:pPr algn="ctr"/>
                      <a:r>
                        <a:rPr lang="it-IT" baseline="0" dirty="0"/>
                        <a:t>W</a:t>
                      </a:r>
                      <a:r>
                        <a:rPr lang="it-IT" baseline="-25000" dirty="0"/>
                        <a:t>0</a:t>
                      </a:r>
                    </a:p>
                  </a:txBody>
                  <a:tcPr/>
                </a:tc>
                <a:tc>
                  <a:txBody>
                    <a:bodyPr/>
                    <a:lstStyle/>
                    <a:p>
                      <a:pPr algn="ctr"/>
                      <a:r>
                        <a:rPr lang="it-IT" baseline="0" dirty="0"/>
                        <a:t>W</a:t>
                      </a:r>
                      <a:r>
                        <a:rPr lang="it-IT" baseline="-25000" dirty="0"/>
                        <a:t>1</a:t>
                      </a:r>
                    </a:p>
                  </a:txBody>
                  <a:tcPr/>
                </a:tc>
                <a:tc>
                  <a:txBody>
                    <a:bodyPr/>
                    <a:lstStyle/>
                    <a:p>
                      <a:pPr algn="ctr"/>
                      <a:r>
                        <a:rPr lang="it-IT" baseline="0" dirty="0"/>
                        <a:t>W</a:t>
                      </a:r>
                      <a:r>
                        <a:rPr lang="it-IT" baseline="-25000" dirty="0"/>
                        <a:t>2</a:t>
                      </a:r>
                    </a:p>
                  </a:txBody>
                  <a:tcPr/>
                </a:tc>
                <a:tc>
                  <a:txBody>
                    <a:bodyPr/>
                    <a:lstStyle/>
                    <a:p>
                      <a:pPr algn="ctr"/>
                      <a:r>
                        <a:rPr lang="it-IT" dirty="0"/>
                        <a:t>X.W</a:t>
                      </a:r>
                    </a:p>
                  </a:txBody>
                  <a:tcPr/>
                </a:tc>
                <a:tc>
                  <a:txBody>
                    <a:bodyPr/>
                    <a:lstStyle/>
                    <a:p>
                      <a:pPr algn="ctr"/>
                      <a:r>
                        <a:rPr lang="it-IT" dirty="0" err="1"/>
                        <a:t>f</a:t>
                      </a:r>
                      <a:r>
                        <a:rPr lang="it-IT" dirty="0"/>
                        <a:t>(X.W)</a:t>
                      </a:r>
                    </a:p>
                  </a:txBody>
                  <a:tcPr/>
                </a:tc>
                <a:tc>
                  <a:txBody>
                    <a:bodyPr/>
                    <a:lstStyle/>
                    <a:p>
                      <a:pPr algn="ctr"/>
                      <a:r>
                        <a:rPr lang="it-IT" dirty="0" err="1"/>
                        <a:t>error</a:t>
                      </a:r>
                      <a:endParaRPr lang="it-IT" dirty="0"/>
                    </a:p>
                  </a:txBody>
                  <a:tcPr/>
                </a:tc>
                <a:tc>
                  <a:txBody>
                    <a:bodyPr/>
                    <a:lstStyle/>
                    <a:p>
                      <a:pPr algn="ctr"/>
                      <a:r>
                        <a:rPr lang="it-IT" dirty="0"/>
                        <a:t>delta</a:t>
                      </a:r>
                      <a:r>
                        <a:rPr lang="it-IT" baseline="-25000"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2</a:t>
                      </a:r>
                    </a:p>
                  </a:txBody>
                  <a:tcPr/>
                </a:tc>
                <a:extLst>
                  <a:ext uri="{0D108BD9-81ED-4DB2-BD59-A6C34878D82A}">
                    <a16:rowId xmlns:a16="http://schemas.microsoft.com/office/drawing/2014/main" val="647644152"/>
                  </a:ext>
                </a:extLst>
              </a:tr>
              <a:tr h="370840">
                <a:tc>
                  <a:txBody>
                    <a:bodyPr/>
                    <a:lstStyle/>
                    <a:p>
                      <a:pPr algn="ctr"/>
                      <a:r>
                        <a:rPr lang="it-IT" dirty="0"/>
                        <a:t>1</a:t>
                      </a:r>
                    </a:p>
                  </a:txBody>
                  <a:tcPr/>
                </a:tc>
                <a:tc>
                  <a:txBody>
                    <a:bodyPr/>
                    <a:lstStyle/>
                    <a:p>
                      <a:pPr algn="ctr"/>
                      <a:r>
                        <a:rPr lang="it-IT" dirty="0"/>
                        <a:t>-1</a:t>
                      </a:r>
                    </a:p>
                  </a:txBody>
                  <a:tcPr/>
                </a:tc>
                <a:tc>
                  <a:txBody>
                    <a:bodyPr/>
                    <a:lstStyle/>
                    <a:p>
                      <a:pPr algn="ctr"/>
                      <a:r>
                        <a:rPr lang="it-IT" dirty="0"/>
                        <a:t>0</a:t>
                      </a:r>
                    </a:p>
                  </a:txBody>
                  <a:tcPr/>
                </a:tc>
                <a:tc>
                  <a:txBody>
                    <a:bodyPr/>
                    <a:lstStyle/>
                    <a:p>
                      <a:pPr algn="ctr"/>
                      <a:r>
                        <a:rPr lang="it-IT" dirty="0"/>
                        <a:t>0</a:t>
                      </a:r>
                    </a:p>
                  </a:txBody>
                  <a:tcPr/>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3006406211"/>
                  </a:ext>
                </a:extLst>
              </a:tr>
              <a:tr h="370840">
                <a:tc>
                  <a:txBody>
                    <a:bodyPr/>
                    <a:lstStyle/>
                    <a:p>
                      <a:pPr algn="ctr"/>
                      <a:r>
                        <a:rPr lang="it-IT" dirty="0"/>
                        <a:t>2</a:t>
                      </a:r>
                    </a:p>
                  </a:txBody>
                  <a:tcPr/>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442248098"/>
                  </a:ext>
                </a:extLst>
              </a:tr>
              <a:tr h="370840">
                <a:tc>
                  <a:txBody>
                    <a:bodyPr/>
                    <a:lstStyle/>
                    <a:p>
                      <a:pPr algn="ctr"/>
                      <a:r>
                        <a:rPr lang="it-IT" dirty="0"/>
                        <a:t>3</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4095835177"/>
                  </a:ext>
                </a:extLst>
              </a:tr>
              <a:tr h="370840">
                <a:tc>
                  <a:txBody>
                    <a:bodyPr/>
                    <a:lstStyle/>
                    <a:p>
                      <a:pPr algn="ctr"/>
                      <a:r>
                        <a:rPr lang="it-IT" dirty="0"/>
                        <a:t>4</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437626370"/>
                  </a:ext>
                </a:extLst>
              </a:tr>
              <a:tr h="370840">
                <a:tc>
                  <a:txBody>
                    <a:bodyPr/>
                    <a:lstStyle/>
                    <a:p>
                      <a:pPr algn="ctr"/>
                      <a:r>
                        <a:rPr lang="it-IT" dirty="0"/>
                        <a:t>5</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3459893937"/>
                  </a:ext>
                </a:extLst>
              </a:tr>
              <a:tr h="370840">
                <a:tc>
                  <a:txBody>
                    <a:bodyPr/>
                    <a:lstStyle/>
                    <a:p>
                      <a:pPr algn="ctr"/>
                      <a:r>
                        <a:rPr lang="it-IT" dirty="0"/>
                        <a:t>6</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26436750"/>
                  </a:ext>
                </a:extLst>
              </a:tr>
              <a:tr h="370840">
                <a:tc>
                  <a:txBody>
                    <a:bodyPr/>
                    <a:lstStyle/>
                    <a:p>
                      <a:pPr algn="ctr"/>
                      <a:r>
                        <a:rPr lang="it-IT" dirty="0"/>
                        <a:t>7</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290132517"/>
                  </a:ext>
                </a:extLst>
              </a:tr>
              <a:tr h="370840">
                <a:tc>
                  <a:txBody>
                    <a:bodyPr/>
                    <a:lstStyle/>
                    <a:p>
                      <a:pPr algn="ctr"/>
                      <a:r>
                        <a:rPr lang="it-IT" dirty="0"/>
                        <a:t>8</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380738723"/>
                  </a:ext>
                </a:extLst>
              </a:tr>
              <a:tr h="370840">
                <a:tc>
                  <a:txBody>
                    <a:bodyPr/>
                    <a:lstStyle/>
                    <a:p>
                      <a:pPr algn="ctr"/>
                      <a:r>
                        <a:rPr lang="it-IT" dirty="0"/>
                        <a:t>9</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19150045"/>
                  </a:ext>
                </a:extLst>
              </a:tr>
              <a:tr h="370840">
                <a:tc>
                  <a:txBody>
                    <a:bodyPr/>
                    <a:lstStyle/>
                    <a:p>
                      <a:pPr algn="ctr"/>
                      <a:r>
                        <a:rPr lang="it-IT" dirty="0"/>
                        <a:t>10</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545436331"/>
                  </a:ext>
                </a:extLst>
              </a:tr>
              <a:tr h="370840">
                <a:tc>
                  <a:txBody>
                    <a:bodyPr/>
                    <a:lstStyle/>
                    <a:p>
                      <a:pPr algn="ctr"/>
                      <a:r>
                        <a:rPr lang="it-IT" dirty="0"/>
                        <a:t>11</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3664168057"/>
                  </a:ext>
                </a:extLst>
              </a:tr>
              <a:tr h="370840">
                <a:tc>
                  <a:txBody>
                    <a:bodyPr/>
                    <a:lstStyle/>
                    <a:p>
                      <a:pPr algn="ctr"/>
                      <a:r>
                        <a:rPr lang="it-IT" dirty="0"/>
                        <a:t>12</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137315494"/>
                  </a:ext>
                </a:extLst>
              </a:tr>
            </a:tbl>
          </a:graphicData>
        </a:graphic>
      </p:graphicFrame>
      <p:sp>
        <p:nvSpPr>
          <p:cNvPr id="5" name="CasellaDiTesto 4">
            <a:extLst>
              <a:ext uri="{FF2B5EF4-FFF2-40B4-BE49-F238E27FC236}">
                <a16:creationId xmlns:a16="http://schemas.microsoft.com/office/drawing/2014/main" id="{1C0D3F40-0FA6-AE4B-B317-31946E90F809}"/>
              </a:ext>
            </a:extLst>
          </p:cNvPr>
          <p:cNvSpPr txBox="1"/>
          <p:nvPr/>
        </p:nvSpPr>
        <p:spPr>
          <a:xfrm>
            <a:off x="1138723" y="3402142"/>
            <a:ext cx="1444626" cy="369332"/>
          </a:xfrm>
          <a:prstGeom prst="rect">
            <a:avLst/>
          </a:prstGeom>
          <a:noFill/>
        </p:spPr>
        <p:txBody>
          <a:bodyPr wrap="none" rtlCol="0">
            <a:spAutoFit/>
          </a:bodyPr>
          <a:lstStyle/>
          <a:p>
            <a:r>
              <a:rPr lang="it-IT" dirty="0"/>
              <a:t>Lambda = 0.3</a:t>
            </a:r>
          </a:p>
        </p:txBody>
      </p:sp>
      <p:graphicFrame>
        <p:nvGraphicFramePr>
          <p:cNvPr id="6" name="Tabella 5">
            <a:extLst>
              <a:ext uri="{FF2B5EF4-FFF2-40B4-BE49-F238E27FC236}">
                <a16:creationId xmlns:a16="http://schemas.microsoft.com/office/drawing/2014/main" id="{58620517-8327-5E49-9C6A-8EB32CC9A36C}"/>
              </a:ext>
            </a:extLst>
          </p:cNvPr>
          <p:cNvGraphicFramePr>
            <a:graphicFrameLocks noGrp="1"/>
          </p:cNvGraphicFramePr>
          <p:nvPr/>
        </p:nvGraphicFramePr>
        <p:xfrm>
          <a:off x="994947" y="1608113"/>
          <a:ext cx="2086476" cy="1483360"/>
        </p:xfrm>
        <a:graphic>
          <a:graphicData uri="http://schemas.openxmlformats.org/drawingml/2006/table">
            <a:tbl>
              <a:tblPr firstRow="1" bandRow="1">
                <a:tableStyleId>{5C22544A-7EE6-4342-B048-85BDC9FD1C3A}</a:tableStyleId>
              </a:tblPr>
              <a:tblGrid>
                <a:gridCol w="521619">
                  <a:extLst>
                    <a:ext uri="{9D8B030D-6E8A-4147-A177-3AD203B41FA5}">
                      <a16:colId xmlns:a16="http://schemas.microsoft.com/office/drawing/2014/main" val="3007943972"/>
                    </a:ext>
                  </a:extLst>
                </a:gridCol>
                <a:gridCol w="521619">
                  <a:extLst>
                    <a:ext uri="{9D8B030D-6E8A-4147-A177-3AD203B41FA5}">
                      <a16:colId xmlns:a16="http://schemas.microsoft.com/office/drawing/2014/main" val="220923671"/>
                    </a:ext>
                  </a:extLst>
                </a:gridCol>
                <a:gridCol w="521619">
                  <a:extLst>
                    <a:ext uri="{9D8B030D-6E8A-4147-A177-3AD203B41FA5}">
                      <a16:colId xmlns:a16="http://schemas.microsoft.com/office/drawing/2014/main" val="1888354542"/>
                    </a:ext>
                  </a:extLst>
                </a:gridCol>
                <a:gridCol w="521619">
                  <a:extLst>
                    <a:ext uri="{9D8B030D-6E8A-4147-A177-3AD203B41FA5}">
                      <a16:colId xmlns:a16="http://schemas.microsoft.com/office/drawing/2014/main" val="2090727010"/>
                    </a:ext>
                  </a:extLst>
                </a:gridCol>
              </a:tblGrid>
              <a:tr h="370840">
                <a:tc>
                  <a:txBody>
                    <a:bodyPr/>
                    <a:lstStyle/>
                    <a:p>
                      <a:pPr algn="ctr"/>
                      <a:r>
                        <a:rPr lang="it-IT" dirty="0"/>
                        <a:t>id</a:t>
                      </a:r>
                    </a:p>
                  </a:txBody>
                  <a:tcPr/>
                </a:tc>
                <a:tc>
                  <a:txBody>
                    <a:bodyPr/>
                    <a:lstStyle/>
                    <a:p>
                      <a:pPr algn="ctr"/>
                      <a:r>
                        <a:rPr lang="it-IT" dirty="0"/>
                        <a:t>X</a:t>
                      </a:r>
                      <a:r>
                        <a:rPr lang="it-IT" baseline="-25000" dirty="0"/>
                        <a:t>1</a:t>
                      </a:r>
                    </a:p>
                  </a:txBody>
                  <a:tcPr/>
                </a:tc>
                <a:tc>
                  <a:txBody>
                    <a:bodyPr/>
                    <a:lstStyle/>
                    <a:p>
                      <a:pPr algn="ctr"/>
                      <a:r>
                        <a:rPr lang="it-IT" dirty="0"/>
                        <a:t>X</a:t>
                      </a:r>
                      <a:r>
                        <a:rPr lang="it-IT" baseline="-25000" dirty="0"/>
                        <a:t>2</a:t>
                      </a:r>
                      <a:endParaRPr lang="it-IT" dirty="0"/>
                    </a:p>
                  </a:txBody>
                  <a:tcPr/>
                </a:tc>
                <a:tc>
                  <a:txBody>
                    <a:bodyPr/>
                    <a:lstStyle/>
                    <a:p>
                      <a:pPr algn="ctr"/>
                      <a:r>
                        <a:rPr lang="it-IT" dirty="0"/>
                        <a:t>Y</a:t>
                      </a:r>
                    </a:p>
                  </a:txBody>
                  <a:tcPr/>
                </a:tc>
                <a:extLst>
                  <a:ext uri="{0D108BD9-81ED-4DB2-BD59-A6C34878D82A}">
                    <a16:rowId xmlns:a16="http://schemas.microsoft.com/office/drawing/2014/main" val="647644152"/>
                  </a:ext>
                </a:extLst>
              </a:tr>
              <a:tr h="370840">
                <a:tc>
                  <a:txBody>
                    <a:bodyPr/>
                    <a:lstStyle/>
                    <a:p>
                      <a:pPr algn="ctr"/>
                      <a:r>
                        <a:rPr lang="it-IT" dirty="0"/>
                        <a:t>a</a:t>
                      </a:r>
                    </a:p>
                  </a:txBody>
                  <a:tcPr/>
                </a:tc>
                <a:tc>
                  <a:txBody>
                    <a:bodyPr/>
                    <a:lstStyle/>
                    <a:p>
                      <a:pPr algn="ctr"/>
                      <a:r>
                        <a:rPr lang="it-IT" dirty="0"/>
                        <a:t>0</a:t>
                      </a:r>
                    </a:p>
                  </a:txBody>
                  <a:tcPr/>
                </a:tc>
                <a:tc>
                  <a:txBody>
                    <a:bodyPr/>
                    <a:lstStyle/>
                    <a:p>
                      <a:pPr algn="ctr"/>
                      <a:r>
                        <a:rPr lang="it-IT" dirty="0"/>
                        <a:t>1</a:t>
                      </a:r>
                    </a:p>
                  </a:txBody>
                  <a:tcPr/>
                </a:tc>
                <a:tc>
                  <a:txBody>
                    <a:bodyPr/>
                    <a:lstStyle/>
                    <a:p>
                      <a:pPr algn="ctr"/>
                      <a:r>
                        <a:rPr lang="it-IT" dirty="0"/>
                        <a:t>-1</a:t>
                      </a:r>
                    </a:p>
                  </a:txBody>
                  <a:tcPr/>
                </a:tc>
                <a:extLst>
                  <a:ext uri="{0D108BD9-81ED-4DB2-BD59-A6C34878D82A}">
                    <a16:rowId xmlns:a16="http://schemas.microsoft.com/office/drawing/2014/main" val="3006406211"/>
                  </a:ext>
                </a:extLst>
              </a:tr>
              <a:tr h="370840">
                <a:tc>
                  <a:txBody>
                    <a:bodyPr/>
                    <a:lstStyle/>
                    <a:p>
                      <a:pPr algn="ctr"/>
                      <a:r>
                        <a:rPr lang="it-IT" dirty="0"/>
                        <a:t>b</a:t>
                      </a:r>
                    </a:p>
                  </a:txBody>
                  <a:tcPr/>
                </a:tc>
                <a:tc>
                  <a:txBody>
                    <a:bodyPr/>
                    <a:lstStyle/>
                    <a:p>
                      <a:pPr algn="ctr"/>
                      <a:r>
                        <a:rPr lang="it-IT" dirty="0"/>
                        <a:t>0</a:t>
                      </a:r>
                    </a:p>
                  </a:txBody>
                  <a:tcPr/>
                </a:tc>
                <a:tc>
                  <a:txBody>
                    <a:bodyPr/>
                    <a:lstStyle/>
                    <a:p>
                      <a:pPr algn="ctr"/>
                      <a:r>
                        <a:rPr lang="it-IT" dirty="0"/>
                        <a:t>0</a:t>
                      </a:r>
                    </a:p>
                  </a:txBody>
                  <a:tcPr/>
                </a:tc>
                <a:tc>
                  <a:txBody>
                    <a:bodyPr/>
                    <a:lstStyle/>
                    <a:p>
                      <a:pPr algn="ctr"/>
                      <a:r>
                        <a:rPr lang="it-IT" dirty="0"/>
                        <a:t>1</a:t>
                      </a:r>
                    </a:p>
                  </a:txBody>
                  <a:tcPr/>
                </a:tc>
                <a:extLst>
                  <a:ext uri="{0D108BD9-81ED-4DB2-BD59-A6C34878D82A}">
                    <a16:rowId xmlns:a16="http://schemas.microsoft.com/office/drawing/2014/main" val="1442248098"/>
                  </a:ext>
                </a:extLst>
              </a:tr>
              <a:tr h="370840">
                <a:tc>
                  <a:txBody>
                    <a:bodyPr/>
                    <a:lstStyle/>
                    <a:p>
                      <a:pPr algn="ctr"/>
                      <a:r>
                        <a:rPr lang="it-IT" dirty="0"/>
                        <a:t>c</a:t>
                      </a:r>
                    </a:p>
                  </a:txBody>
                  <a:tcPr/>
                </a:tc>
                <a:tc>
                  <a:txBody>
                    <a:bodyPr/>
                    <a:lstStyle/>
                    <a:p>
                      <a:pPr algn="ctr"/>
                      <a:r>
                        <a:rPr lang="it-IT" dirty="0"/>
                        <a:t>1</a:t>
                      </a:r>
                    </a:p>
                  </a:txBody>
                  <a:tcPr/>
                </a:tc>
                <a:tc>
                  <a:txBody>
                    <a:bodyPr/>
                    <a:lstStyle/>
                    <a:p>
                      <a:pPr algn="ctr"/>
                      <a:r>
                        <a:rPr lang="it-IT" dirty="0"/>
                        <a:t>2</a:t>
                      </a:r>
                    </a:p>
                  </a:txBody>
                  <a:tcPr/>
                </a:tc>
                <a:tc>
                  <a:txBody>
                    <a:bodyPr/>
                    <a:lstStyle/>
                    <a:p>
                      <a:pPr algn="ctr"/>
                      <a:r>
                        <a:rPr lang="it-IT" dirty="0"/>
                        <a:t>-1</a:t>
                      </a:r>
                    </a:p>
                  </a:txBody>
                  <a:tcPr/>
                </a:tc>
                <a:extLst>
                  <a:ext uri="{0D108BD9-81ED-4DB2-BD59-A6C34878D82A}">
                    <a16:rowId xmlns:a16="http://schemas.microsoft.com/office/drawing/2014/main" val="4095835177"/>
                  </a:ext>
                </a:extLst>
              </a:tr>
            </a:tbl>
          </a:graphicData>
        </a:graphic>
      </p:graphicFrame>
      <p:sp>
        <p:nvSpPr>
          <p:cNvPr id="7" name="CasellaDiTesto 6">
            <a:extLst>
              <a:ext uri="{FF2B5EF4-FFF2-40B4-BE49-F238E27FC236}">
                <a16:creationId xmlns:a16="http://schemas.microsoft.com/office/drawing/2014/main" id="{927C77E6-5F33-8046-9F2E-9975A8958726}"/>
              </a:ext>
            </a:extLst>
          </p:cNvPr>
          <p:cNvSpPr txBox="1"/>
          <p:nvPr/>
        </p:nvSpPr>
        <p:spPr>
          <a:xfrm>
            <a:off x="1436079" y="3840407"/>
            <a:ext cx="849913" cy="369332"/>
          </a:xfrm>
          <a:prstGeom prst="rect">
            <a:avLst/>
          </a:prstGeom>
          <a:noFill/>
        </p:spPr>
        <p:txBody>
          <a:bodyPr wrap="none" rtlCol="0">
            <a:spAutoFit/>
          </a:bodyPr>
          <a:lstStyle/>
          <a:p>
            <a:r>
              <a:rPr lang="it-IT" dirty="0"/>
              <a:t>f = </a:t>
            </a:r>
            <a:r>
              <a:rPr lang="it-IT" dirty="0" err="1"/>
              <a:t>sign</a:t>
            </a:r>
            <a:endParaRPr lang="it-IT" dirty="0"/>
          </a:p>
        </p:txBody>
      </p:sp>
      <p:graphicFrame>
        <p:nvGraphicFramePr>
          <p:cNvPr id="8" name="Object 2">
            <a:extLst>
              <a:ext uri="{FF2B5EF4-FFF2-40B4-BE49-F238E27FC236}">
                <a16:creationId xmlns:a16="http://schemas.microsoft.com/office/drawing/2014/main" id="{E6F937FA-173D-DB44-8A79-FD4B3C7B2663}"/>
              </a:ext>
            </a:extLst>
          </p:cNvPr>
          <p:cNvGraphicFramePr>
            <a:graphicFrameLocks noChangeAspect="1"/>
          </p:cNvGraphicFramePr>
          <p:nvPr/>
        </p:nvGraphicFramePr>
        <p:xfrm>
          <a:off x="4160783" y="137754"/>
          <a:ext cx="7620000" cy="555625"/>
        </p:xfrm>
        <a:graphic>
          <a:graphicData uri="http://schemas.openxmlformats.org/presentationml/2006/ole">
            <mc:AlternateContent xmlns:mc="http://schemas.openxmlformats.org/markup-compatibility/2006">
              <mc:Choice xmlns:v="urn:schemas-microsoft-com:vml" Requires="v">
                <p:oleObj name="Equation" r:id="rId2" imgW="3213100" imgH="241300" progId="Equation.3">
                  <p:embed/>
                </p:oleObj>
              </mc:Choice>
              <mc:Fallback>
                <p:oleObj name="Equation" r:id="rId2" imgW="3213100" imgH="241300" progId="Equation.3">
                  <p:embed/>
                  <p:pic>
                    <p:nvPicPr>
                      <p:cNvPr id="8" name="Object 2">
                        <a:extLst>
                          <a:ext uri="{FF2B5EF4-FFF2-40B4-BE49-F238E27FC236}">
                            <a16:creationId xmlns:a16="http://schemas.microsoft.com/office/drawing/2014/main" id="{E6F937FA-173D-DB44-8A79-FD4B3C7B26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0783" y="137754"/>
                        <a:ext cx="76200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6902813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6EC64A-1F68-7243-81CC-935E096D57EB}"/>
              </a:ext>
            </a:extLst>
          </p:cNvPr>
          <p:cNvSpPr>
            <a:spLocks noGrp="1"/>
          </p:cNvSpPr>
          <p:nvPr>
            <p:ph type="title"/>
          </p:nvPr>
        </p:nvSpPr>
        <p:spPr/>
        <p:txBody>
          <a:bodyPr/>
          <a:lstStyle/>
          <a:p>
            <a:r>
              <a:rPr lang="it-IT" dirty="0"/>
              <a:t>Train Linear </a:t>
            </a:r>
            <a:r>
              <a:rPr lang="it-IT" dirty="0" err="1"/>
              <a:t>Perceptron</a:t>
            </a:r>
            <a:endParaRPr lang="it-IT" dirty="0"/>
          </a:p>
        </p:txBody>
      </p:sp>
      <p:graphicFrame>
        <p:nvGraphicFramePr>
          <p:cNvPr id="4" name="Tabella 3">
            <a:extLst>
              <a:ext uri="{FF2B5EF4-FFF2-40B4-BE49-F238E27FC236}">
                <a16:creationId xmlns:a16="http://schemas.microsoft.com/office/drawing/2014/main" id="{0398B540-D1C9-3745-A9F4-F0AF9C7282A6}"/>
              </a:ext>
            </a:extLst>
          </p:cNvPr>
          <p:cNvGraphicFramePr>
            <a:graphicFrameLocks noGrp="1"/>
          </p:cNvGraphicFramePr>
          <p:nvPr/>
        </p:nvGraphicFramePr>
        <p:xfrm>
          <a:off x="3755463" y="1538539"/>
          <a:ext cx="8025320" cy="4820920"/>
        </p:xfrm>
        <a:graphic>
          <a:graphicData uri="http://schemas.openxmlformats.org/drawingml/2006/table">
            <a:tbl>
              <a:tblPr firstRow="1" bandRow="1">
                <a:tableStyleId>{5C22544A-7EE6-4342-B048-85BDC9FD1C3A}</a:tableStyleId>
              </a:tblPr>
              <a:tblGrid>
                <a:gridCol w="802532">
                  <a:extLst>
                    <a:ext uri="{9D8B030D-6E8A-4147-A177-3AD203B41FA5}">
                      <a16:colId xmlns:a16="http://schemas.microsoft.com/office/drawing/2014/main" val="3007943972"/>
                    </a:ext>
                  </a:extLst>
                </a:gridCol>
                <a:gridCol w="802532">
                  <a:extLst>
                    <a:ext uri="{9D8B030D-6E8A-4147-A177-3AD203B41FA5}">
                      <a16:colId xmlns:a16="http://schemas.microsoft.com/office/drawing/2014/main" val="220923671"/>
                    </a:ext>
                  </a:extLst>
                </a:gridCol>
                <a:gridCol w="802532">
                  <a:extLst>
                    <a:ext uri="{9D8B030D-6E8A-4147-A177-3AD203B41FA5}">
                      <a16:colId xmlns:a16="http://schemas.microsoft.com/office/drawing/2014/main" val="1888354542"/>
                    </a:ext>
                  </a:extLst>
                </a:gridCol>
                <a:gridCol w="802532">
                  <a:extLst>
                    <a:ext uri="{9D8B030D-6E8A-4147-A177-3AD203B41FA5}">
                      <a16:colId xmlns:a16="http://schemas.microsoft.com/office/drawing/2014/main" val="4183561819"/>
                    </a:ext>
                  </a:extLst>
                </a:gridCol>
                <a:gridCol w="802532">
                  <a:extLst>
                    <a:ext uri="{9D8B030D-6E8A-4147-A177-3AD203B41FA5}">
                      <a16:colId xmlns:a16="http://schemas.microsoft.com/office/drawing/2014/main" val="2090727010"/>
                    </a:ext>
                  </a:extLst>
                </a:gridCol>
                <a:gridCol w="802532">
                  <a:extLst>
                    <a:ext uri="{9D8B030D-6E8A-4147-A177-3AD203B41FA5}">
                      <a16:colId xmlns:a16="http://schemas.microsoft.com/office/drawing/2014/main" val="1559798696"/>
                    </a:ext>
                  </a:extLst>
                </a:gridCol>
                <a:gridCol w="802532">
                  <a:extLst>
                    <a:ext uri="{9D8B030D-6E8A-4147-A177-3AD203B41FA5}">
                      <a16:colId xmlns:a16="http://schemas.microsoft.com/office/drawing/2014/main" val="3564938619"/>
                    </a:ext>
                  </a:extLst>
                </a:gridCol>
                <a:gridCol w="802532">
                  <a:extLst>
                    <a:ext uri="{9D8B030D-6E8A-4147-A177-3AD203B41FA5}">
                      <a16:colId xmlns:a16="http://schemas.microsoft.com/office/drawing/2014/main" val="2640809818"/>
                    </a:ext>
                  </a:extLst>
                </a:gridCol>
                <a:gridCol w="802532">
                  <a:extLst>
                    <a:ext uri="{9D8B030D-6E8A-4147-A177-3AD203B41FA5}">
                      <a16:colId xmlns:a16="http://schemas.microsoft.com/office/drawing/2014/main" val="4147220622"/>
                    </a:ext>
                  </a:extLst>
                </a:gridCol>
                <a:gridCol w="802532">
                  <a:extLst>
                    <a:ext uri="{9D8B030D-6E8A-4147-A177-3AD203B41FA5}">
                      <a16:colId xmlns:a16="http://schemas.microsoft.com/office/drawing/2014/main" val="1678705754"/>
                    </a:ext>
                  </a:extLst>
                </a:gridCol>
              </a:tblGrid>
              <a:tr h="370840">
                <a:tc>
                  <a:txBody>
                    <a:bodyPr/>
                    <a:lstStyle/>
                    <a:p>
                      <a:pPr algn="ctr"/>
                      <a:r>
                        <a:rPr lang="it-IT" dirty="0" err="1"/>
                        <a:t>it</a:t>
                      </a:r>
                      <a:endParaRPr lang="it-IT" dirty="0"/>
                    </a:p>
                  </a:txBody>
                  <a:tcPr/>
                </a:tc>
                <a:tc>
                  <a:txBody>
                    <a:bodyPr/>
                    <a:lstStyle/>
                    <a:p>
                      <a:pPr algn="ctr"/>
                      <a:r>
                        <a:rPr lang="it-IT" baseline="0" dirty="0"/>
                        <a:t>W</a:t>
                      </a:r>
                      <a:r>
                        <a:rPr lang="it-IT" baseline="-25000" dirty="0"/>
                        <a:t>0</a:t>
                      </a:r>
                    </a:p>
                  </a:txBody>
                  <a:tcPr/>
                </a:tc>
                <a:tc>
                  <a:txBody>
                    <a:bodyPr/>
                    <a:lstStyle/>
                    <a:p>
                      <a:pPr algn="ctr"/>
                      <a:r>
                        <a:rPr lang="it-IT" baseline="0" dirty="0"/>
                        <a:t>W</a:t>
                      </a:r>
                      <a:r>
                        <a:rPr lang="it-IT" baseline="-25000" dirty="0"/>
                        <a:t>1</a:t>
                      </a:r>
                    </a:p>
                  </a:txBody>
                  <a:tcPr/>
                </a:tc>
                <a:tc>
                  <a:txBody>
                    <a:bodyPr/>
                    <a:lstStyle/>
                    <a:p>
                      <a:pPr algn="ctr"/>
                      <a:r>
                        <a:rPr lang="it-IT" baseline="0" dirty="0"/>
                        <a:t>W</a:t>
                      </a:r>
                      <a:r>
                        <a:rPr lang="it-IT" baseline="-25000" dirty="0"/>
                        <a:t>2</a:t>
                      </a:r>
                    </a:p>
                  </a:txBody>
                  <a:tcPr/>
                </a:tc>
                <a:tc>
                  <a:txBody>
                    <a:bodyPr/>
                    <a:lstStyle/>
                    <a:p>
                      <a:pPr algn="ctr"/>
                      <a:r>
                        <a:rPr lang="it-IT" dirty="0"/>
                        <a:t>X.W</a:t>
                      </a:r>
                    </a:p>
                  </a:txBody>
                  <a:tcPr/>
                </a:tc>
                <a:tc>
                  <a:txBody>
                    <a:bodyPr/>
                    <a:lstStyle/>
                    <a:p>
                      <a:pPr algn="ctr"/>
                      <a:r>
                        <a:rPr lang="it-IT" dirty="0" err="1"/>
                        <a:t>f</a:t>
                      </a:r>
                      <a:r>
                        <a:rPr lang="it-IT" dirty="0"/>
                        <a:t>(X.W)</a:t>
                      </a:r>
                    </a:p>
                  </a:txBody>
                  <a:tcPr/>
                </a:tc>
                <a:tc>
                  <a:txBody>
                    <a:bodyPr/>
                    <a:lstStyle/>
                    <a:p>
                      <a:pPr algn="ctr"/>
                      <a:r>
                        <a:rPr lang="it-IT" dirty="0" err="1"/>
                        <a:t>error</a:t>
                      </a:r>
                      <a:endParaRPr lang="it-IT" dirty="0"/>
                    </a:p>
                  </a:txBody>
                  <a:tcPr/>
                </a:tc>
                <a:tc>
                  <a:txBody>
                    <a:bodyPr/>
                    <a:lstStyle/>
                    <a:p>
                      <a:pPr algn="ctr"/>
                      <a:r>
                        <a:rPr lang="it-IT" dirty="0"/>
                        <a:t>delta</a:t>
                      </a:r>
                      <a:r>
                        <a:rPr lang="it-IT" baseline="-25000"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2</a:t>
                      </a:r>
                    </a:p>
                  </a:txBody>
                  <a:tcPr/>
                </a:tc>
                <a:extLst>
                  <a:ext uri="{0D108BD9-81ED-4DB2-BD59-A6C34878D82A}">
                    <a16:rowId xmlns:a16="http://schemas.microsoft.com/office/drawing/2014/main" val="647644152"/>
                  </a:ext>
                </a:extLst>
              </a:tr>
              <a:tr h="370840">
                <a:tc>
                  <a:txBody>
                    <a:bodyPr/>
                    <a:lstStyle/>
                    <a:p>
                      <a:pPr algn="ctr"/>
                      <a:r>
                        <a:rPr lang="it-IT" dirty="0"/>
                        <a:t>1</a:t>
                      </a:r>
                    </a:p>
                  </a:txBody>
                  <a:tcPr/>
                </a:tc>
                <a:tc>
                  <a:txBody>
                    <a:bodyPr/>
                    <a:lstStyle/>
                    <a:p>
                      <a:pPr algn="ctr"/>
                      <a:r>
                        <a:rPr lang="it-IT" dirty="0"/>
                        <a:t>-1</a:t>
                      </a:r>
                    </a:p>
                  </a:txBody>
                  <a:tcPr/>
                </a:tc>
                <a:tc>
                  <a:txBody>
                    <a:bodyPr/>
                    <a:lstStyle/>
                    <a:p>
                      <a:pPr algn="ctr"/>
                      <a:r>
                        <a:rPr lang="it-IT" dirty="0"/>
                        <a:t>0</a:t>
                      </a:r>
                    </a:p>
                  </a:txBody>
                  <a:tcPr/>
                </a:tc>
                <a:tc>
                  <a:txBody>
                    <a:bodyPr/>
                    <a:lstStyle/>
                    <a:p>
                      <a:pPr algn="ctr"/>
                      <a:r>
                        <a:rPr lang="it-IT" dirty="0"/>
                        <a:t>0</a:t>
                      </a:r>
                    </a:p>
                  </a:txBody>
                  <a:tcPr/>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3006406211"/>
                  </a:ext>
                </a:extLst>
              </a:tr>
              <a:tr h="370840">
                <a:tc>
                  <a:txBody>
                    <a:bodyPr/>
                    <a:lstStyle/>
                    <a:p>
                      <a:pPr algn="ctr"/>
                      <a:r>
                        <a:rPr lang="it-IT" dirty="0"/>
                        <a:t>2</a:t>
                      </a:r>
                    </a:p>
                  </a:txBody>
                  <a:tcPr/>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442248098"/>
                  </a:ext>
                </a:extLst>
              </a:tr>
              <a:tr h="370840">
                <a:tc>
                  <a:txBody>
                    <a:bodyPr/>
                    <a:lstStyle/>
                    <a:p>
                      <a:pPr algn="ctr"/>
                      <a:r>
                        <a:rPr lang="it-IT" dirty="0"/>
                        <a:t>3</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4095835177"/>
                  </a:ext>
                </a:extLst>
              </a:tr>
              <a:tr h="370840">
                <a:tc>
                  <a:txBody>
                    <a:bodyPr/>
                    <a:lstStyle/>
                    <a:p>
                      <a:pPr algn="ctr"/>
                      <a:r>
                        <a:rPr lang="it-IT" dirty="0"/>
                        <a:t>4</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437626370"/>
                  </a:ext>
                </a:extLst>
              </a:tr>
              <a:tr h="370840">
                <a:tc>
                  <a:txBody>
                    <a:bodyPr/>
                    <a:lstStyle/>
                    <a:p>
                      <a:pPr algn="ctr"/>
                      <a:r>
                        <a:rPr lang="it-IT" dirty="0"/>
                        <a:t>5</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3459893937"/>
                  </a:ext>
                </a:extLst>
              </a:tr>
              <a:tr h="370840">
                <a:tc>
                  <a:txBody>
                    <a:bodyPr/>
                    <a:lstStyle/>
                    <a:p>
                      <a:pPr algn="ctr"/>
                      <a:r>
                        <a:rPr lang="it-IT" dirty="0"/>
                        <a:t>6</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26436750"/>
                  </a:ext>
                </a:extLst>
              </a:tr>
              <a:tr h="370840">
                <a:tc>
                  <a:txBody>
                    <a:bodyPr/>
                    <a:lstStyle/>
                    <a:p>
                      <a:pPr algn="ctr"/>
                      <a:r>
                        <a:rPr lang="it-IT" dirty="0"/>
                        <a:t>7</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290132517"/>
                  </a:ext>
                </a:extLst>
              </a:tr>
              <a:tr h="370840">
                <a:tc>
                  <a:txBody>
                    <a:bodyPr/>
                    <a:lstStyle/>
                    <a:p>
                      <a:pPr algn="ctr"/>
                      <a:r>
                        <a:rPr lang="it-IT" dirty="0"/>
                        <a:t>8</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380738723"/>
                  </a:ext>
                </a:extLst>
              </a:tr>
              <a:tr h="370840">
                <a:tc>
                  <a:txBody>
                    <a:bodyPr/>
                    <a:lstStyle/>
                    <a:p>
                      <a:pPr algn="ctr"/>
                      <a:r>
                        <a:rPr lang="it-IT" dirty="0"/>
                        <a:t>9</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19150045"/>
                  </a:ext>
                </a:extLst>
              </a:tr>
              <a:tr h="370840">
                <a:tc>
                  <a:txBody>
                    <a:bodyPr/>
                    <a:lstStyle/>
                    <a:p>
                      <a:pPr algn="ctr"/>
                      <a:r>
                        <a:rPr lang="it-IT" dirty="0"/>
                        <a:t>10</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545436331"/>
                  </a:ext>
                </a:extLst>
              </a:tr>
              <a:tr h="370840">
                <a:tc>
                  <a:txBody>
                    <a:bodyPr/>
                    <a:lstStyle/>
                    <a:p>
                      <a:pPr algn="ctr"/>
                      <a:r>
                        <a:rPr lang="it-IT" dirty="0"/>
                        <a:t>11</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3664168057"/>
                  </a:ext>
                </a:extLst>
              </a:tr>
              <a:tr h="370840">
                <a:tc>
                  <a:txBody>
                    <a:bodyPr/>
                    <a:lstStyle/>
                    <a:p>
                      <a:pPr algn="ctr"/>
                      <a:r>
                        <a:rPr lang="it-IT" dirty="0"/>
                        <a:t>12</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137315494"/>
                  </a:ext>
                </a:extLst>
              </a:tr>
            </a:tbl>
          </a:graphicData>
        </a:graphic>
      </p:graphicFrame>
      <p:sp>
        <p:nvSpPr>
          <p:cNvPr id="5" name="CasellaDiTesto 4">
            <a:extLst>
              <a:ext uri="{FF2B5EF4-FFF2-40B4-BE49-F238E27FC236}">
                <a16:creationId xmlns:a16="http://schemas.microsoft.com/office/drawing/2014/main" id="{1C0D3F40-0FA6-AE4B-B317-31946E90F809}"/>
              </a:ext>
            </a:extLst>
          </p:cNvPr>
          <p:cNvSpPr txBox="1"/>
          <p:nvPr/>
        </p:nvSpPr>
        <p:spPr>
          <a:xfrm>
            <a:off x="1138723" y="3402142"/>
            <a:ext cx="1444626" cy="369332"/>
          </a:xfrm>
          <a:prstGeom prst="rect">
            <a:avLst/>
          </a:prstGeom>
          <a:noFill/>
        </p:spPr>
        <p:txBody>
          <a:bodyPr wrap="none" rtlCol="0">
            <a:spAutoFit/>
          </a:bodyPr>
          <a:lstStyle/>
          <a:p>
            <a:r>
              <a:rPr lang="it-IT" dirty="0"/>
              <a:t>Lambda = 0.3</a:t>
            </a:r>
          </a:p>
        </p:txBody>
      </p:sp>
      <p:graphicFrame>
        <p:nvGraphicFramePr>
          <p:cNvPr id="6" name="Tabella 5">
            <a:extLst>
              <a:ext uri="{FF2B5EF4-FFF2-40B4-BE49-F238E27FC236}">
                <a16:creationId xmlns:a16="http://schemas.microsoft.com/office/drawing/2014/main" id="{58620517-8327-5E49-9C6A-8EB32CC9A36C}"/>
              </a:ext>
            </a:extLst>
          </p:cNvPr>
          <p:cNvGraphicFramePr>
            <a:graphicFrameLocks noGrp="1"/>
          </p:cNvGraphicFramePr>
          <p:nvPr/>
        </p:nvGraphicFramePr>
        <p:xfrm>
          <a:off x="994947" y="1608113"/>
          <a:ext cx="2086476" cy="1483360"/>
        </p:xfrm>
        <a:graphic>
          <a:graphicData uri="http://schemas.openxmlformats.org/drawingml/2006/table">
            <a:tbl>
              <a:tblPr firstRow="1" bandRow="1">
                <a:tableStyleId>{5C22544A-7EE6-4342-B048-85BDC9FD1C3A}</a:tableStyleId>
              </a:tblPr>
              <a:tblGrid>
                <a:gridCol w="521619">
                  <a:extLst>
                    <a:ext uri="{9D8B030D-6E8A-4147-A177-3AD203B41FA5}">
                      <a16:colId xmlns:a16="http://schemas.microsoft.com/office/drawing/2014/main" val="3007943972"/>
                    </a:ext>
                  </a:extLst>
                </a:gridCol>
                <a:gridCol w="521619">
                  <a:extLst>
                    <a:ext uri="{9D8B030D-6E8A-4147-A177-3AD203B41FA5}">
                      <a16:colId xmlns:a16="http://schemas.microsoft.com/office/drawing/2014/main" val="220923671"/>
                    </a:ext>
                  </a:extLst>
                </a:gridCol>
                <a:gridCol w="521619">
                  <a:extLst>
                    <a:ext uri="{9D8B030D-6E8A-4147-A177-3AD203B41FA5}">
                      <a16:colId xmlns:a16="http://schemas.microsoft.com/office/drawing/2014/main" val="1888354542"/>
                    </a:ext>
                  </a:extLst>
                </a:gridCol>
                <a:gridCol w="521619">
                  <a:extLst>
                    <a:ext uri="{9D8B030D-6E8A-4147-A177-3AD203B41FA5}">
                      <a16:colId xmlns:a16="http://schemas.microsoft.com/office/drawing/2014/main" val="2090727010"/>
                    </a:ext>
                  </a:extLst>
                </a:gridCol>
              </a:tblGrid>
              <a:tr h="370840">
                <a:tc>
                  <a:txBody>
                    <a:bodyPr/>
                    <a:lstStyle/>
                    <a:p>
                      <a:pPr algn="ctr"/>
                      <a:r>
                        <a:rPr lang="it-IT" dirty="0"/>
                        <a:t>id</a:t>
                      </a:r>
                    </a:p>
                  </a:txBody>
                  <a:tcPr/>
                </a:tc>
                <a:tc>
                  <a:txBody>
                    <a:bodyPr/>
                    <a:lstStyle/>
                    <a:p>
                      <a:pPr algn="ctr"/>
                      <a:r>
                        <a:rPr lang="it-IT" dirty="0"/>
                        <a:t>X</a:t>
                      </a:r>
                      <a:r>
                        <a:rPr lang="it-IT" baseline="-25000" dirty="0"/>
                        <a:t>1</a:t>
                      </a:r>
                    </a:p>
                  </a:txBody>
                  <a:tcPr/>
                </a:tc>
                <a:tc>
                  <a:txBody>
                    <a:bodyPr/>
                    <a:lstStyle/>
                    <a:p>
                      <a:pPr algn="ctr"/>
                      <a:r>
                        <a:rPr lang="it-IT" dirty="0"/>
                        <a:t>X</a:t>
                      </a:r>
                      <a:r>
                        <a:rPr lang="it-IT" baseline="-25000" dirty="0"/>
                        <a:t>2</a:t>
                      </a:r>
                      <a:endParaRPr lang="it-IT" dirty="0"/>
                    </a:p>
                  </a:txBody>
                  <a:tcPr/>
                </a:tc>
                <a:tc>
                  <a:txBody>
                    <a:bodyPr/>
                    <a:lstStyle/>
                    <a:p>
                      <a:pPr algn="ctr"/>
                      <a:r>
                        <a:rPr lang="it-IT" dirty="0"/>
                        <a:t>Y</a:t>
                      </a:r>
                    </a:p>
                  </a:txBody>
                  <a:tcPr/>
                </a:tc>
                <a:extLst>
                  <a:ext uri="{0D108BD9-81ED-4DB2-BD59-A6C34878D82A}">
                    <a16:rowId xmlns:a16="http://schemas.microsoft.com/office/drawing/2014/main" val="647644152"/>
                  </a:ext>
                </a:extLst>
              </a:tr>
              <a:tr h="370840">
                <a:tc>
                  <a:txBody>
                    <a:bodyPr/>
                    <a:lstStyle/>
                    <a:p>
                      <a:pPr algn="ctr"/>
                      <a:r>
                        <a:rPr lang="it-IT" dirty="0"/>
                        <a:t>a</a:t>
                      </a:r>
                    </a:p>
                  </a:txBody>
                  <a:tcPr/>
                </a:tc>
                <a:tc>
                  <a:txBody>
                    <a:bodyPr/>
                    <a:lstStyle/>
                    <a:p>
                      <a:pPr algn="ctr"/>
                      <a:r>
                        <a:rPr lang="it-IT" dirty="0"/>
                        <a:t>0</a:t>
                      </a:r>
                    </a:p>
                  </a:txBody>
                  <a:tcPr/>
                </a:tc>
                <a:tc>
                  <a:txBody>
                    <a:bodyPr/>
                    <a:lstStyle/>
                    <a:p>
                      <a:pPr algn="ctr"/>
                      <a:r>
                        <a:rPr lang="it-IT" dirty="0"/>
                        <a:t>1</a:t>
                      </a:r>
                    </a:p>
                  </a:txBody>
                  <a:tcPr/>
                </a:tc>
                <a:tc>
                  <a:txBody>
                    <a:bodyPr/>
                    <a:lstStyle/>
                    <a:p>
                      <a:pPr algn="ctr"/>
                      <a:r>
                        <a:rPr lang="it-IT" dirty="0"/>
                        <a:t>-1</a:t>
                      </a:r>
                    </a:p>
                  </a:txBody>
                  <a:tcPr/>
                </a:tc>
                <a:extLst>
                  <a:ext uri="{0D108BD9-81ED-4DB2-BD59-A6C34878D82A}">
                    <a16:rowId xmlns:a16="http://schemas.microsoft.com/office/drawing/2014/main" val="3006406211"/>
                  </a:ext>
                </a:extLst>
              </a:tr>
              <a:tr h="370840">
                <a:tc>
                  <a:txBody>
                    <a:bodyPr/>
                    <a:lstStyle/>
                    <a:p>
                      <a:pPr algn="ctr"/>
                      <a:r>
                        <a:rPr lang="it-IT" dirty="0"/>
                        <a:t>b</a:t>
                      </a:r>
                    </a:p>
                  </a:txBody>
                  <a:tcPr/>
                </a:tc>
                <a:tc>
                  <a:txBody>
                    <a:bodyPr/>
                    <a:lstStyle/>
                    <a:p>
                      <a:pPr algn="ctr"/>
                      <a:r>
                        <a:rPr lang="it-IT" dirty="0"/>
                        <a:t>0</a:t>
                      </a:r>
                    </a:p>
                  </a:txBody>
                  <a:tcPr/>
                </a:tc>
                <a:tc>
                  <a:txBody>
                    <a:bodyPr/>
                    <a:lstStyle/>
                    <a:p>
                      <a:pPr algn="ctr"/>
                      <a:r>
                        <a:rPr lang="it-IT" dirty="0"/>
                        <a:t>0</a:t>
                      </a:r>
                    </a:p>
                  </a:txBody>
                  <a:tcPr/>
                </a:tc>
                <a:tc>
                  <a:txBody>
                    <a:bodyPr/>
                    <a:lstStyle/>
                    <a:p>
                      <a:pPr algn="ctr"/>
                      <a:r>
                        <a:rPr lang="it-IT" dirty="0"/>
                        <a:t>1</a:t>
                      </a:r>
                    </a:p>
                  </a:txBody>
                  <a:tcPr/>
                </a:tc>
                <a:extLst>
                  <a:ext uri="{0D108BD9-81ED-4DB2-BD59-A6C34878D82A}">
                    <a16:rowId xmlns:a16="http://schemas.microsoft.com/office/drawing/2014/main" val="1442248098"/>
                  </a:ext>
                </a:extLst>
              </a:tr>
              <a:tr h="370840">
                <a:tc>
                  <a:txBody>
                    <a:bodyPr/>
                    <a:lstStyle/>
                    <a:p>
                      <a:pPr algn="ctr"/>
                      <a:r>
                        <a:rPr lang="it-IT" dirty="0"/>
                        <a:t>c</a:t>
                      </a:r>
                    </a:p>
                  </a:txBody>
                  <a:tcPr/>
                </a:tc>
                <a:tc>
                  <a:txBody>
                    <a:bodyPr/>
                    <a:lstStyle/>
                    <a:p>
                      <a:pPr algn="ctr"/>
                      <a:r>
                        <a:rPr lang="it-IT" dirty="0"/>
                        <a:t>1</a:t>
                      </a:r>
                    </a:p>
                  </a:txBody>
                  <a:tcPr/>
                </a:tc>
                <a:tc>
                  <a:txBody>
                    <a:bodyPr/>
                    <a:lstStyle/>
                    <a:p>
                      <a:pPr algn="ctr"/>
                      <a:r>
                        <a:rPr lang="it-IT" dirty="0"/>
                        <a:t>2</a:t>
                      </a:r>
                    </a:p>
                  </a:txBody>
                  <a:tcPr/>
                </a:tc>
                <a:tc>
                  <a:txBody>
                    <a:bodyPr/>
                    <a:lstStyle/>
                    <a:p>
                      <a:pPr algn="ctr"/>
                      <a:r>
                        <a:rPr lang="it-IT" dirty="0"/>
                        <a:t>-1</a:t>
                      </a:r>
                    </a:p>
                  </a:txBody>
                  <a:tcPr/>
                </a:tc>
                <a:extLst>
                  <a:ext uri="{0D108BD9-81ED-4DB2-BD59-A6C34878D82A}">
                    <a16:rowId xmlns:a16="http://schemas.microsoft.com/office/drawing/2014/main" val="4095835177"/>
                  </a:ext>
                </a:extLst>
              </a:tr>
            </a:tbl>
          </a:graphicData>
        </a:graphic>
      </p:graphicFrame>
      <p:sp>
        <p:nvSpPr>
          <p:cNvPr id="7" name="CasellaDiTesto 6">
            <a:extLst>
              <a:ext uri="{FF2B5EF4-FFF2-40B4-BE49-F238E27FC236}">
                <a16:creationId xmlns:a16="http://schemas.microsoft.com/office/drawing/2014/main" id="{927C77E6-5F33-8046-9F2E-9975A8958726}"/>
              </a:ext>
            </a:extLst>
          </p:cNvPr>
          <p:cNvSpPr txBox="1"/>
          <p:nvPr/>
        </p:nvSpPr>
        <p:spPr>
          <a:xfrm>
            <a:off x="1436079" y="3840407"/>
            <a:ext cx="849913" cy="369332"/>
          </a:xfrm>
          <a:prstGeom prst="rect">
            <a:avLst/>
          </a:prstGeom>
          <a:noFill/>
        </p:spPr>
        <p:txBody>
          <a:bodyPr wrap="none" rtlCol="0">
            <a:spAutoFit/>
          </a:bodyPr>
          <a:lstStyle/>
          <a:p>
            <a:r>
              <a:rPr lang="it-IT" dirty="0"/>
              <a:t>f = </a:t>
            </a:r>
            <a:r>
              <a:rPr lang="it-IT" dirty="0" err="1"/>
              <a:t>sign</a:t>
            </a:r>
            <a:endParaRPr lang="it-IT" dirty="0"/>
          </a:p>
        </p:txBody>
      </p:sp>
      <p:cxnSp>
        <p:nvCxnSpPr>
          <p:cNvPr id="8" name="Connettore 2 7">
            <a:extLst>
              <a:ext uri="{FF2B5EF4-FFF2-40B4-BE49-F238E27FC236}">
                <a16:creationId xmlns:a16="http://schemas.microsoft.com/office/drawing/2014/main" id="{12F20BFB-0D77-9145-918E-4D8756B357A4}"/>
              </a:ext>
            </a:extLst>
          </p:cNvPr>
          <p:cNvCxnSpPr>
            <a:cxnSpLocks/>
          </p:cNvCxnSpPr>
          <p:nvPr/>
        </p:nvCxnSpPr>
        <p:spPr>
          <a:xfrm flipH="1">
            <a:off x="2911938" y="207328"/>
            <a:ext cx="833083" cy="133121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nettore 2 8">
            <a:extLst>
              <a:ext uri="{FF2B5EF4-FFF2-40B4-BE49-F238E27FC236}">
                <a16:creationId xmlns:a16="http://schemas.microsoft.com/office/drawing/2014/main" id="{8978B345-8132-514F-B832-DA5FA6B463E8}"/>
              </a:ext>
            </a:extLst>
          </p:cNvPr>
          <p:cNvCxnSpPr>
            <a:cxnSpLocks/>
          </p:cNvCxnSpPr>
          <p:nvPr/>
        </p:nvCxnSpPr>
        <p:spPr>
          <a:xfrm>
            <a:off x="3745021" y="207328"/>
            <a:ext cx="4295736" cy="1233846"/>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0" name="Object 2">
            <a:extLst>
              <a:ext uri="{FF2B5EF4-FFF2-40B4-BE49-F238E27FC236}">
                <a16:creationId xmlns:a16="http://schemas.microsoft.com/office/drawing/2014/main" id="{CB2E28DB-9FC5-6E4F-8E29-8DA5EEB5ACB6}"/>
              </a:ext>
            </a:extLst>
          </p:cNvPr>
          <p:cNvGraphicFramePr>
            <a:graphicFrameLocks noChangeAspect="1"/>
          </p:cNvGraphicFramePr>
          <p:nvPr/>
        </p:nvGraphicFramePr>
        <p:xfrm>
          <a:off x="4160783" y="137754"/>
          <a:ext cx="7620000" cy="555625"/>
        </p:xfrm>
        <a:graphic>
          <a:graphicData uri="http://schemas.openxmlformats.org/presentationml/2006/ole">
            <mc:AlternateContent xmlns:mc="http://schemas.openxmlformats.org/markup-compatibility/2006">
              <mc:Choice xmlns:v="urn:schemas-microsoft-com:vml" Requires="v">
                <p:oleObj name="Equation" r:id="rId2" imgW="3213100" imgH="241300" progId="Equation.3">
                  <p:embed/>
                </p:oleObj>
              </mc:Choice>
              <mc:Fallback>
                <p:oleObj name="Equation" r:id="rId2" imgW="3213100" imgH="241300" progId="Equation.3">
                  <p:embed/>
                  <p:pic>
                    <p:nvPicPr>
                      <p:cNvPr id="10" name="Object 2">
                        <a:extLst>
                          <a:ext uri="{FF2B5EF4-FFF2-40B4-BE49-F238E27FC236}">
                            <a16:creationId xmlns:a16="http://schemas.microsoft.com/office/drawing/2014/main" id="{CB2E28DB-9FC5-6E4F-8E29-8DA5EEB5AC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0783" y="137754"/>
                        <a:ext cx="76200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8424886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6EC64A-1F68-7243-81CC-935E096D57EB}"/>
              </a:ext>
            </a:extLst>
          </p:cNvPr>
          <p:cNvSpPr>
            <a:spLocks noGrp="1"/>
          </p:cNvSpPr>
          <p:nvPr>
            <p:ph type="title"/>
          </p:nvPr>
        </p:nvSpPr>
        <p:spPr/>
        <p:txBody>
          <a:bodyPr/>
          <a:lstStyle/>
          <a:p>
            <a:r>
              <a:rPr lang="it-IT" dirty="0"/>
              <a:t>Train Linear </a:t>
            </a:r>
            <a:r>
              <a:rPr lang="it-IT" dirty="0" err="1"/>
              <a:t>Perceptron</a:t>
            </a:r>
            <a:endParaRPr lang="it-IT" dirty="0"/>
          </a:p>
        </p:txBody>
      </p:sp>
      <p:graphicFrame>
        <p:nvGraphicFramePr>
          <p:cNvPr id="4" name="Tabella 3">
            <a:extLst>
              <a:ext uri="{FF2B5EF4-FFF2-40B4-BE49-F238E27FC236}">
                <a16:creationId xmlns:a16="http://schemas.microsoft.com/office/drawing/2014/main" id="{0398B540-D1C9-3745-A9F4-F0AF9C7282A6}"/>
              </a:ext>
            </a:extLst>
          </p:cNvPr>
          <p:cNvGraphicFramePr>
            <a:graphicFrameLocks noGrp="1"/>
          </p:cNvGraphicFramePr>
          <p:nvPr/>
        </p:nvGraphicFramePr>
        <p:xfrm>
          <a:off x="3755463" y="1538539"/>
          <a:ext cx="8025320" cy="4820920"/>
        </p:xfrm>
        <a:graphic>
          <a:graphicData uri="http://schemas.openxmlformats.org/drawingml/2006/table">
            <a:tbl>
              <a:tblPr firstRow="1" bandRow="1">
                <a:tableStyleId>{5C22544A-7EE6-4342-B048-85BDC9FD1C3A}</a:tableStyleId>
              </a:tblPr>
              <a:tblGrid>
                <a:gridCol w="802532">
                  <a:extLst>
                    <a:ext uri="{9D8B030D-6E8A-4147-A177-3AD203B41FA5}">
                      <a16:colId xmlns:a16="http://schemas.microsoft.com/office/drawing/2014/main" val="3007943972"/>
                    </a:ext>
                  </a:extLst>
                </a:gridCol>
                <a:gridCol w="802532">
                  <a:extLst>
                    <a:ext uri="{9D8B030D-6E8A-4147-A177-3AD203B41FA5}">
                      <a16:colId xmlns:a16="http://schemas.microsoft.com/office/drawing/2014/main" val="220923671"/>
                    </a:ext>
                  </a:extLst>
                </a:gridCol>
                <a:gridCol w="802532">
                  <a:extLst>
                    <a:ext uri="{9D8B030D-6E8A-4147-A177-3AD203B41FA5}">
                      <a16:colId xmlns:a16="http://schemas.microsoft.com/office/drawing/2014/main" val="1888354542"/>
                    </a:ext>
                  </a:extLst>
                </a:gridCol>
                <a:gridCol w="802532">
                  <a:extLst>
                    <a:ext uri="{9D8B030D-6E8A-4147-A177-3AD203B41FA5}">
                      <a16:colId xmlns:a16="http://schemas.microsoft.com/office/drawing/2014/main" val="4183561819"/>
                    </a:ext>
                  </a:extLst>
                </a:gridCol>
                <a:gridCol w="802532">
                  <a:extLst>
                    <a:ext uri="{9D8B030D-6E8A-4147-A177-3AD203B41FA5}">
                      <a16:colId xmlns:a16="http://schemas.microsoft.com/office/drawing/2014/main" val="2090727010"/>
                    </a:ext>
                  </a:extLst>
                </a:gridCol>
                <a:gridCol w="802532">
                  <a:extLst>
                    <a:ext uri="{9D8B030D-6E8A-4147-A177-3AD203B41FA5}">
                      <a16:colId xmlns:a16="http://schemas.microsoft.com/office/drawing/2014/main" val="1559798696"/>
                    </a:ext>
                  </a:extLst>
                </a:gridCol>
                <a:gridCol w="802532">
                  <a:extLst>
                    <a:ext uri="{9D8B030D-6E8A-4147-A177-3AD203B41FA5}">
                      <a16:colId xmlns:a16="http://schemas.microsoft.com/office/drawing/2014/main" val="3564938619"/>
                    </a:ext>
                  </a:extLst>
                </a:gridCol>
                <a:gridCol w="802532">
                  <a:extLst>
                    <a:ext uri="{9D8B030D-6E8A-4147-A177-3AD203B41FA5}">
                      <a16:colId xmlns:a16="http://schemas.microsoft.com/office/drawing/2014/main" val="2640809818"/>
                    </a:ext>
                  </a:extLst>
                </a:gridCol>
                <a:gridCol w="802532">
                  <a:extLst>
                    <a:ext uri="{9D8B030D-6E8A-4147-A177-3AD203B41FA5}">
                      <a16:colId xmlns:a16="http://schemas.microsoft.com/office/drawing/2014/main" val="4147220622"/>
                    </a:ext>
                  </a:extLst>
                </a:gridCol>
                <a:gridCol w="802532">
                  <a:extLst>
                    <a:ext uri="{9D8B030D-6E8A-4147-A177-3AD203B41FA5}">
                      <a16:colId xmlns:a16="http://schemas.microsoft.com/office/drawing/2014/main" val="1678705754"/>
                    </a:ext>
                  </a:extLst>
                </a:gridCol>
              </a:tblGrid>
              <a:tr h="370840">
                <a:tc>
                  <a:txBody>
                    <a:bodyPr/>
                    <a:lstStyle/>
                    <a:p>
                      <a:pPr algn="ctr"/>
                      <a:r>
                        <a:rPr lang="it-IT" dirty="0" err="1"/>
                        <a:t>it</a:t>
                      </a:r>
                      <a:endParaRPr lang="it-IT" dirty="0"/>
                    </a:p>
                  </a:txBody>
                  <a:tcPr/>
                </a:tc>
                <a:tc>
                  <a:txBody>
                    <a:bodyPr/>
                    <a:lstStyle/>
                    <a:p>
                      <a:pPr algn="ctr"/>
                      <a:r>
                        <a:rPr lang="it-IT" baseline="0" dirty="0"/>
                        <a:t>W</a:t>
                      </a:r>
                      <a:r>
                        <a:rPr lang="it-IT" baseline="-25000" dirty="0"/>
                        <a:t>0</a:t>
                      </a:r>
                    </a:p>
                  </a:txBody>
                  <a:tcPr/>
                </a:tc>
                <a:tc>
                  <a:txBody>
                    <a:bodyPr/>
                    <a:lstStyle/>
                    <a:p>
                      <a:pPr algn="ctr"/>
                      <a:r>
                        <a:rPr lang="it-IT" baseline="0" dirty="0"/>
                        <a:t>W</a:t>
                      </a:r>
                      <a:r>
                        <a:rPr lang="it-IT" baseline="-25000" dirty="0"/>
                        <a:t>1</a:t>
                      </a:r>
                    </a:p>
                  </a:txBody>
                  <a:tcPr/>
                </a:tc>
                <a:tc>
                  <a:txBody>
                    <a:bodyPr/>
                    <a:lstStyle/>
                    <a:p>
                      <a:pPr algn="ctr"/>
                      <a:r>
                        <a:rPr lang="it-IT" baseline="0" dirty="0"/>
                        <a:t>W</a:t>
                      </a:r>
                      <a:r>
                        <a:rPr lang="it-IT" baseline="-25000" dirty="0"/>
                        <a:t>2</a:t>
                      </a:r>
                    </a:p>
                  </a:txBody>
                  <a:tcPr/>
                </a:tc>
                <a:tc>
                  <a:txBody>
                    <a:bodyPr/>
                    <a:lstStyle/>
                    <a:p>
                      <a:pPr algn="ctr"/>
                      <a:r>
                        <a:rPr lang="it-IT" dirty="0"/>
                        <a:t>X.W</a:t>
                      </a:r>
                    </a:p>
                  </a:txBody>
                  <a:tcPr/>
                </a:tc>
                <a:tc>
                  <a:txBody>
                    <a:bodyPr/>
                    <a:lstStyle/>
                    <a:p>
                      <a:pPr algn="ctr"/>
                      <a:r>
                        <a:rPr lang="it-IT" dirty="0" err="1"/>
                        <a:t>f</a:t>
                      </a:r>
                      <a:r>
                        <a:rPr lang="it-IT" dirty="0"/>
                        <a:t>(X.W)</a:t>
                      </a:r>
                    </a:p>
                  </a:txBody>
                  <a:tcPr/>
                </a:tc>
                <a:tc>
                  <a:txBody>
                    <a:bodyPr/>
                    <a:lstStyle/>
                    <a:p>
                      <a:pPr algn="ctr"/>
                      <a:r>
                        <a:rPr lang="it-IT" dirty="0" err="1"/>
                        <a:t>error</a:t>
                      </a:r>
                      <a:endParaRPr lang="it-IT" dirty="0"/>
                    </a:p>
                  </a:txBody>
                  <a:tcPr/>
                </a:tc>
                <a:tc>
                  <a:txBody>
                    <a:bodyPr/>
                    <a:lstStyle/>
                    <a:p>
                      <a:pPr algn="ctr"/>
                      <a:r>
                        <a:rPr lang="it-IT" dirty="0"/>
                        <a:t>delta</a:t>
                      </a:r>
                      <a:r>
                        <a:rPr lang="it-IT" baseline="-25000"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2</a:t>
                      </a:r>
                    </a:p>
                  </a:txBody>
                  <a:tcPr/>
                </a:tc>
                <a:extLst>
                  <a:ext uri="{0D108BD9-81ED-4DB2-BD59-A6C34878D82A}">
                    <a16:rowId xmlns:a16="http://schemas.microsoft.com/office/drawing/2014/main" val="647644152"/>
                  </a:ext>
                </a:extLst>
              </a:tr>
              <a:tr h="370840">
                <a:tc>
                  <a:txBody>
                    <a:bodyPr/>
                    <a:lstStyle/>
                    <a:p>
                      <a:pPr algn="ctr"/>
                      <a:r>
                        <a:rPr lang="it-IT" dirty="0"/>
                        <a:t>1</a:t>
                      </a:r>
                    </a:p>
                  </a:txBody>
                  <a:tcPr/>
                </a:tc>
                <a:tc>
                  <a:txBody>
                    <a:bodyPr/>
                    <a:lstStyle/>
                    <a:p>
                      <a:pPr algn="ctr"/>
                      <a:r>
                        <a:rPr lang="it-IT" dirty="0"/>
                        <a:t>-1</a:t>
                      </a:r>
                    </a:p>
                  </a:txBody>
                  <a:tcPr/>
                </a:tc>
                <a:tc>
                  <a:txBody>
                    <a:bodyPr/>
                    <a:lstStyle/>
                    <a:p>
                      <a:pPr algn="ctr"/>
                      <a:r>
                        <a:rPr lang="it-IT" dirty="0"/>
                        <a:t>0</a:t>
                      </a:r>
                    </a:p>
                  </a:txBody>
                  <a:tcPr/>
                </a:tc>
                <a:tc>
                  <a:txBody>
                    <a:bodyPr/>
                    <a:lstStyle/>
                    <a:p>
                      <a:pPr algn="ctr"/>
                      <a:r>
                        <a:rPr lang="it-IT" dirty="0"/>
                        <a:t>0</a:t>
                      </a:r>
                    </a:p>
                  </a:txBody>
                  <a:tcPr/>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3006406211"/>
                  </a:ext>
                </a:extLst>
              </a:tr>
              <a:tr h="370840">
                <a:tc>
                  <a:txBody>
                    <a:bodyPr/>
                    <a:lstStyle/>
                    <a:p>
                      <a:pPr algn="ctr"/>
                      <a:r>
                        <a:rPr lang="it-IT" dirty="0"/>
                        <a:t>2</a:t>
                      </a:r>
                    </a:p>
                  </a:txBody>
                  <a:tcPr/>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442248098"/>
                  </a:ext>
                </a:extLst>
              </a:tr>
              <a:tr h="370840">
                <a:tc>
                  <a:txBody>
                    <a:bodyPr/>
                    <a:lstStyle/>
                    <a:p>
                      <a:pPr algn="ctr"/>
                      <a:r>
                        <a:rPr lang="it-IT" dirty="0"/>
                        <a:t>3</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4095835177"/>
                  </a:ext>
                </a:extLst>
              </a:tr>
              <a:tr h="370840">
                <a:tc>
                  <a:txBody>
                    <a:bodyPr/>
                    <a:lstStyle/>
                    <a:p>
                      <a:pPr algn="ctr"/>
                      <a:r>
                        <a:rPr lang="it-IT" dirty="0"/>
                        <a:t>4</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437626370"/>
                  </a:ext>
                </a:extLst>
              </a:tr>
              <a:tr h="370840">
                <a:tc>
                  <a:txBody>
                    <a:bodyPr/>
                    <a:lstStyle/>
                    <a:p>
                      <a:pPr algn="ctr"/>
                      <a:r>
                        <a:rPr lang="it-IT" dirty="0"/>
                        <a:t>5</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3459893937"/>
                  </a:ext>
                </a:extLst>
              </a:tr>
              <a:tr h="370840">
                <a:tc>
                  <a:txBody>
                    <a:bodyPr/>
                    <a:lstStyle/>
                    <a:p>
                      <a:pPr algn="ctr"/>
                      <a:r>
                        <a:rPr lang="it-IT" dirty="0"/>
                        <a:t>6</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26436750"/>
                  </a:ext>
                </a:extLst>
              </a:tr>
              <a:tr h="370840">
                <a:tc>
                  <a:txBody>
                    <a:bodyPr/>
                    <a:lstStyle/>
                    <a:p>
                      <a:pPr algn="ctr"/>
                      <a:r>
                        <a:rPr lang="it-IT" dirty="0"/>
                        <a:t>7</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290132517"/>
                  </a:ext>
                </a:extLst>
              </a:tr>
              <a:tr h="370840">
                <a:tc>
                  <a:txBody>
                    <a:bodyPr/>
                    <a:lstStyle/>
                    <a:p>
                      <a:pPr algn="ctr"/>
                      <a:r>
                        <a:rPr lang="it-IT" dirty="0"/>
                        <a:t>8</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380738723"/>
                  </a:ext>
                </a:extLst>
              </a:tr>
              <a:tr h="370840">
                <a:tc>
                  <a:txBody>
                    <a:bodyPr/>
                    <a:lstStyle/>
                    <a:p>
                      <a:pPr algn="ctr"/>
                      <a:r>
                        <a:rPr lang="it-IT" dirty="0"/>
                        <a:t>9</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19150045"/>
                  </a:ext>
                </a:extLst>
              </a:tr>
              <a:tr h="370840">
                <a:tc>
                  <a:txBody>
                    <a:bodyPr/>
                    <a:lstStyle/>
                    <a:p>
                      <a:pPr algn="ctr"/>
                      <a:r>
                        <a:rPr lang="it-IT" dirty="0"/>
                        <a:t>10</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545436331"/>
                  </a:ext>
                </a:extLst>
              </a:tr>
              <a:tr h="370840">
                <a:tc>
                  <a:txBody>
                    <a:bodyPr/>
                    <a:lstStyle/>
                    <a:p>
                      <a:pPr algn="ctr"/>
                      <a:r>
                        <a:rPr lang="it-IT" dirty="0"/>
                        <a:t>11</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3664168057"/>
                  </a:ext>
                </a:extLst>
              </a:tr>
              <a:tr h="370840">
                <a:tc>
                  <a:txBody>
                    <a:bodyPr/>
                    <a:lstStyle/>
                    <a:p>
                      <a:pPr algn="ctr"/>
                      <a:r>
                        <a:rPr lang="it-IT" dirty="0"/>
                        <a:t>12</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137315494"/>
                  </a:ext>
                </a:extLst>
              </a:tr>
            </a:tbl>
          </a:graphicData>
        </a:graphic>
      </p:graphicFrame>
      <p:sp>
        <p:nvSpPr>
          <p:cNvPr id="5" name="CasellaDiTesto 4">
            <a:extLst>
              <a:ext uri="{FF2B5EF4-FFF2-40B4-BE49-F238E27FC236}">
                <a16:creationId xmlns:a16="http://schemas.microsoft.com/office/drawing/2014/main" id="{1C0D3F40-0FA6-AE4B-B317-31946E90F809}"/>
              </a:ext>
            </a:extLst>
          </p:cNvPr>
          <p:cNvSpPr txBox="1"/>
          <p:nvPr/>
        </p:nvSpPr>
        <p:spPr>
          <a:xfrm>
            <a:off x="1138723" y="3402142"/>
            <a:ext cx="1444626" cy="369332"/>
          </a:xfrm>
          <a:prstGeom prst="rect">
            <a:avLst/>
          </a:prstGeom>
          <a:noFill/>
        </p:spPr>
        <p:txBody>
          <a:bodyPr wrap="none" rtlCol="0">
            <a:spAutoFit/>
          </a:bodyPr>
          <a:lstStyle/>
          <a:p>
            <a:r>
              <a:rPr lang="it-IT" dirty="0"/>
              <a:t>Lambda = 0.3</a:t>
            </a:r>
          </a:p>
        </p:txBody>
      </p:sp>
      <p:graphicFrame>
        <p:nvGraphicFramePr>
          <p:cNvPr id="6" name="Tabella 5">
            <a:extLst>
              <a:ext uri="{FF2B5EF4-FFF2-40B4-BE49-F238E27FC236}">
                <a16:creationId xmlns:a16="http://schemas.microsoft.com/office/drawing/2014/main" id="{58620517-8327-5E49-9C6A-8EB32CC9A36C}"/>
              </a:ext>
            </a:extLst>
          </p:cNvPr>
          <p:cNvGraphicFramePr>
            <a:graphicFrameLocks noGrp="1"/>
          </p:cNvGraphicFramePr>
          <p:nvPr/>
        </p:nvGraphicFramePr>
        <p:xfrm>
          <a:off x="994947" y="1608113"/>
          <a:ext cx="2086476" cy="1483360"/>
        </p:xfrm>
        <a:graphic>
          <a:graphicData uri="http://schemas.openxmlformats.org/drawingml/2006/table">
            <a:tbl>
              <a:tblPr firstRow="1" bandRow="1">
                <a:tableStyleId>{5C22544A-7EE6-4342-B048-85BDC9FD1C3A}</a:tableStyleId>
              </a:tblPr>
              <a:tblGrid>
                <a:gridCol w="521619">
                  <a:extLst>
                    <a:ext uri="{9D8B030D-6E8A-4147-A177-3AD203B41FA5}">
                      <a16:colId xmlns:a16="http://schemas.microsoft.com/office/drawing/2014/main" val="3007943972"/>
                    </a:ext>
                  </a:extLst>
                </a:gridCol>
                <a:gridCol w="521619">
                  <a:extLst>
                    <a:ext uri="{9D8B030D-6E8A-4147-A177-3AD203B41FA5}">
                      <a16:colId xmlns:a16="http://schemas.microsoft.com/office/drawing/2014/main" val="220923671"/>
                    </a:ext>
                  </a:extLst>
                </a:gridCol>
                <a:gridCol w="521619">
                  <a:extLst>
                    <a:ext uri="{9D8B030D-6E8A-4147-A177-3AD203B41FA5}">
                      <a16:colId xmlns:a16="http://schemas.microsoft.com/office/drawing/2014/main" val="1888354542"/>
                    </a:ext>
                  </a:extLst>
                </a:gridCol>
                <a:gridCol w="521619">
                  <a:extLst>
                    <a:ext uri="{9D8B030D-6E8A-4147-A177-3AD203B41FA5}">
                      <a16:colId xmlns:a16="http://schemas.microsoft.com/office/drawing/2014/main" val="2090727010"/>
                    </a:ext>
                  </a:extLst>
                </a:gridCol>
              </a:tblGrid>
              <a:tr h="370840">
                <a:tc>
                  <a:txBody>
                    <a:bodyPr/>
                    <a:lstStyle/>
                    <a:p>
                      <a:pPr algn="ctr"/>
                      <a:r>
                        <a:rPr lang="it-IT" dirty="0"/>
                        <a:t>id</a:t>
                      </a:r>
                    </a:p>
                  </a:txBody>
                  <a:tcPr/>
                </a:tc>
                <a:tc>
                  <a:txBody>
                    <a:bodyPr/>
                    <a:lstStyle/>
                    <a:p>
                      <a:pPr algn="ctr"/>
                      <a:r>
                        <a:rPr lang="it-IT" dirty="0"/>
                        <a:t>X</a:t>
                      </a:r>
                      <a:r>
                        <a:rPr lang="it-IT" baseline="-25000" dirty="0"/>
                        <a:t>1</a:t>
                      </a:r>
                    </a:p>
                  </a:txBody>
                  <a:tcPr/>
                </a:tc>
                <a:tc>
                  <a:txBody>
                    <a:bodyPr/>
                    <a:lstStyle/>
                    <a:p>
                      <a:pPr algn="ctr"/>
                      <a:r>
                        <a:rPr lang="it-IT" dirty="0"/>
                        <a:t>X</a:t>
                      </a:r>
                      <a:r>
                        <a:rPr lang="it-IT" baseline="-25000" dirty="0"/>
                        <a:t>2</a:t>
                      </a:r>
                      <a:endParaRPr lang="it-IT" dirty="0"/>
                    </a:p>
                  </a:txBody>
                  <a:tcPr/>
                </a:tc>
                <a:tc>
                  <a:txBody>
                    <a:bodyPr/>
                    <a:lstStyle/>
                    <a:p>
                      <a:pPr algn="ctr"/>
                      <a:r>
                        <a:rPr lang="it-IT" dirty="0"/>
                        <a:t>Y</a:t>
                      </a:r>
                    </a:p>
                  </a:txBody>
                  <a:tcPr/>
                </a:tc>
                <a:extLst>
                  <a:ext uri="{0D108BD9-81ED-4DB2-BD59-A6C34878D82A}">
                    <a16:rowId xmlns:a16="http://schemas.microsoft.com/office/drawing/2014/main" val="647644152"/>
                  </a:ext>
                </a:extLst>
              </a:tr>
              <a:tr h="370840">
                <a:tc>
                  <a:txBody>
                    <a:bodyPr/>
                    <a:lstStyle/>
                    <a:p>
                      <a:pPr algn="ctr"/>
                      <a:r>
                        <a:rPr lang="it-IT" dirty="0"/>
                        <a:t>a</a:t>
                      </a:r>
                    </a:p>
                  </a:txBody>
                  <a:tcPr/>
                </a:tc>
                <a:tc>
                  <a:txBody>
                    <a:bodyPr/>
                    <a:lstStyle/>
                    <a:p>
                      <a:pPr algn="ctr"/>
                      <a:r>
                        <a:rPr lang="it-IT" dirty="0"/>
                        <a:t>0</a:t>
                      </a:r>
                    </a:p>
                  </a:txBody>
                  <a:tcPr/>
                </a:tc>
                <a:tc>
                  <a:txBody>
                    <a:bodyPr/>
                    <a:lstStyle/>
                    <a:p>
                      <a:pPr algn="ctr"/>
                      <a:r>
                        <a:rPr lang="it-IT" dirty="0"/>
                        <a:t>1</a:t>
                      </a:r>
                    </a:p>
                  </a:txBody>
                  <a:tcPr/>
                </a:tc>
                <a:tc>
                  <a:txBody>
                    <a:bodyPr/>
                    <a:lstStyle/>
                    <a:p>
                      <a:pPr algn="ctr"/>
                      <a:r>
                        <a:rPr lang="it-IT" dirty="0"/>
                        <a:t>-1</a:t>
                      </a:r>
                    </a:p>
                  </a:txBody>
                  <a:tcPr/>
                </a:tc>
                <a:extLst>
                  <a:ext uri="{0D108BD9-81ED-4DB2-BD59-A6C34878D82A}">
                    <a16:rowId xmlns:a16="http://schemas.microsoft.com/office/drawing/2014/main" val="3006406211"/>
                  </a:ext>
                </a:extLst>
              </a:tr>
              <a:tr h="370840">
                <a:tc>
                  <a:txBody>
                    <a:bodyPr/>
                    <a:lstStyle/>
                    <a:p>
                      <a:pPr algn="ctr"/>
                      <a:r>
                        <a:rPr lang="it-IT" dirty="0"/>
                        <a:t>b</a:t>
                      </a:r>
                    </a:p>
                  </a:txBody>
                  <a:tcPr/>
                </a:tc>
                <a:tc>
                  <a:txBody>
                    <a:bodyPr/>
                    <a:lstStyle/>
                    <a:p>
                      <a:pPr algn="ctr"/>
                      <a:r>
                        <a:rPr lang="it-IT" dirty="0"/>
                        <a:t>0</a:t>
                      </a:r>
                    </a:p>
                  </a:txBody>
                  <a:tcPr/>
                </a:tc>
                <a:tc>
                  <a:txBody>
                    <a:bodyPr/>
                    <a:lstStyle/>
                    <a:p>
                      <a:pPr algn="ctr"/>
                      <a:r>
                        <a:rPr lang="it-IT" dirty="0"/>
                        <a:t>0</a:t>
                      </a:r>
                    </a:p>
                  </a:txBody>
                  <a:tcPr/>
                </a:tc>
                <a:tc>
                  <a:txBody>
                    <a:bodyPr/>
                    <a:lstStyle/>
                    <a:p>
                      <a:pPr algn="ctr"/>
                      <a:r>
                        <a:rPr lang="it-IT" dirty="0"/>
                        <a:t>1</a:t>
                      </a:r>
                    </a:p>
                  </a:txBody>
                  <a:tcPr/>
                </a:tc>
                <a:extLst>
                  <a:ext uri="{0D108BD9-81ED-4DB2-BD59-A6C34878D82A}">
                    <a16:rowId xmlns:a16="http://schemas.microsoft.com/office/drawing/2014/main" val="1442248098"/>
                  </a:ext>
                </a:extLst>
              </a:tr>
              <a:tr h="370840">
                <a:tc>
                  <a:txBody>
                    <a:bodyPr/>
                    <a:lstStyle/>
                    <a:p>
                      <a:pPr algn="ctr"/>
                      <a:r>
                        <a:rPr lang="it-IT" dirty="0"/>
                        <a:t>c</a:t>
                      </a:r>
                    </a:p>
                  </a:txBody>
                  <a:tcPr/>
                </a:tc>
                <a:tc>
                  <a:txBody>
                    <a:bodyPr/>
                    <a:lstStyle/>
                    <a:p>
                      <a:pPr algn="ctr"/>
                      <a:r>
                        <a:rPr lang="it-IT" dirty="0"/>
                        <a:t>1</a:t>
                      </a:r>
                    </a:p>
                  </a:txBody>
                  <a:tcPr/>
                </a:tc>
                <a:tc>
                  <a:txBody>
                    <a:bodyPr/>
                    <a:lstStyle/>
                    <a:p>
                      <a:pPr algn="ctr"/>
                      <a:r>
                        <a:rPr lang="it-IT" dirty="0"/>
                        <a:t>2</a:t>
                      </a:r>
                    </a:p>
                  </a:txBody>
                  <a:tcPr/>
                </a:tc>
                <a:tc>
                  <a:txBody>
                    <a:bodyPr/>
                    <a:lstStyle/>
                    <a:p>
                      <a:pPr algn="ctr"/>
                      <a:r>
                        <a:rPr lang="it-IT" dirty="0"/>
                        <a:t>-1</a:t>
                      </a:r>
                    </a:p>
                  </a:txBody>
                  <a:tcPr/>
                </a:tc>
                <a:extLst>
                  <a:ext uri="{0D108BD9-81ED-4DB2-BD59-A6C34878D82A}">
                    <a16:rowId xmlns:a16="http://schemas.microsoft.com/office/drawing/2014/main" val="4095835177"/>
                  </a:ext>
                </a:extLst>
              </a:tr>
            </a:tbl>
          </a:graphicData>
        </a:graphic>
      </p:graphicFrame>
      <p:sp>
        <p:nvSpPr>
          <p:cNvPr id="7" name="CasellaDiTesto 6">
            <a:extLst>
              <a:ext uri="{FF2B5EF4-FFF2-40B4-BE49-F238E27FC236}">
                <a16:creationId xmlns:a16="http://schemas.microsoft.com/office/drawing/2014/main" id="{927C77E6-5F33-8046-9F2E-9975A8958726}"/>
              </a:ext>
            </a:extLst>
          </p:cNvPr>
          <p:cNvSpPr txBox="1"/>
          <p:nvPr/>
        </p:nvSpPr>
        <p:spPr>
          <a:xfrm>
            <a:off x="1436079" y="3840407"/>
            <a:ext cx="849913" cy="369332"/>
          </a:xfrm>
          <a:prstGeom prst="rect">
            <a:avLst/>
          </a:prstGeom>
          <a:noFill/>
        </p:spPr>
        <p:txBody>
          <a:bodyPr wrap="none" rtlCol="0">
            <a:spAutoFit/>
          </a:bodyPr>
          <a:lstStyle/>
          <a:p>
            <a:r>
              <a:rPr lang="it-IT" dirty="0"/>
              <a:t>f = </a:t>
            </a:r>
            <a:r>
              <a:rPr lang="it-IT" dirty="0" err="1"/>
              <a:t>sign</a:t>
            </a:r>
            <a:endParaRPr lang="it-IT" dirty="0"/>
          </a:p>
        </p:txBody>
      </p:sp>
      <p:grpSp>
        <p:nvGrpSpPr>
          <p:cNvPr id="25" name="Gruppo 24">
            <a:extLst>
              <a:ext uri="{FF2B5EF4-FFF2-40B4-BE49-F238E27FC236}">
                <a16:creationId xmlns:a16="http://schemas.microsoft.com/office/drawing/2014/main" id="{A46CB056-3B22-C64E-BB54-144C45DA13BF}"/>
              </a:ext>
            </a:extLst>
          </p:cNvPr>
          <p:cNvGrpSpPr/>
          <p:nvPr/>
        </p:nvGrpSpPr>
        <p:grpSpPr>
          <a:xfrm>
            <a:off x="2583349" y="226574"/>
            <a:ext cx="7154413" cy="3360234"/>
            <a:chOff x="2583349" y="226574"/>
            <a:chExt cx="7154413" cy="3360234"/>
          </a:xfrm>
        </p:grpSpPr>
        <p:cxnSp>
          <p:nvCxnSpPr>
            <p:cNvPr id="15" name="Connettore 2 14">
              <a:extLst>
                <a:ext uri="{FF2B5EF4-FFF2-40B4-BE49-F238E27FC236}">
                  <a16:creationId xmlns:a16="http://schemas.microsoft.com/office/drawing/2014/main" id="{55FCB05B-F482-E84C-9AF2-22D2A91B4A6B}"/>
                </a:ext>
              </a:extLst>
            </p:cNvPr>
            <p:cNvCxnSpPr>
              <a:cxnSpLocks/>
            </p:cNvCxnSpPr>
            <p:nvPr/>
          </p:nvCxnSpPr>
          <p:spPr>
            <a:xfrm>
              <a:off x="4383157" y="226574"/>
              <a:ext cx="5354605" cy="1277178"/>
            </a:xfrm>
            <a:prstGeom prst="straightConnector1">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nettore 2 16">
              <a:extLst>
                <a:ext uri="{FF2B5EF4-FFF2-40B4-BE49-F238E27FC236}">
                  <a16:creationId xmlns:a16="http://schemas.microsoft.com/office/drawing/2014/main" id="{1AFDAEBF-BD29-AC4E-B6F1-E5A390D43659}"/>
                </a:ext>
              </a:extLst>
            </p:cNvPr>
            <p:cNvCxnSpPr>
              <a:cxnSpLocks/>
              <a:endCxn id="5" idx="3"/>
            </p:cNvCxnSpPr>
            <p:nvPr/>
          </p:nvCxnSpPr>
          <p:spPr>
            <a:xfrm flipH="1">
              <a:off x="2583349" y="229517"/>
              <a:ext cx="1799808" cy="3357291"/>
            </a:xfrm>
            <a:prstGeom prst="straightConnector1">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aphicFrame>
        <p:nvGraphicFramePr>
          <p:cNvPr id="10" name="Object 2">
            <a:extLst>
              <a:ext uri="{FF2B5EF4-FFF2-40B4-BE49-F238E27FC236}">
                <a16:creationId xmlns:a16="http://schemas.microsoft.com/office/drawing/2014/main" id="{F01F9569-C64C-344A-88A4-18EE1C4F83D9}"/>
              </a:ext>
            </a:extLst>
          </p:cNvPr>
          <p:cNvGraphicFramePr>
            <a:graphicFrameLocks noChangeAspect="1"/>
          </p:cNvGraphicFramePr>
          <p:nvPr/>
        </p:nvGraphicFramePr>
        <p:xfrm>
          <a:off x="4160783" y="137754"/>
          <a:ext cx="7620000" cy="555625"/>
        </p:xfrm>
        <a:graphic>
          <a:graphicData uri="http://schemas.openxmlformats.org/presentationml/2006/ole">
            <mc:AlternateContent xmlns:mc="http://schemas.openxmlformats.org/markup-compatibility/2006">
              <mc:Choice xmlns:v="urn:schemas-microsoft-com:vml" Requires="v">
                <p:oleObj name="Equation" r:id="rId2" imgW="3213100" imgH="241300" progId="Equation.3">
                  <p:embed/>
                </p:oleObj>
              </mc:Choice>
              <mc:Fallback>
                <p:oleObj name="Equation" r:id="rId2" imgW="3213100" imgH="241300" progId="Equation.3">
                  <p:embed/>
                  <p:pic>
                    <p:nvPicPr>
                      <p:cNvPr id="10" name="Object 2">
                        <a:extLst>
                          <a:ext uri="{FF2B5EF4-FFF2-40B4-BE49-F238E27FC236}">
                            <a16:creationId xmlns:a16="http://schemas.microsoft.com/office/drawing/2014/main" id="{F01F9569-C64C-344A-88A4-18EE1C4F83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0783" y="137754"/>
                        <a:ext cx="76200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7097005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6EC64A-1F68-7243-81CC-935E096D57EB}"/>
              </a:ext>
            </a:extLst>
          </p:cNvPr>
          <p:cNvSpPr>
            <a:spLocks noGrp="1"/>
          </p:cNvSpPr>
          <p:nvPr>
            <p:ph type="title"/>
          </p:nvPr>
        </p:nvSpPr>
        <p:spPr/>
        <p:txBody>
          <a:bodyPr/>
          <a:lstStyle/>
          <a:p>
            <a:r>
              <a:rPr lang="it-IT" dirty="0"/>
              <a:t>Train Linear </a:t>
            </a:r>
            <a:r>
              <a:rPr lang="it-IT" dirty="0" err="1"/>
              <a:t>Perceptron</a:t>
            </a:r>
            <a:endParaRPr lang="it-IT" dirty="0"/>
          </a:p>
        </p:txBody>
      </p:sp>
      <p:graphicFrame>
        <p:nvGraphicFramePr>
          <p:cNvPr id="4" name="Tabella 3">
            <a:extLst>
              <a:ext uri="{FF2B5EF4-FFF2-40B4-BE49-F238E27FC236}">
                <a16:creationId xmlns:a16="http://schemas.microsoft.com/office/drawing/2014/main" id="{0398B540-D1C9-3745-A9F4-F0AF9C7282A6}"/>
              </a:ext>
            </a:extLst>
          </p:cNvPr>
          <p:cNvGraphicFramePr>
            <a:graphicFrameLocks noGrp="1"/>
          </p:cNvGraphicFramePr>
          <p:nvPr/>
        </p:nvGraphicFramePr>
        <p:xfrm>
          <a:off x="3755463" y="1538539"/>
          <a:ext cx="8025320" cy="4820920"/>
        </p:xfrm>
        <a:graphic>
          <a:graphicData uri="http://schemas.openxmlformats.org/drawingml/2006/table">
            <a:tbl>
              <a:tblPr firstRow="1" bandRow="1">
                <a:tableStyleId>{5C22544A-7EE6-4342-B048-85BDC9FD1C3A}</a:tableStyleId>
              </a:tblPr>
              <a:tblGrid>
                <a:gridCol w="802532">
                  <a:extLst>
                    <a:ext uri="{9D8B030D-6E8A-4147-A177-3AD203B41FA5}">
                      <a16:colId xmlns:a16="http://schemas.microsoft.com/office/drawing/2014/main" val="3007943972"/>
                    </a:ext>
                  </a:extLst>
                </a:gridCol>
                <a:gridCol w="802532">
                  <a:extLst>
                    <a:ext uri="{9D8B030D-6E8A-4147-A177-3AD203B41FA5}">
                      <a16:colId xmlns:a16="http://schemas.microsoft.com/office/drawing/2014/main" val="220923671"/>
                    </a:ext>
                  </a:extLst>
                </a:gridCol>
                <a:gridCol w="802532">
                  <a:extLst>
                    <a:ext uri="{9D8B030D-6E8A-4147-A177-3AD203B41FA5}">
                      <a16:colId xmlns:a16="http://schemas.microsoft.com/office/drawing/2014/main" val="1888354542"/>
                    </a:ext>
                  </a:extLst>
                </a:gridCol>
                <a:gridCol w="802532">
                  <a:extLst>
                    <a:ext uri="{9D8B030D-6E8A-4147-A177-3AD203B41FA5}">
                      <a16:colId xmlns:a16="http://schemas.microsoft.com/office/drawing/2014/main" val="4183561819"/>
                    </a:ext>
                  </a:extLst>
                </a:gridCol>
                <a:gridCol w="802532">
                  <a:extLst>
                    <a:ext uri="{9D8B030D-6E8A-4147-A177-3AD203B41FA5}">
                      <a16:colId xmlns:a16="http://schemas.microsoft.com/office/drawing/2014/main" val="2090727010"/>
                    </a:ext>
                  </a:extLst>
                </a:gridCol>
                <a:gridCol w="802532">
                  <a:extLst>
                    <a:ext uri="{9D8B030D-6E8A-4147-A177-3AD203B41FA5}">
                      <a16:colId xmlns:a16="http://schemas.microsoft.com/office/drawing/2014/main" val="1559798696"/>
                    </a:ext>
                  </a:extLst>
                </a:gridCol>
                <a:gridCol w="802532">
                  <a:extLst>
                    <a:ext uri="{9D8B030D-6E8A-4147-A177-3AD203B41FA5}">
                      <a16:colId xmlns:a16="http://schemas.microsoft.com/office/drawing/2014/main" val="3564938619"/>
                    </a:ext>
                  </a:extLst>
                </a:gridCol>
                <a:gridCol w="802532">
                  <a:extLst>
                    <a:ext uri="{9D8B030D-6E8A-4147-A177-3AD203B41FA5}">
                      <a16:colId xmlns:a16="http://schemas.microsoft.com/office/drawing/2014/main" val="2640809818"/>
                    </a:ext>
                  </a:extLst>
                </a:gridCol>
                <a:gridCol w="802532">
                  <a:extLst>
                    <a:ext uri="{9D8B030D-6E8A-4147-A177-3AD203B41FA5}">
                      <a16:colId xmlns:a16="http://schemas.microsoft.com/office/drawing/2014/main" val="4147220622"/>
                    </a:ext>
                  </a:extLst>
                </a:gridCol>
                <a:gridCol w="802532">
                  <a:extLst>
                    <a:ext uri="{9D8B030D-6E8A-4147-A177-3AD203B41FA5}">
                      <a16:colId xmlns:a16="http://schemas.microsoft.com/office/drawing/2014/main" val="1678705754"/>
                    </a:ext>
                  </a:extLst>
                </a:gridCol>
              </a:tblGrid>
              <a:tr h="370840">
                <a:tc>
                  <a:txBody>
                    <a:bodyPr/>
                    <a:lstStyle/>
                    <a:p>
                      <a:pPr algn="ctr"/>
                      <a:r>
                        <a:rPr lang="it-IT" dirty="0" err="1"/>
                        <a:t>it</a:t>
                      </a:r>
                      <a:endParaRPr lang="it-IT" dirty="0"/>
                    </a:p>
                  </a:txBody>
                  <a:tcPr/>
                </a:tc>
                <a:tc>
                  <a:txBody>
                    <a:bodyPr/>
                    <a:lstStyle/>
                    <a:p>
                      <a:pPr algn="ctr"/>
                      <a:r>
                        <a:rPr lang="it-IT" baseline="0" dirty="0"/>
                        <a:t>W</a:t>
                      </a:r>
                      <a:r>
                        <a:rPr lang="it-IT" baseline="-25000" dirty="0"/>
                        <a:t>0</a:t>
                      </a:r>
                    </a:p>
                  </a:txBody>
                  <a:tcPr/>
                </a:tc>
                <a:tc>
                  <a:txBody>
                    <a:bodyPr/>
                    <a:lstStyle/>
                    <a:p>
                      <a:pPr algn="ctr"/>
                      <a:r>
                        <a:rPr lang="it-IT" baseline="0" dirty="0"/>
                        <a:t>W</a:t>
                      </a:r>
                      <a:r>
                        <a:rPr lang="it-IT" baseline="-25000" dirty="0"/>
                        <a:t>1</a:t>
                      </a:r>
                    </a:p>
                  </a:txBody>
                  <a:tcPr/>
                </a:tc>
                <a:tc>
                  <a:txBody>
                    <a:bodyPr/>
                    <a:lstStyle/>
                    <a:p>
                      <a:pPr algn="ctr"/>
                      <a:r>
                        <a:rPr lang="it-IT" baseline="0" dirty="0"/>
                        <a:t>W</a:t>
                      </a:r>
                      <a:r>
                        <a:rPr lang="it-IT" baseline="-25000" dirty="0"/>
                        <a:t>2</a:t>
                      </a:r>
                    </a:p>
                  </a:txBody>
                  <a:tcPr/>
                </a:tc>
                <a:tc>
                  <a:txBody>
                    <a:bodyPr/>
                    <a:lstStyle/>
                    <a:p>
                      <a:pPr algn="ctr"/>
                      <a:r>
                        <a:rPr lang="it-IT" dirty="0"/>
                        <a:t>X.W</a:t>
                      </a:r>
                    </a:p>
                  </a:txBody>
                  <a:tcPr/>
                </a:tc>
                <a:tc>
                  <a:txBody>
                    <a:bodyPr/>
                    <a:lstStyle/>
                    <a:p>
                      <a:pPr algn="ctr"/>
                      <a:r>
                        <a:rPr lang="it-IT" dirty="0" err="1"/>
                        <a:t>f</a:t>
                      </a:r>
                      <a:r>
                        <a:rPr lang="it-IT" dirty="0"/>
                        <a:t>(X.W)</a:t>
                      </a:r>
                    </a:p>
                  </a:txBody>
                  <a:tcPr/>
                </a:tc>
                <a:tc>
                  <a:txBody>
                    <a:bodyPr/>
                    <a:lstStyle/>
                    <a:p>
                      <a:pPr algn="ctr"/>
                      <a:r>
                        <a:rPr lang="it-IT" dirty="0" err="1"/>
                        <a:t>error</a:t>
                      </a:r>
                      <a:endParaRPr lang="it-IT" dirty="0"/>
                    </a:p>
                  </a:txBody>
                  <a:tcPr/>
                </a:tc>
                <a:tc>
                  <a:txBody>
                    <a:bodyPr/>
                    <a:lstStyle/>
                    <a:p>
                      <a:pPr algn="ctr"/>
                      <a:r>
                        <a:rPr lang="it-IT" dirty="0"/>
                        <a:t>delta</a:t>
                      </a:r>
                      <a:r>
                        <a:rPr lang="it-IT" baseline="-25000"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2</a:t>
                      </a:r>
                    </a:p>
                  </a:txBody>
                  <a:tcPr/>
                </a:tc>
                <a:extLst>
                  <a:ext uri="{0D108BD9-81ED-4DB2-BD59-A6C34878D82A}">
                    <a16:rowId xmlns:a16="http://schemas.microsoft.com/office/drawing/2014/main" val="647644152"/>
                  </a:ext>
                </a:extLst>
              </a:tr>
              <a:tr h="370840">
                <a:tc>
                  <a:txBody>
                    <a:bodyPr/>
                    <a:lstStyle/>
                    <a:p>
                      <a:pPr algn="ctr"/>
                      <a:r>
                        <a:rPr lang="it-IT" dirty="0"/>
                        <a:t>1</a:t>
                      </a:r>
                    </a:p>
                  </a:txBody>
                  <a:tcPr/>
                </a:tc>
                <a:tc>
                  <a:txBody>
                    <a:bodyPr/>
                    <a:lstStyle/>
                    <a:p>
                      <a:pPr algn="ctr"/>
                      <a:r>
                        <a:rPr lang="it-IT" dirty="0"/>
                        <a:t>-1</a:t>
                      </a:r>
                    </a:p>
                  </a:txBody>
                  <a:tcPr/>
                </a:tc>
                <a:tc>
                  <a:txBody>
                    <a:bodyPr/>
                    <a:lstStyle/>
                    <a:p>
                      <a:pPr algn="ctr"/>
                      <a:r>
                        <a:rPr lang="it-IT" dirty="0"/>
                        <a:t>0</a:t>
                      </a:r>
                    </a:p>
                  </a:txBody>
                  <a:tcPr/>
                </a:tc>
                <a:tc>
                  <a:txBody>
                    <a:bodyPr/>
                    <a:lstStyle/>
                    <a:p>
                      <a:pPr algn="ctr"/>
                      <a:r>
                        <a:rPr lang="it-IT" dirty="0"/>
                        <a:t>0</a:t>
                      </a:r>
                    </a:p>
                  </a:txBody>
                  <a:tcPr/>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extLst>
                  <a:ext uri="{0D108BD9-81ED-4DB2-BD59-A6C34878D82A}">
                    <a16:rowId xmlns:a16="http://schemas.microsoft.com/office/drawing/2014/main" val="3006406211"/>
                  </a:ext>
                </a:extLst>
              </a:tr>
              <a:tr h="370840">
                <a:tc>
                  <a:txBody>
                    <a:bodyPr/>
                    <a:lstStyle/>
                    <a:p>
                      <a:pPr algn="ctr"/>
                      <a:r>
                        <a:rPr lang="it-IT" dirty="0"/>
                        <a:t>2</a:t>
                      </a:r>
                    </a:p>
                  </a:txBody>
                  <a:tcPr/>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442248098"/>
                  </a:ext>
                </a:extLst>
              </a:tr>
              <a:tr h="370840">
                <a:tc>
                  <a:txBody>
                    <a:bodyPr/>
                    <a:lstStyle/>
                    <a:p>
                      <a:pPr algn="ctr"/>
                      <a:r>
                        <a:rPr lang="it-IT" dirty="0"/>
                        <a:t>3</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4095835177"/>
                  </a:ext>
                </a:extLst>
              </a:tr>
              <a:tr h="370840">
                <a:tc>
                  <a:txBody>
                    <a:bodyPr/>
                    <a:lstStyle/>
                    <a:p>
                      <a:pPr algn="ctr"/>
                      <a:r>
                        <a:rPr lang="it-IT" dirty="0"/>
                        <a:t>4</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437626370"/>
                  </a:ext>
                </a:extLst>
              </a:tr>
              <a:tr h="370840">
                <a:tc>
                  <a:txBody>
                    <a:bodyPr/>
                    <a:lstStyle/>
                    <a:p>
                      <a:pPr algn="ctr"/>
                      <a:r>
                        <a:rPr lang="it-IT" dirty="0"/>
                        <a:t>5</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3459893937"/>
                  </a:ext>
                </a:extLst>
              </a:tr>
              <a:tr h="370840">
                <a:tc>
                  <a:txBody>
                    <a:bodyPr/>
                    <a:lstStyle/>
                    <a:p>
                      <a:pPr algn="ctr"/>
                      <a:r>
                        <a:rPr lang="it-IT" dirty="0"/>
                        <a:t>6</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26436750"/>
                  </a:ext>
                </a:extLst>
              </a:tr>
              <a:tr h="370840">
                <a:tc>
                  <a:txBody>
                    <a:bodyPr/>
                    <a:lstStyle/>
                    <a:p>
                      <a:pPr algn="ctr"/>
                      <a:r>
                        <a:rPr lang="it-IT" dirty="0"/>
                        <a:t>7</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290132517"/>
                  </a:ext>
                </a:extLst>
              </a:tr>
              <a:tr h="370840">
                <a:tc>
                  <a:txBody>
                    <a:bodyPr/>
                    <a:lstStyle/>
                    <a:p>
                      <a:pPr algn="ctr"/>
                      <a:r>
                        <a:rPr lang="it-IT" dirty="0"/>
                        <a:t>8</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380738723"/>
                  </a:ext>
                </a:extLst>
              </a:tr>
              <a:tr h="370840">
                <a:tc>
                  <a:txBody>
                    <a:bodyPr/>
                    <a:lstStyle/>
                    <a:p>
                      <a:pPr algn="ctr"/>
                      <a:r>
                        <a:rPr lang="it-IT" dirty="0"/>
                        <a:t>9</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19150045"/>
                  </a:ext>
                </a:extLst>
              </a:tr>
              <a:tr h="370840">
                <a:tc>
                  <a:txBody>
                    <a:bodyPr/>
                    <a:lstStyle/>
                    <a:p>
                      <a:pPr algn="ctr"/>
                      <a:r>
                        <a:rPr lang="it-IT" dirty="0"/>
                        <a:t>10</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545436331"/>
                  </a:ext>
                </a:extLst>
              </a:tr>
              <a:tr h="370840">
                <a:tc>
                  <a:txBody>
                    <a:bodyPr/>
                    <a:lstStyle/>
                    <a:p>
                      <a:pPr algn="ctr"/>
                      <a:r>
                        <a:rPr lang="it-IT" dirty="0"/>
                        <a:t>11</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3664168057"/>
                  </a:ext>
                </a:extLst>
              </a:tr>
              <a:tr h="370840">
                <a:tc>
                  <a:txBody>
                    <a:bodyPr/>
                    <a:lstStyle/>
                    <a:p>
                      <a:pPr algn="ctr"/>
                      <a:r>
                        <a:rPr lang="it-IT" dirty="0"/>
                        <a:t>12</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137315494"/>
                  </a:ext>
                </a:extLst>
              </a:tr>
            </a:tbl>
          </a:graphicData>
        </a:graphic>
      </p:graphicFrame>
      <p:sp>
        <p:nvSpPr>
          <p:cNvPr id="5" name="CasellaDiTesto 4">
            <a:extLst>
              <a:ext uri="{FF2B5EF4-FFF2-40B4-BE49-F238E27FC236}">
                <a16:creationId xmlns:a16="http://schemas.microsoft.com/office/drawing/2014/main" id="{1C0D3F40-0FA6-AE4B-B317-31946E90F809}"/>
              </a:ext>
            </a:extLst>
          </p:cNvPr>
          <p:cNvSpPr txBox="1"/>
          <p:nvPr/>
        </p:nvSpPr>
        <p:spPr>
          <a:xfrm>
            <a:off x="1138723" y="3402142"/>
            <a:ext cx="1444626" cy="369332"/>
          </a:xfrm>
          <a:prstGeom prst="rect">
            <a:avLst/>
          </a:prstGeom>
          <a:noFill/>
        </p:spPr>
        <p:txBody>
          <a:bodyPr wrap="none" rtlCol="0">
            <a:spAutoFit/>
          </a:bodyPr>
          <a:lstStyle/>
          <a:p>
            <a:r>
              <a:rPr lang="it-IT" dirty="0"/>
              <a:t>Lambda = 0.3</a:t>
            </a:r>
          </a:p>
        </p:txBody>
      </p:sp>
      <p:graphicFrame>
        <p:nvGraphicFramePr>
          <p:cNvPr id="6" name="Tabella 5">
            <a:extLst>
              <a:ext uri="{FF2B5EF4-FFF2-40B4-BE49-F238E27FC236}">
                <a16:creationId xmlns:a16="http://schemas.microsoft.com/office/drawing/2014/main" id="{58620517-8327-5E49-9C6A-8EB32CC9A36C}"/>
              </a:ext>
            </a:extLst>
          </p:cNvPr>
          <p:cNvGraphicFramePr>
            <a:graphicFrameLocks noGrp="1"/>
          </p:cNvGraphicFramePr>
          <p:nvPr/>
        </p:nvGraphicFramePr>
        <p:xfrm>
          <a:off x="994947" y="1608113"/>
          <a:ext cx="2086476" cy="1483360"/>
        </p:xfrm>
        <a:graphic>
          <a:graphicData uri="http://schemas.openxmlformats.org/drawingml/2006/table">
            <a:tbl>
              <a:tblPr firstRow="1" bandRow="1">
                <a:tableStyleId>{5C22544A-7EE6-4342-B048-85BDC9FD1C3A}</a:tableStyleId>
              </a:tblPr>
              <a:tblGrid>
                <a:gridCol w="521619">
                  <a:extLst>
                    <a:ext uri="{9D8B030D-6E8A-4147-A177-3AD203B41FA5}">
                      <a16:colId xmlns:a16="http://schemas.microsoft.com/office/drawing/2014/main" val="3007943972"/>
                    </a:ext>
                  </a:extLst>
                </a:gridCol>
                <a:gridCol w="521619">
                  <a:extLst>
                    <a:ext uri="{9D8B030D-6E8A-4147-A177-3AD203B41FA5}">
                      <a16:colId xmlns:a16="http://schemas.microsoft.com/office/drawing/2014/main" val="220923671"/>
                    </a:ext>
                  </a:extLst>
                </a:gridCol>
                <a:gridCol w="521619">
                  <a:extLst>
                    <a:ext uri="{9D8B030D-6E8A-4147-A177-3AD203B41FA5}">
                      <a16:colId xmlns:a16="http://schemas.microsoft.com/office/drawing/2014/main" val="1888354542"/>
                    </a:ext>
                  </a:extLst>
                </a:gridCol>
                <a:gridCol w="521619">
                  <a:extLst>
                    <a:ext uri="{9D8B030D-6E8A-4147-A177-3AD203B41FA5}">
                      <a16:colId xmlns:a16="http://schemas.microsoft.com/office/drawing/2014/main" val="2090727010"/>
                    </a:ext>
                  </a:extLst>
                </a:gridCol>
              </a:tblGrid>
              <a:tr h="370840">
                <a:tc>
                  <a:txBody>
                    <a:bodyPr/>
                    <a:lstStyle/>
                    <a:p>
                      <a:pPr algn="ctr"/>
                      <a:r>
                        <a:rPr lang="it-IT" dirty="0"/>
                        <a:t>id</a:t>
                      </a:r>
                    </a:p>
                  </a:txBody>
                  <a:tcPr/>
                </a:tc>
                <a:tc>
                  <a:txBody>
                    <a:bodyPr/>
                    <a:lstStyle/>
                    <a:p>
                      <a:pPr algn="ctr"/>
                      <a:r>
                        <a:rPr lang="it-IT" dirty="0"/>
                        <a:t>X</a:t>
                      </a:r>
                      <a:r>
                        <a:rPr lang="it-IT" baseline="-25000" dirty="0"/>
                        <a:t>1</a:t>
                      </a:r>
                    </a:p>
                  </a:txBody>
                  <a:tcPr/>
                </a:tc>
                <a:tc>
                  <a:txBody>
                    <a:bodyPr/>
                    <a:lstStyle/>
                    <a:p>
                      <a:pPr algn="ctr"/>
                      <a:r>
                        <a:rPr lang="it-IT" dirty="0"/>
                        <a:t>X</a:t>
                      </a:r>
                      <a:r>
                        <a:rPr lang="it-IT" baseline="-25000" dirty="0"/>
                        <a:t>2</a:t>
                      </a:r>
                      <a:endParaRPr lang="it-IT" dirty="0"/>
                    </a:p>
                  </a:txBody>
                  <a:tcPr/>
                </a:tc>
                <a:tc>
                  <a:txBody>
                    <a:bodyPr/>
                    <a:lstStyle/>
                    <a:p>
                      <a:pPr algn="ctr"/>
                      <a:r>
                        <a:rPr lang="it-IT" dirty="0"/>
                        <a:t>Y</a:t>
                      </a:r>
                    </a:p>
                  </a:txBody>
                  <a:tcPr/>
                </a:tc>
                <a:extLst>
                  <a:ext uri="{0D108BD9-81ED-4DB2-BD59-A6C34878D82A}">
                    <a16:rowId xmlns:a16="http://schemas.microsoft.com/office/drawing/2014/main" val="647644152"/>
                  </a:ext>
                </a:extLst>
              </a:tr>
              <a:tr h="370840">
                <a:tc>
                  <a:txBody>
                    <a:bodyPr/>
                    <a:lstStyle/>
                    <a:p>
                      <a:pPr algn="ctr"/>
                      <a:r>
                        <a:rPr lang="it-IT" dirty="0"/>
                        <a:t>a</a:t>
                      </a:r>
                    </a:p>
                  </a:txBody>
                  <a:tcPr/>
                </a:tc>
                <a:tc>
                  <a:txBody>
                    <a:bodyPr/>
                    <a:lstStyle/>
                    <a:p>
                      <a:pPr algn="ctr"/>
                      <a:r>
                        <a:rPr lang="it-IT" dirty="0"/>
                        <a:t>0</a:t>
                      </a:r>
                    </a:p>
                  </a:txBody>
                  <a:tcPr/>
                </a:tc>
                <a:tc>
                  <a:txBody>
                    <a:bodyPr/>
                    <a:lstStyle/>
                    <a:p>
                      <a:pPr algn="ctr"/>
                      <a:r>
                        <a:rPr lang="it-IT" dirty="0"/>
                        <a:t>1</a:t>
                      </a:r>
                    </a:p>
                  </a:txBody>
                  <a:tcPr/>
                </a:tc>
                <a:tc>
                  <a:txBody>
                    <a:bodyPr/>
                    <a:lstStyle/>
                    <a:p>
                      <a:pPr algn="ctr"/>
                      <a:r>
                        <a:rPr lang="it-IT" dirty="0"/>
                        <a:t>-1</a:t>
                      </a:r>
                    </a:p>
                  </a:txBody>
                  <a:tcPr/>
                </a:tc>
                <a:extLst>
                  <a:ext uri="{0D108BD9-81ED-4DB2-BD59-A6C34878D82A}">
                    <a16:rowId xmlns:a16="http://schemas.microsoft.com/office/drawing/2014/main" val="3006406211"/>
                  </a:ext>
                </a:extLst>
              </a:tr>
              <a:tr h="370840">
                <a:tc>
                  <a:txBody>
                    <a:bodyPr/>
                    <a:lstStyle/>
                    <a:p>
                      <a:pPr algn="ctr"/>
                      <a:r>
                        <a:rPr lang="it-IT" dirty="0"/>
                        <a:t>b</a:t>
                      </a:r>
                    </a:p>
                  </a:txBody>
                  <a:tcPr/>
                </a:tc>
                <a:tc>
                  <a:txBody>
                    <a:bodyPr/>
                    <a:lstStyle/>
                    <a:p>
                      <a:pPr algn="ctr"/>
                      <a:r>
                        <a:rPr lang="it-IT" dirty="0"/>
                        <a:t>0</a:t>
                      </a:r>
                    </a:p>
                  </a:txBody>
                  <a:tcPr/>
                </a:tc>
                <a:tc>
                  <a:txBody>
                    <a:bodyPr/>
                    <a:lstStyle/>
                    <a:p>
                      <a:pPr algn="ctr"/>
                      <a:r>
                        <a:rPr lang="it-IT" dirty="0"/>
                        <a:t>0</a:t>
                      </a:r>
                    </a:p>
                  </a:txBody>
                  <a:tcPr/>
                </a:tc>
                <a:tc>
                  <a:txBody>
                    <a:bodyPr/>
                    <a:lstStyle/>
                    <a:p>
                      <a:pPr algn="ctr"/>
                      <a:r>
                        <a:rPr lang="it-IT" dirty="0"/>
                        <a:t>1</a:t>
                      </a:r>
                    </a:p>
                  </a:txBody>
                  <a:tcPr/>
                </a:tc>
                <a:extLst>
                  <a:ext uri="{0D108BD9-81ED-4DB2-BD59-A6C34878D82A}">
                    <a16:rowId xmlns:a16="http://schemas.microsoft.com/office/drawing/2014/main" val="1442248098"/>
                  </a:ext>
                </a:extLst>
              </a:tr>
              <a:tr h="370840">
                <a:tc>
                  <a:txBody>
                    <a:bodyPr/>
                    <a:lstStyle/>
                    <a:p>
                      <a:pPr algn="ctr"/>
                      <a:r>
                        <a:rPr lang="it-IT" dirty="0"/>
                        <a:t>c</a:t>
                      </a:r>
                    </a:p>
                  </a:txBody>
                  <a:tcPr/>
                </a:tc>
                <a:tc>
                  <a:txBody>
                    <a:bodyPr/>
                    <a:lstStyle/>
                    <a:p>
                      <a:pPr algn="ctr"/>
                      <a:r>
                        <a:rPr lang="it-IT" dirty="0"/>
                        <a:t>1</a:t>
                      </a:r>
                    </a:p>
                  </a:txBody>
                  <a:tcPr/>
                </a:tc>
                <a:tc>
                  <a:txBody>
                    <a:bodyPr/>
                    <a:lstStyle/>
                    <a:p>
                      <a:pPr algn="ctr"/>
                      <a:r>
                        <a:rPr lang="it-IT" dirty="0"/>
                        <a:t>2</a:t>
                      </a:r>
                    </a:p>
                  </a:txBody>
                  <a:tcPr/>
                </a:tc>
                <a:tc>
                  <a:txBody>
                    <a:bodyPr/>
                    <a:lstStyle/>
                    <a:p>
                      <a:pPr algn="ctr"/>
                      <a:r>
                        <a:rPr lang="it-IT" dirty="0"/>
                        <a:t>-1</a:t>
                      </a:r>
                    </a:p>
                  </a:txBody>
                  <a:tcPr/>
                </a:tc>
                <a:extLst>
                  <a:ext uri="{0D108BD9-81ED-4DB2-BD59-A6C34878D82A}">
                    <a16:rowId xmlns:a16="http://schemas.microsoft.com/office/drawing/2014/main" val="4095835177"/>
                  </a:ext>
                </a:extLst>
              </a:tr>
            </a:tbl>
          </a:graphicData>
        </a:graphic>
      </p:graphicFrame>
      <p:sp>
        <p:nvSpPr>
          <p:cNvPr id="7" name="CasellaDiTesto 6">
            <a:extLst>
              <a:ext uri="{FF2B5EF4-FFF2-40B4-BE49-F238E27FC236}">
                <a16:creationId xmlns:a16="http://schemas.microsoft.com/office/drawing/2014/main" id="{927C77E6-5F33-8046-9F2E-9975A8958726}"/>
              </a:ext>
            </a:extLst>
          </p:cNvPr>
          <p:cNvSpPr txBox="1"/>
          <p:nvPr/>
        </p:nvSpPr>
        <p:spPr>
          <a:xfrm>
            <a:off x="1436079" y="3840407"/>
            <a:ext cx="849913" cy="369332"/>
          </a:xfrm>
          <a:prstGeom prst="rect">
            <a:avLst/>
          </a:prstGeom>
          <a:noFill/>
        </p:spPr>
        <p:txBody>
          <a:bodyPr wrap="none" rtlCol="0">
            <a:spAutoFit/>
          </a:bodyPr>
          <a:lstStyle/>
          <a:p>
            <a:r>
              <a:rPr lang="it-IT" dirty="0"/>
              <a:t>f = </a:t>
            </a:r>
            <a:r>
              <a:rPr lang="it-IT" dirty="0" err="1"/>
              <a:t>sign</a:t>
            </a:r>
            <a:endParaRPr lang="it-IT" dirty="0"/>
          </a:p>
        </p:txBody>
      </p:sp>
      <p:grpSp>
        <p:nvGrpSpPr>
          <p:cNvPr id="26" name="Gruppo 25">
            <a:extLst>
              <a:ext uri="{FF2B5EF4-FFF2-40B4-BE49-F238E27FC236}">
                <a16:creationId xmlns:a16="http://schemas.microsoft.com/office/drawing/2014/main" id="{1245E24F-F98F-7D4D-A0B5-300439473F28}"/>
              </a:ext>
            </a:extLst>
          </p:cNvPr>
          <p:cNvGrpSpPr/>
          <p:nvPr/>
        </p:nvGrpSpPr>
        <p:grpSpPr>
          <a:xfrm>
            <a:off x="1861035" y="296148"/>
            <a:ext cx="8654565" cy="3202426"/>
            <a:chOff x="1861035" y="296148"/>
            <a:chExt cx="8654565" cy="3202426"/>
          </a:xfrm>
        </p:grpSpPr>
        <p:cxnSp>
          <p:nvCxnSpPr>
            <p:cNvPr id="10" name="Connettore 2 9">
              <a:extLst>
                <a:ext uri="{FF2B5EF4-FFF2-40B4-BE49-F238E27FC236}">
                  <a16:creationId xmlns:a16="http://schemas.microsoft.com/office/drawing/2014/main" id="{38CF3834-0A71-B945-80D0-CECFCC67080A}"/>
                </a:ext>
              </a:extLst>
            </p:cNvPr>
            <p:cNvCxnSpPr/>
            <p:nvPr/>
          </p:nvCxnSpPr>
          <p:spPr>
            <a:xfrm flipH="1">
              <a:off x="1861035" y="296148"/>
              <a:ext cx="755366" cy="1242391"/>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nettore 2 11">
              <a:extLst>
                <a:ext uri="{FF2B5EF4-FFF2-40B4-BE49-F238E27FC236}">
                  <a16:creationId xmlns:a16="http://schemas.microsoft.com/office/drawing/2014/main" id="{A09C33B8-06B2-834E-8E8B-60A57AB49350}"/>
                </a:ext>
              </a:extLst>
            </p:cNvPr>
            <p:cNvCxnSpPr>
              <a:cxnSpLocks/>
            </p:cNvCxnSpPr>
            <p:nvPr/>
          </p:nvCxnSpPr>
          <p:spPr>
            <a:xfrm>
              <a:off x="2616401" y="296148"/>
              <a:ext cx="7899199" cy="1172817"/>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ttore 2 18">
              <a:extLst>
                <a:ext uri="{FF2B5EF4-FFF2-40B4-BE49-F238E27FC236}">
                  <a16:creationId xmlns:a16="http://schemas.microsoft.com/office/drawing/2014/main" id="{A1102282-AF02-6F42-A93F-78B92F320D6A}"/>
                </a:ext>
              </a:extLst>
            </p:cNvPr>
            <p:cNvCxnSpPr>
              <a:cxnSpLocks/>
            </p:cNvCxnSpPr>
            <p:nvPr/>
          </p:nvCxnSpPr>
          <p:spPr>
            <a:xfrm flipH="1">
              <a:off x="2485697" y="309097"/>
              <a:ext cx="145172" cy="3189477"/>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aphicFrame>
        <p:nvGraphicFramePr>
          <p:cNvPr id="11" name="Object 2">
            <a:extLst>
              <a:ext uri="{FF2B5EF4-FFF2-40B4-BE49-F238E27FC236}">
                <a16:creationId xmlns:a16="http://schemas.microsoft.com/office/drawing/2014/main" id="{D17F734C-0925-2F4B-949E-B8DF819E5928}"/>
              </a:ext>
            </a:extLst>
          </p:cNvPr>
          <p:cNvGraphicFramePr>
            <a:graphicFrameLocks noChangeAspect="1"/>
          </p:cNvGraphicFramePr>
          <p:nvPr/>
        </p:nvGraphicFramePr>
        <p:xfrm>
          <a:off x="4160783" y="137754"/>
          <a:ext cx="7620000" cy="555625"/>
        </p:xfrm>
        <a:graphic>
          <a:graphicData uri="http://schemas.openxmlformats.org/presentationml/2006/ole">
            <mc:AlternateContent xmlns:mc="http://schemas.openxmlformats.org/markup-compatibility/2006">
              <mc:Choice xmlns:v="urn:schemas-microsoft-com:vml" Requires="v">
                <p:oleObj name="Equation" r:id="rId2" imgW="3213100" imgH="241300" progId="Equation.3">
                  <p:embed/>
                </p:oleObj>
              </mc:Choice>
              <mc:Fallback>
                <p:oleObj name="Equation" r:id="rId2" imgW="3213100" imgH="241300" progId="Equation.3">
                  <p:embed/>
                  <p:pic>
                    <p:nvPicPr>
                      <p:cNvPr id="11" name="Object 2">
                        <a:extLst>
                          <a:ext uri="{FF2B5EF4-FFF2-40B4-BE49-F238E27FC236}">
                            <a16:creationId xmlns:a16="http://schemas.microsoft.com/office/drawing/2014/main" id="{D17F734C-0925-2F4B-949E-B8DF819E59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0783" y="137754"/>
                        <a:ext cx="76200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1052813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6EC64A-1F68-7243-81CC-935E096D57EB}"/>
              </a:ext>
            </a:extLst>
          </p:cNvPr>
          <p:cNvSpPr>
            <a:spLocks noGrp="1"/>
          </p:cNvSpPr>
          <p:nvPr>
            <p:ph type="title"/>
          </p:nvPr>
        </p:nvSpPr>
        <p:spPr/>
        <p:txBody>
          <a:bodyPr/>
          <a:lstStyle/>
          <a:p>
            <a:r>
              <a:rPr lang="it-IT" dirty="0"/>
              <a:t>Train Linear </a:t>
            </a:r>
            <a:r>
              <a:rPr lang="it-IT" dirty="0" err="1"/>
              <a:t>Perceptron</a:t>
            </a:r>
            <a:endParaRPr lang="it-IT" dirty="0"/>
          </a:p>
        </p:txBody>
      </p:sp>
      <p:graphicFrame>
        <p:nvGraphicFramePr>
          <p:cNvPr id="4" name="Tabella 3">
            <a:extLst>
              <a:ext uri="{FF2B5EF4-FFF2-40B4-BE49-F238E27FC236}">
                <a16:creationId xmlns:a16="http://schemas.microsoft.com/office/drawing/2014/main" id="{0398B540-D1C9-3745-A9F4-F0AF9C7282A6}"/>
              </a:ext>
            </a:extLst>
          </p:cNvPr>
          <p:cNvGraphicFramePr>
            <a:graphicFrameLocks noGrp="1"/>
          </p:cNvGraphicFramePr>
          <p:nvPr/>
        </p:nvGraphicFramePr>
        <p:xfrm>
          <a:off x="3755463" y="1538539"/>
          <a:ext cx="8025320" cy="4820920"/>
        </p:xfrm>
        <a:graphic>
          <a:graphicData uri="http://schemas.openxmlformats.org/drawingml/2006/table">
            <a:tbl>
              <a:tblPr firstRow="1" bandRow="1">
                <a:tableStyleId>{5C22544A-7EE6-4342-B048-85BDC9FD1C3A}</a:tableStyleId>
              </a:tblPr>
              <a:tblGrid>
                <a:gridCol w="802532">
                  <a:extLst>
                    <a:ext uri="{9D8B030D-6E8A-4147-A177-3AD203B41FA5}">
                      <a16:colId xmlns:a16="http://schemas.microsoft.com/office/drawing/2014/main" val="3007943972"/>
                    </a:ext>
                  </a:extLst>
                </a:gridCol>
                <a:gridCol w="802532">
                  <a:extLst>
                    <a:ext uri="{9D8B030D-6E8A-4147-A177-3AD203B41FA5}">
                      <a16:colId xmlns:a16="http://schemas.microsoft.com/office/drawing/2014/main" val="220923671"/>
                    </a:ext>
                  </a:extLst>
                </a:gridCol>
                <a:gridCol w="802532">
                  <a:extLst>
                    <a:ext uri="{9D8B030D-6E8A-4147-A177-3AD203B41FA5}">
                      <a16:colId xmlns:a16="http://schemas.microsoft.com/office/drawing/2014/main" val="1888354542"/>
                    </a:ext>
                  </a:extLst>
                </a:gridCol>
                <a:gridCol w="802532">
                  <a:extLst>
                    <a:ext uri="{9D8B030D-6E8A-4147-A177-3AD203B41FA5}">
                      <a16:colId xmlns:a16="http://schemas.microsoft.com/office/drawing/2014/main" val="4183561819"/>
                    </a:ext>
                  </a:extLst>
                </a:gridCol>
                <a:gridCol w="802532">
                  <a:extLst>
                    <a:ext uri="{9D8B030D-6E8A-4147-A177-3AD203B41FA5}">
                      <a16:colId xmlns:a16="http://schemas.microsoft.com/office/drawing/2014/main" val="2090727010"/>
                    </a:ext>
                  </a:extLst>
                </a:gridCol>
                <a:gridCol w="802532">
                  <a:extLst>
                    <a:ext uri="{9D8B030D-6E8A-4147-A177-3AD203B41FA5}">
                      <a16:colId xmlns:a16="http://schemas.microsoft.com/office/drawing/2014/main" val="1559798696"/>
                    </a:ext>
                  </a:extLst>
                </a:gridCol>
                <a:gridCol w="802532">
                  <a:extLst>
                    <a:ext uri="{9D8B030D-6E8A-4147-A177-3AD203B41FA5}">
                      <a16:colId xmlns:a16="http://schemas.microsoft.com/office/drawing/2014/main" val="3564938619"/>
                    </a:ext>
                  </a:extLst>
                </a:gridCol>
                <a:gridCol w="802532">
                  <a:extLst>
                    <a:ext uri="{9D8B030D-6E8A-4147-A177-3AD203B41FA5}">
                      <a16:colId xmlns:a16="http://schemas.microsoft.com/office/drawing/2014/main" val="2640809818"/>
                    </a:ext>
                  </a:extLst>
                </a:gridCol>
                <a:gridCol w="802532">
                  <a:extLst>
                    <a:ext uri="{9D8B030D-6E8A-4147-A177-3AD203B41FA5}">
                      <a16:colId xmlns:a16="http://schemas.microsoft.com/office/drawing/2014/main" val="4147220622"/>
                    </a:ext>
                  </a:extLst>
                </a:gridCol>
                <a:gridCol w="802532">
                  <a:extLst>
                    <a:ext uri="{9D8B030D-6E8A-4147-A177-3AD203B41FA5}">
                      <a16:colId xmlns:a16="http://schemas.microsoft.com/office/drawing/2014/main" val="1678705754"/>
                    </a:ext>
                  </a:extLst>
                </a:gridCol>
              </a:tblGrid>
              <a:tr h="370840">
                <a:tc>
                  <a:txBody>
                    <a:bodyPr/>
                    <a:lstStyle/>
                    <a:p>
                      <a:pPr algn="ctr"/>
                      <a:r>
                        <a:rPr lang="it-IT" dirty="0" err="1"/>
                        <a:t>it</a:t>
                      </a:r>
                      <a:endParaRPr lang="it-IT" dirty="0"/>
                    </a:p>
                  </a:txBody>
                  <a:tcPr/>
                </a:tc>
                <a:tc>
                  <a:txBody>
                    <a:bodyPr/>
                    <a:lstStyle/>
                    <a:p>
                      <a:pPr algn="ctr"/>
                      <a:r>
                        <a:rPr lang="it-IT" baseline="0" dirty="0"/>
                        <a:t>W</a:t>
                      </a:r>
                      <a:r>
                        <a:rPr lang="it-IT" baseline="-25000" dirty="0"/>
                        <a:t>0</a:t>
                      </a:r>
                    </a:p>
                  </a:txBody>
                  <a:tcPr/>
                </a:tc>
                <a:tc>
                  <a:txBody>
                    <a:bodyPr/>
                    <a:lstStyle/>
                    <a:p>
                      <a:pPr algn="ctr"/>
                      <a:r>
                        <a:rPr lang="it-IT" baseline="0" dirty="0"/>
                        <a:t>W</a:t>
                      </a:r>
                      <a:r>
                        <a:rPr lang="it-IT" baseline="-25000" dirty="0"/>
                        <a:t>1</a:t>
                      </a:r>
                    </a:p>
                  </a:txBody>
                  <a:tcPr/>
                </a:tc>
                <a:tc>
                  <a:txBody>
                    <a:bodyPr/>
                    <a:lstStyle/>
                    <a:p>
                      <a:pPr algn="ctr"/>
                      <a:r>
                        <a:rPr lang="it-IT" baseline="0" dirty="0"/>
                        <a:t>W</a:t>
                      </a:r>
                      <a:r>
                        <a:rPr lang="it-IT" baseline="-25000" dirty="0"/>
                        <a:t>2</a:t>
                      </a:r>
                    </a:p>
                  </a:txBody>
                  <a:tcPr/>
                </a:tc>
                <a:tc>
                  <a:txBody>
                    <a:bodyPr/>
                    <a:lstStyle/>
                    <a:p>
                      <a:pPr algn="ctr"/>
                      <a:r>
                        <a:rPr lang="it-IT" dirty="0"/>
                        <a:t>X.W</a:t>
                      </a:r>
                    </a:p>
                  </a:txBody>
                  <a:tcPr/>
                </a:tc>
                <a:tc>
                  <a:txBody>
                    <a:bodyPr/>
                    <a:lstStyle/>
                    <a:p>
                      <a:pPr algn="ctr"/>
                      <a:r>
                        <a:rPr lang="it-IT" dirty="0" err="1"/>
                        <a:t>f</a:t>
                      </a:r>
                      <a:r>
                        <a:rPr lang="it-IT" dirty="0"/>
                        <a:t>(X.W)</a:t>
                      </a:r>
                    </a:p>
                  </a:txBody>
                  <a:tcPr/>
                </a:tc>
                <a:tc>
                  <a:txBody>
                    <a:bodyPr/>
                    <a:lstStyle/>
                    <a:p>
                      <a:pPr algn="ctr"/>
                      <a:r>
                        <a:rPr lang="it-IT" dirty="0" err="1"/>
                        <a:t>error</a:t>
                      </a:r>
                      <a:endParaRPr lang="it-IT" dirty="0"/>
                    </a:p>
                  </a:txBody>
                  <a:tcPr/>
                </a:tc>
                <a:tc>
                  <a:txBody>
                    <a:bodyPr/>
                    <a:lstStyle/>
                    <a:p>
                      <a:pPr algn="ctr"/>
                      <a:r>
                        <a:rPr lang="it-IT" dirty="0"/>
                        <a:t>delta</a:t>
                      </a:r>
                      <a:r>
                        <a:rPr lang="it-IT" baseline="-25000"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2</a:t>
                      </a:r>
                    </a:p>
                  </a:txBody>
                  <a:tcPr/>
                </a:tc>
                <a:extLst>
                  <a:ext uri="{0D108BD9-81ED-4DB2-BD59-A6C34878D82A}">
                    <a16:rowId xmlns:a16="http://schemas.microsoft.com/office/drawing/2014/main" val="647644152"/>
                  </a:ext>
                </a:extLst>
              </a:tr>
              <a:tr h="370840">
                <a:tc>
                  <a:txBody>
                    <a:bodyPr/>
                    <a:lstStyle/>
                    <a:p>
                      <a:pPr algn="ctr"/>
                      <a:r>
                        <a:rPr lang="it-IT" dirty="0"/>
                        <a:t>1</a:t>
                      </a:r>
                    </a:p>
                  </a:txBody>
                  <a:tcPr/>
                </a:tc>
                <a:tc>
                  <a:txBody>
                    <a:bodyPr/>
                    <a:lstStyle/>
                    <a:p>
                      <a:pPr algn="ctr"/>
                      <a:r>
                        <a:rPr lang="it-IT" dirty="0"/>
                        <a:t>-1</a:t>
                      </a:r>
                    </a:p>
                  </a:txBody>
                  <a:tcPr/>
                </a:tc>
                <a:tc>
                  <a:txBody>
                    <a:bodyPr/>
                    <a:lstStyle/>
                    <a:p>
                      <a:pPr algn="ctr"/>
                      <a:r>
                        <a:rPr lang="it-IT" dirty="0"/>
                        <a:t>0</a:t>
                      </a:r>
                    </a:p>
                  </a:txBody>
                  <a:tcPr/>
                </a:tc>
                <a:tc>
                  <a:txBody>
                    <a:bodyPr/>
                    <a:lstStyle/>
                    <a:p>
                      <a:pPr algn="ctr"/>
                      <a:r>
                        <a:rPr lang="it-IT" dirty="0"/>
                        <a:t>0</a:t>
                      </a:r>
                    </a:p>
                  </a:txBody>
                  <a:tcPr/>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extLst>
                  <a:ext uri="{0D108BD9-81ED-4DB2-BD59-A6C34878D82A}">
                    <a16:rowId xmlns:a16="http://schemas.microsoft.com/office/drawing/2014/main" val="3006406211"/>
                  </a:ext>
                </a:extLst>
              </a:tr>
              <a:tr h="370840">
                <a:tc>
                  <a:txBody>
                    <a:bodyPr/>
                    <a:lstStyle/>
                    <a:p>
                      <a:pPr algn="ctr"/>
                      <a:r>
                        <a:rPr lang="it-IT" dirty="0"/>
                        <a:t>2</a:t>
                      </a:r>
                    </a:p>
                  </a:txBody>
                  <a:tcPr/>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442248098"/>
                  </a:ext>
                </a:extLst>
              </a:tr>
              <a:tr h="370840">
                <a:tc>
                  <a:txBody>
                    <a:bodyPr/>
                    <a:lstStyle/>
                    <a:p>
                      <a:pPr algn="ctr"/>
                      <a:r>
                        <a:rPr lang="it-IT" dirty="0"/>
                        <a:t>3</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4095835177"/>
                  </a:ext>
                </a:extLst>
              </a:tr>
              <a:tr h="370840">
                <a:tc>
                  <a:txBody>
                    <a:bodyPr/>
                    <a:lstStyle/>
                    <a:p>
                      <a:pPr algn="ctr"/>
                      <a:r>
                        <a:rPr lang="it-IT" dirty="0"/>
                        <a:t>4</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437626370"/>
                  </a:ext>
                </a:extLst>
              </a:tr>
              <a:tr h="370840">
                <a:tc>
                  <a:txBody>
                    <a:bodyPr/>
                    <a:lstStyle/>
                    <a:p>
                      <a:pPr algn="ctr"/>
                      <a:r>
                        <a:rPr lang="it-IT" dirty="0"/>
                        <a:t>5</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3459893937"/>
                  </a:ext>
                </a:extLst>
              </a:tr>
              <a:tr h="370840">
                <a:tc>
                  <a:txBody>
                    <a:bodyPr/>
                    <a:lstStyle/>
                    <a:p>
                      <a:pPr algn="ctr"/>
                      <a:r>
                        <a:rPr lang="it-IT" dirty="0"/>
                        <a:t>6</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26436750"/>
                  </a:ext>
                </a:extLst>
              </a:tr>
              <a:tr h="370840">
                <a:tc>
                  <a:txBody>
                    <a:bodyPr/>
                    <a:lstStyle/>
                    <a:p>
                      <a:pPr algn="ctr"/>
                      <a:r>
                        <a:rPr lang="it-IT" dirty="0"/>
                        <a:t>7</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290132517"/>
                  </a:ext>
                </a:extLst>
              </a:tr>
              <a:tr h="370840">
                <a:tc>
                  <a:txBody>
                    <a:bodyPr/>
                    <a:lstStyle/>
                    <a:p>
                      <a:pPr algn="ctr"/>
                      <a:r>
                        <a:rPr lang="it-IT" dirty="0"/>
                        <a:t>8</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380738723"/>
                  </a:ext>
                </a:extLst>
              </a:tr>
              <a:tr h="370840">
                <a:tc>
                  <a:txBody>
                    <a:bodyPr/>
                    <a:lstStyle/>
                    <a:p>
                      <a:pPr algn="ctr"/>
                      <a:r>
                        <a:rPr lang="it-IT" dirty="0"/>
                        <a:t>9</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19150045"/>
                  </a:ext>
                </a:extLst>
              </a:tr>
              <a:tr h="370840">
                <a:tc>
                  <a:txBody>
                    <a:bodyPr/>
                    <a:lstStyle/>
                    <a:p>
                      <a:pPr algn="ctr"/>
                      <a:r>
                        <a:rPr lang="it-IT" dirty="0"/>
                        <a:t>10</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545436331"/>
                  </a:ext>
                </a:extLst>
              </a:tr>
              <a:tr h="370840">
                <a:tc>
                  <a:txBody>
                    <a:bodyPr/>
                    <a:lstStyle/>
                    <a:p>
                      <a:pPr algn="ctr"/>
                      <a:r>
                        <a:rPr lang="it-IT" dirty="0"/>
                        <a:t>11</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3664168057"/>
                  </a:ext>
                </a:extLst>
              </a:tr>
              <a:tr h="370840">
                <a:tc>
                  <a:txBody>
                    <a:bodyPr/>
                    <a:lstStyle/>
                    <a:p>
                      <a:pPr algn="ctr"/>
                      <a:r>
                        <a:rPr lang="it-IT" dirty="0"/>
                        <a:t>12</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137315494"/>
                  </a:ext>
                </a:extLst>
              </a:tr>
            </a:tbl>
          </a:graphicData>
        </a:graphic>
      </p:graphicFrame>
      <p:sp>
        <p:nvSpPr>
          <p:cNvPr id="5" name="CasellaDiTesto 4">
            <a:extLst>
              <a:ext uri="{FF2B5EF4-FFF2-40B4-BE49-F238E27FC236}">
                <a16:creationId xmlns:a16="http://schemas.microsoft.com/office/drawing/2014/main" id="{1C0D3F40-0FA6-AE4B-B317-31946E90F809}"/>
              </a:ext>
            </a:extLst>
          </p:cNvPr>
          <p:cNvSpPr txBox="1"/>
          <p:nvPr/>
        </p:nvSpPr>
        <p:spPr>
          <a:xfrm>
            <a:off x="1138723" y="3402142"/>
            <a:ext cx="1444626" cy="369332"/>
          </a:xfrm>
          <a:prstGeom prst="rect">
            <a:avLst/>
          </a:prstGeom>
          <a:noFill/>
        </p:spPr>
        <p:txBody>
          <a:bodyPr wrap="none" rtlCol="0">
            <a:spAutoFit/>
          </a:bodyPr>
          <a:lstStyle/>
          <a:p>
            <a:r>
              <a:rPr lang="it-IT" dirty="0"/>
              <a:t>Lambda = 0.3</a:t>
            </a:r>
          </a:p>
        </p:txBody>
      </p:sp>
      <p:graphicFrame>
        <p:nvGraphicFramePr>
          <p:cNvPr id="6" name="Tabella 5">
            <a:extLst>
              <a:ext uri="{FF2B5EF4-FFF2-40B4-BE49-F238E27FC236}">
                <a16:creationId xmlns:a16="http://schemas.microsoft.com/office/drawing/2014/main" id="{58620517-8327-5E49-9C6A-8EB32CC9A36C}"/>
              </a:ext>
            </a:extLst>
          </p:cNvPr>
          <p:cNvGraphicFramePr>
            <a:graphicFrameLocks noGrp="1"/>
          </p:cNvGraphicFramePr>
          <p:nvPr/>
        </p:nvGraphicFramePr>
        <p:xfrm>
          <a:off x="994947" y="1608113"/>
          <a:ext cx="2086476" cy="1483360"/>
        </p:xfrm>
        <a:graphic>
          <a:graphicData uri="http://schemas.openxmlformats.org/drawingml/2006/table">
            <a:tbl>
              <a:tblPr firstRow="1" bandRow="1">
                <a:tableStyleId>{5C22544A-7EE6-4342-B048-85BDC9FD1C3A}</a:tableStyleId>
              </a:tblPr>
              <a:tblGrid>
                <a:gridCol w="521619">
                  <a:extLst>
                    <a:ext uri="{9D8B030D-6E8A-4147-A177-3AD203B41FA5}">
                      <a16:colId xmlns:a16="http://schemas.microsoft.com/office/drawing/2014/main" val="3007943972"/>
                    </a:ext>
                  </a:extLst>
                </a:gridCol>
                <a:gridCol w="521619">
                  <a:extLst>
                    <a:ext uri="{9D8B030D-6E8A-4147-A177-3AD203B41FA5}">
                      <a16:colId xmlns:a16="http://schemas.microsoft.com/office/drawing/2014/main" val="220923671"/>
                    </a:ext>
                  </a:extLst>
                </a:gridCol>
                <a:gridCol w="521619">
                  <a:extLst>
                    <a:ext uri="{9D8B030D-6E8A-4147-A177-3AD203B41FA5}">
                      <a16:colId xmlns:a16="http://schemas.microsoft.com/office/drawing/2014/main" val="1888354542"/>
                    </a:ext>
                  </a:extLst>
                </a:gridCol>
                <a:gridCol w="521619">
                  <a:extLst>
                    <a:ext uri="{9D8B030D-6E8A-4147-A177-3AD203B41FA5}">
                      <a16:colId xmlns:a16="http://schemas.microsoft.com/office/drawing/2014/main" val="2090727010"/>
                    </a:ext>
                  </a:extLst>
                </a:gridCol>
              </a:tblGrid>
              <a:tr h="370840">
                <a:tc>
                  <a:txBody>
                    <a:bodyPr/>
                    <a:lstStyle/>
                    <a:p>
                      <a:pPr algn="ctr"/>
                      <a:r>
                        <a:rPr lang="it-IT" dirty="0"/>
                        <a:t>id</a:t>
                      </a:r>
                    </a:p>
                  </a:txBody>
                  <a:tcPr/>
                </a:tc>
                <a:tc>
                  <a:txBody>
                    <a:bodyPr/>
                    <a:lstStyle/>
                    <a:p>
                      <a:pPr algn="ctr"/>
                      <a:r>
                        <a:rPr lang="it-IT" dirty="0"/>
                        <a:t>X</a:t>
                      </a:r>
                      <a:r>
                        <a:rPr lang="it-IT" baseline="-25000" dirty="0"/>
                        <a:t>1</a:t>
                      </a:r>
                    </a:p>
                  </a:txBody>
                  <a:tcPr/>
                </a:tc>
                <a:tc>
                  <a:txBody>
                    <a:bodyPr/>
                    <a:lstStyle/>
                    <a:p>
                      <a:pPr algn="ctr"/>
                      <a:r>
                        <a:rPr lang="it-IT" dirty="0"/>
                        <a:t>X</a:t>
                      </a:r>
                      <a:r>
                        <a:rPr lang="it-IT" baseline="-25000" dirty="0"/>
                        <a:t>2</a:t>
                      </a:r>
                      <a:endParaRPr lang="it-IT" dirty="0"/>
                    </a:p>
                  </a:txBody>
                  <a:tcPr/>
                </a:tc>
                <a:tc>
                  <a:txBody>
                    <a:bodyPr/>
                    <a:lstStyle/>
                    <a:p>
                      <a:pPr algn="ctr"/>
                      <a:r>
                        <a:rPr lang="it-IT" dirty="0"/>
                        <a:t>Y</a:t>
                      </a:r>
                    </a:p>
                  </a:txBody>
                  <a:tcPr/>
                </a:tc>
                <a:extLst>
                  <a:ext uri="{0D108BD9-81ED-4DB2-BD59-A6C34878D82A}">
                    <a16:rowId xmlns:a16="http://schemas.microsoft.com/office/drawing/2014/main" val="647644152"/>
                  </a:ext>
                </a:extLst>
              </a:tr>
              <a:tr h="370840">
                <a:tc>
                  <a:txBody>
                    <a:bodyPr/>
                    <a:lstStyle/>
                    <a:p>
                      <a:pPr algn="ctr"/>
                      <a:r>
                        <a:rPr lang="it-IT" dirty="0"/>
                        <a:t>a</a:t>
                      </a:r>
                    </a:p>
                  </a:txBody>
                  <a:tcPr/>
                </a:tc>
                <a:tc>
                  <a:txBody>
                    <a:bodyPr/>
                    <a:lstStyle/>
                    <a:p>
                      <a:pPr algn="ctr"/>
                      <a:r>
                        <a:rPr lang="it-IT" dirty="0"/>
                        <a:t>0</a:t>
                      </a:r>
                    </a:p>
                  </a:txBody>
                  <a:tcPr/>
                </a:tc>
                <a:tc>
                  <a:txBody>
                    <a:bodyPr/>
                    <a:lstStyle/>
                    <a:p>
                      <a:pPr algn="ctr"/>
                      <a:r>
                        <a:rPr lang="it-IT" dirty="0"/>
                        <a:t>1</a:t>
                      </a:r>
                    </a:p>
                  </a:txBody>
                  <a:tcPr/>
                </a:tc>
                <a:tc>
                  <a:txBody>
                    <a:bodyPr/>
                    <a:lstStyle/>
                    <a:p>
                      <a:pPr algn="ctr"/>
                      <a:r>
                        <a:rPr lang="it-IT" dirty="0"/>
                        <a:t>-1</a:t>
                      </a:r>
                    </a:p>
                  </a:txBody>
                  <a:tcPr/>
                </a:tc>
                <a:extLst>
                  <a:ext uri="{0D108BD9-81ED-4DB2-BD59-A6C34878D82A}">
                    <a16:rowId xmlns:a16="http://schemas.microsoft.com/office/drawing/2014/main" val="3006406211"/>
                  </a:ext>
                </a:extLst>
              </a:tr>
              <a:tr h="370840">
                <a:tc>
                  <a:txBody>
                    <a:bodyPr/>
                    <a:lstStyle/>
                    <a:p>
                      <a:pPr algn="ctr"/>
                      <a:r>
                        <a:rPr lang="it-IT" dirty="0"/>
                        <a:t>b</a:t>
                      </a:r>
                    </a:p>
                  </a:txBody>
                  <a:tcPr/>
                </a:tc>
                <a:tc>
                  <a:txBody>
                    <a:bodyPr/>
                    <a:lstStyle/>
                    <a:p>
                      <a:pPr algn="ctr"/>
                      <a:r>
                        <a:rPr lang="it-IT" dirty="0"/>
                        <a:t>0</a:t>
                      </a:r>
                    </a:p>
                  </a:txBody>
                  <a:tcPr/>
                </a:tc>
                <a:tc>
                  <a:txBody>
                    <a:bodyPr/>
                    <a:lstStyle/>
                    <a:p>
                      <a:pPr algn="ctr"/>
                      <a:r>
                        <a:rPr lang="it-IT" dirty="0"/>
                        <a:t>0</a:t>
                      </a:r>
                    </a:p>
                  </a:txBody>
                  <a:tcPr/>
                </a:tc>
                <a:tc>
                  <a:txBody>
                    <a:bodyPr/>
                    <a:lstStyle/>
                    <a:p>
                      <a:pPr algn="ctr"/>
                      <a:r>
                        <a:rPr lang="it-IT" dirty="0"/>
                        <a:t>1</a:t>
                      </a:r>
                    </a:p>
                  </a:txBody>
                  <a:tcPr/>
                </a:tc>
                <a:extLst>
                  <a:ext uri="{0D108BD9-81ED-4DB2-BD59-A6C34878D82A}">
                    <a16:rowId xmlns:a16="http://schemas.microsoft.com/office/drawing/2014/main" val="1442248098"/>
                  </a:ext>
                </a:extLst>
              </a:tr>
              <a:tr h="370840">
                <a:tc>
                  <a:txBody>
                    <a:bodyPr/>
                    <a:lstStyle/>
                    <a:p>
                      <a:pPr algn="ctr"/>
                      <a:r>
                        <a:rPr lang="it-IT" dirty="0"/>
                        <a:t>c</a:t>
                      </a:r>
                    </a:p>
                  </a:txBody>
                  <a:tcPr/>
                </a:tc>
                <a:tc>
                  <a:txBody>
                    <a:bodyPr/>
                    <a:lstStyle/>
                    <a:p>
                      <a:pPr algn="ctr"/>
                      <a:r>
                        <a:rPr lang="it-IT" dirty="0"/>
                        <a:t>1</a:t>
                      </a:r>
                    </a:p>
                  </a:txBody>
                  <a:tcPr/>
                </a:tc>
                <a:tc>
                  <a:txBody>
                    <a:bodyPr/>
                    <a:lstStyle/>
                    <a:p>
                      <a:pPr algn="ctr"/>
                      <a:r>
                        <a:rPr lang="it-IT" dirty="0"/>
                        <a:t>2</a:t>
                      </a:r>
                    </a:p>
                  </a:txBody>
                  <a:tcPr/>
                </a:tc>
                <a:tc>
                  <a:txBody>
                    <a:bodyPr/>
                    <a:lstStyle/>
                    <a:p>
                      <a:pPr algn="ctr"/>
                      <a:r>
                        <a:rPr lang="it-IT" dirty="0"/>
                        <a:t>-1</a:t>
                      </a:r>
                    </a:p>
                  </a:txBody>
                  <a:tcPr/>
                </a:tc>
                <a:extLst>
                  <a:ext uri="{0D108BD9-81ED-4DB2-BD59-A6C34878D82A}">
                    <a16:rowId xmlns:a16="http://schemas.microsoft.com/office/drawing/2014/main" val="4095835177"/>
                  </a:ext>
                </a:extLst>
              </a:tr>
            </a:tbl>
          </a:graphicData>
        </a:graphic>
      </p:graphicFrame>
      <p:sp>
        <p:nvSpPr>
          <p:cNvPr id="7" name="CasellaDiTesto 6">
            <a:extLst>
              <a:ext uri="{FF2B5EF4-FFF2-40B4-BE49-F238E27FC236}">
                <a16:creationId xmlns:a16="http://schemas.microsoft.com/office/drawing/2014/main" id="{927C77E6-5F33-8046-9F2E-9975A8958726}"/>
              </a:ext>
            </a:extLst>
          </p:cNvPr>
          <p:cNvSpPr txBox="1"/>
          <p:nvPr/>
        </p:nvSpPr>
        <p:spPr>
          <a:xfrm>
            <a:off x="1436079" y="3840407"/>
            <a:ext cx="849913" cy="369332"/>
          </a:xfrm>
          <a:prstGeom prst="rect">
            <a:avLst/>
          </a:prstGeom>
          <a:noFill/>
        </p:spPr>
        <p:txBody>
          <a:bodyPr wrap="none" rtlCol="0">
            <a:spAutoFit/>
          </a:bodyPr>
          <a:lstStyle/>
          <a:p>
            <a:r>
              <a:rPr lang="it-IT" dirty="0"/>
              <a:t>f = </a:t>
            </a:r>
            <a:r>
              <a:rPr lang="it-IT" dirty="0" err="1"/>
              <a:t>sign</a:t>
            </a:r>
            <a:endParaRPr lang="it-IT" dirty="0"/>
          </a:p>
        </p:txBody>
      </p:sp>
      <p:grpSp>
        <p:nvGrpSpPr>
          <p:cNvPr id="24" name="Gruppo 23">
            <a:extLst>
              <a:ext uri="{FF2B5EF4-FFF2-40B4-BE49-F238E27FC236}">
                <a16:creationId xmlns:a16="http://schemas.microsoft.com/office/drawing/2014/main" id="{18F3B516-CCFF-B14F-B5DB-B93F2C09570E}"/>
              </a:ext>
            </a:extLst>
          </p:cNvPr>
          <p:cNvGrpSpPr/>
          <p:nvPr/>
        </p:nvGrpSpPr>
        <p:grpSpPr>
          <a:xfrm>
            <a:off x="2367317" y="194730"/>
            <a:ext cx="8986483" cy="3392078"/>
            <a:chOff x="2367317" y="194730"/>
            <a:chExt cx="8986483" cy="3392078"/>
          </a:xfrm>
        </p:grpSpPr>
        <p:cxnSp>
          <p:nvCxnSpPr>
            <p:cNvPr id="11" name="Connettore 2 10">
              <a:extLst>
                <a:ext uri="{FF2B5EF4-FFF2-40B4-BE49-F238E27FC236}">
                  <a16:creationId xmlns:a16="http://schemas.microsoft.com/office/drawing/2014/main" id="{18FB62BB-7866-9B45-BE7C-E28C63703009}"/>
                </a:ext>
              </a:extLst>
            </p:cNvPr>
            <p:cNvCxnSpPr>
              <a:cxnSpLocks/>
            </p:cNvCxnSpPr>
            <p:nvPr/>
          </p:nvCxnSpPr>
          <p:spPr>
            <a:xfrm flipH="1">
              <a:off x="2367317" y="207328"/>
              <a:ext cx="833083" cy="1331211"/>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nettore 2 12">
              <a:extLst>
                <a:ext uri="{FF2B5EF4-FFF2-40B4-BE49-F238E27FC236}">
                  <a16:creationId xmlns:a16="http://schemas.microsoft.com/office/drawing/2014/main" id="{8B4D7F77-9697-7E42-A6FB-2DC43B7562F5}"/>
                </a:ext>
              </a:extLst>
            </p:cNvPr>
            <p:cNvCxnSpPr>
              <a:cxnSpLocks/>
            </p:cNvCxnSpPr>
            <p:nvPr/>
          </p:nvCxnSpPr>
          <p:spPr>
            <a:xfrm>
              <a:off x="3200400" y="207328"/>
              <a:ext cx="8153400" cy="1261637"/>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nettore 2 20">
              <a:extLst>
                <a:ext uri="{FF2B5EF4-FFF2-40B4-BE49-F238E27FC236}">
                  <a16:creationId xmlns:a16="http://schemas.microsoft.com/office/drawing/2014/main" id="{97C743C0-08F6-AA4D-B30E-84D068063F0C}"/>
                </a:ext>
              </a:extLst>
            </p:cNvPr>
            <p:cNvCxnSpPr>
              <a:cxnSpLocks/>
              <a:endCxn id="5" idx="3"/>
            </p:cNvCxnSpPr>
            <p:nvPr/>
          </p:nvCxnSpPr>
          <p:spPr>
            <a:xfrm flipH="1">
              <a:off x="2583349" y="194730"/>
              <a:ext cx="643830" cy="3392078"/>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p:graphicFrame>
        <p:nvGraphicFramePr>
          <p:cNvPr id="12" name="Object 2">
            <a:extLst>
              <a:ext uri="{FF2B5EF4-FFF2-40B4-BE49-F238E27FC236}">
                <a16:creationId xmlns:a16="http://schemas.microsoft.com/office/drawing/2014/main" id="{B7BF2953-C23C-A446-BA52-7DCE6AE7E53C}"/>
              </a:ext>
            </a:extLst>
          </p:cNvPr>
          <p:cNvGraphicFramePr>
            <a:graphicFrameLocks noChangeAspect="1"/>
          </p:cNvGraphicFramePr>
          <p:nvPr/>
        </p:nvGraphicFramePr>
        <p:xfrm>
          <a:off x="4160783" y="137754"/>
          <a:ext cx="7620000" cy="555625"/>
        </p:xfrm>
        <a:graphic>
          <a:graphicData uri="http://schemas.openxmlformats.org/presentationml/2006/ole">
            <mc:AlternateContent xmlns:mc="http://schemas.openxmlformats.org/markup-compatibility/2006">
              <mc:Choice xmlns:v="urn:schemas-microsoft-com:vml" Requires="v">
                <p:oleObj name="Equation" r:id="rId2" imgW="3213100" imgH="241300" progId="Equation.3">
                  <p:embed/>
                </p:oleObj>
              </mc:Choice>
              <mc:Fallback>
                <p:oleObj name="Equation" r:id="rId2" imgW="3213100" imgH="241300" progId="Equation.3">
                  <p:embed/>
                  <p:pic>
                    <p:nvPicPr>
                      <p:cNvPr id="12" name="Object 2">
                        <a:extLst>
                          <a:ext uri="{FF2B5EF4-FFF2-40B4-BE49-F238E27FC236}">
                            <a16:creationId xmlns:a16="http://schemas.microsoft.com/office/drawing/2014/main" id="{B7BF2953-C23C-A446-BA52-7DCE6AE7E5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0783" y="137754"/>
                        <a:ext cx="76200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8586159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6EC64A-1F68-7243-81CC-935E096D57EB}"/>
              </a:ext>
            </a:extLst>
          </p:cNvPr>
          <p:cNvSpPr>
            <a:spLocks noGrp="1"/>
          </p:cNvSpPr>
          <p:nvPr>
            <p:ph type="title"/>
          </p:nvPr>
        </p:nvSpPr>
        <p:spPr/>
        <p:txBody>
          <a:bodyPr/>
          <a:lstStyle/>
          <a:p>
            <a:r>
              <a:rPr lang="it-IT" dirty="0"/>
              <a:t>Train Linear </a:t>
            </a:r>
            <a:r>
              <a:rPr lang="it-IT" dirty="0" err="1"/>
              <a:t>Perceptron</a:t>
            </a:r>
            <a:endParaRPr lang="it-IT" dirty="0"/>
          </a:p>
        </p:txBody>
      </p:sp>
      <p:graphicFrame>
        <p:nvGraphicFramePr>
          <p:cNvPr id="4" name="Tabella 3">
            <a:extLst>
              <a:ext uri="{FF2B5EF4-FFF2-40B4-BE49-F238E27FC236}">
                <a16:creationId xmlns:a16="http://schemas.microsoft.com/office/drawing/2014/main" id="{0398B540-D1C9-3745-A9F4-F0AF9C7282A6}"/>
              </a:ext>
            </a:extLst>
          </p:cNvPr>
          <p:cNvGraphicFramePr>
            <a:graphicFrameLocks noGrp="1"/>
          </p:cNvGraphicFramePr>
          <p:nvPr/>
        </p:nvGraphicFramePr>
        <p:xfrm>
          <a:off x="3755463" y="1538539"/>
          <a:ext cx="8025320" cy="4820920"/>
        </p:xfrm>
        <a:graphic>
          <a:graphicData uri="http://schemas.openxmlformats.org/drawingml/2006/table">
            <a:tbl>
              <a:tblPr firstRow="1" bandRow="1">
                <a:tableStyleId>{5C22544A-7EE6-4342-B048-85BDC9FD1C3A}</a:tableStyleId>
              </a:tblPr>
              <a:tblGrid>
                <a:gridCol w="802532">
                  <a:extLst>
                    <a:ext uri="{9D8B030D-6E8A-4147-A177-3AD203B41FA5}">
                      <a16:colId xmlns:a16="http://schemas.microsoft.com/office/drawing/2014/main" val="3007943972"/>
                    </a:ext>
                  </a:extLst>
                </a:gridCol>
                <a:gridCol w="802532">
                  <a:extLst>
                    <a:ext uri="{9D8B030D-6E8A-4147-A177-3AD203B41FA5}">
                      <a16:colId xmlns:a16="http://schemas.microsoft.com/office/drawing/2014/main" val="220923671"/>
                    </a:ext>
                  </a:extLst>
                </a:gridCol>
                <a:gridCol w="802532">
                  <a:extLst>
                    <a:ext uri="{9D8B030D-6E8A-4147-A177-3AD203B41FA5}">
                      <a16:colId xmlns:a16="http://schemas.microsoft.com/office/drawing/2014/main" val="1888354542"/>
                    </a:ext>
                  </a:extLst>
                </a:gridCol>
                <a:gridCol w="802532">
                  <a:extLst>
                    <a:ext uri="{9D8B030D-6E8A-4147-A177-3AD203B41FA5}">
                      <a16:colId xmlns:a16="http://schemas.microsoft.com/office/drawing/2014/main" val="4183561819"/>
                    </a:ext>
                  </a:extLst>
                </a:gridCol>
                <a:gridCol w="802532">
                  <a:extLst>
                    <a:ext uri="{9D8B030D-6E8A-4147-A177-3AD203B41FA5}">
                      <a16:colId xmlns:a16="http://schemas.microsoft.com/office/drawing/2014/main" val="2090727010"/>
                    </a:ext>
                  </a:extLst>
                </a:gridCol>
                <a:gridCol w="802532">
                  <a:extLst>
                    <a:ext uri="{9D8B030D-6E8A-4147-A177-3AD203B41FA5}">
                      <a16:colId xmlns:a16="http://schemas.microsoft.com/office/drawing/2014/main" val="1559798696"/>
                    </a:ext>
                  </a:extLst>
                </a:gridCol>
                <a:gridCol w="802532">
                  <a:extLst>
                    <a:ext uri="{9D8B030D-6E8A-4147-A177-3AD203B41FA5}">
                      <a16:colId xmlns:a16="http://schemas.microsoft.com/office/drawing/2014/main" val="3564938619"/>
                    </a:ext>
                  </a:extLst>
                </a:gridCol>
                <a:gridCol w="802532">
                  <a:extLst>
                    <a:ext uri="{9D8B030D-6E8A-4147-A177-3AD203B41FA5}">
                      <a16:colId xmlns:a16="http://schemas.microsoft.com/office/drawing/2014/main" val="2640809818"/>
                    </a:ext>
                  </a:extLst>
                </a:gridCol>
                <a:gridCol w="802532">
                  <a:extLst>
                    <a:ext uri="{9D8B030D-6E8A-4147-A177-3AD203B41FA5}">
                      <a16:colId xmlns:a16="http://schemas.microsoft.com/office/drawing/2014/main" val="4147220622"/>
                    </a:ext>
                  </a:extLst>
                </a:gridCol>
                <a:gridCol w="802532">
                  <a:extLst>
                    <a:ext uri="{9D8B030D-6E8A-4147-A177-3AD203B41FA5}">
                      <a16:colId xmlns:a16="http://schemas.microsoft.com/office/drawing/2014/main" val="1678705754"/>
                    </a:ext>
                  </a:extLst>
                </a:gridCol>
              </a:tblGrid>
              <a:tr h="370840">
                <a:tc>
                  <a:txBody>
                    <a:bodyPr/>
                    <a:lstStyle/>
                    <a:p>
                      <a:pPr algn="ctr"/>
                      <a:r>
                        <a:rPr lang="it-IT" dirty="0" err="1"/>
                        <a:t>it</a:t>
                      </a:r>
                      <a:endParaRPr lang="it-IT" dirty="0"/>
                    </a:p>
                  </a:txBody>
                  <a:tcPr/>
                </a:tc>
                <a:tc>
                  <a:txBody>
                    <a:bodyPr/>
                    <a:lstStyle/>
                    <a:p>
                      <a:pPr algn="ctr"/>
                      <a:r>
                        <a:rPr lang="it-IT" baseline="0" dirty="0"/>
                        <a:t>W</a:t>
                      </a:r>
                      <a:r>
                        <a:rPr lang="it-IT" baseline="-25000" dirty="0"/>
                        <a:t>0</a:t>
                      </a:r>
                    </a:p>
                  </a:txBody>
                  <a:tcPr/>
                </a:tc>
                <a:tc>
                  <a:txBody>
                    <a:bodyPr/>
                    <a:lstStyle/>
                    <a:p>
                      <a:pPr algn="ctr"/>
                      <a:r>
                        <a:rPr lang="it-IT" baseline="0" dirty="0"/>
                        <a:t>W</a:t>
                      </a:r>
                      <a:r>
                        <a:rPr lang="it-IT" baseline="-25000" dirty="0"/>
                        <a:t>1</a:t>
                      </a:r>
                    </a:p>
                  </a:txBody>
                  <a:tcPr/>
                </a:tc>
                <a:tc>
                  <a:txBody>
                    <a:bodyPr/>
                    <a:lstStyle/>
                    <a:p>
                      <a:pPr algn="ctr"/>
                      <a:r>
                        <a:rPr lang="it-IT" baseline="0" dirty="0"/>
                        <a:t>W</a:t>
                      </a:r>
                      <a:r>
                        <a:rPr lang="it-IT" baseline="-25000" dirty="0"/>
                        <a:t>2</a:t>
                      </a:r>
                    </a:p>
                  </a:txBody>
                  <a:tcPr/>
                </a:tc>
                <a:tc>
                  <a:txBody>
                    <a:bodyPr/>
                    <a:lstStyle/>
                    <a:p>
                      <a:pPr algn="ctr"/>
                      <a:r>
                        <a:rPr lang="it-IT" dirty="0"/>
                        <a:t>X.W</a:t>
                      </a:r>
                    </a:p>
                  </a:txBody>
                  <a:tcPr/>
                </a:tc>
                <a:tc>
                  <a:txBody>
                    <a:bodyPr/>
                    <a:lstStyle/>
                    <a:p>
                      <a:pPr algn="ctr"/>
                      <a:r>
                        <a:rPr lang="it-IT" dirty="0" err="1"/>
                        <a:t>f</a:t>
                      </a:r>
                      <a:r>
                        <a:rPr lang="it-IT" dirty="0"/>
                        <a:t>(X.W)</a:t>
                      </a:r>
                    </a:p>
                  </a:txBody>
                  <a:tcPr/>
                </a:tc>
                <a:tc>
                  <a:txBody>
                    <a:bodyPr/>
                    <a:lstStyle/>
                    <a:p>
                      <a:pPr algn="ctr"/>
                      <a:r>
                        <a:rPr lang="it-IT" dirty="0" err="1"/>
                        <a:t>error</a:t>
                      </a:r>
                      <a:endParaRPr lang="it-IT" dirty="0"/>
                    </a:p>
                  </a:txBody>
                  <a:tcPr/>
                </a:tc>
                <a:tc>
                  <a:txBody>
                    <a:bodyPr/>
                    <a:lstStyle/>
                    <a:p>
                      <a:pPr algn="ctr"/>
                      <a:r>
                        <a:rPr lang="it-IT" dirty="0"/>
                        <a:t>delta</a:t>
                      </a:r>
                      <a:r>
                        <a:rPr lang="it-IT" baseline="-25000"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2</a:t>
                      </a:r>
                    </a:p>
                  </a:txBody>
                  <a:tcPr/>
                </a:tc>
                <a:extLst>
                  <a:ext uri="{0D108BD9-81ED-4DB2-BD59-A6C34878D82A}">
                    <a16:rowId xmlns:a16="http://schemas.microsoft.com/office/drawing/2014/main" val="647644152"/>
                  </a:ext>
                </a:extLst>
              </a:tr>
              <a:tr h="370840">
                <a:tc>
                  <a:txBody>
                    <a:bodyPr/>
                    <a:lstStyle/>
                    <a:p>
                      <a:pPr algn="ctr"/>
                      <a:r>
                        <a:rPr lang="it-IT" dirty="0"/>
                        <a:t>1</a:t>
                      </a:r>
                    </a:p>
                  </a:txBody>
                  <a:tcPr/>
                </a:tc>
                <a:tc>
                  <a:txBody>
                    <a:bodyPr/>
                    <a:lstStyle/>
                    <a:p>
                      <a:pPr algn="ctr"/>
                      <a:r>
                        <a:rPr lang="it-IT" dirty="0"/>
                        <a:t>-1</a:t>
                      </a:r>
                    </a:p>
                  </a:txBody>
                  <a:tcPr/>
                </a:tc>
                <a:tc>
                  <a:txBody>
                    <a:bodyPr/>
                    <a:lstStyle/>
                    <a:p>
                      <a:pPr algn="ctr"/>
                      <a:r>
                        <a:rPr lang="it-IT" dirty="0"/>
                        <a:t>0</a:t>
                      </a:r>
                    </a:p>
                  </a:txBody>
                  <a:tcPr/>
                </a:tc>
                <a:tc>
                  <a:txBody>
                    <a:bodyPr/>
                    <a:lstStyle/>
                    <a:p>
                      <a:pPr algn="ctr"/>
                      <a:r>
                        <a:rPr lang="it-IT" dirty="0"/>
                        <a:t>0</a:t>
                      </a:r>
                    </a:p>
                  </a:txBody>
                  <a:tcPr/>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extLst>
                  <a:ext uri="{0D108BD9-81ED-4DB2-BD59-A6C34878D82A}">
                    <a16:rowId xmlns:a16="http://schemas.microsoft.com/office/drawing/2014/main" val="3006406211"/>
                  </a:ext>
                </a:extLst>
              </a:tr>
              <a:tr h="370840">
                <a:tc>
                  <a:txBody>
                    <a:bodyPr/>
                    <a:lstStyle/>
                    <a:p>
                      <a:pPr algn="ctr"/>
                      <a:r>
                        <a:rPr lang="it-IT" dirty="0"/>
                        <a:t>2</a:t>
                      </a:r>
                    </a:p>
                  </a:txBody>
                  <a:tcPr/>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442248098"/>
                  </a:ext>
                </a:extLst>
              </a:tr>
              <a:tr h="370840">
                <a:tc>
                  <a:txBody>
                    <a:bodyPr/>
                    <a:lstStyle/>
                    <a:p>
                      <a:pPr algn="ctr"/>
                      <a:r>
                        <a:rPr lang="it-IT" dirty="0"/>
                        <a:t>3</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4095835177"/>
                  </a:ext>
                </a:extLst>
              </a:tr>
              <a:tr h="370840">
                <a:tc>
                  <a:txBody>
                    <a:bodyPr/>
                    <a:lstStyle/>
                    <a:p>
                      <a:pPr algn="ctr"/>
                      <a:r>
                        <a:rPr lang="it-IT" dirty="0"/>
                        <a:t>4</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437626370"/>
                  </a:ext>
                </a:extLst>
              </a:tr>
              <a:tr h="370840">
                <a:tc>
                  <a:txBody>
                    <a:bodyPr/>
                    <a:lstStyle/>
                    <a:p>
                      <a:pPr algn="ctr"/>
                      <a:r>
                        <a:rPr lang="it-IT" dirty="0"/>
                        <a:t>5</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3459893937"/>
                  </a:ext>
                </a:extLst>
              </a:tr>
              <a:tr h="370840">
                <a:tc>
                  <a:txBody>
                    <a:bodyPr/>
                    <a:lstStyle/>
                    <a:p>
                      <a:pPr algn="ctr"/>
                      <a:r>
                        <a:rPr lang="it-IT" dirty="0"/>
                        <a:t>6</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26436750"/>
                  </a:ext>
                </a:extLst>
              </a:tr>
              <a:tr h="370840">
                <a:tc>
                  <a:txBody>
                    <a:bodyPr/>
                    <a:lstStyle/>
                    <a:p>
                      <a:pPr algn="ctr"/>
                      <a:r>
                        <a:rPr lang="it-IT" dirty="0"/>
                        <a:t>7</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290132517"/>
                  </a:ext>
                </a:extLst>
              </a:tr>
              <a:tr h="370840">
                <a:tc>
                  <a:txBody>
                    <a:bodyPr/>
                    <a:lstStyle/>
                    <a:p>
                      <a:pPr algn="ctr"/>
                      <a:r>
                        <a:rPr lang="it-IT" dirty="0"/>
                        <a:t>8</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380738723"/>
                  </a:ext>
                </a:extLst>
              </a:tr>
              <a:tr h="370840">
                <a:tc>
                  <a:txBody>
                    <a:bodyPr/>
                    <a:lstStyle/>
                    <a:p>
                      <a:pPr algn="ctr"/>
                      <a:r>
                        <a:rPr lang="it-IT" dirty="0"/>
                        <a:t>9</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19150045"/>
                  </a:ext>
                </a:extLst>
              </a:tr>
              <a:tr h="370840">
                <a:tc>
                  <a:txBody>
                    <a:bodyPr/>
                    <a:lstStyle/>
                    <a:p>
                      <a:pPr algn="ctr"/>
                      <a:r>
                        <a:rPr lang="it-IT" dirty="0"/>
                        <a:t>10</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545436331"/>
                  </a:ext>
                </a:extLst>
              </a:tr>
              <a:tr h="370840">
                <a:tc>
                  <a:txBody>
                    <a:bodyPr/>
                    <a:lstStyle/>
                    <a:p>
                      <a:pPr algn="ctr"/>
                      <a:r>
                        <a:rPr lang="it-IT" dirty="0"/>
                        <a:t>11</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3664168057"/>
                  </a:ext>
                </a:extLst>
              </a:tr>
              <a:tr h="370840">
                <a:tc>
                  <a:txBody>
                    <a:bodyPr/>
                    <a:lstStyle/>
                    <a:p>
                      <a:pPr algn="ctr"/>
                      <a:r>
                        <a:rPr lang="it-IT" dirty="0"/>
                        <a:t>12</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137315494"/>
                  </a:ext>
                </a:extLst>
              </a:tr>
            </a:tbl>
          </a:graphicData>
        </a:graphic>
      </p:graphicFrame>
      <p:sp>
        <p:nvSpPr>
          <p:cNvPr id="5" name="CasellaDiTesto 4">
            <a:extLst>
              <a:ext uri="{FF2B5EF4-FFF2-40B4-BE49-F238E27FC236}">
                <a16:creationId xmlns:a16="http://schemas.microsoft.com/office/drawing/2014/main" id="{1C0D3F40-0FA6-AE4B-B317-31946E90F809}"/>
              </a:ext>
            </a:extLst>
          </p:cNvPr>
          <p:cNvSpPr txBox="1"/>
          <p:nvPr/>
        </p:nvSpPr>
        <p:spPr>
          <a:xfrm>
            <a:off x="1138723" y="3402142"/>
            <a:ext cx="1444626" cy="369332"/>
          </a:xfrm>
          <a:prstGeom prst="rect">
            <a:avLst/>
          </a:prstGeom>
          <a:noFill/>
        </p:spPr>
        <p:txBody>
          <a:bodyPr wrap="none" rtlCol="0">
            <a:spAutoFit/>
          </a:bodyPr>
          <a:lstStyle/>
          <a:p>
            <a:r>
              <a:rPr lang="it-IT" dirty="0"/>
              <a:t>Lambda = 0.3</a:t>
            </a:r>
          </a:p>
        </p:txBody>
      </p:sp>
      <p:graphicFrame>
        <p:nvGraphicFramePr>
          <p:cNvPr id="6" name="Tabella 5">
            <a:extLst>
              <a:ext uri="{FF2B5EF4-FFF2-40B4-BE49-F238E27FC236}">
                <a16:creationId xmlns:a16="http://schemas.microsoft.com/office/drawing/2014/main" id="{58620517-8327-5E49-9C6A-8EB32CC9A36C}"/>
              </a:ext>
            </a:extLst>
          </p:cNvPr>
          <p:cNvGraphicFramePr>
            <a:graphicFrameLocks noGrp="1"/>
          </p:cNvGraphicFramePr>
          <p:nvPr/>
        </p:nvGraphicFramePr>
        <p:xfrm>
          <a:off x="994947" y="1608113"/>
          <a:ext cx="2086476" cy="1483360"/>
        </p:xfrm>
        <a:graphic>
          <a:graphicData uri="http://schemas.openxmlformats.org/drawingml/2006/table">
            <a:tbl>
              <a:tblPr firstRow="1" bandRow="1">
                <a:tableStyleId>{5C22544A-7EE6-4342-B048-85BDC9FD1C3A}</a:tableStyleId>
              </a:tblPr>
              <a:tblGrid>
                <a:gridCol w="521619">
                  <a:extLst>
                    <a:ext uri="{9D8B030D-6E8A-4147-A177-3AD203B41FA5}">
                      <a16:colId xmlns:a16="http://schemas.microsoft.com/office/drawing/2014/main" val="3007943972"/>
                    </a:ext>
                  </a:extLst>
                </a:gridCol>
                <a:gridCol w="521619">
                  <a:extLst>
                    <a:ext uri="{9D8B030D-6E8A-4147-A177-3AD203B41FA5}">
                      <a16:colId xmlns:a16="http://schemas.microsoft.com/office/drawing/2014/main" val="220923671"/>
                    </a:ext>
                  </a:extLst>
                </a:gridCol>
                <a:gridCol w="521619">
                  <a:extLst>
                    <a:ext uri="{9D8B030D-6E8A-4147-A177-3AD203B41FA5}">
                      <a16:colId xmlns:a16="http://schemas.microsoft.com/office/drawing/2014/main" val="1888354542"/>
                    </a:ext>
                  </a:extLst>
                </a:gridCol>
                <a:gridCol w="521619">
                  <a:extLst>
                    <a:ext uri="{9D8B030D-6E8A-4147-A177-3AD203B41FA5}">
                      <a16:colId xmlns:a16="http://schemas.microsoft.com/office/drawing/2014/main" val="2090727010"/>
                    </a:ext>
                  </a:extLst>
                </a:gridCol>
              </a:tblGrid>
              <a:tr h="370840">
                <a:tc>
                  <a:txBody>
                    <a:bodyPr/>
                    <a:lstStyle/>
                    <a:p>
                      <a:pPr algn="ctr"/>
                      <a:r>
                        <a:rPr lang="it-IT" dirty="0"/>
                        <a:t>id</a:t>
                      </a:r>
                    </a:p>
                  </a:txBody>
                  <a:tcPr/>
                </a:tc>
                <a:tc>
                  <a:txBody>
                    <a:bodyPr/>
                    <a:lstStyle/>
                    <a:p>
                      <a:pPr algn="ctr"/>
                      <a:r>
                        <a:rPr lang="it-IT" dirty="0"/>
                        <a:t>X</a:t>
                      </a:r>
                      <a:r>
                        <a:rPr lang="it-IT" baseline="-25000" dirty="0"/>
                        <a:t>1</a:t>
                      </a:r>
                    </a:p>
                  </a:txBody>
                  <a:tcPr/>
                </a:tc>
                <a:tc>
                  <a:txBody>
                    <a:bodyPr/>
                    <a:lstStyle/>
                    <a:p>
                      <a:pPr algn="ctr"/>
                      <a:r>
                        <a:rPr lang="it-IT" dirty="0"/>
                        <a:t>X</a:t>
                      </a:r>
                      <a:r>
                        <a:rPr lang="it-IT" baseline="-25000" dirty="0"/>
                        <a:t>2</a:t>
                      </a:r>
                      <a:endParaRPr lang="it-IT" dirty="0"/>
                    </a:p>
                  </a:txBody>
                  <a:tcPr/>
                </a:tc>
                <a:tc>
                  <a:txBody>
                    <a:bodyPr/>
                    <a:lstStyle/>
                    <a:p>
                      <a:pPr algn="ctr"/>
                      <a:r>
                        <a:rPr lang="it-IT" dirty="0"/>
                        <a:t>Y</a:t>
                      </a:r>
                    </a:p>
                  </a:txBody>
                  <a:tcPr/>
                </a:tc>
                <a:extLst>
                  <a:ext uri="{0D108BD9-81ED-4DB2-BD59-A6C34878D82A}">
                    <a16:rowId xmlns:a16="http://schemas.microsoft.com/office/drawing/2014/main" val="647644152"/>
                  </a:ext>
                </a:extLst>
              </a:tr>
              <a:tr h="370840">
                <a:tc>
                  <a:txBody>
                    <a:bodyPr/>
                    <a:lstStyle/>
                    <a:p>
                      <a:pPr algn="ctr"/>
                      <a:r>
                        <a:rPr lang="it-IT" dirty="0"/>
                        <a:t>a</a:t>
                      </a:r>
                    </a:p>
                  </a:txBody>
                  <a:tcPr/>
                </a:tc>
                <a:tc>
                  <a:txBody>
                    <a:bodyPr/>
                    <a:lstStyle/>
                    <a:p>
                      <a:pPr algn="ctr"/>
                      <a:r>
                        <a:rPr lang="it-IT" dirty="0"/>
                        <a:t>0</a:t>
                      </a:r>
                    </a:p>
                  </a:txBody>
                  <a:tcPr/>
                </a:tc>
                <a:tc>
                  <a:txBody>
                    <a:bodyPr/>
                    <a:lstStyle/>
                    <a:p>
                      <a:pPr algn="ctr"/>
                      <a:r>
                        <a:rPr lang="it-IT" dirty="0"/>
                        <a:t>1</a:t>
                      </a:r>
                    </a:p>
                  </a:txBody>
                  <a:tcPr/>
                </a:tc>
                <a:tc>
                  <a:txBody>
                    <a:bodyPr/>
                    <a:lstStyle/>
                    <a:p>
                      <a:pPr algn="ctr"/>
                      <a:r>
                        <a:rPr lang="it-IT" dirty="0"/>
                        <a:t>-1</a:t>
                      </a:r>
                    </a:p>
                  </a:txBody>
                  <a:tcPr/>
                </a:tc>
                <a:extLst>
                  <a:ext uri="{0D108BD9-81ED-4DB2-BD59-A6C34878D82A}">
                    <a16:rowId xmlns:a16="http://schemas.microsoft.com/office/drawing/2014/main" val="3006406211"/>
                  </a:ext>
                </a:extLst>
              </a:tr>
              <a:tr h="370840">
                <a:tc>
                  <a:txBody>
                    <a:bodyPr/>
                    <a:lstStyle/>
                    <a:p>
                      <a:pPr algn="ctr"/>
                      <a:r>
                        <a:rPr lang="it-IT" dirty="0"/>
                        <a:t>b</a:t>
                      </a:r>
                    </a:p>
                  </a:txBody>
                  <a:tcPr/>
                </a:tc>
                <a:tc>
                  <a:txBody>
                    <a:bodyPr/>
                    <a:lstStyle/>
                    <a:p>
                      <a:pPr algn="ctr"/>
                      <a:r>
                        <a:rPr lang="it-IT" dirty="0"/>
                        <a:t>0</a:t>
                      </a:r>
                    </a:p>
                  </a:txBody>
                  <a:tcPr/>
                </a:tc>
                <a:tc>
                  <a:txBody>
                    <a:bodyPr/>
                    <a:lstStyle/>
                    <a:p>
                      <a:pPr algn="ctr"/>
                      <a:r>
                        <a:rPr lang="it-IT" dirty="0"/>
                        <a:t>0</a:t>
                      </a:r>
                    </a:p>
                  </a:txBody>
                  <a:tcPr/>
                </a:tc>
                <a:tc>
                  <a:txBody>
                    <a:bodyPr/>
                    <a:lstStyle/>
                    <a:p>
                      <a:pPr algn="ctr"/>
                      <a:r>
                        <a:rPr lang="it-IT" dirty="0"/>
                        <a:t>1</a:t>
                      </a:r>
                    </a:p>
                  </a:txBody>
                  <a:tcPr/>
                </a:tc>
                <a:extLst>
                  <a:ext uri="{0D108BD9-81ED-4DB2-BD59-A6C34878D82A}">
                    <a16:rowId xmlns:a16="http://schemas.microsoft.com/office/drawing/2014/main" val="1442248098"/>
                  </a:ext>
                </a:extLst>
              </a:tr>
              <a:tr h="370840">
                <a:tc>
                  <a:txBody>
                    <a:bodyPr/>
                    <a:lstStyle/>
                    <a:p>
                      <a:pPr algn="ctr"/>
                      <a:r>
                        <a:rPr lang="it-IT" dirty="0"/>
                        <a:t>c</a:t>
                      </a:r>
                    </a:p>
                  </a:txBody>
                  <a:tcPr/>
                </a:tc>
                <a:tc>
                  <a:txBody>
                    <a:bodyPr/>
                    <a:lstStyle/>
                    <a:p>
                      <a:pPr algn="ctr"/>
                      <a:r>
                        <a:rPr lang="it-IT" dirty="0"/>
                        <a:t>1</a:t>
                      </a:r>
                    </a:p>
                  </a:txBody>
                  <a:tcPr/>
                </a:tc>
                <a:tc>
                  <a:txBody>
                    <a:bodyPr/>
                    <a:lstStyle/>
                    <a:p>
                      <a:pPr algn="ctr"/>
                      <a:r>
                        <a:rPr lang="it-IT" dirty="0"/>
                        <a:t>2</a:t>
                      </a:r>
                    </a:p>
                  </a:txBody>
                  <a:tcPr/>
                </a:tc>
                <a:tc>
                  <a:txBody>
                    <a:bodyPr/>
                    <a:lstStyle/>
                    <a:p>
                      <a:pPr algn="ctr"/>
                      <a:r>
                        <a:rPr lang="it-IT" dirty="0"/>
                        <a:t>-1</a:t>
                      </a:r>
                    </a:p>
                  </a:txBody>
                  <a:tcPr/>
                </a:tc>
                <a:extLst>
                  <a:ext uri="{0D108BD9-81ED-4DB2-BD59-A6C34878D82A}">
                    <a16:rowId xmlns:a16="http://schemas.microsoft.com/office/drawing/2014/main" val="4095835177"/>
                  </a:ext>
                </a:extLst>
              </a:tr>
            </a:tbl>
          </a:graphicData>
        </a:graphic>
      </p:graphicFrame>
      <p:sp>
        <p:nvSpPr>
          <p:cNvPr id="7" name="CasellaDiTesto 6">
            <a:extLst>
              <a:ext uri="{FF2B5EF4-FFF2-40B4-BE49-F238E27FC236}">
                <a16:creationId xmlns:a16="http://schemas.microsoft.com/office/drawing/2014/main" id="{927C77E6-5F33-8046-9F2E-9975A8958726}"/>
              </a:ext>
            </a:extLst>
          </p:cNvPr>
          <p:cNvSpPr txBox="1"/>
          <p:nvPr/>
        </p:nvSpPr>
        <p:spPr>
          <a:xfrm>
            <a:off x="1436079" y="3840407"/>
            <a:ext cx="849913" cy="369332"/>
          </a:xfrm>
          <a:prstGeom prst="rect">
            <a:avLst/>
          </a:prstGeom>
          <a:noFill/>
        </p:spPr>
        <p:txBody>
          <a:bodyPr wrap="none" rtlCol="0">
            <a:spAutoFit/>
          </a:bodyPr>
          <a:lstStyle/>
          <a:p>
            <a:r>
              <a:rPr lang="it-IT" dirty="0"/>
              <a:t>f = </a:t>
            </a:r>
            <a:r>
              <a:rPr lang="it-IT" dirty="0" err="1"/>
              <a:t>sign</a:t>
            </a:r>
            <a:endParaRPr lang="it-IT" dirty="0"/>
          </a:p>
        </p:txBody>
      </p:sp>
      <p:cxnSp>
        <p:nvCxnSpPr>
          <p:cNvPr id="8" name="Connettore 2 7">
            <a:extLst>
              <a:ext uri="{FF2B5EF4-FFF2-40B4-BE49-F238E27FC236}">
                <a16:creationId xmlns:a16="http://schemas.microsoft.com/office/drawing/2014/main" id="{12F20BFB-0D77-9145-918E-4D8756B357A4}"/>
              </a:ext>
            </a:extLst>
          </p:cNvPr>
          <p:cNvCxnSpPr>
            <a:cxnSpLocks/>
          </p:cNvCxnSpPr>
          <p:nvPr/>
        </p:nvCxnSpPr>
        <p:spPr>
          <a:xfrm flipV="1">
            <a:off x="5109210" y="2137410"/>
            <a:ext cx="4469130" cy="377190"/>
          </a:xfrm>
          <a:prstGeom prst="straightConnector1">
            <a:avLst/>
          </a:prstGeom>
          <a:ln w="28575">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9" name="Connettore 2 8">
            <a:extLst>
              <a:ext uri="{FF2B5EF4-FFF2-40B4-BE49-F238E27FC236}">
                <a16:creationId xmlns:a16="http://schemas.microsoft.com/office/drawing/2014/main" id="{8978B345-8132-514F-B832-DA5FA6B463E8}"/>
              </a:ext>
            </a:extLst>
          </p:cNvPr>
          <p:cNvCxnSpPr>
            <a:cxnSpLocks/>
          </p:cNvCxnSpPr>
          <p:nvPr/>
        </p:nvCxnSpPr>
        <p:spPr>
          <a:xfrm>
            <a:off x="5109210" y="2137410"/>
            <a:ext cx="4469130"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0" name="Object 2">
            <a:extLst>
              <a:ext uri="{FF2B5EF4-FFF2-40B4-BE49-F238E27FC236}">
                <a16:creationId xmlns:a16="http://schemas.microsoft.com/office/drawing/2014/main" id="{04B7AC11-52F3-0F44-B03F-9F3D6F5F283B}"/>
              </a:ext>
            </a:extLst>
          </p:cNvPr>
          <p:cNvGraphicFramePr>
            <a:graphicFrameLocks noChangeAspect="1"/>
          </p:cNvGraphicFramePr>
          <p:nvPr/>
        </p:nvGraphicFramePr>
        <p:xfrm>
          <a:off x="4160783" y="137754"/>
          <a:ext cx="7620000" cy="555625"/>
        </p:xfrm>
        <a:graphic>
          <a:graphicData uri="http://schemas.openxmlformats.org/presentationml/2006/ole">
            <mc:AlternateContent xmlns:mc="http://schemas.openxmlformats.org/markup-compatibility/2006">
              <mc:Choice xmlns:v="urn:schemas-microsoft-com:vml" Requires="v">
                <p:oleObj name="Equation" r:id="rId2" imgW="3213100" imgH="241300" progId="Equation.3">
                  <p:embed/>
                </p:oleObj>
              </mc:Choice>
              <mc:Fallback>
                <p:oleObj name="Equation" r:id="rId2" imgW="3213100" imgH="241300" progId="Equation.3">
                  <p:embed/>
                  <p:pic>
                    <p:nvPicPr>
                      <p:cNvPr id="10" name="Object 2">
                        <a:extLst>
                          <a:ext uri="{FF2B5EF4-FFF2-40B4-BE49-F238E27FC236}">
                            <a16:creationId xmlns:a16="http://schemas.microsoft.com/office/drawing/2014/main" id="{04B7AC11-52F3-0F44-B03F-9F3D6F5F28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0783" y="137754"/>
                        <a:ext cx="76200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917584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6EC64A-1F68-7243-81CC-935E096D57EB}"/>
              </a:ext>
            </a:extLst>
          </p:cNvPr>
          <p:cNvSpPr>
            <a:spLocks noGrp="1"/>
          </p:cNvSpPr>
          <p:nvPr>
            <p:ph type="title"/>
          </p:nvPr>
        </p:nvSpPr>
        <p:spPr/>
        <p:txBody>
          <a:bodyPr/>
          <a:lstStyle/>
          <a:p>
            <a:r>
              <a:rPr lang="it-IT" dirty="0"/>
              <a:t>Train Linear </a:t>
            </a:r>
            <a:r>
              <a:rPr lang="it-IT" dirty="0" err="1"/>
              <a:t>Perceptron</a:t>
            </a:r>
            <a:endParaRPr lang="it-IT" dirty="0"/>
          </a:p>
        </p:txBody>
      </p:sp>
      <p:graphicFrame>
        <p:nvGraphicFramePr>
          <p:cNvPr id="4" name="Tabella 3">
            <a:extLst>
              <a:ext uri="{FF2B5EF4-FFF2-40B4-BE49-F238E27FC236}">
                <a16:creationId xmlns:a16="http://schemas.microsoft.com/office/drawing/2014/main" id="{0398B540-D1C9-3745-A9F4-F0AF9C7282A6}"/>
              </a:ext>
            </a:extLst>
          </p:cNvPr>
          <p:cNvGraphicFramePr>
            <a:graphicFrameLocks noGrp="1"/>
          </p:cNvGraphicFramePr>
          <p:nvPr/>
        </p:nvGraphicFramePr>
        <p:xfrm>
          <a:off x="3755463" y="1538539"/>
          <a:ext cx="8025320" cy="4820920"/>
        </p:xfrm>
        <a:graphic>
          <a:graphicData uri="http://schemas.openxmlformats.org/drawingml/2006/table">
            <a:tbl>
              <a:tblPr firstRow="1" bandRow="1">
                <a:tableStyleId>{5C22544A-7EE6-4342-B048-85BDC9FD1C3A}</a:tableStyleId>
              </a:tblPr>
              <a:tblGrid>
                <a:gridCol w="802532">
                  <a:extLst>
                    <a:ext uri="{9D8B030D-6E8A-4147-A177-3AD203B41FA5}">
                      <a16:colId xmlns:a16="http://schemas.microsoft.com/office/drawing/2014/main" val="3007943972"/>
                    </a:ext>
                  </a:extLst>
                </a:gridCol>
                <a:gridCol w="802532">
                  <a:extLst>
                    <a:ext uri="{9D8B030D-6E8A-4147-A177-3AD203B41FA5}">
                      <a16:colId xmlns:a16="http://schemas.microsoft.com/office/drawing/2014/main" val="220923671"/>
                    </a:ext>
                  </a:extLst>
                </a:gridCol>
                <a:gridCol w="802532">
                  <a:extLst>
                    <a:ext uri="{9D8B030D-6E8A-4147-A177-3AD203B41FA5}">
                      <a16:colId xmlns:a16="http://schemas.microsoft.com/office/drawing/2014/main" val="1888354542"/>
                    </a:ext>
                  </a:extLst>
                </a:gridCol>
                <a:gridCol w="802532">
                  <a:extLst>
                    <a:ext uri="{9D8B030D-6E8A-4147-A177-3AD203B41FA5}">
                      <a16:colId xmlns:a16="http://schemas.microsoft.com/office/drawing/2014/main" val="4183561819"/>
                    </a:ext>
                  </a:extLst>
                </a:gridCol>
                <a:gridCol w="802532">
                  <a:extLst>
                    <a:ext uri="{9D8B030D-6E8A-4147-A177-3AD203B41FA5}">
                      <a16:colId xmlns:a16="http://schemas.microsoft.com/office/drawing/2014/main" val="2090727010"/>
                    </a:ext>
                  </a:extLst>
                </a:gridCol>
                <a:gridCol w="802532">
                  <a:extLst>
                    <a:ext uri="{9D8B030D-6E8A-4147-A177-3AD203B41FA5}">
                      <a16:colId xmlns:a16="http://schemas.microsoft.com/office/drawing/2014/main" val="1559798696"/>
                    </a:ext>
                  </a:extLst>
                </a:gridCol>
                <a:gridCol w="802532">
                  <a:extLst>
                    <a:ext uri="{9D8B030D-6E8A-4147-A177-3AD203B41FA5}">
                      <a16:colId xmlns:a16="http://schemas.microsoft.com/office/drawing/2014/main" val="3564938619"/>
                    </a:ext>
                  </a:extLst>
                </a:gridCol>
                <a:gridCol w="802532">
                  <a:extLst>
                    <a:ext uri="{9D8B030D-6E8A-4147-A177-3AD203B41FA5}">
                      <a16:colId xmlns:a16="http://schemas.microsoft.com/office/drawing/2014/main" val="2640809818"/>
                    </a:ext>
                  </a:extLst>
                </a:gridCol>
                <a:gridCol w="802532">
                  <a:extLst>
                    <a:ext uri="{9D8B030D-6E8A-4147-A177-3AD203B41FA5}">
                      <a16:colId xmlns:a16="http://schemas.microsoft.com/office/drawing/2014/main" val="4147220622"/>
                    </a:ext>
                  </a:extLst>
                </a:gridCol>
                <a:gridCol w="802532">
                  <a:extLst>
                    <a:ext uri="{9D8B030D-6E8A-4147-A177-3AD203B41FA5}">
                      <a16:colId xmlns:a16="http://schemas.microsoft.com/office/drawing/2014/main" val="1678705754"/>
                    </a:ext>
                  </a:extLst>
                </a:gridCol>
              </a:tblGrid>
              <a:tr h="370840">
                <a:tc>
                  <a:txBody>
                    <a:bodyPr/>
                    <a:lstStyle/>
                    <a:p>
                      <a:pPr algn="ctr"/>
                      <a:r>
                        <a:rPr lang="it-IT" dirty="0" err="1"/>
                        <a:t>it</a:t>
                      </a:r>
                      <a:endParaRPr lang="it-IT" dirty="0"/>
                    </a:p>
                  </a:txBody>
                  <a:tcPr/>
                </a:tc>
                <a:tc>
                  <a:txBody>
                    <a:bodyPr/>
                    <a:lstStyle/>
                    <a:p>
                      <a:pPr algn="ctr"/>
                      <a:r>
                        <a:rPr lang="it-IT" baseline="0" dirty="0"/>
                        <a:t>W</a:t>
                      </a:r>
                      <a:r>
                        <a:rPr lang="it-IT" baseline="-25000" dirty="0"/>
                        <a:t>0</a:t>
                      </a:r>
                    </a:p>
                  </a:txBody>
                  <a:tcPr/>
                </a:tc>
                <a:tc>
                  <a:txBody>
                    <a:bodyPr/>
                    <a:lstStyle/>
                    <a:p>
                      <a:pPr algn="ctr"/>
                      <a:r>
                        <a:rPr lang="it-IT" baseline="0" dirty="0"/>
                        <a:t>W</a:t>
                      </a:r>
                      <a:r>
                        <a:rPr lang="it-IT" baseline="-25000" dirty="0"/>
                        <a:t>1</a:t>
                      </a:r>
                    </a:p>
                  </a:txBody>
                  <a:tcPr/>
                </a:tc>
                <a:tc>
                  <a:txBody>
                    <a:bodyPr/>
                    <a:lstStyle/>
                    <a:p>
                      <a:pPr algn="ctr"/>
                      <a:r>
                        <a:rPr lang="it-IT" baseline="0" dirty="0"/>
                        <a:t>W</a:t>
                      </a:r>
                      <a:r>
                        <a:rPr lang="it-IT" baseline="-25000" dirty="0"/>
                        <a:t>2</a:t>
                      </a:r>
                    </a:p>
                  </a:txBody>
                  <a:tcPr/>
                </a:tc>
                <a:tc>
                  <a:txBody>
                    <a:bodyPr/>
                    <a:lstStyle/>
                    <a:p>
                      <a:pPr algn="ctr"/>
                      <a:r>
                        <a:rPr lang="it-IT" dirty="0"/>
                        <a:t>X.W</a:t>
                      </a:r>
                    </a:p>
                  </a:txBody>
                  <a:tcPr/>
                </a:tc>
                <a:tc>
                  <a:txBody>
                    <a:bodyPr/>
                    <a:lstStyle/>
                    <a:p>
                      <a:pPr algn="ctr"/>
                      <a:r>
                        <a:rPr lang="it-IT" dirty="0" err="1"/>
                        <a:t>f</a:t>
                      </a:r>
                      <a:r>
                        <a:rPr lang="it-IT" dirty="0"/>
                        <a:t>(X.W)</a:t>
                      </a:r>
                    </a:p>
                  </a:txBody>
                  <a:tcPr/>
                </a:tc>
                <a:tc>
                  <a:txBody>
                    <a:bodyPr/>
                    <a:lstStyle/>
                    <a:p>
                      <a:pPr algn="ctr"/>
                      <a:r>
                        <a:rPr lang="it-IT" dirty="0" err="1"/>
                        <a:t>error</a:t>
                      </a:r>
                      <a:endParaRPr lang="it-IT" dirty="0"/>
                    </a:p>
                  </a:txBody>
                  <a:tcPr/>
                </a:tc>
                <a:tc>
                  <a:txBody>
                    <a:bodyPr/>
                    <a:lstStyle/>
                    <a:p>
                      <a:pPr algn="ctr"/>
                      <a:r>
                        <a:rPr lang="it-IT" dirty="0"/>
                        <a:t>delta</a:t>
                      </a:r>
                      <a:r>
                        <a:rPr lang="it-IT" baseline="-25000"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2</a:t>
                      </a:r>
                    </a:p>
                  </a:txBody>
                  <a:tcPr/>
                </a:tc>
                <a:extLst>
                  <a:ext uri="{0D108BD9-81ED-4DB2-BD59-A6C34878D82A}">
                    <a16:rowId xmlns:a16="http://schemas.microsoft.com/office/drawing/2014/main" val="647644152"/>
                  </a:ext>
                </a:extLst>
              </a:tr>
              <a:tr h="370840">
                <a:tc>
                  <a:txBody>
                    <a:bodyPr/>
                    <a:lstStyle/>
                    <a:p>
                      <a:pPr algn="ctr"/>
                      <a:r>
                        <a:rPr lang="it-IT" dirty="0"/>
                        <a:t>1</a:t>
                      </a:r>
                    </a:p>
                  </a:txBody>
                  <a:tcPr/>
                </a:tc>
                <a:tc>
                  <a:txBody>
                    <a:bodyPr/>
                    <a:lstStyle/>
                    <a:p>
                      <a:pPr algn="ctr"/>
                      <a:r>
                        <a:rPr lang="it-IT" dirty="0"/>
                        <a:t>-1</a:t>
                      </a:r>
                    </a:p>
                  </a:txBody>
                  <a:tcPr/>
                </a:tc>
                <a:tc>
                  <a:txBody>
                    <a:bodyPr/>
                    <a:lstStyle/>
                    <a:p>
                      <a:pPr algn="ctr"/>
                      <a:r>
                        <a:rPr lang="it-IT" dirty="0"/>
                        <a:t>0</a:t>
                      </a:r>
                    </a:p>
                  </a:txBody>
                  <a:tcPr/>
                </a:tc>
                <a:tc>
                  <a:txBody>
                    <a:bodyPr/>
                    <a:lstStyle/>
                    <a:p>
                      <a:pPr algn="ctr"/>
                      <a:r>
                        <a:rPr lang="it-IT" dirty="0"/>
                        <a:t>0</a:t>
                      </a:r>
                    </a:p>
                  </a:txBody>
                  <a:tcPr/>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extLst>
                  <a:ext uri="{0D108BD9-81ED-4DB2-BD59-A6C34878D82A}">
                    <a16:rowId xmlns:a16="http://schemas.microsoft.com/office/drawing/2014/main" val="3006406211"/>
                  </a:ext>
                </a:extLst>
              </a:tr>
              <a:tr h="370840">
                <a:tc>
                  <a:txBody>
                    <a:bodyPr/>
                    <a:lstStyle/>
                    <a:p>
                      <a:pPr algn="ctr"/>
                      <a:r>
                        <a:rPr lang="it-IT" dirty="0"/>
                        <a:t>2</a:t>
                      </a:r>
                    </a:p>
                  </a:txBody>
                  <a:tcPr/>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442248098"/>
                  </a:ext>
                </a:extLst>
              </a:tr>
              <a:tr h="370840">
                <a:tc>
                  <a:txBody>
                    <a:bodyPr/>
                    <a:lstStyle/>
                    <a:p>
                      <a:pPr algn="ctr"/>
                      <a:r>
                        <a:rPr lang="it-IT" dirty="0"/>
                        <a:t>3</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4095835177"/>
                  </a:ext>
                </a:extLst>
              </a:tr>
              <a:tr h="370840">
                <a:tc>
                  <a:txBody>
                    <a:bodyPr/>
                    <a:lstStyle/>
                    <a:p>
                      <a:pPr algn="ctr"/>
                      <a:r>
                        <a:rPr lang="it-IT" dirty="0"/>
                        <a:t>4</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437626370"/>
                  </a:ext>
                </a:extLst>
              </a:tr>
              <a:tr h="370840">
                <a:tc>
                  <a:txBody>
                    <a:bodyPr/>
                    <a:lstStyle/>
                    <a:p>
                      <a:pPr algn="ctr"/>
                      <a:r>
                        <a:rPr lang="it-IT" dirty="0"/>
                        <a:t>5</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3459893937"/>
                  </a:ext>
                </a:extLst>
              </a:tr>
              <a:tr h="370840">
                <a:tc>
                  <a:txBody>
                    <a:bodyPr/>
                    <a:lstStyle/>
                    <a:p>
                      <a:pPr algn="ctr"/>
                      <a:r>
                        <a:rPr lang="it-IT" dirty="0"/>
                        <a:t>6</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26436750"/>
                  </a:ext>
                </a:extLst>
              </a:tr>
              <a:tr h="370840">
                <a:tc>
                  <a:txBody>
                    <a:bodyPr/>
                    <a:lstStyle/>
                    <a:p>
                      <a:pPr algn="ctr"/>
                      <a:r>
                        <a:rPr lang="it-IT" dirty="0"/>
                        <a:t>7</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290132517"/>
                  </a:ext>
                </a:extLst>
              </a:tr>
              <a:tr h="370840">
                <a:tc>
                  <a:txBody>
                    <a:bodyPr/>
                    <a:lstStyle/>
                    <a:p>
                      <a:pPr algn="ctr"/>
                      <a:r>
                        <a:rPr lang="it-IT" dirty="0"/>
                        <a:t>8</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380738723"/>
                  </a:ext>
                </a:extLst>
              </a:tr>
              <a:tr h="370840">
                <a:tc>
                  <a:txBody>
                    <a:bodyPr/>
                    <a:lstStyle/>
                    <a:p>
                      <a:pPr algn="ctr"/>
                      <a:r>
                        <a:rPr lang="it-IT" dirty="0"/>
                        <a:t>9</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19150045"/>
                  </a:ext>
                </a:extLst>
              </a:tr>
              <a:tr h="370840">
                <a:tc>
                  <a:txBody>
                    <a:bodyPr/>
                    <a:lstStyle/>
                    <a:p>
                      <a:pPr algn="ctr"/>
                      <a:r>
                        <a:rPr lang="it-IT" dirty="0"/>
                        <a:t>10</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545436331"/>
                  </a:ext>
                </a:extLst>
              </a:tr>
              <a:tr h="370840">
                <a:tc>
                  <a:txBody>
                    <a:bodyPr/>
                    <a:lstStyle/>
                    <a:p>
                      <a:pPr algn="ctr"/>
                      <a:r>
                        <a:rPr lang="it-IT" dirty="0"/>
                        <a:t>11</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3664168057"/>
                  </a:ext>
                </a:extLst>
              </a:tr>
              <a:tr h="370840">
                <a:tc>
                  <a:txBody>
                    <a:bodyPr/>
                    <a:lstStyle/>
                    <a:p>
                      <a:pPr algn="ctr"/>
                      <a:r>
                        <a:rPr lang="it-IT" dirty="0"/>
                        <a:t>12</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137315494"/>
                  </a:ext>
                </a:extLst>
              </a:tr>
            </a:tbl>
          </a:graphicData>
        </a:graphic>
      </p:graphicFrame>
      <p:sp>
        <p:nvSpPr>
          <p:cNvPr id="5" name="CasellaDiTesto 4">
            <a:extLst>
              <a:ext uri="{FF2B5EF4-FFF2-40B4-BE49-F238E27FC236}">
                <a16:creationId xmlns:a16="http://schemas.microsoft.com/office/drawing/2014/main" id="{1C0D3F40-0FA6-AE4B-B317-31946E90F809}"/>
              </a:ext>
            </a:extLst>
          </p:cNvPr>
          <p:cNvSpPr txBox="1"/>
          <p:nvPr/>
        </p:nvSpPr>
        <p:spPr>
          <a:xfrm>
            <a:off x="1138723" y="3402142"/>
            <a:ext cx="1444626" cy="369332"/>
          </a:xfrm>
          <a:prstGeom prst="rect">
            <a:avLst/>
          </a:prstGeom>
          <a:noFill/>
        </p:spPr>
        <p:txBody>
          <a:bodyPr wrap="none" rtlCol="0">
            <a:spAutoFit/>
          </a:bodyPr>
          <a:lstStyle/>
          <a:p>
            <a:r>
              <a:rPr lang="it-IT" dirty="0"/>
              <a:t>Lambda = 0.3</a:t>
            </a:r>
          </a:p>
        </p:txBody>
      </p:sp>
      <p:graphicFrame>
        <p:nvGraphicFramePr>
          <p:cNvPr id="6" name="Tabella 5">
            <a:extLst>
              <a:ext uri="{FF2B5EF4-FFF2-40B4-BE49-F238E27FC236}">
                <a16:creationId xmlns:a16="http://schemas.microsoft.com/office/drawing/2014/main" id="{58620517-8327-5E49-9C6A-8EB32CC9A36C}"/>
              </a:ext>
            </a:extLst>
          </p:cNvPr>
          <p:cNvGraphicFramePr>
            <a:graphicFrameLocks noGrp="1"/>
          </p:cNvGraphicFramePr>
          <p:nvPr/>
        </p:nvGraphicFramePr>
        <p:xfrm>
          <a:off x="994947" y="1608113"/>
          <a:ext cx="2086476" cy="1483360"/>
        </p:xfrm>
        <a:graphic>
          <a:graphicData uri="http://schemas.openxmlformats.org/drawingml/2006/table">
            <a:tbl>
              <a:tblPr firstRow="1" bandRow="1">
                <a:tableStyleId>{5C22544A-7EE6-4342-B048-85BDC9FD1C3A}</a:tableStyleId>
              </a:tblPr>
              <a:tblGrid>
                <a:gridCol w="521619">
                  <a:extLst>
                    <a:ext uri="{9D8B030D-6E8A-4147-A177-3AD203B41FA5}">
                      <a16:colId xmlns:a16="http://schemas.microsoft.com/office/drawing/2014/main" val="3007943972"/>
                    </a:ext>
                  </a:extLst>
                </a:gridCol>
                <a:gridCol w="521619">
                  <a:extLst>
                    <a:ext uri="{9D8B030D-6E8A-4147-A177-3AD203B41FA5}">
                      <a16:colId xmlns:a16="http://schemas.microsoft.com/office/drawing/2014/main" val="220923671"/>
                    </a:ext>
                  </a:extLst>
                </a:gridCol>
                <a:gridCol w="521619">
                  <a:extLst>
                    <a:ext uri="{9D8B030D-6E8A-4147-A177-3AD203B41FA5}">
                      <a16:colId xmlns:a16="http://schemas.microsoft.com/office/drawing/2014/main" val="1888354542"/>
                    </a:ext>
                  </a:extLst>
                </a:gridCol>
                <a:gridCol w="521619">
                  <a:extLst>
                    <a:ext uri="{9D8B030D-6E8A-4147-A177-3AD203B41FA5}">
                      <a16:colId xmlns:a16="http://schemas.microsoft.com/office/drawing/2014/main" val="2090727010"/>
                    </a:ext>
                  </a:extLst>
                </a:gridCol>
              </a:tblGrid>
              <a:tr h="370840">
                <a:tc>
                  <a:txBody>
                    <a:bodyPr/>
                    <a:lstStyle/>
                    <a:p>
                      <a:pPr algn="ctr"/>
                      <a:r>
                        <a:rPr lang="it-IT" dirty="0"/>
                        <a:t>id</a:t>
                      </a:r>
                    </a:p>
                  </a:txBody>
                  <a:tcPr/>
                </a:tc>
                <a:tc>
                  <a:txBody>
                    <a:bodyPr/>
                    <a:lstStyle/>
                    <a:p>
                      <a:pPr algn="ctr"/>
                      <a:r>
                        <a:rPr lang="it-IT" dirty="0"/>
                        <a:t>X</a:t>
                      </a:r>
                      <a:r>
                        <a:rPr lang="it-IT" baseline="-25000" dirty="0"/>
                        <a:t>1</a:t>
                      </a:r>
                    </a:p>
                  </a:txBody>
                  <a:tcPr/>
                </a:tc>
                <a:tc>
                  <a:txBody>
                    <a:bodyPr/>
                    <a:lstStyle/>
                    <a:p>
                      <a:pPr algn="ctr"/>
                      <a:r>
                        <a:rPr lang="it-IT" dirty="0"/>
                        <a:t>X</a:t>
                      </a:r>
                      <a:r>
                        <a:rPr lang="it-IT" baseline="-25000" dirty="0"/>
                        <a:t>2</a:t>
                      </a:r>
                      <a:endParaRPr lang="it-IT" dirty="0"/>
                    </a:p>
                  </a:txBody>
                  <a:tcPr/>
                </a:tc>
                <a:tc>
                  <a:txBody>
                    <a:bodyPr/>
                    <a:lstStyle/>
                    <a:p>
                      <a:pPr algn="ctr"/>
                      <a:r>
                        <a:rPr lang="it-IT" dirty="0"/>
                        <a:t>Y</a:t>
                      </a:r>
                    </a:p>
                  </a:txBody>
                  <a:tcPr/>
                </a:tc>
                <a:extLst>
                  <a:ext uri="{0D108BD9-81ED-4DB2-BD59-A6C34878D82A}">
                    <a16:rowId xmlns:a16="http://schemas.microsoft.com/office/drawing/2014/main" val="647644152"/>
                  </a:ext>
                </a:extLst>
              </a:tr>
              <a:tr h="370840">
                <a:tc>
                  <a:txBody>
                    <a:bodyPr/>
                    <a:lstStyle/>
                    <a:p>
                      <a:pPr algn="ctr"/>
                      <a:r>
                        <a:rPr lang="it-IT" dirty="0"/>
                        <a:t>a</a:t>
                      </a:r>
                    </a:p>
                  </a:txBody>
                  <a:tcPr/>
                </a:tc>
                <a:tc>
                  <a:txBody>
                    <a:bodyPr/>
                    <a:lstStyle/>
                    <a:p>
                      <a:pPr algn="ctr"/>
                      <a:r>
                        <a:rPr lang="it-IT" dirty="0"/>
                        <a:t>0</a:t>
                      </a:r>
                    </a:p>
                  </a:txBody>
                  <a:tcPr/>
                </a:tc>
                <a:tc>
                  <a:txBody>
                    <a:bodyPr/>
                    <a:lstStyle/>
                    <a:p>
                      <a:pPr algn="ctr"/>
                      <a:r>
                        <a:rPr lang="it-IT" dirty="0"/>
                        <a:t>1</a:t>
                      </a:r>
                    </a:p>
                  </a:txBody>
                  <a:tcPr/>
                </a:tc>
                <a:tc>
                  <a:txBody>
                    <a:bodyPr/>
                    <a:lstStyle/>
                    <a:p>
                      <a:pPr algn="ctr"/>
                      <a:r>
                        <a:rPr lang="it-IT" dirty="0"/>
                        <a:t>-1</a:t>
                      </a:r>
                    </a:p>
                  </a:txBody>
                  <a:tcPr/>
                </a:tc>
                <a:extLst>
                  <a:ext uri="{0D108BD9-81ED-4DB2-BD59-A6C34878D82A}">
                    <a16:rowId xmlns:a16="http://schemas.microsoft.com/office/drawing/2014/main" val="3006406211"/>
                  </a:ext>
                </a:extLst>
              </a:tr>
              <a:tr h="370840">
                <a:tc>
                  <a:txBody>
                    <a:bodyPr/>
                    <a:lstStyle/>
                    <a:p>
                      <a:pPr algn="ctr"/>
                      <a:r>
                        <a:rPr lang="it-IT" dirty="0"/>
                        <a:t>b</a:t>
                      </a:r>
                    </a:p>
                  </a:txBody>
                  <a:tcPr/>
                </a:tc>
                <a:tc>
                  <a:txBody>
                    <a:bodyPr/>
                    <a:lstStyle/>
                    <a:p>
                      <a:pPr algn="ctr"/>
                      <a:r>
                        <a:rPr lang="it-IT" dirty="0"/>
                        <a:t>0</a:t>
                      </a:r>
                    </a:p>
                  </a:txBody>
                  <a:tcPr/>
                </a:tc>
                <a:tc>
                  <a:txBody>
                    <a:bodyPr/>
                    <a:lstStyle/>
                    <a:p>
                      <a:pPr algn="ctr"/>
                      <a:r>
                        <a:rPr lang="it-IT" dirty="0"/>
                        <a:t>0</a:t>
                      </a:r>
                    </a:p>
                  </a:txBody>
                  <a:tcPr/>
                </a:tc>
                <a:tc>
                  <a:txBody>
                    <a:bodyPr/>
                    <a:lstStyle/>
                    <a:p>
                      <a:pPr algn="ctr"/>
                      <a:r>
                        <a:rPr lang="it-IT" dirty="0"/>
                        <a:t>1</a:t>
                      </a:r>
                    </a:p>
                  </a:txBody>
                  <a:tcPr/>
                </a:tc>
                <a:extLst>
                  <a:ext uri="{0D108BD9-81ED-4DB2-BD59-A6C34878D82A}">
                    <a16:rowId xmlns:a16="http://schemas.microsoft.com/office/drawing/2014/main" val="1442248098"/>
                  </a:ext>
                </a:extLst>
              </a:tr>
              <a:tr h="370840">
                <a:tc>
                  <a:txBody>
                    <a:bodyPr/>
                    <a:lstStyle/>
                    <a:p>
                      <a:pPr algn="ctr"/>
                      <a:r>
                        <a:rPr lang="it-IT" dirty="0"/>
                        <a:t>c</a:t>
                      </a:r>
                    </a:p>
                  </a:txBody>
                  <a:tcPr/>
                </a:tc>
                <a:tc>
                  <a:txBody>
                    <a:bodyPr/>
                    <a:lstStyle/>
                    <a:p>
                      <a:pPr algn="ctr"/>
                      <a:r>
                        <a:rPr lang="it-IT" dirty="0"/>
                        <a:t>1</a:t>
                      </a:r>
                    </a:p>
                  </a:txBody>
                  <a:tcPr/>
                </a:tc>
                <a:tc>
                  <a:txBody>
                    <a:bodyPr/>
                    <a:lstStyle/>
                    <a:p>
                      <a:pPr algn="ctr"/>
                      <a:r>
                        <a:rPr lang="it-IT" dirty="0"/>
                        <a:t>2</a:t>
                      </a:r>
                    </a:p>
                  </a:txBody>
                  <a:tcPr/>
                </a:tc>
                <a:tc>
                  <a:txBody>
                    <a:bodyPr/>
                    <a:lstStyle/>
                    <a:p>
                      <a:pPr algn="ctr"/>
                      <a:r>
                        <a:rPr lang="it-IT" dirty="0"/>
                        <a:t>-1</a:t>
                      </a:r>
                    </a:p>
                  </a:txBody>
                  <a:tcPr/>
                </a:tc>
                <a:extLst>
                  <a:ext uri="{0D108BD9-81ED-4DB2-BD59-A6C34878D82A}">
                    <a16:rowId xmlns:a16="http://schemas.microsoft.com/office/drawing/2014/main" val="4095835177"/>
                  </a:ext>
                </a:extLst>
              </a:tr>
            </a:tbl>
          </a:graphicData>
        </a:graphic>
      </p:graphicFrame>
      <p:sp>
        <p:nvSpPr>
          <p:cNvPr id="7" name="CasellaDiTesto 6">
            <a:extLst>
              <a:ext uri="{FF2B5EF4-FFF2-40B4-BE49-F238E27FC236}">
                <a16:creationId xmlns:a16="http://schemas.microsoft.com/office/drawing/2014/main" id="{927C77E6-5F33-8046-9F2E-9975A8958726}"/>
              </a:ext>
            </a:extLst>
          </p:cNvPr>
          <p:cNvSpPr txBox="1"/>
          <p:nvPr/>
        </p:nvSpPr>
        <p:spPr>
          <a:xfrm>
            <a:off x="1436079" y="3840407"/>
            <a:ext cx="849913" cy="369332"/>
          </a:xfrm>
          <a:prstGeom prst="rect">
            <a:avLst/>
          </a:prstGeom>
          <a:noFill/>
        </p:spPr>
        <p:txBody>
          <a:bodyPr wrap="none" rtlCol="0">
            <a:spAutoFit/>
          </a:bodyPr>
          <a:lstStyle/>
          <a:p>
            <a:r>
              <a:rPr lang="it-IT" dirty="0"/>
              <a:t>f = </a:t>
            </a:r>
            <a:r>
              <a:rPr lang="it-IT" dirty="0" err="1"/>
              <a:t>sign</a:t>
            </a:r>
            <a:endParaRPr lang="it-IT" dirty="0"/>
          </a:p>
        </p:txBody>
      </p:sp>
      <p:cxnSp>
        <p:nvCxnSpPr>
          <p:cNvPr id="8" name="Connettore 2 7">
            <a:extLst>
              <a:ext uri="{FF2B5EF4-FFF2-40B4-BE49-F238E27FC236}">
                <a16:creationId xmlns:a16="http://schemas.microsoft.com/office/drawing/2014/main" id="{12F20BFB-0D77-9145-918E-4D8756B357A4}"/>
              </a:ext>
            </a:extLst>
          </p:cNvPr>
          <p:cNvCxnSpPr>
            <a:cxnSpLocks/>
          </p:cNvCxnSpPr>
          <p:nvPr/>
        </p:nvCxnSpPr>
        <p:spPr>
          <a:xfrm flipV="1">
            <a:off x="5920740" y="2202485"/>
            <a:ext cx="4480560" cy="312115"/>
          </a:xfrm>
          <a:prstGeom prst="straightConnector1">
            <a:avLst/>
          </a:prstGeom>
          <a:ln w="28575">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9" name="Connettore 2 8">
            <a:extLst>
              <a:ext uri="{FF2B5EF4-FFF2-40B4-BE49-F238E27FC236}">
                <a16:creationId xmlns:a16="http://schemas.microsoft.com/office/drawing/2014/main" id="{8978B345-8132-514F-B832-DA5FA6B463E8}"/>
              </a:ext>
            </a:extLst>
          </p:cNvPr>
          <p:cNvCxnSpPr>
            <a:cxnSpLocks/>
          </p:cNvCxnSpPr>
          <p:nvPr/>
        </p:nvCxnSpPr>
        <p:spPr>
          <a:xfrm>
            <a:off x="5920740" y="2137410"/>
            <a:ext cx="4480560"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0" name="Object 2">
            <a:extLst>
              <a:ext uri="{FF2B5EF4-FFF2-40B4-BE49-F238E27FC236}">
                <a16:creationId xmlns:a16="http://schemas.microsoft.com/office/drawing/2014/main" id="{2174503B-91D6-384C-A9A3-76C45ED49881}"/>
              </a:ext>
            </a:extLst>
          </p:cNvPr>
          <p:cNvGraphicFramePr>
            <a:graphicFrameLocks noChangeAspect="1"/>
          </p:cNvGraphicFramePr>
          <p:nvPr/>
        </p:nvGraphicFramePr>
        <p:xfrm>
          <a:off x="4160783" y="137754"/>
          <a:ext cx="7620000" cy="555625"/>
        </p:xfrm>
        <a:graphic>
          <a:graphicData uri="http://schemas.openxmlformats.org/presentationml/2006/ole">
            <mc:AlternateContent xmlns:mc="http://schemas.openxmlformats.org/markup-compatibility/2006">
              <mc:Choice xmlns:v="urn:schemas-microsoft-com:vml" Requires="v">
                <p:oleObj name="Equation" r:id="rId2" imgW="3213100" imgH="241300" progId="Equation.3">
                  <p:embed/>
                </p:oleObj>
              </mc:Choice>
              <mc:Fallback>
                <p:oleObj name="Equation" r:id="rId2" imgW="3213100" imgH="241300" progId="Equation.3">
                  <p:embed/>
                  <p:pic>
                    <p:nvPicPr>
                      <p:cNvPr id="10" name="Object 2">
                        <a:extLst>
                          <a:ext uri="{FF2B5EF4-FFF2-40B4-BE49-F238E27FC236}">
                            <a16:creationId xmlns:a16="http://schemas.microsoft.com/office/drawing/2014/main" id="{2174503B-91D6-384C-A9A3-76C45ED498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0783" y="137754"/>
                        <a:ext cx="76200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4479734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6EC64A-1F68-7243-81CC-935E096D57EB}"/>
              </a:ext>
            </a:extLst>
          </p:cNvPr>
          <p:cNvSpPr>
            <a:spLocks noGrp="1"/>
          </p:cNvSpPr>
          <p:nvPr>
            <p:ph type="title"/>
          </p:nvPr>
        </p:nvSpPr>
        <p:spPr/>
        <p:txBody>
          <a:bodyPr/>
          <a:lstStyle/>
          <a:p>
            <a:r>
              <a:rPr lang="it-IT" dirty="0"/>
              <a:t>Train Linear </a:t>
            </a:r>
            <a:r>
              <a:rPr lang="it-IT" dirty="0" err="1"/>
              <a:t>Perceptron</a:t>
            </a:r>
            <a:endParaRPr lang="it-IT" dirty="0"/>
          </a:p>
        </p:txBody>
      </p:sp>
      <p:graphicFrame>
        <p:nvGraphicFramePr>
          <p:cNvPr id="4" name="Tabella 3">
            <a:extLst>
              <a:ext uri="{FF2B5EF4-FFF2-40B4-BE49-F238E27FC236}">
                <a16:creationId xmlns:a16="http://schemas.microsoft.com/office/drawing/2014/main" id="{0398B540-D1C9-3745-A9F4-F0AF9C7282A6}"/>
              </a:ext>
            </a:extLst>
          </p:cNvPr>
          <p:cNvGraphicFramePr>
            <a:graphicFrameLocks noGrp="1"/>
          </p:cNvGraphicFramePr>
          <p:nvPr/>
        </p:nvGraphicFramePr>
        <p:xfrm>
          <a:off x="3755463" y="1538539"/>
          <a:ext cx="8025320" cy="4820920"/>
        </p:xfrm>
        <a:graphic>
          <a:graphicData uri="http://schemas.openxmlformats.org/drawingml/2006/table">
            <a:tbl>
              <a:tblPr firstRow="1" bandRow="1">
                <a:tableStyleId>{5C22544A-7EE6-4342-B048-85BDC9FD1C3A}</a:tableStyleId>
              </a:tblPr>
              <a:tblGrid>
                <a:gridCol w="802532">
                  <a:extLst>
                    <a:ext uri="{9D8B030D-6E8A-4147-A177-3AD203B41FA5}">
                      <a16:colId xmlns:a16="http://schemas.microsoft.com/office/drawing/2014/main" val="3007943972"/>
                    </a:ext>
                  </a:extLst>
                </a:gridCol>
                <a:gridCol w="802532">
                  <a:extLst>
                    <a:ext uri="{9D8B030D-6E8A-4147-A177-3AD203B41FA5}">
                      <a16:colId xmlns:a16="http://schemas.microsoft.com/office/drawing/2014/main" val="220923671"/>
                    </a:ext>
                  </a:extLst>
                </a:gridCol>
                <a:gridCol w="802532">
                  <a:extLst>
                    <a:ext uri="{9D8B030D-6E8A-4147-A177-3AD203B41FA5}">
                      <a16:colId xmlns:a16="http://schemas.microsoft.com/office/drawing/2014/main" val="1888354542"/>
                    </a:ext>
                  </a:extLst>
                </a:gridCol>
                <a:gridCol w="802532">
                  <a:extLst>
                    <a:ext uri="{9D8B030D-6E8A-4147-A177-3AD203B41FA5}">
                      <a16:colId xmlns:a16="http://schemas.microsoft.com/office/drawing/2014/main" val="4183561819"/>
                    </a:ext>
                  </a:extLst>
                </a:gridCol>
                <a:gridCol w="802532">
                  <a:extLst>
                    <a:ext uri="{9D8B030D-6E8A-4147-A177-3AD203B41FA5}">
                      <a16:colId xmlns:a16="http://schemas.microsoft.com/office/drawing/2014/main" val="2090727010"/>
                    </a:ext>
                  </a:extLst>
                </a:gridCol>
                <a:gridCol w="802532">
                  <a:extLst>
                    <a:ext uri="{9D8B030D-6E8A-4147-A177-3AD203B41FA5}">
                      <a16:colId xmlns:a16="http://schemas.microsoft.com/office/drawing/2014/main" val="1559798696"/>
                    </a:ext>
                  </a:extLst>
                </a:gridCol>
                <a:gridCol w="802532">
                  <a:extLst>
                    <a:ext uri="{9D8B030D-6E8A-4147-A177-3AD203B41FA5}">
                      <a16:colId xmlns:a16="http://schemas.microsoft.com/office/drawing/2014/main" val="3564938619"/>
                    </a:ext>
                  </a:extLst>
                </a:gridCol>
                <a:gridCol w="802532">
                  <a:extLst>
                    <a:ext uri="{9D8B030D-6E8A-4147-A177-3AD203B41FA5}">
                      <a16:colId xmlns:a16="http://schemas.microsoft.com/office/drawing/2014/main" val="2640809818"/>
                    </a:ext>
                  </a:extLst>
                </a:gridCol>
                <a:gridCol w="802532">
                  <a:extLst>
                    <a:ext uri="{9D8B030D-6E8A-4147-A177-3AD203B41FA5}">
                      <a16:colId xmlns:a16="http://schemas.microsoft.com/office/drawing/2014/main" val="4147220622"/>
                    </a:ext>
                  </a:extLst>
                </a:gridCol>
                <a:gridCol w="802532">
                  <a:extLst>
                    <a:ext uri="{9D8B030D-6E8A-4147-A177-3AD203B41FA5}">
                      <a16:colId xmlns:a16="http://schemas.microsoft.com/office/drawing/2014/main" val="1678705754"/>
                    </a:ext>
                  </a:extLst>
                </a:gridCol>
              </a:tblGrid>
              <a:tr h="370840">
                <a:tc>
                  <a:txBody>
                    <a:bodyPr/>
                    <a:lstStyle/>
                    <a:p>
                      <a:pPr algn="ctr"/>
                      <a:r>
                        <a:rPr lang="it-IT" dirty="0" err="1"/>
                        <a:t>it</a:t>
                      </a:r>
                      <a:endParaRPr lang="it-IT" dirty="0"/>
                    </a:p>
                  </a:txBody>
                  <a:tcPr/>
                </a:tc>
                <a:tc>
                  <a:txBody>
                    <a:bodyPr/>
                    <a:lstStyle/>
                    <a:p>
                      <a:pPr algn="ctr"/>
                      <a:r>
                        <a:rPr lang="it-IT" baseline="0" dirty="0"/>
                        <a:t>W</a:t>
                      </a:r>
                      <a:r>
                        <a:rPr lang="it-IT" baseline="-25000" dirty="0"/>
                        <a:t>0</a:t>
                      </a:r>
                    </a:p>
                  </a:txBody>
                  <a:tcPr/>
                </a:tc>
                <a:tc>
                  <a:txBody>
                    <a:bodyPr/>
                    <a:lstStyle/>
                    <a:p>
                      <a:pPr algn="ctr"/>
                      <a:r>
                        <a:rPr lang="it-IT" baseline="0" dirty="0"/>
                        <a:t>W</a:t>
                      </a:r>
                      <a:r>
                        <a:rPr lang="it-IT" baseline="-25000" dirty="0"/>
                        <a:t>1</a:t>
                      </a:r>
                    </a:p>
                  </a:txBody>
                  <a:tcPr/>
                </a:tc>
                <a:tc>
                  <a:txBody>
                    <a:bodyPr/>
                    <a:lstStyle/>
                    <a:p>
                      <a:pPr algn="ctr"/>
                      <a:r>
                        <a:rPr lang="it-IT" baseline="0" dirty="0"/>
                        <a:t>W</a:t>
                      </a:r>
                      <a:r>
                        <a:rPr lang="it-IT" baseline="-25000" dirty="0"/>
                        <a:t>2</a:t>
                      </a:r>
                    </a:p>
                  </a:txBody>
                  <a:tcPr/>
                </a:tc>
                <a:tc>
                  <a:txBody>
                    <a:bodyPr/>
                    <a:lstStyle/>
                    <a:p>
                      <a:pPr algn="ctr"/>
                      <a:r>
                        <a:rPr lang="it-IT" dirty="0"/>
                        <a:t>X.W</a:t>
                      </a:r>
                    </a:p>
                  </a:txBody>
                  <a:tcPr/>
                </a:tc>
                <a:tc>
                  <a:txBody>
                    <a:bodyPr/>
                    <a:lstStyle/>
                    <a:p>
                      <a:pPr algn="ctr"/>
                      <a:r>
                        <a:rPr lang="it-IT" dirty="0" err="1"/>
                        <a:t>f</a:t>
                      </a:r>
                      <a:r>
                        <a:rPr lang="it-IT" dirty="0"/>
                        <a:t>(X.W)</a:t>
                      </a:r>
                    </a:p>
                  </a:txBody>
                  <a:tcPr/>
                </a:tc>
                <a:tc>
                  <a:txBody>
                    <a:bodyPr/>
                    <a:lstStyle/>
                    <a:p>
                      <a:pPr algn="ctr"/>
                      <a:r>
                        <a:rPr lang="it-IT" dirty="0" err="1"/>
                        <a:t>error</a:t>
                      </a:r>
                      <a:endParaRPr lang="it-IT" dirty="0"/>
                    </a:p>
                  </a:txBody>
                  <a:tcPr/>
                </a:tc>
                <a:tc>
                  <a:txBody>
                    <a:bodyPr/>
                    <a:lstStyle/>
                    <a:p>
                      <a:pPr algn="ctr"/>
                      <a:r>
                        <a:rPr lang="it-IT" dirty="0"/>
                        <a:t>delta</a:t>
                      </a:r>
                      <a:r>
                        <a:rPr lang="it-IT" baseline="-25000"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2</a:t>
                      </a:r>
                    </a:p>
                  </a:txBody>
                  <a:tcPr/>
                </a:tc>
                <a:extLst>
                  <a:ext uri="{0D108BD9-81ED-4DB2-BD59-A6C34878D82A}">
                    <a16:rowId xmlns:a16="http://schemas.microsoft.com/office/drawing/2014/main" val="647644152"/>
                  </a:ext>
                </a:extLst>
              </a:tr>
              <a:tr h="370840">
                <a:tc>
                  <a:txBody>
                    <a:bodyPr/>
                    <a:lstStyle/>
                    <a:p>
                      <a:pPr algn="ctr"/>
                      <a:r>
                        <a:rPr lang="it-IT" dirty="0"/>
                        <a:t>1</a:t>
                      </a:r>
                    </a:p>
                  </a:txBody>
                  <a:tcPr/>
                </a:tc>
                <a:tc>
                  <a:txBody>
                    <a:bodyPr/>
                    <a:lstStyle/>
                    <a:p>
                      <a:pPr algn="ctr"/>
                      <a:r>
                        <a:rPr lang="it-IT" dirty="0"/>
                        <a:t>-1</a:t>
                      </a:r>
                    </a:p>
                  </a:txBody>
                  <a:tcPr/>
                </a:tc>
                <a:tc>
                  <a:txBody>
                    <a:bodyPr/>
                    <a:lstStyle/>
                    <a:p>
                      <a:pPr algn="ctr"/>
                      <a:r>
                        <a:rPr lang="it-IT" dirty="0"/>
                        <a:t>0</a:t>
                      </a:r>
                    </a:p>
                  </a:txBody>
                  <a:tcPr/>
                </a:tc>
                <a:tc>
                  <a:txBody>
                    <a:bodyPr/>
                    <a:lstStyle/>
                    <a:p>
                      <a:pPr algn="ctr"/>
                      <a:r>
                        <a:rPr lang="it-IT" dirty="0"/>
                        <a:t>0</a:t>
                      </a:r>
                    </a:p>
                  </a:txBody>
                  <a:tcPr/>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extLst>
                  <a:ext uri="{0D108BD9-81ED-4DB2-BD59-A6C34878D82A}">
                    <a16:rowId xmlns:a16="http://schemas.microsoft.com/office/drawing/2014/main" val="3006406211"/>
                  </a:ext>
                </a:extLst>
              </a:tr>
              <a:tr h="370840">
                <a:tc>
                  <a:txBody>
                    <a:bodyPr/>
                    <a:lstStyle/>
                    <a:p>
                      <a:pPr algn="ctr"/>
                      <a:r>
                        <a:rPr lang="it-IT" dirty="0"/>
                        <a:t>2</a:t>
                      </a:r>
                    </a:p>
                  </a:txBody>
                  <a:tcPr/>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442248098"/>
                  </a:ext>
                </a:extLst>
              </a:tr>
              <a:tr h="370840">
                <a:tc>
                  <a:txBody>
                    <a:bodyPr/>
                    <a:lstStyle/>
                    <a:p>
                      <a:pPr algn="ctr"/>
                      <a:r>
                        <a:rPr lang="it-IT" dirty="0"/>
                        <a:t>3</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4095835177"/>
                  </a:ext>
                </a:extLst>
              </a:tr>
              <a:tr h="370840">
                <a:tc>
                  <a:txBody>
                    <a:bodyPr/>
                    <a:lstStyle/>
                    <a:p>
                      <a:pPr algn="ctr"/>
                      <a:r>
                        <a:rPr lang="it-IT" dirty="0"/>
                        <a:t>4</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437626370"/>
                  </a:ext>
                </a:extLst>
              </a:tr>
              <a:tr h="370840">
                <a:tc>
                  <a:txBody>
                    <a:bodyPr/>
                    <a:lstStyle/>
                    <a:p>
                      <a:pPr algn="ctr"/>
                      <a:r>
                        <a:rPr lang="it-IT" dirty="0"/>
                        <a:t>5</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3459893937"/>
                  </a:ext>
                </a:extLst>
              </a:tr>
              <a:tr h="370840">
                <a:tc>
                  <a:txBody>
                    <a:bodyPr/>
                    <a:lstStyle/>
                    <a:p>
                      <a:pPr algn="ctr"/>
                      <a:r>
                        <a:rPr lang="it-IT" dirty="0"/>
                        <a:t>6</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26436750"/>
                  </a:ext>
                </a:extLst>
              </a:tr>
              <a:tr h="370840">
                <a:tc>
                  <a:txBody>
                    <a:bodyPr/>
                    <a:lstStyle/>
                    <a:p>
                      <a:pPr algn="ctr"/>
                      <a:r>
                        <a:rPr lang="it-IT" dirty="0"/>
                        <a:t>7</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290132517"/>
                  </a:ext>
                </a:extLst>
              </a:tr>
              <a:tr h="370840">
                <a:tc>
                  <a:txBody>
                    <a:bodyPr/>
                    <a:lstStyle/>
                    <a:p>
                      <a:pPr algn="ctr"/>
                      <a:r>
                        <a:rPr lang="it-IT" dirty="0"/>
                        <a:t>8</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380738723"/>
                  </a:ext>
                </a:extLst>
              </a:tr>
              <a:tr h="370840">
                <a:tc>
                  <a:txBody>
                    <a:bodyPr/>
                    <a:lstStyle/>
                    <a:p>
                      <a:pPr algn="ctr"/>
                      <a:r>
                        <a:rPr lang="it-IT" dirty="0"/>
                        <a:t>9</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19150045"/>
                  </a:ext>
                </a:extLst>
              </a:tr>
              <a:tr h="370840">
                <a:tc>
                  <a:txBody>
                    <a:bodyPr/>
                    <a:lstStyle/>
                    <a:p>
                      <a:pPr algn="ctr"/>
                      <a:r>
                        <a:rPr lang="it-IT" dirty="0"/>
                        <a:t>10</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545436331"/>
                  </a:ext>
                </a:extLst>
              </a:tr>
              <a:tr h="370840">
                <a:tc>
                  <a:txBody>
                    <a:bodyPr/>
                    <a:lstStyle/>
                    <a:p>
                      <a:pPr algn="ctr"/>
                      <a:r>
                        <a:rPr lang="it-IT" dirty="0"/>
                        <a:t>11</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3664168057"/>
                  </a:ext>
                </a:extLst>
              </a:tr>
              <a:tr h="370840">
                <a:tc>
                  <a:txBody>
                    <a:bodyPr/>
                    <a:lstStyle/>
                    <a:p>
                      <a:pPr algn="ctr"/>
                      <a:r>
                        <a:rPr lang="it-IT" dirty="0"/>
                        <a:t>12</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137315494"/>
                  </a:ext>
                </a:extLst>
              </a:tr>
            </a:tbl>
          </a:graphicData>
        </a:graphic>
      </p:graphicFrame>
      <p:sp>
        <p:nvSpPr>
          <p:cNvPr id="5" name="CasellaDiTesto 4">
            <a:extLst>
              <a:ext uri="{FF2B5EF4-FFF2-40B4-BE49-F238E27FC236}">
                <a16:creationId xmlns:a16="http://schemas.microsoft.com/office/drawing/2014/main" id="{1C0D3F40-0FA6-AE4B-B317-31946E90F809}"/>
              </a:ext>
            </a:extLst>
          </p:cNvPr>
          <p:cNvSpPr txBox="1"/>
          <p:nvPr/>
        </p:nvSpPr>
        <p:spPr>
          <a:xfrm>
            <a:off x="1138723" y="3402142"/>
            <a:ext cx="1444626" cy="369332"/>
          </a:xfrm>
          <a:prstGeom prst="rect">
            <a:avLst/>
          </a:prstGeom>
          <a:noFill/>
        </p:spPr>
        <p:txBody>
          <a:bodyPr wrap="none" rtlCol="0">
            <a:spAutoFit/>
          </a:bodyPr>
          <a:lstStyle/>
          <a:p>
            <a:r>
              <a:rPr lang="it-IT" dirty="0"/>
              <a:t>Lambda = 0.3</a:t>
            </a:r>
          </a:p>
        </p:txBody>
      </p:sp>
      <p:graphicFrame>
        <p:nvGraphicFramePr>
          <p:cNvPr id="6" name="Tabella 5">
            <a:extLst>
              <a:ext uri="{FF2B5EF4-FFF2-40B4-BE49-F238E27FC236}">
                <a16:creationId xmlns:a16="http://schemas.microsoft.com/office/drawing/2014/main" id="{58620517-8327-5E49-9C6A-8EB32CC9A36C}"/>
              </a:ext>
            </a:extLst>
          </p:cNvPr>
          <p:cNvGraphicFramePr>
            <a:graphicFrameLocks noGrp="1"/>
          </p:cNvGraphicFramePr>
          <p:nvPr/>
        </p:nvGraphicFramePr>
        <p:xfrm>
          <a:off x="994947" y="1608113"/>
          <a:ext cx="2086476" cy="1483360"/>
        </p:xfrm>
        <a:graphic>
          <a:graphicData uri="http://schemas.openxmlformats.org/drawingml/2006/table">
            <a:tbl>
              <a:tblPr firstRow="1" bandRow="1">
                <a:tableStyleId>{5C22544A-7EE6-4342-B048-85BDC9FD1C3A}</a:tableStyleId>
              </a:tblPr>
              <a:tblGrid>
                <a:gridCol w="521619">
                  <a:extLst>
                    <a:ext uri="{9D8B030D-6E8A-4147-A177-3AD203B41FA5}">
                      <a16:colId xmlns:a16="http://schemas.microsoft.com/office/drawing/2014/main" val="3007943972"/>
                    </a:ext>
                  </a:extLst>
                </a:gridCol>
                <a:gridCol w="521619">
                  <a:extLst>
                    <a:ext uri="{9D8B030D-6E8A-4147-A177-3AD203B41FA5}">
                      <a16:colId xmlns:a16="http://schemas.microsoft.com/office/drawing/2014/main" val="220923671"/>
                    </a:ext>
                  </a:extLst>
                </a:gridCol>
                <a:gridCol w="521619">
                  <a:extLst>
                    <a:ext uri="{9D8B030D-6E8A-4147-A177-3AD203B41FA5}">
                      <a16:colId xmlns:a16="http://schemas.microsoft.com/office/drawing/2014/main" val="1888354542"/>
                    </a:ext>
                  </a:extLst>
                </a:gridCol>
                <a:gridCol w="521619">
                  <a:extLst>
                    <a:ext uri="{9D8B030D-6E8A-4147-A177-3AD203B41FA5}">
                      <a16:colId xmlns:a16="http://schemas.microsoft.com/office/drawing/2014/main" val="2090727010"/>
                    </a:ext>
                  </a:extLst>
                </a:gridCol>
              </a:tblGrid>
              <a:tr h="370840">
                <a:tc>
                  <a:txBody>
                    <a:bodyPr/>
                    <a:lstStyle/>
                    <a:p>
                      <a:pPr algn="ctr"/>
                      <a:r>
                        <a:rPr lang="it-IT" dirty="0"/>
                        <a:t>id</a:t>
                      </a:r>
                    </a:p>
                  </a:txBody>
                  <a:tcPr/>
                </a:tc>
                <a:tc>
                  <a:txBody>
                    <a:bodyPr/>
                    <a:lstStyle/>
                    <a:p>
                      <a:pPr algn="ctr"/>
                      <a:r>
                        <a:rPr lang="it-IT" dirty="0"/>
                        <a:t>X</a:t>
                      </a:r>
                      <a:r>
                        <a:rPr lang="it-IT" baseline="-25000" dirty="0"/>
                        <a:t>1</a:t>
                      </a:r>
                    </a:p>
                  </a:txBody>
                  <a:tcPr/>
                </a:tc>
                <a:tc>
                  <a:txBody>
                    <a:bodyPr/>
                    <a:lstStyle/>
                    <a:p>
                      <a:pPr algn="ctr"/>
                      <a:r>
                        <a:rPr lang="it-IT" dirty="0"/>
                        <a:t>X</a:t>
                      </a:r>
                      <a:r>
                        <a:rPr lang="it-IT" baseline="-25000" dirty="0"/>
                        <a:t>2</a:t>
                      </a:r>
                      <a:endParaRPr lang="it-IT" dirty="0"/>
                    </a:p>
                  </a:txBody>
                  <a:tcPr/>
                </a:tc>
                <a:tc>
                  <a:txBody>
                    <a:bodyPr/>
                    <a:lstStyle/>
                    <a:p>
                      <a:pPr algn="ctr"/>
                      <a:r>
                        <a:rPr lang="it-IT" dirty="0"/>
                        <a:t>Y</a:t>
                      </a:r>
                    </a:p>
                  </a:txBody>
                  <a:tcPr/>
                </a:tc>
                <a:extLst>
                  <a:ext uri="{0D108BD9-81ED-4DB2-BD59-A6C34878D82A}">
                    <a16:rowId xmlns:a16="http://schemas.microsoft.com/office/drawing/2014/main" val="647644152"/>
                  </a:ext>
                </a:extLst>
              </a:tr>
              <a:tr h="370840">
                <a:tc>
                  <a:txBody>
                    <a:bodyPr/>
                    <a:lstStyle/>
                    <a:p>
                      <a:pPr algn="ctr"/>
                      <a:r>
                        <a:rPr lang="it-IT" dirty="0"/>
                        <a:t>a</a:t>
                      </a:r>
                    </a:p>
                  </a:txBody>
                  <a:tcPr/>
                </a:tc>
                <a:tc>
                  <a:txBody>
                    <a:bodyPr/>
                    <a:lstStyle/>
                    <a:p>
                      <a:pPr algn="ctr"/>
                      <a:r>
                        <a:rPr lang="it-IT" dirty="0"/>
                        <a:t>0</a:t>
                      </a:r>
                    </a:p>
                  </a:txBody>
                  <a:tcPr/>
                </a:tc>
                <a:tc>
                  <a:txBody>
                    <a:bodyPr/>
                    <a:lstStyle/>
                    <a:p>
                      <a:pPr algn="ctr"/>
                      <a:r>
                        <a:rPr lang="it-IT" dirty="0"/>
                        <a:t>1</a:t>
                      </a:r>
                    </a:p>
                  </a:txBody>
                  <a:tcPr/>
                </a:tc>
                <a:tc>
                  <a:txBody>
                    <a:bodyPr/>
                    <a:lstStyle/>
                    <a:p>
                      <a:pPr algn="ctr"/>
                      <a:r>
                        <a:rPr lang="it-IT" dirty="0"/>
                        <a:t>-1</a:t>
                      </a:r>
                    </a:p>
                  </a:txBody>
                  <a:tcPr/>
                </a:tc>
                <a:extLst>
                  <a:ext uri="{0D108BD9-81ED-4DB2-BD59-A6C34878D82A}">
                    <a16:rowId xmlns:a16="http://schemas.microsoft.com/office/drawing/2014/main" val="3006406211"/>
                  </a:ext>
                </a:extLst>
              </a:tr>
              <a:tr h="370840">
                <a:tc>
                  <a:txBody>
                    <a:bodyPr/>
                    <a:lstStyle/>
                    <a:p>
                      <a:pPr algn="ctr"/>
                      <a:r>
                        <a:rPr lang="it-IT" dirty="0"/>
                        <a:t>b</a:t>
                      </a:r>
                    </a:p>
                  </a:txBody>
                  <a:tcPr/>
                </a:tc>
                <a:tc>
                  <a:txBody>
                    <a:bodyPr/>
                    <a:lstStyle/>
                    <a:p>
                      <a:pPr algn="ctr"/>
                      <a:r>
                        <a:rPr lang="it-IT" dirty="0"/>
                        <a:t>0</a:t>
                      </a:r>
                    </a:p>
                  </a:txBody>
                  <a:tcPr/>
                </a:tc>
                <a:tc>
                  <a:txBody>
                    <a:bodyPr/>
                    <a:lstStyle/>
                    <a:p>
                      <a:pPr algn="ctr"/>
                      <a:r>
                        <a:rPr lang="it-IT" dirty="0"/>
                        <a:t>0</a:t>
                      </a:r>
                    </a:p>
                  </a:txBody>
                  <a:tcPr/>
                </a:tc>
                <a:tc>
                  <a:txBody>
                    <a:bodyPr/>
                    <a:lstStyle/>
                    <a:p>
                      <a:pPr algn="ctr"/>
                      <a:r>
                        <a:rPr lang="it-IT" dirty="0"/>
                        <a:t>1</a:t>
                      </a:r>
                    </a:p>
                  </a:txBody>
                  <a:tcPr/>
                </a:tc>
                <a:extLst>
                  <a:ext uri="{0D108BD9-81ED-4DB2-BD59-A6C34878D82A}">
                    <a16:rowId xmlns:a16="http://schemas.microsoft.com/office/drawing/2014/main" val="1442248098"/>
                  </a:ext>
                </a:extLst>
              </a:tr>
              <a:tr h="370840">
                <a:tc>
                  <a:txBody>
                    <a:bodyPr/>
                    <a:lstStyle/>
                    <a:p>
                      <a:pPr algn="ctr"/>
                      <a:r>
                        <a:rPr lang="it-IT" dirty="0"/>
                        <a:t>c</a:t>
                      </a:r>
                    </a:p>
                  </a:txBody>
                  <a:tcPr/>
                </a:tc>
                <a:tc>
                  <a:txBody>
                    <a:bodyPr/>
                    <a:lstStyle/>
                    <a:p>
                      <a:pPr algn="ctr"/>
                      <a:r>
                        <a:rPr lang="it-IT" dirty="0"/>
                        <a:t>1</a:t>
                      </a:r>
                    </a:p>
                  </a:txBody>
                  <a:tcPr/>
                </a:tc>
                <a:tc>
                  <a:txBody>
                    <a:bodyPr/>
                    <a:lstStyle/>
                    <a:p>
                      <a:pPr algn="ctr"/>
                      <a:r>
                        <a:rPr lang="it-IT" dirty="0"/>
                        <a:t>2</a:t>
                      </a:r>
                    </a:p>
                  </a:txBody>
                  <a:tcPr/>
                </a:tc>
                <a:tc>
                  <a:txBody>
                    <a:bodyPr/>
                    <a:lstStyle/>
                    <a:p>
                      <a:pPr algn="ctr"/>
                      <a:r>
                        <a:rPr lang="it-IT" dirty="0"/>
                        <a:t>-1</a:t>
                      </a:r>
                    </a:p>
                  </a:txBody>
                  <a:tcPr/>
                </a:tc>
                <a:extLst>
                  <a:ext uri="{0D108BD9-81ED-4DB2-BD59-A6C34878D82A}">
                    <a16:rowId xmlns:a16="http://schemas.microsoft.com/office/drawing/2014/main" val="4095835177"/>
                  </a:ext>
                </a:extLst>
              </a:tr>
            </a:tbl>
          </a:graphicData>
        </a:graphic>
      </p:graphicFrame>
      <p:sp>
        <p:nvSpPr>
          <p:cNvPr id="7" name="CasellaDiTesto 6">
            <a:extLst>
              <a:ext uri="{FF2B5EF4-FFF2-40B4-BE49-F238E27FC236}">
                <a16:creationId xmlns:a16="http://schemas.microsoft.com/office/drawing/2014/main" id="{927C77E6-5F33-8046-9F2E-9975A8958726}"/>
              </a:ext>
            </a:extLst>
          </p:cNvPr>
          <p:cNvSpPr txBox="1"/>
          <p:nvPr/>
        </p:nvSpPr>
        <p:spPr>
          <a:xfrm>
            <a:off x="1436079" y="3840407"/>
            <a:ext cx="849913" cy="369332"/>
          </a:xfrm>
          <a:prstGeom prst="rect">
            <a:avLst/>
          </a:prstGeom>
          <a:noFill/>
        </p:spPr>
        <p:txBody>
          <a:bodyPr wrap="none" rtlCol="0">
            <a:spAutoFit/>
          </a:bodyPr>
          <a:lstStyle/>
          <a:p>
            <a:r>
              <a:rPr lang="it-IT" dirty="0"/>
              <a:t>f = </a:t>
            </a:r>
            <a:r>
              <a:rPr lang="it-IT" dirty="0" err="1"/>
              <a:t>sign</a:t>
            </a:r>
            <a:endParaRPr lang="it-IT" dirty="0"/>
          </a:p>
        </p:txBody>
      </p:sp>
      <p:cxnSp>
        <p:nvCxnSpPr>
          <p:cNvPr id="8" name="Connettore 2 7">
            <a:extLst>
              <a:ext uri="{FF2B5EF4-FFF2-40B4-BE49-F238E27FC236}">
                <a16:creationId xmlns:a16="http://schemas.microsoft.com/office/drawing/2014/main" id="{12F20BFB-0D77-9145-918E-4D8756B357A4}"/>
              </a:ext>
            </a:extLst>
          </p:cNvPr>
          <p:cNvCxnSpPr>
            <a:cxnSpLocks/>
          </p:cNvCxnSpPr>
          <p:nvPr/>
        </p:nvCxnSpPr>
        <p:spPr>
          <a:xfrm flipV="1">
            <a:off x="6716493" y="2137410"/>
            <a:ext cx="4480560" cy="312115"/>
          </a:xfrm>
          <a:prstGeom prst="straightConnector1">
            <a:avLst/>
          </a:prstGeom>
          <a:ln w="28575">
            <a:solidFill>
              <a:schemeClr val="accent6"/>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9" name="Connettore 2 8">
            <a:extLst>
              <a:ext uri="{FF2B5EF4-FFF2-40B4-BE49-F238E27FC236}">
                <a16:creationId xmlns:a16="http://schemas.microsoft.com/office/drawing/2014/main" id="{8978B345-8132-514F-B832-DA5FA6B463E8}"/>
              </a:ext>
            </a:extLst>
          </p:cNvPr>
          <p:cNvCxnSpPr>
            <a:cxnSpLocks/>
          </p:cNvCxnSpPr>
          <p:nvPr/>
        </p:nvCxnSpPr>
        <p:spPr>
          <a:xfrm>
            <a:off x="6716493" y="2137410"/>
            <a:ext cx="4480560" cy="0"/>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0" name="Object 2">
            <a:extLst>
              <a:ext uri="{FF2B5EF4-FFF2-40B4-BE49-F238E27FC236}">
                <a16:creationId xmlns:a16="http://schemas.microsoft.com/office/drawing/2014/main" id="{7A9F6DE0-C5AF-D14F-99F7-79B0FE40F78D}"/>
              </a:ext>
            </a:extLst>
          </p:cNvPr>
          <p:cNvGraphicFramePr>
            <a:graphicFrameLocks noChangeAspect="1"/>
          </p:cNvGraphicFramePr>
          <p:nvPr/>
        </p:nvGraphicFramePr>
        <p:xfrm>
          <a:off x="4160783" y="137754"/>
          <a:ext cx="7620000" cy="555625"/>
        </p:xfrm>
        <a:graphic>
          <a:graphicData uri="http://schemas.openxmlformats.org/presentationml/2006/ole">
            <mc:AlternateContent xmlns:mc="http://schemas.openxmlformats.org/markup-compatibility/2006">
              <mc:Choice xmlns:v="urn:schemas-microsoft-com:vml" Requires="v">
                <p:oleObj name="Equation" r:id="rId2" imgW="3213100" imgH="241300" progId="Equation.3">
                  <p:embed/>
                </p:oleObj>
              </mc:Choice>
              <mc:Fallback>
                <p:oleObj name="Equation" r:id="rId2" imgW="3213100" imgH="241300" progId="Equation.3">
                  <p:embed/>
                  <p:pic>
                    <p:nvPicPr>
                      <p:cNvPr id="10" name="Object 2">
                        <a:extLst>
                          <a:ext uri="{FF2B5EF4-FFF2-40B4-BE49-F238E27FC236}">
                            <a16:creationId xmlns:a16="http://schemas.microsoft.com/office/drawing/2014/main" id="{7A9F6DE0-C5AF-D14F-99F7-79B0FE40F7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0783" y="137754"/>
                        <a:ext cx="76200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7720429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6EC64A-1F68-7243-81CC-935E096D57EB}"/>
              </a:ext>
            </a:extLst>
          </p:cNvPr>
          <p:cNvSpPr>
            <a:spLocks noGrp="1"/>
          </p:cNvSpPr>
          <p:nvPr>
            <p:ph type="title"/>
          </p:nvPr>
        </p:nvSpPr>
        <p:spPr/>
        <p:txBody>
          <a:bodyPr/>
          <a:lstStyle/>
          <a:p>
            <a:r>
              <a:rPr lang="it-IT" dirty="0"/>
              <a:t>Train Linear </a:t>
            </a:r>
            <a:r>
              <a:rPr lang="it-IT" dirty="0" err="1"/>
              <a:t>Perceptron</a:t>
            </a:r>
            <a:endParaRPr lang="it-IT" dirty="0"/>
          </a:p>
        </p:txBody>
      </p:sp>
      <p:graphicFrame>
        <p:nvGraphicFramePr>
          <p:cNvPr id="4" name="Tabella 3">
            <a:extLst>
              <a:ext uri="{FF2B5EF4-FFF2-40B4-BE49-F238E27FC236}">
                <a16:creationId xmlns:a16="http://schemas.microsoft.com/office/drawing/2014/main" id="{0398B540-D1C9-3745-A9F4-F0AF9C7282A6}"/>
              </a:ext>
            </a:extLst>
          </p:cNvPr>
          <p:cNvGraphicFramePr>
            <a:graphicFrameLocks noGrp="1"/>
          </p:cNvGraphicFramePr>
          <p:nvPr/>
        </p:nvGraphicFramePr>
        <p:xfrm>
          <a:off x="3755463" y="1538539"/>
          <a:ext cx="8025320" cy="4820920"/>
        </p:xfrm>
        <a:graphic>
          <a:graphicData uri="http://schemas.openxmlformats.org/drawingml/2006/table">
            <a:tbl>
              <a:tblPr firstRow="1" bandRow="1">
                <a:tableStyleId>{5C22544A-7EE6-4342-B048-85BDC9FD1C3A}</a:tableStyleId>
              </a:tblPr>
              <a:tblGrid>
                <a:gridCol w="802532">
                  <a:extLst>
                    <a:ext uri="{9D8B030D-6E8A-4147-A177-3AD203B41FA5}">
                      <a16:colId xmlns:a16="http://schemas.microsoft.com/office/drawing/2014/main" val="3007943972"/>
                    </a:ext>
                  </a:extLst>
                </a:gridCol>
                <a:gridCol w="802532">
                  <a:extLst>
                    <a:ext uri="{9D8B030D-6E8A-4147-A177-3AD203B41FA5}">
                      <a16:colId xmlns:a16="http://schemas.microsoft.com/office/drawing/2014/main" val="220923671"/>
                    </a:ext>
                  </a:extLst>
                </a:gridCol>
                <a:gridCol w="802532">
                  <a:extLst>
                    <a:ext uri="{9D8B030D-6E8A-4147-A177-3AD203B41FA5}">
                      <a16:colId xmlns:a16="http://schemas.microsoft.com/office/drawing/2014/main" val="1888354542"/>
                    </a:ext>
                  </a:extLst>
                </a:gridCol>
                <a:gridCol w="802532">
                  <a:extLst>
                    <a:ext uri="{9D8B030D-6E8A-4147-A177-3AD203B41FA5}">
                      <a16:colId xmlns:a16="http://schemas.microsoft.com/office/drawing/2014/main" val="4183561819"/>
                    </a:ext>
                  </a:extLst>
                </a:gridCol>
                <a:gridCol w="802532">
                  <a:extLst>
                    <a:ext uri="{9D8B030D-6E8A-4147-A177-3AD203B41FA5}">
                      <a16:colId xmlns:a16="http://schemas.microsoft.com/office/drawing/2014/main" val="2090727010"/>
                    </a:ext>
                  </a:extLst>
                </a:gridCol>
                <a:gridCol w="802532">
                  <a:extLst>
                    <a:ext uri="{9D8B030D-6E8A-4147-A177-3AD203B41FA5}">
                      <a16:colId xmlns:a16="http://schemas.microsoft.com/office/drawing/2014/main" val="1559798696"/>
                    </a:ext>
                  </a:extLst>
                </a:gridCol>
                <a:gridCol w="802532">
                  <a:extLst>
                    <a:ext uri="{9D8B030D-6E8A-4147-A177-3AD203B41FA5}">
                      <a16:colId xmlns:a16="http://schemas.microsoft.com/office/drawing/2014/main" val="3564938619"/>
                    </a:ext>
                  </a:extLst>
                </a:gridCol>
                <a:gridCol w="802532">
                  <a:extLst>
                    <a:ext uri="{9D8B030D-6E8A-4147-A177-3AD203B41FA5}">
                      <a16:colId xmlns:a16="http://schemas.microsoft.com/office/drawing/2014/main" val="2640809818"/>
                    </a:ext>
                  </a:extLst>
                </a:gridCol>
                <a:gridCol w="802532">
                  <a:extLst>
                    <a:ext uri="{9D8B030D-6E8A-4147-A177-3AD203B41FA5}">
                      <a16:colId xmlns:a16="http://schemas.microsoft.com/office/drawing/2014/main" val="4147220622"/>
                    </a:ext>
                  </a:extLst>
                </a:gridCol>
                <a:gridCol w="802532">
                  <a:extLst>
                    <a:ext uri="{9D8B030D-6E8A-4147-A177-3AD203B41FA5}">
                      <a16:colId xmlns:a16="http://schemas.microsoft.com/office/drawing/2014/main" val="1678705754"/>
                    </a:ext>
                  </a:extLst>
                </a:gridCol>
              </a:tblGrid>
              <a:tr h="370840">
                <a:tc>
                  <a:txBody>
                    <a:bodyPr/>
                    <a:lstStyle/>
                    <a:p>
                      <a:pPr algn="ctr"/>
                      <a:r>
                        <a:rPr lang="it-IT" dirty="0" err="1"/>
                        <a:t>it</a:t>
                      </a:r>
                      <a:endParaRPr lang="it-IT" dirty="0"/>
                    </a:p>
                  </a:txBody>
                  <a:tcPr/>
                </a:tc>
                <a:tc>
                  <a:txBody>
                    <a:bodyPr/>
                    <a:lstStyle/>
                    <a:p>
                      <a:pPr algn="ctr"/>
                      <a:r>
                        <a:rPr lang="it-IT" baseline="0" dirty="0"/>
                        <a:t>W</a:t>
                      </a:r>
                      <a:r>
                        <a:rPr lang="it-IT" baseline="-25000" dirty="0"/>
                        <a:t>0</a:t>
                      </a:r>
                    </a:p>
                  </a:txBody>
                  <a:tcPr/>
                </a:tc>
                <a:tc>
                  <a:txBody>
                    <a:bodyPr/>
                    <a:lstStyle/>
                    <a:p>
                      <a:pPr algn="ctr"/>
                      <a:r>
                        <a:rPr lang="it-IT" baseline="0" dirty="0"/>
                        <a:t>W</a:t>
                      </a:r>
                      <a:r>
                        <a:rPr lang="it-IT" baseline="-25000" dirty="0"/>
                        <a:t>1</a:t>
                      </a:r>
                    </a:p>
                  </a:txBody>
                  <a:tcPr/>
                </a:tc>
                <a:tc>
                  <a:txBody>
                    <a:bodyPr/>
                    <a:lstStyle/>
                    <a:p>
                      <a:pPr algn="ctr"/>
                      <a:r>
                        <a:rPr lang="it-IT" baseline="0" dirty="0"/>
                        <a:t>W</a:t>
                      </a:r>
                      <a:r>
                        <a:rPr lang="it-IT" baseline="-25000" dirty="0"/>
                        <a:t>2</a:t>
                      </a:r>
                    </a:p>
                  </a:txBody>
                  <a:tcPr/>
                </a:tc>
                <a:tc>
                  <a:txBody>
                    <a:bodyPr/>
                    <a:lstStyle/>
                    <a:p>
                      <a:pPr algn="ctr"/>
                      <a:r>
                        <a:rPr lang="it-IT" dirty="0"/>
                        <a:t>X.W</a:t>
                      </a:r>
                    </a:p>
                  </a:txBody>
                  <a:tcPr/>
                </a:tc>
                <a:tc>
                  <a:txBody>
                    <a:bodyPr/>
                    <a:lstStyle/>
                    <a:p>
                      <a:pPr algn="ctr"/>
                      <a:r>
                        <a:rPr lang="it-IT" dirty="0" err="1"/>
                        <a:t>f</a:t>
                      </a:r>
                      <a:r>
                        <a:rPr lang="it-IT" dirty="0"/>
                        <a:t>(X.W)</a:t>
                      </a:r>
                    </a:p>
                  </a:txBody>
                  <a:tcPr/>
                </a:tc>
                <a:tc>
                  <a:txBody>
                    <a:bodyPr/>
                    <a:lstStyle/>
                    <a:p>
                      <a:pPr algn="ctr"/>
                      <a:r>
                        <a:rPr lang="it-IT" dirty="0" err="1"/>
                        <a:t>error</a:t>
                      </a:r>
                      <a:endParaRPr lang="it-IT" dirty="0"/>
                    </a:p>
                  </a:txBody>
                  <a:tcPr/>
                </a:tc>
                <a:tc>
                  <a:txBody>
                    <a:bodyPr/>
                    <a:lstStyle/>
                    <a:p>
                      <a:pPr algn="ctr"/>
                      <a:r>
                        <a:rPr lang="it-IT" dirty="0"/>
                        <a:t>delta</a:t>
                      </a:r>
                      <a:r>
                        <a:rPr lang="it-IT" baseline="-25000"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2</a:t>
                      </a:r>
                    </a:p>
                  </a:txBody>
                  <a:tcPr/>
                </a:tc>
                <a:extLst>
                  <a:ext uri="{0D108BD9-81ED-4DB2-BD59-A6C34878D82A}">
                    <a16:rowId xmlns:a16="http://schemas.microsoft.com/office/drawing/2014/main" val="647644152"/>
                  </a:ext>
                </a:extLst>
              </a:tr>
              <a:tr h="370840">
                <a:tc>
                  <a:txBody>
                    <a:bodyPr/>
                    <a:lstStyle/>
                    <a:p>
                      <a:pPr algn="ctr"/>
                      <a:r>
                        <a:rPr lang="it-IT" dirty="0"/>
                        <a:t>1</a:t>
                      </a:r>
                    </a:p>
                  </a:txBody>
                  <a:tcPr/>
                </a:tc>
                <a:tc>
                  <a:txBody>
                    <a:bodyPr/>
                    <a:lstStyle/>
                    <a:p>
                      <a:pPr algn="ctr"/>
                      <a:r>
                        <a:rPr lang="it-IT" dirty="0"/>
                        <a:t>-1</a:t>
                      </a:r>
                    </a:p>
                  </a:txBody>
                  <a:tcPr/>
                </a:tc>
                <a:tc>
                  <a:txBody>
                    <a:bodyPr/>
                    <a:lstStyle/>
                    <a:p>
                      <a:pPr algn="ctr"/>
                      <a:r>
                        <a:rPr lang="it-IT" dirty="0"/>
                        <a:t>0</a:t>
                      </a:r>
                    </a:p>
                  </a:txBody>
                  <a:tcPr/>
                </a:tc>
                <a:tc>
                  <a:txBody>
                    <a:bodyPr/>
                    <a:lstStyle/>
                    <a:p>
                      <a:pPr algn="ctr"/>
                      <a:r>
                        <a:rPr lang="it-IT" dirty="0"/>
                        <a:t>0</a:t>
                      </a:r>
                    </a:p>
                  </a:txBody>
                  <a:tcPr/>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extLst>
                  <a:ext uri="{0D108BD9-81ED-4DB2-BD59-A6C34878D82A}">
                    <a16:rowId xmlns:a16="http://schemas.microsoft.com/office/drawing/2014/main" val="3006406211"/>
                  </a:ext>
                </a:extLst>
              </a:tr>
              <a:tr h="370840">
                <a:tc>
                  <a:txBody>
                    <a:bodyPr/>
                    <a:lstStyle/>
                    <a:p>
                      <a:pPr algn="ctr"/>
                      <a:r>
                        <a:rPr lang="it-IT" dirty="0"/>
                        <a:t>2</a:t>
                      </a:r>
                    </a:p>
                  </a:txBody>
                  <a:tcPr/>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442248098"/>
                  </a:ext>
                </a:extLst>
              </a:tr>
              <a:tr h="370840">
                <a:tc>
                  <a:txBody>
                    <a:bodyPr/>
                    <a:lstStyle/>
                    <a:p>
                      <a:pPr algn="ctr"/>
                      <a:r>
                        <a:rPr lang="it-IT" dirty="0"/>
                        <a:t>3</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4095835177"/>
                  </a:ext>
                </a:extLst>
              </a:tr>
              <a:tr h="370840">
                <a:tc>
                  <a:txBody>
                    <a:bodyPr/>
                    <a:lstStyle/>
                    <a:p>
                      <a:pPr algn="ctr"/>
                      <a:r>
                        <a:rPr lang="it-IT" dirty="0"/>
                        <a:t>4</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437626370"/>
                  </a:ext>
                </a:extLst>
              </a:tr>
              <a:tr h="370840">
                <a:tc>
                  <a:txBody>
                    <a:bodyPr/>
                    <a:lstStyle/>
                    <a:p>
                      <a:pPr algn="ctr"/>
                      <a:r>
                        <a:rPr lang="it-IT" dirty="0"/>
                        <a:t>5</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3459893937"/>
                  </a:ext>
                </a:extLst>
              </a:tr>
              <a:tr h="370840">
                <a:tc>
                  <a:txBody>
                    <a:bodyPr/>
                    <a:lstStyle/>
                    <a:p>
                      <a:pPr algn="ctr"/>
                      <a:r>
                        <a:rPr lang="it-IT" dirty="0"/>
                        <a:t>6</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26436750"/>
                  </a:ext>
                </a:extLst>
              </a:tr>
              <a:tr h="370840">
                <a:tc>
                  <a:txBody>
                    <a:bodyPr/>
                    <a:lstStyle/>
                    <a:p>
                      <a:pPr algn="ctr"/>
                      <a:r>
                        <a:rPr lang="it-IT" dirty="0"/>
                        <a:t>7</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290132517"/>
                  </a:ext>
                </a:extLst>
              </a:tr>
              <a:tr h="370840">
                <a:tc>
                  <a:txBody>
                    <a:bodyPr/>
                    <a:lstStyle/>
                    <a:p>
                      <a:pPr algn="ctr"/>
                      <a:r>
                        <a:rPr lang="it-IT" dirty="0"/>
                        <a:t>8</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380738723"/>
                  </a:ext>
                </a:extLst>
              </a:tr>
              <a:tr h="370840">
                <a:tc>
                  <a:txBody>
                    <a:bodyPr/>
                    <a:lstStyle/>
                    <a:p>
                      <a:pPr algn="ctr"/>
                      <a:r>
                        <a:rPr lang="it-IT" dirty="0"/>
                        <a:t>9</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19150045"/>
                  </a:ext>
                </a:extLst>
              </a:tr>
              <a:tr h="370840">
                <a:tc>
                  <a:txBody>
                    <a:bodyPr/>
                    <a:lstStyle/>
                    <a:p>
                      <a:pPr algn="ctr"/>
                      <a:r>
                        <a:rPr lang="it-IT" dirty="0"/>
                        <a:t>10</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545436331"/>
                  </a:ext>
                </a:extLst>
              </a:tr>
              <a:tr h="370840">
                <a:tc>
                  <a:txBody>
                    <a:bodyPr/>
                    <a:lstStyle/>
                    <a:p>
                      <a:pPr algn="ctr"/>
                      <a:r>
                        <a:rPr lang="it-IT" dirty="0"/>
                        <a:t>11</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3664168057"/>
                  </a:ext>
                </a:extLst>
              </a:tr>
              <a:tr h="370840">
                <a:tc>
                  <a:txBody>
                    <a:bodyPr/>
                    <a:lstStyle/>
                    <a:p>
                      <a:pPr algn="ctr"/>
                      <a:r>
                        <a:rPr lang="it-IT" dirty="0"/>
                        <a:t>12</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137315494"/>
                  </a:ext>
                </a:extLst>
              </a:tr>
            </a:tbl>
          </a:graphicData>
        </a:graphic>
      </p:graphicFrame>
      <p:sp>
        <p:nvSpPr>
          <p:cNvPr id="5" name="CasellaDiTesto 4">
            <a:extLst>
              <a:ext uri="{FF2B5EF4-FFF2-40B4-BE49-F238E27FC236}">
                <a16:creationId xmlns:a16="http://schemas.microsoft.com/office/drawing/2014/main" id="{1C0D3F40-0FA6-AE4B-B317-31946E90F809}"/>
              </a:ext>
            </a:extLst>
          </p:cNvPr>
          <p:cNvSpPr txBox="1"/>
          <p:nvPr/>
        </p:nvSpPr>
        <p:spPr>
          <a:xfrm>
            <a:off x="1138723" y="3402142"/>
            <a:ext cx="1444626" cy="369332"/>
          </a:xfrm>
          <a:prstGeom prst="rect">
            <a:avLst/>
          </a:prstGeom>
          <a:noFill/>
        </p:spPr>
        <p:txBody>
          <a:bodyPr wrap="none" rtlCol="0">
            <a:spAutoFit/>
          </a:bodyPr>
          <a:lstStyle/>
          <a:p>
            <a:r>
              <a:rPr lang="it-IT" dirty="0"/>
              <a:t>Lambda = 0.3</a:t>
            </a:r>
          </a:p>
        </p:txBody>
      </p:sp>
      <p:graphicFrame>
        <p:nvGraphicFramePr>
          <p:cNvPr id="6" name="Tabella 5">
            <a:extLst>
              <a:ext uri="{FF2B5EF4-FFF2-40B4-BE49-F238E27FC236}">
                <a16:creationId xmlns:a16="http://schemas.microsoft.com/office/drawing/2014/main" id="{58620517-8327-5E49-9C6A-8EB32CC9A36C}"/>
              </a:ext>
            </a:extLst>
          </p:cNvPr>
          <p:cNvGraphicFramePr>
            <a:graphicFrameLocks noGrp="1"/>
          </p:cNvGraphicFramePr>
          <p:nvPr/>
        </p:nvGraphicFramePr>
        <p:xfrm>
          <a:off x="994947" y="1608113"/>
          <a:ext cx="2086476" cy="1483360"/>
        </p:xfrm>
        <a:graphic>
          <a:graphicData uri="http://schemas.openxmlformats.org/drawingml/2006/table">
            <a:tbl>
              <a:tblPr firstRow="1" bandRow="1">
                <a:tableStyleId>{5C22544A-7EE6-4342-B048-85BDC9FD1C3A}</a:tableStyleId>
              </a:tblPr>
              <a:tblGrid>
                <a:gridCol w="521619">
                  <a:extLst>
                    <a:ext uri="{9D8B030D-6E8A-4147-A177-3AD203B41FA5}">
                      <a16:colId xmlns:a16="http://schemas.microsoft.com/office/drawing/2014/main" val="3007943972"/>
                    </a:ext>
                  </a:extLst>
                </a:gridCol>
                <a:gridCol w="521619">
                  <a:extLst>
                    <a:ext uri="{9D8B030D-6E8A-4147-A177-3AD203B41FA5}">
                      <a16:colId xmlns:a16="http://schemas.microsoft.com/office/drawing/2014/main" val="220923671"/>
                    </a:ext>
                  </a:extLst>
                </a:gridCol>
                <a:gridCol w="521619">
                  <a:extLst>
                    <a:ext uri="{9D8B030D-6E8A-4147-A177-3AD203B41FA5}">
                      <a16:colId xmlns:a16="http://schemas.microsoft.com/office/drawing/2014/main" val="1888354542"/>
                    </a:ext>
                  </a:extLst>
                </a:gridCol>
                <a:gridCol w="521619">
                  <a:extLst>
                    <a:ext uri="{9D8B030D-6E8A-4147-A177-3AD203B41FA5}">
                      <a16:colId xmlns:a16="http://schemas.microsoft.com/office/drawing/2014/main" val="2090727010"/>
                    </a:ext>
                  </a:extLst>
                </a:gridCol>
              </a:tblGrid>
              <a:tr h="370840">
                <a:tc>
                  <a:txBody>
                    <a:bodyPr/>
                    <a:lstStyle/>
                    <a:p>
                      <a:pPr algn="ctr"/>
                      <a:r>
                        <a:rPr lang="it-IT" dirty="0"/>
                        <a:t>id</a:t>
                      </a:r>
                    </a:p>
                  </a:txBody>
                  <a:tcPr/>
                </a:tc>
                <a:tc>
                  <a:txBody>
                    <a:bodyPr/>
                    <a:lstStyle/>
                    <a:p>
                      <a:pPr algn="ctr"/>
                      <a:r>
                        <a:rPr lang="it-IT" dirty="0"/>
                        <a:t>X</a:t>
                      </a:r>
                      <a:r>
                        <a:rPr lang="it-IT" baseline="-25000" dirty="0"/>
                        <a:t>1</a:t>
                      </a:r>
                    </a:p>
                  </a:txBody>
                  <a:tcPr/>
                </a:tc>
                <a:tc>
                  <a:txBody>
                    <a:bodyPr/>
                    <a:lstStyle/>
                    <a:p>
                      <a:pPr algn="ctr"/>
                      <a:r>
                        <a:rPr lang="it-IT" dirty="0"/>
                        <a:t>X</a:t>
                      </a:r>
                      <a:r>
                        <a:rPr lang="it-IT" baseline="-25000" dirty="0"/>
                        <a:t>2</a:t>
                      </a:r>
                      <a:endParaRPr lang="it-IT" dirty="0"/>
                    </a:p>
                  </a:txBody>
                  <a:tcPr/>
                </a:tc>
                <a:tc>
                  <a:txBody>
                    <a:bodyPr/>
                    <a:lstStyle/>
                    <a:p>
                      <a:pPr algn="ctr"/>
                      <a:r>
                        <a:rPr lang="it-IT" dirty="0"/>
                        <a:t>Y</a:t>
                      </a:r>
                    </a:p>
                  </a:txBody>
                  <a:tcPr/>
                </a:tc>
                <a:extLst>
                  <a:ext uri="{0D108BD9-81ED-4DB2-BD59-A6C34878D82A}">
                    <a16:rowId xmlns:a16="http://schemas.microsoft.com/office/drawing/2014/main" val="647644152"/>
                  </a:ext>
                </a:extLst>
              </a:tr>
              <a:tr h="370840">
                <a:tc>
                  <a:txBody>
                    <a:bodyPr/>
                    <a:lstStyle/>
                    <a:p>
                      <a:pPr algn="ctr"/>
                      <a:r>
                        <a:rPr lang="it-IT" dirty="0"/>
                        <a:t>a</a:t>
                      </a:r>
                    </a:p>
                  </a:txBody>
                  <a:tcPr/>
                </a:tc>
                <a:tc>
                  <a:txBody>
                    <a:bodyPr/>
                    <a:lstStyle/>
                    <a:p>
                      <a:pPr algn="ctr"/>
                      <a:r>
                        <a:rPr lang="it-IT" dirty="0"/>
                        <a:t>0</a:t>
                      </a:r>
                    </a:p>
                  </a:txBody>
                  <a:tcPr/>
                </a:tc>
                <a:tc>
                  <a:txBody>
                    <a:bodyPr/>
                    <a:lstStyle/>
                    <a:p>
                      <a:pPr algn="ctr"/>
                      <a:r>
                        <a:rPr lang="it-IT" dirty="0"/>
                        <a:t>1</a:t>
                      </a:r>
                    </a:p>
                  </a:txBody>
                  <a:tcPr/>
                </a:tc>
                <a:tc>
                  <a:txBody>
                    <a:bodyPr/>
                    <a:lstStyle/>
                    <a:p>
                      <a:pPr algn="ctr"/>
                      <a:r>
                        <a:rPr lang="it-IT" dirty="0"/>
                        <a:t>-1</a:t>
                      </a:r>
                    </a:p>
                  </a:txBody>
                  <a:tcPr/>
                </a:tc>
                <a:extLst>
                  <a:ext uri="{0D108BD9-81ED-4DB2-BD59-A6C34878D82A}">
                    <a16:rowId xmlns:a16="http://schemas.microsoft.com/office/drawing/2014/main" val="3006406211"/>
                  </a:ext>
                </a:extLst>
              </a:tr>
              <a:tr h="370840">
                <a:tc>
                  <a:txBody>
                    <a:bodyPr/>
                    <a:lstStyle/>
                    <a:p>
                      <a:pPr algn="ctr"/>
                      <a:r>
                        <a:rPr lang="it-IT" dirty="0"/>
                        <a:t>b</a:t>
                      </a:r>
                    </a:p>
                  </a:txBody>
                  <a:tcPr/>
                </a:tc>
                <a:tc>
                  <a:txBody>
                    <a:bodyPr/>
                    <a:lstStyle/>
                    <a:p>
                      <a:pPr algn="ctr"/>
                      <a:r>
                        <a:rPr lang="it-IT" dirty="0"/>
                        <a:t>0</a:t>
                      </a:r>
                    </a:p>
                  </a:txBody>
                  <a:tcPr/>
                </a:tc>
                <a:tc>
                  <a:txBody>
                    <a:bodyPr/>
                    <a:lstStyle/>
                    <a:p>
                      <a:pPr algn="ctr"/>
                      <a:r>
                        <a:rPr lang="it-IT" dirty="0"/>
                        <a:t>0</a:t>
                      </a:r>
                    </a:p>
                  </a:txBody>
                  <a:tcPr/>
                </a:tc>
                <a:tc>
                  <a:txBody>
                    <a:bodyPr/>
                    <a:lstStyle/>
                    <a:p>
                      <a:pPr algn="ctr"/>
                      <a:r>
                        <a:rPr lang="it-IT" dirty="0"/>
                        <a:t>1</a:t>
                      </a:r>
                    </a:p>
                  </a:txBody>
                  <a:tcPr/>
                </a:tc>
                <a:extLst>
                  <a:ext uri="{0D108BD9-81ED-4DB2-BD59-A6C34878D82A}">
                    <a16:rowId xmlns:a16="http://schemas.microsoft.com/office/drawing/2014/main" val="1442248098"/>
                  </a:ext>
                </a:extLst>
              </a:tr>
              <a:tr h="370840">
                <a:tc>
                  <a:txBody>
                    <a:bodyPr/>
                    <a:lstStyle/>
                    <a:p>
                      <a:pPr algn="ctr"/>
                      <a:r>
                        <a:rPr lang="it-IT" dirty="0"/>
                        <a:t>c</a:t>
                      </a:r>
                    </a:p>
                  </a:txBody>
                  <a:tcPr/>
                </a:tc>
                <a:tc>
                  <a:txBody>
                    <a:bodyPr/>
                    <a:lstStyle/>
                    <a:p>
                      <a:pPr algn="ctr"/>
                      <a:r>
                        <a:rPr lang="it-IT" dirty="0"/>
                        <a:t>1</a:t>
                      </a:r>
                    </a:p>
                  </a:txBody>
                  <a:tcPr/>
                </a:tc>
                <a:tc>
                  <a:txBody>
                    <a:bodyPr/>
                    <a:lstStyle/>
                    <a:p>
                      <a:pPr algn="ctr"/>
                      <a:r>
                        <a:rPr lang="it-IT" dirty="0"/>
                        <a:t>2</a:t>
                      </a:r>
                    </a:p>
                  </a:txBody>
                  <a:tcPr/>
                </a:tc>
                <a:tc>
                  <a:txBody>
                    <a:bodyPr/>
                    <a:lstStyle/>
                    <a:p>
                      <a:pPr algn="ctr"/>
                      <a:r>
                        <a:rPr lang="it-IT" dirty="0"/>
                        <a:t>-1</a:t>
                      </a:r>
                    </a:p>
                  </a:txBody>
                  <a:tcPr/>
                </a:tc>
                <a:extLst>
                  <a:ext uri="{0D108BD9-81ED-4DB2-BD59-A6C34878D82A}">
                    <a16:rowId xmlns:a16="http://schemas.microsoft.com/office/drawing/2014/main" val="4095835177"/>
                  </a:ext>
                </a:extLst>
              </a:tr>
            </a:tbl>
          </a:graphicData>
        </a:graphic>
      </p:graphicFrame>
      <p:sp>
        <p:nvSpPr>
          <p:cNvPr id="7" name="CasellaDiTesto 6">
            <a:extLst>
              <a:ext uri="{FF2B5EF4-FFF2-40B4-BE49-F238E27FC236}">
                <a16:creationId xmlns:a16="http://schemas.microsoft.com/office/drawing/2014/main" id="{927C77E6-5F33-8046-9F2E-9975A8958726}"/>
              </a:ext>
            </a:extLst>
          </p:cNvPr>
          <p:cNvSpPr txBox="1"/>
          <p:nvPr/>
        </p:nvSpPr>
        <p:spPr>
          <a:xfrm>
            <a:off x="1436079" y="3840407"/>
            <a:ext cx="849913" cy="369332"/>
          </a:xfrm>
          <a:prstGeom prst="rect">
            <a:avLst/>
          </a:prstGeom>
          <a:noFill/>
        </p:spPr>
        <p:txBody>
          <a:bodyPr wrap="none" rtlCol="0">
            <a:spAutoFit/>
          </a:bodyPr>
          <a:lstStyle/>
          <a:p>
            <a:r>
              <a:rPr lang="it-IT" dirty="0"/>
              <a:t>f = </a:t>
            </a:r>
            <a:r>
              <a:rPr lang="it-IT" dirty="0" err="1"/>
              <a:t>sign</a:t>
            </a:r>
            <a:endParaRPr lang="it-IT" dirty="0"/>
          </a:p>
        </p:txBody>
      </p:sp>
      <p:graphicFrame>
        <p:nvGraphicFramePr>
          <p:cNvPr id="8" name="Object 2">
            <a:extLst>
              <a:ext uri="{FF2B5EF4-FFF2-40B4-BE49-F238E27FC236}">
                <a16:creationId xmlns:a16="http://schemas.microsoft.com/office/drawing/2014/main" id="{CEC803DE-DAB6-7B4B-B16C-3FA5D5AB1EB8}"/>
              </a:ext>
            </a:extLst>
          </p:cNvPr>
          <p:cNvGraphicFramePr>
            <a:graphicFrameLocks noChangeAspect="1"/>
          </p:cNvGraphicFramePr>
          <p:nvPr/>
        </p:nvGraphicFramePr>
        <p:xfrm>
          <a:off x="4160783" y="137754"/>
          <a:ext cx="7620000" cy="555625"/>
        </p:xfrm>
        <a:graphic>
          <a:graphicData uri="http://schemas.openxmlformats.org/presentationml/2006/ole">
            <mc:AlternateContent xmlns:mc="http://schemas.openxmlformats.org/markup-compatibility/2006">
              <mc:Choice xmlns:v="urn:schemas-microsoft-com:vml" Requires="v">
                <p:oleObj name="Equation" r:id="rId2" imgW="3213100" imgH="241300" progId="Equation.3">
                  <p:embed/>
                </p:oleObj>
              </mc:Choice>
              <mc:Fallback>
                <p:oleObj name="Equation" r:id="rId2" imgW="3213100" imgH="241300" progId="Equation.3">
                  <p:embed/>
                  <p:pic>
                    <p:nvPicPr>
                      <p:cNvPr id="8" name="Object 2">
                        <a:extLst>
                          <a:ext uri="{FF2B5EF4-FFF2-40B4-BE49-F238E27FC236}">
                            <a16:creationId xmlns:a16="http://schemas.microsoft.com/office/drawing/2014/main" id="{CEC803DE-DAB6-7B4B-B16C-3FA5D5AB1E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0783" y="137754"/>
                        <a:ext cx="76200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0907433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6EC64A-1F68-7243-81CC-935E096D57EB}"/>
              </a:ext>
            </a:extLst>
          </p:cNvPr>
          <p:cNvSpPr>
            <a:spLocks noGrp="1"/>
          </p:cNvSpPr>
          <p:nvPr>
            <p:ph type="title"/>
          </p:nvPr>
        </p:nvSpPr>
        <p:spPr/>
        <p:txBody>
          <a:bodyPr/>
          <a:lstStyle/>
          <a:p>
            <a:r>
              <a:rPr lang="it-IT" dirty="0"/>
              <a:t>Train Linear </a:t>
            </a:r>
            <a:r>
              <a:rPr lang="it-IT" dirty="0" err="1"/>
              <a:t>Perceptron</a:t>
            </a:r>
            <a:endParaRPr lang="it-IT" dirty="0"/>
          </a:p>
        </p:txBody>
      </p:sp>
      <p:graphicFrame>
        <p:nvGraphicFramePr>
          <p:cNvPr id="4" name="Tabella 3">
            <a:extLst>
              <a:ext uri="{FF2B5EF4-FFF2-40B4-BE49-F238E27FC236}">
                <a16:creationId xmlns:a16="http://schemas.microsoft.com/office/drawing/2014/main" id="{0398B540-D1C9-3745-A9F4-F0AF9C7282A6}"/>
              </a:ext>
            </a:extLst>
          </p:cNvPr>
          <p:cNvGraphicFramePr>
            <a:graphicFrameLocks noGrp="1"/>
          </p:cNvGraphicFramePr>
          <p:nvPr/>
        </p:nvGraphicFramePr>
        <p:xfrm>
          <a:off x="3755463" y="1538539"/>
          <a:ext cx="8025320" cy="4820920"/>
        </p:xfrm>
        <a:graphic>
          <a:graphicData uri="http://schemas.openxmlformats.org/drawingml/2006/table">
            <a:tbl>
              <a:tblPr firstRow="1" bandRow="1">
                <a:tableStyleId>{5C22544A-7EE6-4342-B048-85BDC9FD1C3A}</a:tableStyleId>
              </a:tblPr>
              <a:tblGrid>
                <a:gridCol w="802532">
                  <a:extLst>
                    <a:ext uri="{9D8B030D-6E8A-4147-A177-3AD203B41FA5}">
                      <a16:colId xmlns:a16="http://schemas.microsoft.com/office/drawing/2014/main" val="3007943972"/>
                    </a:ext>
                  </a:extLst>
                </a:gridCol>
                <a:gridCol w="802532">
                  <a:extLst>
                    <a:ext uri="{9D8B030D-6E8A-4147-A177-3AD203B41FA5}">
                      <a16:colId xmlns:a16="http://schemas.microsoft.com/office/drawing/2014/main" val="220923671"/>
                    </a:ext>
                  </a:extLst>
                </a:gridCol>
                <a:gridCol w="802532">
                  <a:extLst>
                    <a:ext uri="{9D8B030D-6E8A-4147-A177-3AD203B41FA5}">
                      <a16:colId xmlns:a16="http://schemas.microsoft.com/office/drawing/2014/main" val="1888354542"/>
                    </a:ext>
                  </a:extLst>
                </a:gridCol>
                <a:gridCol w="802532">
                  <a:extLst>
                    <a:ext uri="{9D8B030D-6E8A-4147-A177-3AD203B41FA5}">
                      <a16:colId xmlns:a16="http://schemas.microsoft.com/office/drawing/2014/main" val="4183561819"/>
                    </a:ext>
                  </a:extLst>
                </a:gridCol>
                <a:gridCol w="802532">
                  <a:extLst>
                    <a:ext uri="{9D8B030D-6E8A-4147-A177-3AD203B41FA5}">
                      <a16:colId xmlns:a16="http://schemas.microsoft.com/office/drawing/2014/main" val="2090727010"/>
                    </a:ext>
                  </a:extLst>
                </a:gridCol>
                <a:gridCol w="802532">
                  <a:extLst>
                    <a:ext uri="{9D8B030D-6E8A-4147-A177-3AD203B41FA5}">
                      <a16:colId xmlns:a16="http://schemas.microsoft.com/office/drawing/2014/main" val="1559798696"/>
                    </a:ext>
                  </a:extLst>
                </a:gridCol>
                <a:gridCol w="802532">
                  <a:extLst>
                    <a:ext uri="{9D8B030D-6E8A-4147-A177-3AD203B41FA5}">
                      <a16:colId xmlns:a16="http://schemas.microsoft.com/office/drawing/2014/main" val="3564938619"/>
                    </a:ext>
                  </a:extLst>
                </a:gridCol>
                <a:gridCol w="802532">
                  <a:extLst>
                    <a:ext uri="{9D8B030D-6E8A-4147-A177-3AD203B41FA5}">
                      <a16:colId xmlns:a16="http://schemas.microsoft.com/office/drawing/2014/main" val="2640809818"/>
                    </a:ext>
                  </a:extLst>
                </a:gridCol>
                <a:gridCol w="802532">
                  <a:extLst>
                    <a:ext uri="{9D8B030D-6E8A-4147-A177-3AD203B41FA5}">
                      <a16:colId xmlns:a16="http://schemas.microsoft.com/office/drawing/2014/main" val="4147220622"/>
                    </a:ext>
                  </a:extLst>
                </a:gridCol>
                <a:gridCol w="802532">
                  <a:extLst>
                    <a:ext uri="{9D8B030D-6E8A-4147-A177-3AD203B41FA5}">
                      <a16:colId xmlns:a16="http://schemas.microsoft.com/office/drawing/2014/main" val="1678705754"/>
                    </a:ext>
                  </a:extLst>
                </a:gridCol>
              </a:tblGrid>
              <a:tr h="370840">
                <a:tc>
                  <a:txBody>
                    <a:bodyPr/>
                    <a:lstStyle/>
                    <a:p>
                      <a:pPr algn="ctr"/>
                      <a:r>
                        <a:rPr lang="it-IT" dirty="0" err="1"/>
                        <a:t>it</a:t>
                      </a:r>
                      <a:endParaRPr lang="it-IT" dirty="0"/>
                    </a:p>
                  </a:txBody>
                  <a:tcPr/>
                </a:tc>
                <a:tc>
                  <a:txBody>
                    <a:bodyPr/>
                    <a:lstStyle/>
                    <a:p>
                      <a:pPr algn="ctr"/>
                      <a:r>
                        <a:rPr lang="it-IT" baseline="0" dirty="0"/>
                        <a:t>W</a:t>
                      </a:r>
                      <a:r>
                        <a:rPr lang="it-IT" baseline="-25000" dirty="0"/>
                        <a:t>0</a:t>
                      </a:r>
                    </a:p>
                  </a:txBody>
                  <a:tcPr/>
                </a:tc>
                <a:tc>
                  <a:txBody>
                    <a:bodyPr/>
                    <a:lstStyle/>
                    <a:p>
                      <a:pPr algn="ctr"/>
                      <a:r>
                        <a:rPr lang="it-IT" baseline="0" dirty="0"/>
                        <a:t>W</a:t>
                      </a:r>
                      <a:r>
                        <a:rPr lang="it-IT" baseline="-25000" dirty="0"/>
                        <a:t>1</a:t>
                      </a:r>
                    </a:p>
                  </a:txBody>
                  <a:tcPr/>
                </a:tc>
                <a:tc>
                  <a:txBody>
                    <a:bodyPr/>
                    <a:lstStyle/>
                    <a:p>
                      <a:pPr algn="ctr"/>
                      <a:r>
                        <a:rPr lang="it-IT" baseline="0" dirty="0"/>
                        <a:t>W</a:t>
                      </a:r>
                      <a:r>
                        <a:rPr lang="it-IT" baseline="-25000" dirty="0"/>
                        <a:t>2</a:t>
                      </a:r>
                    </a:p>
                  </a:txBody>
                  <a:tcPr/>
                </a:tc>
                <a:tc>
                  <a:txBody>
                    <a:bodyPr/>
                    <a:lstStyle/>
                    <a:p>
                      <a:pPr algn="ctr"/>
                      <a:r>
                        <a:rPr lang="it-IT" dirty="0"/>
                        <a:t>X.W</a:t>
                      </a:r>
                    </a:p>
                  </a:txBody>
                  <a:tcPr/>
                </a:tc>
                <a:tc>
                  <a:txBody>
                    <a:bodyPr/>
                    <a:lstStyle/>
                    <a:p>
                      <a:pPr algn="ctr"/>
                      <a:r>
                        <a:rPr lang="it-IT" dirty="0" err="1"/>
                        <a:t>f</a:t>
                      </a:r>
                      <a:r>
                        <a:rPr lang="it-IT" dirty="0"/>
                        <a:t>(X.W)</a:t>
                      </a:r>
                    </a:p>
                  </a:txBody>
                  <a:tcPr/>
                </a:tc>
                <a:tc>
                  <a:txBody>
                    <a:bodyPr/>
                    <a:lstStyle/>
                    <a:p>
                      <a:pPr algn="ctr"/>
                      <a:r>
                        <a:rPr lang="it-IT" dirty="0" err="1"/>
                        <a:t>error</a:t>
                      </a:r>
                      <a:endParaRPr lang="it-IT" dirty="0"/>
                    </a:p>
                  </a:txBody>
                  <a:tcPr/>
                </a:tc>
                <a:tc>
                  <a:txBody>
                    <a:bodyPr/>
                    <a:lstStyle/>
                    <a:p>
                      <a:pPr algn="ctr"/>
                      <a:r>
                        <a:rPr lang="it-IT" dirty="0"/>
                        <a:t>delta</a:t>
                      </a:r>
                      <a:r>
                        <a:rPr lang="it-IT" baseline="-25000"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2</a:t>
                      </a:r>
                    </a:p>
                  </a:txBody>
                  <a:tcPr/>
                </a:tc>
                <a:extLst>
                  <a:ext uri="{0D108BD9-81ED-4DB2-BD59-A6C34878D82A}">
                    <a16:rowId xmlns:a16="http://schemas.microsoft.com/office/drawing/2014/main" val="647644152"/>
                  </a:ext>
                </a:extLst>
              </a:tr>
              <a:tr h="370840">
                <a:tc>
                  <a:txBody>
                    <a:bodyPr/>
                    <a:lstStyle/>
                    <a:p>
                      <a:pPr algn="ctr"/>
                      <a:r>
                        <a:rPr lang="it-IT" dirty="0"/>
                        <a:t>1</a:t>
                      </a:r>
                    </a:p>
                  </a:txBody>
                  <a:tcPr/>
                </a:tc>
                <a:tc>
                  <a:txBody>
                    <a:bodyPr/>
                    <a:lstStyle/>
                    <a:p>
                      <a:pPr algn="ctr"/>
                      <a:r>
                        <a:rPr lang="it-IT" dirty="0"/>
                        <a:t>-1</a:t>
                      </a:r>
                    </a:p>
                  </a:txBody>
                  <a:tcPr/>
                </a:tc>
                <a:tc>
                  <a:txBody>
                    <a:bodyPr/>
                    <a:lstStyle/>
                    <a:p>
                      <a:pPr algn="ctr"/>
                      <a:r>
                        <a:rPr lang="it-IT" dirty="0"/>
                        <a:t>0</a:t>
                      </a:r>
                    </a:p>
                  </a:txBody>
                  <a:tcPr/>
                </a:tc>
                <a:tc>
                  <a:txBody>
                    <a:bodyPr/>
                    <a:lstStyle/>
                    <a:p>
                      <a:pPr algn="ctr"/>
                      <a:r>
                        <a:rPr lang="it-IT" dirty="0"/>
                        <a:t>0</a:t>
                      </a:r>
                    </a:p>
                  </a:txBody>
                  <a:tcPr/>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extLst>
                  <a:ext uri="{0D108BD9-81ED-4DB2-BD59-A6C34878D82A}">
                    <a16:rowId xmlns:a16="http://schemas.microsoft.com/office/drawing/2014/main" val="3006406211"/>
                  </a:ext>
                </a:extLst>
              </a:tr>
              <a:tr h="370840">
                <a:tc>
                  <a:txBody>
                    <a:bodyPr/>
                    <a:lstStyle/>
                    <a:p>
                      <a:pPr algn="ctr"/>
                      <a:r>
                        <a:rPr lang="it-IT" dirty="0"/>
                        <a:t>2</a:t>
                      </a:r>
                    </a:p>
                  </a:txBody>
                  <a:tcPr/>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442248098"/>
                  </a:ext>
                </a:extLst>
              </a:tr>
              <a:tr h="370840">
                <a:tc>
                  <a:txBody>
                    <a:bodyPr/>
                    <a:lstStyle/>
                    <a:p>
                      <a:pPr algn="ctr"/>
                      <a:r>
                        <a:rPr lang="it-IT" dirty="0"/>
                        <a:t>3</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4095835177"/>
                  </a:ext>
                </a:extLst>
              </a:tr>
              <a:tr h="370840">
                <a:tc>
                  <a:txBody>
                    <a:bodyPr/>
                    <a:lstStyle/>
                    <a:p>
                      <a:pPr algn="ctr"/>
                      <a:r>
                        <a:rPr lang="it-IT" dirty="0"/>
                        <a:t>4</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437626370"/>
                  </a:ext>
                </a:extLst>
              </a:tr>
              <a:tr h="370840">
                <a:tc>
                  <a:txBody>
                    <a:bodyPr/>
                    <a:lstStyle/>
                    <a:p>
                      <a:pPr algn="ctr"/>
                      <a:r>
                        <a:rPr lang="it-IT" dirty="0"/>
                        <a:t>5</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3459893937"/>
                  </a:ext>
                </a:extLst>
              </a:tr>
              <a:tr h="370840">
                <a:tc>
                  <a:txBody>
                    <a:bodyPr/>
                    <a:lstStyle/>
                    <a:p>
                      <a:pPr algn="ctr"/>
                      <a:r>
                        <a:rPr lang="it-IT" dirty="0"/>
                        <a:t>6</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26436750"/>
                  </a:ext>
                </a:extLst>
              </a:tr>
              <a:tr h="370840">
                <a:tc>
                  <a:txBody>
                    <a:bodyPr/>
                    <a:lstStyle/>
                    <a:p>
                      <a:pPr algn="ctr"/>
                      <a:r>
                        <a:rPr lang="it-IT" dirty="0"/>
                        <a:t>7</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290132517"/>
                  </a:ext>
                </a:extLst>
              </a:tr>
              <a:tr h="370840">
                <a:tc>
                  <a:txBody>
                    <a:bodyPr/>
                    <a:lstStyle/>
                    <a:p>
                      <a:pPr algn="ctr"/>
                      <a:r>
                        <a:rPr lang="it-IT" dirty="0"/>
                        <a:t>8</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380738723"/>
                  </a:ext>
                </a:extLst>
              </a:tr>
              <a:tr h="370840">
                <a:tc>
                  <a:txBody>
                    <a:bodyPr/>
                    <a:lstStyle/>
                    <a:p>
                      <a:pPr algn="ctr"/>
                      <a:r>
                        <a:rPr lang="it-IT" dirty="0"/>
                        <a:t>9</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19150045"/>
                  </a:ext>
                </a:extLst>
              </a:tr>
              <a:tr h="370840">
                <a:tc>
                  <a:txBody>
                    <a:bodyPr/>
                    <a:lstStyle/>
                    <a:p>
                      <a:pPr algn="ctr"/>
                      <a:r>
                        <a:rPr lang="it-IT" dirty="0"/>
                        <a:t>10</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545436331"/>
                  </a:ext>
                </a:extLst>
              </a:tr>
              <a:tr h="370840">
                <a:tc>
                  <a:txBody>
                    <a:bodyPr/>
                    <a:lstStyle/>
                    <a:p>
                      <a:pPr algn="ctr"/>
                      <a:r>
                        <a:rPr lang="it-IT" dirty="0"/>
                        <a:t>11</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3664168057"/>
                  </a:ext>
                </a:extLst>
              </a:tr>
              <a:tr h="370840">
                <a:tc>
                  <a:txBody>
                    <a:bodyPr/>
                    <a:lstStyle/>
                    <a:p>
                      <a:pPr algn="ctr"/>
                      <a:r>
                        <a:rPr lang="it-IT" dirty="0"/>
                        <a:t>12</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137315494"/>
                  </a:ext>
                </a:extLst>
              </a:tr>
            </a:tbl>
          </a:graphicData>
        </a:graphic>
      </p:graphicFrame>
      <p:sp>
        <p:nvSpPr>
          <p:cNvPr id="5" name="CasellaDiTesto 4">
            <a:extLst>
              <a:ext uri="{FF2B5EF4-FFF2-40B4-BE49-F238E27FC236}">
                <a16:creationId xmlns:a16="http://schemas.microsoft.com/office/drawing/2014/main" id="{1C0D3F40-0FA6-AE4B-B317-31946E90F809}"/>
              </a:ext>
            </a:extLst>
          </p:cNvPr>
          <p:cNvSpPr txBox="1"/>
          <p:nvPr/>
        </p:nvSpPr>
        <p:spPr>
          <a:xfrm>
            <a:off x="1138723" y="3402142"/>
            <a:ext cx="1444626" cy="369332"/>
          </a:xfrm>
          <a:prstGeom prst="rect">
            <a:avLst/>
          </a:prstGeom>
          <a:noFill/>
        </p:spPr>
        <p:txBody>
          <a:bodyPr wrap="none" rtlCol="0">
            <a:spAutoFit/>
          </a:bodyPr>
          <a:lstStyle/>
          <a:p>
            <a:r>
              <a:rPr lang="it-IT" dirty="0"/>
              <a:t>Lambda = 0.3</a:t>
            </a:r>
          </a:p>
        </p:txBody>
      </p:sp>
      <p:graphicFrame>
        <p:nvGraphicFramePr>
          <p:cNvPr id="6" name="Tabella 5">
            <a:extLst>
              <a:ext uri="{FF2B5EF4-FFF2-40B4-BE49-F238E27FC236}">
                <a16:creationId xmlns:a16="http://schemas.microsoft.com/office/drawing/2014/main" id="{58620517-8327-5E49-9C6A-8EB32CC9A36C}"/>
              </a:ext>
            </a:extLst>
          </p:cNvPr>
          <p:cNvGraphicFramePr>
            <a:graphicFrameLocks noGrp="1"/>
          </p:cNvGraphicFramePr>
          <p:nvPr/>
        </p:nvGraphicFramePr>
        <p:xfrm>
          <a:off x="994947" y="1608113"/>
          <a:ext cx="2086476" cy="1483360"/>
        </p:xfrm>
        <a:graphic>
          <a:graphicData uri="http://schemas.openxmlformats.org/drawingml/2006/table">
            <a:tbl>
              <a:tblPr firstRow="1" bandRow="1">
                <a:tableStyleId>{5C22544A-7EE6-4342-B048-85BDC9FD1C3A}</a:tableStyleId>
              </a:tblPr>
              <a:tblGrid>
                <a:gridCol w="521619">
                  <a:extLst>
                    <a:ext uri="{9D8B030D-6E8A-4147-A177-3AD203B41FA5}">
                      <a16:colId xmlns:a16="http://schemas.microsoft.com/office/drawing/2014/main" val="3007943972"/>
                    </a:ext>
                  </a:extLst>
                </a:gridCol>
                <a:gridCol w="521619">
                  <a:extLst>
                    <a:ext uri="{9D8B030D-6E8A-4147-A177-3AD203B41FA5}">
                      <a16:colId xmlns:a16="http://schemas.microsoft.com/office/drawing/2014/main" val="220923671"/>
                    </a:ext>
                  </a:extLst>
                </a:gridCol>
                <a:gridCol w="521619">
                  <a:extLst>
                    <a:ext uri="{9D8B030D-6E8A-4147-A177-3AD203B41FA5}">
                      <a16:colId xmlns:a16="http://schemas.microsoft.com/office/drawing/2014/main" val="1888354542"/>
                    </a:ext>
                  </a:extLst>
                </a:gridCol>
                <a:gridCol w="521619">
                  <a:extLst>
                    <a:ext uri="{9D8B030D-6E8A-4147-A177-3AD203B41FA5}">
                      <a16:colId xmlns:a16="http://schemas.microsoft.com/office/drawing/2014/main" val="2090727010"/>
                    </a:ext>
                  </a:extLst>
                </a:gridCol>
              </a:tblGrid>
              <a:tr h="370840">
                <a:tc>
                  <a:txBody>
                    <a:bodyPr/>
                    <a:lstStyle/>
                    <a:p>
                      <a:pPr algn="ctr"/>
                      <a:r>
                        <a:rPr lang="it-IT" dirty="0"/>
                        <a:t>id</a:t>
                      </a:r>
                    </a:p>
                  </a:txBody>
                  <a:tcPr/>
                </a:tc>
                <a:tc>
                  <a:txBody>
                    <a:bodyPr/>
                    <a:lstStyle/>
                    <a:p>
                      <a:pPr algn="ctr"/>
                      <a:r>
                        <a:rPr lang="it-IT" dirty="0"/>
                        <a:t>X</a:t>
                      </a:r>
                      <a:r>
                        <a:rPr lang="it-IT" baseline="-25000" dirty="0"/>
                        <a:t>1</a:t>
                      </a:r>
                    </a:p>
                  </a:txBody>
                  <a:tcPr/>
                </a:tc>
                <a:tc>
                  <a:txBody>
                    <a:bodyPr/>
                    <a:lstStyle/>
                    <a:p>
                      <a:pPr algn="ctr"/>
                      <a:r>
                        <a:rPr lang="it-IT" dirty="0"/>
                        <a:t>X</a:t>
                      </a:r>
                      <a:r>
                        <a:rPr lang="it-IT" baseline="-25000" dirty="0"/>
                        <a:t>2</a:t>
                      </a:r>
                      <a:endParaRPr lang="it-IT" dirty="0"/>
                    </a:p>
                  </a:txBody>
                  <a:tcPr/>
                </a:tc>
                <a:tc>
                  <a:txBody>
                    <a:bodyPr/>
                    <a:lstStyle/>
                    <a:p>
                      <a:pPr algn="ctr"/>
                      <a:r>
                        <a:rPr lang="it-IT" dirty="0"/>
                        <a:t>Y</a:t>
                      </a:r>
                    </a:p>
                  </a:txBody>
                  <a:tcPr/>
                </a:tc>
                <a:extLst>
                  <a:ext uri="{0D108BD9-81ED-4DB2-BD59-A6C34878D82A}">
                    <a16:rowId xmlns:a16="http://schemas.microsoft.com/office/drawing/2014/main" val="647644152"/>
                  </a:ext>
                </a:extLst>
              </a:tr>
              <a:tr h="370840">
                <a:tc>
                  <a:txBody>
                    <a:bodyPr/>
                    <a:lstStyle/>
                    <a:p>
                      <a:pPr algn="ctr"/>
                      <a:r>
                        <a:rPr lang="it-IT" dirty="0"/>
                        <a:t>a</a:t>
                      </a:r>
                    </a:p>
                  </a:txBody>
                  <a:tcPr/>
                </a:tc>
                <a:tc>
                  <a:txBody>
                    <a:bodyPr/>
                    <a:lstStyle/>
                    <a:p>
                      <a:pPr algn="ctr"/>
                      <a:r>
                        <a:rPr lang="it-IT" dirty="0"/>
                        <a:t>0</a:t>
                      </a:r>
                    </a:p>
                  </a:txBody>
                  <a:tcPr/>
                </a:tc>
                <a:tc>
                  <a:txBody>
                    <a:bodyPr/>
                    <a:lstStyle/>
                    <a:p>
                      <a:pPr algn="ctr"/>
                      <a:r>
                        <a:rPr lang="it-IT" dirty="0"/>
                        <a:t>1</a:t>
                      </a:r>
                    </a:p>
                  </a:txBody>
                  <a:tcPr/>
                </a:tc>
                <a:tc>
                  <a:txBody>
                    <a:bodyPr/>
                    <a:lstStyle/>
                    <a:p>
                      <a:pPr algn="ctr"/>
                      <a:r>
                        <a:rPr lang="it-IT" dirty="0"/>
                        <a:t>-1</a:t>
                      </a:r>
                    </a:p>
                  </a:txBody>
                  <a:tcPr/>
                </a:tc>
                <a:extLst>
                  <a:ext uri="{0D108BD9-81ED-4DB2-BD59-A6C34878D82A}">
                    <a16:rowId xmlns:a16="http://schemas.microsoft.com/office/drawing/2014/main" val="3006406211"/>
                  </a:ext>
                </a:extLst>
              </a:tr>
              <a:tr h="370840">
                <a:tc>
                  <a:txBody>
                    <a:bodyPr/>
                    <a:lstStyle/>
                    <a:p>
                      <a:pPr algn="ctr"/>
                      <a:r>
                        <a:rPr lang="it-IT" dirty="0"/>
                        <a:t>b</a:t>
                      </a:r>
                    </a:p>
                  </a:txBody>
                  <a:tcPr/>
                </a:tc>
                <a:tc>
                  <a:txBody>
                    <a:bodyPr/>
                    <a:lstStyle/>
                    <a:p>
                      <a:pPr algn="ctr"/>
                      <a:r>
                        <a:rPr lang="it-IT" dirty="0"/>
                        <a:t>0</a:t>
                      </a:r>
                    </a:p>
                  </a:txBody>
                  <a:tcPr/>
                </a:tc>
                <a:tc>
                  <a:txBody>
                    <a:bodyPr/>
                    <a:lstStyle/>
                    <a:p>
                      <a:pPr algn="ctr"/>
                      <a:r>
                        <a:rPr lang="it-IT" dirty="0"/>
                        <a:t>0</a:t>
                      </a:r>
                    </a:p>
                  </a:txBody>
                  <a:tcPr/>
                </a:tc>
                <a:tc>
                  <a:txBody>
                    <a:bodyPr/>
                    <a:lstStyle/>
                    <a:p>
                      <a:pPr algn="ctr"/>
                      <a:r>
                        <a:rPr lang="it-IT" dirty="0"/>
                        <a:t>1</a:t>
                      </a:r>
                    </a:p>
                  </a:txBody>
                  <a:tcPr/>
                </a:tc>
                <a:extLst>
                  <a:ext uri="{0D108BD9-81ED-4DB2-BD59-A6C34878D82A}">
                    <a16:rowId xmlns:a16="http://schemas.microsoft.com/office/drawing/2014/main" val="1442248098"/>
                  </a:ext>
                </a:extLst>
              </a:tr>
              <a:tr h="370840">
                <a:tc>
                  <a:txBody>
                    <a:bodyPr/>
                    <a:lstStyle/>
                    <a:p>
                      <a:pPr algn="ctr"/>
                      <a:r>
                        <a:rPr lang="it-IT" dirty="0"/>
                        <a:t>c</a:t>
                      </a:r>
                    </a:p>
                  </a:txBody>
                  <a:tcPr/>
                </a:tc>
                <a:tc>
                  <a:txBody>
                    <a:bodyPr/>
                    <a:lstStyle/>
                    <a:p>
                      <a:pPr algn="ctr"/>
                      <a:r>
                        <a:rPr lang="it-IT" dirty="0"/>
                        <a:t>1</a:t>
                      </a:r>
                    </a:p>
                  </a:txBody>
                  <a:tcPr/>
                </a:tc>
                <a:tc>
                  <a:txBody>
                    <a:bodyPr/>
                    <a:lstStyle/>
                    <a:p>
                      <a:pPr algn="ctr"/>
                      <a:r>
                        <a:rPr lang="it-IT" dirty="0"/>
                        <a:t>2</a:t>
                      </a:r>
                    </a:p>
                  </a:txBody>
                  <a:tcPr/>
                </a:tc>
                <a:tc>
                  <a:txBody>
                    <a:bodyPr/>
                    <a:lstStyle/>
                    <a:p>
                      <a:pPr algn="ctr"/>
                      <a:r>
                        <a:rPr lang="it-IT" dirty="0"/>
                        <a:t>-1</a:t>
                      </a:r>
                    </a:p>
                  </a:txBody>
                  <a:tcPr/>
                </a:tc>
                <a:extLst>
                  <a:ext uri="{0D108BD9-81ED-4DB2-BD59-A6C34878D82A}">
                    <a16:rowId xmlns:a16="http://schemas.microsoft.com/office/drawing/2014/main" val="4095835177"/>
                  </a:ext>
                </a:extLst>
              </a:tr>
            </a:tbl>
          </a:graphicData>
        </a:graphic>
      </p:graphicFrame>
      <p:sp>
        <p:nvSpPr>
          <p:cNvPr id="7" name="CasellaDiTesto 6">
            <a:extLst>
              <a:ext uri="{FF2B5EF4-FFF2-40B4-BE49-F238E27FC236}">
                <a16:creationId xmlns:a16="http://schemas.microsoft.com/office/drawing/2014/main" id="{927C77E6-5F33-8046-9F2E-9975A8958726}"/>
              </a:ext>
            </a:extLst>
          </p:cNvPr>
          <p:cNvSpPr txBox="1"/>
          <p:nvPr/>
        </p:nvSpPr>
        <p:spPr>
          <a:xfrm>
            <a:off x="1436079" y="3840407"/>
            <a:ext cx="849913" cy="369332"/>
          </a:xfrm>
          <a:prstGeom prst="rect">
            <a:avLst/>
          </a:prstGeom>
          <a:noFill/>
        </p:spPr>
        <p:txBody>
          <a:bodyPr wrap="none" rtlCol="0">
            <a:spAutoFit/>
          </a:bodyPr>
          <a:lstStyle/>
          <a:p>
            <a:r>
              <a:rPr lang="it-IT" dirty="0"/>
              <a:t>f = </a:t>
            </a:r>
            <a:r>
              <a:rPr lang="it-IT" dirty="0" err="1"/>
              <a:t>sign</a:t>
            </a:r>
            <a:endParaRPr lang="it-IT" dirty="0"/>
          </a:p>
        </p:txBody>
      </p:sp>
      <p:graphicFrame>
        <p:nvGraphicFramePr>
          <p:cNvPr id="8" name="Object 2">
            <a:extLst>
              <a:ext uri="{FF2B5EF4-FFF2-40B4-BE49-F238E27FC236}">
                <a16:creationId xmlns:a16="http://schemas.microsoft.com/office/drawing/2014/main" id="{F7CEB249-7231-D64F-9CC9-F5631EFD5408}"/>
              </a:ext>
            </a:extLst>
          </p:cNvPr>
          <p:cNvGraphicFramePr>
            <a:graphicFrameLocks noChangeAspect="1"/>
          </p:cNvGraphicFramePr>
          <p:nvPr/>
        </p:nvGraphicFramePr>
        <p:xfrm>
          <a:off x="4160783" y="137754"/>
          <a:ext cx="7620000" cy="555625"/>
        </p:xfrm>
        <a:graphic>
          <a:graphicData uri="http://schemas.openxmlformats.org/presentationml/2006/ole">
            <mc:AlternateContent xmlns:mc="http://schemas.openxmlformats.org/markup-compatibility/2006">
              <mc:Choice xmlns:v="urn:schemas-microsoft-com:vml" Requires="v">
                <p:oleObj name="Equation" r:id="rId2" imgW="3213100" imgH="241300" progId="Equation.3">
                  <p:embed/>
                </p:oleObj>
              </mc:Choice>
              <mc:Fallback>
                <p:oleObj name="Equation" r:id="rId2" imgW="3213100" imgH="241300" progId="Equation.3">
                  <p:embed/>
                  <p:pic>
                    <p:nvPicPr>
                      <p:cNvPr id="8" name="Object 2">
                        <a:extLst>
                          <a:ext uri="{FF2B5EF4-FFF2-40B4-BE49-F238E27FC236}">
                            <a16:creationId xmlns:a16="http://schemas.microsoft.com/office/drawing/2014/main" id="{F7CEB249-7231-D64F-9CC9-F5631EFD54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0783" y="137754"/>
                        <a:ext cx="76200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2603067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6EC64A-1F68-7243-81CC-935E096D57EB}"/>
              </a:ext>
            </a:extLst>
          </p:cNvPr>
          <p:cNvSpPr>
            <a:spLocks noGrp="1"/>
          </p:cNvSpPr>
          <p:nvPr>
            <p:ph type="title"/>
          </p:nvPr>
        </p:nvSpPr>
        <p:spPr/>
        <p:txBody>
          <a:bodyPr/>
          <a:lstStyle/>
          <a:p>
            <a:r>
              <a:rPr lang="it-IT" dirty="0"/>
              <a:t>Train Linear </a:t>
            </a:r>
            <a:r>
              <a:rPr lang="it-IT" dirty="0" err="1"/>
              <a:t>Perceptron</a:t>
            </a:r>
            <a:endParaRPr lang="it-IT" dirty="0"/>
          </a:p>
        </p:txBody>
      </p:sp>
      <p:graphicFrame>
        <p:nvGraphicFramePr>
          <p:cNvPr id="4" name="Tabella 3">
            <a:extLst>
              <a:ext uri="{FF2B5EF4-FFF2-40B4-BE49-F238E27FC236}">
                <a16:creationId xmlns:a16="http://schemas.microsoft.com/office/drawing/2014/main" id="{0398B540-D1C9-3745-A9F4-F0AF9C7282A6}"/>
              </a:ext>
            </a:extLst>
          </p:cNvPr>
          <p:cNvGraphicFramePr>
            <a:graphicFrameLocks noGrp="1"/>
          </p:cNvGraphicFramePr>
          <p:nvPr/>
        </p:nvGraphicFramePr>
        <p:xfrm>
          <a:off x="3755463" y="1538539"/>
          <a:ext cx="8025320" cy="4820920"/>
        </p:xfrm>
        <a:graphic>
          <a:graphicData uri="http://schemas.openxmlformats.org/drawingml/2006/table">
            <a:tbl>
              <a:tblPr firstRow="1" bandRow="1">
                <a:tableStyleId>{5C22544A-7EE6-4342-B048-85BDC9FD1C3A}</a:tableStyleId>
              </a:tblPr>
              <a:tblGrid>
                <a:gridCol w="802532">
                  <a:extLst>
                    <a:ext uri="{9D8B030D-6E8A-4147-A177-3AD203B41FA5}">
                      <a16:colId xmlns:a16="http://schemas.microsoft.com/office/drawing/2014/main" val="3007943972"/>
                    </a:ext>
                  </a:extLst>
                </a:gridCol>
                <a:gridCol w="802532">
                  <a:extLst>
                    <a:ext uri="{9D8B030D-6E8A-4147-A177-3AD203B41FA5}">
                      <a16:colId xmlns:a16="http://schemas.microsoft.com/office/drawing/2014/main" val="220923671"/>
                    </a:ext>
                  </a:extLst>
                </a:gridCol>
                <a:gridCol w="802532">
                  <a:extLst>
                    <a:ext uri="{9D8B030D-6E8A-4147-A177-3AD203B41FA5}">
                      <a16:colId xmlns:a16="http://schemas.microsoft.com/office/drawing/2014/main" val="1888354542"/>
                    </a:ext>
                  </a:extLst>
                </a:gridCol>
                <a:gridCol w="802532">
                  <a:extLst>
                    <a:ext uri="{9D8B030D-6E8A-4147-A177-3AD203B41FA5}">
                      <a16:colId xmlns:a16="http://schemas.microsoft.com/office/drawing/2014/main" val="4183561819"/>
                    </a:ext>
                  </a:extLst>
                </a:gridCol>
                <a:gridCol w="802532">
                  <a:extLst>
                    <a:ext uri="{9D8B030D-6E8A-4147-A177-3AD203B41FA5}">
                      <a16:colId xmlns:a16="http://schemas.microsoft.com/office/drawing/2014/main" val="2090727010"/>
                    </a:ext>
                  </a:extLst>
                </a:gridCol>
                <a:gridCol w="802532">
                  <a:extLst>
                    <a:ext uri="{9D8B030D-6E8A-4147-A177-3AD203B41FA5}">
                      <a16:colId xmlns:a16="http://schemas.microsoft.com/office/drawing/2014/main" val="1559798696"/>
                    </a:ext>
                  </a:extLst>
                </a:gridCol>
                <a:gridCol w="802532">
                  <a:extLst>
                    <a:ext uri="{9D8B030D-6E8A-4147-A177-3AD203B41FA5}">
                      <a16:colId xmlns:a16="http://schemas.microsoft.com/office/drawing/2014/main" val="3564938619"/>
                    </a:ext>
                  </a:extLst>
                </a:gridCol>
                <a:gridCol w="802532">
                  <a:extLst>
                    <a:ext uri="{9D8B030D-6E8A-4147-A177-3AD203B41FA5}">
                      <a16:colId xmlns:a16="http://schemas.microsoft.com/office/drawing/2014/main" val="2640809818"/>
                    </a:ext>
                  </a:extLst>
                </a:gridCol>
                <a:gridCol w="802532">
                  <a:extLst>
                    <a:ext uri="{9D8B030D-6E8A-4147-A177-3AD203B41FA5}">
                      <a16:colId xmlns:a16="http://schemas.microsoft.com/office/drawing/2014/main" val="4147220622"/>
                    </a:ext>
                  </a:extLst>
                </a:gridCol>
                <a:gridCol w="802532">
                  <a:extLst>
                    <a:ext uri="{9D8B030D-6E8A-4147-A177-3AD203B41FA5}">
                      <a16:colId xmlns:a16="http://schemas.microsoft.com/office/drawing/2014/main" val="1678705754"/>
                    </a:ext>
                  </a:extLst>
                </a:gridCol>
              </a:tblGrid>
              <a:tr h="370840">
                <a:tc>
                  <a:txBody>
                    <a:bodyPr/>
                    <a:lstStyle/>
                    <a:p>
                      <a:pPr algn="ctr"/>
                      <a:r>
                        <a:rPr lang="it-IT" dirty="0" err="1"/>
                        <a:t>it</a:t>
                      </a:r>
                      <a:endParaRPr lang="it-IT" dirty="0"/>
                    </a:p>
                  </a:txBody>
                  <a:tcPr/>
                </a:tc>
                <a:tc>
                  <a:txBody>
                    <a:bodyPr/>
                    <a:lstStyle/>
                    <a:p>
                      <a:pPr algn="ctr"/>
                      <a:r>
                        <a:rPr lang="it-IT" baseline="0" dirty="0"/>
                        <a:t>W</a:t>
                      </a:r>
                      <a:r>
                        <a:rPr lang="it-IT" baseline="-25000" dirty="0"/>
                        <a:t>0</a:t>
                      </a:r>
                    </a:p>
                  </a:txBody>
                  <a:tcPr/>
                </a:tc>
                <a:tc>
                  <a:txBody>
                    <a:bodyPr/>
                    <a:lstStyle/>
                    <a:p>
                      <a:pPr algn="ctr"/>
                      <a:r>
                        <a:rPr lang="it-IT" baseline="0" dirty="0"/>
                        <a:t>W</a:t>
                      </a:r>
                      <a:r>
                        <a:rPr lang="it-IT" baseline="-25000" dirty="0"/>
                        <a:t>1</a:t>
                      </a:r>
                    </a:p>
                  </a:txBody>
                  <a:tcPr/>
                </a:tc>
                <a:tc>
                  <a:txBody>
                    <a:bodyPr/>
                    <a:lstStyle/>
                    <a:p>
                      <a:pPr algn="ctr"/>
                      <a:r>
                        <a:rPr lang="it-IT" baseline="0" dirty="0"/>
                        <a:t>W</a:t>
                      </a:r>
                      <a:r>
                        <a:rPr lang="it-IT" baseline="-25000" dirty="0"/>
                        <a:t>2</a:t>
                      </a:r>
                    </a:p>
                  </a:txBody>
                  <a:tcPr/>
                </a:tc>
                <a:tc>
                  <a:txBody>
                    <a:bodyPr/>
                    <a:lstStyle/>
                    <a:p>
                      <a:pPr algn="ctr"/>
                      <a:r>
                        <a:rPr lang="it-IT" dirty="0"/>
                        <a:t>X.W</a:t>
                      </a:r>
                    </a:p>
                  </a:txBody>
                  <a:tcPr/>
                </a:tc>
                <a:tc>
                  <a:txBody>
                    <a:bodyPr/>
                    <a:lstStyle/>
                    <a:p>
                      <a:pPr algn="ctr"/>
                      <a:r>
                        <a:rPr lang="it-IT" dirty="0" err="1"/>
                        <a:t>f</a:t>
                      </a:r>
                      <a:r>
                        <a:rPr lang="it-IT" dirty="0"/>
                        <a:t>(X.W)</a:t>
                      </a:r>
                    </a:p>
                  </a:txBody>
                  <a:tcPr/>
                </a:tc>
                <a:tc>
                  <a:txBody>
                    <a:bodyPr/>
                    <a:lstStyle/>
                    <a:p>
                      <a:pPr algn="ctr"/>
                      <a:r>
                        <a:rPr lang="it-IT" dirty="0" err="1"/>
                        <a:t>error</a:t>
                      </a:r>
                      <a:endParaRPr lang="it-IT" dirty="0"/>
                    </a:p>
                  </a:txBody>
                  <a:tcPr/>
                </a:tc>
                <a:tc>
                  <a:txBody>
                    <a:bodyPr/>
                    <a:lstStyle/>
                    <a:p>
                      <a:pPr algn="ctr"/>
                      <a:r>
                        <a:rPr lang="it-IT" dirty="0"/>
                        <a:t>delta</a:t>
                      </a:r>
                      <a:r>
                        <a:rPr lang="it-IT" baseline="-25000"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2</a:t>
                      </a:r>
                    </a:p>
                  </a:txBody>
                  <a:tcPr/>
                </a:tc>
                <a:extLst>
                  <a:ext uri="{0D108BD9-81ED-4DB2-BD59-A6C34878D82A}">
                    <a16:rowId xmlns:a16="http://schemas.microsoft.com/office/drawing/2014/main" val="647644152"/>
                  </a:ext>
                </a:extLst>
              </a:tr>
              <a:tr h="370840">
                <a:tc>
                  <a:txBody>
                    <a:bodyPr/>
                    <a:lstStyle/>
                    <a:p>
                      <a:pPr algn="ctr"/>
                      <a:r>
                        <a:rPr lang="it-IT" dirty="0"/>
                        <a:t>1</a:t>
                      </a:r>
                    </a:p>
                  </a:txBody>
                  <a:tcPr/>
                </a:tc>
                <a:tc>
                  <a:txBody>
                    <a:bodyPr/>
                    <a:lstStyle/>
                    <a:p>
                      <a:pPr algn="ctr"/>
                      <a:r>
                        <a:rPr lang="it-IT" dirty="0"/>
                        <a:t>-1</a:t>
                      </a:r>
                    </a:p>
                  </a:txBody>
                  <a:tcPr/>
                </a:tc>
                <a:tc>
                  <a:txBody>
                    <a:bodyPr/>
                    <a:lstStyle/>
                    <a:p>
                      <a:pPr algn="ctr"/>
                      <a:r>
                        <a:rPr lang="it-IT" dirty="0"/>
                        <a:t>0</a:t>
                      </a:r>
                    </a:p>
                  </a:txBody>
                  <a:tcPr/>
                </a:tc>
                <a:tc>
                  <a:txBody>
                    <a:bodyPr/>
                    <a:lstStyle/>
                    <a:p>
                      <a:pPr algn="ctr"/>
                      <a:r>
                        <a:rPr lang="it-IT" dirty="0"/>
                        <a:t>0</a:t>
                      </a:r>
                    </a:p>
                  </a:txBody>
                  <a:tcPr/>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extLst>
                  <a:ext uri="{0D108BD9-81ED-4DB2-BD59-A6C34878D82A}">
                    <a16:rowId xmlns:a16="http://schemas.microsoft.com/office/drawing/2014/main" val="3006406211"/>
                  </a:ext>
                </a:extLst>
              </a:tr>
              <a:tr h="370840">
                <a:tc>
                  <a:txBody>
                    <a:bodyPr/>
                    <a:lstStyle/>
                    <a:p>
                      <a:pPr algn="ctr"/>
                      <a:r>
                        <a:rPr lang="it-IT" dirty="0"/>
                        <a:t>2</a:t>
                      </a:r>
                    </a:p>
                  </a:txBody>
                  <a:tcPr/>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2</a:t>
                      </a: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442248098"/>
                  </a:ext>
                </a:extLst>
              </a:tr>
              <a:tr h="370840">
                <a:tc>
                  <a:txBody>
                    <a:bodyPr/>
                    <a:lstStyle/>
                    <a:p>
                      <a:pPr algn="ctr"/>
                      <a:r>
                        <a:rPr lang="it-IT" dirty="0"/>
                        <a:t>3</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4095835177"/>
                  </a:ext>
                </a:extLst>
              </a:tr>
              <a:tr h="370840">
                <a:tc>
                  <a:txBody>
                    <a:bodyPr/>
                    <a:lstStyle/>
                    <a:p>
                      <a:pPr algn="ctr"/>
                      <a:r>
                        <a:rPr lang="it-IT" dirty="0"/>
                        <a:t>4</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437626370"/>
                  </a:ext>
                </a:extLst>
              </a:tr>
              <a:tr h="370840">
                <a:tc>
                  <a:txBody>
                    <a:bodyPr/>
                    <a:lstStyle/>
                    <a:p>
                      <a:pPr algn="ctr"/>
                      <a:r>
                        <a:rPr lang="it-IT" dirty="0"/>
                        <a:t>5</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3459893937"/>
                  </a:ext>
                </a:extLst>
              </a:tr>
              <a:tr h="370840">
                <a:tc>
                  <a:txBody>
                    <a:bodyPr/>
                    <a:lstStyle/>
                    <a:p>
                      <a:pPr algn="ctr"/>
                      <a:r>
                        <a:rPr lang="it-IT" dirty="0"/>
                        <a:t>6</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26436750"/>
                  </a:ext>
                </a:extLst>
              </a:tr>
              <a:tr h="370840">
                <a:tc>
                  <a:txBody>
                    <a:bodyPr/>
                    <a:lstStyle/>
                    <a:p>
                      <a:pPr algn="ctr"/>
                      <a:r>
                        <a:rPr lang="it-IT" dirty="0"/>
                        <a:t>7</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290132517"/>
                  </a:ext>
                </a:extLst>
              </a:tr>
              <a:tr h="370840">
                <a:tc>
                  <a:txBody>
                    <a:bodyPr/>
                    <a:lstStyle/>
                    <a:p>
                      <a:pPr algn="ctr"/>
                      <a:r>
                        <a:rPr lang="it-IT" dirty="0"/>
                        <a:t>8</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380738723"/>
                  </a:ext>
                </a:extLst>
              </a:tr>
              <a:tr h="370840">
                <a:tc>
                  <a:txBody>
                    <a:bodyPr/>
                    <a:lstStyle/>
                    <a:p>
                      <a:pPr algn="ctr"/>
                      <a:r>
                        <a:rPr lang="it-IT" dirty="0"/>
                        <a:t>9</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19150045"/>
                  </a:ext>
                </a:extLst>
              </a:tr>
              <a:tr h="370840">
                <a:tc>
                  <a:txBody>
                    <a:bodyPr/>
                    <a:lstStyle/>
                    <a:p>
                      <a:pPr algn="ctr"/>
                      <a:r>
                        <a:rPr lang="it-IT" dirty="0"/>
                        <a:t>10</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545436331"/>
                  </a:ext>
                </a:extLst>
              </a:tr>
              <a:tr h="370840">
                <a:tc>
                  <a:txBody>
                    <a:bodyPr/>
                    <a:lstStyle/>
                    <a:p>
                      <a:pPr algn="ctr"/>
                      <a:r>
                        <a:rPr lang="it-IT" dirty="0"/>
                        <a:t>11</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3664168057"/>
                  </a:ext>
                </a:extLst>
              </a:tr>
              <a:tr h="370840">
                <a:tc>
                  <a:txBody>
                    <a:bodyPr/>
                    <a:lstStyle/>
                    <a:p>
                      <a:pPr algn="ctr"/>
                      <a:r>
                        <a:rPr lang="it-IT" dirty="0"/>
                        <a:t>12</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137315494"/>
                  </a:ext>
                </a:extLst>
              </a:tr>
            </a:tbl>
          </a:graphicData>
        </a:graphic>
      </p:graphicFrame>
      <p:sp>
        <p:nvSpPr>
          <p:cNvPr id="5" name="CasellaDiTesto 4">
            <a:extLst>
              <a:ext uri="{FF2B5EF4-FFF2-40B4-BE49-F238E27FC236}">
                <a16:creationId xmlns:a16="http://schemas.microsoft.com/office/drawing/2014/main" id="{1C0D3F40-0FA6-AE4B-B317-31946E90F809}"/>
              </a:ext>
            </a:extLst>
          </p:cNvPr>
          <p:cNvSpPr txBox="1"/>
          <p:nvPr/>
        </p:nvSpPr>
        <p:spPr>
          <a:xfrm>
            <a:off x="1138723" y="3402142"/>
            <a:ext cx="1444626" cy="369332"/>
          </a:xfrm>
          <a:prstGeom prst="rect">
            <a:avLst/>
          </a:prstGeom>
          <a:noFill/>
        </p:spPr>
        <p:txBody>
          <a:bodyPr wrap="none" rtlCol="0">
            <a:spAutoFit/>
          </a:bodyPr>
          <a:lstStyle/>
          <a:p>
            <a:r>
              <a:rPr lang="it-IT" dirty="0"/>
              <a:t>Lambda = 0.3</a:t>
            </a:r>
          </a:p>
        </p:txBody>
      </p:sp>
      <p:graphicFrame>
        <p:nvGraphicFramePr>
          <p:cNvPr id="6" name="Tabella 5">
            <a:extLst>
              <a:ext uri="{FF2B5EF4-FFF2-40B4-BE49-F238E27FC236}">
                <a16:creationId xmlns:a16="http://schemas.microsoft.com/office/drawing/2014/main" id="{58620517-8327-5E49-9C6A-8EB32CC9A36C}"/>
              </a:ext>
            </a:extLst>
          </p:cNvPr>
          <p:cNvGraphicFramePr>
            <a:graphicFrameLocks noGrp="1"/>
          </p:cNvGraphicFramePr>
          <p:nvPr/>
        </p:nvGraphicFramePr>
        <p:xfrm>
          <a:off x="994947" y="1608113"/>
          <a:ext cx="2086476" cy="1483360"/>
        </p:xfrm>
        <a:graphic>
          <a:graphicData uri="http://schemas.openxmlformats.org/drawingml/2006/table">
            <a:tbl>
              <a:tblPr firstRow="1" bandRow="1">
                <a:tableStyleId>{5C22544A-7EE6-4342-B048-85BDC9FD1C3A}</a:tableStyleId>
              </a:tblPr>
              <a:tblGrid>
                <a:gridCol w="521619">
                  <a:extLst>
                    <a:ext uri="{9D8B030D-6E8A-4147-A177-3AD203B41FA5}">
                      <a16:colId xmlns:a16="http://schemas.microsoft.com/office/drawing/2014/main" val="3007943972"/>
                    </a:ext>
                  </a:extLst>
                </a:gridCol>
                <a:gridCol w="521619">
                  <a:extLst>
                    <a:ext uri="{9D8B030D-6E8A-4147-A177-3AD203B41FA5}">
                      <a16:colId xmlns:a16="http://schemas.microsoft.com/office/drawing/2014/main" val="220923671"/>
                    </a:ext>
                  </a:extLst>
                </a:gridCol>
                <a:gridCol w="521619">
                  <a:extLst>
                    <a:ext uri="{9D8B030D-6E8A-4147-A177-3AD203B41FA5}">
                      <a16:colId xmlns:a16="http://schemas.microsoft.com/office/drawing/2014/main" val="1888354542"/>
                    </a:ext>
                  </a:extLst>
                </a:gridCol>
                <a:gridCol w="521619">
                  <a:extLst>
                    <a:ext uri="{9D8B030D-6E8A-4147-A177-3AD203B41FA5}">
                      <a16:colId xmlns:a16="http://schemas.microsoft.com/office/drawing/2014/main" val="2090727010"/>
                    </a:ext>
                  </a:extLst>
                </a:gridCol>
              </a:tblGrid>
              <a:tr h="370840">
                <a:tc>
                  <a:txBody>
                    <a:bodyPr/>
                    <a:lstStyle/>
                    <a:p>
                      <a:pPr algn="ctr"/>
                      <a:r>
                        <a:rPr lang="it-IT" dirty="0"/>
                        <a:t>id</a:t>
                      </a:r>
                    </a:p>
                  </a:txBody>
                  <a:tcPr/>
                </a:tc>
                <a:tc>
                  <a:txBody>
                    <a:bodyPr/>
                    <a:lstStyle/>
                    <a:p>
                      <a:pPr algn="ctr"/>
                      <a:r>
                        <a:rPr lang="it-IT" dirty="0"/>
                        <a:t>X</a:t>
                      </a:r>
                      <a:r>
                        <a:rPr lang="it-IT" baseline="-25000" dirty="0"/>
                        <a:t>1</a:t>
                      </a:r>
                    </a:p>
                  </a:txBody>
                  <a:tcPr/>
                </a:tc>
                <a:tc>
                  <a:txBody>
                    <a:bodyPr/>
                    <a:lstStyle/>
                    <a:p>
                      <a:pPr algn="ctr"/>
                      <a:r>
                        <a:rPr lang="it-IT" dirty="0"/>
                        <a:t>X</a:t>
                      </a:r>
                      <a:r>
                        <a:rPr lang="it-IT" baseline="-25000" dirty="0"/>
                        <a:t>2</a:t>
                      </a:r>
                      <a:endParaRPr lang="it-IT" dirty="0"/>
                    </a:p>
                  </a:txBody>
                  <a:tcPr/>
                </a:tc>
                <a:tc>
                  <a:txBody>
                    <a:bodyPr/>
                    <a:lstStyle/>
                    <a:p>
                      <a:pPr algn="ctr"/>
                      <a:r>
                        <a:rPr lang="it-IT" dirty="0"/>
                        <a:t>Y</a:t>
                      </a:r>
                    </a:p>
                  </a:txBody>
                  <a:tcPr/>
                </a:tc>
                <a:extLst>
                  <a:ext uri="{0D108BD9-81ED-4DB2-BD59-A6C34878D82A}">
                    <a16:rowId xmlns:a16="http://schemas.microsoft.com/office/drawing/2014/main" val="647644152"/>
                  </a:ext>
                </a:extLst>
              </a:tr>
              <a:tr h="370840">
                <a:tc>
                  <a:txBody>
                    <a:bodyPr/>
                    <a:lstStyle/>
                    <a:p>
                      <a:pPr algn="ctr"/>
                      <a:r>
                        <a:rPr lang="it-IT" dirty="0"/>
                        <a:t>a</a:t>
                      </a:r>
                    </a:p>
                  </a:txBody>
                  <a:tcPr/>
                </a:tc>
                <a:tc>
                  <a:txBody>
                    <a:bodyPr/>
                    <a:lstStyle/>
                    <a:p>
                      <a:pPr algn="ctr"/>
                      <a:r>
                        <a:rPr lang="it-IT" dirty="0"/>
                        <a:t>0</a:t>
                      </a:r>
                    </a:p>
                  </a:txBody>
                  <a:tcPr/>
                </a:tc>
                <a:tc>
                  <a:txBody>
                    <a:bodyPr/>
                    <a:lstStyle/>
                    <a:p>
                      <a:pPr algn="ctr"/>
                      <a:r>
                        <a:rPr lang="it-IT" dirty="0"/>
                        <a:t>1</a:t>
                      </a:r>
                    </a:p>
                  </a:txBody>
                  <a:tcPr/>
                </a:tc>
                <a:tc>
                  <a:txBody>
                    <a:bodyPr/>
                    <a:lstStyle/>
                    <a:p>
                      <a:pPr algn="ctr"/>
                      <a:r>
                        <a:rPr lang="it-IT" dirty="0"/>
                        <a:t>-1</a:t>
                      </a:r>
                    </a:p>
                  </a:txBody>
                  <a:tcPr/>
                </a:tc>
                <a:extLst>
                  <a:ext uri="{0D108BD9-81ED-4DB2-BD59-A6C34878D82A}">
                    <a16:rowId xmlns:a16="http://schemas.microsoft.com/office/drawing/2014/main" val="3006406211"/>
                  </a:ext>
                </a:extLst>
              </a:tr>
              <a:tr h="370840">
                <a:tc>
                  <a:txBody>
                    <a:bodyPr/>
                    <a:lstStyle/>
                    <a:p>
                      <a:pPr algn="ctr"/>
                      <a:r>
                        <a:rPr lang="it-IT" dirty="0"/>
                        <a:t>b</a:t>
                      </a:r>
                    </a:p>
                  </a:txBody>
                  <a:tcPr/>
                </a:tc>
                <a:tc>
                  <a:txBody>
                    <a:bodyPr/>
                    <a:lstStyle/>
                    <a:p>
                      <a:pPr algn="ctr"/>
                      <a:r>
                        <a:rPr lang="it-IT" dirty="0"/>
                        <a:t>0</a:t>
                      </a:r>
                    </a:p>
                  </a:txBody>
                  <a:tcPr/>
                </a:tc>
                <a:tc>
                  <a:txBody>
                    <a:bodyPr/>
                    <a:lstStyle/>
                    <a:p>
                      <a:pPr algn="ctr"/>
                      <a:r>
                        <a:rPr lang="it-IT" dirty="0"/>
                        <a:t>0</a:t>
                      </a:r>
                    </a:p>
                  </a:txBody>
                  <a:tcPr/>
                </a:tc>
                <a:tc>
                  <a:txBody>
                    <a:bodyPr/>
                    <a:lstStyle/>
                    <a:p>
                      <a:pPr algn="ctr"/>
                      <a:r>
                        <a:rPr lang="it-IT" dirty="0"/>
                        <a:t>1</a:t>
                      </a:r>
                    </a:p>
                  </a:txBody>
                  <a:tcPr/>
                </a:tc>
                <a:extLst>
                  <a:ext uri="{0D108BD9-81ED-4DB2-BD59-A6C34878D82A}">
                    <a16:rowId xmlns:a16="http://schemas.microsoft.com/office/drawing/2014/main" val="1442248098"/>
                  </a:ext>
                </a:extLst>
              </a:tr>
              <a:tr h="370840">
                <a:tc>
                  <a:txBody>
                    <a:bodyPr/>
                    <a:lstStyle/>
                    <a:p>
                      <a:pPr algn="ctr"/>
                      <a:r>
                        <a:rPr lang="it-IT" dirty="0"/>
                        <a:t>c</a:t>
                      </a:r>
                    </a:p>
                  </a:txBody>
                  <a:tcPr/>
                </a:tc>
                <a:tc>
                  <a:txBody>
                    <a:bodyPr/>
                    <a:lstStyle/>
                    <a:p>
                      <a:pPr algn="ctr"/>
                      <a:r>
                        <a:rPr lang="it-IT" dirty="0"/>
                        <a:t>1</a:t>
                      </a:r>
                    </a:p>
                  </a:txBody>
                  <a:tcPr/>
                </a:tc>
                <a:tc>
                  <a:txBody>
                    <a:bodyPr/>
                    <a:lstStyle/>
                    <a:p>
                      <a:pPr algn="ctr"/>
                      <a:r>
                        <a:rPr lang="it-IT" dirty="0"/>
                        <a:t>2</a:t>
                      </a:r>
                    </a:p>
                  </a:txBody>
                  <a:tcPr/>
                </a:tc>
                <a:tc>
                  <a:txBody>
                    <a:bodyPr/>
                    <a:lstStyle/>
                    <a:p>
                      <a:pPr algn="ctr"/>
                      <a:r>
                        <a:rPr lang="it-IT" dirty="0"/>
                        <a:t>-1</a:t>
                      </a:r>
                    </a:p>
                  </a:txBody>
                  <a:tcPr/>
                </a:tc>
                <a:extLst>
                  <a:ext uri="{0D108BD9-81ED-4DB2-BD59-A6C34878D82A}">
                    <a16:rowId xmlns:a16="http://schemas.microsoft.com/office/drawing/2014/main" val="4095835177"/>
                  </a:ext>
                </a:extLst>
              </a:tr>
            </a:tbl>
          </a:graphicData>
        </a:graphic>
      </p:graphicFrame>
      <p:sp>
        <p:nvSpPr>
          <p:cNvPr id="7" name="CasellaDiTesto 6">
            <a:extLst>
              <a:ext uri="{FF2B5EF4-FFF2-40B4-BE49-F238E27FC236}">
                <a16:creationId xmlns:a16="http://schemas.microsoft.com/office/drawing/2014/main" id="{927C77E6-5F33-8046-9F2E-9975A8958726}"/>
              </a:ext>
            </a:extLst>
          </p:cNvPr>
          <p:cNvSpPr txBox="1"/>
          <p:nvPr/>
        </p:nvSpPr>
        <p:spPr>
          <a:xfrm>
            <a:off x="1436079" y="3840407"/>
            <a:ext cx="849913" cy="369332"/>
          </a:xfrm>
          <a:prstGeom prst="rect">
            <a:avLst/>
          </a:prstGeom>
          <a:noFill/>
        </p:spPr>
        <p:txBody>
          <a:bodyPr wrap="none" rtlCol="0">
            <a:spAutoFit/>
          </a:bodyPr>
          <a:lstStyle/>
          <a:p>
            <a:r>
              <a:rPr lang="it-IT" dirty="0"/>
              <a:t>f = </a:t>
            </a:r>
            <a:r>
              <a:rPr lang="it-IT" dirty="0" err="1"/>
              <a:t>sign</a:t>
            </a:r>
            <a:endParaRPr lang="it-IT" dirty="0"/>
          </a:p>
        </p:txBody>
      </p:sp>
      <p:cxnSp>
        <p:nvCxnSpPr>
          <p:cNvPr id="8" name="Connettore 2 7">
            <a:extLst>
              <a:ext uri="{FF2B5EF4-FFF2-40B4-BE49-F238E27FC236}">
                <a16:creationId xmlns:a16="http://schemas.microsoft.com/office/drawing/2014/main" id="{AE65A348-EF54-574E-AD5E-A6AC4A8AA211}"/>
              </a:ext>
            </a:extLst>
          </p:cNvPr>
          <p:cNvCxnSpPr>
            <a:cxnSpLocks/>
          </p:cNvCxnSpPr>
          <p:nvPr/>
        </p:nvCxnSpPr>
        <p:spPr>
          <a:xfrm flipH="1">
            <a:off x="2911938" y="207328"/>
            <a:ext cx="833083" cy="133121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nettore 2 8">
            <a:extLst>
              <a:ext uri="{FF2B5EF4-FFF2-40B4-BE49-F238E27FC236}">
                <a16:creationId xmlns:a16="http://schemas.microsoft.com/office/drawing/2014/main" id="{483539D4-1686-F84A-897F-9ED2A7EBD756}"/>
              </a:ext>
            </a:extLst>
          </p:cNvPr>
          <p:cNvCxnSpPr>
            <a:cxnSpLocks/>
          </p:cNvCxnSpPr>
          <p:nvPr/>
        </p:nvCxnSpPr>
        <p:spPr>
          <a:xfrm>
            <a:off x="3745021" y="207328"/>
            <a:ext cx="4295736" cy="1233846"/>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0" name="Object 2">
            <a:extLst>
              <a:ext uri="{FF2B5EF4-FFF2-40B4-BE49-F238E27FC236}">
                <a16:creationId xmlns:a16="http://schemas.microsoft.com/office/drawing/2014/main" id="{F5B534F4-6E99-134C-8B98-D9F9EDC24E6C}"/>
              </a:ext>
            </a:extLst>
          </p:cNvPr>
          <p:cNvGraphicFramePr>
            <a:graphicFrameLocks noChangeAspect="1"/>
          </p:cNvGraphicFramePr>
          <p:nvPr/>
        </p:nvGraphicFramePr>
        <p:xfrm>
          <a:off x="4160783" y="137754"/>
          <a:ext cx="7620000" cy="555625"/>
        </p:xfrm>
        <a:graphic>
          <a:graphicData uri="http://schemas.openxmlformats.org/presentationml/2006/ole">
            <mc:AlternateContent xmlns:mc="http://schemas.openxmlformats.org/markup-compatibility/2006">
              <mc:Choice xmlns:v="urn:schemas-microsoft-com:vml" Requires="v">
                <p:oleObj name="Equation" r:id="rId2" imgW="3213100" imgH="241300" progId="Equation.3">
                  <p:embed/>
                </p:oleObj>
              </mc:Choice>
              <mc:Fallback>
                <p:oleObj name="Equation" r:id="rId2" imgW="3213100" imgH="241300" progId="Equation.3">
                  <p:embed/>
                  <p:pic>
                    <p:nvPicPr>
                      <p:cNvPr id="10" name="Object 2">
                        <a:extLst>
                          <a:ext uri="{FF2B5EF4-FFF2-40B4-BE49-F238E27FC236}">
                            <a16:creationId xmlns:a16="http://schemas.microsoft.com/office/drawing/2014/main" id="{F5B534F4-6E99-134C-8B98-D9F9EDC24E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0783" y="137754"/>
                        <a:ext cx="76200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9230950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6EC64A-1F68-7243-81CC-935E096D57EB}"/>
              </a:ext>
            </a:extLst>
          </p:cNvPr>
          <p:cNvSpPr>
            <a:spLocks noGrp="1"/>
          </p:cNvSpPr>
          <p:nvPr>
            <p:ph type="title"/>
          </p:nvPr>
        </p:nvSpPr>
        <p:spPr/>
        <p:txBody>
          <a:bodyPr/>
          <a:lstStyle/>
          <a:p>
            <a:r>
              <a:rPr lang="it-IT" dirty="0"/>
              <a:t>Train Linear </a:t>
            </a:r>
            <a:r>
              <a:rPr lang="it-IT" dirty="0" err="1"/>
              <a:t>Perceptron</a:t>
            </a:r>
            <a:endParaRPr lang="it-IT" dirty="0"/>
          </a:p>
        </p:txBody>
      </p:sp>
      <p:graphicFrame>
        <p:nvGraphicFramePr>
          <p:cNvPr id="4" name="Tabella 3">
            <a:extLst>
              <a:ext uri="{FF2B5EF4-FFF2-40B4-BE49-F238E27FC236}">
                <a16:creationId xmlns:a16="http://schemas.microsoft.com/office/drawing/2014/main" id="{0398B540-D1C9-3745-A9F4-F0AF9C7282A6}"/>
              </a:ext>
            </a:extLst>
          </p:cNvPr>
          <p:cNvGraphicFramePr>
            <a:graphicFrameLocks noGrp="1"/>
          </p:cNvGraphicFramePr>
          <p:nvPr/>
        </p:nvGraphicFramePr>
        <p:xfrm>
          <a:off x="3755463" y="1538539"/>
          <a:ext cx="8025320" cy="4820920"/>
        </p:xfrm>
        <a:graphic>
          <a:graphicData uri="http://schemas.openxmlformats.org/drawingml/2006/table">
            <a:tbl>
              <a:tblPr firstRow="1" bandRow="1">
                <a:tableStyleId>{5C22544A-7EE6-4342-B048-85BDC9FD1C3A}</a:tableStyleId>
              </a:tblPr>
              <a:tblGrid>
                <a:gridCol w="802532">
                  <a:extLst>
                    <a:ext uri="{9D8B030D-6E8A-4147-A177-3AD203B41FA5}">
                      <a16:colId xmlns:a16="http://schemas.microsoft.com/office/drawing/2014/main" val="3007943972"/>
                    </a:ext>
                  </a:extLst>
                </a:gridCol>
                <a:gridCol w="802532">
                  <a:extLst>
                    <a:ext uri="{9D8B030D-6E8A-4147-A177-3AD203B41FA5}">
                      <a16:colId xmlns:a16="http://schemas.microsoft.com/office/drawing/2014/main" val="220923671"/>
                    </a:ext>
                  </a:extLst>
                </a:gridCol>
                <a:gridCol w="802532">
                  <a:extLst>
                    <a:ext uri="{9D8B030D-6E8A-4147-A177-3AD203B41FA5}">
                      <a16:colId xmlns:a16="http://schemas.microsoft.com/office/drawing/2014/main" val="1888354542"/>
                    </a:ext>
                  </a:extLst>
                </a:gridCol>
                <a:gridCol w="802532">
                  <a:extLst>
                    <a:ext uri="{9D8B030D-6E8A-4147-A177-3AD203B41FA5}">
                      <a16:colId xmlns:a16="http://schemas.microsoft.com/office/drawing/2014/main" val="4183561819"/>
                    </a:ext>
                  </a:extLst>
                </a:gridCol>
                <a:gridCol w="802532">
                  <a:extLst>
                    <a:ext uri="{9D8B030D-6E8A-4147-A177-3AD203B41FA5}">
                      <a16:colId xmlns:a16="http://schemas.microsoft.com/office/drawing/2014/main" val="2090727010"/>
                    </a:ext>
                  </a:extLst>
                </a:gridCol>
                <a:gridCol w="802532">
                  <a:extLst>
                    <a:ext uri="{9D8B030D-6E8A-4147-A177-3AD203B41FA5}">
                      <a16:colId xmlns:a16="http://schemas.microsoft.com/office/drawing/2014/main" val="1559798696"/>
                    </a:ext>
                  </a:extLst>
                </a:gridCol>
                <a:gridCol w="802532">
                  <a:extLst>
                    <a:ext uri="{9D8B030D-6E8A-4147-A177-3AD203B41FA5}">
                      <a16:colId xmlns:a16="http://schemas.microsoft.com/office/drawing/2014/main" val="3564938619"/>
                    </a:ext>
                  </a:extLst>
                </a:gridCol>
                <a:gridCol w="802532">
                  <a:extLst>
                    <a:ext uri="{9D8B030D-6E8A-4147-A177-3AD203B41FA5}">
                      <a16:colId xmlns:a16="http://schemas.microsoft.com/office/drawing/2014/main" val="2640809818"/>
                    </a:ext>
                  </a:extLst>
                </a:gridCol>
                <a:gridCol w="802532">
                  <a:extLst>
                    <a:ext uri="{9D8B030D-6E8A-4147-A177-3AD203B41FA5}">
                      <a16:colId xmlns:a16="http://schemas.microsoft.com/office/drawing/2014/main" val="4147220622"/>
                    </a:ext>
                  </a:extLst>
                </a:gridCol>
                <a:gridCol w="802532">
                  <a:extLst>
                    <a:ext uri="{9D8B030D-6E8A-4147-A177-3AD203B41FA5}">
                      <a16:colId xmlns:a16="http://schemas.microsoft.com/office/drawing/2014/main" val="1678705754"/>
                    </a:ext>
                  </a:extLst>
                </a:gridCol>
              </a:tblGrid>
              <a:tr h="370840">
                <a:tc>
                  <a:txBody>
                    <a:bodyPr/>
                    <a:lstStyle/>
                    <a:p>
                      <a:pPr algn="ctr"/>
                      <a:r>
                        <a:rPr lang="it-IT" dirty="0" err="1"/>
                        <a:t>it</a:t>
                      </a:r>
                      <a:endParaRPr lang="it-IT" dirty="0"/>
                    </a:p>
                  </a:txBody>
                  <a:tcPr/>
                </a:tc>
                <a:tc>
                  <a:txBody>
                    <a:bodyPr/>
                    <a:lstStyle/>
                    <a:p>
                      <a:pPr algn="ctr"/>
                      <a:r>
                        <a:rPr lang="it-IT" baseline="0" dirty="0"/>
                        <a:t>W</a:t>
                      </a:r>
                      <a:r>
                        <a:rPr lang="it-IT" baseline="-25000" dirty="0"/>
                        <a:t>0</a:t>
                      </a:r>
                    </a:p>
                  </a:txBody>
                  <a:tcPr/>
                </a:tc>
                <a:tc>
                  <a:txBody>
                    <a:bodyPr/>
                    <a:lstStyle/>
                    <a:p>
                      <a:pPr algn="ctr"/>
                      <a:r>
                        <a:rPr lang="it-IT" baseline="0" dirty="0"/>
                        <a:t>W</a:t>
                      </a:r>
                      <a:r>
                        <a:rPr lang="it-IT" baseline="-25000" dirty="0"/>
                        <a:t>1</a:t>
                      </a:r>
                    </a:p>
                  </a:txBody>
                  <a:tcPr/>
                </a:tc>
                <a:tc>
                  <a:txBody>
                    <a:bodyPr/>
                    <a:lstStyle/>
                    <a:p>
                      <a:pPr algn="ctr"/>
                      <a:r>
                        <a:rPr lang="it-IT" baseline="0" dirty="0"/>
                        <a:t>W</a:t>
                      </a:r>
                      <a:r>
                        <a:rPr lang="it-IT" baseline="-25000" dirty="0"/>
                        <a:t>2</a:t>
                      </a:r>
                    </a:p>
                  </a:txBody>
                  <a:tcPr/>
                </a:tc>
                <a:tc>
                  <a:txBody>
                    <a:bodyPr/>
                    <a:lstStyle/>
                    <a:p>
                      <a:pPr algn="ctr"/>
                      <a:r>
                        <a:rPr lang="it-IT" dirty="0"/>
                        <a:t>X.W</a:t>
                      </a:r>
                    </a:p>
                  </a:txBody>
                  <a:tcPr/>
                </a:tc>
                <a:tc>
                  <a:txBody>
                    <a:bodyPr/>
                    <a:lstStyle/>
                    <a:p>
                      <a:pPr algn="ctr"/>
                      <a:r>
                        <a:rPr lang="it-IT" dirty="0" err="1"/>
                        <a:t>f</a:t>
                      </a:r>
                      <a:r>
                        <a:rPr lang="it-IT" dirty="0"/>
                        <a:t>(X.W)</a:t>
                      </a:r>
                    </a:p>
                  </a:txBody>
                  <a:tcPr/>
                </a:tc>
                <a:tc>
                  <a:txBody>
                    <a:bodyPr/>
                    <a:lstStyle/>
                    <a:p>
                      <a:pPr algn="ctr"/>
                      <a:r>
                        <a:rPr lang="it-IT" dirty="0" err="1"/>
                        <a:t>error</a:t>
                      </a:r>
                      <a:endParaRPr lang="it-IT" dirty="0"/>
                    </a:p>
                  </a:txBody>
                  <a:tcPr/>
                </a:tc>
                <a:tc>
                  <a:txBody>
                    <a:bodyPr/>
                    <a:lstStyle/>
                    <a:p>
                      <a:pPr algn="ctr"/>
                      <a:r>
                        <a:rPr lang="it-IT" dirty="0"/>
                        <a:t>delta</a:t>
                      </a:r>
                      <a:r>
                        <a:rPr lang="it-IT" baseline="-25000"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2</a:t>
                      </a:r>
                    </a:p>
                  </a:txBody>
                  <a:tcPr/>
                </a:tc>
                <a:extLst>
                  <a:ext uri="{0D108BD9-81ED-4DB2-BD59-A6C34878D82A}">
                    <a16:rowId xmlns:a16="http://schemas.microsoft.com/office/drawing/2014/main" val="647644152"/>
                  </a:ext>
                </a:extLst>
              </a:tr>
              <a:tr h="370840">
                <a:tc>
                  <a:txBody>
                    <a:bodyPr/>
                    <a:lstStyle/>
                    <a:p>
                      <a:pPr algn="ctr"/>
                      <a:r>
                        <a:rPr lang="it-IT" dirty="0"/>
                        <a:t>1</a:t>
                      </a:r>
                    </a:p>
                  </a:txBody>
                  <a:tcPr/>
                </a:tc>
                <a:tc>
                  <a:txBody>
                    <a:bodyPr/>
                    <a:lstStyle/>
                    <a:p>
                      <a:pPr algn="ctr"/>
                      <a:r>
                        <a:rPr lang="it-IT" dirty="0"/>
                        <a:t>-1</a:t>
                      </a:r>
                    </a:p>
                  </a:txBody>
                  <a:tcPr/>
                </a:tc>
                <a:tc>
                  <a:txBody>
                    <a:bodyPr/>
                    <a:lstStyle/>
                    <a:p>
                      <a:pPr algn="ctr"/>
                      <a:r>
                        <a:rPr lang="it-IT" dirty="0"/>
                        <a:t>0</a:t>
                      </a:r>
                    </a:p>
                  </a:txBody>
                  <a:tcPr/>
                </a:tc>
                <a:tc>
                  <a:txBody>
                    <a:bodyPr/>
                    <a:lstStyle/>
                    <a:p>
                      <a:pPr algn="ctr"/>
                      <a:r>
                        <a:rPr lang="it-IT" dirty="0"/>
                        <a:t>0</a:t>
                      </a:r>
                    </a:p>
                  </a:txBody>
                  <a:tcPr/>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extLst>
                  <a:ext uri="{0D108BD9-81ED-4DB2-BD59-A6C34878D82A}">
                    <a16:rowId xmlns:a16="http://schemas.microsoft.com/office/drawing/2014/main" val="3006406211"/>
                  </a:ext>
                </a:extLst>
              </a:tr>
              <a:tr h="370840">
                <a:tc>
                  <a:txBody>
                    <a:bodyPr/>
                    <a:lstStyle/>
                    <a:p>
                      <a:pPr algn="ctr"/>
                      <a:r>
                        <a:rPr lang="it-IT" dirty="0"/>
                        <a:t>2</a:t>
                      </a:r>
                    </a:p>
                  </a:txBody>
                  <a:tcPr/>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2</a:t>
                      </a:r>
                    </a:p>
                  </a:txBody>
                  <a:tcPr marL="9525" marR="9525" marT="9525" marB="0" anchor="b"/>
                </a:tc>
                <a:tc>
                  <a:txBody>
                    <a:bodyPr/>
                    <a:lstStyle/>
                    <a:p>
                      <a:pPr algn="ctr" fontAlgn="b"/>
                      <a:r>
                        <a:rPr lang="it-IT" sz="1800" kern="1200" dirty="0">
                          <a:solidFill>
                            <a:schemeClr val="dk1"/>
                          </a:solidFill>
                          <a:latin typeface="+mn-lt"/>
                          <a:ea typeface="+mn-ea"/>
                          <a:cs typeface="+mn-cs"/>
                        </a:rPr>
                        <a:t>0.6</a:t>
                      </a: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442248098"/>
                  </a:ext>
                </a:extLst>
              </a:tr>
              <a:tr h="370840">
                <a:tc>
                  <a:txBody>
                    <a:bodyPr/>
                    <a:lstStyle/>
                    <a:p>
                      <a:pPr algn="ctr"/>
                      <a:r>
                        <a:rPr lang="it-IT" dirty="0"/>
                        <a:t>3</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4095835177"/>
                  </a:ext>
                </a:extLst>
              </a:tr>
              <a:tr h="370840">
                <a:tc>
                  <a:txBody>
                    <a:bodyPr/>
                    <a:lstStyle/>
                    <a:p>
                      <a:pPr algn="ctr"/>
                      <a:r>
                        <a:rPr lang="it-IT" dirty="0"/>
                        <a:t>4</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437626370"/>
                  </a:ext>
                </a:extLst>
              </a:tr>
              <a:tr h="370840">
                <a:tc>
                  <a:txBody>
                    <a:bodyPr/>
                    <a:lstStyle/>
                    <a:p>
                      <a:pPr algn="ctr"/>
                      <a:r>
                        <a:rPr lang="it-IT" dirty="0"/>
                        <a:t>5</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3459893937"/>
                  </a:ext>
                </a:extLst>
              </a:tr>
              <a:tr h="370840">
                <a:tc>
                  <a:txBody>
                    <a:bodyPr/>
                    <a:lstStyle/>
                    <a:p>
                      <a:pPr algn="ctr"/>
                      <a:r>
                        <a:rPr lang="it-IT" dirty="0"/>
                        <a:t>6</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26436750"/>
                  </a:ext>
                </a:extLst>
              </a:tr>
              <a:tr h="370840">
                <a:tc>
                  <a:txBody>
                    <a:bodyPr/>
                    <a:lstStyle/>
                    <a:p>
                      <a:pPr algn="ctr"/>
                      <a:r>
                        <a:rPr lang="it-IT" dirty="0"/>
                        <a:t>7</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290132517"/>
                  </a:ext>
                </a:extLst>
              </a:tr>
              <a:tr h="370840">
                <a:tc>
                  <a:txBody>
                    <a:bodyPr/>
                    <a:lstStyle/>
                    <a:p>
                      <a:pPr algn="ctr"/>
                      <a:r>
                        <a:rPr lang="it-IT" dirty="0"/>
                        <a:t>8</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380738723"/>
                  </a:ext>
                </a:extLst>
              </a:tr>
              <a:tr h="370840">
                <a:tc>
                  <a:txBody>
                    <a:bodyPr/>
                    <a:lstStyle/>
                    <a:p>
                      <a:pPr algn="ctr"/>
                      <a:r>
                        <a:rPr lang="it-IT" dirty="0"/>
                        <a:t>9</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19150045"/>
                  </a:ext>
                </a:extLst>
              </a:tr>
              <a:tr h="370840">
                <a:tc>
                  <a:txBody>
                    <a:bodyPr/>
                    <a:lstStyle/>
                    <a:p>
                      <a:pPr algn="ctr"/>
                      <a:r>
                        <a:rPr lang="it-IT" dirty="0"/>
                        <a:t>10</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545436331"/>
                  </a:ext>
                </a:extLst>
              </a:tr>
              <a:tr h="370840">
                <a:tc>
                  <a:txBody>
                    <a:bodyPr/>
                    <a:lstStyle/>
                    <a:p>
                      <a:pPr algn="ctr"/>
                      <a:r>
                        <a:rPr lang="it-IT" dirty="0"/>
                        <a:t>11</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3664168057"/>
                  </a:ext>
                </a:extLst>
              </a:tr>
              <a:tr h="370840">
                <a:tc>
                  <a:txBody>
                    <a:bodyPr/>
                    <a:lstStyle/>
                    <a:p>
                      <a:pPr algn="ctr"/>
                      <a:r>
                        <a:rPr lang="it-IT" dirty="0"/>
                        <a:t>12</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137315494"/>
                  </a:ext>
                </a:extLst>
              </a:tr>
            </a:tbl>
          </a:graphicData>
        </a:graphic>
      </p:graphicFrame>
      <p:sp>
        <p:nvSpPr>
          <p:cNvPr id="5" name="CasellaDiTesto 4">
            <a:extLst>
              <a:ext uri="{FF2B5EF4-FFF2-40B4-BE49-F238E27FC236}">
                <a16:creationId xmlns:a16="http://schemas.microsoft.com/office/drawing/2014/main" id="{1C0D3F40-0FA6-AE4B-B317-31946E90F809}"/>
              </a:ext>
            </a:extLst>
          </p:cNvPr>
          <p:cNvSpPr txBox="1"/>
          <p:nvPr/>
        </p:nvSpPr>
        <p:spPr>
          <a:xfrm>
            <a:off x="1138723" y="3402142"/>
            <a:ext cx="1444626" cy="369332"/>
          </a:xfrm>
          <a:prstGeom prst="rect">
            <a:avLst/>
          </a:prstGeom>
          <a:noFill/>
        </p:spPr>
        <p:txBody>
          <a:bodyPr wrap="none" rtlCol="0">
            <a:spAutoFit/>
          </a:bodyPr>
          <a:lstStyle/>
          <a:p>
            <a:r>
              <a:rPr lang="it-IT" dirty="0"/>
              <a:t>Lambda = 0.3</a:t>
            </a:r>
          </a:p>
        </p:txBody>
      </p:sp>
      <p:graphicFrame>
        <p:nvGraphicFramePr>
          <p:cNvPr id="6" name="Tabella 5">
            <a:extLst>
              <a:ext uri="{FF2B5EF4-FFF2-40B4-BE49-F238E27FC236}">
                <a16:creationId xmlns:a16="http://schemas.microsoft.com/office/drawing/2014/main" id="{58620517-8327-5E49-9C6A-8EB32CC9A36C}"/>
              </a:ext>
            </a:extLst>
          </p:cNvPr>
          <p:cNvGraphicFramePr>
            <a:graphicFrameLocks noGrp="1"/>
          </p:cNvGraphicFramePr>
          <p:nvPr/>
        </p:nvGraphicFramePr>
        <p:xfrm>
          <a:off x="994947" y="1608113"/>
          <a:ext cx="2086476" cy="1483360"/>
        </p:xfrm>
        <a:graphic>
          <a:graphicData uri="http://schemas.openxmlformats.org/drawingml/2006/table">
            <a:tbl>
              <a:tblPr firstRow="1" bandRow="1">
                <a:tableStyleId>{5C22544A-7EE6-4342-B048-85BDC9FD1C3A}</a:tableStyleId>
              </a:tblPr>
              <a:tblGrid>
                <a:gridCol w="521619">
                  <a:extLst>
                    <a:ext uri="{9D8B030D-6E8A-4147-A177-3AD203B41FA5}">
                      <a16:colId xmlns:a16="http://schemas.microsoft.com/office/drawing/2014/main" val="3007943972"/>
                    </a:ext>
                  </a:extLst>
                </a:gridCol>
                <a:gridCol w="521619">
                  <a:extLst>
                    <a:ext uri="{9D8B030D-6E8A-4147-A177-3AD203B41FA5}">
                      <a16:colId xmlns:a16="http://schemas.microsoft.com/office/drawing/2014/main" val="220923671"/>
                    </a:ext>
                  </a:extLst>
                </a:gridCol>
                <a:gridCol w="521619">
                  <a:extLst>
                    <a:ext uri="{9D8B030D-6E8A-4147-A177-3AD203B41FA5}">
                      <a16:colId xmlns:a16="http://schemas.microsoft.com/office/drawing/2014/main" val="1888354542"/>
                    </a:ext>
                  </a:extLst>
                </a:gridCol>
                <a:gridCol w="521619">
                  <a:extLst>
                    <a:ext uri="{9D8B030D-6E8A-4147-A177-3AD203B41FA5}">
                      <a16:colId xmlns:a16="http://schemas.microsoft.com/office/drawing/2014/main" val="2090727010"/>
                    </a:ext>
                  </a:extLst>
                </a:gridCol>
              </a:tblGrid>
              <a:tr h="370840">
                <a:tc>
                  <a:txBody>
                    <a:bodyPr/>
                    <a:lstStyle/>
                    <a:p>
                      <a:pPr algn="ctr"/>
                      <a:r>
                        <a:rPr lang="it-IT" dirty="0"/>
                        <a:t>id</a:t>
                      </a:r>
                    </a:p>
                  </a:txBody>
                  <a:tcPr/>
                </a:tc>
                <a:tc>
                  <a:txBody>
                    <a:bodyPr/>
                    <a:lstStyle/>
                    <a:p>
                      <a:pPr algn="ctr"/>
                      <a:r>
                        <a:rPr lang="it-IT" dirty="0"/>
                        <a:t>X</a:t>
                      </a:r>
                      <a:r>
                        <a:rPr lang="it-IT" baseline="-25000" dirty="0"/>
                        <a:t>1</a:t>
                      </a:r>
                    </a:p>
                  </a:txBody>
                  <a:tcPr/>
                </a:tc>
                <a:tc>
                  <a:txBody>
                    <a:bodyPr/>
                    <a:lstStyle/>
                    <a:p>
                      <a:pPr algn="ctr"/>
                      <a:r>
                        <a:rPr lang="it-IT" dirty="0"/>
                        <a:t>X</a:t>
                      </a:r>
                      <a:r>
                        <a:rPr lang="it-IT" baseline="-25000" dirty="0"/>
                        <a:t>2</a:t>
                      </a:r>
                      <a:endParaRPr lang="it-IT" dirty="0"/>
                    </a:p>
                  </a:txBody>
                  <a:tcPr/>
                </a:tc>
                <a:tc>
                  <a:txBody>
                    <a:bodyPr/>
                    <a:lstStyle/>
                    <a:p>
                      <a:pPr algn="ctr"/>
                      <a:r>
                        <a:rPr lang="it-IT" dirty="0"/>
                        <a:t>Y</a:t>
                      </a:r>
                    </a:p>
                  </a:txBody>
                  <a:tcPr/>
                </a:tc>
                <a:extLst>
                  <a:ext uri="{0D108BD9-81ED-4DB2-BD59-A6C34878D82A}">
                    <a16:rowId xmlns:a16="http://schemas.microsoft.com/office/drawing/2014/main" val="647644152"/>
                  </a:ext>
                </a:extLst>
              </a:tr>
              <a:tr h="370840">
                <a:tc>
                  <a:txBody>
                    <a:bodyPr/>
                    <a:lstStyle/>
                    <a:p>
                      <a:pPr algn="ctr"/>
                      <a:r>
                        <a:rPr lang="it-IT" dirty="0"/>
                        <a:t>a</a:t>
                      </a:r>
                    </a:p>
                  </a:txBody>
                  <a:tcPr/>
                </a:tc>
                <a:tc>
                  <a:txBody>
                    <a:bodyPr/>
                    <a:lstStyle/>
                    <a:p>
                      <a:pPr algn="ctr"/>
                      <a:r>
                        <a:rPr lang="it-IT" dirty="0"/>
                        <a:t>0</a:t>
                      </a:r>
                    </a:p>
                  </a:txBody>
                  <a:tcPr/>
                </a:tc>
                <a:tc>
                  <a:txBody>
                    <a:bodyPr/>
                    <a:lstStyle/>
                    <a:p>
                      <a:pPr algn="ctr"/>
                      <a:r>
                        <a:rPr lang="it-IT" dirty="0"/>
                        <a:t>1</a:t>
                      </a:r>
                    </a:p>
                  </a:txBody>
                  <a:tcPr/>
                </a:tc>
                <a:tc>
                  <a:txBody>
                    <a:bodyPr/>
                    <a:lstStyle/>
                    <a:p>
                      <a:pPr algn="ctr"/>
                      <a:r>
                        <a:rPr lang="it-IT" dirty="0"/>
                        <a:t>-1</a:t>
                      </a:r>
                    </a:p>
                  </a:txBody>
                  <a:tcPr/>
                </a:tc>
                <a:extLst>
                  <a:ext uri="{0D108BD9-81ED-4DB2-BD59-A6C34878D82A}">
                    <a16:rowId xmlns:a16="http://schemas.microsoft.com/office/drawing/2014/main" val="3006406211"/>
                  </a:ext>
                </a:extLst>
              </a:tr>
              <a:tr h="370840">
                <a:tc>
                  <a:txBody>
                    <a:bodyPr/>
                    <a:lstStyle/>
                    <a:p>
                      <a:pPr algn="ctr"/>
                      <a:r>
                        <a:rPr lang="it-IT" dirty="0"/>
                        <a:t>b</a:t>
                      </a:r>
                    </a:p>
                  </a:txBody>
                  <a:tcPr/>
                </a:tc>
                <a:tc>
                  <a:txBody>
                    <a:bodyPr/>
                    <a:lstStyle/>
                    <a:p>
                      <a:pPr algn="ctr"/>
                      <a:r>
                        <a:rPr lang="it-IT" dirty="0"/>
                        <a:t>0</a:t>
                      </a:r>
                    </a:p>
                  </a:txBody>
                  <a:tcPr/>
                </a:tc>
                <a:tc>
                  <a:txBody>
                    <a:bodyPr/>
                    <a:lstStyle/>
                    <a:p>
                      <a:pPr algn="ctr"/>
                      <a:r>
                        <a:rPr lang="it-IT" dirty="0"/>
                        <a:t>0</a:t>
                      </a:r>
                    </a:p>
                  </a:txBody>
                  <a:tcPr/>
                </a:tc>
                <a:tc>
                  <a:txBody>
                    <a:bodyPr/>
                    <a:lstStyle/>
                    <a:p>
                      <a:pPr algn="ctr"/>
                      <a:r>
                        <a:rPr lang="it-IT" dirty="0"/>
                        <a:t>1</a:t>
                      </a:r>
                    </a:p>
                  </a:txBody>
                  <a:tcPr/>
                </a:tc>
                <a:extLst>
                  <a:ext uri="{0D108BD9-81ED-4DB2-BD59-A6C34878D82A}">
                    <a16:rowId xmlns:a16="http://schemas.microsoft.com/office/drawing/2014/main" val="1442248098"/>
                  </a:ext>
                </a:extLst>
              </a:tr>
              <a:tr h="370840">
                <a:tc>
                  <a:txBody>
                    <a:bodyPr/>
                    <a:lstStyle/>
                    <a:p>
                      <a:pPr algn="ctr"/>
                      <a:r>
                        <a:rPr lang="it-IT" dirty="0"/>
                        <a:t>c</a:t>
                      </a:r>
                    </a:p>
                  </a:txBody>
                  <a:tcPr/>
                </a:tc>
                <a:tc>
                  <a:txBody>
                    <a:bodyPr/>
                    <a:lstStyle/>
                    <a:p>
                      <a:pPr algn="ctr"/>
                      <a:r>
                        <a:rPr lang="it-IT" dirty="0"/>
                        <a:t>1</a:t>
                      </a:r>
                    </a:p>
                  </a:txBody>
                  <a:tcPr/>
                </a:tc>
                <a:tc>
                  <a:txBody>
                    <a:bodyPr/>
                    <a:lstStyle/>
                    <a:p>
                      <a:pPr algn="ctr"/>
                      <a:r>
                        <a:rPr lang="it-IT" dirty="0"/>
                        <a:t>2</a:t>
                      </a:r>
                    </a:p>
                  </a:txBody>
                  <a:tcPr/>
                </a:tc>
                <a:tc>
                  <a:txBody>
                    <a:bodyPr/>
                    <a:lstStyle/>
                    <a:p>
                      <a:pPr algn="ctr"/>
                      <a:r>
                        <a:rPr lang="it-IT" dirty="0"/>
                        <a:t>-1</a:t>
                      </a:r>
                    </a:p>
                  </a:txBody>
                  <a:tcPr/>
                </a:tc>
                <a:extLst>
                  <a:ext uri="{0D108BD9-81ED-4DB2-BD59-A6C34878D82A}">
                    <a16:rowId xmlns:a16="http://schemas.microsoft.com/office/drawing/2014/main" val="4095835177"/>
                  </a:ext>
                </a:extLst>
              </a:tr>
            </a:tbl>
          </a:graphicData>
        </a:graphic>
      </p:graphicFrame>
      <p:sp>
        <p:nvSpPr>
          <p:cNvPr id="7" name="CasellaDiTesto 6">
            <a:extLst>
              <a:ext uri="{FF2B5EF4-FFF2-40B4-BE49-F238E27FC236}">
                <a16:creationId xmlns:a16="http://schemas.microsoft.com/office/drawing/2014/main" id="{927C77E6-5F33-8046-9F2E-9975A8958726}"/>
              </a:ext>
            </a:extLst>
          </p:cNvPr>
          <p:cNvSpPr txBox="1"/>
          <p:nvPr/>
        </p:nvSpPr>
        <p:spPr>
          <a:xfrm>
            <a:off x="1436079" y="3840407"/>
            <a:ext cx="849913" cy="369332"/>
          </a:xfrm>
          <a:prstGeom prst="rect">
            <a:avLst/>
          </a:prstGeom>
          <a:noFill/>
        </p:spPr>
        <p:txBody>
          <a:bodyPr wrap="none" rtlCol="0">
            <a:spAutoFit/>
          </a:bodyPr>
          <a:lstStyle/>
          <a:p>
            <a:r>
              <a:rPr lang="it-IT" dirty="0"/>
              <a:t>f = </a:t>
            </a:r>
            <a:r>
              <a:rPr lang="it-IT" dirty="0" err="1"/>
              <a:t>sign</a:t>
            </a:r>
            <a:endParaRPr lang="it-IT" dirty="0"/>
          </a:p>
        </p:txBody>
      </p:sp>
      <p:grpSp>
        <p:nvGrpSpPr>
          <p:cNvPr id="10" name="Gruppo 9">
            <a:extLst>
              <a:ext uri="{FF2B5EF4-FFF2-40B4-BE49-F238E27FC236}">
                <a16:creationId xmlns:a16="http://schemas.microsoft.com/office/drawing/2014/main" id="{E220C61D-0D30-6D46-8468-DBA17544E494}"/>
              </a:ext>
            </a:extLst>
          </p:cNvPr>
          <p:cNvGrpSpPr/>
          <p:nvPr/>
        </p:nvGrpSpPr>
        <p:grpSpPr>
          <a:xfrm>
            <a:off x="2583349" y="226574"/>
            <a:ext cx="7154413" cy="3360234"/>
            <a:chOff x="2583349" y="226574"/>
            <a:chExt cx="7154413" cy="3360234"/>
          </a:xfrm>
        </p:grpSpPr>
        <p:cxnSp>
          <p:nvCxnSpPr>
            <p:cNvPr id="11" name="Connettore 2 10">
              <a:extLst>
                <a:ext uri="{FF2B5EF4-FFF2-40B4-BE49-F238E27FC236}">
                  <a16:creationId xmlns:a16="http://schemas.microsoft.com/office/drawing/2014/main" id="{303FB0A6-AB4D-984B-A270-128B377D165F}"/>
                </a:ext>
              </a:extLst>
            </p:cNvPr>
            <p:cNvCxnSpPr>
              <a:cxnSpLocks/>
            </p:cNvCxnSpPr>
            <p:nvPr/>
          </p:nvCxnSpPr>
          <p:spPr>
            <a:xfrm>
              <a:off x="4383157" y="226574"/>
              <a:ext cx="5354605" cy="1277178"/>
            </a:xfrm>
            <a:prstGeom prst="straightConnector1">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nettore 2 11">
              <a:extLst>
                <a:ext uri="{FF2B5EF4-FFF2-40B4-BE49-F238E27FC236}">
                  <a16:creationId xmlns:a16="http://schemas.microsoft.com/office/drawing/2014/main" id="{4496BBBA-8FB3-414C-85C5-E41AE9866C85}"/>
                </a:ext>
              </a:extLst>
            </p:cNvPr>
            <p:cNvCxnSpPr>
              <a:cxnSpLocks/>
            </p:cNvCxnSpPr>
            <p:nvPr/>
          </p:nvCxnSpPr>
          <p:spPr>
            <a:xfrm flipH="1">
              <a:off x="2583349" y="229517"/>
              <a:ext cx="1799808" cy="3357291"/>
            </a:xfrm>
            <a:prstGeom prst="straightConnector1">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aphicFrame>
        <p:nvGraphicFramePr>
          <p:cNvPr id="13" name="Object 2">
            <a:extLst>
              <a:ext uri="{FF2B5EF4-FFF2-40B4-BE49-F238E27FC236}">
                <a16:creationId xmlns:a16="http://schemas.microsoft.com/office/drawing/2014/main" id="{D07A288A-E483-DC42-9EB6-0668002C253C}"/>
              </a:ext>
            </a:extLst>
          </p:cNvPr>
          <p:cNvGraphicFramePr>
            <a:graphicFrameLocks noChangeAspect="1"/>
          </p:cNvGraphicFramePr>
          <p:nvPr/>
        </p:nvGraphicFramePr>
        <p:xfrm>
          <a:off x="4160783" y="137754"/>
          <a:ext cx="7620000" cy="555625"/>
        </p:xfrm>
        <a:graphic>
          <a:graphicData uri="http://schemas.openxmlformats.org/presentationml/2006/ole">
            <mc:AlternateContent xmlns:mc="http://schemas.openxmlformats.org/markup-compatibility/2006">
              <mc:Choice xmlns:v="urn:schemas-microsoft-com:vml" Requires="v">
                <p:oleObj name="Equation" r:id="rId2" imgW="3213100" imgH="241300" progId="Equation.3">
                  <p:embed/>
                </p:oleObj>
              </mc:Choice>
              <mc:Fallback>
                <p:oleObj name="Equation" r:id="rId2" imgW="3213100" imgH="241300" progId="Equation.3">
                  <p:embed/>
                  <p:pic>
                    <p:nvPicPr>
                      <p:cNvPr id="13" name="Object 2">
                        <a:extLst>
                          <a:ext uri="{FF2B5EF4-FFF2-40B4-BE49-F238E27FC236}">
                            <a16:creationId xmlns:a16="http://schemas.microsoft.com/office/drawing/2014/main" id="{D07A288A-E483-DC42-9EB6-0668002C25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0783" y="137754"/>
                        <a:ext cx="76200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8067036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6EC64A-1F68-7243-81CC-935E096D57EB}"/>
              </a:ext>
            </a:extLst>
          </p:cNvPr>
          <p:cNvSpPr>
            <a:spLocks noGrp="1"/>
          </p:cNvSpPr>
          <p:nvPr>
            <p:ph type="title"/>
          </p:nvPr>
        </p:nvSpPr>
        <p:spPr/>
        <p:txBody>
          <a:bodyPr/>
          <a:lstStyle/>
          <a:p>
            <a:r>
              <a:rPr lang="it-IT" dirty="0"/>
              <a:t>Train Linear </a:t>
            </a:r>
            <a:r>
              <a:rPr lang="it-IT" dirty="0" err="1"/>
              <a:t>Perceptron</a:t>
            </a:r>
            <a:endParaRPr lang="it-IT" dirty="0"/>
          </a:p>
        </p:txBody>
      </p:sp>
      <p:graphicFrame>
        <p:nvGraphicFramePr>
          <p:cNvPr id="4" name="Tabella 3">
            <a:extLst>
              <a:ext uri="{FF2B5EF4-FFF2-40B4-BE49-F238E27FC236}">
                <a16:creationId xmlns:a16="http://schemas.microsoft.com/office/drawing/2014/main" id="{0398B540-D1C9-3745-A9F4-F0AF9C7282A6}"/>
              </a:ext>
            </a:extLst>
          </p:cNvPr>
          <p:cNvGraphicFramePr>
            <a:graphicFrameLocks noGrp="1"/>
          </p:cNvGraphicFramePr>
          <p:nvPr/>
        </p:nvGraphicFramePr>
        <p:xfrm>
          <a:off x="3755463" y="1538539"/>
          <a:ext cx="8025320" cy="4820920"/>
        </p:xfrm>
        <a:graphic>
          <a:graphicData uri="http://schemas.openxmlformats.org/drawingml/2006/table">
            <a:tbl>
              <a:tblPr firstRow="1" bandRow="1">
                <a:tableStyleId>{5C22544A-7EE6-4342-B048-85BDC9FD1C3A}</a:tableStyleId>
              </a:tblPr>
              <a:tblGrid>
                <a:gridCol w="802532">
                  <a:extLst>
                    <a:ext uri="{9D8B030D-6E8A-4147-A177-3AD203B41FA5}">
                      <a16:colId xmlns:a16="http://schemas.microsoft.com/office/drawing/2014/main" val="3007943972"/>
                    </a:ext>
                  </a:extLst>
                </a:gridCol>
                <a:gridCol w="802532">
                  <a:extLst>
                    <a:ext uri="{9D8B030D-6E8A-4147-A177-3AD203B41FA5}">
                      <a16:colId xmlns:a16="http://schemas.microsoft.com/office/drawing/2014/main" val="220923671"/>
                    </a:ext>
                  </a:extLst>
                </a:gridCol>
                <a:gridCol w="802532">
                  <a:extLst>
                    <a:ext uri="{9D8B030D-6E8A-4147-A177-3AD203B41FA5}">
                      <a16:colId xmlns:a16="http://schemas.microsoft.com/office/drawing/2014/main" val="1888354542"/>
                    </a:ext>
                  </a:extLst>
                </a:gridCol>
                <a:gridCol w="802532">
                  <a:extLst>
                    <a:ext uri="{9D8B030D-6E8A-4147-A177-3AD203B41FA5}">
                      <a16:colId xmlns:a16="http://schemas.microsoft.com/office/drawing/2014/main" val="4183561819"/>
                    </a:ext>
                  </a:extLst>
                </a:gridCol>
                <a:gridCol w="802532">
                  <a:extLst>
                    <a:ext uri="{9D8B030D-6E8A-4147-A177-3AD203B41FA5}">
                      <a16:colId xmlns:a16="http://schemas.microsoft.com/office/drawing/2014/main" val="2090727010"/>
                    </a:ext>
                  </a:extLst>
                </a:gridCol>
                <a:gridCol w="802532">
                  <a:extLst>
                    <a:ext uri="{9D8B030D-6E8A-4147-A177-3AD203B41FA5}">
                      <a16:colId xmlns:a16="http://schemas.microsoft.com/office/drawing/2014/main" val="1559798696"/>
                    </a:ext>
                  </a:extLst>
                </a:gridCol>
                <a:gridCol w="802532">
                  <a:extLst>
                    <a:ext uri="{9D8B030D-6E8A-4147-A177-3AD203B41FA5}">
                      <a16:colId xmlns:a16="http://schemas.microsoft.com/office/drawing/2014/main" val="3564938619"/>
                    </a:ext>
                  </a:extLst>
                </a:gridCol>
                <a:gridCol w="802532">
                  <a:extLst>
                    <a:ext uri="{9D8B030D-6E8A-4147-A177-3AD203B41FA5}">
                      <a16:colId xmlns:a16="http://schemas.microsoft.com/office/drawing/2014/main" val="2640809818"/>
                    </a:ext>
                  </a:extLst>
                </a:gridCol>
                <a:gridCol w="802532">
                  <a:extLst>
                    <a:ext uri="{9D8B030D-6E8A-4147-A177-3AD203B41FA5}">
                      <a16:colId xmlns:a16="http://schemas.microsoft.com/office/drawing/2014/main" val="4147220622"/>
                    </a:ext>
                  </a:extLst>
                </a:gridCol>
                <a:gridCol w="802532">
                  <a:extLst>
                    <a:ext uri="{9D8B030D-6E8A-4147-A177-3AD203B41FA5}">
                      <a16:colId xmlns:a16="http://schemas.microsoft.com/office/drawing/2014/main" val="1678705754"/>
                    </a:ext>
                  </a:extLst>
                </a:gridCol>
              </a:tblGrid>
              <a:tr h="370840">
                <a:tc>
                  <a:txBody>
                    <a:bodyPr/>
                    <a:lstStyle/>
                    <a:p>
                      <a:pPr algn="ctr"/>
                      <a:r>
                        <a:rPr lang="it-IT" dirty="0" err="1"/>
                        <a:t>it</a:t>
                      </a:r>
                      <a:endParaRPr lang="it-IT" dirty="0"/>
                    </a:p>
                  </a:txBody>
                  <a:tcPr/>
                </a:tc>
                <a:tc>
                  <a:txBody>
                    <a:bodyPr/>
                    <a:lstStyle/>
                    <a:p>
                      <a:pPr algn="ctr"/>
                      <a:r>
                        <a:rPr lang="it-IT" baseline="0" dirty="0"/>
                        <a:t>W</a:t>
                      </a:r>
                      <a:r>
                        <a:rPr lang="it-IT" baseline="-25000" dirty="0"/>
                        <a:t>0</a:t>
                      </a:r>
                    </a:p>
                  </a:txBody>
                  <a:tcPr/>
                </a:tc>
                <a:tc>
                  <a:txBody>
                    <a:bodyPr/>
                    <a:lstStyle/>
                    <a:p>
                      <a:pPr algn="ctr"/>
                      <a:r>
                        <a:rPr lang="it-IT" baseline="0" dirty="0"/>
                        <a:t>W</a:t>
                      </a:r>
                      <a:r>
                        <a:rPr lang="it-IT" baseline="-25000" dirty="0"/>
                        <a:t>1</a:t>
                      </a:r>
                    </a:p>
                  </a:txBody>
                  <a:tcPr/>
                </a:tc>
                <a:tc>
                  <a:txBody>
                    <a:bodyPr/>
                    <a:lstStyle/>
                    <a:p>
                      <a:pPr algn="ctr"/>
                      <a:r>
                        <a:rPr lang="it-IT" baseline="0" dirty="0"/>
                        <a:t>W</a:t>
                      </a:r>
                      <a:r>
                        <a:rPr lang="it-IT" baseline="-25000" dirty="0"/>
                        <a:t>2</a:t>
                      </a:r>
                    </a:p>
                  </a:txBody>
                  <a:tcPr/>
                </a:tc>
                <a:tc>
                  <a:txBody>
                    <a:bodyPr/>
                    <a:lstStyle/>
                    <a:p>
                      <a:pPr algn="ctr"/>
                      <a:r>
                        <a:rPr lang="it-IT" dirty="0"/>
                        <a:t>X.W</a:t>
                      </a:r>
                    </a:p>
                  </a:txBody>
                  <a:tcPr/>
                </a:tc>
                <a:tc>
                  <a:txBody>
                    <a:bodyPr/>
                    <a:lstStyle/>
                    <a:p>
                      <a:pPr algn="ctr"/>
                      <a:r>
                        <a:rPr lang="it-IT" dirty="0" err="1"/>
                        <a:t>f</a:t>
                      </a:r>
                      <a:r>
                        <a:rPr lang="it-IT" dirty="0"/>
                        <a:t>(X.W)</a:t>
                      </a:r>
                    </a:p>
                  </a:txBody>
                  <a:tcPr/>
                </a:tc>
                <a:tc>
                  <a:txBody>
                    <a:bodyPr/>
                    <a:lstStyle/>
                    <a:p>
                      <a:pPr algn="ctr"/>
                      <a:r>
                        <a:rPr lang="it-IT" dirty="0" err="1"/>
                        <a:t>error</a:t>
                      </a:r>
                      <a:endParaRPr lang="it-IT" dirty="0"/>
                    </a:p>
                  </a:txBody>
                  <a:tcPr/>
                </a:tc>
                <a:tc>
                  <a:txBody>
                    <a:bodyPr/>
                    <a:lstStyle/>
                    <a:p>
                      <a:pPr algn="ctr"/>
                      <a:r>
                        <a:rPr lang="it-IT" dirty="0"/>
                        <a:t>delta</a:t>
                      </a:r>
                      <a:r>
                        <a:rPr lang="it-IT" baseline="-25000"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2</a:t>
                      </a:r>
                    </a:p>
                  </a:txBody>
                  <a:tcPr/>
                </a:tc>
                <a:extLst>
                  <a:ext uri="{0D108BD9-81ED-4DB2-BD59-A6C34878D82A}">
                    <a16:rowId xmlns:a16="http://schemas.microsoft.com/office/drawing/2014/main" val="647644152"/>
                  </a:ext>
                </a:extLst>
              </a:tr>
              <a:tr h="370840">
                <a:tc>
                  <a:txBody>
                    <a:bodyPr/>
                    <a:lstStyle/>
                    <a:p>
                      <a:pPr algn="ctr"/>
                      <a:r>
                        <a:rPr lang="it-IT" dirty="0"/>
                        <a:t>1</a:t>
                      </a:r>
                    </a:p>
                  </a:txBody>
                  <a:tcPr/>
                </a:tc>
                <a:tc>
                  <a:txBody>
                    <a:bodyPr/>
                    <a:lstStyle/>
                    <a:p>
                      <a:pPr algn="ctr"/>
                      <a:r>
                        <a:rPr lang="it-IT" dirty="0"/>
                        <a:t>-1</a:t>
                      </a:r>
                    </a:p>
                  </a:txBody>
                  <a:tcPr/>
                </a:tc>
                <a:tc>
                  <a:txBody>
                    <a:bodyPr/>
                    <a:lstStyle/>
                    <a:p>
                      <a:pPr algn="ctr"/>
                      <a:r>
                        <a:rPr lang="it-IT" dirty="0"/>
                        <a:t>0</a:t>
                      </a:r>
                    </a:p>
                  </a:txBody>
                  <a:tcPr/>
                </a:tc>
                <a:tc>
                  <a:txBody>
                    <a:bodyPr/>
                    <a:lstStyle/>
                    <a:p>
                      <a:pPr algn="ctr"/>
                      <a:r>
                        <a:rPr lang="it-IT" dirty="0"/>
                        <a:t>0</a:t>
                      </a:r>
                    </a:p>
                  </a:txBody>
                  <a:tcPr/>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extLst>
                  <a:ext uri="{0D108BD9-81ED-4DB2-BD59-A6C34878D82A}">
                    <a16:rowId xmlns:a16="http://schemas.microsoft.com/office/drawing/2014/main" val="3006406211"/>
                  </a:ext>
                </a:extLst>
              </a:tr>
              <a:tr h="370840">
                <a:tc>
                  <a:txBody>
                    <a:bodyPr/>
                    <a:lstStyle/>
                    <a:p>
                      <a:pPr algn="ctr"/>
                      <a:r>
                        <a:rPr lang="it-IT" dirty="0"/>
                        <a:t>2</a:t>
                      </a:r>
                    </a:p>
                  </a:txBody>
                  <a:tcPr/>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2</a:t>
                      </a:r>
                    </a:p>
                  </a:txBody>
                  <a:tcPr marL="9525" marR="9525" marT="9525" marB="0" anchor="b"/>
                </a:tc>
                <a:tc>
                  <a:txBody>
                    <a:bodyPr/>
                    <a:lstStyle/>
                    <a:p>
                      <a:pPr algn="ctr" fontAlgn="b"/>
                      <a:r>
                        <a:rPr lang="it-IT" sz="1800" kern="1200" dirty="0">
                          <a:solidFill>
                            <a:schemeClr val="dk1"/>
                          </a:solidFill>
                          <a:latin typeface="+mn-lt"/>
                          <a:ea typeface="+mn-ea"/>
                          <a:cs typeface="+mn-cs"/>
                        </a:rPr>
                        <a:t>0.6</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442248098"/>
                  </a:ext>
                </a:extLst>
              </a:tr>
              <a:tr h="370840">
                <a:tc>
                  <a:txBody>
                    <a:bodyPr/>
                    <a:lstStyle/>
                    <a:p>
                      <a:pPr algn="ctr"/>
                      <a:r>
                        <a:rPr lang="it-IT" dirty="0"/>
                        <a:t>3</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4095835177"/>
                  </a:ext>
                </a:extLst>
              </a:tr>
              <a:tr h="370840">
                <a:tc>
                  <a:txBody>
                    <a:bodyPr/>
                    <a:lstStyle/>
                    <a:p>
                      <a:pPr algn="ctr"/>
                      <a:r>
                        <a:rPr lang="it-IT" dirty="0"/>
                        <a:t>4</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437626370"/>
                  </a:ext>
                </a:extLst>
              </a:tr>
              <a:tr h="370840">
                <a:tc>
                  <a:txBody>
                    <a:bodyPr/>
                    <a:lstStyle/>
                    <a:p>
                      <a:pPr algn="ctr"/>
                      <a:r>
                        <a:rPr lang="it-IT" dirty="0"/>
                        <a:t>5</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3459893937"/>
                  </a:ext>
                </a:extLst>
              </a:tr>
              <a:tr h="370840">
                <a:tc>
                  <a:txBody>
                    <a:bodyPr/>
                    <a:lstStyle/>
                    <a:p>
                      <a:pPr algn="ctr"/>
                      <a:r>
                        <a:rPr lang="it-IT" dirty="0"/>
                        <a:t>6</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26436750"/>
                  </a:ext>
                </a:extLst>
              </a:tr>
              <a:tr h="370840">
                <a:tc>
                  <a:txBody>
                    <a:bodyPr/>
                    <a:lstStyle/>
                    <a:p>
                      <a:pPr algn="ctr"/>
                      <a:r>
                        <a:rPr lang="it-IT" dirty="0"/>
                        <a:t>7</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290132517"/>
                  </a:ext>
                </a:extLst>
              </a:tr>
              <a:tr h="370840">
                <a:tc>
                  <a:txBody>
                    <a:bodyPr/>
                    <a:lstStyle/>
                    <a:p>
                      <a:pPr algn="ctr"/>
                      <a:r>
                        <a:rPr lang="it-IT" dirty="0"/>
                        <a:t>8</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380738723"/>
                  </a:ext>
                </a:extLst>
              </a:tr>
              <a:tr h="370840">
                <a:tc>
                  <a:txBody>
                    <a:bodyPr/>
                    <a:lstStyle/>
                    <a:p>
                      <a:pPr algn="ctr"/>
                      <a:r>
                        <a:rPr lang="it-IT" dirty="0"/>
                        <a:t>9</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19150045"/>
                  </a:ext>
                </a:extLst>
              </a:tr>
              <a:tr h="370840">
                <a:tc>
                  <a:txBody>
                    <a:bodyPr/>
                    <a:lstStyle/>
                    <a:p>
                      <a:pPr algn="ctr"/>
                      <a:r>
                        <a:rPr lang="it-IT" dirty="0"/>
                        <a:t>10</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545436331"/>
                  </a:ext>
                </a:extLst>
              </a:tr>
              <a:tr h="370840">
                <a:tc>
                  <a:txBody>
                    <a:bodyPr/>
                    <a:lstStyle/>
                    <a:p>
                      <a:pPr algn="ctr"/>
                      <a:r>
                        <a:rPr lang="it-IT" dirty="0"/>
                        <a:t>11</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3664168057"/>
                  </a:ext>
                </a:extLst>
              </a:tr>
              <a:tr h="370840">
                <a:tc>
                  <a:txBody>
                    <a:bodyPr/>
                    <a:lstStyle/>
                    <a:p>
                      <a:pPr algn="ctr"/>
                      <a:r>
                        <a:rPr lang="it-IT" dirty="0"/>
                        <a:t>12</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137315494"/>
                  </a:ext>
                </a:extLst>
              </a:tr>
            </a:tbl>
          </a:graphicData>
        </a:graphic>
      </p:graphicFrame>
      <p:sp>
        <p:nvSpPr>
          <p:cNvPr id="5" name="CasellaDiTesto 4">
            <a:extLst>
              <a:ext uri="{FF2B5EF4-FFF2-40B4-BE49-F238E27FC236}">
                <a16:creationId xmlns:a16="http://schemas.microsoft.com/office/drawing/2014/main" id="{1C0D3F40-0FA6-AE4B-B317-31946E90F809}"/>
              </a:ext>
            </a:extLst>
          </p:cNvPr>
          <p:cNvSpPr txBox="1"/>
          <p:nvPr/>
        </p:nvSpPr>
        <p:spPr>
          <a:xfrm>
            <a:off x="1138723" y="3402142"/>
            <a:ext cx="1444626" cy="369332"/>
          </a:xfrm>
          <a:prstGeom prst="rect">
            <a:avLst/>
          </a:prstGeom>
          <a:noFill/>
        </p:spPr>
        <p:txBody>
          <a:bodyPr wrap="none" rtlCol="0">
            <a:spAutoFit/>
          </a:bodyPr>
          <a:lstStyle/>
          <a:p>
            <a:r>
              <a:rPr lang="it-IT" dirty="0"/>
              <a:t>Lambda = 0.3</a:t>
            </a:r>
          </a:p>
        </p:txBody>
      </p:sp>
      <p:graphicFrame>
        <p:nvGraphicFramePr>
          <p:cNvPr id="6" name="Tabella 5">
            <a:extLst>
              <a:ext uri="{FF2B5EF4-FFF2-40B4-BE49-F238E27FC236}">
                <a16:creationId xmlns:a16="http://schemas.microsoft.com/office/drawing/2014/main" id="{58620517-8327-5E49-9C6A-8EB32CC9A36C}"/>
              </a:ext>
            </a:extLst>
          </p:cNvPr>
          <p:cNvGraphicFramePr>
            <a:graphicFrameLocks noGrp="1"/>
          </p:cNvGraphicFramePr>
          <p:nvPr/>
        </p:nvGraphicFramePr>
        <p:xfrm>
          <a:off x="994947" y="1608113"/>
          <a:ext cx="2086476" cy="1483360"/>
        </p:xfrm>
        <a:graphic>
          <a:graphicData uri="http://schemas.openxmlformats.org/drawingml/2006/table">
            <a:tbl>
              <a:tblPr firstRow="1" bandRow="1">
                <a:tableStyleId>{5C22544A-7EE6-4342-B048-85BDC9FD1C3A}</a:tableStyleId>
              </a:tblPr>
              <a:tblGrid>
                <a:gridCol w="521619">
                  <a:extLst>
                    <a:ext uri="{9D8B030D-6E8A-4147-A177-3AD203B41FA5}">
                      <a16:colId xmlns:a16="http://schemas.microsoft.com/office/drawing/2014/main" val="3007943972"/>
                    </a:ext>
                  </a:extLst>
                </a:gridCol>
                <a:gridCol w="521619">
                  <a:extLst>
                    <a:ext uri="{9D8B030D-6E8A-4147-A177-3AD203B41FA5}">
                      <a16:colId xmlns:a16="http://schemas.microsoft.com/office/drawing/2014/main" val="220923671"/>
                    </a:ext>
                  </a:extLst>
                </a:gridCol>
                <a:gridCol w="521619">
                  <a:extLst>
                    <a:ext uri="{9D8B030D-6E8A-4147-A177-3AD203B41FA5}">
                      <a16:colId xmlns:a16="http://schemas.microsoft.com/office/drawing/2014/main" val="1888354542"/>
                    </a:ext>
                  </a:extLst>
                </a:gridCol>
                <a:gridCol w="521619">
                  <a:extLst>
                    <a:ext uri="{9D8B030D-6E8A-4147-A177-3AD203B41FA5}">
                      <a16:colId xmlns:a16="http://schemas.microsoft.com/office/drawing/2014/main" val="2090727010"/>
                    </a:ext>
                  </a:extLst>
                </a:gridCol>
              </a:tblGrid>
              <a:tr h="370840">
                <a:tc>
                  <a:txBody>
                    <a:bodyPr/>
                    <a:lstStyle/>
                    <a:p>
                      <a:pPr algn="ctr"/>
                      <a:r>
                        <a:rPr lang="it-IT" dirty="0"/>
                        <a:t>id</a:t>
                      </a:r>
                    </a:p>
                  </a:txBody>
                  <a:tcPr/>
                </a:tc>
                <a:tc>
                  <a:txBody>
                    <a:bodyPr/>
                    <a:lstStyle/>
                    <a:p>
                      <a:pPr algn="ctr"/>
                      <a:r>
                        <a:rPr lang="it-IT" dirty="0"/>
                        <a:t>X</a:t>
                      </a:r>
                      <a:r>
                        <a:rPr lang="it-IT" baseline="-25000" dirty="0"/>
                        <a:t>1</a:t>
                      </a:r>
                    </a:p>
                  </a:txBody>
                  <a:tcPr/>
                </a:tc>
                <a:tc>
                  <a:txBody>
                    <a:bodyPr/>
                    <a:lstStyle/>
                    <a:p>
                      <a:pPr algn="ctr"/>
                      <a:r>
                        <a:rPr lang="it-IT" dirty="0"/>
                        <a:t>X</a:t>
                      </a:r>
                      <a:r>
                        <a:rPr lang="it-IT" baseline="-25000" dirty="0"/>
                        <a:t>2</a:t>
                      </a:r>
                      <a:endParaRPr lang="it-IT" dirty="0"/>
                    </a:p>
                  </a:txBody>
                  <a:tcPr/>
                </a:tc>
                <a:tc>
                  <a:txBody>
                    <a:bodyPr/>
                    <a:lstStyle/>
                    <a:p>
                      <a:pPr algn="ctr"/>
                      <a:r>
                        <a:rPr lang="it-IT" dirty="0"/>
                        <a:t>Y</a:t>
                      </a:r>
                    </a:p>
                  </a:txBody>
                  <a:tcPr/>
                </a:tc>
                <a:extLst>
                  <a:ext uri="{0D108BD9-81ED-4DB2-BD59-A6C34878D82A}">
                    <a16:rowId xmlns:a16="http://schemas.microsoft.com/office/drawing/2014/main" val="647644152"/>
                  </a:ext>
                </a:extLst>
              </a:tr>
              <a:tr h="370840">
                <a:tc>
                  <a:txBody>
                    <a:bodyPr/>
                    <a:lstStyle/>
                    <a:p>
                      <a:pPr algn="ctr"/>
                      <a:r>
                        <a:rPr lang="it-IT" dirty="0"/>
                        <a:t>a</a:t>
                      </a:r>
                    </a:p>
                  </a:txBody>
                  <a:tcPr/>
                </a:tc>
                <a:tc>
                  <a:txBody>
                    <a:bodyPr/>
                    <a:lstStyle/>
                    <a:p>
                      <a:pPr algn="ctr"/>
                      <a:r>
                        <a:rPr lang="it-IT" dirty="0"/>
                        <a:t>0</a:t>
                      </a:r>
                    </a:p>
                  </a:txBody>
                  <a:tcPr/>
                </a:tc>
                <a:tc>
                  <a:txBody>
                    <a:bodyPr/>
                    <a:lstStyle/>
                    <a:p>
                      <a:pPr algn="ctr"/>
                      <a:r>
                        <a:rPr lang="it-IT" dirty="0"/>
                        <a:t>1</a:t>
                      </a:r>
                    </a:p>
                  </a:txBody>
                  <a:tcPr/>
                </a:tc>
                <a:tc>
                  <a:txBody>
                    <a:bodyPr/>
                    <a:lstStyle/>
                    <a:p>
                      <a:pPr algn="ctr"/>
                      <a:r>
                        <a:rPr lang="it-IT" dirty="0"/>
                        <a:t>-1</a:t>
                      </a:r>
                    </a:p>
                  </a:txBody>
                  <a:tcPr/>
                </a:tc>
                <a:extLst>
                  <a:ext uri="{0D108BD9-81ED-4DB2-BD59-A6C34878D82A}">
                    <a16:rowId xmlns:a16="http://schemas.microsoft.com/office/drawing/2014/main" val="3006406211"/>
                  </a:ext>
                </a:extLst>
              </a:tr>
              <a:tr h="370840">
                <a:tc>
                  <a:txBody>
                    <a:bodyPr/>
                    <a:lstStyle/>
                    <a:p>
                      <a:pPr algn="ctr"/>
                      <a:r>
                        <a:rPr lang="it-IT" dirty="0"/>
                        <a:t>b</a:t>
                      </a:r>
                    </a:p>
                  </a:txBody>
                  <a:tcPr/>
                </a:tc>
                <a:tc>
                  <a:txBody>
                    <a:bodyPr/>
                    <a:lstStyle/>
                    <a:p>
                      <a:pPr algn="ctr"/>
                      <a:r>
                        <a:rPr lang="it-IT" dirty="0"/>
                        <a:t>0</a:t>
                      </a:r>
                    </a:p>
                  </a:txBody>
                  <a:tcPr/>
                </a:tc>
                <a:tc>
                  <a:txBody>
                    <a:bodyPr/>
                    <a:lstStyle/>
                    <a:p>
                      <a:pPr algn="ctr"/>
                      <a:r>
                        <a:rPr lang="it-IT" dirty="0"/>
                        <a:t>0</a:t>
                      </a:r>
                    </a:p>
                  </a:txBody>
                  <a:tcPr/>
                </a:tc>
                <a:tc>
                  <a:txBody>
                    <a:bodyPr/>
                    <a:lstStyle/>
                    <a:p>
                      <a:pPr algn="ctr"/>
                      <a:r>
                        <a:rPr lang="it-IT" dirty="0"/>
                        <a:t>1</a:t>
                      </a:r>
                    </a:p>
                  </a:txBody>
                  <a:tcPr/>
                </a:tc>
                <a:extLst>
                  <a:ext uri="{0D108BD9-81ED-4DB2-BD59-A6C34878D82A}">
                    <a16:rowId xmlns:a16="http://schemas.microsoft.com/office/drawing/2014/main" val="1442248098"/>
                  </a:ext>
                </a:extLst>
              </a:tr>
              <a:tr h="370840">
                <a:tc>
                  <a:txBody>
                    <a:bodyPr/>
                    <a:lstStyle/>
                    <a:p>
                      <a:pPr algn="ctr"/>
                      <a:r>
                        <a:rPr lang="it-IT" dirty="0"/>
                        <a:t>c</a:t>
                      </a:r>
                    </a:p>
                  </a:txBody>
                  <a:tcPr/>
                </a:tc>
                <a:tc>
                  <a:txBody>
                    <a:bodyPr/>
                    <a:lstStyle/>
                    <a:p>
                      <a:pPr algn="ctr"/>
                      <a:r>
                        <a:rPr lang="it-IT" dirty="0"/>
                        <a:t>1</a:t>
                      </a:r>
                    </a:p>
                  </a:txBody>
                  <a:tcPr/>
                </a:tc>
                <a:tc>
                  <a:txBody>
                    <a:bodyPr/>
                    <a:lstStyle/>
                    <a:p>
                      <a:pPr algn="ctr"/>
                      <a:r>
                        <a:rPr lang="it-IT" dirty="0"/>
                        <a:t>2</a:t>
                      </a:r>
                    </a:p>
                  </a:txBody>
                  <a:tcPr/>
                </a:tc>
                <a:tc>
                  <a:txBody>
                    <a:bodyPr/>
                    <a:lstStyle/>
                    <a:p>
                      <a:pPr algn="ctr"/>
                      <a:r>
                        <a:rPr lang="it-IT" dirty="0"/>
                        <a:t>-1</a:t>
                      </a:r>
                    </a:p>
                  </a:txBody>
                  <a:tcPr/>
                </a:tc>
                <a:extLst>
                  <a:ext uri="{0D108BD9-81ED-4DB2-BD59-A6C34878D82A}">
                    <a16:rowId xmlns:a16="http://schemas.microsoft.com/office/drawing/2014/main" val="4095835177"/>
                  </a:ext>
                </a:extLst>
              </a:tr>
            </a:tbl>
          </a:graphicData>
        </a:graphic>
      </p:graphicFrame>
      <p:sp>
        <p:nvSpPr>
          <p:cNvPr id="7" name="CasellaDiTesto 6">
            <a:extLst>
              <a:ext uri="{FF2B5EF4-FFF2-40B4-BE49-F238E27FC236}">
                <a16:creationId xmlns:a16="http://schemas.microsoft.com/office/drawing/2014/main" id="{927C77E6-5F33-8046-9F2E-9975A8958726}"/>
              </a:ext>
            </a:extLst>
          </p:cNvPr>
          <p:cNvSpPr txBox="1"/>
          <p:nvPr/>
        </p:nvSpPr>
        <p:spPr>
          <a:xfrm>
            <a:off x="1436079" y="3840407"/>
            <a:ext cx="849913" cy="369332"/>
          </a:xfrm>
          <a:prstGeom prst="rect">
            <a:avLst/>
          </a:prstGeom>
          <a:noFill/>
        </p:spPr>
        <p:txBody>
          <a:bodyPr wrap="none" rtlCol="0">
            <a:spAutoFit/>
          </a:bodyPr>
          <a:lstStyle/>
          <a:p>
            <a:r>
              <a:rPr lang="it-IT" dirty="0"/>
              <a:t>f = </a:t>
            </a:r>
            <a:r>
              <a:rPr lang="it-IT" dirty="0" err="1"/>
              <a:t>sign</a:t>
            </a:r>
            <a:endParaRPr lang="it-IT" dirty="0"/>
          </a:p>
        </p:txBody>
      </p:sp>
      <p:grpSp>
        <p:nvGrpSpPr>
          <p:cNvPr id="13" name="Gruppo 12">
            <a:extLst>
              <a:ext uri="{FF2B5EF4-FFF2-40B4-BE49-F238E27FC236}">
                <a16:creationId xmlns:a16="http://schemas.microsoft.com/office/drawing/2014/main" id="{D93CA3DC-22CA-4448-8113-2CF97096A300}"/>
              </a:ext>
            </a:extLst>
          </p:cNvPr>
          <p:cNvGrpSpPr/>
          <p:nvPr/>
        </p:nvGrpSpPr>
        <p:grpSpPr>
          <a:xfrm>
            <a:off x="1861035" y="296148"/>
            <a:ext cx="8654565" cy="3202426"/>
            <a:chOff x="1861035" y="296148"/>
            <a:chExt cx="8654565" cy="3202426"/>
          </a:xfrm>
        </p:grpSpPr>
        <p:cxnSp>
          <p:nvCxnSpPr>
            <p:cNvPr id="14" name="Connettore 2 13">
              <a:extLst>
                <a:ext uri="{FF2B5EF4-FFF2-40B4-BE49-F238E27FC236}">
                  <a16:creationId xmlns:a16="http://schemas.microsoft.com/office/drawing/2014/main" id="{EE1F11F1-56BF-694B-A4BD-A0E76722D273}"/>
                </a:ext>
              </a:extLst>
            </p:cNvPr>
            <p:cNvCxnSpPr/>
            <p:nvPr/>
          </p:nvCxnSpPr>
          <p:spPr>
            <a:xfrm flipH="1">
              <a:off x="1861035" y="296148"/>
              <a:ext cx="755366" cy="1242391"/>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ttore 2 14">
              <a:extLst>
                <a:ext uri="{FF2B5EF4-FFF2-40B4-BE49-F238E27FC236}">
                  <a16:creationId xmlns:a16="http://schemas.microsoft.com/office/drawing/2014/main" id="{3046B820-2D19-F648-B412-8A41EAD1E4C3}"/>
                </a:ext>
              </a:extLst>
            </p:cNvPr>
            <p:cNvCxnSpPr>
              <a:cxnSpLocks/>
            </p:cNvCxnSpPr>
            <p:nvPr/>
          </p:nvCxnSpPr>
          <p:spPr>
            <a:xfrm>
              <a:off x="2616401" y="296148"/>
              <a:ext cx="7899199" cy="1172817"/>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ttore 2 15">
              <a:extLst>
                <a:ext uri="{FF2B5EF4-FFF2-40B4-BE49-F238E27FC236}">
                  <a16:creationId xmlns:a16="http://schemas.microsoft.com/office/drawing/2014/main" id="{EAF2D327-D915-5049-85C2-B9A9F8BC34C1}"/>
                </a:ext>
              </a:extLst>
            </p:cNvPr>
            <p:cNvCxnSpPr>
              <a:cxnSpLocks/>
            </p:cNvCxnSpPr>
            <p:nvPr/>
          </p:nvCxnSpPr>
          <p:spPr>
            <a:xfrm flipH="1">
              <a:off x="2485697" y="309097"/>
              <a:ext cx="145172" cy="3189477"/>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aphicFrame>
        <p:nvGraphicFramePr>
          <p:cNvPr id="11" name="Object 2">
            <a:extLst>
              <a:ext uri="{FF2B5EF4-FFF2-40B4-BE49-F238E27FC236}">
                <a16:creationId xmlns:a16="http://schemas.microsoft.com/office/drawing/2014/main" id="{CA474BA6-A4F8-9F43-B229-99B0C44D2866}"/>
              </a:ext>
            </a:extLst>
          </p:cNvPr>
          <p:cNvGraphicFramePr>
            <a:graphicFrameLocks noChangeAspect="1"/>
          </p:cNvGraphicFramePr>
          <p:nvPr/>
        </p:nvGraphicFramePr>
        <p:xfrm>
          <a:off x="4160783" y="137754"/>
          <a:ext cx="7620000" cy="555625"/>
        </p:xfrm>
        <a:graphic>
          <a:graphicData uri="http://schemas.openxmlformats.org/presentationml/2006/ole">
            <mc:AlternateContent xmlns:mc="http://schemas.openxmlformats.org/markup-compatibility/2006">
              <mc:Choice xmlns:v="urn:schemas-microsoft-com:vml" Requires="v">
                <p:oleObj name="Equation" r:id="rId2" imgW="3213100" imgH="241300" progId="Equation.3">
                  <p:embed/>
                </p:oleObj>
              </mc:Choice>
              <mc:Fallback>
                <p:oleObj name="Equation" r:id="rId2" imgW="3213100" imgH="241300" progId="Equation.3">
                  <p:embed/>
                  <p:pic>
                    <p:nvPicPr>
                      <p:cNvPr id="11" name="Object 2">
                        <a:extLst>
                          <a:ext uri="{FF2B5EF4-FFF2-40B4-BE49-F238E27FC236}">
                            <a16:creationId xmlns:a16="http://schemas.microsoft.com/office/drawing/2014/main" id="{CA474BA6-A4F8-9F43-B229-99B0C44D28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0783" y="137754"/>
                        <a:ext cx="76200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7565680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6EC64A-1F68-7243-81CC-935E096D57EB}"/>
              </a:ext>
            </a:extLst>
          </p:cNvPr>
          <p:cNvSpPr>
            <a:spLocks noGrp="1"/>
          </p:cNvSpPr>
          <p:nvPr>
            <p:ph type="title"/>
          </p:nvPr>
        </p:nvSpPr>
        <p:spPr/>
        <p:txBody>
          <a:bodyPr/>
          <a:lstStyle/>
          <a:p>
            <a:r>
              <a:rPr lang="it-IT" dirty="0"/>
              <a:t>Train Linear </a:t>
            </a:r>
            <a:r>
              <a:rPr lang="it-IT" dirty="0" err="1"/>
              <a:t>Perceptron</a:t>
            </a:r>
            <a:endParaRPr lang="it-IT" dirty="0"/>
          </a:p>
        </p:txBody>
      </p:sp>
      <p:graphicFrame>
        <p:nvGraphicFramePr>
          <p:cNvPr id="4" name="Tabella 3">
            <a:extLst>
              <a:ext uri="{FF2B5EF4-FFF2-40B4-BE49-F238E27FC236}">
                <a16:creationId xmlns:a16="http://schemas.microsoft.com/office/drawing/2014/main" id="{0398B540-D1C9-3745-A9F4-F0AF9C7282A6}"/>
              </a:ext>
            </a:extLst>
          </p:cNvPr>
          <p:cNvGraphicFramePr>
            <a:graphicFrameLocks noGrp="1"/>
          </p:cNvGraphicFramePr>
          <p:nvPr/>
        </p:nvGraphicFramePr>
        <p:xfrm>
          <a:off x="3755463" y="1538539"/>
          <a:ext cx="8025320" cy="4820920"/>
        </p:xfrm>
        <a:graphic>
          <a:graphicData uri="http://schemas.openxmlformats.org/drawingml/2006/table">
            <a:tbl>
              <a:tblPr firstRow="1" bandRow="1">
                <a:tableStyleId>{5C22544A-7EE6-4342-B048-85BDC9FD1C3A}</a:tableStyleId>
              </a:tblPr>
              <a:tblGrid>
                <a:gridCol w="802532">
                  <a:extLst>
                    <a:ext uri="{9D8B030D-6E8A-4147-A177-3AD203B41FA5}">
                      <a16:colId xmlns:a16="http://schemas.microsoft.com/office/drawing/2014/main" val="3007943972"/>
                    </a:ext>
                  </a:extLst>
                </a:gridCol>
                <a:gridCol w="802532">
                  <a:extLst>
                    <a:ext uri="{9D8B030D-6E8A-4147-A177-3AD203B41FA5}">
                      <a16:colId xmlns:a16="http://schemas.microsoft.com/office/drawing/2014/main" val="220923671"/>
                    </a:ext>
                  </a:extLst>
                </a:gridCol>
                <a:gridCol w="802532">
                  <a:extLst>
                    <a:ext uri="{9D8B030D-6E8A-4147-A177-3AD203B41FA5}">
                      <a16:colId xmlns:a16="http://schemas.microsoft.com/office/drawing/2014/main" val="1888354542"/>
                    </a:ext>
                  </a:extLst>
                </a:gridCol>
                <a:gridCol w="802532">
                  <a:extLst>
                    <a:ext uri="{9D8B030D-6E8A-4147-A177-3AD203B41FA5}">
                      <a16:colId xmlns:a16="http://schemas.microsoft.com/office/drawing/2014/main" val="4183561819"/>
                    </a:ext>
                  </a:extLst>
                </a:gridCol>
                <a:gridCol w="802532">
                  <a:extLst>
                    <a:ext uri="{9D8B030D-6E8A-4147-A177-3AD203B41FA5}">
                      <a16:colId xmlns:a16="http://schemas.microsoft.com/office/drawing/2014/main" val="2090727010"/>
                    </a:ext>
                  </a:extLst>
                </a:gridCol>
                <a:gridCol w="802532">
                  <a:extLst>
                    <a:ext uri="{9D8B030D-6E8A-4147-A177-3AD203B41FA5}">
                      <a16:colId xmlns:a16="http://schemas.microsoft.com/office/drawing/2014/main" val="1559798696"/>
                    </a:ext>
                  </a:extLst>
                </a:gridCol>
                <a:gridCol w="802532">
                  <a:extLst>
                    <a:ext uri="{9D8B030D-6E8A-4147-A177-3AD203B41FA5}">
                      <a16:colId xmlns:a16="http://schemas.microsoft.com/office/drawing/2014/main" val="3564938619"/>
                    </a:ext>
                  </a:extLst>
                </a:gridCol>
                <a:gridCol w="802532">
                  <a:extLst>
                    <a:ext uri="{9D8B030D-6E8A-4147-A177-3AD203B41FA5}">
                      <a16:colId xmlns:a16="http://schemas.microsoft.com/office/drawing/2014/main" val="2640809818"/>
                    </a:ext>
                  </a:extLst>
                </a:gridCol>
                <a:gridCol w="802532">
                  <a:extLst>
                    <a:ext uri="{9D8B030D-6E8A-4147-A177-3AD203B41FA5}">
                      <a16:colId xmlns:a16="http://schemas.microsoft.com/office/drawing/2014/main" val="4147220622"/>
                    </a:ext>
                  </a:extLst>
                </a:gridCol>
                <a:gridCol w="802532">
                  <a:extLst>
                    <a:ext uri="{9D8B030D-6E8A-4147-A177-3AD203B41FA5}">
                      <a16:colId xmlns:a16="http://schemas.microsoft.com/office/drawing/2014/main" val="1678705754"/>
                    </a:ext>
                  </a:extLst>
                </a:gridCol>
              </a:tblGrid>
              <a:tr h="370840">
                <a:tc>
                  <a:txBody>
                    <a:bodyPr/>
                    <a:lstStyle/>
                    <a:p>
                      <a:pPr algn="ctr"/>
                      <a:r>
                        <a:rPr lang="it-IT" dirty="0" err="1"/>
                        <a:t>it</a:t>
                      </a:r>
                      <a:endParaRPr lang="it-IT" dirty="0"/>
                    </a:p>
                  </a:txBody>
                  <a:tcPr/>
                </a:tc>
                <a:tc>
                  <a:txBody>
                    <a:bodyPr/>
                    <a:lstStyle/>
                    <a:p>
                      <a:pPr algn="ctr"/>
                      <a:r>
                        <a:rPr lang="it-IT" baseline="0" dirty="0"/>
                        <a:t>W</a:t>
                      </a:r>
                      <a:r>
                        <a:rPr lang="it-IT" baseline="-25000" dirty="0"/>
                        <a:t>0</a:t>
                      </a:r>
                    </a:p>
                  </a:txBody>
                  <a:tcPr/>
                </a:tc>
                <a:tc>
                  <a:txBody>
                    <a:bodyPr/>
                    <a:lstStyle/>
                    <a:p>
                      <a:pPr algn="ctr"/>
                      <a:r>
                        <a:rPr lang="it-IT" baseline="0" dirty="0"/>
                        <a:t>W</a:t>
                      </a:r>
                      <a:r>
                        <a:rPr lang="it-IT" baseline="-25000" dirty="0"/>
                        <a:t>1</a:t>
                      </a:r>
                    </a:p>
                  </a:txBody>
                  <a:tcPr/>
                </a:tc>
                <a:tc>
                  <a:txBody>
                    <a:bodyPr/>
                    <a:lstStyle/>
                    <a:p>
                      <a:pPr algn="ctr"/>
                      <a:r>
                        <a:rPr lang="it-IT" baseline="0" dirty="0"/>
                        <a:t>W</a:t>
                      </a:r>
                      <a:r>
                        <a:rPr lang="it-IT" baseline="-25000" dirty="0"/>
                        <a:t>2</a:t>
                      </a:r>
                    </a:p>
                  </a:txBody>
                  <a:tcPr/>
                </a:tc>
                <a:tc>
                  <a:txBody>
                    <a:bodyPr/>
                    <a:lstStyle/>
                    <a:p>
                      <a:pPr algn="ctr"/>
                      <a:r>
                        <a:rPr lang="it-IT" dirty="0"/>
                        <a:t>X.W</a:t>
                      </a:r>
                    </a:p>
                  </a:txBody>
                  <a:tcPr/>
                </a:tc>
                <a:tc>
                  <a:txBody>
                    <a:bodyPr/>
                    <a:lstStyle/>
                    <a:p>
                      <a:pPr algn="ctr"/>
                      <a:r>
                        <a:rPr lang="it-IT" dirty="0" err="1"/>
                        <a:t>f</a:t>
                      </a:r>
                      <a:r>
                        <a:rPr lang="it-IT" dirty="0"/>
                        <a:t>(X.W)</a:t>
                      </a:r>
                    </a:p>
                  </a:txBody>
                  <a:tcPr/>
                </a:tc>
                <a:tc>
                  <a:txBody>
                    <a:bodyPr/>
                    <a:lstStyle/>
                    <a:p>
                      <a:pPr algn="ctr"/>
                      <a:r>
                        <a:rPr lang="it-IT" dirty="0" err="1"/>
                        <a:t>error</a:t>
                      </a:r>
                      <a:endParaRPr lang="it-IT" dirty="0"/>
                    </a:p>
                  </a:txBody>
                  <a:tcPr/>
                </a:tc>
                <a:tc>
                  <a:txBody>
                    <a:bodyPr/>
                    <a:lstStyle/>
                    <a:p>
                      <a:pPr algn="ctr"/>
                      <a:r>
                        <a:rPr lang="it-IT" dirty="0"/>
                        <a:t>delta</a:t>
                      </a:r>
                      <a:r>
                        <a:rPr lang="it-IT" baseline="-25000"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2</a:t>
                      </a:r>
                    </a:p>
                  </a:txBody>
                  <a:tcPr/>
                </a:tc>
                <a:extLst>
                  <a:ext uri="{0D108BD9-81ED-4DB2-BD59-A6C34878D82A}">
                    <a16:rowId xmlns:a16="http://schemas.microsoft.com/office/drawing/2014/main" val="647644152"/>
                  </a:ext>
                </a:extLst>
              </a:tr>
              <a:tr h="370840">
                <a:tc>
                  <a:txBody>
                    <a:bodyPr/>
                    <a:lstStyle/>
                    <a:p>
                      <a:pPr algn="ctr"/>
                      <a:r>
                        <a:rPr lang="it-IT" dirty="0"/>
                        <a:t>1</a:t>
                      </a:r>
                    </a:p>
                  </a:txBody>
                  <a:tcPr/>
                </a:tc>
                <a:tc>
                  <a:txBody>
                    <a:bodyPr/>
                    <a:lstStyle/>
                    <a:p>
                      <a:pPr algn="ctr"/>
                      <a:r>
                        <a:rPr lang="it-IT" dirty="0"/>
                        <a:t>-1</a:t>
                      </a:r>
                    </a:p>
                  </a:txBody>
                  <a:tcPr/>
                </a:tc>
                <a:tc>
                  <a:txBody>
                    <a:bodyPr/>
                    <a:lstStyle/>
                    <a:p>
                      <a:pPr algn="ctr"/>
                      <a:r>
                        <a:rPr lang="it-IT" dirty="0"/>
                        <a:t>0</a:t>
                      </a:r>
                    </a:p>
                  </a:txBody>
                  <a:tcPr/>
                </a:tc>
                <a:tc>
                  <a:txBody>
                    <a:bodyPr/>
                    <a:lstStyle/>
                    <a:p>
                      <a:pPr algn="ctr"/>
                      <a:r>
                        <a:rPr lang="it-IT" dirty="0"/>
                        <a:t>0</a:t>
                      </a:r>
                    </a:p>
                  </a:txBody>
                  <a:tcPr/>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extLst>
                  <a:ext uri="{0D108BD9-81ED-4DB2-BD59-A6C34878D82A}">
                    <a16:rowId xmlns:a16="http://schemas.microsoft.com/office/drawing/2014/main" val="3006406211"/>
                  </a:ext>
                </a:extLst>
              </a:tr>
              <a:tr h="370840">
                <a:tc>
                  <a:txBody>
                    <a:bodyPr/>
                    <a:lstStyle/>
                    <a:p>
                      <a:pPr algn="ctr"/>
                      <a:r>
                        <a:rPr lang="it-IT" dirty="0"/>
                        <a:t>2</a:t>
                      </a:r>
                    </a:p>
                  </a:txBody>
                  <a:tcPr/>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2</a:t>
                      </a:r>
                    </a:p>
                  </a:txBody>
                  <a:tcPr marL="9525" marR="9525" marT="9525" marB="0" anchor="b"/>
                </a:tc>
                <a:tc>
                  <a:txBody>
                    <a:bodyPr/>
                    <a:lstStyle/>
                    <a:p>
                      <a:pPr algn="ctr" fontAlgn="b"/>
                      <a:r>
                        <a:rPr lang="it-IT" sz="1800" kern="1200" dirty="0">
                          <a:solidFill>
                            <a:schemeClr val="dk1"/>
                          </a:solidFill>
                          <a:latin typeface="+mn-lt"/>
                          <a:ea typeface="+mn-ea"/>
                          <a:cs typeface="+mn-cs"/>
                        </a:rPr>
                        <a:t>0.6</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extLst>
                  <a:ext uri="{0D108BD9-81ED-4DB2-BD59-A6C34878D82A}">
                    <a16:rowId xmlns:a16="http://schemas.microsoft.com/office/drawing/2014/main" val="1442248098"/>
                  </a:ext>
                </a:extLst>
              </a:tr>
              <a:tr h="370840">
                <a:tc>
                  <a:txBody>
                    <a:bodyPr/>
                    <a:lstStyle/>
                    <a:p>
                      <a:pPr algn="ctr"/>
                      <a:r>
                        <a:rPr lang="it-IT" dirty="0"/>
                        <a:t>3</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4095835177"/>
                  </a:ext>
                </a:extLst>
              </a:tr>
              <a:tr h="370840">
                <a:tc>
                  <a:txBody>
                    <a:bodyPr/>
                    <a:lstStyle/>
                    <a:p>
                      <a:pPr algn="ctr"/>
                      <a:r>
                        <a:rPr lang="it-IT" dirty="0"/>
                        <a:t>4</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437626370"/>
                  </a:ext>
                </a:extLst>
              </a:tr>
              <a:tr h="370840">
                <a:tc>
                  <a:txBody>
                    <a:bodyPr/>
                    <a:lstStyle/>
                    <a:p>
                      <a:pPr algn="ctr"/>
                      <a:r>
                        <a:rPr lang="it-IT" dirty="0"/>
                        <a:t>5</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3459893937"/>
                  </a:ext>
                </a:extLst>
              </a:tr>
              <a:tr h="370840">
                <a:tc>
                  <a:txBody>
                    <a:bodyPr/>
                    <a:lstStyle/>
                    <a:p>
                      <a:pPr algn="ctr"/>
                      <a:r>
                        <a:rPr lang="it-IT" dirty="0"/>
                        <a:t>6</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26436750"/>
                  </a:ext>
                </a:extLst>
              </a:tr>
              <a:tr h="370840">
                <a:tc>
                  <a:txBody>
                    <a:bodyPr/>
                    <a:lstStyle/>
                    <a:p>
                      <a:pPr algn="ctr"/>
                      <a:r>
                        <a:rPr lang="it-IT" dirty="0"/>
                        <a:t>7</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290132517"/>
                  </a:ext>
                </a:extLst>
              </a:tr>
              <a:tr h="370840">
                <a:tc>
                  <a:txBody>
                    <a:bodyPr/>
                    <a:lstStyle/>
                    <a:p>
                      <a:pPr algn="ctr"/>
                      <a:r>
                        <a:rPr lang="it-IT" dirty="0"/>
                        <a:t>8</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380738723"/>
                  </a:ext>
                </a:extLst>
              </a:tr>
              <a:tr h="370840">
                <a:tc>
                  <a:txBody>
                    <a:bodyPr/>
                    <a:lstStyle/>
                    <a:p>
                      <a:pPr algn="ctr"/>
                      <a:r>
                        <a:rPr lang="it-IT" dirty="0"/>
                        <a:t>9</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19150045"/>
                  </a:ext>
                </a:extLst>
              </a:tr>
              <a:tr h="370840">
                <a:tc>
                  <a:txBody>
                    <a:bodyPr/>
                    <a:lstStyle/>
                    <a:p>
                      <a:pPr algn="ctr"/>
                      <a:r>
                        <a:rPr lang="it-IT" dirty="0"/>
                        <a:t>10</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545436331"/>
                  </a:ext>
                </a:extLst>
              </a:tr>
              <a:tr h="370840">
                <a:tc>
                  <a:txBody>
                    <a:bodyPr/>
                    <a:lstStyle/>
                    <a:p>
                      <a:pPr algn="ctr"/>
                      <a:r>
                        <a:rPr lang="it-IT" dirty="0"/>
                        <a:t>11</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3664168057"/>
                  </a:ext>
                </a:extLst>
              </a:tr>
              <a:tr h="370840">
                <a:tc>
                  <a:txBody>
                    <a:bodyPr/>
                    <a:lstStyle/>
                    <a:p>
                      <a:pPr algn="ctr"/>
                      <a:r>
                        <a:rPr lang="it-IT" dirty="0"/>
                        <a:t>12</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137315494"/>
                  </a:ext>
                </a:extLst>
              </a:tr>
            </a:tbl>
          </a:graphicData>
        </a:graphic>
      </p:graphicFrame>
      <p:sp>
        <p:nvSpPr>
          <p:cNvPr id="5" name="CasellaDiTesto 4">
            <a:extLst>
              <a:ext uri="{FF2B5EF4-FFF2-40B4-BE49-F238E27FC236}">
                <a16:creationId xmlns:a16="http://schemas.microsoft.com/office/drawing/2014/main" id="{1C0D3F40-0FA6-AE4B-B317-31946E90F809}"/>
              </a:ext>
            </a:extLst>
          </p:cNvPr>
          <p:cNvSpPr txBox="1"/>
          <p:nvPr/>
        </p:nvSpPr>
        <p:spPr>
          <a:xfrm>
            <a:off x="1138723" y="3402142"/>
            <a:ext cx="1444626" cy="369332"/>
          </a:xfrm>
          <a:prstGeom prst="rect">
            <a:avLst/>
          </a:prstGeom>
          <a:noFill/>
        </p:spPr>
        <p:txBody>
          <a:bodyPr wrap="none" rtlCol="0">
            <a:spAutoFit/>
          </a:bodyPr>
          <a:lstStyle/>
          <a:p>
            <a:r>
              <a:rPr lang="it-IT" dirty="0"/>
              <a:t>Lambda = 0.3</a:t>
            </a:r>
          </a:p>
        </p:txBody>
      </p:sp>
      <p:graphicFrame>
        <p:nvGraphicFramePr>
          <p:cNvPr id="6" name="Tabella 5">
            <a:extLst>
              <a:ext uri="{FF2B5EF4-FFF2-40B4-BE49-F238E27FC236}">
                <a16:creationId xmlns:a16="http://schemas.microsoft.com/office/drawing/2014/main" id="{58620517-8327-5E49-9C6A-8EB32CC9A36C}"/>
              </a:ext>
            </a:extLst>
          </p:cNvPr>
          <p:cNvGraphicFramePr>
            <a:graphicFrameLocks noGrp="1"/>
          </p:cNvGraphicFramePr>
          <p:nvPr/>
        </p:nvGraphicFramePr>
        <p:xfrm>
          <a:off x="994947" y="1608113"/>
          <a:ext cx="2086476" cy="1483360"/>
        </p:xfrm>
        <a:graphic>
          <a:graphicData uri="http://schemas.openxmlformats.org/drawingml/2006/table">
            <a:tbl>
              <a:tblPr firstRow="1" bandRow="1">
                <a:tableStyleId>{5C22544A-7EE6-4342-B048-85BDC9FD1C3A}</a:tableStyleId>
              </a:tblPr>
              <a:tblGrid>
                <a:gridCol w="521619">
                  <a:extLst>
                    <a:ext uri="{9D8B030D-6E8A-4147-A177-3AD203B41FA5}">
                      <a16:colId xmlns:a16="http://schemas.microsoft.com/office/drawing/2014/main" val="3007943972"/>
                    </a:ext>
                  </a:extLst>
                </a:gridCol>
                <a:gridCol w="521619">
                  <a:extLst>
                    <a:ext uri="{9D8B030D-6E8A-4147-A177-3AD203B41FA5}">
                      <a16:colId xmlns:a16="http://schemas.microsoft.com/office/drawing/2014/main" val="220923671"/>
                    </a:ext>
                  </a:extLst>
                </a:gridCol>
                <a:gridCol w="521619">
                  <a:extLst>
                    <a:ext uri="{9D8B030D-6E8A-4147-A177-3AD203B41FA5}">
                      <a16:colId xmlns:a16="http://schemas.microsoft.com/office/drawing/2014/main" val="1888354542"/>
                    </a:ext>
                  </a:extLst>
                </a:gridCol>
                <a:gridCol w="521619">
                  <a:extLst>
                    <a:ext uri="{9D8B030D-6E8A-4147-A177-3AD203B41FA5}">
                      <a16:colId xmlns:a16="http://schemas.microsoft.com/office/drawing/2014/main" val="2090727010"/>
                    </a:ext>
                  </a:extLst>
                </a:gridCol>
              </a:tblGrid>
              <a:tr h="370840">
                <a:tc>
                  <a:txBody>
                    <a:bodyPr/>
                    <a:lstStyle/>
                    <a:p>
                      <a:pPr algn="ctr"/>
                      <a:r>
                        <a:rPr lang="it-IT" dirty="0"/>
                        <a:t>id</a:t>
                      </a:r>
                    </a:p>
                  </a:txBody>
                  <a:tcPr/>
                </a:tc>
                <a:tc>
                  <a:txBody>
                    <a:bodyPr/>
                    <a:lstStyle/>
                    <a:p>
                      <a:pPr algn="ctr"/>
                      <a:r>
                        <a:rPr lang="it-IT" dirty="0"/>
                        <a:t>X</a:t>
                      </a:r>
                      <a:r>
                        <a:rPr lang="it-IT" baseline="-25000" dirty="0"/>
                        <a:t>1</a:t>
                      </a:r>
                    </a:p>
                  </a:txBody>
                  <a:tcPr/>
                </a:tc>
                <a:tc>
                  <a:txBody>
                    <a:bodyPr/>
                    <a:lstStyle/>
                    <a:p>
                      <a:pPr algn="ctr"/>
                      <a:r>
                        <a:rPr lang="it-IT" dirty="0"/>
                        <a:t>X</a:t>
                      </a:r>
                      <a:r>
                        <a:rPr lang="it-IT" baseline="-25000" dirty="0"/>
                        <a:t>2</a:t>
                      </a:r>
                      <a:endParaRPr lang="it-IT" dirty="0"/>
                    </a:p>
                  </a:txBody>
                  <a:tcPr/>
                </a:tc>
                <a:tc>
                  <a:txBody>
                    <a:bodyPr/>
                    <a:lstStyle/>
                    <a:p>
                      <a:pPr algn="ctr"/>
                      <a:r>
                        <a:rPr lang="it-IT" dirty="0"/>
                        <a:t>Y</a:t>
                      </a:r>
                    </a:p>
                  </a:txBody>
                  <a:tcPr/>
                </a:tc>
                <a:extLst>
                  <a:ext uri="{0D108BD9-81ED-4DB2-BD59-A6C34878D82A}">
                    <a16:rowId xmlns:a16="http://schemas.microsoft.com/office/drawing/2014/main" val="647644152"/>
                  </a:ext>
                </a:extLst>
              </a:tr>
              <a:tr h="370840">
                <a:tc>
                  <a:txBody>
                    <a:bodyPr/>
                    <a:lstStyle/>
                    <a:p>
                      <a:pPr algn="ctr"/>
                      <a:r>
                        <a:rPr lang="it-IT" dirty="0"/>
                        <a:t>a</a:t>
                      </a:r>
                    </a:p>
                  </a:txBody>
                  <a:tcPr/>
                </a:tc>
                <a:tc>
                  <a:txBody>
                    <a:bodyPr/>
                    <a:lstStyle/>
                    <a:p>
                      <a:pPr algn="ctr"/>
                      <a:r>
                        <a:rPr lang="it-IT" dirty="0"/>
                        <a:t>0</a:t>
                      </a:r>
                    </a:p>
                  </a:txBody>
                  <a:tcPr/>
                </a:tc>
                <a:tc>
                  <a:txBody>
                    <a:bodyPr/>
                    <a:lstStyle/>
                    <a:p>
                      <a:pPr algn="ctr"/>
                      <a:r>
                        <a:rPr lang="it-IT" dirty="0"/>
                        <a:t>1</a:t>
                      </a:r>
                    </a:p>
                  </a:txBody>
                  <a:tcPr/>
                </a:tc>
                <a:tc>
                  <a:txBody>
                    <a:bodyPr/>
                    <a:lstStyle/>
                    <a:p>
                      <a:pPr algn="ctr"/>
                      <a:r>
                        <a:rPr lang="it-IT" dirty="0"/>
                        <a:t>-1</a:t>
                      </a:r>
                    </a:p>
                  </a:txBody>
                  <a:tcPr/>
                </a:tc>
                <a:extLst>
                  <a:ext uri="{0D108BD9-81ED-4DB2-BD59-A6C34878D82A}">
                    <a16:rowId xmlns:a16="http://schemas.microsoft.com/office/drawing/2014/main" val="3006406211"/>
                  </a:ext>
                </a:extLst>
              </a:tr>
              <a:tr h="370840">
                <a:tc>
                  <a:txBody>
                    <a:bodyPr/>
                    <a:lstStyle/>
                    <a:p>
                      <a:pPr algn="ctr"/>
                      <a:r>
                        <a:rPr lang="it-IT" dirty="0"/>
                        <a:t>b</a:t>
                      </a:r>
                    </a:p>
                  </a:txBody>
                  <a:tcPr/>
                </a:tc>
                <a:tc>
                  <a:txBody>
                    <a:bodyPr/>
                    <a:lstStyle/>
                    <a:p>
                      <a:pPr algn="ctr"/>
                      <a:r>
                        <a:rPr lang="it-IT" dirty="0"/>
                        <a:t>0</a:t>
                      </a:r>
                    </a:p>
                  </a:txBody>
                  <a:tcPr/>
                </a:tc>
                <a:tc>
                  <a:txBody>
                    <a:bodyPr/>
                    <a:lstStyle/>
                    <a:p>
                      <a:pPr algn="ctr"/>
                      <a:r>
                        <a:rPr lang="it-IT" dirty="0"/>
                        <a:t>0</a:t>
                      </a:r>
                    </a:p>
                  </a:txBody>
                  <a:tcPr/>
                </a:tc>
                <a:tc>
                  <a:txBody>
                    <a:bodyPr/>
                    <a:lstStyle/>
                    <a:p>
                      <a:pPr algn="ctr"/>
                      <a:r>
                        <a:rPr lang="it-IT" dirty="0"/>
                        <a:t>1</a:t>
                      </a:r>
                    </a:p>
                  </a:txBody>
                  <a:tcPr/>
                </a:tc>
                <a:extLst>
                  <a:ext uri="{0D108BD9-81ED-4DB2-BD59-A6C34878D82A}">
                    <a16:rowId xmlns:a16="http://schemas.microsoft.com/office/drawing/2014/main" val="1442248098"/>
                  </a:ext>
                </a:extLst>
              </a:tr>
              <a:tr h="370840">
                <a:tc>
                  <a:txBody>
                    <a:bodyPr/>
                    <a:lstStyle/>
                    <a:p>
                      <a:pPr algn="ctr"/>
                      <a:r>
                        <a:rPr lang="it-IT" dirty="0"/>
                        <a:t>c</a:t>
                      </a:r>
                    </a:p>
                  </a:txBody>
                  <a:tcPr/>
                </a:tc>
                <a:tc>
                  <a:txBody>
                    <a:bodyPr/>
                    <a:lstStyle/>
                    <a:p>
                      <a:pPr algn="ctr"/>
                      <a:r>
                        <a:rPr lang="it-IT" dirty="0"/>
                        <a:t>1</a:t>
                      </a:r>
                    </a:p>
                  </a:txBody>
                  <a:tcPr/>
                </a:tc>
                <a:tc>
                  <a:txBody>
                    <a:bodyPr/>
                    <a:lstStyle/>
                    <a:p>
                      <a:pPr algn="ctr"/>
                      <a:r>
                        <a:rPr lang="it-IT" dirty="0"/>
                        <a:t>2</a:t>
                      </a:r>
                    </a:p>
                  </a:txBody>
                  <a:tcPr/>
                </a:tc>
                <a:tc>
                  <a:txBody>
                    <a:bodyPr/>
                    <a:lstStyle/>
                    <a:p>
                      <a:pPr algn="ctr"/>
                      <a:r>
                        <a:rPr lang="it-IT" dirty="0"/>
                        <a:t>-1</a:t>
                      </a:r>
                    </a:p>
                  </a:txBody>
                  <a:tcPr/>
                </a:tc>
                <a:extLst>
                  <a:ext uri="{0D108BD9-81ED-4DB2-BD59-A6C34878D82A}">
                    <a16:rowId xmlns:a16="http://schemas.microsoft.com/office/drawing/2014/main" val="4095835177"/>
                  </a:ext>
                </a:extLst>
              </a:tr>
            </a:tbl>
          </a:graphicData>
        </a:graphic>
      </p:graphicFrame>
      <p:sp>
        <p:nvSpPr>
          <p:cNvPr id="7" name="CasellaDiTesto 6">
            <a:extLst>
              <a:ext uri="{FF2B5EF4-FFF2-40B4-BE49-F238E27FC236}">
                <a16:creationId xmlns:a16="http://schemas.microsoft.com/office/drawing/2014/main" id="{927C77E6-5F33-8046-9F2E-9975A8958726}"/>
              </a:ext>
            </a:extLst>
          </p:cNvPr>
          <p:cNvSpPr txBox="1"/>
          <p:nvPr/>
        </p:nvSpPr>
        <p:spPr>
          <a:xfrm>
            <a:off x="1436079" y="3840407"/>
            <a:ext cx="849913" cy="369332"/>
          </a:xfrm>
          <a:prstGeom prst="rect">
            <a:avLst/>
          </a:prstGeom>
          <a:noFill/>
        </p:spPr>
        <p:txBody>
          <a:bodyPr wrap="none" rtlCol="0">
            <a:spAutoFit/>
          </a:bodyPr>
          <a:lstStyle/>
          <a:p>
            <a:r>
              <a:rPr lang="it-IT" dirty="0"/>
              <a:t>f = </a:t>
            </a:r>
            <a:r>
              <a:rPr lang="it-IT" dirty="0" err="1"/>
              <a:t>sign</a:t>
            </a:r>
            <a:endParaRPr lang="it-IT" dirty="0"/>
          </a:p>
        </p:txBody>
      </p:sp>
      <p:grpSp>
        <p:nvGrpSpPr>
          <p:cNvPr id="11" name="Gruppo 10">
            <a:extLst>
              <a:ext uri="{FF2B5EF4-FFF2-40B4-BE49-F238E27FC236}">
                <a16:creationId xmlns:a16="http://schemas.microsoft.com/office/drawing/2014/main" id="{1CFA4947-FA11-D042-A32C-2E2834A06682}"/>
              </a:ext>
            </a:extLst>
          </p:cNvPr>
          <p:cNvGrpSpPr/>
          <p:nvPr/>
        </p:nvGrpSpPr>
        <p:grpSpPr>
          <a:xfrm>
            <a:off x="2367317" y="194730"/>
            <a:ext cx="8986483" cy="3392078"/>
            <a:chOff x="2367317" y="194730"/>
            <a:chExt cx="8986483" cy="3392078"/>
          </a:xfrm>
        </p:grpSpPr>
        <p:cxnSp>
          <p:nvCxnSpPr>
            <p:cNvPr id="12" name="Connettore 2 11">
              <a:extLst>
                <a:ext uri="{FF2B5EF4-FFF2-40B4-BE49-F238E27FC236}">
                  <a16:creationId xmlns:a16="http://schemas.microsoft.com/office/drawing/2014/main" id="{199EBCFA-0096-374A-845E-37E30FD02EE6}"/>
                </a:ext>
              </a:extLst>
            </p:cNvPr>
            <p:cNvCxnSpPr>
              <a:cxnSpLocks/>
            </p:cNvCxnSpPr>
            <p:nvPr/>
          </p:nvCxnSpPr>
          <p:spPr>
            <a:xfrm flipH="1">
              <a:off x="2367317" y="207328"/>
              <a:ext cx="833083" cy="1331211"/>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nettore 2 16">
              <a:extLst>
                <a:ext uri="{FF2B5EF4-FFF2-40B4-BE49-F238E27FC236}">
                  <a16:creationId xmlns:a16="http://schemas.microsoft.com/office/drawing/2014/main" id="{684CD55D-A762-DA4F-8F4C-A16516DC82D1}"/>
                </a:ext>
              </a:extLst>
            </p:cNvPr>
            <p:cNvCxnSpPr>
              <a:cxnSpLocks/>
            </p:cNvCxnSpPr>
            <p:nvPr/>
          </p:nvCxnSpPr>
          <p:spPr>
            <a:xfrm>
              <a:off x="3200400" y="207328"/>
              <a:ext cx="8153400" cy="1261637"/>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nettore 2 17">
              <a:extLst>
                <a:ext uri="{FF2B5EF4-FFF2-40B4-BE49-F238E27FC236}">
                  <a16:creationId xmlns:a16="http://schemas.microsoft.com/office/drawing/2014/main" id="{2445D8B4-EC6E-EE4F-B8DE-D40B7A08620D}"/>
                </a:ext>
              </a:extLst>
            </p:cNvPr>
            <p:cNvCxnSpPr>
              <a:cxnSpLocks/>
            </p:cNvCxnSpPr>
            <p:nvPr/>
          </p:nvCxnSpPr>
          <p:spPr>
            <a:xfrm flipH="1">
              <a:off x="2583349" y="194730"/>
              <a:ext cx="643830" cy="3392078"/>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p:graphicFrame>
        <p:nvGraphicFramePr>
          <p:cNvPr id="13" name="Object 2">
            <a:extLst>
              <a:ext uri="{FF2B5EF4-FFF2-40B4-BE49-F238E27FC236}">
                <a16:creationId xmlns:a16="http://schemas.microsoft.com/office/drawing/2014/main" id="{51AA9BA4-FE9B-BE4C-B814-21E91A475933}"/>
              </a:ext>
            </a:extLst>
          </p:cNvPr>
          <p:cNvGraphicFramePr>
            <a:graphicFrameLocks noChangeAspect="1"/>
          </p:cNvGraphicFramePr>
          <p:nvPr/>
        </p:nvGraphicFramePr>
        <p:xfrm>
          <a:off x="4160783" y="137754"/>
          <a:ext cx="7620000" cy="555625"/>
        </p:xfrm>
        <a:graphic>
          <a:graphicData uri="http://schemas.openxmlformats.org/presentationml/2006/ole">
            <mc:AlternateContent xmlns:mc="http://schemas.openxmlformats.org/markup-compatibility/2006">
              <mc:Choice xmlns:v="urn:schemas-microsoft-com:vml" Requires="v">
                <p:oleObj name="Equation" r:id="rId2" imgW="3213100" imgH="241300" progId="Equation.3">
                  <p:embed/>
                </p:oleObj>
              </mc:Choice>
              <mc:Fallback>
                <p:oleObj name="Equation" r:id="rId2" imgW="3213100" imgH="241300" progId="Equation.3">
                  <p:embed/>
                  <p:pic>
                    <p:nvPicPr>
                      <p:cNvPr id="13" name="Object 2">
                        <a:extLst>
                          <a:ext uri="{FF2B5EF4-FFF2-40B4-BE49-F238E27FC236}">
                            <a16:creationId xmlns:a16="http://schemas.microsoft.com/office/drawing/2014/main" id="{51AA9BA4-FE9B-BE4C-B814-21E91A4759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0783" y="137754"/>
                        <a:ext cx="76200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1279488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6EC64A-1F68-7243-81CC-935E096D57EB}"/>
              </a:ext>
            </a:extLst>
          </p:cNvPr>
          <p:cNvSpPr>
            <a:spLocks noGrp="1"/>
          </p:cNvSpPr>
          <p:nvPr>
            <p:ph type="title"/>
          </p:nvPr>
        </p:nvSpPr>
        <p:spPr/>
        <p:txBody>
          <a:bodyPr/>
          <a:lstStyle/>
          <a:p>
            <a:r>
              <a:rPr lang="it-IT" dirty="0"/>
              <a:t>Train Linear </a:t>
            </a:r>
            <a:r>
              <a:rPr lang="it-IT" dirty="0" err="1"/>
              <a:t>Perceptron</a:t>
            </a:r>
            <a:endParaRPr lang="it-IT" dirty="0"/>
          </a:p>
        </p:txBody>
      </p:sp>
      <p:graphicFrame>
        <p:nvGraphicFramePr>
          <p:cNvPr id="4" name="Tabella 3">
            <a:extLst>
              <a:ext uri="{FF2B5EF4-FFF2-40B4-BE49-F238E27FC236}">
                <a16:creationId xmlns:a16="http://schemas.microsoft.com/office/drawing/2014/main" id="{0398B540-D1C9-3745-A9F4-F0AF9C7282A6}"/>
              </a:ext>
            </a:extLst>
          </p:cNvPr>
          <p:cNvGraphicFramePr>
            <a:graphicFrameLocks noGrp="1"/>
          </p:cNvGraphicFramePr>
          <p:nvPr/>
        </p:nvGraphicFramePr>
        <p:xfrm>
          <a:off x="3755463" y="1538539"/>
          <a:ext cx="8025320" cy="4820920"/>
        </p:xfrm>
        <a:graphic>
          <a:graphicData uri="http://schemas.openxmlformats.org/drawingml/2006/table">
            <a:tbl>
              <a:tblPr firstRow="1" bandRow="1">
                <a:tableStyleId>{5C22544A-7EE6-4342-B048-85BDC9FD1C3A}</a:tableStyleId>
              </a:tblPr>
              <a:tblGrid>
                <a:gridCol w="802532">
                  <a:extLst>
                    <a:ext uri="{9D8B030D-6E8A-4147-A177-3AD203B41FA5}">
                      <a16:colId xmlns:a16="http://schemas.microsoft.com/office/drawing/2014/main" val="3007943972"/>
                    </a:ext>
                  </a:extLst>
                </a:gridCol>
                <a:gridCol w="802532">
                  <a:extLst>
                    <a:ext uri="{9D8B030D-6E8A-4147-A177-3AD203B41FA5}">
                      <a16:colId xmlns:a16="http://schemas.microsoft.com/office/drawing/2014/main" val="220923671"/>
                    </a:ext>
                  </a:extLst>
                </a:gridCol>
                <a:gridCol w="802532">
                  <a:extLst>
                    <a:ext uri="{9D8B030D-6E8A-4147-A177-3AD203B41FA5}">
                      <a16:colId xmlns:a16="http://schemas.microsoft.com/office/drawing/2014/main" val="1888354542"/>
                    </a:ext>
                  </a:extLst>
                </a:gridCol>
                <a:gridCol w="802532">
                  <a:extLst>
                    <a:ext uri="{9D8B030D-6E8A-4147-A177-3AD203B41FA5}">
                      <a16:colId xmlns:a16="http://schemas.microsoft.com/office/drawing/2014/main" val="4183561819"/>
                    </a:ext>
                  </a:extLst>
                </a:gridCol>
                <a:gridCol w="802532">
                  <a:extLst>
                    <a:ext uri="{9D8B030D-6E8A-4147-A177-3AD203B41FA5}">
                      <a16:colId xmlns:a16="http://schemas.microsoft.com/office/drawing/2014/main" val="2090727010"/>
                    </a:ext>
                  </a:extLst>
                </a:gridCol>
                <a:gridCol w="802532">
                  <a:extLst>
                    <a:ext uri="{9D8B030D-6E8A-4147-A177-3AD203B41FA5}">
                      <a16:colId xmlns:a16="http://schemas.microsoft.com/office/drawing/2014/main" val="1559798696"/>
                    </a:ext>
                  </a:extLst>
                </a:gridCol>
                <a:gridCol w="802532">
                  <a:extLst>
                    <a:ext uri="{9D8B030D-6E8A-4147-A177-3AD203B41FA5}">
                      <a16:colId xmlns:a16="http://schemas.microsoft.com/office/drawing/2014/main" val="3564938619"/>
                    </a:ext>
                  </a:extLst>
                </a:gridCol>
                <a:gridCol w="802532">
                  <a:extLst>
                    <a:ext uri="{9D8B030D-6E8A-4147-A177-3AD203B41FA5}">
                      <a16:colId xmlns:a16="http://schemas.microsoft.com/office/drawing/2014/main" val="2640809818"/>
                    </a:ext>
                  </a:extLst>
                </a:gridCol>
                <a:gridCol w="802532">
                  <a:extLst>
                    <a:ext uri="{9D8B030D-6E8A-4147-A177-3AD203B41FA5}">
                      <a16:colId xmlns:a16="http://schemas.microsoft.com/office/drawing/2014/main" val="4147220622"/>
                    </a:ext>
                  </a:extLst>
                </a:gridCol>
                <a:gridCol w="802532">
                  <a:extLst>
                    <a:ext uri="{9D8B030D-6E8A-4147-A177-3AD203B41FA5}">
                      <a16:colId xmlns:a16="http://schemas.microsoft.com/office/drawing/2014/main" val="1678705754"/>
                    </a:ext>
                  </a:extLst>
                </a:gridCol>
              </a:tblGrid>
              <a:tr h="370840">
                <a:tc>
                  <a:txBody>
                    <a:bodyPr/>
                    <a:lstStyle/>
                    <a:p>
                      <a:pPr algn="ctr"/>
                      <a:r>
                        <a:rPr lang="it-IT" dirty="0" err="1"/>
                        <a:t>it</a:t>
                      </a:r>
                      <a:endParaRPr lang="it-IT" dirty="0"/>
                    </a:p>
                  </a:txBody>
                  <a:tcPr/>
                </a:tc>
                <a:tc>
                  <a:txBody>
                    <a:bodyPr/>
                    <a:lstStyle/>
                    <a:p>
                      <a:pPr algn="ctr"/>
                      <a:r>
                        <a:rPr lang="it-IT" baseline="0" dirty="0"/>
                        <a:t>W</a:t>
                      </a:r>
                      <a:r>
                        <a:rPr lang="it-IT" baseline="-25000" dirty="0"/>
                        <a:t>0</a:t>
                      </a:r>
                    </a:p>
                  </a:txBody>
                  <a:tcPr/>
                </a:tc>
                <a:tc>
                  <a:txBody>
                    <a:bodyPr/>
                    <a:lstStyle/>
                    <a:p>
                      <a:pPr algn="ctr"/>
                      <a:r>
                        <a:rPr lang="it-IT" baseline="0" dirty="0"/>
                        <a:t>W</a:t>
                      </a:r>
                      <a:r>
                        <a:rPr lang="it-IT" baseline="-25000" dirty="0"/>
                        <a:t>1</a:t>
                      </a:r>
                    </a:p>
                  </a:txBody>
                  <a:tcPr/>
                </a:tc>
                <a:tc>
                  <a:txBody>
                    <a:bodyPr/>
                    <a:lstStyle/>
                    <a:p>
                      <a:pPr algn="ctr"/>
                      <a:r>
                        <a:rPr lang="it-IT" baseline="0" dirty="0"/>
                        <a:t>W</a:t>
                      </a:r>
                      <a:r>
                        <a:rPr lang="it-IT" baseline="-25000" dirty="0"/>
                        <a:t>2</a:t>
                      </a:r>
                    </a:p>
                  </a:txBody>
                  <a:tcPr/>
                </a:tc>
                <a:tc>
                  <a:txBody>
                    <a:bodyPr/>
                    <a:lstStyle/>
                    <a:p>
                      <a:pPr algn="ctr"/>
                      <a:r>
                        <a:rPr lang="it-IT" dirty="0"/>
                        <a:t>X.W</a:t>
                      </a:r>
                    </a:p>
                  </a:txBody>
                  <a:tcPr/>
                </a:tc>
                <a:tc>
                  <a:txBody>
                    <a:bodyPr/>
                    <a:lstStyle/>
                    <a:p>
                      <a:pPr algn="ctr"/>
                      <a:r>
                        <a:rPr lang="it-IT" dirty="0" err="1"/>
                        <a:t>f</a:t>
                      </a:r>
                      <a:r>
                        <a:rPr lang="it-IT" dirty="0"/>
                        <a:t>(X.W)</a:t>
                      </a:r>
                    </a:p>
                  </a:txBody>
                  <a:tcPr/>
                </a:tc>
                <a:tc>
                  <a:txBody>
                    <a:bodyPr/>
                    <a:lstStyle/>
                    <a:p>
                      <a:pPr algn="ctr"/>
                      <a:r>
                        <a:rPr lang="it-IT" dirty="0" err="1"/>
                        <a:t>error</a:t>
                      </a:r>
                      <a:endParaRPr lang="it-IT" dirty="0"/>
                    </a:p>
                  </a:txBody>
                  <a:tcPr/>
                </a:tc>
                <a:tc>
                  <a:txBody>
                    <a:bodyPr/>
                    <a:lstStyle/>
                    <a:p>
                      <a:pPr algn="ctr"/>
                      <a:r>
                        <a:rPr lang="it-IT" dirty="0"/>
                        <a:t>delta</a:t>
                      </a:r>
                      <a:r>
                        <a:rPr lang="it-IT" baseline="-25000"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2</a:t>
                      </a:r>
                    </a:p>
                  </a:txBody>
                  <a:tcPr/>
                </a:tc>
                <a:extLst>
                  <a:ext uri="{0D108BD9-81ED-4DB2-BD59-A6C34878D82A}">
                    <a16:rowId xmlns:a16="http://schemas.microsoft.com/office/drawing/2014/main" val="647644152"/>
                  </a:ext>
                </a:extLst>
              </a:tr>
              <a:tr h="370840">
                <a:tc>
                  <a:txBody>
                    <a:bodyPr/>
                    <a:lstStyle/>
                    <a:p>
                      <a:pPr algn="ctr"/>
                      <a:r>
                        <a:rPr lang="it-IT" dirty="0"/>
                        <a:t>1</a:t>
                      </a:r>
                    </a:p>
                  </a:txBody>
                  <a:tcPr/>
                </a:tc>
                <a:tc>
                  <a:txBody>
                    <a:bodyPr/>
                    <a:lstStyle/>
                    <a:p>
                      <a:pPr algn="ctr"/>
                      <a:r>
                        <a:rPr lang="it-IT" dirty="0"/>
                        <a:t>-1</a:t>
                      </a:r>
                    </a:p>
                  </a:txBody>
                  <a:tcPr/>
                </a:tc>
                <a:tc>
                  <a:txBody>
                    <a:bodyPr/>
                    <a:lstStyle/>
                    <a:p>
                      <a:pPr algn="ctr"/>
                      <a:r>
                        <a:rPr lang="it-IT" dirty="0"/>
                        <a:t>0</a:t>
                      </a:r>
                    </a:p>
                  </a:txBody>
                  <a:tcPr/>
                </a:tc>
                <a:tc>
                  <a:txBody>
                    <a:bodyPr/>
                    <a:lstStyle/>
                    <a:p>
                      <a:pPr algn="ctr"/>
                      <a:r>
                        <a:rPr lang="it-IT" dirty="0"/>
                        <a:t>0</a:t>
                      </a:r>
                    </a:p>
                  </a:txBody>
                  <a:tcPr/>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extLst>
                  <a:ext uri="{0D108BD9-81ED-4DB2-BD59-A6C34878D82A}">
                    <a16:rowId xmlns:a16="http://schemas.microsoft.com/office/drawing/2014/main" val="3006406211"/>
                  </a:ext>
                </a:extLst>
              </a:tr>
              <a:tr h="370840">
                <a:tc>
                  <a:txBody>
                    <a:bodyPr/>
                    <a:lstStyle/>
                    <a:p>
                      <a:pPr algn="ctr"/>
                      <a:r>
                        <a:rPr lang="it-IT" dirty="0"/>
                        <a:t>2</a:t>
                      </a:r>
                    </a:p>
                  </a:txBody>
                  <a:tcPr/>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2</a:t>
                      </a:r>
                    </a:p>
                  </a:txBody>
                  <a:tcPr marL="9525" marR="9525" marT="9525" marB="0" anchor="b"/>
                </a:tc>
                <a:tc>
                  <a:txBody>
                    <a:bodyPr/>
                    <a:lstStyle/>
                    <a:p>
                      <a:pPr algn="ctr" fontAlgn="b"/>
                      <a:r>
                        <a:rPr lang="it-IT" sz="1800" kern="1200" dirty="0">
                          <a:solidFill>
                            <a:schemeClr val="dk1"/>
                          </a:solidFill>
                          <a:latin typeface="+mn-lt"/>
                          <a:ea typeface="+mn-ea"/>
                          <a:cs typeface="+mn-cs"/>
                        </a:rPr>
                        <a:t>0.6</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extLst>
                  <a:ext uri="{0D108BD9-81ED-4DB2-BD59-A6C34878D82A}">
                    <a16:rowId xmlns:a16="http://schemas.microsoft.com/office/drawing/2014/main" val="1442248098"/>
                  </a:ext>
                </a:extLst>
              </a:tr>
              <a:tr h="370840">
                <a:tc>
                  <a:txBody>
                    <a:bodyPr/>
                    <a:lstStyle/>
                    <a:p>
                      <a:pPr algn="ctr"/>
                      <a:r>
                        <a:rPr lang="it-IT" dirty="0"/>
                        <a:t>3</a:t>
                      </a:r>
                    </a:p>
                  </a:txBody>
                  <a:tcPr/>
                </a:tc>
                <a:tc>
                  <a:txBody>
                    <a:bodyPr/>
                    <a:lstStyle/>
                    <a:p>
                      <a:pPr algn="ctr" fontAlgn="b"/>
                      <a:r>
                        <a:rPr lang="it-IT" sz="1800" kern="1200" dirty="0">
                          <a:solidFill>
                            <a:schemeClr val="dk1"/>
                          </a:solidFill>
                          <a:latin typeface="+mn-lt"/>
                          <a:ea typeface="+mn-ea"/>
                          <a:cs typeface="+mn-cs"/>
                        </a:rPr>
                        <a:t>-0.4</a:t>
                      </a: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4095835177"/>
                  </a:ext>
                </a:extLst>
              </a:tr>
              <a:tr h="370840">
                <a:tc>
                  <a:txBody>
                    <a:bodyPr/>
                    <a:lstStyle/>
                    <a:p>
                      <a:pPr algn="ctr"/>
                      <a:r>
                        <a:rPr lang="it-IT" dirty="0"/>
                        <a:t>4</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437626370"/>
                  </a:ext>
                </a:extLst>
              </a:tr>
              <a:tr h="370840">
                <a:tc>
                  <a:txBody>
                    <a:bodyPr/>
                    <a:lstStyle/>
                    <a:p>
                      <a:pPr algn="ctr"/>
                      <a:r>
                        <a:rPr lang="it-IT" dirty="0"/>
                        <a:t>5</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3459893937"/>
                  </a:ext>
                </a:extLst>
              </a:tr>
              <a:tr h="370840">
                <a:tc>
                  <a:txBody>
                    <a:bodyPr/>
                    <a:lstStyle/>
                    <a:p>
                      <a:pPr algn="ctr"/>
                      <a:r>
                        <a:rPr lang="it-IT" dirty="0"/>
                        <a:t>6</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26436750"/>
                  </a:ext>
                </a:extLst>
              </a:tr>
              <a:tr h="370840">
                <a:tc>
                  <a:txBody>
                    <a:bodyPr/>
                    <a:lstStyle/>
                    <a:p>
                      <a:pPr algn="ctr"/>
                      <a:r>
                        <a:rPr lang="it-IT" dirty="0"/>
                        <a:t>7</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290132517"/>
                  </a:ext>
                </a:extLst>
              </a:tr>
              <a:tr h="370840">
                <a:tc>
                  <a:txBody>
                    <a:bodyPr/>
                    <a:lstStyle/>
                    <a:p>
                      <a:pPr algn="ctr"/>
                      <a:r>
                        <a:rPr lang="it-IT" dirty="0"/>
                        <a:t>8</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380738723"/>
                  </a:ext>
                </a:extLst>
              </a:tr>
              <a:tr h="370840">
                <a:tc>
                  <a:txBody>
                    <a:bodyPr/>
                    <a:lstStyle/>
                    <a:p>
                      <a:pPr algn="ctr"/>
                      <a:r>
                        <a:rPr lang="it-IT" dirty="0"/>
                        <a:t>9</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19150045"/>
                  </a:ext>
                </a:extLst>
              </a:tr>
              <a:tr h="370840">
                <a:tc>
                  <a:txBody>
                    <a:bodyPr/>
                    <a:lstStyle/>
                    <a:p>
                      <a:pPr algn="ctr"/>
                      <a:r>
                        <a:rPr lang="it-IT" dirty="0"/>
                        <a:t>10</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545436331"/>
                  </a:ext>
                </a:extLst>
              </a:tr>
              <a:tr h="370840">
                <a:tc>
                  <a:txBody>
                    <a:bodyPr/>
                    <a:lstStyle/>
                    <a:p>
                      <a:pPr algn="ctr"/>
                      <a:r>
                        <a:rPr lang="it-IT" dirty="0"/>
                        <a:t>11</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3664168057"/>
                  </a:ext>
                </a:extLst>
              </a:tr>
              <a:tr h="370840">
                <a:tc>
                  <a:txBody>
                    <a:bodyPr/>
                    <a:lstStyle/>
                    <a:p>
                      <a:pPr algn="ctr"/>
                      <a:r>
                        <a:rPr lang="it-IT" dirty="0"/>
                        <a:t>12</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137315494"/>
                  </a:ext>
                </a:extLst>
              </a:tr>
            </a:tbl>
          </a:graphicData>
        </a:graphic>
      </p:graphicFrame>
      <p:sp>
        <p:nvSpPr>
          <p:cNvPr id="5" name="CasellaDiTesto 4">
            <a:extLst>
              <a:ext uri="{FF2B5EF4-FFF2-40B4-BE49-F238E27FC236}">
                <a16:creationId xmlns:a16="http://schemas.microsoft.com/office/drawing/2014/main" id="{1C0D3F40-0FA6-AE4B-B317-31946E90F809}"/>
              </a:ext>
            </a:extLst>
          </p:cNvPr>
          <p:cNvSpPr txBox="1"/>
          <p:nvPr/>
        </p:nvSpPr>
        <p:spPr>
          <a:xfrm>
            <a:off x="1138723" y="3402142"/>
            <a:ext cx="1444626" cy="369332"/>
          </a:xfrm>
          <a:prstGeom prst="rect">
            <a:avLst/>
          </a:prstGeom>
          <a:noFill/>
        </p:spPr>
        <p:txBody>
          <a:bodyPr wrap="none" rtlCol="0">
            <a:spAutoFit/>
          </a:bodyPr>
          <a:lstStyle/>
          <a:p>
            <a:r>
              <a:rPr lang="it-IT" dirty="0"/>
              <a:t>Lambda = 0.3</a:t>
            </a:r>
          </a:p>
        </p:txBody>
      </p:sp>
      <p:graphicFrame>
        <p:nvGraphicFramePr>
          <p:cNvPr id="6" name="Tabella 5">
            <a:extLst>
              <a:ext uri="{FF2B5EF4-FFF2-40B4-BE49-F238E27FC236}">
                <a16:creationId xmlns:a16="http://schemas.microsoft.com/office/drawing/2014/main" id="{58620517-8327-5E49-9C6A-8EB32CC9A36C}"/>
              </a:ext>
            </a:extLst>
          </p:cNvPr>
          <p:cNvGraphicFramePr>
            <a:graphicFrameLocks noGrp="1"/>
          </p:cNvGraphicFramePr>
          <p:nvPr/>
        </p:nvGraphicFramePr>
        <p:xfrm>
          <a:off x="994947" y="1608113"/>
          <a:ext cx="2086476" cy="1483360"/>
        </p:xfrm>
        <a:graphic>
          <a:graphicData uri="http://schemas.openxmlformats.org/drawingml/2006/table">
            <a:tbl>
              <a:tblPr firstRow="1" bandRow="1">
                <a:tableStyleId>{5C22544A-7EE6-4342-B048-85BDC9FD1C3A}</a:tableStyleId>
              </a:tblPr>
              <a:tblGrid>
                <a:gridCol w="521619">
                  <a:extLst>
                    <a:ext uri="{9D8B030D-6E8A-4147-A177-3AD203B41FA5}">
                      <a16:colId xmlns:a16="http://schemas.microsoft.com/office/drawing/2014/main" val="3007943972"/>
                    </a:ext>
                  </a:extLst>
                </a:gridCol>
                <a:gridCol w="521619">
                  <a:extLst>
                    <a:ext uri="{9D8B030D-6E8A-4147-A177-3AD203B41FA5}">
                      <a16:colId xmlns:a16="http://schemas.microsoft.com/office/drawing/2014/main" val="220923671"/>
                    </a:ext>
                  </a:extLst>
                </a:gridCol>
                <a:gridCol w="521619">
                  <a:extLst>
                    <a:ext uri="{9D8B030D-6E8A-4147-A177-3AD203B41FA5}">
                      <a16:colId xmlns:a16="http://schemas.microsoft.com/office/drawing/2014/main" val="1888354542"/>
                    </a:ext>
                  </a:extLst>
                </a:gridCol>
                <a:gridCol w="521619">
                  <a:extLst>
                    <a:ext uri="{9D8B030D-6E8A-4147-A177-3AD203B41FA5}">
                      <a16:colId xmlns:a16="http://schemas.microsoft.com/office/drawing/2014/main" val="2090727010"/>
                    </a:ext>
                  </a:extLst>
                </a:gridCol>
              </a:tblGrid>
              <a:tr h="370840">
                <a:tc>
                  <a:txBody>
                    <a:bodyPr/>
                    <a:lstStyle/>
                    <a:p>
                      <a:pPr algn="ctr"/>
                      <a:r>
                        <a:rPr lang="it-IT" dirty="0"/>
                        <a:t>id</a:t>
                      </a:r>
                    </a:p>
                  </a:txBody>
                  <a:tcPr/>
                </a:tc>
                <a:tc>
                  <a:txBody>
                    <a:bodyPr/>
                    <a:lstStyle/>
                    <a:p>
                      <a:pPr algn="ctr"/>
                      <a:r>
                        <a:rPr lang="it-IT" dirty="0"/>
                        <a:t>X</a:t>
                      </a:r>
                      <a:r>
                        <a:rPr lang="it-IT" baseline="-25000" dirty="0"/>
                        <a:t>1</a:t>
                      </a:r>
                    </a:p>
                  </a:txBody>
                  <a:tcPr/>
                </a:tc>
                <a:tc>
                  <a:txBody>
                    <a:bodyPr/>
                    <a:lstStyle/>
                    <a:p>
                      <a:pPr algn="ctr"/>
                      <a:r>
                        <a:rPr lang="it-IT" dirty="0"/>
                        <a:t>X</a:t>
                      </a:r>
                      <a:r>
                        <a:rPr lang="it-IT" baseline="-25000" dirty="0"/>
                        <a:t>2</a:t>
                      </a:r>
                      <a:endParaRPr lang="it-IT" dirty="0"/>
                    </a:p>
                  </a:txBody>
                  <a:tcPr/>
                </a:tc>
                <a:tc>
                  <a:txBody>
                    <a:bodyPr/>
                    <a:lstStyle/>
                    <a:p>
                      <a:pPr algn="ctr"/>
                      <a:r>
                        <a:rPr lang="it-IT" dirty="0"/>
                        <a:t>Y</a:t>
                      </a:r>
                    </a:p>
                  </a:txBody>
                  <a:tcPr/>
                </a:tc>
                <a:extLst>
                  <a:ext uri="{0D108BD9-81ED-4DB2-BD59-A6C34878D82A}">
                    <a16:rowId xmlns:a16="http://schemas.microsoft.com/office/drawing/2014/main" val="647644152"/>
                  </a:ext>
                </a:extLst>
              </a:tr>
              <a:tr h="370840">
                <a:tc>
                  <a:txBody>
                    <a:bodyPr/>
                    <a:lstStyle/>
                    <a:p>
                      <a:pPr algn="ctr"/>
                      <a:r>
                        <a:rPr lang="it-IT" dirty="0"/>
                        <a:t>a</a:t>
                      </a:r>
                    </a:p>
                  </a:txBody>
                  <a:tcPr/>
                </a:tc>
                <a:tc>
                  <a:txBody>
                    <a:bodyPr/>
                    <a:lstStyle/>
                    <a:p>
                      <a:pPr algn="ctr"/>
                      <a:r>
                        <a:rPr lang="it-IT" dirty="0"/>
                        <a:t>0</a:t>
                      </a:r>
                    </a:p>
                  </a:txBody>
                  <a:tcPr/>
                </a:tc>
                <a:tc>
                  <a:txBody>
                    <a:bodyPr/>
                    <a:lstStyle/>
                    <a:p>
                      <a:pPr algn="ctr"/>
                      <a:r>
                        <a:rPr lang="it-IT" dirty="0"/>
                        <a:t>1</a:t>
                      </a:r>
                    </a:p>
                  </a:txBody>
                  <a:tcPr/>
                </a:tc>
                <a:tc>
                  <a:txBody>
                    <a:bodyPr/>
                    <a:lstStyle/>
                    <a:p>
                      <a:pPr algn="ctr"/>
                      <a:r>
                        <a:rPr lang="it-IT" dirty="0"/>
                        <a:t>-1</a:t>
                      </a:r>
                    </a:p>
                  </a:txBody>
                  <a:tcPr/>
                </a:tc>
                <a:extLst>
                  <a:ext uri="{0D108BD9-81ED-4DB2-BD59-A6C34878D82A}">
                    <a16:rowId xmlns:a16="http://schemas.microsoft.com/office/drawing/2014/main" val="3006406211"/>
                  </a:ext>
                </a:extLst>
              </a:tr>
              <a:tr h="370840">
                <a:tc>
                  <a:txBody>
                    <a:bodyPr/>
                    <a:lstStyle/>
                    <a:p>
                      <a:pPr algn="ctr"/>
                      <a:r>
                        <a:rPr lang="it-IT" dirty="0"/>
                        <a:t>b</a:t>
                      </a:r>
                    </a:p>
                  </a:txBody>
                  <a:tcPr/>
                </a:tc>
                <a:tc>
                  <a:txBody>
                    <a:bodyPr/>
                    <a:lstStyle/>
                    <a:p>
                      <a:pPr algn="ctr"/>
                      <a:r>
                        <a:rPr lang="it-IT" dirty="0"/>
                        <a:t>0</a:t>
                      </a:r>
                    </a:p>
                  </a:txBody>
                  <a:tcPr/>
                </a:tc>
                <a:tc>
                  <a:txBody>
                    <a:bodyPr/>
                    <a:lstStyle/>
                    <a:p>
                      <a:pPr algn="ctr"/>
                      <a:r>
                        <a:rPr lang="it-IT" dirty="0"/>
                        <a:t>0</a:t>
                      </a:r>
                    </a:p>
                  </a:txBody>
                  <a:tcPr/>
                </a:tc>
                <a:tc>
                  <a:txBody>
                    <a:bodyPr/>
                    <a:lstStyle/>
                    <a:p>
                      <a:pPr algn="ctr"/>
                      <a:r>
                        <a:rPr lang="it-IT" dirty="0"/>
                        <a:t>1</a:t>
                      </a:r>
                    </a:p>
                  </a:txBody>
                  <a:tcPr/>
                </a:tc>
                <a:extLst>
                  <a:ext uri="{0D108BD9-81ED-4DB2-BD59-A6C34878D82A}">
                    <a16:rowId xmlns:a16="http://schemas.microsoft.com/office/drawing/2014/main" val="1442248098"/>
                  </a:ext>
                </a:extLst>
              </a:tr>
              <a:tr h="370840">
                <a:tc>
                  <a:txBody>
                    <a:bodyPr/>
                    <a:lstStyle/>
                    <a:p>
                      <a:pPr algn="ctr"/>
                      <a:r>
                        <a:rPr lang="it-IT" dirty="0"/>
                        <a:t>c</a:t>
                      </a:r>
                    </a:p>
                  </a:txBody>
                  <a:tcPr/>
                </a:tc>
                <a:tc>
                  <a:txBody>
                    <a:bodyPr/>
                    <a:lstStyle/>
                    <a:p>
                      <a:pPr algn="ctr"/>
                      <a:r>
                        <a:rPr lang="it-IT" dirty="0"/>
                        <a:t>1</a:t>
                      </a:r>
                    </a:p>
                  </a:txBody>
                  <a:tcPr/>
                </a:tc>
                <a:tc>
                  <a:txBody>
                    <a:bodyPr/>
                    <a:lstStyle/>
                    <a:p>
                      <a:pPr algn="ctr"/>
                      <a:r>
                        <a:rPr lang="it-IT" dirty="0"/>
                        <a:t>2</a:t>
                      </a:r>
                    </a:p>
                  </a:txBody>
                  <a:tcPr/>
                </a:tc>
                <a:tc>
                  <a:txBody>
                    <a:bodyPr/>
                    <a:lstStyle/>
                    <a:p>
                      <a:pPr algn="ctr"/>
                      <a:r>
                        <a:rPr lang="it-IT" dirty="0"/>
                        <a:t>-1</a:t>
                      </a:r>
                    </a:p>
                  </a:txBody>
                  <a:tcPr/>
                </a:tc>
                <a:extLst>
                  <a:ext uri="{0D108BD9-81ED-4DB2-BD59-A6C34878D82A}">
                    <a16:rowId xmlns:a16="http://schemas.microsoft.com/office/drawing/2014/main" val="4095835177"/>
                  </a:ext>
                </a:extLst>
              </a:tr>
            </a:tbl>
          </a:graphicData>
        </a:graphic>
      </p:graphicFrame>
      <p:sp>
        <p:nvSpPr>
          <p:cNvPr id="7" name="CasellaDiTesto 6">
            <a:extLst>
              <a:ext uri="{FF2B5EF4-FFF2-40B4-BE49-F238E27FC236}">
                <a16:creationId xmlns:a16="http://schemas.microsoft.com/office/drawing/2014/main" id="{927C77E6-5F33-8046-9F2E-9975A8958726}"/>
              </a:ext>
            </a:extLst>
          </p:cNvPr>
          <p:cNvSpPr txBox="1"/>
          <p:nvPr/>
        </p:nvSpPr>
        <p:spPr>
          <a:xfrm>
            <a:off x="1436079" y="3840407"/>
            <a:ext cx="849913" cy="369332"/>
          </a:xfrm>
          <a:prstGeom prst="rect">
            <a:avLst/>
          </a:prstGeom>
          <a:noFill/>
        </p:spPr>
        <p:txBody>
          <a:bodyPr wrap="none" rtlCol="0">
            <a:spAutoFit/>
          </a:bodyPr>
          <a:lstStyle/>
          <a:p>
            <a:r>
              <a:rPr lang="it-IT" dirty="0"/>
              <a:t>f = </a:t>
            </a:r>
            <a:r>
              <a:rPr lang="it-IT" dirty="0" err="1"/>
              <a:t>sign</a:t>
            </a:r>
            <a:endParaRPr lang="it-IT" dirty="0"/>
          </a:p>
        </p:txBody>
      </p:sp>
      <p:cxnSp>
        <p:nvCxnSpPr>
          <p:cNvPr id="13" name="Connettore 2 12">
            <a:extLst>
              <a:ext uri="{FF2B5EF4-FFF2-40B4-BE49-F238E27FC236}">
                <a16:creationId xmlns:a16="http://schemas.microsoft.com/office/drawing/2014/main" id="{FEFB740C-A899-3648-9FEC-0C38A33DA475}"/>
              </a:ext>
            </a:extLst>
          </p:cNvPr>
          <p:cNvCxnSpPr>
            <a:cxnSpLocks/>
          </p:cNvCxnSpPr>
          <p:nvPr/>
        </p:nvCxnSpPr>
        <p:spPr>
          <a:xfrm flipV="1">
            <a:off x="5109210" y="2503170"/>
            <a:ext cx="4434840" cy="377190"/>
          </a:xfrm>
          <a:prstGeom prst="straightConnector1">
            <a:avLst/>
          </a:prstGeom>
          <a:ln w="28575">
            <a:solidFill>
              <a:schemeClr val="accent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4" name="Connettore 2 13">
            <a:extLst>
              <a:ext uri="{FF2B5EF4-FFF2-40B4-BE49-F238E27FC236}">
                <a16:creationId xmlns:a16="http://schemas.microsoft.com/office/drawing/2014/main" id="{B6C30D50-5321-EB4E-9DE0-78E970482FC2}"/>
              </a:ext>
            </a:extLst>
          </p:cNvPr>
          <p:cNvCxnSpPr>
            <a:cxnSpLocks/>
          </p:cNvCxnSpPr>
          <p:nvPr/>
        </p:nvCxnSpPr>
        <p:spPr>
          <a:xfrm>
            <a:off x="5109210" y="2503170"/>
            <a:ext cx="4434840"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9" name="Object 2">
            <a:extLst>
              <a:ext uri="{FF2B5EF4-FFF2-40B4-BE49-F238E27FC236}">
                <a16:creationId xmlns:a16="http://schemas.microsoft.com/office/drawing/2014/main" id="{BBDB3560-BEEC-0C45-B4A4-80889B210162}"/>
              </a:ext>
            </a:extLst>
          </p:cNvPr>
          <p:cNvGraphicFramePr>
            <a:graphicFrameLocks noChangeAspect="1"/>
          </p:cNvGraphicFramePr>
          <p:nvPr/>
        </p:nvGraphicFramePr>
        <p:xfrm>
          <a:off x="4160783" y="137754"/>
          <a:ext cx="7620000" cy="555625"/>
        </p:xfrm>
        <a:graphic>
          <a:graphicData uri="http://schemas.openxmlformats.org/presentationml/2006/ole">
            <mc:AlternateContent xmlns:mc="http://schemas.openxmlformats.org/markup-compatibility/2006">
              <mc:Choice xmlns:v="urn:schemas-microsoft-com:vml" Requires="v">
                <p:oleObj name="Equation" r:id="rId2" imgW="3213100" imgH="241300" progId="Equation.3">
                  <p:embed/>
                </p:oleObj>
              </mc:Choice>
              <mc:Fallback>
                <p:oleObj name="Equation" r:id="rId2" imgW="3213100" imgH="241300" progId="Equation.3">
                  <p:embed/>
                  <p:pic>
                    <p:nvPicPr>
                      <p:cNvPr id="9" name="Object 2">
                        <a:extLst>
                          <a:ext uri="{FF2B5EF4-FFF2-40B4-BE49-F238E27FC236}">
                            <a16:creationId xmlns:a16="http://schemas.microsoft.com/office/drawing/2014/main" id="{BBDB3560-BEEC-0C45-B4A4-80889B2101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0783" y="137754"/>
                        <a:ext cx="76200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481973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6EC64A-1F68-7243-81CC-935E096D57EB}"/>
              </a:ext>
            </a:extLst>
          </p:cNvPr>
          <p:cNvSpPr>
            <a:spLocks noGrp="1"/>
          </p:cNvSpPr>
          <p:nvPr>
            <p:ph type="title"/>
          </p:nvPr>
        </p:nvSpPr>
        <p:spPr/>
        <p:txBody>
          <a:bodyPr/>
          <a:lstStyle/>
          <a:p>
            <a:r>
              <a:rPr lang="it-IT" dirty="0"/>
              <a:t>Train Linear </a:t>
            </a:r>
            <a:r>
              <a:rPr lang="it-IT" dirty="0" err="1"/>
              <a:t>Perceptron</a:t>
            </a:r>
            <a:endParaRPr lang="it-IT" dirty="0"/>
          </a:p>
        </p:txBody>
      </p:sp>
      <p:graphicFrame>
        <p:nvGraphicFramePr>
          <p:cNvPr id="4" name="Tabella 3">
            <a:extLst>
              <a:ext uri="{FF2B5EF4-FFF2-40B4-BE49-F238E27FC236}">
                <a16:creationId xmlns:a16="http://schemas.microsoft.com/office/drawing/2014/main" id="{0398B540-D1C9-3745-A9F4-F0AF9C7282A6}"/>
              </a:ext>
            </a:extLst>
          </p:cNvPr>
          <p:cNvGraphicFramePr>
            <a:graphicFrameLocks noGrp="1"/>
          </p:cNvGraphicFramePr>
          <p:nvPr/>
        </p:nvGraphicFramePr>
        <p:xfrm>
          <a:off x="3755463" y="1538539"/>
          <a:ext cx="8025320" cy="4820920"/>
        </p:xfrm>
        <a:graphic>
          <a:graphicData uri="http://schemas.openxmlformats.org/drawingml/2006/table">
            <a:tbl>
              <a:tblPr firstRow="1" bandRow="1">
                <a:tableStyleId>{5C22544A-7EE6-4342-B048-85BDC9FD1C3A}</a:tableStyleId>
              </a:tblPr>
              <a:tblGrid>
                <a:gridCol w="802532">
                  <a:extLst>
                    <a:ext uri="{9D8B030D-6E8A-4147-A177-3AD203B41FA5}">
                      <a16:colId xmlns:a16="http://schemas.microsoft.com/office/drawing/2014/main" val="3007943972"/>
                    </a:ext>
                  </a:extLst>
                </a:gridCol>
                <a:gridCol w="802532">
                  <a:extLst>
                    <a:ext uri="{9D8B030D-6E8A-4147-A177-3AD203B41FA5}">
                      <a16:colId xmlns:a16="http://schemas.microsoft.com/office/drawing/2014/main" val="220923671"/>
                    </a:ext>
                  </a:extLst>
                </a:gridCol>
                <a:gridCol w="802532">
                  <a:extLst>
                    <a:ext uri="{9D8B030D-6E8A-4147-A177-3AD203B41FA5}">
                      <a16:colId xmlns:a16="http://schemas.microsoft.com/office/drawing/2014/main" val="1888354542"/>
                    </a:ext>
                  </a:extLst>
                </a:gridCol>
                <a:gridCol w="802532">
                  <a:extLst>
                    <a:ext uri="{9D8B030D-6E8A-4147-A177-3AD203B41FA5}">
                      <a16:colId xmlns:a16="http://schemas.microsoft.com/office/drawing/2014/main" val="4183561819"/>
                    </a:ext>
                  </a:extLst>
                </a:gridCol>
                <a:gridCol w="802532">
                  <a:extLst>
                    <a:ext uri="{9D8B030D-6E8A-4147-A177-3AD203B41FA5}">
                      <a16:colId xmlns:a16="http://schemas.microsoft.com/office/drawing/2014/main" val="2090727010"/>
                    </a:ext>
                  </a:extLst>
                </a:gridCol>
                <a:gridCol w="802532">
                  <a:extLst>
                    <a:ext uri="{9D8B030D-6E8A-4147-A177-3AD203B41FA5}">
                      <a16:colId xmlns:a16="http://schemas.microsoft.com/office/drawing/2014/main" val="1559798696"/>
                    </a:ext>
                  </a:extLst>
                </a:gridCol>
                <a:gridCol w="802532">
                  <a:extLst>
                    <a:ext uri="{9D8B030D-6E8A-4147-A177-3AD203B41FA5}">
                      <a16:colId xmlns:a16="http://schemas.microsoft.com/office/drawing/2014/main" val="3564938619"/>
                    </a:ext>
                  </a:extLst>
                </a:gridCol>
                <a:gridCol w="802532">
                  <a:extLst>
                    <a:ext uri="{9D8B030D-6E8A-4147-A177-3AD203B41FA5}">
                      <a16:colId xmlns:a16="http://schemas.microsoft.com/office/drawing/2014/main" val="2640809818"/>
                    </a:ext>
                  </a:extLst>
                </a:gridCol>
                <a:gridCol w="802532">
                  <a:extLst>
                    <a:ext uri="{9D8B030D-6E8A-4147-A177-3AD203B41FA5}">
                      <a16:colId xmlns:a16="http://schemas.microsoft.com/office/drawing/2014/main" val="4147220622"/>
                    </a:ext>
                  </a:extLst>
                </a:gridCol>
                <a:gridCol w="802532">
                  <a:extLst>
                    <a:ext uri="{9D8B030D-6E8A-4147-A177-3AD203B41FA5}">
                      <a16:colId xmlns:a16="http://schemas.microsoft.com/office/drawing/2014/main" val="1678705754"/>
                    </a:ext>
                  </a:extLst>
                </a:gridCol>
              </a:tblGrid>
              <a:tr h="370840">
                <a:tc>
                  <a:txBody>
                    <a:bodyPr/>
                    <a:lstStyle/>
                    <a:p>
                      <a:pPr algn="ctr"/>
                      <a:r>
                        <a:rPr lang="it-IT" dirty="0" err="1"/>
                        <a:t>it</a:t>
                      </a:r>
                      <a:endParaRPr lang="it-IT" dirty="0"/>
                    </a:p>
                  </a:txBody>
                  <a:tcPr/>
                </a:tc>
                <a:tc>
                  <a:txBody>
                    <a:bodyPr/>
                    <a:lstStyle/>
                    <a:p>
                      <a:pPr algn="ctr"/>
                      <a:r>
                        <a:rPr lang="it-IT" baseline="0" dirty="0"/>
                        <a:t>W</a:t>
                      </a:r>
                      <a:r>
                        <a:rPr lang="it-IT" baseline="-25000" dirty="0"/>
                        <a:t>0</a:t>
                      </a:r>
                    </a:p>
                  </a:txBody>
                  <a:tcPr/>
                </a:tc>
                <a:tc>
                  <a:txBody>
                    <a:bodyPr/>
                    <a:lstStyle/>
                    <a:p>
                      <a:pPr algn="ctr"/>
                      <a:r>
                        <a:rPr lang="it-IT" baseline="0" dirty="0"/>
                        <a:t>W</a:t>
                      </a:r>
                      <a:r>
                        <a:rPr lang="it-IT" baseline="-25000" dirty="0"/>
                        <a:t>1</a:t>
                      </a:r>
                    </a:p>
                  </a:txBody>
                  <a:tcPr/>
                </a:tc>
                <a:tc>
                  <a:txBody>
                    <a:bodyPr/>
                    <a:lstStyle/>
                    <a:p>
                      <a:pPr algn="ctr"/>
                      <a:r>
                        <a:rPr lang="it-IT" baseline="0" dirty="0"/>
                        <a:t>W</a:t>
                      </a:r>
                      <a:r>
                        <a:rPr lang="it-IT" baseline="-25000" dirty="0"/>
                        <a:t>2</a:t>
                      </a:r>
                    </a:p>
                  </a:txBody>
                  <a:tcPr/>
                </a:tc>
                <a:tc>
                  <a:txBody>
                    <a:bodyPr/>
                    <a:lstStyle/>
                    <a:p>
                      <a:pPr algn="ctr"/>
                      <a:r>
                        <a:rPr lang="it-IT" dirty="0"/>
                        <a:t>X.W</a:t>
                      </a:r>
                    </a:p>
                  </a:txBody>
                  <a:tcPr/>
                </a:tc>
                <a:tc>
                  <a:txBody>
                    <a:bodyPr/>
                    <a:lstStyle/>
                    <a:p>
                      <a:pPr algn="ctr"/>
                      <a:r>
                        <a:rPr lang="it-IT" dirty="0" err="1"/>
                        <a:t>f</a:t>
                      </a:r>
                      <a:r>
                        <a:rPr lang="it-IT" dirty="0"/>
                        <a:t>(X.W)</a:t>
                      </a:r>
                    </a:p>
                  </a:txBody>
                  <a:tcPr/>
                </a:tc>
                <a:tc>
                  <a:txBody>
                    <a:bodyPr/>
                    <a:lstStyle/>
                    <a:p>
                      <a:pPr algn="ctr"/>
                      <a:r>
                        <a:rPr lang="it-IT" dirty="0" err="1"/>
                        <a:t>error</a:t>
                      </a:r>
                      <a:endParaRPr lang="it-IT" dirty="0"/>
                    </a:p>
                  </a:txBody>
                  <a:tcPr/>
                </a:tc>
                <a:tc>
                  <a:txBody>
                    <a:bodyPr/>
                    <a:lstStyle/>
                    <a:p>
                      <a:pPr algn="ctr"/>
                      <a:r>
                        <a:rPr lang="it-IT" dirty="0"/>
                        <a:t>delta</a:t>
                      </a:r>
                      <a:r>
                        <a:rPr lang="it-IT" baseline="-25000"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2</a:t>
                      </a:r>
                    </a:p>
                  </a:txBody>
                  <a:tcPr/>
                </a:tc>
                <a:extLst>
                  <a:ext uri="{0D108BD9-81ED-4DB2-BD59-A6C34878D82A}">
                    <a16:rowId xmlns:a16="http://schemas.microsoft.com/office/drawing/2014/main" val="647644152"/>
                  </a:ext>
                </a:extLst>
              </a:tr>
              <a:tr h="370840">
                <a:tc>
                  <a:txBody>
                    <a:bodyPr/>
                    <a:lstStyle/>
                    <a:p>
                      <a:pPr algn="ctr"/>
                      <a:r>
                        <a:rPr lang="it-IT" dirty="0"/>
                        <a:t>1</a:t>
                      </a:r>
                    </a:p>
                  </a:txBody>
                  <a:tcPr/>
                </a:tc>
                <a:tc>
                  <a:txBody>
                    <a:bodyPr/>
                    <a:lstStyle/>
                    <a:p>
                      <a:pPr algn="ctr"/>
                      <a:r>
                        <a:rPr lang="it-IT" dirty="0"/>
                        <a:t>-1</a:t>
                      </a:r>
                    </a:p>
                  </a:txBody>
                  <a:tcPr/>
                </a:tc>
                <a:tc>
                  <a:txBody>
                    <a:bodyPr/>
                    <a:lstStyle/>
                    <a:p>
                      <a:pPr algn="ctr"/>
                      <a:r>
                        <a:rPr lang="it-IT" dirty="0"/>
                        <a:t>0</a:t>
                      </a:r>
                    </a:p>
                  </a:txBody>
                  <a:tcPr/>
                </a:tc>
                <a:tc>
                  <a:txBody>
                    <a:bodyPr/>
                    <a:lstStyle/>
                    <a:p>
                      <a:pPr algn="ctr"/>
                      <a:r>
                        <a:rPr lang="it-IT" dirty="0"/>
                        <a:t>0</a:t>
                      </a:r>
                    </a:p>
                  </a:txBody>
                  <a:tcPr/>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extLst>
                  <a:ext uri="{0D108BD9-81ED-4DB2-BD59-A6C34878D82A}">
                    <a16:rowId xmlns:a16="http://schemas.microsoft.com/office/drawing/2014/main" val="3006406211"/>
                  </a:ext>
                </a:extLst>
              </a:tr>
              <a:tr h="370840">
                <a:tc>
                  <a:txBody>
                    <a:bodyPr/>
                    <a:lstStyle/>
                    <a:p>
                      <a:pPr algn="ctr"/>
                      <a:r>
                        <a:rPr lang="it-IT" dirty="0"/>
                        <a:t>2</a:t>
                      </a:r>
                    </a:p>
                  </a:txBody>
                  <a:tcPr/>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2</a:t>
                      </a:r>
                    </a:p>
                  </a:txBody>
                  <a:tcPr marL="9525" marR="9525" marT="9525" marB="0" anchor="b"/>
                </a:tc>
                <a:tc>
                  <a:txBody>
                    <a:bodyPr/>
                    <a:lstStyle/>
                    <a:p>
                      <a:pPr algn="ctr" fontAlgn="b"/>
                      <a:r>
                        <a:rPr lang="it-IT" sz="1800" kern="1200" dirty="0">
                          <a:solidFill>
                            <a:schemeClr val="dk1"/>
                          </a:solidFill>
                          <a:latin typeface="+mn-lt"/>
                          <a:ea typeface="+mn-ea"/>
                          <a:cs typeface="+mn-cs"/>
                        </a:rPr>
                        <a:t>0.6</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extLst>
                  <a:ext uri="{0D108BD9-81ED-4DB2-BD59-A6C34878D82A}">
                    <a16:rowId xmlns:a16="http://schemas.microsoft.com/office/drawing/2014/main" val="1442248098"/>
                  </a:ext>
                </a:extLst>
              </a:tr>
              <a:tr h="370840">
                <a:tc>
                  <a:txBody>
                    <a:bodyPr/>
                    <a:lstStyle/>
                    <a:p>
                      <a:pPr algn="ctr"/>
                      <a:r>
                        <a:rPr lang="it-IT" dirty="0"/>
                        <a:t>3</a:t>
                      </a:r>
                    </a:p>
                  </a:txBody>
                  <a:tcPr/>
                </a:tc>
                <a:tc>
                  <a:txBody>
                    <a:bodyPr/>
                    <a:lstStyle/>
                    <a:p>
                      <a:pPr algn="ctr" fontAlgn="b"/>
                      <a:r>
                        <a:rPr lang="it-IT" sz="1800" kern="1200" dirty="0">
                          <a:solidFill>
                            <a:schemeClr val="dk1"/>
                          </a:solidFill>
                          <a:latin typeface="+mn-lt"/>
                          <a:ea typeface="+mn-ea"/>
                          <a:cs typeface="+mn-cs"/>
                        </a:rPr>
                        <a:t>-0.4</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4095835177"/>
                  </a:ext>
                </a:extLst>
              </a:tr>
              <a:tr h="370840">
                <a:tc>
                  <a:txBody>
                    <a:bodyPr/>
                    <a:lstStyle/>
                    <a:p>
                      <a:pPr algn="ctr"/>
                      <a:r>
                        <a:rPr lang="it-IT" dirty="0"/>
                        <a:t>4</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437626370"/>
                  </a:ext>
                </a:extLst>
              </a:tr>
              <a:tr h="370840">
                <a:tc>
                  <a:txBody>
                    <a:bodyPr/>
                    <a:lstStyle/>
                    <a:p>
                      <a:pPr algn="ctr"/>
                      <a:r>
                        <a:rPr lang="it-IT" dirty="0"/>
                        <a:t>5</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3459893937"/>
                  </a:ext>
                </a:extLst>
              </a:tr>
              <a:tr h="370840">
                <a:tc>
                  <a:txBody>
                    <a:bodyPr/>
                    <a:lstStyle/>
                    <a:p>
                      <a:pPr algn="ctr"/>
                      <a:r>
                        <a:rPr lang="it-IT" dirty="0"/>
                        <a:t>6</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26436750"/>
                  </a:ext>
                </a:extLst>
              </a:tr>
              <a:tr h="370840">
                <a:tc>
                  <a:txBody>
                    <a:bodyPr/>
                    <a:lstStyle/>
                    <a:p>
                      <a:pPr algn="ctr"/>
                      <a:r>
                        <a:rPr lang="it-IT" dirty="0"/>
                        <a:t>7</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290132517"/>
                  </a:ext>
                </a:extLst>
              </a:tr>
              <a:tr h="370840">
                <a:tc>
                  <a:txBody>
                    <a:bodyPr/>
                    <a:lstStyle/>
                    <a:p>
                      <a:pPr algn="ctr"/>
                      <a:r>
                        <a:rPr lang="it-IT" dirty="0"/>
                        <a:t>8</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1380738723"/>
                  </a:ext>
                </a:extLst>
              </a:tr>
              <a:tr h="370840">
                <a:tc>
                  <a:txBody>
                    <a:bodyPr/>
                    <a:lstStyle/>
                    <a:p>
                      <a:pPr algn="ctr"/>
                      <a:r>
                        <a:rPr lang="it-IT" dirty="0"/>
                        <a:t>9</a:t>
                      </a:r>
                    </a:p>
                  </a:txBody>
                  <a:tcPr/>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a:solidFill>
                          <a:schemeClr val="dk1"/>
                        </a:solidFill>
                        <a:latin typeface="+mn-lt"/>
                        <a:ea typeface="+mn-ea"/>
                        <a:cs typeface="+mn-cs"/>
                      </a:endParaRPr>
                    </a:p>
                  </a:txBody>
                  <a:tcPr marL="9525" marR="9525" marT="9525" marB="0" anchor="b"/>
                </a:tc>
                <a:tc>
                  <a:txBody>
                    <a:bodyPr/>
                    <a:lstStyle/>
                    <a:p>
                      <a:pPr algn="ctr" fontAlgn="b"/>
                      <a:endParaRPr lang="it-IT" sz="1800" kern="1200" dirty="0">
                        <a:solidFill>
                          <a:schemeClr val="dk1"/>
                        </a:solidFill>
                        <a:latin typeface="+mn-lt"/>
                        <a:ea typeface="+mn-ea"/>
                        <a:cs typeface="+mn-cs"/>
                      </a:endParaRPr>
                    </a:p>
                  </a:txBody>
                  <a:tcPr marL="9525" marR="9525" marT="9525" marB="0" anchor="b"/>
                </a:tc>
                <a:extLst>
                  <a:ext uri="{0D108BD9-81ED-4DB2-BD59-A6C34878D82A}">
                    <a16:rowId xmlns:a16="http://schemas.microsoft.com/office/drawing/2014/main" val="2119150045"/>
                  </a:ext>
                </a:extLst>
              </a:tr>
              <a:tr h="370840">
                <a:tc>
                  <a:txBody>
                    <a:bodyPr/>
                    <a:lstStyle/>
                    <a:p>
                      <a:pPr algn="ctr"/>
                      <a:r>
                        <a:rPr lang="it-IT" dirty="0"/>
                        <a:t>10</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545436331"/>
                  </a:ext>
                </a:extLst>
              </a:tr>
              <a:tr h="370840">
                <a:tc>
                  <a:txBody>
                    <a:bodyPr/>
                    <a:lstStyle/>
                    <a:p>
                      <a:pPr algn="ctr"/>
                      <a:r>
                        <a:rPr lang="it-IT" dirty="0"/>
                        <a:t>11</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3664168057"/>
                  </a:ext>
                </a:extLst>
              </a:tr>
              <a:tr h="370840">
                <a:tc>
                  <a:txBody>
                    <a:bodyPr/>
                    <a:lstStyle/>
                    <a:p>
                      <a:pPr algn="ctr"/>
                      <a:r>
                        <a:rPr lang="it-IT" dirty="0"/>
                        <a:t>12</a:t>
                      </a:r>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tc>
                  <a:txBody>
                    <a:bodyPr/>
                    <a:lstStyle/>
                    <a:p>
                      <a:pPr algn="ctr"/>
                      <a:endParaRPr lang="it-IT" dirty="0"/>
                    </a:p>
                  </a:txBody>
                  <a:tcPr/>
                </a:tc>
                <a:extLst>
                  <a:ext uri="{0D108BD9-81ED-4DB2-BD59-A6C34878D82A}">
                    <a16:rowId xmlns:a16="http://schemas.microsoft.com/office/drawing/2014/main" val="2137315494"/>
                  </a:ext>
                </a:extLst>
              </a:tr>
            </a:tbl>
          </a:graphicData>
        </a:graphic>
      </p:graphicFrame>
      <p:sp>
        <p:nvSpPr>
          <p:cNvPr id="5" name="CasellaDiTesto 4">
            <a:extLst>
              <a:ext uri="{FF2B5EF4-FFF2-40B4-BE49-F238E27FC236}">
                <a16:creationId xmlns:a16="http://schemas.microsoft.com/office/drawing/2014/main" id="{1C0D3F40-0FA6-AE4B-B317-31946E90F809}"/>
              </a:ext>
            </a:extLst>
          </p:cNvPr>
          <p:cNvSpPr txBox="1"/>
          <p:nvPr/>
        </p:nvSpPr>
        <p:spPr>
          <a:xfrm>
            <a:off x="1138723" y="3402142"/>
            <a:ext cx="1444626" cy="369332"/>
          </a:xfrm>
          <a:prstGeom prst="rect">
            <a:avLst/>
          </a:prstGeom>
          <a:noFill/>
        </p:spPr>
        <p:txBody>
          <a:bodyPr wrap="none" rtlCol="0">
            <a:spAutoFit/>
          </a:bodyPr>
          <a:lstStyle/>
          <a:p>
            <a:r>
              <a:rPr lang="it-IT" dirty="0"/>
              <a:t>Lambda = 0.3</a:t>
            </a:r>
          </a:p>
        </p:txBody>
      </p:sp>
      <p:graphicFrame>
        <p:nvGraphicFramePr>
          <p:cNvPr id="6" name="Tabella 5">
            <a:extLst>
              <a:ext uri="{FF2B5EF4-FFF2-40B4-BE49-F238E27FC236}">
                <a16:creationId xmlns:a16="http://schemas.microsoft.com/office/drawing/2014/main" id="{58620517-8327-5E49-9C6A-8EB32CC9A36C}"/>
              </a:ext>
            </a:extLst>
          </p:cNvPr>
          <p:cNvGraphicFramePr>
            <a:graphicFrameLocks noGrp="1"/>
          </p:cNvGraphicFramePr>
          <p:nvPr/>
        </p:nvGraphicFramePr>
        <p:xfrm>
          <a:off x="994947" y="1608113"/>
          <a:ext cx="2086476" cy="1483360"/>
        </p:xfrm>
        <a:graphic>
          <a:graphicData uri="http://schemas.openxmlformats.org/drawingml/2006/table">
            <a:tbl>
              <a:tblPr firstRow="1" bandRow="1">
                <a:tableStyleId>{5C22544A-7EE6-4342-B048-85BDC9FD1C3A}</a:tableStyleId>
              </a:tblPr>
              <a:tblGrid>
                <a:gridCol w="521619">
                  <a:extLst>
                    <a:ext uri="{9D8B030D-6E8A-4147-A177-3AD203B41FA5}">
                      <a16:colId xmlns:a16="http://schemas.microsoft.com/office/drawing/2014/main" val="3007943972"/>
                    </a:ext>
                  </a:extLst>
                </a:gridCol>
                <a:gridCol w="521619">
                  <a:extLst>
                    <a:ext uri="{9D8B030D-6E8A-4147-A177-3AD203B41FA5}">
                      <a16:colId xmlns:a16="http://schemas.microsoft.com/office/drawing/2014/main" val="220923671"/>
                    </a:ext>
                  </a:extLst>
                </a:gridCol>
                <a:gridCol w="521619">
                  <a:extLst>
                    <a:ext uri="{9D8B030D-6E8A-4147-A177-3AD203B41FA5}">
                      <a16:colId xmlns:a16="http://schemas.microsoft.com/office/drawing/2014/main" val="1888354542"/>
                    </a:ext>
                  </a:extLst>
                </a:gridCol>
                <a:gridCol w="521619">
                  <a:extLst>
                    <a:ext uri="{9D8B030D-6E8A-4147-A177-3AD203B41FA5}">
                      <a16:colId xmlns:a16="http://schemas.microsoft.com/office/drawing/2014/main" val="2090727010"/>
                    </a:ext>
                  </a:extLst>
                </a:gridCol>
              </a:tblGrid>
              <a:tr h="370840">
                <a:tc>
                  <a:txBody>
                    <a:bodyPr/>
                    <a:lstStyle/>
                    <a:p>
                      <a:pPr algn="ctr"/>
                      <a:r>
                        <a:rPr lang="it-IT" dirty="0"/>
                        <a:t>id</a:t>
                      </a:r>
                    </a:p>
                  </a:txBody>
                  <a:tcPr/>
                </a:tc>
                <a:tc>
                  <a:txBody>
                    <a:bodyPr/>
                    <a:lstStyle/>
                    <a:p>
                      <a:pPr algn="ctr"/>
                      <a:r>
                        <a:rPr lang="it-IT" dirty="0"/>
                        <a:t>X</a:t>
                      </a:r>
                      <a:r>
                        <a:rPr lang="it-IT" baseline="-25000" dirty="0"/>
                        <a:t>1</a:t>
                      </a:r>
                    </a:p>
                  </a:txBody>
                  <a:tcPr/>
                </a:tc>
                <a:tc>
                  <a:txBody>
                    <a:bodyPr/>
                    <a:lstStyle/>
                    <a:p>
                      <a:pPr algn="ctr"/>
                      <a:r>
                        <a:rPr lang="it-IT" dirty="0"/>
                        <a:t>X</a:t>
                      </a:r>
                      <a:r>
                        <a:rPr lang="it-IT" baseline="-25000" dirty="0"/>
                        <a:t>2</a:t>
                      </a:r>
                      <a:endParaRPr lang="it-IT" dirty="0"/>
                    </a:p>
                  </a:txBody>
                  <a:tcPr/>
                </a:tc>
                <a:tc>
                  <a:txBody>
                    <a:bodyPr/>
                    <a:lstStyle/>
                    <a:p>
                      <a:pPr algn="ctr"/>
                      <a:r>
                        <a:rPr lang="it-IT" dirty="0"/>
                        <a:t>Y</a:t>
                      </a:r>
                    </a:p>
                  </a:txBody>
                  <a:tcPr/>
                </a:tc>
                <a:extLst>
                  <a:ext uri="{0D108BD9-81ED-4DB2-BD59-A6C34878D82A}">
                    <a16:rowId xmlns:a16="http://schemas.microsoft.com/office/drawing/2014/main" val="647644152"/>
                  </a:ext>
                </a:extLst>
              </a:tr>
              <a:tr h="370840">
                <a:tc>
                  <a:txBody>
                    <a:bodyPr/>
                    <a:lstStyle/>
                    <a:p>
                      <a:pPr algn="ctr"/>
                      <a:r>
                        <a:rPr lang="it-IT" dirty="0"/>
                        <a:t>a</a:t>
                      </a:r>
                    </a:p>
                  </a:txBody>
                  <a:tcPr/>
                </a:tc>
                <a:tc>
                  <a:txBody>
                    <a:bodyPr/>
                    <a:lstStyle/>
                    <a:p>
                      <a:pPr algn="ctr"/>
                      <a:r>
                        <a:rPr lang="it-IT" dirty="0"/>
                        <a:t>0</a:t>
                      </a:r>
                    </a:p>
                  </a:txBody>
                  <a:tcPr/>
                </a:tc>
                <a:tc>
                  <a:txBody>
                    <a:bodyPr/>
                    <a:lstStyle/>
                    <a:p>
                      <a:pPr algn="ctr"/>
                      <a:r>
                        <a:rPr lang="it-IT" dirty="0"/>
                        <a:t>1</a:t>
                      </a:r>
                    </a:p>
                  </a:txBody>
                  <a:tcPr/>
                </a:tc>
                <a:tc>
                  <a:txBody>
                    <a:bodyPr/>
                    <a:lstStyle/>
                    <a:p>
                      <a:pPr algn="ctr"/>
                      <a:r>
                        <a:rPr lang="it-IT" dirty="0"/>
                        <a:t>-1</a:t>
                      </a:r>
                    </a:p>
                  </a:txBody>
                  <a:tcPr/>
                </a:tc>
                <a:extLst>
                  <a:ext uri="{0D108BD9-81ED-4DB2-BD59-A6C34878D82A}">
                    <a16:rowId xmlns:a16="http://schemas.microsoft.com/office/drawing/2014/main" val="3006406211"/>
                  </a:ext>
                </a:extLst>
              </a:tr>
              <a:tr h="370840">
                <a:tc>
                  <a:txBody>
                    <a:bodyPr/>
                    <a:lstStyle/>
                    <a:p>
                      <a:pPr algn="ctr"/>
                      <a:r>
                        <a:rPr lang="it-IT" dirty="0"/>
                        <a:t>b</a:t>
                      </a:r>
                    </a:p>
                  </a:txBody>
                  <a:tcPr/>
                </a:tc>
                <a:tc>
                  <a:txBody>
                    <a:bodyPr/>
                    <a:lstStyle/>
                    <a:p>
                      <a:pPr algn="ctr"/>
                      <a:r>
                        <a:rPr lang="it-IT" dirty="0"/>
                        <a:t>0</a:t>
                      </a:r>
                    </a:p>
                  </a:txBody>
                  <a:tcPr/>
                </a:tc>
                <a:tc>
                  <a:txBody>
                    <a:bodyPr/>
                    <a:lstStyle/>
                    <a:p>
                      <a:pPr algn="ctr"/>
                      <a:r>
                        <a:rPr lang="it-IT" dirty="0"/>
                        <a:t>0</a:t>
                      </a:r>
                    </a:p>
                  </a:txBody>
                  <a:tcPr/>
                </a:tc>
                <a:tc>
                  <a:txBody>
                    <a:bodyPr/>
                    <a:lstStyle/>
                    <a:p>
                      <a:pPr algn="ctr"/>
                      <a:r>
                        <a:rPr lang="it-IT" dirty="0"/>
                        <a:t>1</a:t>
                      </a:r>
                    </a:p>
                  </a:txBody>
                  <a:tcPr/>
                </a:tc>
                <a:extLst>
                  <a:ext uri="{0D108BD9-81ED-4DB2-BD59-A6C34878D82A}">
                    <a16:rowId xmlns:a16="http://schemas.microsoft.com/office/drawing/2014/main" val="1442248098"/>
                  </a:ext>
                </a:extLst>
              </a:tr>
              <a:tr h="370840">
                <a:tc>
                  <a:txBody>
                    <a:bodyPr/>
                    <a:lstStyle/>
                    <a:p>
                      <a:pPr algn="ctr"/>
                      <a:r>
                        <a:rPr lang="it-IT" dirty="0"/>
                        <a:t>c</a:t>
                      </a:r>
                    </a:p>
                  </a:txBody>
                  <a:tcPr/>
                </a:tc>
                <a:tc>
                  <a:txBody>
                    <a:bodyPr/>
                    <a:lstStyle/>
                    <a:p>
                      <a:pPr algn="ctr"/>
                      <a:r>
                        <a:rPr lang="it-IT" dirty="0"/>
                        <a:t>1</a:t>
                      </a:r>
                    </a:p>
                  </a:txBody>
                  <a:tcPr/>
                </a:tc>
                <a:tc>
                  <a:txBody>
                    <a:bodyPr/>
                    <a:lstStyle/>
                    <a:p>
                      <a:pPr algn="ctr"/>
                      <a:r>
                        <a:rPr lang="it-IT" dirty="0"/>
                        <a:t>2</a:t>
                      </a:r>
                    </a:p>
                  </a:txBody>
                  <a:tcPr/>
                </a:tc>
                <a:tc>
                  <a:txBody>
                    <a:bodyPr/>
                    <a:lstStyle/>
                    <a:p>
                      <a:pPr algn="ctr"/>
                      <a:r>
                        <a:rPr lang="it-IT" dirty="0"/>
                        <a:t>-1</a:t>
                      </a:r>
                    </a:p>
                  </a:txBody>
                  <a:tcPr/>
                </a:tc>
                <a:extLst>
                  <a:ext uri="{0D108BD9-81ED-4DB2-BD59-A6C34878D82A}">
                    <a16:rowId xmlns:a16="http://schemas.microsoft.com/office/drawing/2014/main" val="4095835177"/>
                  </a:ext>
                </a:extLst>
              </a:tr>
            </a:tbl>
          </a:graphicData>
        </a:graphic>
      </p:graphicFrame>
      <p:sp>
        <p:nvSpPr>
          <p:cNvPr id="7" name="CasellaDiTesto 6">
            <a:extLst>
              <a:ext uri="{FF2B5EF4-FFF2-40B4-BE49-F238E27FC236}">
                <a16:creationId xmlns:a16="http://schemas.microsoft.com/office/drawing/2014/main" id="{927C77E6-5F33-8046-9F2E-9975A8958726}"/>
              </a:ext>
            </a:extLst>
          </p:cNvPr>
          <p:cNvSpPr txBox="1"/>
          <p:nvPr/>
        </p:nvSpPr>
        <p:spPr>
          <a:xfrm>
            <a:off x="1436079" y="3840407"/>
            <a:ext cx="849913" cy="369332"/>
          </a:xfrm>
          <a:prstGeom prst="rect">
            <a:avLst/>
          </a:prstGeom>
          <a:noFill/>
        </p:spPr>
        <p:txBody>
          <a:bodyPr wrap="none" rtlCol="0">
            <a:spAutoFit/>
          </a:bodyPr>
          <a:lstStyle/>
          <a:p>
            <a:r>
              <a:rPr lang="it-IT" dirty="0"/>
              <a:t>f = </a:t>
            </a:r>
            <a:r>
              <a:rPr lang="it-IT" dirty="0" err="1"/>
              <a:t>sign</a:t>
            </a:r>
            <a:endParaRPr lang="it-IT" dirty="0"/>
          </a:p>
        </p:txBody>
      </p:sp>
      <p:graphicFrame>
        <p:nvGraphicFramePr>
          <p:cNvPr id="8" name="Object 2">
            <a:extLst>
              <a:ext uri="{FF2B5EF4-FFF2-40B4-BE49-F238E27FC236}">
                <a16:creationId xmlns:a16="http://schemas.microsoft.com/office/drawing/2014/main" id="{5278FF38-9CA2-9B40-AC35-A42C7F9E1EAF}"/>
              </a:ext>
            </a:extLst>
          </p:cNvPr>
          <p:cNvGraphicFramePr>
            <a:graphicFrameLocks noChangeAspect="1"/>
          </p:cNvGraphicFramePr>
          <p:nvPr/>
        </p:nvGraphicFramePr>
        <p:xfrm>
          <a:off x="4160783" y="137754"/>
          <a:ext cx="7620000" cy="555625"/>
        </p:xfrm>
        <a:graphic>
          <a:graphicData uri="http://schemas.openxmlformats.org/presentationml/2006/ole">
            <mc:AlternateContent xmlns:mc="http://schemas.openxmlformats.org/markup-compatibility/2006">
              <mc:Choice xmlns:v="urn:schemas-microsoft-com:vml" Requires="v">
                <p:oleObj name="Equation" r:id="rId2" imgW="3213100" imgH="241300" progId="Equation.3">
                  <p:embed/>
                </p:oleObj>
              </mc:Choice>
              <mc:Fallback>
                <p:oleObj name="Equation" r:id="rId2" imgW="3213100" imgH="241300" progId="Equation.3">
                  <p:embed/>
                  <p:pic>
                    <p:nvPicPr>
                      <p:cNvPr id="8" name="Object 2">
                        <a:extLst>
                          <a:ext uri="{FF2B5EF4-FFF2-40B4-BE49-F238E27FC236}">
                            <a16:creationId xmlns:a16="http://schemas.microsoft.com/office/drawing/2014/main" id="{5278FF38-9CA2-9B40-AC35-A42C7F9E1E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0783" y="137754"/>
                        <a:ext cx="76200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1077191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6EC64A-1F68-7243-81CC-935E096D57EB}"/>
              </a:ext>
            </a:extLst>
          </p:cNvPr>
          <p:cNvSpPr>
            <a:spLocks noGrp="1"/>
          </p:cNvSpPr>
          <p:nvPr>
            <p:ph type="title"/>
          </p:nvPr>
        </p:nvSpPr>
        <p:spPr/>
        <p:txBody>
          <a:bodyPr/>
          <a:lstStyle/>
          <a:p>
            <a:r>
              <a:rPr lang="it-IT" dirty="0"/>
              <a:t>Train Linear </a:t>
            </a:r>
            <a:r>
              <a:rPr lang="it-IT" dirty="0" err="1"/>
              <a:t>Perceptron</a:t>
            </a:r>
            <a:r>
              <a:rPr lang="it-IT" dirty="0"/>
              <a:t> - Solution</a:t>
            </a:r>
          </a:p>
        </p:txBody>
      </p:sp>
      <p:graphicFrame>
        <p:nvGraphicFramePr>
          <p:cNvPr id="4" name="Tabella 3">
            <a:extLst>
              <a:ext uri="{FF2B5EF4-FFF2-40B4-BE49-F238E27FC236}">
                <a16:creationId xmlns:a16="http://schemas.microsoft.com/office/drawing/2014/main" id="{0398B540-D1C9-3745-A9F4-F0AF9C7282A6}"/>
              </a:ext>
            </a:extLst>
          </p:cNvPr>
          <p:cNvGraphicFramePr>
            <a:graphicFrameLocks noGrp="1"/>
          </p:cNvGraphicFramePr>
          <p:nvPr/>
        </p:nvGraphicFramePr>
        <p:xfrm>
          <a:off x="3755463" y="1538539"/>
          <a:ext cx="8025320" cy="4820920"/>
        </p:xfrm>
        <a:graphic>
          <a:graphicData uri="http://schemas.openxmlformats.org/drawingml/2006/table">
            <a:tbl>
              <a:tblPr firstRow="1" bandRow="1">
                <a:tableStyleId>{5C22544A-7EE6-4342-B048-85BDC9FD1C3A}</a:tableStyleId>
              </a:tblPr>
              <a:tblGrid>
                <a:gridCol w="802532">
                  <a:extLst>
                    <a:ext uri="{9D8B030D-6E8A-4147-A177-3AD203B41FA5}">
                      <a16:colId xmlns:a16="http://schemas.microsoft.com/office/drawing/2014/main" val="3007943972"/>
                    </a:ext>
                  </a:extLst>
                </a:gridCol>
                <a:gridCol w="802532">
                  <a:extLst>
                    <a:ext uri="{9D8B030D-6E8A-4147-A177-3AD203B41FA5}">
                      <a16:colId xmlns:a16="http://schemas.microsoft.com/office/drawing/2014/main" val="220923671"/>
                    </a:ext>
                  </a:extLst>
                </a:gridCol>
                <a:gridCol w="802532">
                  <a:extLst>
                    <a:ext uri="{9D8B030D-6E8A-4147-A177-3AD203B41FA5}">
                      <a16:colId xmlns:a16="http://schemas.microsoft.com/office/drawing/2014/main" val="1888354542"/>
                    </a:ext>
                  </a:extLst>
                </a:gridCol>
                <a:gridCol w="802532">
                  <a:extLst>
                    <a:ext uri="{9D8B030D-6E8A-4147-A177-3AD203B41FA5}">
                      <a16:colId xmlns:a16="http://schemas.microsoft.com/office/drawing/2014/main" val="4183561819"/>
                    </a:ext>
                  </a:extLst>
                </a:gridCol>
                <a:gridCol w="802532">
                  <a:extLst>
                    <a:ext uri="{9D8B030D-6E8A-4147-A177-3AD203B41FA5}">
                      <a16:colId xmlns:a16="http://schemas.microsoft.com/office/drawing/2014/main" val="2090727010"/>
                    </a:ext>
                  </a:extLst>
                </a:gridCol>
                <a:gridCol w="802532">
                  <a:extLst>
                    <a:ext uri="{9D8B030D-6E8A-4147-A177-3AD203B41FA5}">
                      <a16:colId xmlns:a16="http://schemas.microsoft.com/office/drawing/2014/main" val="1559798696"/>
                    </a:ext>
                  </a:extLst>
                </a:gridCol>
                <a:gridCol w="802532">
                  <a:extLst>
                    <a:ext uri="{9D8B030D-6E8A-4147-A177-3AD203B41FA5}">
                      <a16:colId xmlns:a16="http://schemas.microsoft.com/office/drawing/2014/main" val="3564938619"/>
                    </a:ext>
                  </a:extLst>
                </a:gridCol>
                <a:gridCol w="802532">
                  <a:extLst>
                    <a:ext uri="{9D8B030D-6E8A-4147-A177-3AD203B41FA5}">
                      <a16:colId xmlns:a16="http://schemas.microsoft.com/office/drawing/2014/main" val="2640809818"/>
                    </a:ext>
                  </a:extLst>
                </a:gridCol>
                <a:gridCol w="802532">
                  <a:extLst>
                    <a:ext uri="{9D8B030D-6E8A-4147-A177-3AD203B41FA5}">
                      <a16:colId xmlns:a16="http://schemas.microsoft.com/office/drawing/2014/main" val="4147220622"/>
                    </a:ext>
                  </a:extLst>
                </a:gridCol>
                <a:gridCol w="802532">
                  <a:extLst>
                    <a:ext uri="{9D8B030D-6E8A-4147-A177-3AD203B41FA5}">
                      <a16:colId xmlns:a16="http://schemas.microsoft.com/office/drawing/2014/main" val="1678705754"/>
                    </a:ext>
                  </a:extLst>
                </a:gridCol>
              </a:tblGrid>
              <a:tr h="370840">
                <a:tc>
                  <a:txBody>
                    <a:bodyPr/>
                    <a:lstStyle/>
                    <a:p>
                      <a:pPr algn="ctr"/>
                      <a:r>
                        <a:rPr lang="it-IT" dirty="0" err="1"/>
                        <a:t>it</a:t>
                      </a:r>
                      <a:endParaRPr lang="it-IT" dirty="0"/>
                    </a:p>
                  </a:txBody>
                  <a:tcPr/>
                </a:tc>
                <a:tc>
                  <a:txBody>
                    <a:bodyPr/>
                    <a:lstStyle/>
                    <a:p>
                      <a:pPr algn="ctr"/>
                      <a:r>
                        <a:rPr lang="it-IT" baseline="0" dirty="0"/>
                        <a:t>W</a:t>
                      </a:r>
                      <a:r>
                        <a:rPr lang="it-IT" baseline="-25000" dirty="0"/>
                        <a:t>0</a:t>
                      </a:r>
                    </a:p>
                  </a:txBody>
                  <a:tcPr/>
                </a:tc>
                <a:tc>
                  <a:txBody>
                    <a:bodyPr/>
                    <a:lstStyle/>
                    <a:p>
                      <a:pPr algn="ctr"/>
                      <a:r>
                        <a:rPr lang="it-IT" baseline="0" dirty="0"/>
                        <a:t>W</a:t>
                      </a:r>
                      <a:r>
                        <a:rPr lang="it-IT" baseline="-25000" dirty="0"/>
                        <a:t>1</a:t>
                      </a:r>
                    </a:p>
                  </a:txBody>
                  <a:tcPr/>
                </a:tc>
                <a:tc>
                  <a:txBody>
                    <a:bodyPr/>
                    <a:lstStyle/>
                    <a:p>
                      <a:pPr algn="ctr"/>
                      <a:r>
                        <a:rPr lang="it-IT" baseline="0" dirty="0"/>
                        <a:t>W</a:t>
                      </a:r>
                      <a:r>
                        <a:rPr lang="it-IT" baseline="-25000" dirty="0"/>
                        <a:t>2</a:t>
                      </a:r>
                    </a:p>
                  </a:txBody>
                  <a:tcPr/>
                </a:tc>
                <a:tc>
                  <a:txBody>
                    <a:bodyPr/>
                    <a:lstStyle/>
                    <a:p>
                      <a:pPr algn="ctr"/>
                      <a:r>
                        <a:rPr lang="it-IT" dirty="0"/>
                        <a:t>X.W</a:t>
                      </a:r>
                    </a:p>
                  </a:txBody>
                  <a:tcPr/>
                </a:tc>
                <a:tc>
                  <a:txBody>
                    <a:bodyPr/>
                    <a:lstStyle/>
                    <a:p>
                      <a:pPr algn="ctr"/>
                      <a:r>
                        <a:rPr lang="it-IT" dirty="0" err="1"/>
                        <a:t>f</a:t>
                      </a:r>
                      <a:r>
                        <a:rPr lang="it-IT" dirty="0"/>
                        <a:t>(X.W)</a:t>
                      </a:r>
                    </a:p>
                  </a:txBody>
                  <a:tcPr/>
                </a:tc>
                <a:tc>
                  <a:txBody>
                    <a:bodyPr/>
                    <a:lstStyle/>
                    <a:p>
                      <a:pPr algn="ctr"/>
                      <a:r>
                        <a:rPr lang="it-IT" dirty="0" err="1"/>
                        <a:t>error</a:t>
                      </a:r>
                      <a:endParaRPr lang="it-IT" dirty="0"/>
                    </a:p>
                  </a:txBody>
                  <a:tcPr/>
                </a:tc>
                <a:tc>
                  <a:txBody>
                    <a:bodyPr/>
                    <a:lstStyle/>
                    <a:p>
                      <a:pPr algn="ctr"/>
                      <a:r>
                        <a:rPr lang="it-IT" dirty="0"/>
                        <a:t>delta</a:t>
                      </a:r>
                      <a:r>
                        <a:rPr lang="it-IT" baseline="-25000"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delta</a:t>
                      </a:r>
                      <a:r>
                        <a:rPr lang="it-IT" baseline="-25000" dirty="0"/>
                        <a:t>2</a:t>
                      </a:r>
                    </a:p>
                  </a:txBody>
                  <a:tcPr/>
                </a:tc>
                <a:extLst>
                  <a:ext uri="{0D108BD9-81ED-4DB2-BD59-A6C34878D82A}">
                    <a16:rowId xmlns:a16="http://schemas.microsoft.com/office/drawing/2014/main" val="647644152"/>
                  </a:ext>
                </a:extLst>
              </a:tr>
              <a:tr h="370840">
                <a:tc>
                  <a:txBody>
                    <a:bodyPr/>
                    <a:lstStyle/>
                    <a:p>
                      <a:pPr algn="ctr"/>
                      <a:r>
                        <a:rPr lang="it-IT" dirty="0"/>
                        <a:t>1</a:t>
                      </a:r>
                    </a:p>
                  </a:txBody>
                  <a:tcPr/>
                </a:tc>
                <a:tc>
                  <a:txBody>
                    <a:bodyPr/>
                    <a:lstStyle/>
                    <a:p>
                      <a:pPr algn="ctr" fontAlgn="b"/>
                      <a:r>
                        <a:rPr lang="it-IT" sz="1800" kern="1200" dirty="0">
                          <a:solidFill>
                            <a:schemeClr val="dk1"/>
                          </a:solidFill>
                          <a:latin typeface="+mn-lt"/>
                          <a:ea typeface="+mn-ea"/>
                          <a:cs typeface="+mn-cs"/>
                        </a:rPr>
                        <a:t>-1</a:t>
                      </a:r>
                    </a:p>
                  </a:txBody>
                  <a:tcPr marL="9525" marR="9525" marT="9525" marB="0" anchor="b"/>
                </a:tc>
                <a:tc>
                  <a:txBody>
                    <a:bodyPr/>
                    <a:lstStyle/>
                    <a:p>
                      <a:pPr algn="ctr" fontAlgn="b"/>
                      <a:r>
                        <a:rPr lang="it-IT" sz="1800" kern="1200">
                          <a:solidFill>
                            <a:schemeClr val="dk1"/>
                          </a:solidFill>
                          <a:latin typeface="+mn-lt"/>
                          <a:ea typeface="+mn-ea"/>
                          <a:cs typeface="+mn-cs"/>
                        </a:rPr>
                        <a:t>0</a:t>
                      </a:r>
                    </a:p>
                  </a:txBody>
                  <a:tcPr marL="9525" marR="9525" marT="9525" marB="0" anchor="b"/>
                </a:tc>
                <a:tc>
                  <a:txBody>
                    <a:bodyPr/>
                    <a:lstStyle/>
                    <a:p>
                      <a:pPr algn="ctr" fontAlgn="b"/>
                      <a:r>
                        <a:rPr lang="it-IT" sz="1800" kern="1200">
                          <a:solidFill>
                            <a:schemeClr val="dk1"/>
                          </a:solidFill>
                          <a:latin typeface="+mn-lt"/>
                          <a:ea typeface="+mn-ea"/>
                          <a:cs typeface="+mn-cs"/>
                        </a:rPr>
                        <a:t>0</a:t>
                      </a:r>
                    </a:p>
                  </a:txBody>
                  <a:tcPr marL="9525" marR="9525" marT="9525" marB="0" anchor="b"/>
                </a:tc>
                <a:tc>
                  <a:txBody>
                    <a:bodyPr/>
                    <a:lstStyle/>
                    <a:p>
                      <a:pPr marL="0" algn="ctr" defTabSz="914400" rtl="0" eaLnBrk="1" fontAlgn="b" latinLnBrk="0" hangingPunct="1"/>
                      <a:r>
                        <a:rPr lang="it-IT" sz="1800" kern="1200" dirty="0">
                          <a:solidFill>
                            <a:schemeClr val="dk1"/>
                          </a:solidFill>
                          <a:latin typeface="+mn-lt"/>
                          <a:ea typeface="+mn-ea"/>
                          <a:cs typeface="+mn-cs"/>
                        </a:rPr>
                        <a:t>-1</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-1</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0</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0</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0</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0</a:t>
                      </a:r>
                    </a:p>
                  </a:txBody>
                  <a:tcPr marL="9525" marR="9525" marT="9525" marB="0" anchor="b"/>
                </a:tc>
                <a:extLst>
                  <a:ext uri="{0D108BD9-81ED-4DB2-BD59-A6C34878D82A}">
                    <a16:rowId xmlns:a16="http://schemas.microsoft.com/office/drawing/2014/main" val="3006406211"/>
                  </a:ext>
                </a:extLst>
              </a:tr>
              <a:tr h="370840">
                <a:tc>
                  <a:txBody>
                    <a:bodyPr/>
                    <a:lstStyle/>
                    <a:p>
                      <a:pPr algn="ctr"/>
                      <a:r>
                        <a:rPr lang="it-IT" dirty="0"/>
                        <a:t>2</a:t>
                      </a:r>
                    </a:p>
                  </a:txBody>
                  <a:tcPr/>
                </a:tc>
                <a:tc>
                  <a:txBody>
                    <a:bodyPr/>
                    <a:lstStyle/>
                    <a:p>
                      <a:pPr algn="ctr" fontAlgn="b"/>
                      <a:r>
                        <a:rPr lang="it-IT" sz="1800" kern="1200">
                          <a:solidFill>
                            <a:schemeClr val="dk1"/>
                          </a:solidFill>
                          <a:latin typeface="+mn-lt"/>
                          <a:ea typeface="+mn-ea"/>
                          <a:cs typeface="+mn-cs"/>
                        </a:rPr>
                        <a:t>-1</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-1</a:t>
                      </a:r>
                    </a:p>
                  </a:txBody>
                  <a:tcPr marL="9525" marR="9525" marT="9525" marB="0" anchor="b"/>
                </a:tc>
                <a:tc>
                  <a:txBody>
                    <a:bodyPr/>
                    <a:lstStyle/>
                    <a:p>
                      <a:pPr marL="0" algn="ctr" defTabSz="914400" rtl="0" eaLnBrk="1" fontAlgn="b" latinLnBrk="0" hangingPunct="1"/>
                      <a:r>
                        <a:rPr lang="it-IT" sz="1800" kern="1200" dirty="0">
                          <a:solidFill>
                            <a:schemeClr val="dk1"/>
                          </a:solidFill>
                          <a:latin typeface="+mn-lt"/>
                          <a:ea typeface="+mn-ea"/>
                          <a:cs typeface="+mn-cs"/>
                        </a:rPr>
                        <a:t>-1</a:t>
                      </a:r>
                    </a:p>
                  </a:txBody>
                  <a:tcPr marL="9525" marR="9525" marT="9525" marB="0" anchor="b"/>
                </a:tc>
                <a:tc>
                  <a:txBody>
                    <a:bodyPr/>
                    <a:lstStyle/>
                    <a:p>
                      <a:pPr marL="0" algn="ctr" defTabSz="914400" rtl="0" eaLnBrk="1" fontAlgn="b" latinLnBrk="0" hangingPunct="1"/>
                      <a:r>
                        <a:rPr lang="it-IT" sz="1800" kern="1200" dirty="0">
                          <a:solidFill>
                            <a:schemeClr val="dk1"/>
                          </a:solidFill>
                          <a:latin typeface="+mn-lt"/>
                          <a:ea typeface="+mn-ea"/>
                          <a:cs typeface="+mn-cs"/>
                        </a:rPr>
                        <a:t>2</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0,6</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0</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0</a:t>
                      </a:r>
                    </a:p>
                  </a:txBody>
                  <a:tcPr marL="9525" marR="9525" marT="9525" marB="0" anchor="b"/>
                </a:tc>
                <a:extLst>
                  <a:ext uri="{0D108BD9-81ED-4DB2-BD59-A6C34878D82A}">
                    <a16:rowId xmlns:a16="http://schemas.microsoft.com/office/drawing/2014/main" val="1442248098"/>
                  </a:ext>
                </a:extLst>
              </a:tr>
              <a:tr h="370840">
                <a:tc>
                  <a:txBody>
                    <a:bodyPr/>
                    <a:lstStyle/>
                    <a:p>
                      <a:pPr algn="ctr"/>
                      <a:r>
                        <a:rPr lang="it-IT" dirty="0"/>
                        <a:t>3</a:t>
                      </a:r>
                    </a:p>
                  </a:txBody>
                  <a:tcPr/>
                </a:tc>
                <a:tc>
                  <a:txBody>
                    <a:bodyPr/>
                    <a:lstStyle/>
                    <a:p>
                      <a:pPr algn="ctr" fontAlgn="b"/>
                      <a:r>
                        <a:rPr lang="it-IT" sz="1800" kern="1200">
                          <a:solidFill>
                            <a:schemeClr val="dk1"/>
                          </a:solidFill>
                          <a:latin typeface="+mn-lt"/>
                          <a:ea typeface="+mn-ea"/>
                          <a:cs typeface="+mn-cs"/>
                        </a:rPr>
                        <a:t>-0,4</a:t>
                      </a:r>
                    </a:p>
                  </a:txBody>
                  <a:tcPr marL="9525" marR="9525" marT="9525" marB="0" anchor="b"/>
                </a:tc>
                <a:tc>
                  <a:txBody>
                    <a:bodyPr/>
                    <a:lstStyle/>
                    <a:p>
                      <a:pPr algn="ctr" fontAlgn="b"/>
                      <a:r>
                        <a:rPr lang="it-IT" sz="1800" kern="120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-0,4</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-1</a:t>
                      </a:r>
                    </a:p>
                  </a:txBody>
                  <a:tcPr marL="9525" marR="9525" marT="9525" marB="0" anchor="b"/>
                </a:tc>
                <a:tc>
                  <a:txBody>
                    <a:bodyPr/>
                    <a:lstStyle/>
                    <a:p>
                      <a:pPr marL="0" algn="ctr" defTabSz="914400" rtl="0" eaLnBrk="1" fontAlgn="b" latinLnBrk="0" hangingPunct="1"/>
                      <a:r>
                        <a:rPr lang="it-IT" sz="1800" kern="1200" dirty="0">
                          <a:solidFill>
                            <a:schemeClr val="dk1"/>
                          </a:solidFill>
                          <a:latin typeface="+mn-lt"/>
                          <a:ea typeface="+mn-ea"/>
                          <a:cs typeface="+mn-cs"/>
                        </a:rPr>
                        <a:t>0</a:t>
                      </a:r>
                    </a:p>
                  </a:txBody>
                  <a:tcPr marL="9525" marR="9525" marT="9525" marB="0" anchor="b"/>
                </a:tc>
                <a:tc>
                  <a:txBody>
                    <a:bodyPr/>
                    <a:lstStyle/>
                    <a:p>
                      <a:pPr marL="0" algn="ctr" defTabSz="914400" rtl="0" eaLnBrk="1" fontAlgn="b" latinLnBrk="0" hangingPunct="1"/>
                      <a:r>
                        <a:rPr lang="it-IT" sz="1800" kern="1200" dirty="0">
                          <a:solidFill>
                            <a:schemeClr val="dk1"/>
                          </a:solidFill>
                          <a:latin typeface="+mn-lt"/>
                          <a:ea typeface="+mn-ea"/>
                          <a:cs typeface="+mn-cs"/>
                        </a:rPr>
                        <a:t>0</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0</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0</a:t>
                      </a:r>
                    </a:p>
                  </a:txBody>
                  <a:tcPr marL="9525" marR="9525" marT="9525" marB="0" anchor="b"/>
                </a:tc>
                <a:extLst>
                  <a:ext uri="{0D108BD9-81ED-4DB2-BD59-A6C34878D82A}">
                    <a16:rowId xmlns:a16="http://schemas.microsoft.com/office/drawing/2014/main" val="4095835177"/>
                  </a:ext>
                </a:extLst>
              </a:tr>
              <a:tr h="370840">
                <a:tc>
                  <a:txBody>
                    <a:bodyPr/>
                    <a:lstStyle/>
                    <a:p>
                      <a:pPr algn="ctr"/>
                      <a:r>
                        <a:rPr lang="it-IT" dirty="0"/>
                        <a:t>4</a:t>
                      </a:r>
                    </a:p>
                  </a:txBody>
                  <a:tcPr/>
                </a:tc>
                <a:tc>
                  <a:txBody>
                    <a:bodyPr/>
                    <a:lstStyle/>
                    <a:p>
                      <a:pPr algn="ctr" fontAlgn="b"/>
                      <a:r>
                        <a:rPr lang="it-IT" sz="1800" kern="1200">
                          <a:solidFill>
                            <a:schemeClr val="dk1"/>
                          </a:solidFill>
                          <a:latin typeface="+mn-lt"/>
                          <a:ea typeface="+mn-ea"/>
                          <a:cs typeface="+mn-cs"/>
                        </a:rPr>
                        <a:t>-0,4</a:t>
                      </a:r>
                    </a:p>
                  </a:txBody>
                  <a:tcPr marL="9525" marR="9525" marT="9525" marB="0" anchor="b"/>
                </a:tc>
                <a:tc>
                  <a:txBody>
                    <a:bodyPr/>
                    <a:lstStyle/>
                    <a:p>
                      <a:pPr algn="ctr" fontAlgn="b"/>
                      <a:r>
                        <a:rPr lang="it-IT" sz="1800" kern="120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marL="0" algn="ctr" defTabSz="914400" rtl="0" eaLnBrk="1" fontAlgn="b" latinLnBrk="0" hangingPunct="1"/>
                      <a:r>
                        <a:rPr lang="it-IT" sz="1800" kern="1200" dirty="0">
                          <a:solidFill>
                            <a:schemeClr val="dk1"/>
                          </a:solidFill>
                          <a:latin typeface="+mn-lt"/>
                          <a:ea typeface="+mn-ea"/>
                          <a:cs typeface="+mn-cs"/>
                        </a:rPr>
                        <a:t>-0,4</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-1</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0</a:t>
                      </a:r>
                    </a:p>
                  </a:txBody>
                  <a:tcPr marL="9525" marR="9525" marT="9525" marB="0" anchor="b"/>
                </a:tc>
                <a:tc>
                  <a:txBody>
                    <a:bodyPr/>
                    <a:lstStyle/>
                    <a:p>
                      <a:pPr marL="0" algn="ctr" defTabSz="914400" rtl="0" eaLnBrk="1" fontAlgn="b" latinLnBrk="0" hangingPunct="1"/>
                      <a:r>
                        <a:rPr lang="it-IT" sz="1800" kern="1200" dirty="0">
                          <a:solidFill>
                            <a:schemeClr val="dk1"/>
                          </a:solidFill>
                          <a:latin typeface="+mn-lt"/>
                          <a:ea typeface="+mn-ea"/>
                          <a:cs typeface="+mn-cs"/>
                        </a:rPr>
                        <a:t>0</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0</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0</a:t>
                      </a:r>
                    </a:p>
                  </a:txBody>
                  <a:tcPr marL="9525" marR="9525" marT="9525" marB="0" anchor="b"/>
                </a:tc>
                <a:extLst>
                  <a:ext uri="{0D108BD9-81ED-4DB2-BD59-A6C34878D82A}">
                    <a16:rowId xmlns:a16="http://schemas.microsoft.com/office/drawing/2014/main" val="2437626370"/>
                  </a:ext>
                </a:extLst>
              </a:tr>
              <a:tr h="370840">
                <a:tc>
                  <a:txBody>
                    <a:bodyPr/>
                    <a:lstStyle/>
                    <a:p>
                      <a:pPr algn="ctr"/>
                      <a:r>
                        <a:rPr lang="it-IT" dirty="0"/>
                        <a:t>5</a:t>
                      </a:r>
                    </a:p>
                  </a:txBody>
                  <a:tcPr/>
                </a:tc>
                <a:tc>
                  <a:txBody>
                    <a:bodyPr/>
                    <a:lstStyle/>
                    <a:p>
                      <a:pPr algn="ctr" fontAlgn="b"/>
                      <a:r>
                        <a:rPr lang="it-IT" sz="1800" kern="1200">
                          <a:solidFill>
                            <a:schemeClr val="dk1"/>
                          </a:solidFill>
                          <a:latin typeface="+mn-lt"/>
                          <a:ea typeface="+mn-ea"/>
                          <a:cs typeface="+mn-cs"/>
                        </a:rPr>
                        <a:t>-0,4</a:t>
                      </a:r>
                    </a:p>
                  </a:txBody>
                  <a:tcPr marL="9525" marR="9525" marT="9525" marB="0" anchor="b"/>
                </a:tc>
                <a:tc>
                  <a:txBody>
                    <a:bodyPr/>
                    <a:lstStyle/>
                    <a:p>
                      <a:pPr algn="ctr" fontAlgn="b"/>
                      <a:r>
                        <a:rPr lang="it-IT" sz="1800" kern="120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-0,4</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-1</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2</a:t>
                      </a:r>
                    </a:p>
                  </a:txBody>
                  <a:tcPr marL="9525" marR="9525" marT="9525" marB="0" anchor="b"/>
                </a:tc>
                <a:tc>
                  <a:txBody>
                    <a:bodyPr/>
                    <a:lstStyle/>
                    <a:p>
                      <a:pPr marL="0" algn="ctr" defTabSz="914400" rtl="0" eaLnBrk="1" fontAlgn="b" latinLnBrk="0" hangingPunct="1"/>
                      <a:r>
                        <a:rPr lang="it-IT" sz="1800" kern="1200" dirty="0">
                          <a:solidFill>
                            <a:schemeClr val="dk1"/>
                          </a:solidFill>
                          <a:latin typeface="+mn-lt"/>
                          <a:ea typeface="+mn-ea"/>
                          <a:cs typeface="+mn-cs"/>
                        </a:rPr>
                        <a:t>0,6</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0</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0</a:t>
                      </a:r>
                    </a:p>
                  </a:txBody>
                  <a:tcPr marL="9525" marR="9525" marT="9525" marB="0" anchor="b"/>
                </a:tc>
                <a:extLst>
                  <a:ext uri="{0D108BD9-81ED-4DB2-BD59-A6C34878D82A}">
                    <a16:rowId xmlns:a16="http://schemas.microsoft.com/office/drawing/2014/main" val="3459893937"/>
                  </a:ext>
                </a:extLst>
              </a:tr>
              <a:tr h="370840">
                <a:tc>
                  <a:txBody>
                    <a:bodyPr/>
                    <a:lstStyle/>
                    <a:p>
                      <a:pPr algn="ctr"/>
                      <a:r>
                        <a:rPr lang="it-IT" dirty="0"/>
                        <a:t>6</a:t>
                      </a:r>
                    </a:p>
                  </a:txBody>
                  <a:tcPr/>
                </a:tc>
                <a:tc>
                  <a:txBody>
                    <a:bodyPr/>
                    <a:lstStyle/>
                    <a:p>
                      <a:pPr algn="ctr" fontAlgn="b"/>
                      <a:r>
                        <a:rPr lang="it-IT" sz="1800" kern="1200">
                          <a:solidFill>
                            <a:schemeClr val="dk1"/>
                          </a:solidFill>
                          <a:latin typeface="+mn-lt"/>
                          <a:ea typeface="+mn-ea"/>
                          <a:cs typeface="+mn-cs"/>
                        </a:rPr>
                        <a:t>0,2</a:t>
                      </a:r>
                    </a:p>
                  </a:txBody>
                  <a:tcPr marL="9525" marR="9525" marT="9525" marB="0" anchor="b"/>
                </a:tc>
                <a:tc>
                  <a:txBody>
                    <a:bodyPr/>
                    <a:lstStyle/>
                    <a:p>
                      <a:pPr algn="ctr" fontAlgn="b"/>
                      <a:r>
                        <a:rPr lang="it-IT" sz="1800" kern="1200">
                          <a:solidFill>
                            <a:schemeClr val="dk1"/>
                          </a:solidFill>
                          <a:latin typeface="+mn-lt"/>
                          <a:ea typeface="+mn-ea"/>
                          <a:cs typeface="+mn-cs"/>
                        </a:rPr>
                        <a:t>0</a:t>
                      </a:r>
                    </a:p>
                  </a:txBody>
                  <a:tcPr marL="9525" marR="9525" marT="9525" marB="0" anchor="b"/>
                </a:tc>
                <a:tc>
                  <a:txBody>
                    <a:bodyPr/>
                    <a:lstStyle/>
                    <a:p>
                      <a:pPr algn="ctr" fontAlgn="b"/>
                      <a:r>
                        <a:rPr lang="it-IT" sz="1800" kern="1200" dirty="0">
                          <a:solidFill>
                            <a:schemeClr val="dk1"/>
                          </a:solidFill>
                          <a:latin typeface="+mn-lt"/>
                          <a:ea typeface="+mn-ea"/>
                          <a:cs typeface="+mn-cs"/>
                        </a:rPr>
                        <a:t>0</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0,2</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1</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-2</a:t>
                      </a:r>
                    </a:p>
                  </a:txBody>
                  <a:tcPr marL="9525" marR="9525" marT="9525" marB="0" anchor="b"/>
                </a:tc>
                <a:tc>
                  <a:txBody>
                    <a:bodyPr/>
                    <a:lstStyle/>
                    <a:p>
                      <a:pPr marL="0" algn="ctr" defTabSz="914400" rtl="0" eaLnBrk="1" fontAlgn="b" latinLnBrk="0" hangingPunct="1"/>
                      <a:r>
                        <a:rPr lang="it-IT" sz="1800" kern="1200" dirty="0">
                          <a:solidFill>
                            <a:schemeClr val="dk1"/>
                          </a:solidFill>
                          <a:latin typeface="+mn-lt"/>
                          <a:ea typeface="+mn-ea"/>
                          <a:cs typeface="+mn-cs"/>
                        </a:rPr>
                        <a:t>-0,6</a:t>
                      </a:r>
                    </a:p>
                  </a:txBody>
                  <a:tcPr marL="9525" marR="9525" marT="9525" marB="0" anchor="b"/>
                </a:tc>
                <a:tc>
                  <a:txBody>
                    <a:bodyPr/>
                    <a:lstStyle/>
                    <a:p>
                      <a:pPr marL="0" algn="ctr" defTabSz="914400" rtl="0" eaLnBrk="1" fontAlgn="b" latinLnBrk="0" hangingPunct="1"/>
                      <a:r>
                        <a:rPr lang="it-IT" sz="1800" kern="1200" dirty="0">
                          <a:solidFill>
                            <a:schemeClr val="dk1"/>
                          </a:solidFill>
                          <a:latin typeface="+mn-lt"/>
                          <a:ea typeface="+mn-ea"/>
                          <a:cs typeface="+mn-cs"/>
                        </a:rPr>
                        <a:t>-0,6</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-1,2</a:t>
                      </a:r>
                    </a:p>
                  </a:txBody>
                  <a:tcPr marL="9525" marR="9525" marT="9525" marB="0" anchor="b"/>
                </a:tc>
                <a:extLst>
                  <a:ext uri="{0D108BD9-81ED-4DB2-BD59-A6C34878D82A}">
                    <a16:rowId xmlns:a16="http://schemas.microsoft.com/office/drawing/2014/main" val="2126436750"/>
                  </a:ext>
                </a:extLst>
              </a:tr>
              <a:tr h="370840">
                <a:tc>
                  <a:txBody>
                    <a:bodyPr/>
                    <a:lstStyle/>
                    <a:p>
                      <a:pPr algn="ctr"/>
                      <a:r>
                        <a:rPr lang="it-IT" dirty="0"/>
                        <a:t>7</a:t>
                      </a:r>
                    </a:p>
                  </a:txBody>
                  <a:tcPr/>
                </a:tc>
                <a:tc>
                  <a:txBody>
                    <a:bodyPr/>
                    <a:lstStyle/>
                    <a:p>
                      <a:pPr algn="ctr" fontAlgn="b"/>
                      <a:r>
                        <a:rPr lang="it-IT" sz="1800" kern="1200">
                          <a:solidFill>
                            <a:schemeClr val="dk1"/>
                          </a:solidFill>
                          <a:latin typeface="+mn-lt"/>
                          <a:ea typeface="+mn-ea"/>
                          <a:cs typeface="+mn-cs"/>
                        </a:rPr>
                        <a:t>-0,4</a:t>
                      </a:r>
                    </a:p>
                  </a:txBody>
                  <a:tcPr marL="9525" marR="9525" marT="9525" marB="0" anchor="b"/>
                </a:tc>
                <a:tc>
                  <a:txBody>
                    <a:bodyPr/>
                    <a:lstStyle/>
                    <a:p>
                      <a:pPr algn="ctr" fontAlgn="b"/>
                      <a:r>
                        <a:rPr lang="it-IT" sz="1800" kern="1200">
                          <a:solidFill>
                            <a:schemeClr val="dk1"/>
                          </a:solidFill>
                          <a:latin typeface="+mn-lt"/>
                          <a:ea typeface="+mn-ea"/>
                          <a:cs typeface="+mn-cs"/>
                        </a:rPr>
                        <a:t>-0,6</a:t>
                      </a:r>
                    </a:p>
                  </a:txBody>
                  <a:tcPr marL="9525" marR="9525" marT="9525" marB="0" anchor="b"/>
                </a:tc>
                <a:tc>
                  <a:txBody>
                    <a:bodyPr/>
                    <a:lstStyle/>
                    <a:p>
                      <a:pPr algn="ctr" fontAlgn="b"/>
                      <a:r>
                        <a:rPr lang="it-IT" sz="1800" kern="1200" dirty="0">
                          <a:solidFill>
                            <a:schemeClr val="dk1"/>
                          </a:solidFill>
                          <a:latin typeface="+mn-lt"/>
                          <a:ea typeface="+mn-ea"/>
                          <a:cs typeface="+mn-cs"/>
                        </a:rPr>
                        <a:t>-1,2</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-1,6</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-1</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0</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0</a:t>
                      </a:r>
                    </a:p>
                  </a:txBody>
                  <a:tcPr marL="9525" marR="9525" marT="9525" marB="0" anchor="b"/>
                </a:tc>
                <a:tc>
                  <a:txBody>
                    <a:bodyPr/>
                    <a:lstStyle/>
                    <a:p>
                      <a:pPr marL="0" algn="ctr" defTabSz="914400" rtl="0" eaLnBrk="1" fontAlgn="b" latinLnBrk="0" hangingPunct="1"/>
                      <a:r>
                        <a:rPr lang="it-IT" sz="1800" kern="1200" dirty="0">
                          <a:solidFill>
                            <a:schemeClr val="dk1"/>
                          </a:solidFill>
                          <a:latin typeface="+mn-lt"/>
                          <a:ea typeface="+mn-ea"/>
                          <a:cs typeface="+mn-cs"/>
                        </a:rPr>
                        <a:t>0</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0</a:t>
                      </a:r>
                    </a:p>
                  </a:txBody>
                  <a:tcPr marL="9525" marR="9525" marT="9525" marB="0" anchor="b"/>
                </a:tc>
                <a:extLst>
                  <a:ext uri="{0D108BD9-81ED-4DB2-BD59-A6C34878D82A}">
                    <a16:rowId xmlns:a16="http://schemas.microsoft.com/office/drawing/2014/main" val="1290132517"/>
                  </a:ext>
                </a:extLst>
              </a:tr>
              <a:tr h="370840">
                <a:tc>
                  <a:txBody>
                    <a:bodyPr/>
                    <a:lstStyle/>
                    <a:p>
                      <a:pPr algn="ctr"/>
                      <a:r>
                        <a:rPr lang="it-IT" dirty="0"/>
                        <a:t>8</a:t>
                      </a:r>
                    </a:p>
                  </a:txBody>
                  <a:tcPr/>
                </a:tc>
                <a:tc>
                  <a:txBody>
                    <a:bodyPr/>
                    <a:lstStyle/>
                    <a:p>
                      <a:pPr algn="ctr" fontAlgn="b"/>
                      <a:r>
                        <a:rPr lang="it-IT" sz="1800" kern="1200">
                          <a:solidFill>
                            <a:schemeClr val="dk1"/>
                          </a:solidFill>
                          <a:latin typeface="+mn-lt"/>
                          <a:ea typeface="+mn-ea"/>
                          <a:cs typeface="+mn-cs"/>
                        </a:rPr>
                        <a:t>-0,4</a:t>
                      </a:r>
                    </a:p>
                  </a:txBody>
                  <a:tcPr marL="9525" marR="9525" marT="9525" marB="0" anchor="b"/>
                </a:tc>
                <a:tc>
                  <a:txBody>
                    <a:bodyPr/>
                    <a:lstStyle/>
                    <a:p>
                      <a:pPr algn="ctr" fontAlgn="b"/>
                      <a:r>
                        <a:rPr lang="it-IT" sz="1800" kern="1200">
                          <a:solidFill>
                            <a:schemeClr val="dk1"/>
                          </a:solidFill>
                          <a:latin typeface="+mn-lt"/>
                          <a:ea typeface="+mn-ea"/>
                          <a:cs typeface="+mn-cs"/>
                        </a:rPr>
                        <a:t>-0,6</a:t>
                      </a:r>
                    </a:p>
                  </a:txBody>
                  <a:tcPr marL="9525" marR="9525" marT="9525" marB="0" anchor="b"/>
                </a:tc>
                <a:tc>
                  <a:txBody>
                    <a:bodyPr/>
                    <a:lstStyle/>
                    <a:p>
                      <a:pPr algn="ctr" fontAlgn="b"/>
                      <a:r>
                        <a:rPr lang="it-IT" sz="1800" kern="1200" dirty="0">
                          <a:solidFill>
                            <a:schemeClr val="dk1"/>
                          </a:solidFill>
                          <a:latin typeface="+mn-lt"/>
                          <a:ea typeface="+mn-ea"/>
                          <a:cs typeface="+mn-cs"/>
                        </a:rPr>
                        <a:t>-1,2</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-0,4</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-1</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2</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0,6</a:t>
                      </a:r>
                    </a:p>
                  </a:txBody>
                  <a:tcPr marL="9525" marR="9525" marT="9525" marB="0" anchor="b"/>
                </a:tc>
                <a:tc>
                  <a:txBody>
                    <a:bodyPr/>
                    <a:lstStyle/>
                    <a:p>
                      <a:pPr marL="0" algn="ctr" defTabSz="914400" rtl="0" eaLnBrk="1" fontAlgn="b" latinLnBrk="0" hangingPunct="1"/>
                      <a:r>
                        <a:rPr lang="it-IT" sz="1800" kern="1200" dirty="0">
                          <a:solidFill>
                            <a:schemeClr val="dk1"/>
                          </a:solidFill>
                          <a:latin typeface="+mn-lt"/>
                          <a:ea typeface="+mn-ea"/>
                          <a:cs typeface="+mn-cs"/>
                        </a:rPr>
                        <a:t>0</a:t>
                      </a:r>
                    </a:p>
                  </a:txBody>
                  <a:tcPr marL="9525" marR="9525" marT="9525" marB="0" anchor="b"/>
                </a:tc>
                <a:tc>
                  <a:txBody>
                    <a:bodyPr/>
                    <a:lstStyle/>
                    <a:p>
                      <a:pPr marL="0" algn="ctr" defTabSz="914400" rtl="0" eaLnBrk="1" fontAlgn="b" latinLnBrk="0" hangingPunct="1"/>
                      <a:r>
                        <a:rPr lang="it-IT" sz="1800" kern="1200" dirty="0">
                          <a:solidFill>
                            <a:schemeClr val="dk1"/>
                          </a:solidFill>
                          <a:latin typeface="+mn-lt"/>
                          <a:ea typeface="+mn-ea"/>
                          <a:cs typeface="+mn-cs"/>
                        </a:rPr>
                        <a:t>0</a:t>
                      </a:r>
                    </a:p>
                  </a:txBody>
                  <a:tcPr marL="9525" marR="9525" marT="9525" marB="0" anchor="b"/>
                </a:tc>
                <a:extLst>
                  <a:ext uri="{0D108BD9-81ED-4DB2-BD59-A6C34878D82A}">
                    <a16:rowId xmlns:a16="http://schemas.microsoft.com/office/drawing/2014/main" val="1380738723"/>
                  </a:ext>
                </a:extLst>
              </a:tr>
              <a:tr h="370840">
                <a:tc>
                  <a:txBody>
                    <a:bodyPr/>
                    <a:lstStyle/>
                    <a:p>
                      <a:pPr algn="ctr"/>
                      <a:r>
                        <a:rPr lang="it-IT" dirty="0"/>
                        <a:t>9</a:t>
                      </a:r>
                    </a:p>
                  </a:txBody>
                  <a:tcPr/>
                </a:tc>
                <a:tc>
                  <a:txBody>
                    <a:bodyPr/>
                    <a:lstStyle/>
                    <a:p>
                      <a:pPr algn="ctr" fontAlgn="b"/>
                      <a:r>
                        <a:rPr lang="it-IT" sz="1800" kern="1200">
                          <a:solidFill>
                            <a:schemeClr val="dk1"/>
                          </a:solidFill>
                          <a:latin typeface="+mn-lt"/>
                          <a:ea typeface="+mn-ea"/>
                          <a:cs typeface="+mn-cs"/>
                        </a:rPr>
                        <a:t>0,2</a:t>
                      </a:r>
                    </a:p>
                  </a:txBody>
                  <a:tcPr marL="9525" marR="9525" marT="9525" marB="0" anchor="b"/>
                </a:tc>
                <a:tc>
                  <a:txBody>
                    <a:bodyPr/>
                    <a:lstStyle/>
                    <a:p>
                      <a:pPr algn="ctr" fontAlgn="b"/>
                      <a:r>
                        <a:rPr lang="it-IT" sz="1800" kern="1200">
                          <a:solidFill>
                            <a:schemeClr val="dk1"/>
                          </a:solidFill>
                          <a:latin typeface="+mn-lt"/>
                          <a:ea typeface="+mn-ea"/>
                          <a:cs typeface="+mn-cs"/>
                        </a:rPr>
                        <a:t>-0,6</a:t>
                      </a:r>
                    </a:p>
                  </a:txBody>
                  <a:tcPr marL="9525" marR="9525" marT="9525" marB="0" anchor="b"/>
                </a:tc>
                <a:tc>
                  <a:txBody>
                    <a:bodyPr/>
                    <a:lstStyle/>
                    <a:p>
                      <a:pPr algn="ctr" fontAlgn="b"/>
                      <a:r>
                        <a:rPr lang="it-IT" sz="1800" kern="1200" dirty="0">
                          <a:solidFill>
                            <a:schemeClr val="dk1"/>
                          </a:solidFill>
                          <a:latin typeface="+mn-lt"/>
                          <a:ea typeface="+mn-ea"/>
                          <a:cs typeface="+mn-cs"/>
                        </a:rPr>
                        <a:t>-1,2</a:t>
                      </a:r>
                    </a:p>
                  </a:txBody>
                  <a:tcPr marL="9525" marR="9525" marT="9525" marB="0" anchor="b"/>
                </a:tc>
                <a:tc>
                  <a:txBody>
                    <a:bodyPr/>
                    <a:lstStyle/>
                    <a:p>
                      <a:pPr marL="0" algn="ctr" defTabSz="914400" rtl="0" eaLnBrk="1" fontAlgn="b" latinLnBrk="0" hangingPunct="1"/>
                      <a:r>
                        <a:rPr lang="it-IT" sz="1800" kern="1200" dirty="0">
                          <a:solidFill>
                            <a:schemeClr val="dk1"/>
                          </a:solidFill>
                          <a:latin typeface="+mn-lt"/>
                          <a:ea typeface="+mn-ea"/>
                          <a:cs typeface="+mn-cs"/>
                        </a:rPr>
                        <a:t>-2,8</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-1</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0</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0</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0</a:t>
                      </a:r>
                    </a:p>
                  </a:txBody>
                  <a:tcPr marL="9525" marR="9525" marT="9525" marB="0" anchor="b"/>
                </a:tc>
                <a:tc>
                  <a:txBody>
                    <a:bodyPr/>
                    <a:lstStyle/>
                    <a:p>
                      <a:pPr marL="0" algn="ctr" defTabSz="914400" rtl="0" eaLnBrk="1" fontAlgn="b" latinLnBrk="0" hangingPunct="1"/>
                      <a:r>
                        <a:rPr lang="it-IT" sz="1800" kern="1200" dirty="0">
                          <a:solidFill>
                            <a:schemeClr val="dk1"/>
                          </a:solidFill>
                          <a:latin typeface="+mn-lt"/>
                          <a:ea typeface="+mn-ea"/>
                          <a:cs typeface="+mn-cs"/>
                        </a:rPr>
                        <a:t>0</a:t>
                      </a:r>
                    </a:p>
                  </a:txBody>
                  <a:tcPr marL="9525" marR="9525" marT="9525" marB="0" anchor="b"/>
                </a:tc>
                <a:extLst>
                  <a:ext uri="{0D108BD9-81ED-4DB2-BD59-A6C34878D82A}">
                    <a16:rowId xmlns:a16="http://schemas.microsoft.com/office/drawing/2014/main" val="2119150045"/>
                  </a:ext>
                </a:extLst>
              </a:tr>
              <a:tr h="370840">
                <a:tc>
                  <a:txBody>
                    <a:bodyPr/>
                    <a:lstStyle/>
                    <a:p>
                      <a:pPr algn="ctr"/>
                      <a:r>
                        <a:rPr lang="it-IT" dirty="0"/>
                        <a:t>10</a:t>
                      </a:r>
                    </a:p>
                  </a:txBody>
                  <a:tcPr/>
                </a:tc>
                <a:tc>
                  <a:txBody>
                    <a:bodyPr/>
                    <a:lstStyle/>
                    <a:p>
                      <a:pPr algn="ctr" fontAlgn="b"/>
                      <a:r>
                        <a:rPr lang="it-IT" sz="1800" kern="1200" dirty="0">
                          <a:solidFill>
                            <a:schemeClr val="dk1"/>
                          </a:solidFill>
                          <a:latin typeface="+mn-lt"/>
                          <a:ea typeface="+mn-ea"/>
                          <a:cs typeface="+mn-cs"/>
                        </a:rPr>
                        <a:t>0,2</a:t>
                      </a:r>
                    </a:p>
                  </a:txBody>
                  <a:tcPr marL="9525" marR="9525" marT="9525" marB="0" anchor="b"/>
                </a:tc>
                <a:tc>
                  <a:txBody>
                    <a:bodyPr/>
                    <a:lstStyle/>
                    <a:p>
                      <a:pPr algn="ctr" fontAlgn="b"/>
                      <a:r>
                        <a:rPr lang="it-IT" sz="1800" kern="1200">
                          <a:solidFill>
                            <a:schemeClr val="dk1"/>
                          </a:solidFill>
                          <a:latin typeface="+mn-lt"/>
                          <a:ea typeface="+mn-ea"/>
                          <a:cs typeface="+mn-cs"/>
                        </a:rPr>
                        <a:t>-0,6</a:t>
                      </a:r>
                    </a:p>
                  </a:txBody>
                  <a:tcPr marL="9525" marR="9525" marT="9525" marB="0" anchor="b"/>
                </a:tc>
                <a:tc>
                  <a:txBody>
                    <a:bodyPr/>
                    <a:lstStyle/>
                    <a:p>
                      <a:pPr algn="ctr" fontAlgn="b"/>
                      <a:r>
                        <a:rPr lang="it-IT" sz="1800" kern="1200" dirty="0">
                          <a:solidFill>
                            <a:schemeClr val="dk1"/>
                          </a:solidFill>
                          <a:latin typeface="+mn-lt"/>
                          <a:ea typeface="+mn-ea"/>
                          <a:cs typeface="+mn-cs"/>
                        </a:rPr>
                        <a:t>-1,2</a:t>
                      </a:r>
                    </a:p>
                  </a:txBody>
                  <a:tcPr marL="9525" marR="9525" marT="9525" marB="0" anchor="b"/>
                </a:tc>
                <a:tc>
                  <a:txBody>
                    <a:bodyPr/>
                    <a:lstStyle/>
                    <a:p>
                      <a:pPr marL="0" algn="ctr" defTabSz="914400" rtl="0" eaLnBrk="1" fontAlgn="b" latinLnBrk="0" hangingPunct="1"/>
                      <a:r>
                        <a:rPr lang="it-IT" sz="1800" kern="1200" dirty="0">
                          <a:solidFill>
                            <a:schemeClr val="dk1"/>
                          </a:solidFill>
                          <a:latin typeface="+mn-lt"/>
                          <a:ea typeface="+mn-ea"/>
                          <a:cs typeface="+mn-cs"/>
                        </a:rPr>
                        <a:t>-1</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-1</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0</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0</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0</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0</a:t>
                      </a:r>
                    </a:p>
                  </a:txBody>
                  <a:tcPr marL="9525" marR="9525" marT="9525" marB="0" anchor="b"/>
                </a:tc>
                <a:extLst>
                  <a:ext uri="{0D108BD9-81ED-4DB2-BD59-A6C34878D82A}">
                    <a16:rowId xmlns:a16="http://schemas.microsoft.com/office/drawing/2014/main" val="2545436331"/>
                  </a:ext>
                </a:extLst>
              </a:tr>
              <a:tr h="370840">
                <a:tc>
                  <a:txBody>
                    <a:bodyPr/>
                    <a:lstStyle/>
                    <a:p>
                      <a:pPr algn="ctr"/>
                      <a:r>
                        <a:rPr lang="it-IT" dirty="0"/>
                        <a:t>11</a:t>
                      </a:r>
                    </a:p>
                  </a:txBody>
                  <a:tcPr/>
                </a:tc>
                <a:tc>
                  <a:txBody>
                    <a:bodyPr/>
                    <a:lstStyle/>
                    <a:p>
                      <a:pPr algn="ctr" fontAlgn="b"/>
                      <a:r>
                        <a:rPr lang="it-IT" sz="1800" kern="1200" dirty="0">
                          <a:solidFill>
                            <a:schemeClr val="dk1"/>
                          </a:solidFill>
                          <a:latin typeface="+mn-lt"/>
                          <a:ea typeface="+mn-ea"/>
                          <a:cs typeface="+mn-cs"/>
                        </a:rPr>
                        <a:t>0,2</a:t>
                      </a:r>
                    </a:p>
                  </a:txBody>
                  <a:tcPr marL="9525" marR="9525" marT="9525" marB="0" anchor="b"/>
                </a:tc>
                <a:tc>
                  <a:txBody>
                    <a:bodyPr/>
                    <a:lstStyle/>
                    <a:p>
                      <a:pPr algn="ctr" fontAlgn="b"/>
                      <a:r>
                        <a:rPr lang="it-IT" sz="1800" kern="1200">
                          <a:solidFill>
                            <a:schemeClr val="dk1"/>
                          </a:solidFill>
                          <a:latin typeface="+mn-lt"/>
                          <a:ea typeface="+mn-ea"/>
                          <a:cs typeface="+mn-cs"/>
                        </a:rPr>
                        <a:t>-0,6</a:t>
                      </a:r>
                    </a:p>
                  </a:txBody>
                  <a:tcPr marL="9525" marR="9525" marT="9525" marB="0" anchor="b"/>
                </a:tc>
                <a:tc>
                  <a:txBody>
                    <a:bodyPr/>
                    <a:lstStyle/>
                    <a:p>
                      <a:pPr algn="ctr" fontAlgn="b"/>
                      <a:r>
                        <a:rPr lang="it-IT" sz="1800" kern="1200" dirty="0">
                          <a:solidFill>
                            <a:schemeClr val="dk1"/>
                          </a:solidFill>
                          <a:latin typeface="+mn-lt"/>
                          <a:ea typeface="+mn-ea"/>
                          <a:cs typeface="+mn-cs"/>
                        </a:rPr>
                        <a:t>-1,2</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0,2</a:t>
                      </a:r>
                    </a:p>
                  </a:txBody>
                  <a:tcPr marL="9525" marR="9525" marT="9525" marB="0" anchor="b"/>
                </a:tc>
                <a:tc>
                  <a:txBody>
                    <a:bodyPr/>
                    <a:lstStyle/>
                    <a:p>
                      <a:pPr marL="0" algn="ctr" defTabSz="914400" rtl="0" eaLnBrk="1" fontAlgn="b" latinLnBrk="0" hangingPunct="1"/>
                      <a:r>
                        <a:rPr lang="it-IT" sz="1800" kern="1200" dirty="0">
                          <a:solidFill>
                            <a:schemeClr val="dk1"/>
                          </a:solidFill>
                          <a:latin typeface="+mn-lt"/>
                          <a:ea typeface="+mn-ea"/>
                          <a:cs typeface="+mn-cs"/>
                        </a:rPr>
                        <a:t>1</a:t>
                      </a:r>
                    </a:p>
                  </a:txBody>
                  <a:tcPr marL="9525" marR="9525" marT="9525" marB="0" anchor="b"/>
                </a:tc>
                <a:tc>
                  <a:txBody>
                    <a:bodyPr/>
                    <a:lstStyle/>
                    <a:p>
                      <a:pPr marL="0" algn="ctr" defTabSz="914400" rtl="0" eaLnBrk="1" fontAlgn="b" latinLnBrk="0" hangingPunct="1"/>
                      <a:r>
                        <a:rPr lang="it-IT" sz="1800" kern="1200" dirty="0">
                          <a:solidFill>
                            <a:schemeClr val="dk1"/>
                          </a:solidFill>
                          <a:latin typeface="+mn-lt"/>
                          <a:ea typeface="+mn-ea"/>
                          <a:cs typeface="+mn-cs"/>
                        </a:rPr>
                        <a:t>0</a:t>
                      </a:r>
                    </a:p>
                  </a:txBody>
                  <a:tcPr marL="9525" marR="9525" marT="9525" marB="0" anchor="b"/>
                </a:tc>
                <a:tc>
                  <a:txBody>
                    <a:bodyPr/>
                    <a:lstStyle/>
                    <a:p>
                      <a:pPr marL="0" algn="ctr" defTabSz="914400" rtl="0" eaLnBrk="1" fontAlgn="b" latinLnBrk="0" hangingPunct="1"/>
                      <a:r>
                        <a:rPr lang="it-IT" sz="1800" kern="1200" dirty="0">
                          <a:solidFill>
                            <a:schemeClr val="dk1"/>
                          </a:solidFill>
                          <a:latin typeface="+mn-lt"/>
                          <a:ea typeface="+mn-ea"/>
                          <a:cs typeface="+mn-cs"/>
                        </a:rPr>
                        <a:t>0</a:t>
                      </a:r>
                    </a:p>
                  </a:txBody>
                  <a:tcPr marL="9525" marR="9525" marT="9525" marB="0" anchor="b"/>
                </a:tc>
                <a:tc>
                  <a:txBody>
                    <a:bodyPr/>
                    <a:lstStyle/>
                    <a:p>
                      <a:pPr marL="0" algn="ctr" defTabSz="914400" rtl="0" eaLnBrk="1" fontAlgn="b" latinLnBrk="0" hangingPunct="1"/>
                      <a:r>
                        <a:rPr lang="it-IT" sz="1800" kern="1200" dirty="0">
                          <a:solidFill>
                            <a:schemeClr val="dk1"/>
                          </a:solidFill>
                          <a:latin typeface="+mn-lt"/>
                          <a:ea typeface="+mn-ea"/>
                          <a:cs typeface="+mn-cs"/>
                        </a:rPr>
                        <a:t>0</a:t>
                      </a:r>
                    </a:p>
                  </a:txBody>
                  <a:tcPr marL="9525" marR="9525" marT="9525" marB="0" anchor="b"/>
                </a:tc>
                <a:tc>
                  <a:txBody>
                    <a:bodyPr/>
                    <a:lstStyle/>
                    <a:p>
                      <a:pPr marL="0" algn="ctr" defTabSz="914400" rtl="0" eaLnBrk="1" fontAlgn="b" latinLnBrk="0" hangingPunct="1"/>
                      <a:r>
                        <a:rPr lang="it-IT" sz="1800" kern="1200" dirty="0">
                          <a:solidFill>
                            <a:schemeClr val="dk1"/>
                          </a:solidFill>
                          <a:latin typeface="+mn-lt"/>
                          <a:ea typeface="+mn-ea"/>
                          <a:cs typeface="+mn-cs"/>
                        </a:rPr>
                        <a:t>0</a:t>
                      </a:r>
                    </a:p>
                  </a:txBody>
                  <a:tcPr marL="9525" marR="9525" marT="9525" marB="0" anchor="b"/>
                </a:tc>
                <a:extLst>
                  <a:ext uri="{0D108BD9-81ED-4DB2-BD59-A6C34878D82A}">
                    <a16:rowId xmlns:a16="http://schemas.microsoft.com/office/drawing/2014/main" val="3664168057"/>
                  </a:ext>
                </a:extLst>
              </a:tr>
              <a:tr h="370840">
                <a:tc>
                  <a:txBody>
                    <a:bodyPr/>
                    <a:lstStyle/>
                    <a:p>
                      <a:pPr algn="ctr"/>
                      <a:r>
                        <a:rPr lang="it-IT" dirty="0"/>
                        <a:t>12</a:t>
                      </a:r>
                    </a:p>
                  </a:txBody>
                  <a:tcPr/>
                </a:tc>
                <a:tc>
                  <a:txBody>
                    <a:bodyPr/>
                    <a:lstStyle/>
                    <a:p>
                      <a:pPr algn="ctr" fontAlgn="b"/>
                      <a:r>
                        <a:rPr lang="it-IT" sz="1800" kern="1200" dirty="0">
                          <a:solidFill>
                            <a:schemeClr val="dk1"/>
                          </a:solidFill>
                          <a:latin typeface="+mn-lt"/>
                          <a:ea typeface="+mn-ea"/>
                          <a:cs typeface="+mn-cs"/>
                        </a:rPr>
                        <a:t>0,2</a:t>
                      </a:r>
                    </a:p>
                  </a:txBody>
                  <a:tcPr marL="9525" marR="9525" marT="9525" marB="0" anchor="b"/>
                </a:tc>
                <a:tc>
                  <a:txBody>
                    <a:bodyPr/>
                    <a:lstStyle/>
                    <a:p>
                      <a:pPr algn="ctr" fontAlgn="b"/>
                      <a:r>
                        <a:rPr lang="it-IT" sz="1800" kern="1200">
                          <a:solidFill>
                            <a:schemeClr val="dk1"/>
                          </a:solidFill>
                          <a:latin typeface="+mn-lt"/>
                          <a:ea typeface="+mn-ea"/>
                          <a:cs typeface="+mn-cs"/>
                        </a:rPr>
                        <a:t>-0,6</a:t>
                      </a:r>
                    </a:p>
                  </a:txBody>
                  <a:tcPr marL="9525" marR="9525" marT="9525" marB="0" anchor="b"/>
                </a:tc>
                <a:tc>
                  <a:txBody>
                    <a:bodyPr/>
                    <a:lstStyle/>
                    <a:p>
                      <a:pPr algn="ctr" fontAlgn="b"/>
                      <a:r>
                        <a:rPr lang="it-IT" sz="1800" kern="1200" dirty="0">
                          <a:solidFill>
                            <a:schemeClr val="dk1"/>
                          </a:solidFill>
                          <a:latin typeface="+mn-lt"/>
                          <a:ea typeface="+mn-ea"/>
                          <a:cs typeface="+mn-cs"/>
                        </a:rPr>
                        <a:t>-1,2</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-2,8</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-1</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0</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0</a:t>
                      </a:r>
                    </a:p>
                  </a:txBody>
                  <a:tcPr marL="9525" marR="9525" marT="9525" marB="0" anchor="b"/>
                </a:tc>
                <a:tc>
                  <a:txBody>
                    <a:bodyPr/>
                    <a:lstStyle/>
                    <a:p>
                      <a:pPr marL="0" algn="ctr" defTabSz="914400" rtl="0" eaLnBrk="1" fontAlgn="b" latinLnBrk="0" hangingPunct="1"/>
                      <a:r>
                        <a:rPr lang="it-IT" sz="1800" kern="1200">
                          <a:solidFill>
                            <a:schemeClr val="dk1"/>
                          </a:solidFill>
                          <a:latin typeface="+mn-lt"/>
                          <a:ea typeface="+mn-ea"/>
                          <a:cs typeface="+mn-cs"/>
                        </a:rPr>
                        <a:t>0</a:t>
                      </a:r>
                    </a:p>
                  </a:txBody>
                  <a:tcPr marL="9525" marR="9525" marT="9525" marB="0" anchor="b"/>
                </a:tc>
                <a:tc>
                  <a:txBody>
                    <a:bodyPr/>
                    <a:lstStyle/>
                    <a:p>
                      <a:pPr marL="0" algn="ctr" defTabSz="914400" rtl="0" eaLnBrk="1" fontAlgn="b" latinLnBrk="0" hangingPunct="1"/>
                      <a:r>
                        <a:rPr lang="it-IT" sz="1800" kern="1200" dirty="0">
                          <a:solidFill>
                            <a:schemeClr val="dk1"/>
                          </a:solidFill>
                          <a:latin typeface="+mn-lt"/>
                          <a:ea typeface="+mn-ea"/>
                          <a:cs typeface="+mn-cs"/>
                        </a:rPr>
                        <a:t>0</a:t>
                      </a:r>
                    </a:p>
                  </a:txBody>
                  <a:tcPr marL="9525" marR="9525" marT="9525" marB="0" anchor="b"/>
                </a:tc>
                <a:extLst>
                  <a:ext uri="{0D108BD9-81ED-4DB2-BD59-A6C34878D82A}">
                    <a16:rowId xmlns:a16="http://schemas.microsoft.com/office/drawing/2014/main" val="2137315494"/>
                  </a:ext>
                </a:extLst>
              </a:tr>
            </a:tbl>
          </a:graphicData>
        </a:graphic>
      </p:graphicFrame>
      <p:sp>
        <p:nvSpPr>
          <p:cNvPr id="5" name="CasellaDiTesto 4">
            <a:extLst>
              <a:ext uri="{FF2B5EF4-FFF2-40B4-BE49-F238E27FC236}">
                <a16:creationId xmlns:a16="http://schemas.microsoft.com/office/drawing/2014/main" id="{1C0D3F40-0FA6-AE4B-B317-31946E90F809}"/>
              </a:ext>
            </a:extLst>
          </p:cNvPr>
          <p:cNvSpPr txBox="1"/>
          <p:nvPr/>
        </p:nvSpPr>
        <p:spPr>
          <a:xfrm>
            <a:off x="1138723" y="3402142"/>
            <a:ext cx="1444626" cy="369332"/>
          </a:xfrm>
          <a:prstGeom prst="rect">
            <a:avLst/>
          </a:prstGeom>
          <a:noFill/>
        </p:spPr>
        <p:txBody>
          <a:bodyPr wrap="none" rtlCol="0">
            <a:spAutoFit/>
          </a:bodyPr>
          <a:lstStyle/>
          <a:p>
            <a:r>
              <a:rPr lang="it-IT" dirty="0"/>
              <a:t>Lambda = 0.3</a:t>
            </a:r>
          </a:p>
        </p:txBody>
      </p:sp>
      <p:graphicFrame>
        <p:nvGraphicFramePr>
          <p:cNvPr id="6" name="Tabella 5">
            <a:extLst>
              <a:ext uri="{FF2B5EF4-FFF2-40B4-BE49-F238E27FC236}">
                <a16:creationId xmlns:a16="http://schemas.microsoft.com/office/drawing/2014/main" id="{58620517-8327-5E49-9C6A-8EB32CC9A36C}"/>
              </a:ext>
            </a:extLst>
          </p:cNvPr>
          <p:cNvGraphicFramePr>
            <a:graphicFrameLocks noGrp="1"/>
          </p:cNvGraphicFramePr>
          <p:nvPr/>
        </p:nvGraphicFramePr>
        <p:xfrm>
          <a:off x="994947" y="1608113"/>
          <a:ext cx="2086476" cy="1483360"/>
        </p:xfrm>
        <a:graphic>
          <a:graphicData uri="http://schemas.openxmlformats.org/drawingml/2006/table">
            <a:tbl>
              <a:tblPr firstRow="1" bandRow="1">
                <a:tableStyleId>{5C22544A-7EE6-4342-B048-85BDC9FD1C3A}</a:tableStyleId>
              </a:tblPr>
              <a:tblGrid>
                <a:gridCol w="521619">
                  <a:extLst>
                    <a:ext uri="{9D8B030D-6E8A-4147-A177-3AD203B41FA5}">
                      <a16:colId xmlns:a16="http://schemas.microsoft.com/office/drawing/2014/main" val="3007943972"/>
                    </a:ext>
                  </a:extLst>
                </a:gridCol>
                <a:gridCol w="521619">
                  <a:extLst>
                    <a:ext uri="{9D8B030D-6E8A-4147-A177-3AD203B41FA5}">
                      <a16:colId xmlns:a16="http://schemas.microsoft.com/office/drawing/2014/main" val="220923671"/>
                    </a:ext>
                  </a:extLst>
                </a:gridCol>
                <a:gridCol w="521619">
                  <a:extLst>
                    <a:ext uri="{9D8B030D-6E8A-4147-A177-3AD203B41FA5}">
                      <a16:colId xmlns:a16="http://schemas.microsoft.com/office/drawing/2014/main" val="1888354542"/>
                    </a:ext>
                  </a:extLst>
                </a:gridCol>
                <a:gridCol w="521619">
                  <a:extLst>
                    <a:ext uri="{9D8B030D-6E8A-4147-A177-3AD203B41FA5}">
                      <a16:colId xmlns:a16="http://schemas.microsoft.com/office/drawing/2014/main" val="2090727010"/>
                    </a:ext>
                  </a:extLst>
                </a:gridCol>
              </a:tblGrid>
              <a:tr h="370840">
                <a:tc>
                  <a:txBody>
                    <a:bodyPr/>
                    <a:lstStyle/>
                    <a:p>
                      <a:pPr algn="ctr"/>
                      <a:r>
                        <a:rPr lang="it-IT" dirty="0"/>
                        <a:t>id</a:t>
                      </a:r>
                    </a:p>
                  </a:txBody>
                  <a:tcPr/>
                </a:tc>
                <a:tc>
                  <a:txBody>
                    <a:bodyPr/>
                    <a:lstStyle/>
                    <a:p>
                      <a:pPr algn="ctr"/>
                      <a:r>
                        <a:rPr lang="it-IT" dirty="0"/>
                        <a:t>X</a:t>
                      </a:r>
                      <a:r>
                        <a:rPr lang="it-IT" baseline="-25000" dirty="0"/>
                        <a:t>1</a:t>
                      </a:r>
                    </a:p>
                  </a:txBody>
                  <a:tcPr/>
                </a:tc>
                <a:tc>
                  <a:txBody>
                    <a:bodyPr/>
                    <a:lstStyle/>
                    <a:p>
                      <a:pPr algn="ctr"/>
                      <a:r>
                        <a:rPr lang="it-IT" dirty="0"/>
                        <a:t>X</a:t>
                      </a:r>
                      <a:r>
                        <a:rPr lang="it-IT" baseline="-25000" dirty="0"/>
                        <a:t>2</a:t>
                      </a:r>
                      <a:endParaRPr lang="it-IT" dirty="0"/>
                    </a:p>
                  </a:txBody>
                  <a:tcPr/>
                </a:tc>
                <a:tc>
                  <a:txBody>
                    <a:bodyPr/>
                    <a:lstStyle/>
                    <a:p>
                      <a:pPr algn="ctr"/>
                      <a:r>
                        <a:rPr lang="it-IT" dirty="0"/>
                        <a:t>Y</a:t>
                      </a:r>
                    </a:p>
                  </a:txBody>
                  <a:tcPr/>
                </a:tc>
                <a:extLst>
                  <a:ext uri="{0D108BD9-81ED-4DB2-BD59-A6C34878D82A}">
                    <a16:rowId xmlns:a16="http://schemas.microsoft.com/office/drawing/2014/main" val="647644152"/>
                  </a:ext>
                </a:extLst>
              </a:tr>
              <a:tr h="370840">
                <a:tc>
                  <a:txBody>
                    <a:bodyPr/>
                    <a:lstStyle/>
                    <a:p>
                      <a:pPr algn="ctr"/>
                      <a:r>
                        <a:rPr lang="it-IT" dirty="0"/>
                        <a:t>a</a:t>
                      </a:r>
                    </a:p>
                  </a:txBody>
                  <a:tcPr/>
                </a:tc>
                <a:tc>
                  <a:txBody>
                    <a:bodyPr/>
                    <a:lstStyle/>
                    <a:p>
                      <a:pPr algn="ctr"/>
                      <a:r>
                        <a:rPr lang="it-IT" dirty="0"/>
                        <a:t>0</a:t>
                      </a:r>
                    </a:p>
                  </a:txBody>
                  <a:tcPr/>
                </a:tc>
                <a:tc>
                  <a:txBody>
                    <a:bodyPr/>
                    <a:lstStyle/>
                    <a:p>
                      <a:pPr algn="ctr"/>
                      <a:r>
                        <a:rPr lang="it-IT" dirty="0"/>
                        <a:t>1</a:t>
                      </a:r>
                    </a:p>
                  </a:txBody>
                  <a:tcPr/>
                </a:tc>
                <a:tc>
                  <a:txBody>
                    <a:bodyPr/>
                    <a:lstStyle/>
                    <a:p>
                      <a:pPr algn="ctr"/>
                      <a:r>
                        <a:rPr lang="it-IT" dirty="0"/>
                        <a:t>-1</a:t>
                      </a:r>
                    </a:p>
                  </a:txBody>
                  <a:tcPr/>
                </a:tc>
                <a:extLst>
                  <a:ext uri="{0D108BD9-81ED-4DB2-BD59-A6C34878D82A}">
                    <a16:rowId xmlns:a16="http://schemas.microsoft.com/office/drawing/2014/main" val="3006406211"/>
                  </a:ext>
                </a:extLst>
              </a:tr>
              <a:tr h="370840">
                <a:tc>
                  <a:txBody>
                    <a:bodyPr/>
                    <a:lstStyle/>
                    <a:p>
                      <a:pPr algn="ctr"/>
                      <a:r>
                        <a:rPr lang="it-IT" dirty="0"/>
                        <a:t>b</a:t>
                      </a:r>
                    </a:p>
                  </a:txBody>
                  <a:tcPr/>
                </a:tc>
                <a:tc>
                  <a:txBody>
                    <a:bodyPr/>
                    <a:lstStyle/>
                    <a:p>
                      <a:pPr algn="ctr"/>
                      <a:r>
                        <a:rPr lang="it-IT" dirty="0"/>
                        <a:t>0</a:t>
                      </a:r>
                    </a:p>
                  </a:txBody>
                  <a:tcPr/>
                </a:tc>
                <a:tc>
                  <a:txBody>
                    <a:bodyPr/>
                    <a:lstStyle/>
                    <a:p>
                      <a:pPr algn="ctr"/>
                      <a:r>
                        <a:rPr lang="it-IT" dirty="0"/>
                        <a:t>0</a:t>
                      </a:r>
                    </a:p>
                  </a:txBody>
                  <a:tcPr/>
                </a:tc>
                <a:tc>
                  <a:txBody>
                    <a:bodyPr/>
                    <a:lstStyle/>
                    <a:p>
                      <a:pPr algn="ctr"/>
                      <a:r>
                        <a:rPr lang="it-IT" dirty="0"/>
                        <a:t>1</a:t>
                      </a:r>
                    </a:p>
                  </a:txBody>
                  <a:tcPr/>
                </a:tc>
                <a:extLst>
                  <a:ext uri="{0D108BD9-81ED-4DB2-BD59-A6C34878D82A}">
                    <a16:rowId xmlns:a16="http://schemas.microsoft.com/office/drawing/2014/main" val="1442248098"/>
                  </a:ext>
                </a:extLst>
              </a:tr>
              <a:tr h="370840">
                <a:tc>
                  <a:txBody>
                    <a:bodyPr/>
                    <a:lstStyle/>
                    <a:p>
                      <a:pPr algn="ctr"/>
                      <a:r>
                        <a:rPr lang="it-IT" dirty="0"/>
                        <a:t>c</a:t>
                      </a:r>
                    </a:p>
                  </a:txBody>
                  <a:tcPr/>
                </a:tc>
                <a:tc>
                  <a:txBody>
                    <a:bodyPr/>
                    <a:lstStyle/>
                    <a:p>
                      <a:pPr algn="ctr"/>
                      <a:r>
                        <a:rPr lang="it-IT" dirty="0"/>
                        <a:t>1</a:t>
                      </a:r>
                    </a:p>
                  </a:txBody>
                  <a:tcPr/>
                </a:tc>
                <a:tc>
                  <a:txBody>
                    <a:bodyPr/>
                    <a:lstStyle/>
                    <a:p>
                      <a:pPr algn="ctr"/>
                      <a:r>
                        <a:rPr lang="it-IT" dirty="0"/>
                        <a:t>2</a:t>
                      </a:r>
                    </a:p>
                  </a:txBody>
                  <a:tcPr/>
                </a:tc>
                <a:tc>
                  <a:txBody>
                    <a:bodyPr/>
                    <a:lstStyle/>
                    <a:p>
                      <a:pPr algn="ctr"/>
                      <a:r>
                        <a:rPr lang="it-IT" dirty="0"/>
                        <a:t>-1</a:t>
                      </a:r>
                    </a:p>
                  </a:txBody>
                  <a:tcPr/>
                </a:tc>
                <a:extLst>
                  <a:ext uri="{0D108BD9-81ED-4DB2-BD59-A6C34878D82A}">
                    <a16:rowId xmlns:a16="http://schemas.microsoft.com/office/drawing/2014/main" val="4095835177"/>
                  </a:ext>
                </a:extLst>
              </a:tr>
            </a:tbl>
          </a:graphicData>
        </a:graphic>
      </p:graphicFrame>
      <p:sp>
        <p:nvSpPr>
          <p:cNvPr id="7" name="CasellaDiTesto 6">
            <a:extLst>
              <a:ext uri="{FF2B5EF4-FFF2-40B4-BE49-F238E27FC236}">
                <a16:creationId xmlns:a16="http://schemas.microsoft.com/office/drawing/2014/main" id="{927C77E6-5F33-8046-9F2E-9975A8958726}"/>
              </a:ext>
            </a:extLst>
          </p:cNvPr>
          <p:cNvSpPr txBox="1"/>
          <p:nvPr/>
        </p:nvSpPr>
        <p:spPr>
          <a:xfrm>
            <a:off x="1436079" y="3840407"/>
            <a:ext cx="849913" cy="369332"/>
          </a:xfrm>
          <a:prstGeom prst="rect">
            <a:avLst/>
          </a:prstGeom>
          <a:noFill/>
        </p:spPr>
        <p:txBody>
          <a:bodyPr wrap="none" rtlCol="0">
            <a:spAutoFit/>
          </a:bodyPr>
          <a:lstStyle/>
          <a:p>
            <a:r>
              <a:rPr lang="it-IT" dirty="0"/>
              <a:t>f = </a:t>
            </a:r>
            <a:r>
              <a:rPr lang="it-IT" dirty="0" err="1"/>
              <a:t>sign</a:t>
            </a:r>
            <a:endParaRPr lang="it-IT" dirty="0"/>
          </a:p>
        </p:txBody>
      </p:sp>
      <p:sp>
        <p:nvSpPr>
          <p:cNvPr id="3" name="Rettangolo 2">
            <a:extLst>
              <a:ext uri="{FF2B5EF4-FFF2-40B4-BE49-F238E27FC236}">
                <a16:creationId xmlns:a16="http://schemas.microsoft.com/office/drawing/2014/main" id="{504B1ACE-73E0-FE40-9505-E0239FCD38C2}"/>
              </a:ext>
            </a:extLst>
          </p:cNvPr>
          <p:cNvSpPr/>
          <p:nvPr/>
        </p:nvSpPr>
        <p:spPr>
          <a:xfrm>
            <a:off x="4542790" y="6005129"/>
            <a:ext cx="2453640" cy="354330"/>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graphicFrame>
        <p:nvGraphicFramePr>
          <p:cNvPr id="8" name="Object 2">
            <a:extLst>
              <a:ext uri="{FF2B5EF4-FFF2-40B4-BE49-F238E27FC236}">
                <a16:creationId xmlns:a16="http://schemas.microsoft.com/office/drawing/2014/main" id="{CB6AC153-DA06-1E4C-8CA4-CC13F8EA1B14}"/>
              </a:ext>
            </a:extLst>
          </p:cNvPr>
          <p:cNvGraphicFramePr>
            <a:graphicFrameLocks noChangeAspect="1"/>
          </p:cNvGraphicFramePr>
          <p:nvPr/>
        </p:nvGraphicFramePr>
        <p:xfrm>
          <a:off x="4160783" y="137754"/>
          <a:ext cx="7620000" cy="555625"/>
        </p:xfrm>
        <a:graphic>
          <a:graphicData uri="http://schemas.openxmlformats.org/presentationml/2006/ole">
            <mc:AlternateContent xmlns:mc="http://schemas.openxmlformats.org/markup-compatibility/2006">
              <mc:Choice xmlns:v="urn:schemas-microsoft-com:vml" Requires="v">
                <p:oleObj name="Equation" r:id="rId2" imgW="3213100" imgH="241300" progId="Equation.3">
                  <p:embed/>
                </p:oleObj>
              </mc:Choice>
              <mc:Fallback>
                <p:oleObj name="Equation" r:id="rId2" imgW="3213100" imgH="241300" progId="Equation.3">
                  <p:embed/>
                  <p:pic>
                    <p:nvPicPr>
                      <p:cNvPr id="8" name="Object 2">
                        <a:extLst>
                          <a:ext uri="{FF2B5EF4-FFF2-40B4-BE49-F238E27FC236}">
                            <a16:creationId xmlns:a16="http://schemas.microsoft.com/office/drawing/2014/main" id="{CB6AC153-DA06-1E4C-8CA4-CC13F8EA1B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0783" y="137754"/>
                        <a:ext cx="76200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3882313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normAutofit/>
          </a:bodyPr>
          <a:lstStyle/>
          <a:p>
            <a:r>
              <a:rPr lang="en-US" altLang="en-US" noProof="0" dirty="0"/>
              <a:t>Example of Perceptron Learning</a:t>
            </a:r>
          </a:p>
        </p:txBody>
      </p:sp>
      <p:graphicFrame>
        <p:nvGraphicFramePr>
          <p:cNvPr id="11267" name="Object 2"/>
          <p:cNvGraphicFramePr>
            <a:graphicFrameLocks noGrp="1" noChangeAspect="1"/>
          </p:cNvGraphicFramePr>
          <p:nvPr>
            <p:ph idx="1"/>
          </p:nvPr>
        </p:nvGraphicFramePr>
        <p:xfrm>
          <a:off x="1676400" y="3352800"/>
          <a:ext cx="1819275" cy="2216150"/>
        </p:xfrm>
        <a:graphic>
          <a:graphicData uri="http://schemas.openxmlformats.org/presentationml/2006/ole">
            <mc:AlternateContent xmlns:mc="http://schemas.openxmlformats.org/markup-compatibility/2006">
              <mc:Choice xmlns:v="urn:schemas-microsoft-com:vml" Requires="v">
                <p:oleObj name="Worksheet" r:id="rId2" imgW="2445859" imgH="2979548" progId="Excel.Sheet.8">
                  <p:embed/>
                </p:oleObj>
              </mc:Choice>
              <mc:Fallback>
                <p:oleObj name="Worksheet" r:id="rId2" imgW="2445859" imgH="2979548" progId="Excel.Sheet.8">
                  <p:embed/>
                  <p:pic>
                    <p:nvPicPr>
                      <p:cNvPr id="11267"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3352800"/>
                        <a:ext cx="1819275" cy="22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oleObj>
              </mc:Fallback>
            </mc:AlternateContent>
          </a:graphicData>
        </a:graphic>
      </p:graphicFrame>
      <p:graphicFrame>
        <p:nvGraphicFramePr>
          <p:cNvPr id="11268" name="Object 3"/>
          <p:cNvGraphicFramePr>
            <a:graphicFrameLocks noGrp="1" noChangeAspect="1"/>
          </p:cNvGraphicFramePr>
          <p:nvPr>
            <p:ph sz="quarter" idx="4294967295"/>
          </p:nvPr>
        </p:nvGraphicFramePr>
        <p:xfrm>
          <a:off x="1184987" y="1591469"/>
          <a:ext cx="5486400" cy="512763"/>
        </p:xfrm>
        <a:graphic>
          <a:graphicData uri="http://schemas.openxmlformats.org/presentationml/2006/ole">
            <mc:AlternateContent xmlns:mc="http://schemas.openxmlformats.org/markup-compatibility/2006">
              <mc:Choice xmlns:v="urn:schemas-microsoft-com:vml" Requires="v">
                <p:oleObj name="Equation" r:id="rId4" imgW="2082800" imgH="241300" progId="Equation.3">
                  <p:embed/>
                </p:oleObj>
              </mc:Choice>
              <mc:Fallback>
                <p:oleObj name="Equation" r:id="rId4" imgW="2082800" imgH="241300" progId="Equation.3">
                  <p:embed/>
                  <p:pic>
                    <p:nvPicPr>
                      <p:cNvPr id="11268"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4987" y="1591469"/>
                        <a:ext cx="5486400" cy="512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69" name="Object 4"/>
          <p:cNvGraphicFramePr>
            <a:graphicFrameLocks noGrp="1" noChangeAspect="1"/>
          </p:cNvGraphicFramePr>
          <p:nvPr>
            <p:ph sz="quarter" idx="4294967295"/>
          </p:nvPr>
        </p:nvGraphicFramePr>
        <p:xfrm>
          <a:off x="1184987" y="2010172"/>
          <a:ext cx="2209800" cy="835025"/>
        </p:xfrm>
        <a:graphic>
          <a:graphicData uri="http://schemas.openxmlformats.org/presentationml/2006/ole">
            <mc:AlternateContent xmlns:mc="http://schemas.openxmlformats.org/markup-compatibility/2006">
              <mc:Choice xmlns:v="urn:schemas-microsoft-com:vml" Requires="v">
                <p:oleObj name="Equation" r:id="rId6" imgW="1143000" imgH="431640" progId="Equation.3">
                  <p:embed/>
                </p:oleObj>
              </mc:Choice>
              <mc:Fallback>
                <p:oleObj name="Equation" r:id="rId6" imgW="1143000" imgH="431640" progId="Equation.3">
                  <p:embed/>
                  <p:pic>
                    <p:nvPicPr>
                      <p:cNvPr id="11269"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84987" y="2010172"/>
                        <a:ext cx="2209800" cy="835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0" name="Object 5"/>
          <p:cNvGraphicFramePr>
            <a:graphicFrameLocks noGrp="1" noChangeAspect="1"/>
          </p:cNvGraphicFramePr>
          <p:nvPr>
            <p:ph sz="quarter" idx="4294967295"/>
          </p:nvPr>
        </p:nvGraphicFramePr>
        <p:xfrm>
          <a:off x="7754938" y="3352800"/>
          <a:ext cx="2760662" cy="2362200"/>
        </p:xfrm>
        <a:graphic>
          <a:graphicData uri="http://schemas.openxmlformats.org/presentationml/2006/ole">
            <mc:AlternateContent xmlns:mc="http://schemas.openxmlformats.org/markup-compatibility/2006">
              <mc:Choice xmlns:v="urn:schemas-microsoft-com:vml" Requires="v">
                <p:oleObj name="Worksheet" r:id="rId8" imgW="3169848" imgH="2712744" progId="Excel.Sheet.8">
                  <p:embed/>
                </p:oleObj>
              </mc:Choice>
              <mc:Fallback>
                <p:oleObj name="Worksheet" r:id="rId8" imgW="3169848" imgH="2712744" progId="Excel.Sheet.8">
                  <p:embed/>
                  <p:pic>
                    <p:nvPicPr>
                      <p:cNvPr id="11270" name="Object 5"/>
                      <p:cNvPicPr>
                        <a:picLocks noChangeAspect="1" noChangeArrowheads="1"/>
                      </p:cNvPicPr>
                      <p:nvPr/>
                    </p:nvPicPr>
                    <p:blipFill>
                      <a:blip r:embed="rId9"/>
                      <a:srcRect/>
                      <a:stretch>
                        <a:fillRect/>
                      </a:stretch>
                    </p:blipFill>
                    <p:spPr bwMode="auto">
                      <a:xfrm>
                        <a:off x="7754938" y="3352800"/>
                        <a:ext cx="2760662" cy="2362200"/>
                      </a:xfrm>
                      <a:prstGeom prst="rect">
                        <a:avLst/>
                      </a:prstGeom>
                      <a:noFill/>
                      <a:ln>
                        <a:noFill/>
                      </a:ln>
                    </p:spPr>
                  </p:pic>
                </p:oleObj>
              </mc:Fallback>
            </mc:AlternateContent>
          </a:graphicData>
        </a:graphic>
      </p:graphicFrame>
      <p:graphicFrame>
        <p:nvGraphicFramePr>
          <p:cNvPr id="11271" name="Object 6"/>
          <p:cNvGraphicFramePr>
            <a:graphicFrameLocks noChangeAspect="1"/>
          </p:cNvGraphicFramePr>
          <p:nvPr/>
        </p:nvGraphicFramePr>
        <p:xfrm>
          <a:off x="5105400" y="2895600"/>
          <a:ext cx="908050" cy="342900"/>
        </p:xfrm>
        <a:graphic>
          <a:graphicData uri="http://schemas.openxmlformats.org/presentationml/2006/ole">
            <mc:AlternateContent xmlns:mc="http://schemas.openxmlformats.org/markup-compatibility/2006">
              <mc:Choice xmlns:v="urn:schemas-microsoft-com:vml" Requires="v">
                <p:oleObj name="Equation" r:id="rId10" imgW="469800" imgH="177480" progId="Equation.3">
                  <p:embed/>
                </p:oleObj>
              </mc:Choice>
              <mc:Fallback>
                <p:oleObj name="Equation" r:id="rId10" imgW="469800" imgH="177480" progId="Equation.3">
                  <p:embed/>
                  <p:pic>
                    <p:nvPicPr>
                      <p:cNvPr id="11271"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105400" y="2895600"/>
                        <a:ext cx="908050"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2" name="Object 7"/>
          <p:cNvGraphicFramePr>
            <a:graphicFrameLocks noChangeAspect="1"/>
          </p:cNvGraphicFramePr>
          <p:nvPr/>
        </p:nvGraphicFramePr>
        <p:xfrm>
          <a:off x="4052887" y="3352800"/>
          <a:ext cx="3144838" cy="2655888"/>
        </p:xfrm>
        <a:graphic>
          <a:graphicData uri="http://schemas.openxmlformats.org/presentationml/2006/ole">
            <mc:AlternateContent xmlns:mc="http://schemas.openxmlformats.org/markup-compatibility/2006">
              <mc:Choice xmlns:v="urn:schemas-microsoft-com:vml" Requires="v">
                <p:oleObj name="Worksheet" r:id="rId12" imgW="3916712" imgH="3291840" progId="Excel.Sheet.8">
                  <p:embed/>
                </p:oleObj>
              </mc:Choice>
              <mc:Fallback>
                <p:oleObj name="Worksheet" r:id="rId12" imgW="3916712" imgH="3291840" progId="Excel.Sheet.8">
                  <p:embed/>
                  <p:pic>
                    <p:nvPicPr>
                      <p:cNvPr id="11272" name="Object 7"/>
                      <p:cNvPicPr>
                        <a:picLocks noChangeAspect="1" noChangeArrowheads="1"/>
                      </p:cNvPicPr>
                      <p:nvPr/>
                    </p:nvPicPr>
                    <p:blipFill>
                      <a:blip r:embed="rId13"/>
                      <a:srcRect/>
                      <a:stretch>
                        <a:fillRect/>
                      </a:stretch>
                    </p:blipFill>
                    <p:spPr bwMode="auto">
                      <a:xfrm>
                        <a:off x="4052887" y="3352800"/>
                        <a:ext cx="3144838" cy="265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361274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B56805-27B6-9941-9623-EE2991DF12D6}"/>
              </a:ext>
            </a:extLst>
          </p:cNvPr>
          <p:cNvSpPr>
            <a:spLocks noGrp="1"/>
          </p:cNvSpPr>
          <p:nvPr>
            <p:ph type="title"/>
          </p:nvPr>
        </p:nvSpPr>
        <p:spPr/>
        <p:txBody>
          <a:bodyPr>
            <a:normAutofit/>
          </a:bodyPr>
          <a:lstStyle/>
          <a:p>
            <a:pPr algn="l"/>
            <a:r>
              <a:rPr lang="en-US" b="1" dirty="0"/>
              <a:t>(Deep) Neural Networks</a:t>
            </a:r>
            <a:endParaRPr lang="en-US" sz="3000" b="1" dirty="0"/>
          </a:p>
        </p:txBody>
      </p:sp>
      <p:cxnSp>
        <p:nvCxnSpPr>
          <p:cNvPr id="17" name="Connettore 1 16">
            <a:extLst>
              <a:ext uri="{FF2B5EF4-FFF2-40B4-BE49-F238E27FC236}">
                <a16:creationId xmlns:a16="http://schemas.microsoft.com/office/drawing/2014/main" id="{D6F288DE-7B36-1745-8291-1D66544FBE52}"/>
              </a:ext>
            </a:extLst>
          </p:cNvPr>
          <p:cNvCxnSpPr/>
          <p:nvPr/>
        </p:nvCxnSpPr>
        <p:spPr>
          <a:xfrm>
            <a:off x="0" y="4568262"/>
            <a:ext cx="11353800" cy="0"/>
          </a:xfrm>
          <a:prstGeom prst="line">
            <a:avLst/>
          </a:prstGeom>
          <a:ln w="76200">
            <a:solidFill>
              <a:srgbClr val="00919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06144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Why Now?</a:t>
            </a:r>
          </a:p>
        </p:txBody>
      </p:sp>
      <p:pic>
        <p:nvPicPr>
          <p:cNvPr id="7170" name="Picture 2" descr="http://images.anandtech.com/doci/10222/P100_678x452.jpg"/>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3880539" y="3311278"/>
            <a:ext cx="1870894" cy="1134126"/>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http://vision.stanford.edu/Datasets/collage_s.pn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357823" y="1772372"/>
            <a:ext cx="2916324" cy="118760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7602515" y="2089175"/>
            <a:ext cx="2065361" cy="553998"/>
          </a:xfrm>
          <a:prstGeom prst="rect">
            <a:avLst/>
          </a:prstGeom>
          <a:noFill/>
        </p:spPr>
        <p:txBody>
          <a:bodyPr wrap="square" rtlCol="0" anchor="ctr">
            <a:spAutoFit/>
          </a:bodyPr>
          <a:lstStyle/>
          <a:p>
            <a:r>
              <a:rPr lang="en-US" sz="3000" dirty="0"/>
              <a:t>(Big) Data</a:t>
            </a:r>
            <a:endParaRPr lang="it-IT" sz="3000" dirty="0"/>
          </a:p>
        </p:txBody>
      </p:sp>
      <p:sp>
        <p:nvSpPr>
          <p:cNvPr id="8" name="TextBox 7"/>
          <p:cNvSpPr txBox="1"/>
          <p:nvPr/>
        </p:nvSpPr>
        <p:spPr>
          <a:xfrm>
            <a:off x="7622123" y="3601342"/>
            <a:ext cx="1674124" cy="553998"/>
          </a:xfrm>
          <a:prstGeom prst="rect">
            <a:avLst/>
          </a:prstGeom>
          <a:noFill/>
        </p:spPr>
        <p:txBody>
          <a:bodyPr wrap="square" rtlCol="0" anchor="ctr">
            <a:spAutoFit/>
          </a:bodyPr>
          <a:lstStyle/>
          <a:p>
            <a:r>
              <a:rPr lang="en-US" sz="3000" dirty="0"/>
              <a:t>GPU</a:t>
            </a:r>
            <a:endParaRPr lang="it-IT" sz="3000" dirty="0"/>
          </a:p>
        </p:txBody>
      </p:sp>
      <p:sp>
        <p:nvSpPr>
          <p:cNvPr id="9" name="TextBox 8"/>
          <p:cNvSpPr txBox="1"/>
          <p:nvPr/>
        </p:nvSpPr>
        <p:spPr>
          <a:xfrm>
            <a:off x="7602516" y="4904686"/>
            <a:ext cx="1625369" cy="553998"/>
          </a:xfrm>
          <a:prstGeom prst="rect">
            <a:avLst/>
          </a:prstGeom>
          <a:noFill/>
        </p:spPr>
        <p:txBody>
          <a:bodyPr wrap="square" rtlCol="0" anchor="ctr">
            <a:spAutoFit/>
          </a:bodyPr>
          <a:lstStyle/>
          <a:p>
            <a:r>
              <a:rPr lang="en-US" sz="3000" dirty="0"/>
              <a:t>Theory</a:t>
            </a:r>
            <a:endParaRPr lang="it-IT" sz="3000" dirty="0"/>
          </a:p>
        </p:txBody>
      </p:sp>
      <p:pic>
        <p:nvPicPr>
          <p:cNvPr id="10" name="Picture 9"/>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837431" y="4559992"/>
            <a:ext cx="4473789" cy="1319314"/>
          </a:xfrm>
          <a:prstGeom prst="rect">
            <a:avLst/>
          </a:prstGeom>
        </p:spPr>
      </p:pic>
    </p:spTree>
    <p:extLst>
      <p:ext uri="{BB962C8B-B14F-4D97-AF65-F5344CB8AC3E}">
        <p14:creationId xmlns:p14="http://schemas.microsoft.com/office/powerpoint/2010/main" val="619850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A quick look on Deep Learning</a:t>
            </a:r>
          </a:p>
        </p:txBody>
      </p:sp>
      <p:graphicFrame>
        <p:nvGraphicFramePr>
          <p:cNvPr id="7" name="Diagram 6"/>
          <p:cNvGraphicFramePr/>
          <p:nvPr/>
        </p:nvGraphicFramePr>
        <p:xfrm>
          <a:off x="3399392" y="1866105"/>
          <a:ext cx="5393215" cy="42454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271825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Deep learning</a:t>
            </a:r>
          </a:p>
        </p:txBody>
      </p:sp>
      <p:sp>
        <p:nvSpPr>
          <p:cNvPr id="3" name="Content Placeholder 2"/>
          <p:cNvSpPr>
            <a:spLocks noGrp="1"/>
          </p:cNvSpPr>
          <p:nvPr>
            <p:ph idx="1"/>
          </p:nvPr>
        </p:nvSpPr>
        <p:spPr>
          <a:xfrm>
            <a:off x="4862917" y="1871923"/>
            <a:ext cx="5110913" cy="1620922"/>
          </a:xfrm>
        </p:spPr>
        <p:txBody>
          <a:bodyPr>
            <a:normAutofit fontScale="85000" lnSpcReduction="10000"/>
          </a:bodyPr>
          <a:lstStyle/>
          <a:p>
            <a:pPr marL="0" indent="0">
              <a:buNone/>
            </a:pPr>
            <a:r>
              <a:rPr lang="en-US" sz="2400" b="1" noProof="0" dirty="0"/>
              <a:t>Representation learning </a:t>
            </a:r>
            <a:r>
              <a:rPr lang="en-US" sz="2400" noProof="0" dirty="0"/>
              <a:t>methods that</a:t>
            </a:r>
          </a:p>
          <a:p>
            <a:r>
              <a:rPr lang="en-US" sz="2400" noProof="0" dirty="0"/>
              <a:t>allow a machine to be fed with raw data and</a:t>
            </a:r>
          </a:p>
          <a:p>
            <a:r>
              <a:rPr lang="en-US" sz="2400" noProof="0" dirty="0"/>
              <a:t>to automatically discover the representations needed for detection or classification.</a:t>
            </a:r>
          </a:p>
        </p:txBody>
      </p:sp>
      <p:grpSp>
        <p:nvGrpSpPr>
          <p:cNvPr id="5" name="Group 4"/>
          <p:cNvGrpSpPr/>
          <p:nvPr/>
        </p:nvGrpSpPr>
        <p:grpSpPr>
          <a:xfrm>
            <a:off x="2029100" y="1487973"/>
            <a:ext cx="2547268" cy="2547268"/>
            <a:chOff x="3281251" y="3901156"/>
            <a:chExt cx="2547268" cy="2547268"/>
          </a:xfrm>
        </p:grpSpPr>
        <p:sp>
          <p:nvSpPr>
            <p:cNvPr id="8" name="Freeform 7"/>
            <p:cNvSpPr/>
            <p:nvPr/>
          </p:nvSpPr>
          <p:spPr>
            <a:xfrm>
              <a:off x="3281251" y="3901156"/>
              <a:ext cx="2547268" cy="2547268"/>
            </a:xfrm>
            <a:custGeom>
              <a:avLst/>
              <a:gdLst>
                <a:gd name="connsiteX0" fmla="*/ 0 w 2547268"/>
                <a:gd name="connsiteY0" fmla="*/ 1273634 h 2547268"/>
                <a:gd name="connsiteX1" fmla="*/ 1273634 w 2547268"/>
                <a:gd name="connsiteY1" fmla="*/ 0 h 2547268"/>
                <a:gd name="connsiteX2" fmla="*/ 2547268 w 2547268"/>
                <a:gd name="connsiteY2" fmla="*/ 1273634 h 2547268"/>
                <a:gd name="connsiteX3" fmla="*/ 1273634 w 2547268"/>
                <a:gd name="connsiteY3" fmla="*/ 2547268 h 2547268"/>
                <a:gd name="connsiteX4" fmla="*/ 0 w 2547268"/>
                <a:gd name="connsiteY4" fmla="*/ 1273634 h 25472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7268" h="2547268">
                  <a:moveTo>
                    <a:pt x="0" y="1273634"/>
                  </a:moveTo>
                  <a:cubicBezTo>
                    <a:pt x="0" y="570225"/>
                    <a:pt x="570225" y="0"/>
                    <a:pt x="1273634" y="0"/>
                  </a:cubicBezTo>
                  <a:cubicBezTo>
                    <a:pt x="1977043" y="0"/>
                    <a:pt x="2547268" y="570225"/>
                    <a:pt x="2547268" y="1273634"/>
                  </a:cubicBezTo>
                  <a:cubicBezTo>
                    <a:pt x="2547268" y="1977043"/>
                    <a:pt x="1977043" y="2547268"/>
                    <a:pt x="1273634" y="2547268"/>
                  </a:cubicBezTo>
                  <a:cubicBezTo>
                    <a:pt x="570225" y="2547268"/>
                    <a:pt x="0" y="1977043"/>
                    <a:pt x="0" y="1273634"/>
                  </a:cubicBezTo>
                  <a:close/>
                </a:path>
              </a:pathLst>
            </a:custGeom>
            <a:solidFill>
              <a:schemeClr val="accent1">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22361" tIns="333285" rIns="822361" bIns="1925328" numCol="1" spcCol="1270" anchor="ctr" anchorCtr="0">
              <a:noAutofit/>
            </a:bodyPr>
            <a:lstStyle/>
            <a:p>
              <a:pPr algn="ctr" defTabSz="889000">
                <a:lnSpc>
                  <a:spcPct val="90000"/>
                </a:lnSpc>
                <a:spcBef>
                  <a:spcPct val="0"/>
                </a:spcBef>
                <a:spcAft>
                  <a:spcPct val="35000"/>
                </a:spcAft>
              </a:pPr>
              <a:r>
                <a:rPr lang="en-US" sz="2000">
                  <a:effectLst>
                    <a:outerShdw blurRad="38100" dist="38100" dir="2700000" algn="tl">
                      <a:srgbClr val="000000">
                        <a:alpha val="43137"/>
                      </a:srgbClr>
                    </a:outerShdw>
                  </a:effectLst>
                </a:rPr>
                <a:t>Repres.</a:t>
              </a:r>
              <a:endParaRPr lang="en-US" sz="2000" dirty="0">
                <a:effectLst>
                  <a:outerShdw blurRad="38100" dist="38100" dir="2700000" algn="tl">
                    <a:srgbClr val="000000">
                      <a:alpha val="43137"/>
                    </a:srgbClr>
                  </a:outerShdw>
                </a:effectLst>
              </a:endParaRPr>
            </a:p>
            <a:p>
              <a:pPr algn="ctr" defTabSz="889000">
                <a:lnSpc>
                  <a:spcPct val="90000"/>
                </a:lnSpc>
                <a:spcBef>
                  <a:spcPct val="0"/>
                </a:spcBef>
                <a:spcAft>
                  <a:spcPct val="35000"/>
                </a:spcAft>
              </a:pPr>
              <a:r>
                <a:rPr lang="en-US" sz="2000" dirty="0">
                  <a:effectLst>
                    <a:outerShdw blurRad="38100" dist="38100" dir="2700000" algn="tl">
                      <a:srgbClr val="000000">
                        <a:alpha val="43137"/>
                      </a:srgbClr>
                    </a:outerShdw>
                  </a:effectLst>
                </a:rPr>
                <a:t>Learning</a:t>
              </a:r>
            </a:p>
          </p:txBody>
        </p:sp>
        <p:sp>
          <p:nvSpPr>
            <p:cNvPr id="9" name="Freeform 8"/>
            <p:cNvSpPr/>
            <p:nvPr/>
          </p:nvSpPr>
          <p:spPr>
            <a:xfrm>
              <a:off x="3705796" y="4750246"/>
              <a:ext cx="1698178" cy="1698178"/>
            </a:xfrm>
            <a:custGeom>
              <a:avLst/>
              <a:gdLst>
                <a:gd name="connsiteX0" fmla="*/ 0 w 1698178"/>
                <a:gd name="connsiteY0" fmla="*/ 849089 h 1698178"/>
                <a:gd name="connsiteX1" fmla="*/ 849089 w 1698178"/>
                <a:gd name="connsiteY1" fmla="*/ 0 h 1698178"/>
                <a:gd name="connsiteX2" fmla="*/ 1698178 w 1698178"/>
                <a:gd name="connsiteY2" fmla="*/ 849089 h 1698178"/>
                <a:gd name="connsiteX3" fmla="*/ 849089 w 1698178"/>
                <a:gd name="connsiteY3" fmla="*/ 1698178 h 1698178"/>
                <a:gd name="connsiteX4" fmla="*/ 0 w 1698178"/>
                <a:gd name="connsiteY4" fmla="*/ 849089 h 1698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8178" h="1698178">
                  <a:moveTo>
                    <a:pt x="0" y="849089"/>
                  </a:moveTo>
                  <a:cubicBezTo>
                    <a:pt x="0" y="380150"/>
                    <a:pt x="380150" y="0"/>
                    <a:pt x="849089" y="0"/>
                  </a:cubicBezTo>
                  <a:cubicBezTo>
                    <a:pt x="1318028" y="0"/>
                    <a:pt x="1698178" y="380150"/>
                    <a:pt x="1698178" y="849089"/>
                  </a:cubicBezTo>
                  <a:cubicBezTo>
                    <a:pt x="1698178" y="1318028"/>
                    <a:pt x="1318028" y="1698178"/>
                    <a:pt x="849089" y="1698178"/>
                  </a:cubicBezTo>
                  <a:cubicBezTo>
                    <a:pt x="380150" y="1698178"/>
                    <a:pt x="0" y="1318028"/>
                    <a:pt x="0" y="849089"/>
                  </a:cubicBezTo>
                  <a:close/>
                </a:path>
              </a:pathLst>
            </a:custGeom>
            <a:solidFill>
              <a:srgbClr val="E2131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90932" tIns="566784" rIns="390933" bIns="566785" numCol="1" spcCol="1270" anchor="ctr" anchorCtr="0">
              <a:noAutofit/>
            </a:bodyPr>
            <a:lstStyle/>
            <a:p>
              <a:pPr algn="ctr" defTabSz="889000">
                <a:lnSpc>
                  <a:spcPct val="90000"/>
                </a:lnSpc>
                <a:spcBef>
                  <a:spcPct val="0"/>
                </a:spcBef>
                <a:spcAft>
                  <a:spcPct val="35000"/>
                </a:spcAft>
              </a:pPr>
              <a:r>
                <a:rPr lang="en-US" sz="2000" dirty="0">
                  <a:effectLst>
                    <a:outerShdw blurRad="38100" dist="38100" dir="2700000" algn="tl">
                      <a:srgbClr val="000000">
                        <a:alpha val="43137"/>
                      </a:srgbClr>
                    </a:outerShdw>
                  </a:effectLst>
                </a:rPr>
                <a:t>Deep Learning</a:t>
              </a:r>
            </a:p>
          </p:txBody>
        </p:sp>
      </p:grpSp>
      <p:pic>
        <p:nvPicPr>
          <p:cNvPr id="12" name="Picture 11"/>
          <p:cNvPicPr>
            <a:picLocks noChangeAspect="1"/>
          </p:cNvPicPr>
          <p:nvPr/>
        </p:nvPicPr>
        <p:blipFill>
          <a:blip r:embed="rId2"/>
          <a:stretch>
            <a:fillRect/>
          </a:stretch>
        </p:blipFill>
        <p:spPr>
          <a:xfrm>
            <a:off x="2262222" y="4834258"/>
            <a:ext cx="1093878" cy="1093878"/>
          </a:xfrm>
          <a:prstGeom prst="rect">
            <a:avLst/>
          </a:prstGeom>
        </p:spPr>
      </p:pic>
      <p:sp>
        <p:nvSpPr>
          <p:cNvPr id="13" name="TextBox 12"/>
          <p:cNvSpPr txBox="1"/>
          <p:nvPr/>
        </p:nvSpPr>
        <p:spPr>
          <a:xfrm>
            <a:off x="3352753" y="4555524"/>
            <a:ext cx="1598140" cy="1815882"/>
          </a:xfrm>
          <a:prstGeom prst="rect">
            <a:avLst/>
          </a:prstGeom>
          <a:noFill/>
        </p:spPr>
        <p:txBody>
          <a:bodyPr wrap="square" rtlCol="0">
            <a:spAutoFit/>
          </a:bodyPr>
          <a:lstStyle/>
          <a:p>
            <a:pPr marL="285750" indent="-285750">
              <a:buFont typeface="Arial" panose="020B0604020202020204" pitchFamily="34" charset="0"/>
              <a:buChar char="•"/>
            </a:pPr>
            <a:r>
              <a:rPr lang="en-US" sz="1400" dirty="0"/>
              <a:t>Age</a:t>
            </a:r>
          </a:p>
          <a:p>
            <a:pPr marL="285750" indent="-285750">
              <a:buFont typeface="Arial" panose="020B0604020202020204" pitchFamily="34" charset="0"/>
              <a:buChar char="•"/>
            </a:pPr>
            <a:r>
              <a:rPr lang="en-US" sz="1400" dirty="0"/>
              <a:t>Weight</a:t>
            </a:r>
          </a:p>
          <a:p>
            <a:pPr marL="285750" indent="-285750">
              <a:buFont typeface="Arial" panose="020B0604020202020204" pitchFamily="34" charset="0"/>
              <a:buChar char="•"/>
            </a:pPr>
            <a:r>
              <a:rPr lang="en-US" sz="1400" dirty="0"/>
              <a:t>Income</a:t>
            </a:r>
          </a:p>
          <a:p>
            <a:pPr marL="285750" indent="-285750">
              <a:buFont typeface="Arial" panose="020B0604020202020204" pitchFamily="34" charset="0"/>
              <a:buChar char="•"/>
            </a:pPr>
            <a:r>
              <a:rPr lang="en-US" sz="1400" dirty="0"/>
              <a:t>Children</a:t>
            </a:r>
          </a:p>
          <a:p>
            <a:pPr marL="285750" indent="-285750">
              <a:buFont typeface="Arial" panose="020B0604020202020204" pitchFamily="34" charset="0"/>
              <a:buChar char="•"/>
            </a:pPr>
            <a:r>
              <a:rPr lang="en-US" sz="1400" dirty="0"/>
              <a:t>Likes sport</a:t>
            </a:r>
          </a:p>
          <a:p>
            <a:pPr marL="285750" indent="-285750">
              <a:buFont typeface="Arial" panose="020B0604020202020204" pitchFamily="34" charset="0"/>
              <a:buChar char="•"/>
            </a:pPr>
            <a:r>
              <a:rPr lang="en-US" sz="1400" dirty="0"/>
              <a:t>Likes reading</a:t>
            </a:r>
          </a:p>
          <a:p>
            <a:pPr marL="285750" indent="-285750">
              <a:buFont typeface="Arial" panose="020B0604020202020204" pitchFamily="34" charset="0"/>
              <a:buChar char="•"/>
            </a:pPr>
            <a:r>
              <a:rPr lang="en-US" sz="1400" dirty="0"/>
              <a:t>Education</a:t>
            </a:r>
          </a:p>
          <a:p>
            <a:pPr marL="285750" indent="-285750">
              <a:buFont typeface="Arial" panose="020B0604020202020204" pitchFamily="34" charset="0"/>
              <a:buChar char="•"/>
            </a:pPr>
            <a:r>
              <a:rPr lang="en-US" sz="1400" dirty="0"/>
              <a:t>…</a:t>
            </a:r>
          </a:p>
        </p:txBody>
      </p:sp>
      <p:sp>
        <p:nvSpPr>
          <p:cNvPr id="14" name="Right Arrow 13"/>
          <p:cNvSpPr/>
          <p:nvPr/>
        </p:nvSpPr>
        <p:spPr>
          <a:xfrm>
            <a:off x="5963405" y="6223125"/>
            <a:ext cx="790833" cy="3130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2669060" y="4168346"/>
            <a:ext cx="2726724" cy="369332"/>
          </a:xfrm>
          <a:prstGeom prst="rect">
            <a:avLst/>
          </a:prstGeom>
          <a:noFill/>
        </p:spPr>
        <p:txBody>
          <a:bodyPr wrap="square" rtlCol="0">
            <a:spAutoFit/>
          </a:bodyPr>
          <a:lstStyle/>
          <a:p>
            <a:pPr algn="ctr"/>
            <a:r>
              <a:rPr lang="en-US" b="1" dirty="0"/>
              <a:t>Raw representation</a:t>
            </a:r>
          </a:p>
        </p:txBody>
      </p:sp>
      <p:sp>
        <p:nvSpPr>
          <p:cNvPr id="16" name="TextBox 15"/>
          <p:cNvSpPr txBox="1"/>
          <p:nvPr/>
        </p:nvSpPr>
        <p:spPr>
          <a:xfrm>
            <a:off x="6864045" y="4169717"/>
            <a:ext cx="3109784" cy="369332"/>
          </a:xfrm>
          <a:prstGeom prst="rect">
            <a:avLst/>
          </a:prstGeom>
          <a:noFill/>
        </p:spPr>
        <p:txBody>
          <a:bodyPr wrap="square" rtlCol="0">
            <a:spAutoFit/>
          </a:bodyPr>
          <a:lstStyle/>
          <a:p>
            <a:pPr algn="ctr"/>
            <a:r>
              <a:rPr lang="en-US" b="1" dirty="0"/>
              <a:t>Higher-level representation</a:t>
            </a:r>
          </a:p>
        </p:txBody>
      </p:sp>
      <p:sp>
        <p:nvSpPr>
          <p:cNvPr id="18" name="TextBox 17"/>
          <p:cNvSpPr txBox="1"/>
          <p:nvPr/>
        </p:nvSpPr>
        <p:spPr>
          <a:xfrm>
            <a:off x="7171015" y="4878690"/>
            <a:ext cx="2302523" cy="1169551"/>
          </a:xfrm>
          <a:prstGeom prst="rect">
            <a:avLst/>
          </a:prstGeom>
          <a:noFill/>
        </p:spPr>
        <p:txBody>
          <a:bodyPr wrap="square" rtlCol="0">
            <a:spAutoFit/>
          </a:bodyPr>
          <a:lstStyle/>
          <a:p>
            <a:pPr marL="285750" indent="-285750">
              <a:buFont typeface="Arial" panose="020B0604020202020204" pitchFamily="34" charset="0"/>
              <a:buChar char="•"/>
            </a:pPr>
            <a:r>
              <a:rPr lang="en-US" sz="1400" dirty="0"/>
              <a:t>Young parent</a:t>
            </a:r>
          </a:p>
          <a:p>
            <a:pPr marL="285750" indent="-285750">
              <a:buFont typeface="Arial" panose="020B0604020202020204" pitchFamily="34" charset="0"/>
              <a:buChar char="•"/>
            </a:pPr>
            <a:r>
              <a:rPr lang="en-US" sz="1400" dirty="0"/>
              <a:t>Fit sportsman</a:t>
            </a:r>
          </a:p>
          <a:p>
            <a:pPr marL="285750" indent="-285750">
              <a:buFont typeface="Arial" panose="020B0604020202020204" pitchFamily="34" charset="0"/>
              <a:buChar char="•"/>
            </a:pPr>
            <a:r>
              <a:rPr lang="en-US" sz="1400" dirty="0"/>
              <a:t>High-educated reader</a:t>
            </a:r>
          </a:p>
          <a:p>
            <a:pPr marL="285750" indent="-285750">
              <a:buFont typeface="Arial" panose="020B0604020202020204" pitchFamily="34" charset="0"/>
              <a:buChar char="•"/>
            </a:pPr>
            <a:r>
              <a:rPr lang="en-US" sz="1400" dirty="0"/>
              <a:t>Rich obese</a:t>
            </a:r>
          </a:p>
          <a:p>
            <a:pPr marL="285750" indent="-285750">
              <a:buFont typeface="Arial" panose="020B0604020202020204" pitchFamily="34" charset="0"/>
              <a:buChar char="•"/>
            </a:pPr>
            <a:r>
              <a:rPr lang="en-US" sz="1400" dirty="0"/>
              <a:t>…</a:t>
            </a:r>
          </a:p>
        </p:txBody>
      </p:sp>
      <p:sp>
        <p:nvSpPr>
          <p:cNvPr id="19" name="TextBox 18"/>
          <p:cNvSpPr txBox="1"/>
          <p:nvPr/>
        </p:nvSpPr>
        <p:spPr>
          <a:xfrm>
            <a:off x="4658530" y="4563762"/>
            <a:ext cx="663117" cy="1815882"/>
          </a:xfrm>
          <a:prstGeom prst="rect">
            <a:avLst/>
          </a:prstGeom>
          <a:noFill/>
        </p:spPr>
        <p:txBody>
          <a:bodyPr wrap="square" rtlCol="0">
            <a:spAutoFit/>
          </a:bodyPr>
          <a:lstStyle/>
          <a:p>
            <a:pPr algn="ctr"/>
            <a:r>
              <a:rPr lang="en-US" sz="1400" dirty="0">
                <a:solidFill>
                  <a:srgbClr val="FF0000"/>
                </a:solidFill>
              </a:rPr>
              <a:t>35</a:t>
            </a:r>
          </a:p>
          <a:p>
            <a:pPr algn="ctr"/>
            <a:r>
              <a:rPr lang="en-US" sz="1400" dirty="0">
                <a:solidFill>
                  <a:srgbClr val="FF0000"/>
                </a:solidFill>
              </a:rPr>
              <a:t>65</a:t>
            </a:r>
          </a:p>
          <a:p>
            <a:pPr algn="ctr"/>
            <a:r>
              <a:rPr lang="en-US" sz="1400" dirty="0">
                <a:solidFill>
                  <a:srgbClr val="FF0000"/>
                </a:solidFill>
              </a:rPr>
              <a:t>23 k€</a:t>
            </a:r>
          </a:p>
          <a:p>
            <a:pPr algn="ctr"/>
            <a:r>
              <a:rPr lang="en-US" sz="1400" dirty="0">
                <a:solidFill>
                  <a:srgbClr val="FF0000"/>
                </a:solidFill>
              </a:rPr>
              <a:t>2</a:t>
            </a:r>
          </a:p>
          <a:p>
            <a:pPr algn="ctr"/>
            <a:r>
              <a:rPr lang="en-US" sz="1400" dirty="0">
                <a:solidFill>
                  <a:srgbClr val="FF0000"/>
                </a:solidFill>
              </a:rPr>
              <a:t>0.3</a:t>
            </a:r>
          </a:p>
          <a:p>
            <a:pPr algn="ctr"/>
            <a:r>
              <a:rPr lang="en-US" sz="1400" dirty="0">
                <a:solidFill>
                  <a:srgbClr val="FF0000"/>
                </a:solidFill>
              </a:rPr>
              <a:t>0.6</a:t>
            </a:r>
          </a:p>
          <a:p>
            <a:pPr algn="ctr"/>
            <a:r>
              <a:rPr lang="en-US" sz="1400" dirty="0">
                <a:solidFill>
                  <a:srgbClr val="FF0000"/>
                </a:solidFill>
              </a:rPr>
              <a:t>high</a:t>
            </a:r>
          </a:p>
          <a:p>
            <a:pPr algn="ctr"/>
            <a:r>
              <a:rPr lang="en-US" sz="1400" dirty="0">
                <a:solidFill>
                  <a:srgbClr val="FF0000"/>
                </a:solidFill>
              </a:rPr>
              <a:t>…</a:t>
            </a:r>
          </a:p>
        </p:txBody>
      </p:sp>
      <p:sp>
        <p:nvSpPr>
          <p:cNvPr id="20" name="TextBox 19"/>
          <p:cNvSpPr txBox="1"/>
          <p:nvPr/>
        </p:nvSpPr>
        <p:spPr>
          <a:xfrm>
            <a:off x="9214052" y="4878690"/>
            <a:ext cx="663117" cy="1169551"/>
          </a:xfrm>
          <a:prstGeom prst="rect">
            <a:avLst/>
          </a:prstGeom>
          <a:noFill/>
        </p:spPr>
        <p:txBody>
          <a:bodyPr wrap="square" rtlCol="0">
            <a:spAutoFit/>
          </a:bodyPr>
          <a:lstStyle/>
          <a:p>
            <a:pPr algn="ctr"/>
            <a:r>
              <a:rPr lang="en-US" sz="1400" dirty="0">
                <a:solidFill>
                  <a:srgbClr val="FF0000"/>
                </a:solidFill>
              </a:rPr>
              <a:t>0.9</a:t>
            </a:r>
          </a:p>
          <a:p>
            <a:pPr algn="ctr"/>
            <a:r>
              <a:rPr lang="en-US" sz="1400" dirty="0">
                <a:solidFill>
                  <a:srgbClr val="FF0000"/>
                </a:solidFill>
              </a:rPr>
              <a:t>0.1</a:t>
            </a:r>
          </a:p>
          <a:p>
            <a:pPr algn="ctr"/>
            <a:r>
              <a:rPr lang="en-US" sz="1400" dirty="0">
                <a:solidFill>
                  <a:srgbClr val="FF0000"/>
                </a:solidFill>
              </a:rPr>
              <a:t>0.8</a:t>
            </a:r>
          </a:p>
          <a:p>
            <a:pPr algn="ctr"/>
            <a:r>
              <a:rPr lang="en-US" sz="1400" dirty="0">
                <a:solidFill>
                  <a:srgbClr val="FF0000"/>
                </a:solidFill>
              </a:rPr>
              <a:t>0.0</a:t>
            </a:r>
          </a:p>
          <a:p>
            <a:pPr algn="ctr"/>
            <a:r>
              <a:rPr lang="en-US" sz="1400" dirty="0">
                <a:solidFill>
                  <a:srgbClr val="FF0000"/>
                </a:solidFill>
              </a:rPr>
              <a:t>…</a:t>
            </a:r>
          </a:p>
        </p:txBody>
      </p:sp>
      <p:pic>
        <p:nvPicPr>
          <p:cNvPr id="7" name="Picture 6"/>
          <p:cNvPicPr>
            <a:picLocks noChangeAspect="1"/>
          </p:cNvPicPr>
          <p:nvPr/>
        </p:nvPicPr>
        <p:blipFill>
          <a:blip r:embed="rId3"/>
          <a:stretch>
            <a:fillRect/>
          </a:stretch>
        </p:blipFill>
        <p:spPr>
          <a:xfrm>
            <a:off x="5280692" y="4734175"/>
            <a:ext cx="1882964" cy="1202755"/>
          </a:xfrm>
          <a:prstGeom prst="rect">
            <a:avLst/>
          </a:prstGeom>
        </p:spPr>
      </p:pic>
    </p:spTree>
    <p:extLst>
      <p:ext uri="{BB962C8B-B14F-4D97-AF65-F5344CB8AC3E}">
        <p14:creationId xmlns:p14="http://schemas.microsoft.com/office/powerpoint/2010/main" val="22590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P spid="15" grpId="0"/>
      <p:bldP spid="16" grpId="0"/>
      <p:bldP spid="18" grpId="0"/>
      <p:bldP spid="19" grpId="0"/>
      <p:bldP spid="20" grpId="0"/>
    </p:bld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Multiple Levels Of Abstraction</a:t>
            </a:r>
          </a:p>
        </p:txBody>
      </p:sp>
      <p:pic>
        <p:nvPicPr>
          <p:cNvPr id="4" name="Picture 3"/>
          <p:cNvPicPr>
            <a:picLocks noChangeAspect="1"/>
          </p:cNvPicPr>
          <p:nvPr/>
        </p:nvPicPr>
        <p:blipFill rotWithShape="1">
          <a:blip r:embed="rId2"/>
          <a:srcRect l="33334" t="30333" r="20952" b="16886"/>
          <a:stretch/>
        </p:blipFill>
        <p:spPr>
          <a:xfrm>
            <a:off x="2152651" y="1506935"/>
            <a:ext cx="7427955" cy="4681160"/>
          </a:xfrm>
          <a:prstGeom prst="rect">
            <a:avLst/>
          </a:prstGeom>
        </p:spPr>
      </p:pic>
    </p:spTree>
    <p:extLst>
      <p:ext uri="{BB962C8B-B14F-4D97-AF65-F5344CB8AC3E}">
        <p14:creationId xmlns:p14="http://schemas.microsoft.com/office/powerpoint/2010/main" val="40898864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4">
            <a:extLst>
              <a:ext uri="{FF2B5EF4-FFF2-40B4-BE49-F238E27FC236}">
                <a16:creationId xmlns:a16="http://schemas.microsoft.com/office/drawing/2014/main" id="{1086B54B-6F2E-A643-AB8D-556032EBAC25}"/>
              </a:ext>
            </a:extLst>
          </p:cNvPr>
          <p:cNvSpPr>
            <a:spLocks noGrp="1"/>
          </p:cNvSpPr>
          <p:nvPr>
            <p:ph type="title"/>
          </p:nvPr>
        </p:nvSpPr>
        <p:spPr/>
        <p:txBody>
          <a:bodyPr/>
          <a:lstStyle/>
          <a:p>
            <a:r>
              <a:rPr lang="en-US" dirty="0"/>
              <a:t>Nonlinearly Separable Data</a:t>
            </a:r>
          </a:p>
        </p:txBody>
      </p:sp>
      <p:sp>
        <p:nvSpPr>
          <p:cNvPr id="6" name="Segnaposto contenuto 5">
            <a:extLst>
              <a:ext uri="{FF2B5EF4-FFF2-40B4-BE49-F238E27FC236}">
                <a16:creationId xmlns:a16="http://schemas.microsoft.com/office/drawing/2014/main" id="{FA7C6240-514B-7343-B780-31BFB0CFDE35}"/>
              </a:ext>
            </a:extLst>
          </p:cNvPr>
          <p:cNvSpPr>
            <a:spLocks noGrp="1"/>
          </p:cNvSpPr>
          <p:nvPr>
            <p:ph idx="1"/>
          </p:nvPr>
        </p:nvSpPr>
        <p:spPr>
          <a:xfrm>
            <a:off x="838200" y="1825624"/>
            <a:ext cx="5257800" cy="4556515"/>
          </a:xfrm>
        </p:spPr>
        <p:txBody>
          <a:bodyPr>
            <a:normAutofit/>
          </a:bodyPr>
          <a:lstStyle/>
          <a:p>
            <a:r>
              <a:rPr lang="en-US" altLang="en-US" dirty="0"/>
              <a:t>Since </a:t>
            </a:r>
            <a:r>
              <a:rPr lang="en-US" altLang="en-US" i="1" dirty="0"/>
              <a:t>f(</a:t>
            </a:r>
            <a:r>
              <a:rPr lang="en-US" altLang="en-US" i="1" dirty="0" err="1"/>
              <a:t>w,x</a:t>
            </a:r>
            <a:r>
              <a:rPr lang="en-US" altLang="en-US" i="1" dirty="0"/>
              <a:t>)</a:t>
            </a:r>
            <a:r>
              <a:rPr lang="en-US" altLang="en-US" dirty="0"/>
              <a:t> is a linear combination of input variables, decision boundary is linear.</a:t>
            </a:r>
          </a:p>
          <a:p>
            <a:r>
              <a:rPr lang="en-US" altLang="en-US" dirty="0"/>
              <a:t>For nonlinearly separable problems, the perceptron fails because no linear hyperplane can separate the data perfectly.</a:t>
            </a:r>
          </a:p>
          <a:p>
            <a:r>
              <a:rPr lang="en-US" altLang="en-US" dirty="0"/>
              <a:t>An example of nonlinearly separable data is the XOR function.</a:t>
            </a:r>
          </a:p>
          <a:p>
            <a:endParaRPr lang="en-US" dirty="0"/>
          </a:p>
        </p:txBody>
      </p:sp>
      <p:graphicFrame>
        <p:nvGraphicFramePr>
          <p:cNvPr id="7" name="Object 2">
            <a:extLst>
              <a:ext uri="{FF2B5EF4-FFF2-40B4-BE49-F238E27FC236}">
                <a16:creationId xmlns:a16="http://schemas.microsoft.com/office/drawing/2014/main" id="{7C0049F5-3506-9F4D-B2E5-0B6FA0B8A939}"/>
              </a:ext>
            </a:extLst>
          </p:cNvPr>
          <p:cNvGraphicFramePr>
            <a:graphicFrameLocks noChangeAspect="1"/>
          </p:cNvGraphicFramePr>
          <p:nvPr/>
        </p:nvGraphicFramePr>
        <p:xfrm>
          <a:off x="6096000" y="2565918"/>
          <a:ext cx="5845880" cy="2972124"/>
        </p:xfrm>
        <a:graphic>
          <a:graphicData uri="http://schemas.openxmlformats.org/presentationml/2006/ole">
            <mc:AlternateContent xmlns:mc="http://schemas.openxmlformats.org/markup-compatibility/2006">
              <mc:Choice xmlns:v="urn:schemas-microsoft-com:vml" Requires="v">
                <p:oleObj name="VISIO" r:id="rId2" imgW="9586620" imgH="4684064" progId="Visio.Drawing.6">
                  <p:embed/>
                </p:oleObj>
              </mc:Choice>
              <mc:Fallback>
                <p:oleObj name="VISIO" r:id="rId2" imgW="9586620" imgH="4684064" progId="Visio.Drawing.6">
                  <p:embed/>
                  <p:pic>
                    <p:nvPicPr>
                      <p:cNvPr id="7" name="Object 2">
                        <a:extLst>
                          <a:ext uri="{FF2B5EF4-FFF2-40B4-BE49-F238E27FC236}">
                            <a16:creationId xmlns:a16="http://schemas.microsoft.com/office/drawing/2014/main" id="{7C0049F5-3506-9F4D-B2E5-0B6FA0B8A9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922"/>
                      <a:stretch>
                        <a:fillRect/>
                      </a:stretch>
                    </p:blipFill>
                    <p:spPr bwMode="auto">
                      <a:xfrm>
                        <a:off x="6096000" y="2565918"/>
                        <a:ext cx="5845880" cy="2972124"/>
                      </a:xfrm>
                      <a:prstGeom prst="rect">
                        <a:avLst/>
                      </a:prstGeom>
                      <a:noFill/>
                      <a:ln>
                        <a:noFill/>
                      </a:ln>
                    </p:spPr>
                  </p:pic>
                </p:oleObj>
              </mc:Fallback>
            </mc:AlternateContent>
          </a:graphicData>
        </a:graphic>
      </p:graphicFrame>
      <p:graphicFrame>
        <p:nvGraphicFramePr>
          <p:cNvPr id="8" name="Object 3">
            <a:extLst>
              <a:ext uri="{FF2B5EF4-FFF2-40B4-BE49-F238E27FC236}">
                <a16:creationId xmlns:a16="http://schemas.microsoft.com/office/drawing/2014/main" id="{BA3D9E1C-928E-CD41-9F88-701CA85F8731}"/>
              </a:ext>
            </a:extLst>
          </p:cNvPr>
          <p:cNvGraphicFramePr>
            <a:graphicFrameLocks noChangeAspect="1"/>
          </p:cNvGraphicFramePr>
          <p:nvPr/>
        </p:nvGraphicFramePr>
        <p:xfrm>
          <a:off x="9018940" y="2015412"/>
          <a:ext cx="2092325" cy="635000"/>
        </p:xfrm>
        <a:graphic>
          <a:graphicData uri="http://schemas.openxmlformats.org/presentationml/2006/ole">
            <mc:AlternateContent xmlns:mc="http://schemas.openxmlformats.org/markup-compatibility/2006">
              <mc:Choice xmlns:v="urn:schemas-microsoft-com:vml" Requires="v">
                <p:oleObj name="Equation" r:id="rId4" imgW="710891" imgH="215806" progId="Equation.3">
                  <p:embed/>
                </p:oleObj>
              </mc:Choice>
              <mc:Fallback>
                <p:oleObj name="Equation" r:id="rId4" imgW="710891" imgH="215806" progId="Equation.3">
                  <p:embed/>
                  <p:pic>
                    <p:nvPicPr>
                      <p:cNvPr id="8" name="Object 3">
                        <a:extLst>
                          <a:ext uri="{FF2B5EF4-FFF2-40B4-BE49-F238E27FC236}">
                            <a16:creationId xmlns:a16="http://schemas.microsoft.com/office/drawing/2014/main" id="{BA3D9E1C-928E-CD41-9F88-701CA85F87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18940" y="2015412"/>
                        <a:ext cx="2092325" cy="63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Text Box 5">
            <a:extLst>
              <a:ext uri="{FF2B5EF4-FFF2-40B4-BE49-F238E27FC236}">
                <a16:creationId xmlns:a16="http://schemas.microsoft.com/office/drawing/2014/main" id="{D024A179-C14F-D44E-9BA2-32783AF3264E}"/>
              </a:ext>
            </a:extLst>
          </p:cNvPr>
          <p:cNvSpPr txBox="1">
            <a:spLocks noChangeArrowheads="1"/>
          </p:cNvSpPr>
          <p:nvPr/>
        </p:nvSpPr>
        <p:spPr bwMode="auto">
          <a:xfrm>
            <a:off x="6188004" y="2862959"/>
            <a:ext cx="134827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8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4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2000" dirty="0"/>
              <a:t>XOR Data</a:t>
            </a:r>
          </a:p>
        </p:txBody>
      </p:sp>
      <p:grpSp>
        <p:nvGrpSpPr>
          <p:cNvPr id="11" name="Gruppo 10">
            <a:extLst>
              <a:ext uri="{FF2B5EF4-FFF2-40B4-BE49-F238E27FC236}">
                <a16:creationId xmlns:a16="http://schemas.microsoft.com/office/drawing/2014/main" id="{B488D57F-3046-B241-BD33-003828B3DDCF}"/>
              </a:ext>
            </a:extLst>
          </p:cNvPr>
          <p:cNvGrpSpPr/>
          <p:nvPr/>
        </p:nvGrpSpPr>
        <p:grpSpPr>
          <a:xfrm>
            <a:off x="8686800" y="2798111"/>
            <a:ext cx="3062322" cy="2336716"/>
            <a:chOff x="8686800" y="2798111"/>
            <a:chExt cx="3062322" cy="2336716"/>
          </a:xfrm>
        </p:grpSpPr>
        <p:cxnSp>
          <p:nvCxnSpPr>
            <p:cNvPr id="3" name="Connettore 1 2">
              <a:extLst>
                <a:ext uri="{FF2B5EF4-FFF2-40B4-BE49-F238E27FC236}">
                  <a16:creationId xmlns:a16="http://schemas.microsoft.com/office/drawing/2014/main" id="{CA1A9A3F-2C22-B44F-8CD0-04AB8B1CAF55}"/>
                </a:ext>
              </a:extLst>
            </p:cNvPr>
            <p:cNvCxnSpPr>
              <a:cxnSpLocks/>
            </p:cNvCxnSpPr>
            <p:nvPr/>
          </p:nvCxnSpPr>
          <p:spPr>
            <a:xfrm flipV="1">
              <a:off x="8686800" y="2798111"/>
              <a:ext cx="1684020" cy="193390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 name="Connettore 1 9">
              <a:extLst>
                <a:ext uri="{FF2B5EF4-FFF2-40B4-BE49-F238E27FC236}">
                  <a16:creationId xmlns:a16="http://schemas.microsoft.com/office/drawing/2014/main" id="{56AE1E11-133E-FD47-A395-78DDD6801819}"/>
                </a:ext>
              </a:extLst>
            </p:cNvPr>
            <p:cNvCxnSpPr>
              <a:cxnSpLocks/>
            </p:cNvCxnSpPr>
            <p:nvPr/>
          </p:nvCxnSpPr>
          <p:spPr>
            <a:xfrm flipV="1">
              <a:off x="10065102" y="3200918"/>
              <a:ext cx="1684020" cy="1933909"/>
            </a:xfrm>
            <a:prstGeom prst="line">
              <a:avLst/>
            </a:prstGeom>
            <a:ln w="3810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36248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ltLang="en-US" dirty="0"/>
              <a:t>Multilayer Neural Network</a:t>
            </a:r>
          </a:p>
        </p:txBody>
      </p:sp>
      <p:sp>
        <p:nvSpPr>
          <p:cNvPr id="14339" name="Rectangle 3"/>
          <p:cNvSpPr>
            <a:spLocks noGrp="1" noChangeArrowheads="1"/>
          </p:cNvSpPr>
          <p:nvPr>
            <p:ph type="body" idx="1"/>
          </p:nvPr>
        </p:nvSpPr>
        <p:spPr>
          <a:xfrm>
            <a:off x="838200" y="1825625"/>
            <a:ext cx="6588967" cy="4351338"/>
          </a:xfrm>
        </p:spPr>
        <p:txBody>
          <a:bodyPr>
            <a:normAutofit fontScale="92500" lnSpcReduction="20000"/>
          </a:bodyPr>
          <a:lstStyle/>
          <a:p>
            <a:r>
              <a:rPr lang="en-US" altLang="en-US" b="1" dirty="0"/>
              <a:t>Hidden Layers</a:t>
            </a:r>
            <a:r>
              <a:rPr lang="en-US" altLang="en-US" dirty="0"/>
              <a:t>: intermediary layers between input and output layers.</a:t>
            </a:r>
          </a:p>
          <a:p>
            <a:r>
              <a:rPr lang="en-US" altLang="en-US" dirty="0"/>
              <a:t>More general </a:t>
            </a:r>
            <a:r>
              <a:rPr lang="en-US" altLang="en-US" b="1" dirty="0"/>
              <a:t>activation functions </a:t>
            </a:r>
            <a:r>
              <a:rPr lang="en-US" altLang="en-US" dirty="0"/>
              <a:t>(sigmoid, linear, hyperbolic tangent, etc.).</a:t>
            </a:r>
          </a:p>
          <a:p>
            <a:pPr marL="0" indent="0">
              <a:buNone/>
            </a:pPr>
            <a:endParaRPr lang="en-US" altLang="en-US" dirty="0"/>
          </a:p>
          <a:p>
            <a:r>
              <a:rPr lang="en-US" altLang="en-US" dirty="0"/>
              <a:t>Multi-layer neural network can solve any type of classification task involving nonlinear decision surfaces.</a:t>
            </a:r>
          </a:p>
          <a:p>
            <a:r>
              <a:rPr lang="en-US" altLang="en-US" dirty="0"/>
              <a:t>Perceptron is single layer.</a:t>
            </a:r>
          </a:p>
          <a:p>
            <a:r>
              <a:rPr lang="en-US" altLang="en-US" dirty="0"/>
              <a:t>We can think to each hidden node  as a perceptron that tries to construct one hyperplane, while the output node combines the results to return the decision boundary.</a:t>
            </a:r>
          </a:p>
        </p:txBody>
      </p:sp>
      <p:graphicFrame>
        <p:nvGraphicFramePr>
          <p:cNvPr id="4" name="Object 2">
            <a:extLst>
              <a:ext uri="{FF2B5EF4-FFF2-40B4-BE49-F238E27FC236}">
                <a16:creationId xmlns:a16="http://schemas.microsoft.com/office/drawing/2014/main" id="{B77A3F8E-1F8C-1140-BEA7-3359079C0E73}"/>
              </a:ext>
            </a:extLst>
          </p:cNvPr>
          <p:cNvGraphicFramePr>
            <a:graphicFrameLocks noChangeAspect="1"/>
          </p:cNvGraphicFramePr>
          <p:nvPr/>
        </p:nvGraphicFramePr>
        <p:xfrm>
          <a:off x="7427167" y="1597091"/>
          <a:ext cx="3981450" cy="2514600"/>
        </p:xfrm>
        <a:graphic>
          <a:graphicData uri="http://schemas.openxmlformats.org/presentationml/2006/ole">
            <mc:AlternateContent xmlns:mc="http://schemas.openxmlformats.org/markup-compatibility/2006">
              <mc:Choice xmlns:v="urn:schemas-microsoft-com:vml" Requires="v">
                <p:oleObj name="Visio" r:id="rId2" imgW="6980428" imgH="4408899" progId="Visio.Drawing.6">
                  <p:embed/>
                </p:oleObj>
              </mc:Choice>
              <mc:Fallback>
                <p:oleObj name="Visio" r:id="rId2" imgW="6980428" imgH="4408899" progId="Visio.Drawing.6">
                  <p:embed/>
                  <p:pic>
                    <p:nvPicPr>
                      <p:cNvPr id="4" name="Object 2">
                        <a:extLst>
                          <a:ext uri="{FF2B5EF4-FFF2-40B4-BE49-F238E27FC236}">
                            <a16:creationId xmlns:a16="http://schemas.microsoft.com/office/drawing/2014/main" id="{B77A3F8E-1F8C-1140-BEA7-3359079C0E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27167" y="1597091"/>
                        <a:ext cx="398145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 name="Picture 5">
            <a:extLst>
              <a:ext uri="{FF2B5EF4-FFF2-40B4-BE49-F238E27FC236}">
                <a16:creationId xmlns:a16="http://schemas.microsoft.com/office/drawing/2014/main" id="{24F18931-983D-A844-88F1-36792E4584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7789700" y="4406382"/>
            <a:ext cx="3256383" cy="2442287"/>
          </a:xfrm>
          <a:prstGeom prst="rect">
            <a:avLst/>
          </a:prstGeom>
          <a:noFill/>
        </p:spPr>
      </p:pic>
      <p:sp>
        <p:nvSpPr>
          <p:cNvPr id="6" name="Text Box 5">
            <a:extLst>
              <a:ext uri="{FF2B5EF4-FFF2-40B4-BE49-F238E27FC236}">
                <a16:creationId xmlns:a16="http://schemas.microsoft.com/office/drawing/2014/main" id="{51AD5770-6F3A-9442-8536-CB6C15A9217C}"/>
              </a:ext>
            </a:extLst>
          </p:cNvPr>
          <p:cNvSpPr txBox="1">
            <a:spLocks noChangeArrowheads="1"/>
          </p:cNvSpPr>
          <p:nvPr/>
        </p:nvSpPr>
        <p:spPr bwMode="auto">
          <a:xfrm>
            <a:off x="8743756" y="4207944"/>
            <a:ext cx="134827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8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4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2000" dirty="0"/>
              <a:t>XOR Data</a:t>
            </a:r>
          </a:p>
        </p:txBody>
      </p:sp>
    </p:spTree>
    <p:extLst>
      <p:ext uri="{BB962C8B-B14F-4D97-AF65-F5344CB8AC3E}">
        <p14:creationId xmlns:p14="http://schemas.microsoft.com/office/powerpoint/2010/main" val="3010326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339">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3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33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33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33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Title 1">
            <a:extLst>
              <a:ext uri="{FF2B5EF4-FFF2-40B4-BE49-F238E27FC236}">
                <a16:creationId xmlns:a16="http://schemas.microsoft.com/office/drawing/2014/main" id="{6AD5C82F-B5E1-ECDD-7FD1-5EBB657F2492}"/>
              </a:ext>
            </a:extLst>
          </p:cNvPr>
          <p:cNvSpPr>
            <a:spLocks noGrp="1"/>
          </p:cNvSpPr>
          <p:nvPr>
            <p:ph type="title"/>
          </p:nvPr>
        </p:nvSpPr>
        <p:spPr>
          <a:xfrm>
            <a:off x="838200" y="365125"/>
            <a:ext cx="10515600" cy="1325563"/>
          </a:xfrm>
        </p:spPr>
        <p:txBody>
          <a:bodyPr/>
          <a:lstStyle/>
          <a:p>
            <a:endParaRPr lang="en-US"/>
          </a:p>
        </p:txBody>
      </p:sp>
      <p:pic>
        <p:nvPicPr>
          <p:cNvPr id="1026" name="Picture 2">
            <a:extLst>
              <a:ext uri="{FF2B5EF4-FFF2-40B4-BE49-F238E27FC236}">
                <a16:creationId xmlns:a16="http://schemas.microsoft.com/office/drawing/2014/main" id="{71B5AEC9-7F3E-AD3B-513E-0F3F826E94B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312228" y="1825625"/>
            <a:ext cx="7567544" cy="4351338"/>
          </a:xfrm>
          <a:prstGeom prst="rect">
            <a:avLst/>
          </a:prstGeom>
          <a:solidFill>
            <a:srgbClr val="FFFFFF"/>
          </a:solidFill>
        </p:spPr>
      </p:pic>
    </p:spTree>
    <p:extLst>
      <p:ext uri="{BB962C8B-B14F-4D97-AF65-F5344CB8AC3E}">
        <p14:creationId xmlns:p14="http://schemas.microsoft.com/office/powerpoint/2010/main" val="22865267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en-US" dirty="0"/>
              <a:t>General Structure of ANN</a:t>
            </a:r>
          </a:p>
        </p:txBody>
      </p:sp>
      <p:graphicFrame>
        <p:nvGraphicFramePr>
          <p:cNvPr id="6147" name="Object 2"/>
          <p:cNvGraphicFramePr>
            <a:graphicFrameLocks noGrp="1" noChangeAspect="1"/>
          </p:cNvGraphicFramePr>
          <p:nvPr>
            <p:ph sz="half" idx="1"/>
          </p:nvPr>
        </p:nvGraphicFramePr>
        <p:xfrm>
          <a:off x="6207967" y="2528889"/>
          <a:ext cx="4419600" cy="2460625"/>
        </p:xfrm>
        <a:graphic>
          <a:graphicData uri="http://schemas.openxmlformats.org/presentationml/2006/ole">
            <mc:AlternateContent xmlns:mc="http://schemas.openxmlformats.org/markup-compatibility/2006">
              <mc:Choice xmlns:v="urn:schemas-microsoft-com:vml" Requires="v">
                <p:oleObj name="Visio" r:id="rId2" imgW="7962595" imgH="4433250" progId="Visio.Drawing.11">
                  <p:embed/>
                </p:oleObj>
              </mc:Choice>
              <mc:Fallback>
                <p:oleObj name="Visio" r:id="rId2" imgW="7962595" imgH="4433250" progId="Visio.Drawing.11">
                  <p:embed/>
                  <p:pic>
                    <p:nvPicPr>
                      <p:cNvPr id="6147"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07967" y="2528889"/>
                        <a:ext cx="4419600" cy="246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48" name="Object 3"/>
          <p:cNvGraphicFramePr>
            <a:graphicFrameLocks noGrp="1" noChangeAspect="1"/>
          </p:cNvGraphicFramePr>
          <p:nvPr>
            <p:ph sz="half" idx="2"/>
          </p:nvPr>
        </p:nvGraphicFramePr>
        <p:xfrm>
          <a:off x="2016967" y="1690688"/>
          <a:ext cx="3905250" cy="4724400"/>
        </p:xfrm>
        <a:graphic>
          <a:graphicData uri="http://schemas.openxmlformats.org/presentationml/2006/ole">
            <mc:AlternateContent xmlns:mc="http://schemas.openxmlformats.org/markup-compatibility/2006">
              <mc:Choice xmlns:v="urn:schemas-microsoft-com:vml" Requires="v">
                <p:oleObj name="Visio" r:id="rId4" imgW="5417922" imgH="6555254" progId="Visio.Drawing.6">
                  <p:embed/>
                </p:oleObj>
              </mc:Choice>
              <mc:Fallback>
                <p:oleObj name="Visio" r:id="rId4" imgW="5417922" imgH="6555254" progId="Visio.Drawing.6">
                  <p:embed/>
                  <p:pic>
                    <p:nvPicPr>
                      <p:cNvPr id="6148"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16967" y="1690688"/>
                        <a:ext cx="390525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49" name="Text Box 5"/>
          <p:cNvSpPr txBox="1">
            <a:spLocks noChangeArrowheads="1"/>
          </p:cNvSpPr>
          <p:nvPr/>
        </p:nvSpPr>
        <p:spPr bwMode="auto">
          <a:xfrm>
            <a:off x="6969967" y="5348288"/>
            <a:ext cx="3505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8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4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800"/>
              <a:t>Training ANN means learning the weights of the neurons</a:t>
            </a:r>
          </a:p>
        </p:txBody>
      </p:sp>
      <p:sp>
        <p:nvSpPr>
          <p:cNvPr id="6150" name="AutoShape 6"/>
          <p:cNvSpPr>
            <a:spLocks noChangeArrowheads="1"/>
          </p:cNvSpPr>
          <p:nvPr/>
        </p:nvSpPr>
        <p:spPr bwMode="auto">
          <a:xfrm>
            <a:off x="5064967" y="4433888"/>
            <a:ext cx="2743200" cy="685800"/>
          </a:xfrm>
          <a:prstGeom prst="curvedUpArrow">
            <a:avLst>
              <a:gd name="adj1" fmla="val 44296"/>
              <a:gd name="adj2" fmla="val 124296"/>
              <a:gd name="adj3" fmla="val 37292"/>
            </a:avLst>
          </a:prstGeom>
          <a:solidFill>
            <a:schemeClr val="accent1"/>
          </a:solidFill>
          <a:ln w="12700">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8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4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Tree>
    <p:extLst>
      <p:ext uri="{BB962C8B-B14F-4D97-AF65-F5344CB8AC3E}">
        <p14:creationId xmlns:p14="http://schemas.microsoft.com/office/powerpoint/2010/main" val="6198960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dirty="0"/>
              <a:t>Artificial Neural Networks (ANN)</a:t>
            </a:r>
          </a:p>
        </p:txBody>
      </p:sp>
      <p:sp>
        <p:nvSpPr>
          <p:cNvPr id="7171" name="Rectangle 3"/>
          <p:cNvSpPr>
            <a:spLocks noGrp="1" noChangeArrowheads="1"/>
          </p:cNvSpPr>
          <p:nvPr>
            <p:ph type="body" idx="1"/>
          </p:nvPr>
        </p:nvSpPr>
        <p:spPr/>
        <p:txBody>
          <a:bodyPr/>
          <a:lstStyle/>
          <a:p>
            <a:r>
              <a:rPr lang="en-US" altLang="en-US" dirty="0"/>
              <a:t>Various types of neural network topology</a:t>
            </a:r>
          </a:p>
          <a:p>
            <a:pPr lvl="1"/>
            <a:r>
              <a:rPr lang="en-US" altLang="en-US" dirty="0"/>
              <a:t>single-layered network (perceptron) versus </a:t>
            </a:r>
            <a:br>
              <a:rPr lang="en-US" altLang="en-US" dirty="0"/>
            </a:br>
            <a:r>
              <a:rPr lang="en-US" altLang="en-US" dirty="0"/>
              <a:t>multi-layered network</a:t>
            </a:r>
          </a:p>
          <a:p>
            <a:pPr lvl="1"/>
            <a:r>
              <a:rPr lang="en-US" altLang="en-US" dirty="0"/>
              <a:t>Feed-forward versus recurrent network</a:t>
            </a:r>
          </a:p>
          <a:p>
            <a:pPr lvl="1"/>
            <a:endParaRPr lang="en-US" altLang="en-US" dirty="0"/>
          </a:p>
          <a:p>
            <a:r>
              <a:rPr lang="en-US" altLang="en-US" dirty="0"/>
              <a:t>Various types of </a:t>
            </a:r>
            <a:br>
              <a:rPr lang="en-US" altLang="en-US" dirty="0"/>
            </a:br>
            <a:r>
              <a:rPr lang="en-US" altLang="en-US" dirty="0"/>
              <a:t>activation functions (f)</a:t>
            </a:r>
          </a:p>
          <a:p>
            <a:pPr lvl="1"/>
            <a:endParaRPr lang="en-US" altLang="en-US" dirty="0"/>
          </a:p>
        </p:txBody>
      </p:sp>
      <p:graphicFrame>
        <p:nvGraphicFramePr>
          <p:cNvPr id="7172" name="Object 2"/>
          <p:cNvGraphicFramePr>
            <a:graphicFrameLocks noGrp="1" noChangeAspect="1"/>
          </p:cNvGraphicFramePr>
          <p:nvPr>
            <p:ph sz="half" idx="4294967295"/>
          </p:nvPr>
        </p:nvGraphicFramePr>
        <p:xfrm>
          <a:off x="2590801" y="4957763"/>
          <a:ext cx="2403475" cy="831850"/>
        </p:xfrm>
        <a:graphic>
          <a:graphicData uri="http://schemas.openxmlformats.org/presentationml/2006/ole">
            <mc:AlternateContent xmlns:mc="http://schemas.openxmlformats.org/markup-compatibility/2006">
              <mc:Choice xmlns:v="urn:schemas-microsoft-com:vml" Requires="v">
                <p:oleObj name="Equation" r:id="rId2" imgW="990360" imgH="342720" progId="Equation.3">
                  <p:embed/>
                </p:oleObj>
              </mc:Choice>
              <mc:Fallback>
                <p:oleObj name="Equation" r:id="rId2" imgW="990360" imgH="342720" progId="Equation.3">
                  <p:embed/>
                  <p:pic>
                    <p:nvPicPr>
                      <p:cNvPr id="7172"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1" y="4957763"/>
                        <a:ext cx="2403475" cy="831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7173" name="Picture 5"/>
          <p:cNvPicPr>
            <a:picLocks noGrp="1" noChangeAspect="1" noChangeArrowheads="1"/>
          </p:cNvPicPr>
          <p:nvPr>
            <p:ph sz="half" idx="4294967295"/>
          </p:nvPr>
        </p:nvPicPr>
        <p:blipFill>
          <a:blip r:embed="rId4">
            <a:extLst>
              <a:ext uri="{28A0092B-C50C-407E-A947-70E740481C1C}">
                <a14:useLocalDpi xmlns:a14="http://schemas.microsoft.com/office/drawing/2010/main" val="0"/>
              </a:ext>
            </a:extLst>
          </a:blip>
          <a:srcRect/>
          <a:stretch>
            <a:fillRect/>
          </a:stretch>
        </p:blipFill>
        <p:spPr>
          <a:xfrm>
            <a:off x="7559674" y="3644869"/>
            <a:ext cx="4083050" cy="3062287"/>
          </a:xfrm>
          <a:noFill/>
        </p:spPr>
      </p:pic>
    </p:spTree>
    <p:extLst>
      <p:ext uri="{BB962C8B-B14F-4D97-AF65-F5344CB8AC3E}">
        <p14:creationId xmlns:p14="http://schemas.microsoft.com/office/powerpoint/2010/main" val="20148041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noProof="0" dirty="0"/>
              <a:t>Deep Neural Networks</a:t>
            </a:r>
          </a:p>
        </p:txBody>
      </p:sp>
      <p:sp>
        <p:nvSpPr>
          <p:cNvPr id="17" name="Connector 16"/>
          <p:cNvSpPr/>
          <p:nvPr/>
        </p:nvSpPr>
        <p:spPr>
          <a:xfrm>
            <a:off x="4557291" y="5825518"/>
            <a:ext cx="450150" cy="45015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x</a:t>
            </a:r>
            <a:r>
              <a:rPr lang="en-US" sz="1000" baseline="-25000" dirty="0">
                <a:ln>
                  <a:solidFill>
                    <a:schemeClr val="tx1"/>
                  </a:solidFill>
                </a:ln>
                <a:solidFill>
                  <a:schemeClr val="tx1"/>
                </a:solidFill>
                <a:latin typeface="Arial"/>
                <a:cs typeface="Arial"/>
              </a:rPr>
              <a:t>1</a:t>
            </a:r>
          </a:p>
        </p:txBody>
      </p:sp>
      <p:sp>
        <p:nvSpPr>
          <p:cNvPr id="18" name="Connector 17"/>
          <p:cNvSpPr/>
          <p:nvPr/>
        </p:nvSpPr>
        <p:spPr>
          <a:xfrm>
            <a:off x="5049122" y="4757107"/>
            <a:ext cx="450150" cy="45015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a</a:t>
            </a:r>
            <a:r>
              <a:rPr lang="en-US" sz="1000" baseline="-25000" dirty="0">
                <a:ln>
                  <a:solidFill>
                    <a:schemeClr val="tx1"/>
                  </a:solidFill>
                </a:ln>
                <a:solidFill>
                  <a:schemeClr val="tx1"/>
                </a:solidFill>
                <a:latin typeface="Arial"/>
                <a:cs typeface="Arial"/>
              </a:rPr>
              <a:t>1</a:t>
            </a:r>
          </a:p>
        </p:txBody>
      </p:sp>
      <p:sp>
        <p:nvSpPr>
          <p:cNvPr id="19" name="Connector 18"/>
          <p:cNvSpPr/>
          <p:nvPr/>
        </p:nvSpPr>
        <p:spPr>
          <a:xfrm>
            <a:off x="5390902" y="5825518"/>
            <a:ext cx="450150" cy="45015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x</a:t>
            </a:r>
            <a:r>
              <a:rPr lang="en-US" sz="1000" baseline="-25000" dirty="0">
                <a:ln>
                  <a:solidFill>
                    <a:schemeClr val="tx1"/>
                  </a:solidFill>
                </a:ln>
                <a:solidFill>
                  <a:schemeClr val="tx1"/>
                </a:solidFill>
                <a:latin typeface="Arial"/>
                <a:cs typeface="Arial"/>
              </a:rPr>
              <a:t>2</a:t>
            </a:r>
          </a:p>
        </p:txBody>
      </p:sp>
      <p:sp>
        <p:nvSpPr>
          <p:cNvPr id="20" name="Connector 19"/>
          <p:cNvSpPr/>
          <p:nvPr/>
        </p:nvSpPr>
        <p:spPr>
          <a:xfrm>
            <a:off x="6307875" y="5825518"/>
            <a:ext cx="450150" cy="45015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x</a:t>
            </a:r>
            <a:r>
              <a:rPr lang="en-US" sz="1000" baseline="-25000" dirty="0">
                <a:ln>
                  <a:solidFill>
                    <a:schemeClr val="tx1"/>
                  </a:solidFill>
                </a:ln>
                <a:solidFill>
                  <a:schemeClr val="tx1"/>
                </a:solidFill>
                <a:latin typeface="Arial"/>
                <a:cs typeface="Arial"/>
              </a:rPr>
              <a:t>3</a:t>
            </a:r>
          </a:p>
        </p:txBody>
      </p:sp>
      <p:sp>
        <p:nvSpPr>
          <p:cNvPr id="21" name="Connector 20"/>
          <p:cNvSpPr/>
          <p:nvPr/>
        </p:nvSpPr>
        <p:spPr>
          <a:xfrm>
            <a:off x="7683333" y="5825518"/>
            <a:ext cx="450150" cy="45015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err="1">
                <a:ln>
                  <a:solidFill>
                    <a:schemeClr val="tx1"/>
                  </a:solidFill>
                </a:ln>
                <a:solidFill>
                  <a:schemeClr val="tx1"/>
                </a:solidFill>
                <a:latin typeface="Arial"/>
                <a:cs typeface="Arial"/>
              </a:rPr>
              <a:t>x</a:t>
            </a:r>
            <a:r>
              <a:rPr lang="en-US" sz="1000" baseline="-25000" dirty="0" err="1">
                <a:ln>
                  <a:solidFill>
                    <a:schemeClr val="tx1"/>
                  </a:solidFill>
                </a:ln>
                <a:solidFill>
                  <a:schemeClr val="tx1"/>
                </a:solidFill>
                <a:latin typeface="Arial"/>
                <a:cs typeface="Arial"/>
              </a:rPr>
              <a:t>M</a:t>
            </a:r>
            <a:endParaRPr lang="en-US" sz="1000" baseline="-25000" dirty="0">
              <a:ln>
                <a:solidFill>
                  <a:schemeClr val="tx1"/>
                </a:solidFill>
              </a:ln>
              <a:solidFill>
                <a:schemeClr val="tx1"/>
              </a:solidFill>
              <a:latin typeface="Arial"/>
              <a:cs typeface="Arial"/>
            </a:endParaRPr>
          </a:p>
        </p:txBody>
      </p:sp>
      <p:sp>
        <p:nvSpPr>
          <p:cNvPr id="22" name="Connector 21"/>
          <p:cNvSpPr/>
          <p:nvPr/>
        </p:nvSpPr>
        <p:spPr>
          <a:xfrm>
            <a:off x="6141152" y="3888762"/>
            <a:ext cx="450150" cy="450150"/>
          </a:xfrm>
          <a:prstGeom prst="flowChartConnector">
            <a:avLst/>
          </a:prstGeom>
          <a:solidFill>
            <a:srgbClr val="E0D925"/>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y</a:t>
            </a:r>
            <a:endParaRPr lang="en-US" sz="1000" baseline="-25000" dirty="0">
              <a:ln>
                <a:solidFill>
                  <a:schemeClr val="tx1"/>
                </a:solidFill>
              </a:ln>
              <a:solidFill>
                <a:schemeClr val="tx1"/>
              </a:solidFill>
              <a:latin typeface="Arial"/>
              <a:cs typeface="Arial"/>
            </a:endParaRPr>
          </a:p>
        </p:txBody>
      </p:sp>
      <p:sp>
        <p:nvSpPr>
          <p:cNvPr id="23" name="Connector 22"/>
          <p:cNvSpPr/>
          <p:nvPr/>
        </p:nvSpPr>
        <p:spPr>
          <a:xfrm>
            <a:off x="5799372" y="4757107"/>
            <a:ext cx="450150" cy="45015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a</a:t>
            </a:r>
            <a:r>
              <a:rPr lang="en-US" sz="1000" baseline="-25000" dirty="0">
                <a:ln>
                  <a:solidFill>
                    <a:schemeClr val="tx1"/>
                  </a:solidFill>
                </a:ln>
                <a:solidFill>
                  <a:schemeClr val="tx1"/>
                </a:solidFill>
                <a:latin typeface="Arial"/>
                <a:cs typeface="Arial"/>
              </a:rPr>
              <a:t>2</a:t>
            </a:r>
          </a:p>
        </p:txBody>
      </p:sp>
      <p:sp>
        <p:nvSpPr>
          <p:cNvPr id="24" name="Connector 23"/>
          <p:cNvSpPr/>
          <p:nvPr/>
        </p:nvSpPr>
        <p:spPr>
          <a:xfrm>
            <a:off x="7099805" y="4757107"/>
            <a:ext cx="450150" cy="45015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err="1">
                <a:ln>
                  <a:solidFill>
                    <a:schemeClr val="tx1"/>
                  </a:solidFill>
                </a:ln>
                <a:solidFill>
                  <a:schemeClr val="tx1"/>
                </a:solidFill>
                <a:latin typeface="Arial"/>
                <a:cs typeface="Arial"/>
              </a:rPr>
              <a:t>a</a:t>
            </a:r>
            <a:r>
              <a:rPr lang="en-US" sz="1000" baseline="-25000" dirty="0" err="1">
                <a:ln>
                  <a:solidFill>
                    <a:schemeClr val="tx1"/>
                  </a:solidFill>
                </a:ln>
                <a:solidFill>
                  <a:schemeClr val="tx1"/>
                </a:solidFill>
                <a:latin typeface="Arial"/>
                <a:cs typeface="Arial"/>
              </a:rPr>
              <a:t>D</a:t>
            </a:r>
            <a:endParaRPr lang="en-US" sz="1000" baseline="-25000" dirty="0">
              <a:ln>
                <a:solidFill>
                  <a:schemeClr val="tx1"/>
                </a:solidFill>
              </a:ln>
              <a:solidFill>
                <a:schemeClr val="tx1"/>
              </a:solidFill>
              <a:latin typeface="Arial"/>
              <a:cs typeface="Arial"/>
            </a:endParaRPr>
          </a:p>
        </p:txBody>
      </p:sp>
      <p:sp>
        <p:nvSpPr>
          <p:cNvPr id="25" name="TextBox 24"/>
          <p:cNvSpPr txBox="1">
            <a:spLocks noChangeArrowheads="1"/>
          </p:cNvSpPr>
          <p:nvPr/>
        </p:nvSpPr>
        <p:spPr bwMode="auto">
          <a:xfrm>
            <a:off x="6549621" y="4810272"/>
            <a:ext cx="291764" cy="246221"/>
          </a:xfrm>
          <a:prstGeom prst="rect">
            <a:avLst/>
          </a:prstGeom>
          <a:noFill/>
          <a:ln w="9525">
            <a:noFill/>
            <a:miter lim="800000"/>
            <a:headEnd/>
            <a:tailEnd/>
          </a:ln>
        </p:spPr>
        <p:txBody>
          <a:bodyPr anchor="ctr">
            <a:prstTxWarp prst="textNoShape">
              <a:avLst/>
            </a:prstTxWarp>
            <a:spAutoFit/>
          </a:bodyPr>
          <a:lstStyle/>
          <a:p>
            <a:pPr algn="ctr"/>
            <a:r>
              <a:rPr lang="en-US" sz="1000" b="1" dirty="0"/>
              <a:t>…</a:t>
            </a:r>
          </a:p>
        </p:txBody>
      </p:sp>
      <p:sp>
        <p:nvSpPr>
          <p:cNvPr id="26" name="TextBox 25"/>
          <p:cNvSpPr txBox="1">
            <a:spLocks noChangeArrowheads="1"/>
          </p:cNvSpPr>
          <p:nvPr/>
        </p:nvSpPr>
        <p:spPr bwMode="auto">
          <a:xfrm>
            <a:off x="7099805" y="5878683"/>
            <a:ext cx="291764" cy="246221"/>
          </a:xfrm>
          <a:prstGeom prst="rect">
            <a:avLst/>
          </a:prstGeom>
          <a:noFill/>
          <a:ln w="9525">
            <a:noFill/>
            <a:miter lim="800000"/>
            <a:headEnd/>
            <a:tailEnd/>
          </a:ln>
        </p:spPr>
        <p:txBody>
          <a:bodyPr anchor="ctr">
            <a:prstTxWarp prst="textNoShape">
              <a:avLst/>
            </a:prstTxWarp>
            <a:spAutoFit/>
          </a:bodyPr>
          <a:lstStyle/>
          <a:p>
            <a:pPr algn="ctr"/>
            <a:r>
              <a:rPr lang="en-US" sz="1000" b="1"/>
              <a:t>…</a:t>
            </a:r>
          </a:p>
        </p:txBody>
      </p:sp>
      <p:cxnSp>
        <p:nvCxnSpPr>
          <p:cNvPr id="27" name="Straight Connector 26"/>
          <p:cNvCxnSpPr>
            <a:stCxn id="18" idx="4"/>
            <a:endCxn id="17" idx="0"/>
          </p:cNvCxnSpPr>
          <p:nvPr/>
        </p:nvCxnSpPr>
        <p:spPr>
          <a:xfrm rot="5400000">
            <a:off x="4719152" y="5270473"/>
            <a:ext cx="618261" cy="491831"/>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8" name="Straight Connector 27"/>
          <p:cNvCxnSpPr>
            <a:stCxn id="18" idx="4"/>
            <a:endCxn id="19" idx="0"/>
          </p:cNvCxnSpPr>
          <p:nvPr/>
        </p:nvCxnSpPr>
        <p:spPr>
          <a:xfrm rot="16200000" flipH="1">
            <a:off x="5135957" y="5345498"/>
            <a:ext cx="618261" cy="341781"/>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a:stCxn id="18" idx="4"/>
            <a:endCxn id="20" idx="0"/>
          </p:cNvCxnSpPr>
          <p:nvPr/>
        </p:nvCxnSpPr>
        <p:spPr>
          <a:xfrm rot="16200000" flipH="1">
            <a:off x="5594443" y="4887012"/>
            <a:ext cx="618261" cy="125875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0" name="Straight Connector 29"/>
          <p:cNvCxnSpPr>
            <a:stCxn id="18" idx="4"/>
            <a:endCxn id="21" idx="0"/>
          </p:cNvCxnSpPr>
          <p:nvPr/>
        </p:nvCxnSpPr>
        <p:spPr>
          <a:xfrm rot="16200000" flipH="1">
            <a:off x="6282173" y="4199283"/>
            <a:ext cx="618261" cy="2634211"/>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1" name="Straight Connector 30"/>
          <p:cNvCxnSpPr>
            <a:stCxn id="23" idx="4"/>
            <a:endCxn id="19" idx="0"/>
          </p:cNvCxnSpPr>
          <p:nvPr/>
        </p:nvCxnSpPr>
        <p:spPr>
          <a:xfrm rot="5400000">
            <a:off x="5511082" y="5312154"/>
            <a:ext cx="618261" cy="408469"/>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2" name="Straight Connector 31"/>
          <p:cNvCxnSpPr>
            <a:stCxn id="23" idx="4"/>
            <a:endCxn id="20" idx="0"/>
          </p:cNvCxnSpPr>
          <p:nvPr/>
        </p:nvCxnSpPr>
        <p:spPr>
          <a:xfrm rot="16200000" flipH="1">
            <a:off x="5969568" y="5262137"/>
            <a:ext cx="618261" cy="50850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3" name="Straight Connector 32"/>
          <p:cNvCxnSpPr>
            <a:stCxn id="23" idx="4"/>
            <a:endCxn id="21" idx="0"/>
          </p:cNvCxnSpPr>
          <p:nvPr/>
        </p:nvCxnSpPr>
        <p:spPr>
          <a:xfrm rot="16200000" flipH="1">
            <a:off x="6657298" y="4574408"/>
            <a:ext cx="618261" cy="1883961"/>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4" name="Straight Connector 33"/>
          <p:cNvCxnSpPr>
            <a:stCxn id="24" idx="4"/>
            <a:endCxn id="17" idx="0"/>
          </p:cNvCxnSpPr>
          <p:nvPr/>
        </p:nvCxnSpPr>
        <p:spPr>
          <a:xfrm rot="5400000">
            <a:off x="5744493" y="4245130"/>
            <a:ext cx="618261" cy="2542514"/>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5" name="Straight Connector 34"/>
          <p:cNvCxnSpPr>
            <a:stCxn id="23" idx="4"/>
            <a:endCxn id="17" idx="0"/>
          </p:cNvCxnSpPr>
          <p:nvPr/>
        </p:nvCxnSpPr>
        <p:spPr>
          <a:xfrm rot="5400000">
            <a:off x="5094277" y="4895348"/>
            <a:ext cx="618261" cy="1242081"/>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6" name="Straight Connector 35"/>
          <p:cNvCxnSpPr>
            <a:stCxn id="24" idx="4"/>
            <a:endCxn id="19" idx="0"/>
          </p:cNvCxnSpPr>
          <p:nvPr/>
        </p:nvCxnSpPr>
        <p:spPr>
          <a:xfrm rot="5400000">
            <a:off x="6161299" y="4661937"/>
            <a:ext cx="618261" cy="170890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7" name="Straight Connector 36"/>
          <p:cNvCxnSpPr>
            <a:stCxn id="24" idx="4"/>
            <a:endCxn id="20" idx="0"/>
          </p:cNvCxnSpPr>
          <p:nvPr/>
        </p:nvCxnSpPr>
        <p:spPr>
          <a:xfrm rot="5400000">
            <a:off x="6619785" y="5120423"/>
            <a:ext cx="618261" cy="791931"/>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8" name="Straight Connector 37"/>
          <p:cNvCxnSpPr>
            <a:stCxn id="24" idx="4"/>
            <a:endCxn id="21" idx="0"/>
          </p:cNvCxnSpPr>
          <p:nvPr/>
        </p:nvCxnSpPr>
        <p:spPr>
          <a:xfrm rot="16200000" flipH="1">
            <a:off x="7307514" y="5224623"/>
            <a:ext cx="618261" cy="583528"/>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9" name="Straight Connector 38"/>
          <p:cNvCxnSpPr>
            <a:stCxn id="22" idx="4"/>
            <a:endCxn id="18" idx="0"/>
          </p:cNvCxnSpPr>
          <p:nvPr/>
        </p:nvCxnSpPr>
        <p:spPr>
          <a:xfrm rot="5400000">
            <a:off x="5611116" y="4001995"/>
            <a:ext cx="418195" cy="1092031"/>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40" name="Straight Connector 39"/>
          <p:cNvCxnSpPr>
            <a:stCxn id="22" idx="4"/>
            <a:endCxn id="23" idx="0"/>
          </p:cNvCxnSpPr>
          <p:nvPr/>
        </p:nvCxnSpPr>
        <p:spPr>
          <a:xfrm rot="5400000">
            <a:off x="5986241" y="4377120"/>
            <a:ext cx="418195" cy="341781"/>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a:stCxn id="22" idx="4"/>
            <a:endCxn id="24" idx="0"/>
          </p:cNvCxnSpPr>
          <p:nvPr/>
        </p:nvCxnSpPr>
        <p:spPr>
          <a:xfrm rot="16200000" flipH="1">
            <a:off x="6636457" y="4068684"/>
            <a:ext cx="418195" cy="95865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sp>
        <p:nvSpPr>
          <p:cNvPr id="42" name="TextBox 74"/>
          <p:cNvSpPr txBox="1">
            <a:spLocks noChangeArrowheads="1"/>
          </p:cNvSpPr>
          <p:nvPr/>
        </p:nvSpPr>
        <p:spPr bwMode="auto">
          <a:xfrm>
            <a:off x="4039063" y="3991574"/>
            <a:ext cx="708569" cy="246221"/>
          </a:xfrm>
          <a:prstGeom prst="rect">
            <a:avLst/>
          </a:prstGeom>
          <a:noFill/>
          <a:ln w="9525">
            <a:noFill/>
            <a:miter lim="800000"/>
            <a:headEnd/>
            <a:tailEnd/>
          </a:ln>
        </p:spPr>
        <p:txBody>
          <a:bodyPr>
            <a:prstTxWarp prst="textNoShape">
              <a:avLst/>
            </a:prstTxWarp>
            <a:spAutoFit/>
          </a:bodyPr>
          <a:lstStyle/>
          <a:p>
            <a:r>
              <a:rPr lang="en-US" sz="1000" dirty="0"/>
              <a:t>Output</a:t>
            </a:r>
          </a:p>
        </p:txBody>
      </p:sp>
      <p:sp>
        <p:nvSpPr>
          <p:cNvPr id="43" name="TextBox 75"/>
          <p:cNvSpPr txBox="1">
            <a:spLocks noChangeArrowheads="1"/>
          </p:cNvSpPr>
          <p:nvPr/>
        </p:nvSpPr>
        <p:spPr bwMode="auto">
          <a:xfrm>
            <a:off x="3807042" y="5950561"/>
            <a:ext cx="708569" cy="246221"/>
          </a:xfrm>
          <a:prstGeom prst="rect">
            <a:avLst/>
          </a:prstGeom>
          <a:noFill/>
          <a:ln w="9525">
            <a:noFill/>
            <a:miter lim="800000"/>
            <a:headEnd/>
            <a:tailEnd/>
          </a:ln>
        </p:spPr>
        <p:txBody>
          <a:bodyPr>
            <a:prstTxWarp prst="textNoShape">
              <a:avLst/>
            </a:prstTxWarp>
            <a:spAutoFit/>
          </a:bodyPr>
          <a:lstStyle/>
          <a:p>
            <a:pPr algn="ctr"/>
            <a:r>
              <a:rPr lang="en-US" sz="1000"/>
              <a:t>Input</a:t>
            </a:r>
          </a:p>
        </p:txBody>
      </p:sp>
      <p:sp>
        <p:nvSpPr>
          <p:cNvPr id="44" name="TextBox 76"/>
          <p:cNvSpPr txBox="1">
            <a:spLocks noChangeArrowheads="1"/>
          </p:cNvSpPr>
          <p:nvPr/>
        </p:nvSpPr>
        <p:spPr bwMode="auto">
          <a:xfrm>
            <a:off x="3798706" y="4882149"/>
            <a:ext cx="1125375" cy="246221"/>
          </a:xfrm>
          <a:prstGeom prst="rect">
            <a:avLst/>
          </a:prstGeom>
          <a:noFill/>
          <a:ln w="9525">
            <a:noFill/>
            <a:miter lim="800000"/>
            <a:headEnd/>
            <a:tailEnd/>
          </a:ln>
        </p:spPr>
        <p:txBody>
          <a:bodyPr>
            <a:prstTxWarp prst="textNoShape">
              <a:avLst/>
            </a:prstTxWarp>
            <a:spAutoFit/>
          </a:bodyPr>
          <a:lstStyle/>
          <a:p>
            <a:pPr algn="ctr"/>
            <a:r>
              <a:rPr lang="en-US" sz="1000" dirty="0"/>
              <a:t>Hidden Layer 1</a:t>
            </a:r>
          </a:p>
        </p:txBody>
      </p:sp>
    </p:spTree>
    <p:extLst>
      <p:ext uri="{BB962C8B-B14F-4D97-AF65-F5344CB8AC3E}">
        <p14:creationId xmlns:p14="http://schemas.microsoft.com/office/powerpoint/2010/main" val="14893290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noProof="0" dirty="0"/>
              <a:t>Deep Neural Networks</a:t>
            </a:r>
          </a:p>
        </p:txBody>
      </p:sp>
      <p:sp>
        <p:nvSpPr>
          <p:cNvPr id="17" name="Connector 16"/>
          <p:cNvSpPr/>
          <p:nvPr/>
        </p:nvSpPr>
        <p:spPr>
          <a:xfrm>
            <a:off x="4557291" y="5825518"/>
            <a:ext cx="450150" cy="45015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x</a:t>
            </a:r>
            <a:r>
              <a:rPr lang="en-US" sz="1000" baseline="-25000" dirty="0">
                <a:ln>
                  <a:solidFill>
                    <a:schemeClr val="tx1"/>
                  </a:solidFill>
                </a:ln>
                <a:solidFill>
                  <a:schemeClr val="tx1"/>
                </a:solidFill>
                <a:latin typeface="Arial"/>
                <a:cs typeface="Arial"/>
              </a:rPr>
              <a:t>1</a:t>
            </a:r>
          </a:p>
        </p:txBody>
      </p:sp>
      <p:sp>
        <p:nvSpPr>
          <p:cNvPr id="18" name="Connector 17"/>
          <p:cNvSpPr/>
          <p:nvPr/>
        </p:nvSpPr>
        <p:spPr>
          <a:xfrm>
            <a:off x="5049122" y="4757107"/>
            <a:ext cx="450150" cy="45015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a</a:t>
            </a:r>
            <a:r>
              <a:rPr lang="en-US" sz="1000" baseline="-25000" dirty="0">
                <a:ln>
                  <a:solidFill>
                    <a:schemeClr val="tx1"/>
                  </a:solidFill>
                </a:ln>
                <a:solidFill>
                  <a:schemeClr val="tx1"/>
                </a:solidFill>
                <a:latin typeface="Arial"/>
                <a:cs typeface="Arial"/>
              </a:rPr>
              <a:t>1</a:t>
            </a:r>
          </a:p>
        </p:txBody>
      </p:sp>
      <p:sp>
        <p:nvSpPr>
          <p:cNvPr id="19" name="Connector 18"/>
          <p:cNvSpPr/>
          <p:nvPr/>
        </p:nvSpPr>
        <p:spPr>
          <a:xfrm>
            <a:off x="5390902" y="5825518"/>
            <a:ext cx="450150" cy="45015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x</a:t>
            </a:r>
            <a:r>
              <a:rPr lang="en-US" sz="1000" baseline="-25000" dirty="0">
                <a:ln>
                  <a:solidFill>
                    <a:schemeClr val="tx1"/>
                  </a:solidFill>
                </a:ln>
                <a:solidFill>
                  <a:schemeClr val="tx1"/>
                </a:solidFill>
                <a:latin typeface="Arial"/>
                <a:cs typeface="Arial"/>
              </a:rPr>
              <a:t>2</a:t>
            </a:r>
          </a:p>
        </p:txBody>
      </p:sp>
      <p:sp>
        <p:nvSpPr>
          <p:cNvPr id="20" name="Connector 19"/>
          <p:cNvSpPr/>
          <p:nvPr/>
        </p:nvSpPr>
        <p:spPr>
          <a:xfrm>
            <a:off x="6307875" y="5825518"/>
            <a:ext cx="450150" cy="45015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x</a:t>
            </a:r>
            <a:r>
              <a:rPr lang="en-US" sz="1000" baseline="-25000" dirty="0">
                <a:ln>
                  <a:solidFill>
                    <a:schemeClr val="tx1"/>
                  </a:solidFill>
                </a:ln>
                <a:solidFill>
                  <a:schemeClr val="tx1"/>
                </a:solidFill>
                <a:latin typeface="Arial"/>
                <a:cs typeface="Arial"/>
              </a:rPr>
              <a:t>3</a:t>
            </a:r>
          </a:p>
        </p:txBody>
      </p:sp>
      <p:sp>
        <p:nvSpPr>
          <p:cNvPr id="21" name="Connector 20"/>
          <p:cNvSpPr/>
          <p:nvPr/>
        </p:nvSpPr>
        <p:spPr>
          <a:xfrm>
            <a:off x="7683333" y="5825518"/>
            <a:ext cx="450150" cy="45015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err="1">
                <a:ln>
                  <a:solidFill>
                    <a:schemeClr val="tx1"/>
                  </a:solidFill>
                </a:ln>
                <a:solidFill>
                  <a:schemeClr val="tx1"/>
                </a:solidFill>
                <a:latin typeface="Arial"/>
                <a:cs typeface="Arial"/>
              </a:rPr>
              <a:t>x</a:t>
            </a:r>
            <a:r>
              <a:rPr lang="en-US" sz="1000" baseline="-25000" dirty="0" err="1">
                <a:ln>
                  <a:solidFill>
                    <a:schemeClr val="tx1"/>
                  </a:solidFill>
                </a:ln>
                <a:solidFill>
                  <a:schemeClr val="tx1"/>
                </a:solidFill>
                <a:latin typeface="Arial"/>
                <a:cs typeface="Arial"/>
              </a:rPr>
              <a:t>M</a:t>
            </a:r>
            <a:endParaRPr lang="en-US" sz="1000" baseline="-25000" dirty="0">
              <a:ln>
                <a:solidFill>
                  <a:schemeClr val="tx1"/>
                </a:solidFill>
              </a:ln>
              <a:solidFill>
                <a:schemeClr val="tx1"/>
              </a:solidFill>
              <a:latin typeface="Arial"/>
              <a:cs typeface="Arial"/>
            </a:endParaRPr>
          </a:p>
        </p:txBody>
      </p:sp>
      <p:sp>
        <p:nvSpPr>
          <p:cNvPr id="23" name="Connector 22"/>
          <p:cNvSpPr/>
          <p:nvPr/>
        </p:nvSpPr>
        <p:spPr>
          <a:xfrm>
            <a:off x="5799372" y="4757107"/>
            <a:ext cx="450150" cy="45015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a</a:t>
            </a:r>
            <a:r>
              <a:rPr lang="en-US" sz="1000" baseline="-25000" dirty="0">
                <a:ln>
                  <a:solidFill>
                    <a:schemeClr val="tx1"/>
                  </a:solidFill>
                </a:ln>
                <a:solidFill>
                  <a:schemeClr val="tx1"/>
                </a:solidFill>
                <a:latin typeface="Arial"/>
                <a:cs typeface="Arial"/>
              </a:rPr>
              <a:t>2</a:t>
            </a:r>
          </a:p>
        </p:txBody>
      </p:sp>
      <p:sp>
        <p:nvSpPr>
          <p:cNvPr id="24" name="Connector 23"/>
          <p:cNvSpPr/>
          <p:nvPr/>
        </p:nvSpPr>
        <p:spPr>
          <a:xfrm>
            <a:off x="7099805" y="4757107"/>
            <a:ext cx="450150" cy="45015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err="1">
                <a:ln>
                  <a:solidFill>
                    <a:schemeClr val="tx1"/>
                  </a:solidFill>
                </a:ln>
                <a:solidFill>
                  <a:schemeClr val="tx1"/>
                </a:solidFill>
                <a:latin typeface="Arial"/>
                <a:cs typeface="Arial"/>
              </a:rPr>
              <a:t>a</a:t>
            </a:r>
            <a:r>
              <a:rPr lang="en-US" sz="1000" baseline="-25000" dirty="0" err="1">
                <a:ln>
                  <a:solidFill>
                    <a:schemeClr val="tx1"/>
                  </a:solidFill>
                </a:ln>
                <a:solidFill>
                  <a:schemeClr val="tx1"/>
                </a:solidFill>
                <a:latin typeface="Arial"/>
                <a:cs typeface="Arial"/>
              </a:rPr>
              <a:t>D</a:t>
            </a:r>
            <a:endParaRPr lang="en-US" sz="1000" baseline="-25000" dirty="0">
              <a:ln>
                <a:solidFill>
                  <a:schemeClr val="tx1"/>
                </a:solidFill>
              </a:ln>
              <a:solidFill>
                <a:schemeClr val="tx1"/>
              </a:solidFill>
              <a:latin typeface="Arial"/>
              <a:cs typeface="Arial"/>
            </a:endParaRPr>
          </a:p>
        </p:txBody>
      </p:sp>
      <p:sp>
        <p:nvSpPr>
          <p:cNvPr id="25" name="TextBox 24"/>
          <p:cNvSpPr txBox="1">
            <a:spLocks noChangeArrowheads="1"/>
          </p:cNvSpPr>
          <p:nvPr/>
        </p:nvSpPr>
        <p:spPr bwMode="auto">
          <a:xfrm>
            <a:off x="6549621" y="4810271"/>
            <a:ext cx="291764" cy="246221"/>
          </a:xfrm>
          <a:prstGeom prst="rect">
            <a:avLst/>
          </a:prstGeom>
          <a:noFill/>
          <a:ln w="9525">
            <a:noFill/>
            <a:miter lim="800000"/>
            <a:headEnd/>
            <a:tailEnd/>
          </a:ln>
        </p:spPr>
        <p:txBody>
          <a:bodyPr anchor="ctr">
            <a:prstTxWarp prst="textNoShape">
              <a:avLst/>
            </a:prstTxWarp>
            <a:spAutoFit/>
          </a:bodyPr>
          <a:lstStyle/>
          <a:p>
            <a:pPr algn="ctr"/>
            <a:r>
              <a:rPr lang="en-US" sz="1000" b="1" dirty="0"/>
              <a:t>…</a:t>
            </a:r>
          </a:p>
        </p:txBody>
      </p:sp>
      <p:sp>
        <p:nvSpPr>
          <p:cNvPr id="26" name="TextBox 25"/>
          <p:cNvSpPr txBox="1">
            <a:spLocks noChangeArrowheads="1"/>
          </p:cNvSpPr>
          <p:nvPr/>
        </p:nvSpPr>
        <p:spPr bwMode="auto">
          <a:xfrm>
            <a:off x="7099805" y="5878682"/>
            <a:ext cx="291764" cy="246221"/>
          </a:xfrm>
          <a:prstGeom prst="rect">
            <a:avLst/>
          </a:prstGeom>
          <a:noFill/>
          <a:ln w="9525">
            <a:noFill/>
            <a:miter lim="800000"/>
            <a:headEnd/>
            <a:tailEnd/>
          </a:ln>
        </p:spPr>
        <p:txBody>
          <a:bodyPr anchor="ctr">
            <a:prstTxWarp prst="textNoShape">
              <a:avLst/>
            </a:prstTxWarp>
            <a:spAutoFit/>
          </a:bodyPr>
          <a:lstStyle/>
          <a:p>
            <a:pPr algn="ctr"/>
            <a:r>
              <a:rPr lang="en-US" sz="1000" b="1"/>
              <a:t>…</a:t>
            </a:r>
          </a:p>
        </p:txBody>
      </p:sp>
      <p:cxnSp>
        <p:nvCxnSpPr>
          <p:cNvPr id="27" name="Straight Connector 26"/>
          <p:cNvCxnSpPr>
            <a:stCxn id="18" idx="4"/>
            <a:endCxn id="17" idx="0"/>
          </p:cNvCxnSpPr>
          <p:nvPr/>
        </p:nvCxnSpPr>
        <p:spPr>
          <a:xfrm rot="5400000">
            <a:off x="4719152" y="5270473"/>
            <a:ext cx="618261" cy="491831"/>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8" name="Straight Connector 27"/>
          <p:cNvCxnSpPr>
            <a:stCxn id="18" idx="4"/>
            <a:endCxn id="19" idx="0"/>
          </p:cNvCxnSpPr>
          <p:nvPr/>
        </p:nvCxnSpPr>
        <p:spPr>
          <a:xfrm rot="16200000" flipH="1">
            <a:off x="5135957" y="5345498"/>
            <a:ext cx="618261" cy="341781"/>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a:stCxn id="18" idx="4"/>
            <a:endCxn id="20" idx="0"/>
          </p:cNvCxnSpPr>
          <p:nvPr/>
        </p:nvCxnSpPr>
        <p:spPr>
          <a:xfrm rot="16200000" flipH="1">
            <a:off x="5594443" y="4887012"/>
            <a:ext cx="618261" cy="125875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0" name="Straight Connector 29"/>
          <p:cNvCxnSpPr>
            <a:stCxn id="18" idx="4"/>
            <a:endCxn id="21" idx="0"/>
          </p:cNvCxnSpPr>
          <p:nvPr/>
        </p:nvCxnSpPr>
        <p:spPr>
          <a:xfrm rot="16200000" flipH="1">
            <a:off x="6282173" y="4199283"/>
            <a:ext cx="618261" cy="2634211"/>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1" name="Straight Connector 30"/>
          <p:cNvCxnSpPr>
            <a:stCxn id="23" idx="4"/>
            <a:endCxn id="19" idx="0"/>
          </p:cNvCxnSpPr>
          <p:nvPr/>
        </p:nvCxnSpPr>
        <p:spPr>
          <a:xfrm rot="5400000">
            <a:off x="5511082" y="5312154"/>
            <a:ext cx="618261" cy="408469"/>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2" name="Straight Connector 31"/>
          <p:cNvCxnSpPr>
            <a:stCxn id="23" idx="4"/>
            <a:endCxn id="20" idx="0"/>
          </p:cNvCxnSpPr>
          <p:nvPr/>
        </p:nvCxnSpPr>
        <p:spPr>
          <a:xfrm rot="16200000" flipH="1">
            <a:off x="5969568" y="5262137"/>
            <a:ext cx="618261" cy="50850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3" name="Straight Connector 32"/>
          <p:cNvCxnSpPr>
            <a:stCxn id="23" idx="4"/>
            <a:endCxn id="21" idx="0"/>
          </p:cNvCxnSpPr>
          <p:nvPr/>
        </p:nvCxnSpPr>
        <p:spPr>
          <a:xfrm rot="16200000" flipH="1">
            <a:off x="6657298" y="4574408"/>
            <a:ext cx="618261" cy="1883961"/>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4" name="Straight Connector 33"/>
          <p:cNvCxnSpPr>
            <a:stCxn id="24" idx="4"/>
            <a:endCxn id="17" idx="0"/>
          </p:cNvCxnSpPr>
          <p:nvPr/>
        </p:nvCxnSpPr>
        <p:spPr>
          <a:xfrm rot="5400000">
            <a:off x="5744493" y="4245130"/>
            <a:ext cx="618261" cy="2542514"/>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5" name="Straight Connector 34"/>
          <p:cNvCxnSpPr>
            <a:stCxn id="23" idx="4"/>
            <a:endCxn id="17" idx="0"/>
          </p:cNvCxnSpPr>
          <p:nvPr/>
        </p:nvCxnSpPr>
        <p:spPr>
          <a:xfrm rot="5400000">
            <a:off x="5094277" y="4895348"/>
            <a:ext cx="618261" cy="1242081"/>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6" name="Straight Connector 35"/>
          <p:cNvCxnSpPr>
            <a:stCxn id="24" idx="4"/>
            <a:endCxn id="19" idx="0"/>
          </p:cNvCxnSpPr>
          <p:nvPr/>
        </p:nvCxnSpPr>
        <p:spPr>
          <a:xfrm rot="5400000">
            <a:off x="6161299" y="4661937"/>
            <a:ext cx="618261" cy="170890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7" name="Straight Connector 36"/>
          <p:cNvCxnSpPr>
            <a:stCxn id="24" idx="4"/>
            <a:endCxn id="20" idx="0"/>
          </p:cNvCxnSpPr>
          <p:nvPr/>
        </p:nvCxnSpPr>
        <p:spPr>
          <a:xfrm rot="5400000">
            <a:off x="6619785" y="5120423"/>
            <a:ext cx="618261" cy="791931"/>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8" name="Straight Connector 37"/>
          <p:cNvCxnSpPr>
            <a:stCxn id="24" idx="4"/>
            <a:endCxn id="21" idx="0"/>
          </p:cNvCxnSpPr>
          <p:nvPr/>
        </p:nvCxnSpPr>
        <p:spPr>
          <a:xfrm rot="16200000" flipH="1">
            <a:off x="7307514" y="5224623"/>
            <a:ext cx="618261" cy="583528"/>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sp>
        <p:nvSpPr>
          <p:cNvPr id="43" name="TextBox 75"/>
          <p:cNvSpPr txBox="1">
            <a:spLocks noChangeArrowheads="1"/>
          </p:cNvSpPr>
          <p:nvPr/>
        </p:nvSpPr>
        <p:spPr bwMode="auto">
          <a:xfrm>
            <a:off x="3807042" y="5950561"/>
            <a:ext cx="708569" cy="246221"/>
          </a:xfrm>
          <a:prstGeom prst="rect">
            <a:avLst/>
          </a:prstGeom>
          <a:noFill/>
          <a:ln w="9525">
            <a:noFill/>
            <a:miter lim="800000"/>
            <a:headEnd/>
            <a:tailEnd/>
          </a:ln>
        </p:spPr>
        <p:txBody>
          <a:bodyPr>
            <a:prstTxWarp prst="textNoShape">
              <a:avLst/>
            </a:prstTxWarp>
            <a:spAutoFit/>
          </a:bodyPr>
          <a:lstStyle/>
          <a:p>
            <a:pPr algn="ctr"/>
            <a:r>
              <a:rPr lang="en-US" sz="1000"/>
              <a:t>Input</a:t>
            </a:r>
          </a:p>
        </p:txBody>
      </p:sp>
      <p:sp>
        <p:nvSpPr>
          <p:cNvPr id="44" name="TextBox 76"/>
          <p:cNvSpPr txBox="1">
            <a:spLocks noChangeArrowheads="1"/>
          </p:cNvSpPr>
          <p:nvPr/>
        </p:nvSpPr>
        <p:spPr bwMode="auto">
          <a:xfrm>
            <a:off x="3798706" y="4882149"/>
            <a:ext cx="1125375" cy="246221"/>
          </a:xfrm>
          <a:prstGeom prst="rect">
            <a:avLst/>
          </a:prstGeom>
          <a:noFill/>
          <a:ln w="9525">
            <a:noFill/>
            <a:miter lim="800000"/>
            <a:headEnd/>
            <a:tailEnd/>
          </a:ln>
        </p:spPr>
        <p:txBody>
          <a:bodyPr>
            <a:prstTxWarp prst="textNoShape">
              <a:avLst/>
            </a:prstTxWarp>
            <a:spAutoFit/>
          </a:bodyPr>
          <a:lstStyle/>
          <a:p>
            <a:pPr algn="ctr"/>
            <a:r>
              <a:rPr lang="en-US" sz="1000" dirty="0"/>
              <a:t>Hidden Layer 1</a:t>
            </a:r>
          </a:p>
        </p:txBody>
      </p:sp>
      <p:sp>
        <p:nvSpPr>
          <p:cNvPr id="45" name="Connector 44"/>
          <p:cNvSpPr/>
          <p:nvPr/>
        </p:nvSpPr>
        <p:spPr>
          <a:xfrm>
            <a:off x="5057458" y="3700384"/>
            <a:ext cx="450150" cy="45015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b</a:t>
            </a:r>
            <a:r>
              <a:rPr lang="en-US" sz="1000" baseline="-25000" dirty="0">
                <a:ln>
                  <a:solidFill>
                    <a:schemeClr val="tx1"/>
                  </a:solidFill>
                </a:ln>
                <a:solidFill>
                  <a:schemeClr val="tx1"/>
                </a:solidFill>
                <a:latin typeface="Arial"/>
                <a:cs typeface="Arial"/>
              </a:rPr>
              <a:t>1</a:t>
            </a:r>
          </a:p>
        </p:txBody>
      </p:sp>
      <p:sp>
        <p:nvSpPr>
          <p:cNvPr id="46" name="Connector 45"/>
          <p:cNvSpPr/>
          <p:nvPr/>
        </p:nvSpPr>
        <p:spPr>
          <a:xfrm>
            <a:off x="6149488" y="2832039"/>
            <a:ext cx="450150" cy="450150"/>
          </a:xfrm>
          <a:prstGeom prst="flowChartConnector">
            <a:avLst/>
          </a:prstGeom>
          <a:solidFill>
            <a:srgbClr val="E0D925"/>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y</a:t>
            </a:r>
            <a:endParaRPr lang="en-US" sz="1000" baseline="-25000" dirty="0">
              <a:ln>
                <a:solidFill>
                  <a:schemeClr val="tx1"/>
                </a:solidFill>
              </a:ln>
              <a:solidFill>
                <a:schemeClr val="tx1"/>
              </a:solidFill>
              <a:latin typeface="Arial"/>
              <a:cs typeface="Arial"/>
            </a:endParaRPr>
          </a:p>
        </p:txBody>
      </p:sp>
      <p:sp>
        <p:nvSpPr>
          <p:cNvPr id="47" name="Connector 46"/>
          <p:cNvSpPr/>
          <p:nvPr/>
        </p:nvSpPr>
        <p:spPr>
          <a:xfrm>
            <a:off x="5807708" y="3700384"/>
            <a:ext cx="450150" cy="45015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b</a:t>
            </a:r>
            <a:r>
              <a:rPr lang="en-US" sz="1000" baseline="-25000" dirty="0">
                <a:ln>
                  <a:solidFill>
                    <a:schemeClr val="tx1"/>
                  </a:solidFill>
                </a:ln>
                <a:solidFill>
                  <a:schemeClr val="tx1"/>
                </a:solidFill>
                <a:latin typeface="Arial"/>
                <a:cs typeface="Arial"/>
              </a:rPr>
              <a:t>2</a:t>
            </a:r>
          </a:p>
        </p:txBody>
      </p:sp>
      <p:sp>
        <p:nvSpPr>
          <p:cNvPr id="48" name="Connector 47"/>
          <p:cNvSpPr/>
          <p:nvPr/>
        </p:nvSpPr>
        <p:spPr>
          <a:xfrm>
            <a:off x="7089185" y="3700384"/>
            <a:ext cx="450150" cy="45015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err="1">
                <a:ln>
                  <a:solidFill>
                    <a:schemeClr val="tx1"/>
                  </a:solidFill>
                </a:ln>
                <a:solidFill>
                  <a:schemeClr val="tx1"/>
                </a:solidFill>
                <a:latin typeface="Arial"/>
                <a:cs typeface="Arial"/>
              </a:rPr>
              <a:t>b</a:t>
            </a:r>
            <a:r>
              <a:rPr lang="en-US" sz="1000" baseline="-25000" dirty="0" err="1">
                <a:ln>
                  <a:solidFill>
                    <a:schemeClr val="tx1"/>
                  </a:solidFill>
                </a:ln>
                <a:solidFill>
                  <a:schemeClr val="tx1"/>
                </a:solidFill>
                <a:latin typeface="Arial"/>
                <a:cs typeface="Arial"/>
              </a:rPr>
              <a:t>E</a:t>
            </a:r>
            <a:endParaRPr lang="en-US" sz="1000" baseline="-25000" dirty="0">
              <a:ln>
                <a:solidFill>
                  <a:schemeClr val="tx1"/>
                </a:solidFill>
              </a:ln>
              <a:solidFill>
                <a:schemeClr val="tx1"/>
              </a:solidFill>
              <a:latin typeface="Arial"/>
              <a:cs typeface="Arial"/>
            </a:endParaRPr>
          </a:p>
        </p:txBody>
      </p:sp>
      <p:sp>
        <p:nvSpPr>
          <p:cNvPr id="49" name="TextBox 48"/>
          <p:cNvSpPr txBox="1">
            <a:spLocks noChangeArrowheads="1"/>
          </p:cNvSpPr>
          <p:nvPr/>
        </p:nvSpPr>
        <p:spPr bwMode="auto">
          <a:xfrm>
            <a:off x="6557957" y="3753548"/>
            <a:ext cx="291764" cy="246221"/>
          </a:xfrm>
          <a:prstGeom prst="rect">
            <a:avLst/>
          </a:prstGeom>
          <a:noFill/>
          <a:ln w="9525">
            <a:noFill/>
            <a:miter lim="800000"/>
            <a:headEnd/>
            <a:tailEnd/>
          </a:ln>
        </p:spPr>
        <p:txBody>
          <a:bodyPr anchor="ctr">
            <a:prstTxWarp prst="textNoShape">
              <a:avLst/>
            </a:prstTxWarp>
            <a:spAutoFit/>
          </a:bodyPr>
          <a:lstStyle/>
          <a:p>
            <a:pPr algn="ctr"/>
            <a:r>
              <a:rPr lang="en-US" sz="1000" b="1" dirty="0"/>
              <a:t>…</a:t>
            </a:r>
          </a:p>
        </p:txBody>
      </p:sp>
      <p:cxnSp>
        <p:nvCxnSpPr>
          <p:cNvPr id="50" name="Straight Connector 49"/>
          <p:cNvCxnSpPr>
            <a:stCxn id="45" idx="4"/>
            <a:endCxn id="18" idx="0"/>
          </p:cNvCxnSpPr>
          <p:nvPr/>
        </p:nvCxnSpPr>
        <p:spPr>
          <a:xfrm flipH="1">
            <a:off x="5274197" y="4150535"/>
            <a:ext cx="8336"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51" name="Straight Connector 50"/>
          <p:cNvCxnSpPr>
            <a:stCxn id="45" idx="4"/>
            <a:endCxn id="23" idx="0"/>
          </p:cNvCxnSpPr>
          <p:nvPr/>
        </p:nvCxnSpPr>
        <p:spPr>
          <a:xfrm>
            <a:off x="5282533" y="4150535"/>
            <a:ext cx="741914"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52" name="Straight Connector 51"/>
          <p:cNvCxnSpPr>
            <a:stCxn id="45" idx="4"/>
            <a:endCxn id="24" idx="0"/>
          </p:cNvCxnSpPr>
          <p:nvPr/>
        </p:nvCxnSpPr>
        <p:spPr>
          <a:xfrm>
            <a:off x="5282534" y="4150535"/>
            <a:ext cx="2042347"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54" name="Straight Connector 53"/>
          <p:cNvCxnSpPr>
            <a:stCxn id="47" idx="4"/>
            <a:endCxn id="23" idx="0"/>
          </p:cNvCxnSpPr>
          <p:nvPr/>
        </p:nvCxnSpPr>
        <p:spPr>
          <a:xfrm flipH="1">
            <a:off x="6024447" y="4150535"/>
            <a:ext cx="8336"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55" name="Straight Connector 54"/>
          <p:cNvCxnSpPr>
            <a:stCxn id="47" idx="4"/>
            <a:endCxn id="24" idx="0"/>
          </p:cNvCxnSpPr>
          <p:nvPr/>
        </p:nvCxnSpPr>
        <p:spPr>
          <a:xfrm>
            <a:off x="6032784" y="4150535"/>
            <a:ext cx="1292097"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57" name="Straight Connector 56"/>
          <p:cNvCxnSpPr>
            <a:stCxn id="48" idx="4"/>
            <a:endCxn id="18" idx="0"/>
          </p:cNvCxnSpPr>
          <p:nvPr/>
        </p:nvCxnSpPr>
        <p:spPr>
          <a:xfrm flipH="1">
            <a:off x="5274198" y="4150535"/>
            <a:ext cx="2040063"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58" name="Straight Connector 57"/>
          <p:cNvCxnSpPr>
            <a:stCxn id="47" idx="4"/>
            <a:endCxn id="18" idx="0"/>
          </p:cNvCxnSpPr>
          <p:nvPr/>
        </p:nvCxnSpPr>
        <p:spPr>
          <a:xfrm flipH="1">
            <a:off x="5274197" y="4150535"/>
            <a:ext cx="758586"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59" name="Straight Connector 58"/>
          <p:cNvCxnSpPr>
            <a:stCxn id="48" idx="4"/>
            <a:endCxn id="23" idx="0"/>
          </p:cNvCxnSpPr>
          <p:nvPr/>
        </p:nvCxnSpPr>
        <p:spPr>
          <a:xfrm flipH="1">
            <a:off x="6024448" y="4150535"/>
            <a:ext cx="1289813"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60" name="Straight Connector 59"/>
          <p:cNvCxnSpPr>
            <a:stCxn id="48" idx="4"/>
            <a:endCxn id="24" idx="0"/>
          </p:cNvCxnSpPr>
          <p:nvPr/>
        </p:nvCxnSpPr>
        <p:spPr>
          <a:xfrm>
            <a:off x="7314260" y="4150535"/>
            <a:ext cx="10620"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62" name="Straight Connector 61"/>
          <p:cNvCxnSpPr>
            <a:stCxn id="46" idx="4"/>
          </p:cNvCxnSpPr>
          <p:nvPr/>
        </p:nvCxnSpPr>
        <p:spPr>
          <a:xfrm rot="5400000">
            <a:off x="5619452" y="2945272"/>
            <a:ext cx="418195" cy="1092031"/>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63" name="Straight Connector 62"/>
          <p:cNvCxnSpPr>
            <a:stCxn id="46" idx="4"/>
          </p:cNvCxnSpPr>
          <p:nvPr/>
        </p:nvCxnSpPr>
        <p:spPr>
          <a:xfrm rot="5400000">
            <a:off x="5994577" y="3320397"/>
            <a:ext cx="418195" cy="341781"/>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64" name="Straight Connector 63"/>
          <p:cNvCxnSpPr>
            <a:stCxn id="46" idx="4"/>
          </p:cNvCxnSpPr>
          <p:nvPr/>
        </p:nvCxnSpPr>
        <p:spPr>
          <a:xfrm rot="16200000" flipH="1">
            <a:off x="6644793" y="3011961"/>
            <a:ext cx="418195" cy="95865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sp>
        <p:nvSpPr>
          <p:cNvPr id="65" name="TextBox 74"/>
          <p:cNvSpPr txBox="1">
            <a:spLocks noChangeArrowheads="1"/>
          </p:cNvSpPr>
          <p:nvPr/>
        </p:nvSpPr>
        <p:spPr bwMode="auto">
          <a:xfrm>
            <a:off x="4047399" y="2934851"/>
            <a:ext cx="708569" cy="246221"/>
          </a:xfrm>
          <a:prstGeom prst="rect">
            <a:avLst/>
          </a:prstGeom>
          <a:noFill/>
          <a:ln w="9525">
            <a:noFill/>
            <a:miter lim="800000"/>
            <a:headEnd/>
            <a:tailEnd/>
          </a:ln>
        </p:spPr>
        <p:txBody>
          <a:bodyPr>
            <a:prstTxWarp prst="textNoShape">
              <a:avLst/>
            </a:prstTxWarp>
            <a:spAutoFit/>
          </a:bodyPr>
          <a:lstStyle/>
          <a:p>
            <a:r>
              <a:rPr lang="en-US" sz="1000" dirty="0"/>
              <a:t>Output</a:t>
            </a:r>
          </a:p>
        </p:txBody>
      </p:sp>
      <p:sp>
        <p:nvSpPr>
          <p:cNvPr id="66" name="TextBox 76"/>
          <p:cNvSpPr txBox="1">
            <a:spLocks noChangeArrowheads="1"/>
          </p:cNvSpPr>
          <p:nvPr/>
        </p:nvSpPr>
        <p:spPr bwMode="auto">
          <a:xfrm>
            <a:off x="3807042" y="3825426"/>
            <a:ext cx="1125375" cy="246221"/>
          </a:xfrm>
          <a:prstGeom prst="rect">
            <a:avLst/>
          </a:prstGeom>
          <a:noFill/>
          <a:ln w="9525">
            <a:noFill/>
            <a:miter lim="800000"/>
            <a:headEnd/>
            <a:tailEnd/>
          </a:ln>
        </p:spPr>
        <p:txBody>
          <a:bodyPr>
            <a:prstTxWarp prst="textNoShape">
              <a:avLst/>
            </a:prstTxWarp>
            <a:spAutoFit/>
          </a:bodyPr>
          <a:lstStyle/>
          <a:p>
            <a:pPr algn="ctr"/>
            <a:r>
              <a:rPr lang="en-US" sz="1000" dirty="0"/>
              <a:t>Hidden Layer 2</a:t>
            </a:r>
          </a:p>
        </p:txBody>
      </p:sp>
    </p:spTree>
    <p:extLst>
      <p:ext uri="{BB962C8B-B14F-4D97-AF65-F5344CB8AC3E}">
        <p14:creationId xmlns:p14="http://schemas.microsoft.com/office/powerpoint/2010/main" val="26278737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noProof="0" dirty="0"/>
              <a:t>Deep Neural Networks</a:t>
            </a:r>
          </a:p>
        </p:txBody>
      </p:sp>
      <p:sp>
        <p:nvSpPr>
          <p:cNvPr id="17" name="Connector 16"/>
          <p:cNvSpPr/>
          <p:nvPr/>
        </p:nvSpPr>
        <p:spPr>
          <a:xfrm>
            <a:off x="4557291" y="5825518"/>
            <a:ext cx="450150" cy="45015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x</a:t>
            </a:r>
            <a:r>
              <a:rPr lang="en-US" sz="1000" baseline="-25000" dirty="0">
                <a:ln>
                  <a:solidFill>
                    <a:schemeClr val="tx1"/>
                  </a:solidFill>
                </a:ln>
                <a:solidFill>
                  <a:schemeClr val="tx1"/>
                </a:solidFill>
                <a:latin typeface="Arial"/>
                <a:cs typeface="Arial"/>
              </a:rPr>
              <a:t>1</a:t>
            </a:r>
          </a:p>
        </p:txBody>
      </p:sp>
      <p:sp>
        <p:nvSpPr>
          <p:cNvPr id="18" name="Connector 17"/>
          <p:cNvSpPr/>
          <p:nvPr/>
        </p:nvSpPr>
        <p:spPr>
          <a:xfrm>
            <a:off x="5049122" y="4757107"/>
            <a:ext cx="450150" cy="45015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a</a:t>
            </a:r>
            <a:r>
              <a:rPr lang="en-US" sz="1000" baseline="-25000" dirty="0">
                <a:ln>
                  <a:solidFill>
                    <a:schemeClr val="tx1"/>
                  </a:solidFill>
                </a:ln>
                <a:solidFill>
                  <a:schemeClr val="tx1"/>
                </a:solidFill>
                <a:latin typeface="Arial"/>
                <a:cs typeface="Arial"/>
              </a:rPr>
              <a:t>1</a:t>
            </a:r>
          </a:p>
        </p:txBody>
      </p:sp>
      <p:sp>
        <p:nvSpPr>
          <p:cNvPr id="19" name="Connector 18"/>
          <p:cNvSpPr/>
          <p:nvPr/>
        </p:nvSpPr>
        <p:spPr>
          <a:xfrm>
            <a:off x="5390902" y="5825518"/>
            <a:ext cx="450150" cy="45015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x</a:t>
            </a:r>
            <a:r>
              <a:rPr lang="en-US" sz="1000" baseline="-25000" dirty="0">
                <a:ln>
                  <a:solidFill>
                    <a:schemeClr val="tx1"/>
                  </a:solidFill>
                </a:ln>
                <a:solidFill>
                  <a:schemeClr val="tx1"/>
                </a:solidFill>
                <a:latin typeface="Arial"/>
                <a:cs typeface="Arial"/>
              </a:rPr>
              <a:t>2</a:t>
            </a:r>
          </a:p>
        </p:txBody>
      </p:sp>
      <p:sp>
        <p:nvSpPr>
          <p:cNvPr id="20" name="Connector 19"/>
          <p:cNvSpPr/>
          <p:nvPr/>
        </p:nvSpPr>
        <p:spPr>
          <a:xfrm>
            <a:off x="6307875" y="5825518"/>
            <a:ext cx="450150" cy="45015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x</a:t>
            </a:r>
            <a:r>
              <a:rPr lang="en-US" sz="1000" baseline="-25000" dirty="0">
                <a:ln>
                  <a:solidFill>
                    <a:schemeClr val="tx1"/>
                  </a:solidFill>
                </a:ln>
                <a:solidFill>
                  <a:schemeClr val="tx1"/>
                </a:solidFill>
                <a:latin typeface="Arial"/>
                <a:cs typeface="Arial"/>
              </a:rPr>
              <a:t>3</a:t>
            </a:r>
          </a:p>
        </p:txBody>
      </p:sp>
      <p:sp>
        <p:nvSpPr>
          <p:cNvPr id="21" name="Connector 20"/>
          <p:cNvSpPr/>
          <p:nvPr/>
        </p:nvSpPr>
        <p:spPr>
          <a:xfrm>
            <a:off x="7683333" y="5825518"/>
            <a:ext cx="450150" cy="45015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err="1">
                <a:ln>
                  <a:solidFill>
                    <a:schemeClr val="tx1"/>
                  </a:solidFill>
                </a:ln>
                <a:solidFill>
                  <a:schemeClr val="tx1"/>
                </a:solidFill>
                <a:latin typeface="Arial"/>
                <a:cs typeface="Arial"/>
              </a:rPr>
              <a:t>x</a:t>
            </a:r>
            <a:r>
              <a:rPr lang="en-US" sz="1000" baseline="-25000" dirty="0" err="1">
                <a:ln>
                  <a:solidFill>
                    <a:schemeClr val="tx1"/>
                  </a:solidFill>
                </a:ln>
                <a:solidFill>
                  <a:schemeClr val="tx1"/>
                </a:solidFill>
                <a:latin typeface="Arial"/>
                <a:cs typeface="Arial"/>
              </a:rPr>
              <a:t>M</a:t>
            </a:r>
            <a:endParaRPr lang="en-US" sz="1000" baseline="-25000" dirty="0">
              <a:ln>
                <a:solidFill>
                  <a:schemeClr val="tx1"/>
                </a:solidFill>
              </a:ln>
              <a:solidFill>
                <a:schemeClr val="tx1"/>
              </a:solidFill>
              <a:latin typeface="Arial"/>
              <a:cs typeface="Arial"/>
            </a:endParaRPr>
          </a:p>
        </p:txBody>
      </p:sp>
      <p:sp>
        <p:nvSpPr>
          <p:cNvPr id="23" name="Connector 22"/>
          <p:cNvSpPr/>
          <p:nvPr/>
        </p:nvSpPr>
        <p:spPr>
          <a:xfrm>
            <a:off x="5799372" y="4757107"/>
            <a:ext cx="450150" cy="45015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a</a:t>
            </a:r>
            <a:r>
              <a:rPr lang="en-US" sz="1000" baseline="-25000" dirty="0">
                <a:ln>
                  <a:solidFill>
                    <a:schemeClr val="tx1"/>
                  </a:solidFill>
                </a:ln>
                <a:solidFill>
                  <a:schemeClr val="tx1"/>
                </a:solidFill>
                <a:latin typeface="Arial"/>
                <a:cs typeface="Arial"/>
              </a:rPr>
              <a:t>2</a:t>
            </a:r>
          </a:p>
        </p:txBody>
      </p:sp>
      <p:sp>
        <p:nvSpPr>
          <p:cNvPr id="24" name="Connector 23"/>
          <p:cNvSpPr/>
          <p:nvPr/>
        </p:nvSpPr>
        <p:spPr>
          <a:xfrm>
            <a:off x="7099805" y="4757107"/>
            <a:ext cx="450150" cy="45015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err="1">
                <a:ln>
                  <a:solidFill>
                    <a:schemeClr val="tx1"/>
                  </a:solidFill>
                </a:ln>
                <a:solidFill>
                  <a:schemeClr val="tx1"/>
                </a:solidFill>
                <a:latin typeface="Arial"/>
                <a:cs typeface="Arial"/>
              </a:rPr>
              <a:t>a</a:t>
            </a:r>
            <a:r>
              <a:rPr lang="en-US" sz="1000" baseline="-25000" dirty="0" err="1">
                <a:ln>
                  <a:solidFill>
                    <a:schemeClr val="tx1"/>
                  </a:solidFill>
                </a:ln>
                <a:solidFill>
                  <a:schemeClr val="tx1"/>
                </a:solidFill>
                <a:latin typeface="Arial"/>
                <a:cs typeface="Arial"/>
              </a:rPr>
              <a:t>D</a:t>
            </a:r>
            <a:endParaRPr lang="en-US" sz="1000" baseline="-25000" dirty="0">
              <a:ln>
                <a:solidFill>
                  <a:schemeClr val="tx1"/>
                </a:solidFill>
              </a:ln>
              <a:solidFill>
                <a:schemeClr val="tx1"/>
              </a:solidFill>
              <a:latin typeface="Arial"/>
              <a:cs typeface="Arial"/>
            </a:endParaRPr>
          </a:p>
        </p:txBody>
      </p:sp>
      <p:sp>
        <p:nvSpPr>
          <p:cNvPr id="25" name="TextBox 24"/>
          <p:cNvSpPr txBox="1">
            <a:spLocks noChangeArrowheads="1"/>
          </p:cNvSpPr>
          <p:nvPr/>
        </p:nvSpPr>
        <p:spPr bwMode="auto">
          <a:xfrm>
            <a:off x="6549621" y="4810271"/>
            <a:ext cx="291764" cy="246221"/>
          </a:xfrm>
          <a:prstGeom prst="rect">
            <a:avLst/>
          </a:prstGeom>
          <a:noFill/>
          <a:ln w="9525">
            <a:noFill/>
            <a:miter lim="800000"/>
            <a:headEnd/>
            <a:tailEnd/>
          </a:ln>
        </p:spPr>
        <p:txBody>
          <a:bodyPr anchor="ctr">
            <a:prstTxWarp prst="textNoShape">
              <a:avLst/>
            </a:prstTxWarp>
            <a:spAutoFit/>
          </a:bodyPr>
          <a:lstStyle/>
          <a:p>
            <a:pPr algn="ctr"/>
            <a:r>
              <a:rPr lang="en-US" sz="1000" b="1" dirty="0"/>
              <a:t>…</a:t>
            </a:r>
          </a:p>
        </p:txBody>
      </p:sp>
      <p:sp>
        <p:nvSpPr>
          <p:cNvPr id="26" name="TextBox 25"/>
          <p:cNvSpPr txBox="1">
            <a:spLocks noChangeArrowheads="1"/>
          </p:cNvSpPr>
          <p:nvPr/>
        </p:nvSpPr>
        <p:spPr bwMode="auto">
          <a:xfrm>
            <a:off x="7099805" y="5878682"/>
            <a:ext cx="291764" cy="246221"/>
          </a:xfrm>
          <a:prstGeom prst="rect">
            <a:avLst/>
          </a:prstGeom>
          <a:noFill/>
          <a:ln w="9525">
            <a:noFill/>
            <a:miter lim="800000"/>
            <a:headEnd/>
            <a:tailEnd/>
          </a:ln>
        </p:spPr>
        <p:txBody>
          <a:bodyPr anchor="ctr">
            <a:prstTxWarp prst="textNoShape">
              <a:avLst/>
            </a:prstTxWarp>
            <a:spAutoFit/>
          </a:bodyPr>
          <a:lstStyle/>
          <a:p>
            <a:pPr algn="ctr"/>
            <a:r>
              <a:rPr lang="en-US" sz="1000" b="1"/>
              <a:t>…</a:t>
            </a:r>
          </a:p>
        </p:txBody>
      </p:sp>
      <p:cxnSp>
        <p:nvCxnSpPr>
          <p:cNvPr id="27" name="Straight Connector 26"/>
          <p:cNvCxnSpPr>
            <a:stCxn id="18" idx="4"/>
            <a:endCxn id="17" idx="0"/>
          </p:cNvCxnSpPr>
          <p:nvPr/>
        </p:nvCxnSpPr>
        <p:spPr>
          <a:xfrm rot="5400000">
            <a:off x="4719152" y="5270473"/>
            <a:ext cx="618261" cy="491831"/>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8" name="Straight Connector 27"/>
          <p:cNvCxnSpPr>
            <a:stCxn id="18" idx="4"/>
            <a:endCxn id="19" idx="0"/>
          </p:cNvCxnSpPr>
          <p:nvPr/>
        </p:nvCxnSpPr>
        <p:spPr>
          <a:xfrm rot="16200000" flipH="1">
            <a:off x="5135957" y="5345498"/>
            <a:ext cx="618261" cy="341781"/>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a:stCxn id="18" idx="4"/>
            <a:endCxn id="20" idx="0"/>
          </p:cNvCxnSpPr>
          <p:nvPr/>
        </p:nvCxnSpPr>
        <p:spPr>
          <a:xfrm rot="16200000" flipH="1">
            <a:off x="5594443" y="4887012"/>
            <a:ext cx="618261" cy="125875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0" name="Straight Connector 29"/>
          <p:cNvCxnSpPr>
            <a:stCxn id="18" idx="4"/>
            <a:endCxn id="21" idx="0"/>
          </p:cNvCxnSpPr>
          <p:nvPr/>
        </p:nvCxnSpPr>
        <p:spPr>
          <a:xfrm rot="16200000" flipH="1">
            <a:off x="6282173" y="4199283"/>
            <a:ext cx="618261" cy="2634211"/>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1" name="Straight Connector 30"/>
          <p:cNvCxnSpPr>
            <a:stCxn id="23" idx="4"/>
            <a:endCxn id="19" idx="0"/>
          </p:cNvCxnSpPr>
          <p:nvPr/>
        </p:nvCxnSpPr>
        <p:spPr>
          <a:xfrm rot="5400000">
            <a:off x="5511082" y="5312154"/>
            <a:ext cx="618261" cy="408469"/>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2" name="Straight Connector 31"/>
          <p:cNvCxnSpPr>
            <a:stCxn id="23" idx="4"/>
            <a:endCxn id="20" idx="0"/>
          </p:cNvCxnSpPr>
          <p:nvPr/>
        </p:nvCxnSpPr>
        <p:spPr>
          <a:xfrm rot="16200000" flipH="1">
            <a:off x="5969568" y="5262137"/>
            <a:ext cx="618261" cy="50850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3" name="Straight Connector 32"/>
          <p:cNvCxnSpPr>
            <a:stCxn id="23" idx="4"/>
            <a:endCxn id="21" idx="0"/>
          </p:cNvCxnSpPr>
          <p:nvPr/>
        </p:nvCxnSpPr>
        <p:spPr>
          <a:xfrm rot="16200000" flipH="1">
            <a:off x="6657298" y="4574408"/>
            <a:ext cx="618261" cy="1883961"/>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4" name="Straight Connector 33"/>
          <p:cNvCxnSpPr>
            <a:stCxn id="24" idx="4"/>
            <a:endCxn id="17" idx="0"/>
          </p:cNvCxnSpPr>
          <p:nvPr/>
        </p:nvCxnSpPr>
        <p:spPr>
          <a:xfrm rot="5400000">
            <a:off x="5744493" y="4245130"/>
            <a:ext cx="618261" cy="2542514"/>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5" name="Straight Connector 34"/>
          <p:cNvCxnSpPr>
            <a:stCxn id="23" idx="4"/>
            <a:endCxn id="17" idx="0"/>
          </p:cNvCxnSpPr>
          <p:nvPr/>
        </p:nvCxnSpPr>
        <p:spPr>
          <a:xfrm rot="5400000">
            <a:off x="5094277" y="4895348"/>
            <a:ext cx="618261" cy="1242081"/>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6" name="Straight Connector 35"/>
          <p:cNvCxnSpPr>
            <a:stCxn id="24" idx="4"/>
            <a:endCxn id="19" idx="0"/>
          </p:cNvCxnSpPr>
          <p:nvPr/>
        </p:nvCxnSpPr>
        <p:spPr>
          <a:xfrm rot="5400000">
            <a:off x="6161299" y="4661937"/>
            <a:ext cx="618261" cy="170890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7" name="Straight Connector 36"/>
          <p:cNvCxnSpPr>
            <a:stCxn id="24" idx="4"/>
            <a:endCxn id="20" idx="0"/>
          </p:cNvCxnSpPr>
          <p:nvPr/>
        </p:nvCxnSpPr>
        <p:spPr>
          <a:xfrm rot="5400000">
            <a:off x="6619785" y="5120423"/>
            <a:ext cx="618261" cy="791931"/>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8" name="Straight Connector 37"/>
          <p:cNvCxnSpPr>
            <a:stCxn id="24" idx="4"/>
            <a:endCxn id="21" idx="0"/>
          </p:cNvCxnSpPr>
          <p:nvPr/>
        </p:nvCxnSpPr>
        <p:spPr>
          <a:xfrm rot="16200000" flipH="1">
            <a:off x="7307514" y="5224623"/>
            <a:ext cx="618261" cy="583528"/>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sp>
        <p:nvSpPr>
          <p:cNvPr id="43" name="TextBox 75"/>
          <p:cNvSpPr txBox="1">
            <a:spLocks noChangeArrowheads="1"/>
          </p:cNvSpPr>
          <p:nvPr/>
        </p:nvSpPr>
        <p:spPr bwMode="auto">
          <a:xfrm>
            <a:off x="3807042" y="5950561"/>
            <a:ext cx="708569" cy="246221"/>
          </a:xfrm>
          <a:prstGeom prst="rect">
            <a:avLst/>
          </a:prstGeom>
          <a:noFill/>
          <a:ln w="9525">
            <a:noFill/>
            <a:miter lim="800000"/>
            <a:headEnd/>
            <a:tailEnd/>
          </a:ln>
        </p:spPr>
        <p:txBody>
          <a:bodyPr>
            <a:prstTxWarp prst="textNoShape">
              <a:avLst/>
            </a:prstTxWarp>
            <a:spAutoFit/>
          </a:bodyPr>
          <a:lstStyle/>
          <a:p>
            <a:pPr algn="ctr"/>
            <a:r>
              <a:rPr lang="en-US" sz="1000"/>
              <a:t>Input</a:t>
            </a:r>
          </a:p>
        </p:txBody>
      </p:sp>
      <p:sp>
        <p:nvSpPr>
          <p:cNvPr id="44" name="TextBox 76"/>
          <p:cNvSpPr txBox="1">
            <a:spLocks noChangeArrowheads="1"/>
          </p:cNvSpPr>
          <p:nvPr/>
        </p:nvSpPr>
        <p:spPr bwMode="auto">
          <a:xfrm>
            <a:off x="3798706" y="4882149"/>
            <a:ext cx="1125375" cy="246221"/>
          </a:xfrm>
          <a:prstGeom prst="rect">
            <a:avLst/>
          </a:prstGeom>
          <a:noFill/>
          <a:ln w="9525">
            <a:noFill/>
            <a:miter lim="800000"/>
            <a:headEnd/>
            <a:tailEnd/>
          </a:ln>
        </p:spPr>
        <p:txBody>
          <a:bodyPr>
            <a:prstTxWarp prst="textNoShape">
              <a:avLst/>
            </a:prstTxWarp>
            <a:spAutoFit/>
          </a:bodyPr>
          <a:lstStyle/>
          <a:p>
            <a:pPr algn="ctr"/>
            <a:r>
              <a:rPr lang="en-US" sz="1000" dirty="0"/>
              <a:t>Hidden Layer 1</a:t>
            </a:r>
          </a:p>
        </p:txBody>
      </p:sp>
      <p:sp>
        <p:nvSpPr>
          <p:cNvPr id="45" name="Connector 44"/>
          <p:cNvSpPr/>
          <p:nvPr/>
        </p:nvSpPr>
        <p:spPr>
          <a:xfrm>
            <a:off x="5057458" y="3700384"/>
            <a:ext cx="450150" cy="45015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b</a:t>
            </a:r>
            <a:r>
              <a:rPr lang="en-US" sz="1000" baseline="-25000" dirty="0">
                <a:ln>
                  <a:solidFill>
                    <a:schemeClr val="tx1"/>
                  </a:solidFill>
                </a:ln>
                <a:solidFill>
                  <a:schemeClr val="tx1"/>
                </a:solidFill>
                <a:latin typeface="Arial"/>
                <a:cs typeface="Arial"/>
              </a:rPr>
              <a:t>1</a:t>
            </a:r>
          </a:p>
        </p:txBody>
      </p:sp>
      <p:sp>
        <p:nvSpPr>
          <p:cNvPr id="47" name="Connector 46"/>
          <p:cNvSpPr/>
          <p:nvPr/>
        </p:nvSpPr>
        <p:spPr>
          <a:xfrm>
            <a:off x="5807708" y="3700384"/>
            <a:ext cx="450150" cy="45015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b</a:t>
            </a:r>
            <a:r>
              <a:rPr lang="en-US" sz="1000" baseline="-25000" dirty="0">
                <a:ln>
                  <a:solidFill>
                    <a:schemeClr val="tx1"/>
                  </a:solidFill>
                </a:ln>
                <a:solidFill>
                  <a:schemeClr val="tx1"/>
                </a:solidFill>
                <a:latin typeface="Arial"/>
                <a:cs typeface="Arial"/>
              </a:rPr>
              <a:t>2</a:t>
            </a:r>
          </a:p>
        </p:txBody>
      </p:sp>
      <p:sp>
        <p:nvSpPr>
          <p:cNvPr id="48" name="Connector 47"/>
          <p:cNvSpPr/>
          <p:nvPr/>
        </p:nvSpPr>
        <p:spPr>
          <a:xfrm>
            <a:off x="7089185" y="3700384"/>
            <a:ext cx="450150" cy="45015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err="1">
                <a:ln>
                  <a:solidFill>
                    <a:schemeClr val="tx1"/>
                  </a:solidFill>
                </a:ln>
                <a:solidFill>
                  <a:schemeClr val="tx1"/>
                </a:solidFill>
                <a:latin typeface="Arial"/>
                <a:cs typeface="Arial"/>
              </a:rPr>
              <a:t>b</a:t>
            </a:r>
            <a:r>
              <a:rPr lang="en-US" sz="1000" baseline="-25000" dirty="0" err="1">
                <a:ln>
                  <a:solidFill>
                    <a:schemeClr val="tx1"/>
                  </a:solidFill>
                </a:ln>
                <a:solidFill>
                  <a:schemeClr val="tx1"/>
                </a:solidFill>
                <a:latin typeface="Arial"/>
                <a:cs typeface="Arial"/>
              </a:rPr>
              <a:t>E</a:t>
            </a:r>
            <a:endParaRPr lang="en-US" sz="1000" baseline="-25000" dirty="0">
              <a:ln>
                <a:solidFill>
                  <a:schemeClr val="tx1"/>
                </a:solidFill>
              </a:ln>
              <a:solidFill>
                <a:schemeClr val="tx1"/>
              </a:solidFill>
              <a:latin typeface="Arial"/>
              <a:cs typeface="Arial"/>
            </a:endParaRPr>
          </a:p>
        </p:txBody>
      </p:sp>
      <p:sp>
        <p:nvSpPr>
          <p:cNvPr id="49" name="TextBox 48"/>
          <p:cNvSpPr txBox="1">
            <a:spLocks noChangeArrowheads="1"/>
          </p:cNvSpPr>
          <p:nvPr/>
        </p:nvSpPr>
        <p:spPr bwMode="auto">
          <a:xfrm>
            <a:off x="6557957" y="3753548"/>
            <a:ext cx="291764" cy="246221"/>
          </a:xfrm>
          <a:prstGeom prst="rect">
            <a:avLst/>
          </a:prstGeom>
          <a:noFill/>
          <a:ln w="9525">
            <a:noFill/>
            <a:miter lim="800000"/>
            <a:headEnd/>
            <a:tailEnd/>
          </a:ln>
        </p:spPr>
        <p:txBody>
          <a:bodyPr anchor="ctr">
            <a:prstTxWarp prst="textNoShape">
              <a:avLst/>
            </a:prstTxWarp>
            <a:spAutoFit/>
          </a:bodyPr>
          <a:lstStyle/>
          <a:p>
            <a:pPr algn="ctr"/>
            <a:r>
              <a:rPr lang="en-US" sz="1000" b="1" dirty="0"/>
              <a:t>…</a:t>
            </a:r>
          </a:p>
        </p:txBody>
      </p:sp>
      <p:cxnSp>
        <p:nvCxnSpPr>
          <p:cNvPr id="50" name="Straight Connector 49"/>
          <p:cNvCxnSpPr>
            <a:stCxn id="45" idx="4"/>
            <a:endCxn id="18" idx="0"/>
          </p:cNvCxnSpPr>
          <p:nvPr/>
        </p:nvCxnSpPr>
        <p:spPr>
          <a:xfrm flipH="1">
            <a:off x="5274197" y="4150535"/>
            <a:ext cx="8336"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51" name="Straight Connector 50"/>
          <p:cNvCxnSpPr>
            <a:stCxn id="45" idx="4"/>
            <a:endCxn id="23" idx="0"/>
          </p:cNvCxnSpPr>
          <p:nvPr/>
        </p:nvCxnSpPr>
        <p:spPr>
          <a:xfrm>
            <a:off x="5282533" y="4150535"/>
            <a:ext cx="741914"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52" name="Straight Connector 51"/>
          <p:cNvCxnSpPr>
            <a:stCxn id="45" idx="4"/>
            <a:endCxn id="24" idx="0"/>
          </p:cNvCxnSpPr>
          <p:nvPr/>
        </p:nvCxnSpPr>
        <p:spPr>
          <a:xfrm>
            <a:off x="5282534" y="4150535"/>
            <a:ext cx="2042347"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54" name="Straight Connector 53"/>
          <p:cNvCxnSpPr>
            <a:stCxn id="47" idx="4"/>
            <a:endCxn id="23" idx="0"/>
          </p:cNvCxnSpPr>
          <p:nvPr/>
        </p:nvCxnSpPr>
        <p:spPr>
          <a:xfrm flipH="1">
            <a:off x="6024447" y="4150535"/>
            <a:ext cx="8336"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55" name="Straight Connector 54"/>
          <p:cNvCxnSpPr>
            <a:stCxn id="47" idx="4"/>
            <a:endCxn id="24" idx="0"/>
          </p:cNvCxnSpPr>
          <p:nvPr/>
        </p:nvCxnSpPr>
        <p:spPr>
          <a:xfrm>
            <a:off x="6032784" y="4150535"/>
            <a:ext cx="1292097"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57" name="Straight Connector 56"/>
          <p:cNvCxnSpPr>
            <a:stCxn id="48" idx="4"/>
            <a:endCxn id="18" idx="0"/>
          </p:cNvCxnSpPr>
          <p:nvPr/>
        </p:nvCxnSpPr>
        <p:spPr>
          <a:xfrm flipH="1">
            <a:off x="5274198" y="4150535"/>
            <a:ext cx="2040063"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58" name="Straight Connector 57"/>
          <p:cNvCxnSpPr>
            <a:stCxn id="47" idx="4"/>
            <a:endCxn id="18" idx="0"/>
          </p:cNvCxnSpPr>
          <p:nvPr/>
        </p:nvCxnSpPr>
        <p:spPr>
          <a:xfrm flipH="1">
            <a:off x="5274197" y="4150535"/>
            <a:ext cx="758586"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59" name="Straight Connector 58"/>
          <p:cNvCxnSpPr>
            <a:stCxn id="48" idx="4"/>
            <a:endCxn id="23" idx="0"/>
          </p:cNvCxnSpPr>
          <p:nvPr/>
        </p:nvCxnSpPr>
        <p:spPr>
          <a:xfrm flipH="1">
            <a:off x="6024448" y="4150535"/>
            <a:ext cx="1289813"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60" name="Straight Connector 59"/>
          <p:cNvCxnSpPr>
            <a:stCxn id="48" idx="4"/>
            <a:endCxn id="24" idx="0"/>
          </p:cNvCxnSpPr>
          <p:nvPr/>
        </p:nvCxnSpPr>
        <p:spPr>
          <a:xfrm>
            <a:off x="7314260" y="4150535"/>
            <a:ext cx="10620"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sp>
        <p:nvSpPr>
          <p:cNvPr id="66" name="TextBox 76"/>
          <p:cNvSpPr txBox="1">
            <a:spLocks noChangeArrowheads="1"/>
          </p:cNvSpPr>
          <p:nvPr/>
        </p:nvSpPr>
        <p:spPr bwMode="auto">
          <a:xfrm>
            <a:off x="3807042" y="3825426"/>
            <a:ext cx="1125375" cy="246221"/>
          </a:xfrm>
          <a:prstGeom prst="rect">
            <a:avLst/>
          </a:prstGeom>
          <a:noFill/>
          <a:ln w="9525">
            <a:noFill/>
            <a:miter lim="800000"/>
            <a:headEnd/>
            <a:tailEnd/>
          </a:ln>
        </p:spPr>
        <p:txBody>
          <a:bodyPr>
            <a:prstTxWarp prst="textNoShape">
              <a:avLst/>
            </a:prstTxWarp>
            <a:spAutoFit/>
          </a:bodyPr>
          <a:lstStyle/>
          <a:p>
            <a:pPr algn="ctr"/>
            <a:r>
              <a:rPr lang="en-US" sz="1000" dirty="0"/>
              <a:t>Hidden Layer 2</a:t>
            </a:r>
          </a:p>
        </p:txBody>
      </p:sp>
      <p:sp>
        <p:nvSpPr>
          <p:cNvPr id="53" name="Connector 52"/>
          <p:cNvSpPr/>
          <p:nvPr/>
        </p:nvSpPr>
        <p:spPr>
          <a:xfrm>
            <a:off x="5047055" y="2643661"/>
            <a:ext cx="450150" cy="45015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c</a:t>
            </a:r>
            <a:r>
              <a:rPr lang="en-US" sz="1000" baseline="-25000" dirty="0">
                <a:ln>
                  <a:solidFill>
                    <a:schemeClr val="tx1"/>
                  </a:solidFill>
                </a:ln>
                <a:solidFill>
                  <a:schemeClr val="tx1"/>
                </a:solidFill>
                <a:latin typeface="Arial"/>
                <a:cs typeface="Arial"/>
              </a:rPr>
              <a:t>1</a:t>
            </a:r>
          </a:p>
        </p:txBody>
      </p:sp>
      <p:sp>
        <p:nvSpPr>
          <p:cNvPr id="56" name="Connector 55"/>
          <p:cNvSpPr/>
          <p:nvPr/>
        </p:nvSpPr>
        <p:spPr>
          <a:xfrm>
            <a:off x="6139085" y="1775316"/>
            <a:ext cx="450150" cy="450150"/>
          </a:xfrm>
          <a:prstGeom prst="flowChartConnector">
            <a:avLst/>
          </a:prstGeom>
          <a:solidFill>
            <a:srgbClr val="E0D925"/>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y</a:t>
            </a:r>
            <a:endParaRPr lang="en-US" sz="1000" baseline="-25000" dirty="0">
              <a:ln>
                <a:solidFill>
                  <a:schemeClr val="tx1"/>
                </a:solidFill>
              </a:ln>
              <a:solidFill>
                <a:schemeClr val="tx1"/>
              </a:solidFill>
              <a:latin typeface="Arial"/>
              <a:cs typeface="Arial"/>
            </a:endParaRPr>
          </a:p>
        </p:txBody>
      </p:sp>
      <p:sp>
        <p:nvSpPr>
          <p:cNvPr id="61" name="Connector 60"/>
          <p:cNvSpPr/>
          <p:nvPr/>
        </p:nvSpPr>
        <p:spPr>
          <a:xfrm>
            <a:off x="5797305" y="2643661"/>
            <a:ext cx="450150" cy="45015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c</a:t>
            </a:r>
            <a:r>
              <a:rPr lang="en-US" sz="1000" baseline="-25000" dirty="0">
                <a:ln>
                  <a:solidFill>
                    <a:schemeClr val="tx1"/>
                  </a:solidFill>
                </a:ln>
                <a:solidFill>
                  <a:schemeClr val="tx1"/>
                </a:solidFill>
                <a:latin typeface="Arial"/>
                <a:cs typeface="Arial"/>
              </a:rPr>
              <a:t>2</a:t>
            </a:r>
          </a:p>
        </p:txBody>
      </p:sp>
      <p:sp>
        <p:nvSpPr>
          <p:cNvPr id="67" name="Connector 66"/>
          <p:cNvSpPr/>
          <p:nvPr/>
        </p:nvSpPr>
        <p:spPr>
          <a:xfrm>
            <a:off x="7078782" y="2643661"/>
            <a:ext cx="450150" cy="45015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err="1">
                <a:ln>
                  <a:solidFill>
                    <a:schemeClr val="tx1"/>
                  </a:solidFill>
                </a:ln>
                <a:solidFill>
                  <a:schemeClr val="tx1"/>
                </a:solidFill>
                <a:latin typeface="Arial"/>
                <a:cs typeface="Arial"/>
              </a:rPr>
              <a:t>c</a:t>
            </a:r>
            <a:r>
              <a:rPr lang="en-US" sz="1000" baseline="-25000" dirty="0" err="1">
                <a:ln>
                  <a:solidFill>
                    <a:schemeClr val="tx1"/>
                  </a:solidFill>
                </a:ln>
                <a:solidFill>
                  <a:schemeClr val="tx1"/>
                </a:solidFill>
                <a:latin typeface="Arial"/>
                <a:cs typeface="Arial"/>
              </a:rPr>
              <a:t>F</a:t>
            </a:r>
            <a:endParaRPr lang="en-US" sz="1000" baseline="-25000" dirty="0">
              <a:ln>
                <a:solidFill>
                  <a:schemeClr val="tx1"/>
                </a:solidFill>
              </a:ln>
              <a:solidFill>
                <a:schemeClr val="tx1"/>
              </a:solidFill>
              <a:latin typeface="Arial"/>
              <a:cs typeface="Arial"/>
            </a:endParaRPr>
          </a:p>
        </p:txBody>
      </p:sp>
      <p:sp>
        <p:nvSpPr>
          <p:cNvPr id="68" name="TextBox 67"/>
          <p:cNvSpPr txBox="1">
            <a:spLocks noChangeArrowheads="1"/>
          </p:cNvSpPr>
          <p:nvPr/>
        </p:nvSpPr>
        <p:spPr bwMode="auto">
          <a:xfrm>
            <a:off x="6547554" y="2696825"/>
            <a:ext cx="291764" cy="246221"/>
          </a:xfrm>
          <a:prstGeom prst="rect">
            <a:avLst/>
          </a:prstGeom>
          <a:noFill/>
          <a:ln w="9525">
            <a:noFill/>
            <a:miter lim="800000"/>
            <a:headEnd/>
            <a:tailEnd/>
          </a:ln>
        </p:spPr>
        <p:txBody>
          <a:bodyPr anchor="ctr">
            <a:prstTxWarp prst="textNoShape">
              <a:avLst/>
            </a:prstTxWarp>
            <a:spAutoFit/>
          </a:bodyPr>
          <a:lstStyle/>
          <a:p>
            <a:pPr algn="ctr"/>
            <a:r>
              <a:rPr lang="en-US" sz="1000" b="1" dirty="0"/>
              <a:t>…</a:t>
            </a:r>
          </a:p>
        </p:txBody>
      </p:sp>
      <p:cxnSp>
        <p:nvCxnSpPr>
          <p:cNvPr id="69" name="Straight Connector 68"/>
          <p:cNvCxnSpPr>
            <a:stCxn id="53" idx="4"/>
          </p:cNvCxnSpPr>
          <p:nvPr/>
        </p:nvCxnSpPr>
        <p:spPr>
          <a:xfrm flipH="1">
            <a:off x="5263794" y="3093812"/>
            <a:ext cx="8336"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70" name="Straight Connector 69"/>
          <p:cNvCxnSpPr>
            <a:stCxn id="53" idx="4"/>
          </p:cNvCxnSpPr>
          <p:nvPr/>
        </p:nvCxnSpPr>
        <p:spPr>
          <a:xfrm>
            <a:off x="5272130" y="3093812"/>
            <a:ext cx="741914"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71" name="Straight Connector 70"/>
          <p:cNvCxnSpPr>
            <a:stCxn id="53" idx="4"/>
          </p:cNvCxnSpPr>
          <p:nvPr/>
        </p:nvCxnSpPr>
        <p:spPr>
          <a:xfrm>
            <a:off x="5272131" y="3093812"/>
            <a:ext cx="2042347"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72" name="Straight Connector 71"/>
          <p:cNvCxnSpPr>
            <a:stCxn id="61" idx="4"/>
          </p:cNvCxnSpPr>
          <p:nvPr/>
        </p:nvCxnSpPr>
        <p:spPr>
          <a:xfrm flipH="1">
            <a:off x="6014044" y="3093812"/>
            <a:ext cx="8336"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73" name="Straight Connector 72"/>
          <p:cNvCxnSpPr>
            <a:stCxn id="61" idx="4"/>
          </p:cNvCxnSpPr>
          <p:nvPr/>
        </p:nvCxnSpPr>
        <p:spPr>
          <a:xfrm>
            <a:off x="6022381" y="3093812"/>
            <a:ext cx="1292097"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74" name="Straight Connector 73"/>
          <p:cNvCxnSpPr>
            <a:stCxn id="67" idx="4"/>
          </p:cNvCxnSpPr>
          <p:nvPr/>
        </p:nvCxnSpPr>
        <p:spPr>
          <a:xfrm flipH="1">
            <a:off x="5263795" y="3093812"/>
            <a:ext cx="2040063"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75" name="Straight Connector 74"/>
          <p:cNvCxnSpPr>
            <a:stCxn id="61" idx="4"/>
          </p:cNvCxnSpPr>
          <p:nvPr/>
        </p:nvCxnSpPr>
        <p:spPr>
          <a:xfrm flipH="1">
            <a:off x="5263794" y="3093812"/>
            <a:ext cx="758586"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76" name="Straight Connector 75"/>
          <p:cNvCxnSpPr>
            <a:stCxn id="67" idx="4"/>
          </p:cNvCxnSpPr>
          <p:nvPr/>
        </p:nvCxnSpPr>
        <p:spPr>
          <a:xfrm flipH="1">
            <a:off x="6014045" y="3093812"/>
            <a:ext cx="1289813"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77" name="Straight Connector 76"/>
          <p:cNvCxnSpPr>
            <a:stCxn id="67" idx="4"/>
          </p:cNvCxnSpPr>
          <p:nvPr/>
        </p:nvCxnSpPr>
        <p:spPr>
          <a:xfrm>
            <a:off x="7303857" y="3093812"/>
            <a:ext cx="10620"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78" name="Straight Connector 77"/>
          <p:cNvCxnSpPr>
            <a:stCxn id="56" idx="4"/>
          </p:cNvCxnSpPr>
          <p:nvPr/>
        </p:nvCxnSpPr>
        <p:spPr>
          <a:xfrm rot="5400000">
            <a:off x="5609049" y="1888549"/>
            <a:ext cx="418195" cy="1092031"/>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79" name="Straight Connector 78"/>
          <p:cNvCxnSpPr>
            <a:stCxn id="56" idx="4"/>
          </p:cNvCxnSpPr>
          <p:nvPr/>
        </p:nvCxnSpPr>
        <p:spPr>
          <a:xfrm rot="5400000">
            <a:off x="5984174" y="2263674"/>
            <a:ext cx="418195" cy="341781"/>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80" name="Straight Connector 79"/>
          <p:cNvCxnSpPr>
            <a:stCxn id="56" idx="4"/>
          </p:cNvCxnSpPr>
          <p:nvPr/>
        </p:nvCxnSpPr>
        <p:spPr>
          <a:xfrm rot="16200000" flipH="1">
            <a:off x="6634390" y="1955238"/>
            <a:ext cx="418195" cy="95865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sp>
        <p:nvSpPr>
          <p:cNvPr id="81" name="TextBox 74"/>
          <p:cNvSpPr txBox="1">
            <a:spLocks noChangeArrowheads="1"/>
          </p:cNvSpPr>
          <p:nvPr/>
        </p:nvSpPr>
        <p:spPr bwMode="auto">
          <a:xfrm>
            <a:off x="4036996" y="1878128"/>
            <a:ext cx="708569" cy="246221"/>
          </a:xfrm>
          <a:prstGeom prst="rect">
            <a:avLst/>
          </a:prstGeom>
          <a:noFill/>
          <a:ln w="9525">
            <a:noFill/>
            <a:miter lim="800000"/>
            <a:headEnd/>
            <a:tailEnd/>
          </a:ln>
        </p:spPr>
        <p:txBody>
          <a:bodyPr>
            <a:prstTxWarp prst="textNoShape">
              <a:avLst/>
            </a:prstTxWarp>
            <a:spAutoFit/>
          </a:bodyPr>
          <a:lstStyle/>
          <a:p>
            <a:r>
              <a:rPr lang="en-US" sz="1000" dirty="0"/>
              <a:t>Output</a:t>
            </a:r>
          </a:p>
        </p:txBody>
      </p:sp>
      <p:sp>
        <p:nvSpPr>
          <p:cNvPr id="82" name="TextBox 76"/>
          <p:cNvSpPr txBox="1">
            <a:spLocks noChangeArrowheads="1"/>
          </p:cNvSpPr>
          <p:nvPr/>
        </p:nvSpPr>
        <p:spPr bwMode="auto">
          <a:xfrm>
            <a:off x="3796639" y="2768703"/>
            <a:ext cx="1125375" cy="246221"/>
          </a:xfrm>
          <a:prstGeom prst="rect">
            <a:avLst/>
          </a:prstGeom>
          <a:noFill/>
          <a:ln w="9525">
            <a:noFill/>
            <a:miter lim="800000"/>
            <a:headEnd/>
            <a:tailEnd/>
          </a:ln>
        </p:spPr>
        <p:txBody>
          <a:bodyPr>
            <a:prstTxWarp prst="textNoShape">
              <a:avLst/>
            </a:prstTxWarp>
            <a:spAutoFit/>
          </a:bodyPr>
          <a:lstStyle/>
          <a:p>
            <a:pPr algn="ctr"/>
            <a:r>
              <a:rPr lang="en-US" sz="1000" dirty="0"/>
              <a:t>Hidden Layer 3</a:t>
            </a:r>
          </a:p>
        </p:txBody>
      </p:sp>
      <p:sp>
        <p:nvSpPr>
          <p:cNvPr id="9" name="CasellaDiTesto 8">
            <a:extLst>
              <a:ext uri="{FF2B5EF4-FFF2-40B4-BE49-F238E27FC236}">
                <a16:creationId xmlns:a16="http://schemas.microsoft.com/office/drawing/2014/main" id="{2AACFBB8-7183-4910-84DE-D01F5C170008}"/>
              </a:ext>
            </a:extLst>
          </p:cNvPr>
          <p:cNvSpPr txBox="1"/>
          <p:nvPr/>
        </p:nvSpPr>
        <p:spPr>
          <a:xfrm>
            <a:off x="7898185" y="1469164"/>
            <a:ext cx="2510418" cy="1938992"/>
          </a:xfrm>
          <a:prstGeom prst="rect">
            <a:avLst/>
          </a:prstGeom>
          <a:noFill/>
        </p:spPr>
        <p:txBody>
          <a:bodyPr wrap="square" rtlCol="0">
            <a:spAutoFit/>
          </a:bodyPr>
          <a:lstStyle/>
          <a:p>
            <a:r>
              <a:rPr lang="en-US" sz="2400" dirty="0"/>
              <a:t>Actually deep learning is way more than having neural networks with a lot of layers</a:t>
            </a:r>
          </a:p>
        </p:txBody>
      </p:sp>
      <p:cxnSp>
        <p:nvCxnSpPr>
          <p:cNvPr id="11" name="Connettore 2 10">
            <a:extLst>
              <a:ext uri="{FF2B5EF4-FFF2-40B4-BE49-F238E27FC236}">
                <a16:creationId xmlns:a16="http://schemas.microsoft.com/office/drawing/2014/main" id="{49BAB973-26BA-4C9B-A4BB-94250A6CAC93}"/>
              </a:ext>
            </a:extLst>
          </p:cNvPr>
          <p:cNvCxnSpPr/>
          <p:nvPr/>
        </p:nvCxnSpPr>
        <p:spPr>
          <a:xfrm>
            <a:off x="3796638" y="1995549"/>
            <a:ext cx="0" cy="351599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4" name="CasellaDiTesto 83">
            <a:extLst>
              <a:ext uri="{FF2B5EF4-FFF2-40B4-BE49-F238E27FC236}">
                <a16:creationId xmlns:a16="http://schemas.microsoft.com/office/drawing/2014/main" id="{24BAB70D-C7BB-4D34-A927-F5483E6A35D2}"/>
              </a:ext>
            </a:extLst>
          </p:cNvPr>
          <p:cNvSpPr txBox="1"/>
          <p:nvPr/>
        </p:nvSpPr>
        <p:spPr>
          <a:xfrm>
            <a:off x="514495" y="1961447"/>
            <a:ext cx="3143779" cy="1631216"/>
          </a:xfrm>
          <a:prstGeom prst="rect">
            <a:avLst/>
          </a:prstGeom>
          <a:noFill/>
        </p:spPr>
        <p:txBody>
          <a:bodyPr wrap="square" rtlCol="0">
            <a:spAutoFit/>
          </a:bodyPr>
          <a:lstStyle/>
          <a:p>
            <a:r>
              <a:rPr lang="en-US" sz="2000" dirty="0">
                <a:solidFill>
                  <a:srgbClr val="FF0000"/>
                </a:solidFill>
              </a:rPr>
              <a:t>Backpropagation through many layers has numerical problems that makes learning not-straightforward (Gradient Vanish/</a:t>
            </a:r>
            <a:r>
              <a:rPr lang="en-US" sz="2000" dirty="0" err="1">
                <a:solidFill>
                  <a:srgbClr val="FF0000"/>
                </a:solidFill>
              </a:rPr>
              <a:t>Esplosion</a:t>
            </a:r>
            <a:r>
              <a:rPr lang="en-US" sz="2000" dirty="0">
                <a:solidFill>
                  <a:srgbClr val="FF0000"/>
                </a:solidFill>
              </a:rPr>
              <a:t>)</a:t>
            </a:r>
          </a:p>
        </p:txBody>
      </p:sp>
    </p:spTree>
    <p:extLst>
      <p:ext uri="{BB962C8B-B14F-4D97-AF65-F5344CB8AC3E}">
        <p14:creationId xmlns:p14="http://schemas.microsoft.com/office/powerpoint/2010/main" val="1606548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4"/>
                                        </p:tgtEl>
                                        <p:attrNameLst>
                                          <p:attrName>style.visibility</p:attrName>
                                        </p:attrNameLst>
                                      </p:cBhvr>
                                      <p:to>
                                        <p:strVal val="visible"/>
                                      </p:to>
                                    </p:set>
                                    <p:animEffect transition="in" filter="fade">
                                      <p:cBhvr>
                                        <p:cTn id="12" dur="500"/>
                                        <p:tgtEl>
                                          <p:spTgt spid="84"/>
                                        </p:tgtEl>
                                      </p:cBhvr>
                                    </p:animEffect>
                                  </p:childTnLst>
                                </p:cTn>
                              </p:par>
                              <p:par>
                                <p:cTn id="13" presetID="10"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84"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noProof="0" dirty="0"/>
              <a:t>Representation </a:t>
            </a:r>
            <a:r>
              <a:rPr lang="en-US" dirty="0"/>
              <a:t>L</a:t>
            </a:r>
            <a:r>
              <a:rPr lang="en-US" noProof="0" dirty="0"/>
              <a:t>earning</a:t>
            </a:r>
          </a:p>
        </p:txBody>
      </p:sp>
      <p:sp>
        <p:nvSpPr>
          <p:cNvPr id="3" name="Content Placeholder 2"/>
          <p:cNvSpPr>
            <a:spLocks noGrp="1"/>
          </p:cNvSpPr>
          <p:nvPr>
            <p:ph idx="4294967295"/>
          </p:nvPr>
        </p:nvSpPr>
        <p:spPr>
          <a:xfrm>
            <a:off x="838200" y="1618861"/>
            <a:ext cx="3386138" cy="4343400"/>
          </a:xfrm>
        </p:spPr>
        <p:txBody>
          <a:bodyPr/>
          <a:lstStyle/>
          <a:p>
            <a:r>
              <a:rPr lang="en-US" noProof="0" dirty="0"/>
              <a:t>We don’t know the “right” levels of abstraction of information that is good for the machine </a:t>
            </a:r>
          </a:p>
          <a:p>
            <a:r>
              <a:rPr lang="en-US" noProof="0" dirty="0"/>
              <a:t>So let the model figure it out!</a:t>
            </a:r>
          </a:p>
        </p:txBody>
      </p:sp>
      <p:pic>
        <p:nvPicPr>
          <p:cNvPr id="5" name="Picture 4"/>
          <p:cNvPicPr>
            <a:picLocks noChangeAspect="1"/>
          </p:cNvPicPr>
          <p:nvPr/>
        </p:nvPicPr>
        <p:blipFill>
          <a:blip r:embed="rId3"/>
          <a:stretch>
            <a:fillRect/>
          </a:stretch>
        </p:blipFill>
        <p:spPr>
          <a:xfrm>
            <a:off x="5458625" y="1444533"/>
            <a:ext cx="4656926" cy="5095225"/>
          </a:xfrm>
          <a:prstGeom prst="rect">
            <a:avLst/>
          </a:prstGeom>
        </p:spPr>
      </p:pic>
      <p:sp>
        <p:nvSpPr>
          <p:cNvPr id="6" name="TextBox 5"/>
          <p:cNvSpPr txBox="1"/>
          <p:nvPr/>
        </p:nvSpPr>
        <p:spPr>
          <a:xfrm>
            <a:off x="1524001" y="6490857"/>
            <a:ext cx="4644271" cy="369332"/>
          </a:xfrm>
          <a:prstGeom prst="rect">
            <a:avLst/>
          </a:prstGeom>
          <a:noFill/>
        </p:spPr>
        <p:txBody>
          <a:bodyPr wrap="square" rtlCol="0">
            <a:spAutoFit/>
          </a:bodyPr>
          <a:lstStyle/>
          <a:p>
            <a:r>
              <a:rPr lang="en-US" dirty="0"/>
              <a:t>Example from </a:t>
            </a:r>
            <a:r>
              <a:rPr lang="en-US" dirty="0" err="1"/>
              <a:t>Honglak</a:t>
            </a:r>
            <a:r>
              <a:rPr lang="en-US" dirty="0"/>
              <a:t> Lee (NIPS 2010)</a:t>
            </a:r>
          </a:p>
        </p:txBody>
      </p:sp>
    </p:spTree>
    <p:extLst>
      <p:ext uri="{BB962C8B-B14F-4D97-AF65-F5344CB8AC3E}">
        <p14:creationId xmlns:p14="http://schemas.microsoft.com/office/powerpoint/2010/main" val="86461048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noProof="0" dirty="0"/>
              <a:t>Representation Learning</a:t>
            </a:r>
          </a:p>
        </p:txBody>
      </p:sp>
      <p:sp>
        <p:nvSpPr>
          <p:cNvPr id="3" name="Content Placeholder 2"/>
          <p:cNvSpPr>
            <a:spLocks noGrp="1"/>
          </p:cNvSpPr>
          <p:nvPr>
            <p:ph idx="1"/>
          </p:nvPr>
        </p:nvSpPr>
        <p:spPr>
          <a:xfrm>
            <a:off x="838200" y="1825625"/>
            <a:ext cx="4876800" cy="4351338"/>
          </a:xfrm>
        </p:spPr>
        <p:txBody>
          <a:bodyPr/>
          <a:lstStyle/>
          <a:p>
            <a:pPr marL="0" indent="0">
              <a:buNone/>
            </a:pPr>
            <a:r>
              <a:rPr lang="en-US" b="1" noProof="0" dirty="0"/>
              <a:t>Face Recognition:</a:t>
            </a:r>
          </a:p>
          <a:p>
            <a:pPr lvl="1"/>
            <a:r>
              <a:rPr lang="en-US" noProof="0" dirty="0"/>
              <a:t>Deep Network can build up increasingly higher levels of abstraction</a:t>
            </a:r>
          </a:p>
          <a:p>
            <a:pPr lvl="1"/>
            <a:r>
              <a:rPr lang="en-US" noProof="0" dirty="0"/>
              <a:t>Lines, parts, regions</a:t>
            </a:r>
          </a:p>
        </p:txBody>
      </p:sp>
      <p:pic>
        <p:nvPicPr>
          <p:cNvPr id="5" name="Picture 4"/>
          <p:cNvPicPr>
            <a:picLocks noChangeAspect="1"/>
          </p:cNvPicPr>
          <p:nvPr/>
        </p:nvPicPr>
        <p:blipFill>
          <a:blip r:embed="rId3"/>
          <a:stretch>
            <a:fillRect/>
          </a:stretch>
        </p:blipFill>
        <p:spPr>
          <a:xfrm>
            <a:off x="5458625" y="1444533"/>
            <a:ext cx="4656926" cy="5095225"/>
          </a:xfrm>
          <a:prstGeom prst="rect">
            <a:avLst/>
          </a:prstGeom>
        </p:spPr>
      </p:pic>
      <p:sp>
        <p:nvSpPr>
          <p:cNvPr id="6" name="TextBox 5"/>
          <p:cNvSpPr txBox="1"/>
          <p:nvPr/>
        </p:nvSpPr>
        <p:spPr>
          <a:xfrm>
            <a:off x="1524001" y="6490857"/>
            <a:ext cx="4644271" cy="369332"/>
          </a:xfrm>
          <a:prstGeom prst="rect">
            <a:avLst/>
          </a:prstGeom>
          <a:noFill/>
        </p:spPr>
        <p:txBody>
          <a:bodyPr wrap="square" rtlCol="0">
            <a:spAutoFit/>
          </a:bodyPr>
          <a:lstStyle/>
          <a:p>
            <a:r>
              <a:rPr lang="en-US" dirty="0"/>
              <a:t>Example from </a:t>
            </a:r>
            <a:r>
              <a:rPr lang="en-US" dirty="0" err="1"/>
              <a:t>Honglak</a:t>
            </a:r>
            <a:r>
              <a:rPr lang="en-US" dirty="0"/>
              <a:t> Lee (NIPS 2010)</a:t>
            </a:r>
          </a:p>
        </p:txBody>
      </p:sp>
    </p:spTree>
    <p:extLst>
      <p:ext uri="{BB962C8B-B14F-4D97-AF65-F5344CB8AC3E}">
        <p14:creationId xmlns:p14="http://schemas.microsoft.com/office/powerpoint/2010/main" val="101768298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noProof="0" dirty="0"/>
              <a:t>Representation Learning</a:t>
            </a:r>
          </a:p>
        </p:txBody>
      </p:sp>
      <p:pic>
        <p:nvPicPr>
          <p:cNvPr id="5" name="Picture 4"/>
          <p:cNvPicPr>
            <a:picLocks noChangeAspect="1"/>
          </p:cNvPicPr>
          <p:nvPr/>
        </p:nvPicPr>
        <p:blipFill>
          <a:blip r:embed="rId2"/>
          <a:stretch>
            <a:fillRect/>
          </a:stretch>
        </p:blipFill>
        <p:spPr>
          <a:xfrm>
            <a:off x="5458625" y="1444533"/>
            <a:ext cx="4656926" cy="5095225"/>
          </a:xfrm>
          <a:prstGeom prst="rect">
            <a:avLst/>
          </a:prstGeom>
        </p:spPr>
      </p:pic>
      <p:sp>
        <p:nvSpPr>
          <p:cNvPr id="6" name="TextBox 5"/>
          <p:cNvSpPr txBox="1"/>
          <p:nvPr/>
        </p:nvSpPr>
        <p:spPr>
          <a:xfrm>
            <a:off x="1524001" y="6490857"/>
            <a:ext cx="4644271" cy="369332"/>
          </a:xfrm>
          <a:prstGeom prst="rect">
            <a:avLst/>
          </a:prstGeom>
          <a:noFill/>
        </p:spPr>
        <p:txBody>
          <a:bodyPr wrap="square" rtlCol="0">
            <a:spAutoFit/>
          </a:bodyPr>
          <a:lstStyle/>
          <a:p>
            <a:r>
              <a:rPr lang="en-US" dirty="0"/>
              <a:t>Example from </a:t>
            </a:r>
            <a:r>
              <a:rPr lang="en-US" dirty="0" err="1"/>
              <a:t>Honglak</a:t>
            </a:r>
            <a:r>
              <a:rPr lang="en-US" dirty="0"/>
              <a:t> Lee (NIPS 2010)</a:t>
            </a:r>
          </a:p>
        </p:txBody>
      </p:sp>
      <p:grpSp>
        <p:nvGrpSpPr>
          <p:cNvPr id="3" name="Group 2"/>
          <p:cNvGrpSpPr/>
          <p:nvPr/>
        </p:nvGrpSpPr>
        <p:grpSpPr>
          <a:xfrm>
            <a:off x="1762230" y="1708627"/>
            <a:ext cx="4336845" cy="4500352"/>
            <a:chOff x="2272638" y="1775316"/>
            <a:chExt cx="4336845" cy="4500352"/>
          </a:xfrm>
        </p:grpSpPr>
        <p:sp>
          <p:nvSpPr>
            <p:cNvPr id="68" name="Connector 67"/>
            <p:cNvSpPr/>
            <p:nvPr/>
          </p:nvSpPr>
          <p:spPr>
            <a:xfrm>
              <a:off x="3033291" y="5825518"/>
              <a:ext cx="450150" cy="45015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x</a:t>
              </a:r>
              <a:r>
                <a:rPr lang="en-US" sz="1000" baseline="-25000" dirty="0">
                  <a:ln>
                    <a:solidFill>
                      <a:schemeClr val="tx1"/>
                    </a:solidFill>
                  </a:ln>
                  <a:solidFill>
                    <a:schemeClr val="tx1"/>
                  </a:solidFill>
                  <a:latin typeface="Arial"/>
                  <a:cs typeface="Arial"/>
                </a:rPr>
                <a:t>1</a:t>
              </a:r>
            </a:p>
          </p:txBody>
        </p:sp>
        <p:sp>
          <p:nvSpPr>
            <p:cNvPr id="69" name="Connector 68"/>
            <p:cNvSpPr/>
            <p:nvPr/>
          </p:nvSpPr>
          <p:spPr>
            <a:xfrm>
              <a:off x="3525122" y="4757107"/>
              <a:ext cx="450150" cy="45015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a</a:t>
              </a:r>
              <a:r>
                <a:rPr lang="en-US" sz="1000" baseline="-25000" dirty="0">
                  <a:ln>
                    <a:solidFill>
                      <a:schemeClr val="tx1"/>
                    </a:solidFill>
                  </a:ln>
                  <a:solidFill>
                    <a:schemeClr val="tx1"/>
                  </a:solidFill>
                  <a:latin typeface="Arial"/>
                  <a:cs typeface="Arial"/>
                </a:rPr>
                <a:t>1</a:t>
              </a:r>
            </a:p>
          </p:txBody>
        </p:sp>
        <p:sp>
          <p:nvSpPr>
            <p:cNvPr id="70" name="Connector 69"/>
            <p:cNvSpPr/>
            <p:nvPr/>
          </p:nvSpPr>
          <p:spPr>
            <a:xfrm>
              <a:off x="3866902" y="5825518"/>
              <a:ext cx="450150" cy="45015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x</a:t>
              </a:r>
              <a:r>
                <a:rPr lang="en-US" sz="1000" baseline="-25000" dirty="0">
                  <a:ln>
                    <a:solidFill>
                      <a:schemeClr val="tx1"/>
                    </a:solidFill>
                  </a:ln>
                  <a:solidFill>
                    <a:schemeClr val="tx1"/>
                  </a:solidFill>
                  <a:latin typeface="Arial"/>
                  <a:cs typeface="Arial"/>
                </a:rPr>
                <a:t>2</a:t>
              </a:r>
            </a:p>
          </p:txBody>
        </p:sp>
        <p:sp>
          <p:nvSpPr>
            <p:cNvPr id="71" name="Connector 70"/>
            <p:cNvSpPr/>
            <p:nvPr/>
          </p:nvSpPr>
          <p:spPr>
            <a:xfrm>
              <a:off x="4783875" y="5825518"/>
              <a:ext cx="450150" cy="45015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x</a:t>
              </a:r>
              <a:r>
                <a:rPr lang="en-US" sz="1000" baseline="-25000" dirty="0">
                  <a:ln>
                    <a:solidFill>
                      <a:schemeClr val="tx1"/>
                    </a:solidFill>
                  </a:ln>
                  <a:solidFill>
                    <a:schemeClr val="tx1"/>
                  </a:solidFill>
                  <a:latin typeface="Arial"/>
                  <a:cs typeface="Arial"/>
                </a:rPr>
                <a:t>3</a:t>
              </a:r>
            </a:p>
          </p:txBody>
        </p:sp>
        <p:sp>
          <p:nvSpPr>
            <p:cNvPr id="72" name="Connector 71"/>
            <p:cNvSpPr/>
            <p:nvPr/>
          </p:nvSpPr>
          <p:spPr>
            <a:xfrm>
              <a:off x="6159333" y="5825518"/>
              <a:ext cx="450150" cy="45015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err="1">
                  <a:ln>
                    <a:solidFill>
                      <a:schemeClr val="tx1"/>
                    </a:solidFill>
                  </a:ln>
                  <a:solidFill>
                    <a:schemeClr val="tx1"/>
                  </a:solidFill>
                  <a:latin typeface="Arial"/>
                  <a:cs typeface="Arial"/>
                </a:rPr>
                <a:t>x</a:t>
              </a:r>
              <a:r>
                <a:rPr lang="en-US" sz="1000" baseline="-25000" dirty="0" err="1">
                  <a:ln>
                    <a:solidFill>
                      <a:schemeClr val="tx1"/>
                    </a:solidFill>
                  </a:ln>
                  <a:solidFill>
                    <a:schemeClr val="tx1"/>
                  </a:solidFill>
                  <a:latin typeface="Arial"/>
                  <a:cs typeface="Arial"/>
                </a:rPr>
                <a:t>M</a:t>
              </a:r>
              <a:endParaRPr lang="en-US" sz="1000" baseline="-25000" dirty="0">
                <a:ln>
                  <a:solidFill>
                    <a:schemeClr val="tx1"/>
                  </a:solidFill>
                </a:ln>
                <a:solidFill>
                  <a:schemeClr val="tx1"/>
                </a:solidFill>
                <a:latin typeface="Arial"/>
                <a:cs typeface="Arial"/>
              </a:endParaRPr>
            </a:p>
          </p:txBody>
        </p:sp>
        <p:sp>
          <p:nvSpPr>
            <p:cNvPr id="73" name="Connector 72"/>
            <p:cNvSpPr/>
            <p:nvPr/>
          </p:nvSpPr>
          <p:spPr>
            <a:xfrm>
              <a:off x="4275372" y="4757107"/>
              <a:ext cx="450150" cy="45015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a</a:t>
              </a:r>
              <a:r>
                <a:rPr lang="en-US" sz="1000" baseline="-25000" dirty="0">
                  <a:ln>
                    <a:solidFill>
                      <a:schemeClr val="tx1"/>
                    </a:solidFill>
                  </a:ln>
                  <a:solidFill>
                    <a:schemeClr val="tx1"/>
                  </a:solidFill>
                  <a:latin typeface="Arial"/>
                  <a:cs typeface="Arial"/>
                </a:rPr>
                <a:t>2</a:t>
              </a:r>
            </a:p>
          </p:txBody>
        </p:sp>
        <p:sp>
          <p:nvSpPr>
            <p:cNvPr id="74" name="Connector 73"/>
            <p:cNvSpPr/>
            <p:nvPr/>
          </p:nvSpPr>
          <p:spPr>
            <a:xfrm>
              <a:off x="5575805" y="4757107"/>
              <a:ext cx="450150" cy="45015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err="1">
                  <a:ln>
                    <a:solidFill>
                      <a:schemeClr val="tx1"/>
                    </a:solidFill>
                  </a:ln>
                  <a:solidFill>
                    <a:schemeClr val="tx1"/>
                  </a:solidFill>
                  <a:latin typeface="Arial"/>
                  <a:cs typeface="Arial"/>
                </a:rPr>
                <a:t>a</a:t>
              </a:r>
              <a:r>
                <a:rPr lang="en-US" sz="1000" baseline="-25000" dirty="0" err="1">
                  <a:ln>
                    <a:solidFill>
                      <a:schemeClr val="tx1"/>
                    </a:solidFill>
                  </a:ln>
                  <a:solidFill>
                    <a:schemeClr val="tx1"/>
                  </a:solidFill>
                  <a:latin typeface="Arial"/>
                  <a:cs typeface="Arial"/>
                </a:rPr>
                <a:t>D</a:t>
              </a:r>
              <a:endParaRPr lang="en-US" sz="1000" baseline="-25000" dirty="0">
                <a:ln>
                  <a:solidFill>
                    <a:schemeClr val="tx1"/>
                  </a:solidFill>
                </a:ln>
                <a:solidFill>
                  <a:schemeClr val="tx1"/>
                </a:solidFill>
                <a:latin typeface="Arial"/>
                <a:cs typeface="Arial"/>
              </a:endParaRPr>
            </a:p>
          </p:txBody>
        </p:sp>
        <p:sp>
          <p:nvSpPr>
            <p:cNvPr id="75" name="TextBox 74"/>
            <p:cNvSpPr txBox="1">
              <a:spLocks noChangeArrowheads="1"/>
            </p:cNvSpPr>
            <p:nvPr/>
          </p:nvSpPr>
          <p:spPr bwMode="auto">
            <a:xfrm>
              <a:off x="5025621" y="4810270"/>
              <a:ext cx="291764" cy="246221"/>
            </a:xfrm>
            <a:prstGeom prst="rect">
              <a:avLst/>
            </a:prstGeom>
            <a:noFill/>
            <a:ln w="9525">
              <a:noFill/>
              <a:miter lim="800000"/>
              <a:headEnd/>
              <a:tailEnd/>
            </a:ln>
          </p:spPr>
          <p:txBody>
            <a:bodyPr anchor="ctr">
              <a:prstTxWarp prst="textNoShape">
                <a:avLst/>
              </a:prstTxWarp>
              <a:spAutoFit/>
            </a:bodyPr>
            <a:lstStyle/>
            <a:p>
              <a:pPr algn="ctr"/>
              <a:r>
                <a:rPr lang="en-US" sz="1000" b="1" dirty="0"/>
                <a:t>…</a:t>
              </a:r>
            </a:p>
          </p:txBody>
        </p:sp>
        <p:sp>
          <p:nvSpPr>
            <p:cNvPr id="76" name="TextBox 75"/>
            <p:cNvSpPr txBox="1">
              <a:spLocks noChangeArrowheads="1"/>
            </p:cNvSpPr>
            <p:nvPr/>
          </p:nvSpPr>
          <p:spPr bwMode="auto">
            <a:xfrm>
              <a:off x="5575805" y="5878681"/>
              <a:ext cx="291764" cy="246221"/>
            </a:xfrm>
            <a:prstGeom prst="rect">
              <a:avLst/>
            </a:prstGeom>
            <a:noFill/>
            <a:ln w="9525">
              <a:noFill/>
              <a:miter lim="800000"/>
              <a:headEnd/>
              <a:tailEnd/>
            </a:ln>
          </p:spPr>
          <p:txBody>
            <a:bodyPr anchor="ctr">
              <a:prstTxWarp prst="textNoShape">
                <a:avLst/>
              </a:prstTxWarp>
              <a:spAutoFit/>
            </a:bodyPr>
            <a:lstStyle/>
            <a:p>
              <a:pPr algn="ctr"/>
              <a:r>
                <a:rPr lang="en-US" sz="1000" b="1"/>
                <a:t>…</a:t>
              </a:r>
            </a:p>
          </p:txBody>
        </p:sp>
        <p:cxnSp>
          <p:nvCxnSpPr>
            <p:cNvPr id="77" name="Straight Connector 76"/>
            <p:cNvCxnSpPr>
              <a:stCxn id="69" idx="4"/>
              <a:endCxn id="68" idx="0"/>
            </p:cNvCxnSpPr>
            <p:nvPr/>
          </p:nvCxnSpPr>
          <p:spPr>
            <a:xfrm rot="5400000">
              <a:off x="3195151" y="5270472"/>
              <a:ext cx="618261" cy="491831"/>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78" name="Straight Connector 77"/>
            <p:cNvCxnSpPr>
              <a:stCxn id="69" idx="4"/>
              <a:endCxn id="70" idx="0"/>
            </p:cNvCxnSpPr>
            <p:nvPr/>
          </p:nvCxnSpPr>
          <p:spPr>
            <a:xfrm rot="16200000" flipH="1">
              <a:off x="3611956" y="5345497"/>
              <a:ext cx="618261" cy="341781"/>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79" name="Straight Connector 78"/>
            <p:cNvCxnSpPr>
              <a:stCxn id="69" idx="4"/>
              <a:endCxn id="71" idx="0"/>
            </p:cNvCxnSpPr>
            <p:nvPr/>
          </p:nvCxnSpPr>
          <p:spPr>
            <a:xfrm rot="16200000" flipH="1">
              <a:off x="4070442" y="4887011"/>
              <a:ext cx="618261" cy="125875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80" name="Straight Connector 79"/>
            <p:cNvCxnSpPr>
              <a:stCxn id="69" idx="4"/>
              <a:endCxn id="72" idx="0"/>
            </p:cNvCxnSpPr>
            <p:nvPr/>
          </p:nvCxnSpPr>
          <p:spPr>
            <a:xfrm rot="16200000" flipH="1">
              <a:off x="4758172" y="4199282"/>
              <a:ext cx="618261" cy="2634211"/>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81" name="Straight Connector 80"/>
            <p:cNvCxnSpPr>
              <a:stCxn id="73" idx="4"/>
              <a:endCxn id="70" idx="0"/>
            </p:cNvCxnSpPr>
            <p:nvPr/>
          </p:nvCxnSpPr>
          <p:spPr>
            <a:xfrm rot="5400000">
              <a:off x="3987081" y="5312153"/>
              <a:ext cx="618261" cy="408469"/>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82" name="Straight Connector 81"/>
            <p:cNvCxnSpPr>
              <a:stCxn id="73" idx="4"/>
              <a:endCxn id="71" idx="0"/>
            </p:cNvCxnSpPr>
            <p:nvPr/>
          </p:nvCxnSpPr>
          <p:spPr>
            <a:xfrm rot="16200000" flipH="1">
              <a:off x="4445567" y="5262136"/>
              <a:ext cx="618261" cy="50850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83" name="Straight Connector 82"/>
            <p:cNvCxnSpPr>
              <a:stCxn id="73" idx="4"/>
              <a:endCxn id="72" idx="0"/>
            </p:cNvCxnSpPr>
            <p:nvPr/>
          </p:nvCxnSpPr>
          <p:spPr>
            <a:xfrm rot="16200000" flipH="1">
              <a:off x="5133297" y="4574407"/>
              <a:ext cx="618261" cy="1883961"/>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84" name="Straight Connector 83"/>
            <p:cNvCxnSpPr>
              <a:stCxn id="74" idx="4"/>
              <a:endCxn id="68" idx="0"/>
            </p:cNvCxnSpPr>
            <p:nvPr/>
          </p:nvCxnSpPr>
          <p:spPr>
            <a:xfrm rot="5400000">
              <a:off x="4220492" y="4245130"/>
              <a:ext cx="618261" cy="2542514"/>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85" name="Straight Connector 84"/>
            <p:cNvCxnSpPr>
              <a:stCxn id="73" idx="4"/>
              <a:endCxn id="68" idx="0"/>
            </p:cNvCxnSpPr>
            <p:nvPr/>
          </p:nvCxnSpPr>
          <p:spPr>
            <a:xfrm rot="5400000">
              <a:off x="3570276" y="4895347"/>
              <a:ext cx="618261" cy="1242081"/>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86" name="Straight Connector 85"/>
            <p:cNvCxnSpPr>
              <a:stCxn id="74" idx="4"/>
              <a:endCxn id="70" idx="0"/>
            </p:cNvCxnSpPr>
            <p:nvPr/>
          </p:nvCxnSpPr>
          <p:spPr>
            <a:xfrm rot="5400000">
              <a:off x="4637298" y="4661936"/>
              <a:ext cx="618261" cy="170890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87" name="Straight Connector 86"/>
            <p:cNvCxnSpPr>
              <a:stCxn id="74" idx="4"/>
              <a:endCxn id="71" idx="0"/>
            </p:cNvCxnSpPr>
            <p:nvPr/>
          </p:nvCxnSpPr>
          <p:spPr>
            <a:xfrm rot="5400000">
              <a:off x="5095784" y="5120422"/>
              <a:ext cx="618261" cy="791931"/>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88" name="Straight Connector 87"/>
            <p:cNvCxnSpPr>
              <a:stCxn id="74" idx="4"/>
              <a:endCxn id="72" idx="0"/>
            </p:cNvCxnSpPr>
            <p:nvPr/>
          </p:nvCxnSpPr>
          <p:spPr>
            <a:xfrm rot="16200000" flipH="1">
              <a:off x="5783513" y="5224623"/>
              <a:ext cx="618261" cy="583528"/>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sp>
          <p:nvSpPr>
            <p:cNvPr id="89" name="TextBox 75"/>
            <p:cNvSpPr txBox="1">
              <a:spLocks noChangeArrowheads="1"/>
            </p:cNvSpPr>
            <p:nvPr/>
          </p:nvSpPr>
          <p:spPr bwMode="auto">
            <a:xfrm>
              <a:off x="2283041" y="5950560"/>
              <a:ext cx="708569" cy="246221"/>
            </a:xfrm>
            <a:prstGeom prst="rect">
              <a:avLst/>
            </a:prstGeom>
            <a:noFill/>
            <a:ln w="9525">
              <a:noFill/>
              <a:miter lim="800000"/>
              <a:headEnd/>
              <a:tailEnd/>
            </a:ln>
          </p:spPr>
          <p:txBody>
            <a:bodyPr>
              <a:prstTxWarp prst="textNoShape">
                <a:avLst/>
              </a:prstTxWarp>
              <a:spAutoFit/>
            </a:bodyPr>
            <a:lstStyle/>
            <a:p>
              <a:pPr algn="ctr"/>
              <a:r>
                <a:rPr lang="en-US" sz="1000"/>
                <a:t>Input</a:t>
              </a:r>
            </a:p>
          </p:txBody>
        </p:sp>
        <p:sp>
          <p:nvSpPr>
            <p:cNvPr id="90" name="TextBox 76"/>
            <p:cNvSpPr txBox="1">
              <a:spLocks noChangeArrowheads="1"/>
            </p:cNvSpPr>
            <p:nvPr/>
          </p:nvSpPr>
          <p:spPr bwMode="auto">
            <a:xfrm>
              <a:off x="2274705" y="4882148"/>
              <a:ext cx="1125375" cy="246221"/>
            </a:xfrm>
            <a:prstGeom prst="rect">
              <a:avLst/>
            </a:prstGeom>
            <a:noFill/>
            <a:ln w="9525">
              <a:noFill/>
              <a:miter lim="800000"/>
              <a:headEnd/>
              <a:tailEnd/>
            </a:ln>
          </p:spPr>
          <p:txBody>
            <a:bodyPr>
              <a:prstTxWarp prst="textNoShape">
                <a:avLst/>
              </a:prstTxWarp>
              <a:spAutoFit/>
            </a:bodyPr>
            <a:lstStyle/>
            <a:p>
              <a:pPr algn="ctr"/>
              <a:r>
                <a:rPr lang="en-US" sz="1000" dirty="0"/>
                <a:t>Hidden Layer 1</a:t>
              </a:r>
            </a:p>
          </p:txBody>
        </p:sp>
        <p:sp>
          <p:nvSpPr>
            <p:cNvPr id="91" name="Connector 90"/>
            <p:cNvSpPr/>
            <p:nvPr/>
          </p:nvSpPr>
          <p:spPr>
            <a:xfrm>
              <a:off x="3533458" y="3700384"/>
              <a:ext cx="450150" cy="45015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b</a:t>
              </a:r>
              <a:r>
                <a:rPr lang="en-US" sz="1000" baseline="-25000" dirty="0">
                  <a:ln>
                    <a:solidFill>
                      <a:schemeClr val="tx1"/>
                    </a:solidFill>
                  </a:ln>
                  <a:solidFill>
                    <a:schemeClr val="tx1"/>
                  </a:solidFill>
                  <a:latin typeface="Arial"/>
                  <a:cs typeface="Arial"/>
                </a:rPr>
                <a:t>1</a:t>
              </a:r>
            </a:p>
          </p:txBody>
        </p:sp>
        <p:sp>
          <p:nvSpPr>
            <p:cNvPr id="92" name="Connector 91"/>
            <p:cNvSpPr/>
            <p:nvPr/>
          </p:nvSpPr>
          <p:spPr>
            <a:xfrm>
              <a:off x="4283708" y="3700384"/>
              <a:ext cx="450150" cy="45015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b</a:t>
              </a:r>
              <a:r>
                <a:rPr lang="en-US" sz="1000" baseline="-25000" dirty="0">
                  <a:ln>
                    <a:solidFill>
                      <a:schemeClr val="tx1"/>
                    </a:solidFill>
                  </a:ln>
                  <a:solidFill>
                    <a:schemeClr val="tx1"/>
                  </a:solidFill>
                  <a:latin typeface="Arial"/>
                  <a:cs typeface="Arial"/>
                </a:rPr>
                <a:t>2</a:t>
              </a:r>
            </a:p>
          </p:txBody>
        </p:sp>
        <p:sp>
          <p:nvSpPr>
            <p:cNvPr id="93" name="Connector 92"/>
            <p:cNvSpPr/>
            <p:nvPr/>
          </p:nvSpPr>
          <p:spPr>
            <a:xfrm>
              <a:off x="5565185" y="3700384"/>
              <a:ext cx="450150" cy="45015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err="1">
                  <a:ln>
                    <a:solidFill>
                      <a:schemeClr val="tx1"/>
                    </a:solidFill>
                  </a:ln>
                  <a:solidFill>
                    <a:schemeClr val="tx1"/>
                  </a:solidFill>
                  <a:latin typeface="Arial"/>
                  <a:cs typeface="Arial"/>
                </a:rPr>
                <a:t>b</a:t>
              </a:r>
              <a:r>
                <a:rPr lang="en-US" sz="1000" baseline="-25000" dirty="0" err="1">
                  <a:ln>
                    <a:solidFill>
                      <a:schemeClr val="tx1"/>
                    </a:solidFill>
                  </a:ln>
                  <a:solidFill>
                    <a:schemeClr val="tx1"/>
                  </a:solidFill>
                  <a:latin typeface="Arial"/>
                  <a:cs typeface="Arial"/>
                </a:rPr>
                <a:t>E</a:t>
              </a:r>
              <a:endParaRPr lang="en-US" sz="1000" baseline="-25000" dirty="0">
                <a:ln>
                  <a:solidFill>
                    <a:schemeClr val="tx1"/>
                  </a:solidFill>
                </a:ln>
                <a:solidFill>
                  <a:schemeClr val="tx1"/>
                </a:solidFill>
                <a:latin typeface="Arial"/>
                <a:cs typeface="Arial"/>
              </a:endParaRPr>
            </a:p>
          </p:txBody>
        </p:sp>
        <p:sp>
          <p:nvSpPr>
            <p:cNvPr id="94" name="TextBox 93"/>
            <p:cNvSpPr txBox="1">
              <a:spLocks noChangeArrowheads="1"/>
            </p:cNvSpPr>
            <p:nvPr/>
          </p:nvSpPr>
          <p:spPr bwMode="auto">
            <a:xfrm>
              <a:off x="5033957" y="3753547"/>
              <a:ext cx="291764" cy="246221"/>
            </a:xfrm>
            <a:prstGeom prst="rect">
              <a:avLst/>
            </a:prstGeom>
            <a:noFill/>
            <a:ln w="9525">
              <a:noFill/>
              <a:miter lim="800000"/>
              <a:headEnd/>
              <a:tailEnd/>
            </a:ln>
          </p:spPr>
          <p:txBody>
            <a:bodyPr anchor="ctr">
              <a:prstTxWarp prst="textNoShape">
                <a:avLst/>
              </a:prstTxWarp>
              <a:spAutoFit/>
            </a:bodyPr>
            <a:lstStyle/>
            <a:p>
              <a:pPr algn="ctr"/>
              <a:r>
                <a:rPr lang="en-US" sz="1000" b="1" dirty="0"/>
                <a:t>…</a:t>
              </a:r>
            </a:p>
          </p:txBody>
        </p:sp>
        <p:cxnSp>
          <p:nvCxnSpPr>
            <p:cNvPr id="95" name="Straight Connector 94"/>
            <p:cNvCxnSpPr>
              <a:stCxn id="91" idx="4"/>
              <a:endCxn id="69" idx="0"/>
            </p:cNvCxnSpPr>
            <p:nvPr/>
          </p:nvCxnSpPr>
          <p:spPr>
            <a:xfrm flipH="1">
              <a:off x="3750197" y="4150534"/>
              <a:ext cx="8336"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96" name="Straight Connector 95"/>
            <p:cNvCxnSpPr>
              <a:stCxn id="91" idx="4"/>
              <a:endCxn id="73" idx="0"/>
            </p:cNvCxnSpPr>
            <p:nvPr/>
          </p:nvCxnSpPr>
          <p:spPr>
            <a:xfrm>
              <a:off x="3758533" y="4150534"/>
              <a:ext cx="741914"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97" name="Straight Connector 96"/>
            <p:cNvCxnSpPr>
              <a:stCxn id="91" idx="4"/>
              <a:endCxn id="74" idx="0"/>
            </p:cNvCxnSpPr>
            <p:nvPr/>
          </p:nvCxnSpPr>
          <p:spPr>
            <a:xfrm>
              <a:off x="3758533" y="4150534"/>
              <a:ext cx="2042347"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98" name="Straight Connector 97"/>
            <p:cNvCxnSpPr>
              <a:stCxn id="92" idx="4"/>
              <a:endCxn id="73" idx="0"/>
            </p:cNvCxnSpPr>
            <p:nvPr/>
          </p:nvCxnSpPr>
          <p:spPr>
            <a:xfrm flipH="1">
              <a:off x="4500447" y="4150534"/>
              <a:ext cx="8336"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99" name="Straight Connector 98"/>
            <p:cNvCxnSpPr>
              <a:stCxn id="92" idx="4"/>
              <a:endCxn id="74" idx="0"/>
            </p:cNvCxnSpPr>
            <p:nvPr/>
          </p:nvCxnSpPr>
          <p:spPr>
            <a:xfrm>
              <a:off x="4508783" y="4150534"/>
              <a:ext cx="1292097"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100" name="Straight Connector 99"/>
            <p:cNvCxnSpPr>
              <a:stCxn id="93" idx="4"/>
              <a:endCxn id="69" idx="0"/>
            </p:cNvCxnSpPr>
            <p:nvPr/>
          </p:nvCxnSpPr>
          <p:spPr>
            <a:xfrm flipH="1">
              <a:off x="3750197" y="4150534"/>
              <a:ext cx="2040063"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101" name="Straight Connector 100"/>
            <p:cNvCxnSpPr>
              <a:stCxn id="92" idx="4"/>
              <a:endCxn id="69" idx="0"/>
            </p:cNvCxnSpPr>
            <p:nvPr/>
          </p:nvCxnSpPr>
          <p:spPr>
            <a:xfrm flipH="1">
              <a:off x="3750197" y="4150534"/>
              <a:ext cx="758586"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102" name="Straight Connector 101"/>
            <p:cNvCxnSpPr>
              <a:stCxn id="93" idx="4"/>
              <a:endCxn id="73" idx="0"/>
            </p:cNvCxnSpPr>
            <p:nvPr/>
          </p:nvCxnSpPr>
          <p:spPr>
            <a:xfrm flipH="1">
              <a:off x="4500447" y="4150534"/>
              <a:ext cx="1289813"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103" name="Straight Connector 102"/>
            <p:cNvCxnSpPr>
              <a:stCxn id="93" idx="4"/>
              <a:endCxn id="74" idx="0"/>
            </p:cNvCxnSpPr>
            <p:nvPr/>
          </p:nvCxnSpPr>
          <p:spPr>
            <a:xfrm>
              <a:off x="5790260" y="4150534"/>
              <a:ext cx="10620"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sp>
          <p:nvSpPr>
            <p:cNvPr id="104" name="TextBox 76"/>
            <p:cNvSpPr txBox="1">
              <a:spLocks noChangeArrowheads="1"/>
            </p:cNvSpPr>
            <p:nvPr/>
          </p:nvSpPr>
          <p:spPr bwMode="auto">
            <a:xfrm>
              <a:off x="2283041" y="3825425"/>
              <a:ext cx="1125375" cy="246221"/>
            </a:xfrm>
            <a:prstGeom prst="rect">
              <a:avLst/>
            </a:prstGeom>
            <a:noFill/>
            <a:ln w="9525">
              <a:noFill/>
              <a:miter lim="800000"/>
              <a:headEnd/>
              <a:tailEnd/>
            </a:ln>
          </p:spPr>
          <p:txBody>
            <a:bodyPr>
              <a:prstTxWarp prst="textNoShape">
                <a:avLst/>
              </a:prstTxWarp>
              <a:spAutoFit/>
            </a:bodyPr>
            <a:lstStyle/>
            <a:p>
              <a:pPr algn="ctr"/>
              <a:r>
                <a:rPr lang="en-US" sz="1000" dirty="0"/>
                <a:t>Hidden Layer 2</a:t>
              </a:r>
            </a:p>
          </p:txBody>
        </p:sp>
        <p:sp>
          <p:nvSpPr>
            <p:cNvPr id="105" name="Connector 104"/>
            <p:cNvSpPr/>
            <p:nvPr/>
          </p:nvSpPr>
          <p:spPr>
            <a:xfrm>
              <a:off x="3523055" y="2643661"/>
              <a:ext cx="450150" cy="45015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c</a:t>
              </a:r>
              <a:r>
                <a:rPr lang="en-US" sz="1000" baseline="-25000" dirty="0">
                  <a:ln>
                    <a:solidFill>
                      <a:schemeClr val="tx1"/>
                    </a:solidFill>
                  </a:ln>
                  <a:solidFill>
                    <a:schemeClr val="tx1"/>
                  </a:solidFill>
                  <a:latin typeface="Arial"/>
                  <a:cs typeface="Arial"/>
                </a:rPr>
                <a:t>1</a:t>
              </a:r>
            </a:p>
          </p:txBody>
        </p:sp>
        <p:sp>
          <p:nvSpPr>
            <p:cNvPr id="106" name="Connector 105"/>
            <p:cNvSpPr/>
            <p:nvPr/>
          </p:nvSpPr>
          <p:spPr>
            <a:xfrm>
              <a:off x="4615085" y="1775316"/>
              <a:ext cx="450150" cy="450150"/>
            </a:xfrm>
            <a:prstGeom prst="flowChartConnector">
              <a:avLst/>
            </a:prstGeom>
            <a:solidFill>
              <a:srgbClr val="E0D925"/>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y</a:t>
              </a:r>
              <a:endParaRPr lang="en-US" sz="1000" baseline="-25000" dirty="0">
                <a:ln>
                  <a:solidFill>
                    <a:schemeClr val="tx1"/>
                  </a:solidFill>
                </a:ln>
                <a:solidFill>
                  <a:schemeClr val="tx1"/>
                </a:solidFill>
                <a:latin typeface="Arial"/>
                <a:cs typeface="Arial"/>
              </a:endParaRPr>
            </a:p>
          </p:txBody>
        </p:sp>
        <p:sp>
          <p:nvSpPr>
            <p:cNvPr id="107" name="Connector 106"/>
            <p:cNvSpPr/>
            <p:nvPr/>
          </p:nvSpPr>
          <p:spPr>
            <a:xfrm>
              <a:off x="4273305" y="2643661"/>
              <a:ext cx="450150" cy="45015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a:ln>
                    <a:solidFill>
                      <a:schemeClr val="tx1"/>
                    </a:solidFill>
                  </a:ln>
                  <a:solidFill>
                    <a:schemeClr val="tx1"/>
                  </a:solidFill>
                  <a:latin typeface="Arial"/>
                  <a:cs typeface="Arial"/>
                </a:rPr>
                <a:t>c</a:t>
              </a:r>
              <a:r>
                <a:rPr lang="en-US" sz="1000" baseline="-25000" dirty="0">
                  <a:ln>
                    <a:solidFill>
                      <a:schemeClr val="tx1"/>
                    </a:solidFill>
                  </a:ln>
                  <a:solidFill>
                    <a:schemeClr val="tx1"/>
                  </a:solidFill>
                  <a:latin typeface="Arial"/>
                  <a:cs typeface="Arial"/>
                </a:rPr>
                <a:t>2</a:t>
              </a:r>
            </a:p>
          </p:txBody>
        </p:sp>
        <p:sp>
          <p:nvSpPr>
            <p:cNvPr id="108" name="Connector 107"/>
            <p:cNvSpPr/>
            <p:nvPr/>
          </p:nvSpPr>
          <p:spPr>
            <a:xfrm>
              <a:off x="5554782" y="2643661"/>
              <a:ext cx="450150" cy="45015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000" dirty="0" err="1">
                  <a:ln>
                    <a:solidFill>
                      <a:schemeClr val="tx1"/>
                    </a:solidFill>
                  </a:ln>
                  <a:solidFill>
                    <a:schemeClr val="tx1"/>
                  </a:solidFill>
                  <a:latin typeface="Arial"/>
                  <a:cs typeface="Arial"/>
                </a:rPr>
                <a:t>c</a:t>
              </a:r>
              <a:r>
                <a:rPr lang="en-US" sz="1000" baseline="-25000" dirty="0" err="1">
                  <a:ln>
                    <a:solidFill>
                      <a:schemeClr val="tx1"/>
                    </a:solidFill>
                  </a:ln>
                  <a:solidFill>
                    <a:schemeClr val="tx1"/>
                  </a:solidFill>
                  <a:latin typeface="Arial"/>
                  <a:cs typeface="Arial"/>
                </a:rPr>
                <a:t>F</a:t>
              </a:r>
              <a:endParaRPr lang="en-US" sz="1000" baseline="-25000" dirty="0">
                <a:ln>
                  <a:solidFill>
                    <a:schemeClr val="tx1"/>
                  </a:solidFill>
                </a:ln>
                <a:solidFill>
                  <a:schemeClr val="tx1"/>
                </a:solidFill>
                <a:latin typeface="Arial"/>
                <a:cs typeface="Arial"/>
              </a:endParaRPr>
            </a:p>
          </p:txBody>
        </p:sp>
        <p:sp>
          <p:nvSpPr>
            <p:cNvPr id="109" name="TextBox 108"/>
            <p:cNvSpPr txBox="1">
              <a:spLocks noChangeArrowheads="1"/>
            </p:cNvSpPr>
            <p:nvPr/>
          </p:nvSpPr>
          <p:spPr bwMode="auto">
            <a:xfrm>
              <a:off x="5023554" y="2696824"/>
              <a:ext cx="291764" cy="246221"/>
            </a:xfrm>
            <a:prstGeom prst="rect">
              <a:avLst/>
            </a:prstGeom>
            <a:noFill/>
            <a:ln w="9525">
              <a:noFill/>
              <a:miter lim="800000"/>
              <a:headEnd/>
              <a:tailEnd/>
            </a:ln>
          </p:spPr>
          <p:txBody>
            <a:bodyPr anchor="ctr">
              <a:prstTxWarp prst="textNoShape">
                <a:avLst/>
              </a:prstTxWarp>
              <a:spAutoFit/>
            </a:bodyPr>
            <a:lstStyle/>
            <a:p>
              <a:pPr algn="ctr"/>
              <a:r>
                <a:rPr lang="en-US" sz="1000" b="1" dirty="0"/>
                <a:t>…</a:t>
              </a:r>
            </a:p>
          </p:txBody>
        </p:sp>
        <p:cxnSp>
          <p:nvCxnSpPr>
            <p:cNvPr id="110" name="Straight Connector 109"/>
            <p:cNvCxnSpPr>
              <a:stCxn id="105" idx="4"/>
            </p:cNvCxnSpPr>
            <p:nvPr/>
          </p:nvCxnSpPr>
          <p:spPr>
            <a:xfrm flipH="1">
              <a:off x="3739794" y="3093811"/>
              <a:ext cx="8336"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111" name="Straight Connector 110"/>
            <p:cNvCxnSpPr>
              <a:stCxn id="105" idx="4"/>
            </p:cNvCxnSpPr>
            <p:nvPr/>
          </p:nvCxnSpPr>
          <p:spPr>
            <a:xfrm>
              <a:off x="3748130" y="3093811"/>
              <a:ext cx="741914"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112" name="Straight Connector 111"/>
            <p:cNvCxnSpPr>
              <a:stCxn id="105" idx="4"/>
            </p:cNvCxnSpPr>
            <p:nvPr/>
          </p:nvCxnSpPr>
          <p:spPr>
            <a:xfrm>
              <a:off x="3748130" y="3093811"/>
              <a:ext cx="2042347"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113" name="Straight Connector 112"/>
            <p:cNvCxnSpPr>
              <a:stCxn id="107" idx="4"/>
            </p:cNvCxnSpPr>
            <p:nvPr/>
          </p:nvCxnSpPr>
          <p:spPr>
            <a:xfrm flipH="1">
              <a:off x="4490044" y="3093811"/>
              <a:ext cx="8336"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114" name="Straight Connector 113"/>
            <p:cNvCxnSpPr>
              <a:stCxn id="107" idx="4"/>
            </p:cNvCxnSpPr>
            <p:nvPr/>
          </p:nvCxnSpPr>
          <p:spPr>
            <a:xfrm>
              <a:off x="4498380" y="3093811"/>
              <a:ext cx="1292097"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115" name="Straight Connector 114"/>
            <p:cNvCxnSpPr>
              <a:stCxn id="108" idx="4"/>
            </p:cNvCxnSpPr>
            <p:nvPr/>
          </p:nvCxnSpPr>
          <p:spPr>
            <a:xfrm flipH="1">
              <a:off x="3739794" y="3093811"/>
              <a:ext cx="2040063"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116" name="Straight Connector 115"/>
            <p:cNvCxnSpPr>
              <a:stCxn id="107" idx="4"/>
            </p:cNvCxnSpPr>
            <p:nvPr/>
          </p:nvCxnSpPr>
          <p:spPr>
            <a:xfrm flipH="1">
              <a:off x="3739794" y="3093811"/>
              <a:ext cx="758586"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117" name="Straight Connector 116"/>
            <p:cNvCxnSpPr>
              <a:stCxn id="108" idx="4"/>
            </p:cNvCxnSpPr>
            <p:nvPr/>
          </p:nvCxnSpPr>
          <p:spPr>
            <a:xfrm flipH="1">
              <a:off x="4490044" y="3093811"/>
              <a:ext cx="1289813"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118" name="Straight Connector 117"/>
            <p:cNvCxnSpPr>
              <a:stCxn id="108" idx="4"/>
            </p:cNvCxnSpPr>
            <p:nvPr/>
          </p:nvCxnSpPr>
          <p:spPr>
            <a:xfrm>
              <a:off x="5779857" y="3093811"/>
              <a:ext cx="10620" cy="60657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119" name="Straight Connector 118"/>
            <p:cNvCxnSpPr>
              <a:stCxn id="106" idx="4"/>
            </p:cNvCxnSpPr>
            <p:nvPr/>
          </p:nvCxnSpPr>
          <p:spPr>
            <a:xfrm rot="5400000">
              <a:off x="4085048" y="1888548"/>
              <a:ext cx="418195" cy="1092031"/>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120" name="Straight Connector 119"/>
            <p:cNvCxnSpPr>
              <a:stCxn id="106" idx="4"/>
            </p:cNvCxnSpPr>
            <p:nvPr/>
          </p:nvCxnSpPr>
          <p:spPr>
            <a:xfrm rot="5400000">
              <a:off x="4460173" y="2263673"/>
              <a:ext cx="418195" cy="341781"/>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121" name="Straight Connector 120"/>
            <p:cNvCxnSpPr>
              <a:stCxn id="106" idx="4"/>
            </p:cNvCxnSpPr>
            <p:nvPr/>
          </p:nvCxnSpPr>
          <p:spPr>
            <a:xfrm rot="16200000" flipH="1">
              <a:off x="5110389" y="1955237"/>
              <a:ext cx="418195" cy="958653"/>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sp>
          <p:nvSpPr>
            <p:cNvPr id="122" name="TextBox 74"/>
            <p:cNvSpPr txBox="1">
              <a:spLocks noChangeArrowheads="1"/>
            </p:cNvSpPr>
            <p:nvPr/>
          </p:nvSpPr>
          <p:spPr bwMode="auto">
            <a:xfrm>
              <a:off x="2512995" y="1878127"/>
              <a:ext cx="708569" cy="246221"/>
            </a:xfrm>
            <a:prstGeom prst="rect">
              <a:avLst/>
            </a:prstGeom>
            <a:noFill/>
            <a:ln w="9525">
              <a:noFill/>
              <a:miter lim="800000"/>
              <a:headEnd/>
              <a:tailEnd/>
            </a:ln>
          </p:spPr>
          <p:txBody>
            <a:bodyPr>
              <a:prstTxWarp prst="textNoShape">
                <a:avLst/>
              </a:prstTxWarp>
              <a:spAutoFit/>
            </a:bodyPr>
            <a:lstStyle/>
            <a:p>
              <a:r>
                <a:rPr lang="en-US" sz="1000" dirty="0"/>
                <a:t>Output</a:t>
              </a:r>
            </a:p>
          </p:txBody>
        </p:sp>
        <p:sp>
          <p:nvSpPr>
            <p:cNvPr id="123" name="TextBox 76"/>
            <p:cNvSpPr txBox="1">
              <a:spLocks noChangeArrowheads="1"/>
            </p:cNvSpPr>
            <p:nvPr/>
          </p:nvSpPr>
          <p:spPr bwMode="auto">
            <a:xfrm>
              <a:off x="2272638" y="2768702"/>
              <a:ext cx="1125375" cy="246221"/>
            </a:xfrm>
            <a:prstGeom prst="rect">
              <a:avLst/>
            </a:prstGeom>
            <a:noFill/>
            <a:ln w="9525">
              <a:noFill/>
              <a:miter lim="800000"/>
              <a:headEnd/>
              <a:tailEnd/>
            </a:ln>
          </p:spPr>
          <p:txBody>
            <a:bodyPr>
              <a:prstTxWarp prst="textNoShape">
                <a:avLst/>
              </a:prstTxWarp>
              <a:spAutoFit/>
            </a:bodyPr>
            <a:lstStyle/>
            <a:p>
              <a:pPr algn="ctr"/>
              <a:r>
                <a:rPr lang="en-US" sz="1000" dirty="0"/>
                <a:t>Hidden Layer 3</a:t>
              </a:r>
            </a:p>
          </p:txBody>
        </p:sp>
      </p:grpSp>
    </p:spTree>
    <p:extLst>
      <p:ext uri="{BB962C8B-B14F-4D97-AF65-F5344CB8AC3E}">
        <p14:creationId xmlns:p14="http://schemas.microsoft.com/office/powerpoint/2010/main" val="11232694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Activation Functions</a:t>
            </a:r>
          </a:p>
        </p:txBody>
      </p:sp>
      <p:sp>
        <p:nvSpPr>
          <p:cNvPr id="3" name="Content Placeholder 2"/>
          <p:cNvSpPr>
            <a:spLocks noGrp="1"/>
          </p:cNvSpPr>
          <p:nvPr>
            <p:ph idx="1"/>
          </p:nvPr>
        </p:nvSpPr>
        <p:spPr>
          <a:xfrm>
            <a:off x="1803400" y="1479479"/>
            <a:ext cx="8648700" cy="3509336"/>
          </a:xfrm>
        </p:spPr>
        <p:txBody>
          <a:bodyPr>
            <a:normAutofit/>
          </a:bodyPr>
          <a:lstStyle/>
          <a:p>
            <a:r>
              <a:rPr lang="en-US" dirty="0"/>
              <a:t>A new change: modifying the nonlinearity</a:t>
            </a:r>
          </a:p>
          <a:p>
            <a:pPr lvl="1"/>
            <a:r>
              <a:rPr lang="en-US" dirty="0"/>
              <a:t>The logistic is not widely used in modern ANNs</a:t>
            </a:r>
          </a:p>
        </p:txBody>
      </p:sp>
      <p:pic>
        <p:nvPicPr>
          <p:cNvPr id="4" name="Picture 3" descr="Screen shot 2014-09-21 at 2.51.53 PM.png"/>
          <p:cNvPicPr>
            <a:picLocks noChangeAspect="1"/>
          </p:cNvPicPr>
          <p:nvPr/>
        </p:nvPicPr>
        <p:blipFill rotWithShape="1">
          <a:blip r:embed="rId2"/>
          <a:srcRect b="9888"/>
          <a:stretch/>
        </p:blipFill>
        <p:spPr>
          <a:xfrm>
            <a:off x="5207662" y="4805093"/>
            <a:ext cx="5180937" cy="1710441"/>
          </a:xfrm>
          <a:prstGeom prst="rect">
            <a:avLst/>
          </a:prstGeom>
        </p:spPr>
      </p:pic>
      <p:sp>
        <p:nvSpPr>
          <p:cNvPr id="6" name="TextBox 5"/>
          <p:cNvSpPr txBox="1"/>
          <p:nvPr/>
        </p:nvSpPr>
        <p:spPr>
          <a:xfrm>
            <a:off x="6331687" y="2832972"/>
            <a:ext cx="1957182" cy="83099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dirty="0"/>
              <a:t>Alternative 1: tanh</a:t>
            </a:r>
          </a:p>
        </p:txBody>
      </p:sp>
      <p:sp>
        <p:nvSpPr>
          <p:cNvPr id="7" name="TextBox 6"/>
          <p:cNvSpPr txBox="1"/>
          <p:nvPr/>
        </p:nvSpPr>
        <p:spPr>
          <a:xfrm>
            <a:off x="6331688" y="3840597"/>
            <a:ext cx="4120413" cy="83099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dirty="0"/>
              <a:t>Like logistic function but shifted to range [-1, +1]</a:t>
            </a:r>
          </a:p>
        </p:txBody>
      </p:sp>
      <p:pic>
        <p:nvPicPr>
          <p:cNvPr id="12" name="Picture 11"/>
          <p:cNvPicPr>
            <a:picLocks noChangeAspect="1"/>
          </p:cNvPicPr>
          <p:nvPr/>
        </p:nvPicPr>
        <p:blipFill>
          <a:blip r:embed="rId3"/>
          <a:stretch>
            <a:fillRect/>
          </a:stretch>
        </p:blipFill>
        <p:spPr>
          <a:xfrm>
            <a:off x="1803401" y="2683302"/>
            <a:ext cx="4200549" cy="2314588"/>
          </a:xfrm>
          <a:prstGeom prst="rect">
            <a:avLst/>
          </a:prstGeom>
        </p:spPr>
      </p:pic>
    </p:spTree>
    <p:extLst>
      <p:ext uri="{BB962C8B-B14F-4D97-AF65-F5344CB8AC3E}">
        <p14:creationId xmlns:p14="http://schemas.microsoft.com/office/powerpoint/2010/main" val="203371582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Screen Shot 2016-04-03 at 5.53.27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1" y="1753789"/>
            <a:ext cx="5091885" cy="3350422"/>
          </a:xfrm>
          <a:prstGeom prst="rect">
            <a:avLst/>
          </a:prstGeom>
        </p:spPr>
      </p:pic>
      <p:sp>
        <p:nvSpPr>
          <p:cNvPr id="2" name="Title 1"/>
          <p:cNvSpPr>
            <a:spLocks noGrp="1"/>
          </p:cNvSpPr>
          <p:nvPr>
            <p:ph type="title"/>
          </p:nvPr>
        </p:nvSpPr>
        <p:spPr/>
        <p:txBody>
          <a:bodyPr>
            <a:normAutofit/>
          </a:bodyPr>
          <a:lstStyle/>
          <a:p>
            <a:r>
              <a:rPr lang="en-US" dirty="0"/>
              <a:t>Activation Functions</a:t>
            </a:r>
          </a:p>
        </p:txBody>
      </p:sp>
      <p:sp>
        <p:nvSpPr>
          <p:cNvPr id="6" name="TextBox 5"/>
          <p:cNvSpPr txBox="1"/>
          <p:nvPr/>
        </p:nvSpPr>
        <p:spPr>
          <a:xfrm>
            <a:off x="5821528" y="2131486"/>
            <a:ext cx="4326377" cy="461665"/>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2400" dirty="0"/>
              <a:t>Alternative 2: rectified linear unit</a:t>
            </a:r>
          </a:p>
        </p:txBody>
      </p:sp>
      <p:sp>
        <p:nvSpPr>
          <p:cNvPr id="7" name="TextBox 6"/>
          <p:cNvSpPr txBox="1"/>
          <p:nvPr/>
        </p:nvSpPr>
        <p:spPr>
          <a:xfrm>
            <a:off x="5821528" y="3058419"/>
            <a:ext cx="4630573" cy="1569660"/>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dirty="0"/>
              <a:t>Linear with a cutoff at zero</a:t>
            </a:r>
          </a:p>
          <a:p>
            <a:endParaRPr lang="en-US" sz="2400" dirty="0"/>
          </a:p>
          <a:p>
            <a:r>
              <a:rPr lang="en-US" sz="2400" dirty="0"/>
              <a:t>(Implementation: clip the gradient when you pass zero)</a:t>
            </a:r>
          </a:p>
        </p:txBody>
      </p:sp>
      <p:pic>
        <p:nvPicPr>
          <p:cNvPr id="9" name="Picture 8" descr="Screen Shot 2016-04-03 at 5.53.48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2135" y="4949988"/>
            <a:ext cx="2514600" cy="711200"/>
          </a:xfrm>
          <a:prstGeom prst="rect">
            <a:avLst/>
          </a:prstGeom>
        </p:spPr>
      </p:pic>
      <p:cxnSp>
        <p:nvCxnSpPr>
          <p:cNvPr id="10" name="Straight Connector 9"/>
          <p:cNvCxnSpPr/>
          <p:nvPr/>
        </p:nvCxnSpPr>
        <p:spPr>
          <a:xfrm>
            <a:off x="1923144" y="4127500"/>
            <a:ext cx="144235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flipV="1">
            <a:off x="3365501" y="3048000"/>
            <a:ext cx="1351643" cy="10795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flipV="1">
            <a:off x="1803400" y="4127501"/>
            <a:ext cx="1562100" cy="335642"/>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26079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nodeType="clickEffect">
                                  <p:stCondLst>
                                    <p:cond delay="0"/>
                                  </p:stCondLst>
                                  <p:childTnLst>
                                    <p:animEffect transition="out" filter="dissolv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dissolve">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Activation Functions</a:t>
            </a:r>
          </a:p>
        </p:txBody>
      </p:sp>
      <p:sp>
        <p:nvSpPr>
          <p:cNvPr id="6" name="TextBox 5"/>
          <p:cNvSpPr txBox="1"/>
          <p:nvPr/>
        </p:nvSpPr>
        <p:spPr>
          <a:xfrm>
            <a:off x="5755397" y="1732058"/>
            <a:ext cx="5432007" cy="461665"/>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dirty="0"/>
              <a:t>Alternative 3: soft exponential linear unit</a:t>
            </a:r>
          </a:p>
        </p:txBody>
      </p:sp>
      <p:sp>
        <p:nvSpPr>
          <p:cNvPr id="7" name="TextBox 6"/>
          <p:cNvSpPr txBox="1"/>
          <p:nvPr/>
        </p:nvSpPr>
        <p:spPr>
          <a:xfrm>
            <a:off x="5755396" y="3133493"/>
            <a:ext cx="4630573" cy="1938992"/>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dirty="0"/>
              <a:t>Soft version: log(</a:t>
            </a:r>
            <a:r>
              <a:rPr lang="en-US" sz="2400" dirty="0" err="1"/>
              <a:t>exp</a:t>
            </a:r>
            <a:r>
              <a:rPr lang="en-US" sz="2400" dirty="0"/>
              <a:t>(x)+1)</a:t>
            </a:r>
          </a:p>
          <a:p>
            <a:endParaRPr lang="en-US" sz="2400" dirty="0"/>
          </a:p>
          <a:p>
            <a:r>
              <a:rPr lang="en-US" sz="2400" dirty="0"/>
              <a:t>Doesn’t saturate (at one end)</a:t>
            </a:r>
          </a:p>
          <a:p>
            <a:r>
              <a:rPr lang="en-US" sz="2400" dirty="0" err="1"/>
              <a:t>Sparsifies</a:t>
            </a:r>
            <a:r>
              <a:rPr lang="en-US" sz="2400" dirty="0"/>
              <a:t> outputs</a:t>
            </a:r>
          </a:p>
          <a:p>
            <a:r>
              <a:rPr lang="en-US" sz="2400" dirty="0"/>
              <a:t>Helps with vanishing gradient </a:t>
            </a:r>
          </a:p>
        </p:txBody>
      </p:sp>
      <p:pic>
        <p:nvPicPr>
          <p:cNvPr id="5" name="Picture 4"/>
          <p:cNvPicPr>
            <a:picLocks noChangeAspect="1"/>
          </p:cNvPicPr>
          <p:nvPr/>
        </p:nvPicPr>
        <p:blipFill>
          <a:blip r:embed="rId2"/>
          <a:stretch>
            <a:fillRect/>
          </a:stretch>
        </p:blipFill>
        <p:spPr>
          <a:xfrm>
            <a:off x="1673430" y="1983172"/>
            <a:ext cx="3769983" cy="2819656"/>
          </a:xfrm>
          <a:prstGeom prst="rect">
            <a:avLst/>
          </a:prstGeom>
        </p:spPr>
      </p:pic>
      <p:sp>
        <p:nvSpPr>
          <p:cNvPr id="8" name="TextBox 7"/>
          <p:cNvSpPr txBox="1"/>
          <p:nvPr/>
        </p:nvSpPr>
        <p:spPr>
          <a:xfrm>
            <a:off x="1524001" y="6515290"/>
            <a:ext cx="4728039" cy="342711"/>
          </a:xfrm>
          <a:prstGeom prst="rect">
            <a:avLst/>
          </a:prstGeom>
          <a:noFill/>
        </p:spPr>
        <p:txBody>
          <a:bodyPr wrap="square" rtlCol="0" anchor="ctr">
            <a:noAutofit/>
          </a:bodyPr>
          <a:lstStyle/>
          <a:p>
            <a:r>
              <a:rPr lang="en-US" sz="1400" dirty="0">
                <a:solidFill>
                  <a:schemeClr val="bg1">
                    <a:lumMod val="50000"/>
                  </a:schemeClr>
                </a:solidFill>
              </a:rPr>
              <a:t>Slide from William Cohen</a:t>
            </a:r>
          </a:p>
        </p:txBody>
      </p:sp>
    </p:spTree>
    <p:extLst>
      <p:ext uri="{BB962C8B-B14F-4D97-AF65-F5344CB8AC3E}">
        <p14:creationId xmlns:p14="http://schemas.microsoft.com/office/powerpoint/2010/main" val="24955829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DDE454F-3B87-4987-AB63-EEA25F7AC71C}"/>
              </a:ext>
            </a:extLst>
          </p:cNvPr>
          <p:cNvSpPr>
            <a:spLocks noGrp="1"/>
          </p:cNvSpPr>
          <p:nvPr>
            <p:ph type="title"/>
          </p:nvPr>
        </p:nvSpPr>
        <p:spPr/>
        <p:txBody>
          <a:bodyPr/>
          <a:lstStyle/>
          <a:p>
            <a:r>
              <a:rPr lang="en-US" dirty="0"/>
              <a:t>Activation Functions Summary</a:t>
            </a:r>
          </a:p>
        </p:txBody>
      </p:sp>
      <p:pic>
        <p:nvPicPr>
          <p:cNvPr id="15" name="Immagine 14" descr="Immagine che contiene antenna&#10;&#10;Descrizione generata automaticamente">
            <a:extLst>
              <a:ext uri="{FF2B5EF4-FFF2-40B4-BE49-F238E27FC236}">
                <a16:creationId xmlns:a16="http://schemas.microsoft.com/office/drawing/2014/main" id="{4B9ABCCA-4B48-4245-A317-0C1EFDC7B338}"/>
              </a:ext>
            </a:extLst>
          </p:cNvPr>
          <p:cNvPicPr>
            <a:picLocks noChangeAspect="1"/>
          </p:cNvPicPr>
          <p:nvPr/>
        </p:nvPicPr>
        <p:blipFill rotWithShape="1">
          <a:blip r:embed="rId2">
            <a:extLst>
              <a:ext uri="{28A0092B-C50C-407E-A947-70E740481C1C}">
                <a14:useLocalDpi xmlns:a14="http://schemas.microsoft.com/office/drawing/2010/main" val="0"/>
              </a:ext>
            </a:extLst>
          </a:blip>
          <a:srcRect l="9960" r="13101"/>
          <a:stretch/>
        </p:blipFill>
        <p:spPr>
          <a:xfrm>
            <a:off x="1766048" y="1538579"/>
            <a:ext cx="2656913" cy="1479149"/>
          </a:xfrm>
          <a:prstGeom prst="rect">
            <a:avLst/>
          </a:prstGeom>
        </p:spPr>
      </p:pic>
      <p:pic>
        <p:nvPicPr>
          <p:cNvPr id="17" name="Immagine 16" descr="Immagine che contiene mappa&#10;&#10;Descrizione generata automaticamente">
            <a:extLst>
              <a:ext uri="{FF2B5EF4-FFF2-40B4-BE49-F238E27FC236}">
                <a16:creationId xmlns:a16="http://schemas.microsoft.com/office/drawing/2014/main" id="{75471BAD-016C-4BAC-B1A3-3149B06F2D15}"/>
              </a:ext>
            </a:extLst>
          </p:cNvPr>
          <p:cNvPicPr>
            <a:picLocks noChangeAspect="1"/>
          </p:cNvPicPr>
          <p:nvPr/>
        </p:nvPicPr>
        <p:blipFill rotWithShape="1">
          <a:blip r:embed="rId3">
            <a:extLst>
              <a:ext uri="{28A0092B-C50C-407E-A947-70E740481C1C}">
                <a14:useLocalDpi xmlns:a14="http://schemas.microsoft.com/office/drawing/2010/main" val="0"/>
              </a:ext>
            </a:extLst>
          </a:blip>
          <a:srcRect l="9811" r="12870"/>
          <a:stretch/>
        </p:blipFill>
        <p:spPr>
          <a:xfrm>
            <a:off x="4611219" y="1507299"/>
            <a:ext cx="2782958" cy="1541706"/>
          </a:xfrm>
          <a:prstGeom prst="rect">
            <a:avLst/>
          </a:prstGeom>
        </p:spPr>
      </p:pic>
      <p:pic>
        <p:nvPicPr>
          <p:cNvPr id="19" name="Immagine 18" descr="Immagine che contiene testo, mappa&#10;&#10;Descrizione generata automaticamente">
            <a:extLst>
              <a:ext uri="{FF2B5EF4-FFF2-40B4-BE49-F238E27FC236}">
                <a16:creationId xmlns:a16="http://schemas.microsoft.com/office/drawing/2014/main" id="{F37492BD-D195-4D80-971A-DE5D4DBB4D3D}"/>
              </a:ext>
            </a:extLst>
          </p:cNvPr>
          <p:cNvPicPr>
            <a:picLocks noChangeAspect="1"/>
          </p:cNvPicPr>
          <p:nvPr/>
        </p:nvPicPr>
        <p:blipFill rotWithShape="1">
          <a:blip r:embed="rId4">
            <a:extLst>
              <a:ext uri="{28A0092B-C50C-407E-A947-70E740481C1C}">
                <a14:useLocalDpi xmlns:a14="http://schemas.microsoft.com/office/drawing/2010/main" val="0"/>
              </a:ext>
            </a:extLst>
          </a:blip>
          <a:srcRect l="3270" r="4564"/>
          <a:stretch/>
        </p:blipFill>
        <p:spPr>
          <a:xfrm>
            <a:off x="7548155" y="1437352"/>
            <a:ext cx="2990400" cy="1580376"/>
          </a:xfrm>
          <a:prstGeom prst="rect">
            <a:avLst/>
          </a:prstGeom>
        </p:spPr>
      </p:pic>
      <p:grpSp>
        <p:nvGrpSpPr>
          <p:cNvPr id="23" name="Gruppo 22">
            <a:extLst>
              <a:ext uri="{FF2B5EF4-FFF2-40B4-BE49-F238E27FC236}">
                <a16:creationId xmlns:a16="http://schemas.microsoft.com/office/drawing/2014/main" id="{70B3A86F-1C58-42E7-96B9-3298222219C0}"/>
              </a:ext>
            </a:extLst>
          </p:cNvPr>
          <p:cNvGrpSpPr/>
          <p:nvPr/>
        </p:nvGrpSpPr>
        <p:grpSpPr>
          <a:xfrm>
            <a:off x="1766048" y="4394201"/>
            <a:ext cx="2938185" cy="1541707"/>
            <a:chOff x="187134" y="3429000"/>
            <a:chExt cx="2938185" cy="1541707"/>
          </a:xfrm>
        </p:grpSpPr>
        <p:pic>
          <p:nvPicPr>
            <p:cNvPr id="21" name="Immagine 20" descr="Immagine che contiene testo, mappa&#10;&#10;Descrizione generata automaticamente">
              <a:extLst>
                <a:ext uri="{FF2B5EF4-FFF2-40B4-BE49-F238E27FC236}">
                  <a16:creationId xmlns:a16="http://schemas.microsoft.com/office/drawing/2014/main" id="{F75DEE1A-D8E4-4517-9774-75CB0FFA0953}"/>
                </a:ext>
              </a:extLst>
            </p:cNvPr>
            <p:cNvPicPr>
              <a:picLocks noChangeAspect="1"/>
            </p:cNvPicPr>
            <p:nvPr/>
          </p:nvPicPr>
          <p:blipFill rotWithShape="1">
            <a:blip r:embed="rId5">
              <a:extLst>
                <a:ext uri="{28A0092B-C50C-407E-A947-70E740481C1C}">
                  <a14:useLocalDpi xmlns:a14="http://schemas.microsoft.com/office/drawing/2010/main" val="0"/>
                </a:ext>
              </a:extLst>
            </a:blip>
            <a:srcRect l="10000" r="8368"/>
            <a:stretch/>
          </p:blipFill>
          <p:spPr>
            <a:xfrm>
              <a:off x="187134" y="3429000"/>
              <a:ext cx="2938185" cy="1541707"/>
            </a:xfrm>
            <a:prstGeom prst="rect">
              <a:avLst/>
            </a:prstGeom>
          </p:spPr>
        </p:pic>
        <p:sp>
          <p:nvSpPr>
            <p:cNvPr id="22" name="CasellaDiTesto 21">
              <a:extLst>
                <a:ext uri="{FF2B5EF4-FFF2-40B4-BE49-F238E27FC236}">
                  <a16:creationId xmlns:a16="http://schemas.microsoft.com/office/drawing/2014/main" id="{3DD636E5-C0C1-4853-A86C-171F04277FF9}"/>
                </a:ext>
              </a:extLst>
            </p:cNvPr>
            <p:cNvSpPr txBox="1"/>
            <p:nvPr/>
          </p:nvSpPr>
          <p:spPr>
            <a:xfrm>
              <a:off x="1824963" y="4337050"/>
              <a:ext cx="1300356" cy="261610"/>
            </a:xfrm>
            <a:prstGeom prst="rect">
              <a:avLst/>
            </a:prstGeom>
            <a:solidFill>
              <a:schemeClr val="bg1"/>
            </a:solidFill>
          </p:spPr>
          <p:txBody>
            <a:bodyPr wrap="none" rtlCol="0">
              <a:spAutoFit/>
            </a:bodyPr>
            <a:lstStyle/>
            <a:p>
              <a:r>
                <a:rPr lang="en-US" sz="1100" dirty="0"/>
                <a:t>Hyperbolic Tangent</a:t>
              </a:r>
            </a:p>
          </p:txBody>
        </p:sp>
      </p:grpSp>
      <p:pic>
        <p:nvPicPr>
          <p:cNvPr id="25" name="Immagine 24">
            <a:extLst>
              <a:ext uri="{FF2B5EF4-FFF2-40B4-BE49-F238E27FC236}">
                <a16:creationId xmlns:a16="http://schemas.microsoft.com/office/drawing/2014/main" id="{F40CA4C7-8949-4395-8266-0F42B175C36C}"/>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147" r="12963"/>
          <a:stretch/>
        </p:blipFill>
        <p:spPr>
          <a:xfrm>
            <a:off x="4704233" y="4394200"/>
            <a:ext cx="2763887" cy="1541706"/>
          </a:xfrm>
          <a:prstGeom prst="rect">
            <a:avLst/>
          </a:prstGeom>
        </p:spPr>
      </p:pic>
      <mc:AlternateContent xmlns:mc="http://schemas.openxmlformats.org/markup-compatibility/2006" xmlns:a14="http://schemas.microsoft.com/office/drawing/2010/main">
        <mc:Choice Requires="a14">
          <p:sp>
            <p:nvSpPr>
              <p:cNvPr id="26" name="CasellaDiTesto 25">
                <a:extLst>
                  <a:ext uri="{FF2B5EF4-FFF2-40B4-BE49-F238E27FC236}">
                    <a16:creationId xmlns:a16="http://schemas.microsoft.com/office/drawing/2014/main" id="{FF593452-F972-4749-A7D6-20D05F253E2A}"/>
                  </a:ext>
                </a:extLst>
              </p:cNvPr>
              <p:cNvSpPr txBox="1"/>
              <p:nvPr/>
            </p:nvSpPr>
            <p:spPr>
              <a:xfrm>
                <a:off x="2054699" y="3211601"/>
                <a:ext cx="2079608" cy="6178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a:latin typeface="Cambria Math" panose="02040503050406030204" pitchFamily="18" charset="0"/>
                        </a:rPr>
                        <m:t>𝑓</m:t>
                      </m:r>
                      <m:d>
                        <m:dPr>
                          <m:ctrlPr>
                            <a:rPr lang="it-IT" i="1">
                              <a:latin typeface="Cambria Math" panose="02040503050406030204" pitchFamily="18" charset="0"/>
                            </a:rPr>
                          </m:ctrlPr>
                        </m:dPr>
                        <m:e>
                          <m:r>
                            <a:rPr lang="it-IT" i="1">
                              <a:latin typeface="Cambria Math" panose="02040503050406030204" pitchFamily="18" charset="0"/>
                            </a:rPr>
                            <m:t>𝑥</m:t>
                          </m:r>
                        </m:e>
                      </m:d>
                      <m:r>
                        <a:rPr lang="it-IT" i="1">
                          <a:latin typeface="Cambria Math" panose="02040503050406030204" pitchFamily="18" charset="0"/>
                        </a:rPr>
                        <m:t>=</m:t>
                      </m:r>
                      <m:d>
                        <m:dPr>
                          <m:begChr m:val="{"/>
                          <m:endChr m:val=""/>
                          <m:ctrlPr>
                            <a:rPr lang="it-IT" i="1">
                              <a:latin typeface="Cambria Math" panose="02040503050406030204" pitchFamily="18" charset="0"/>
                            </a:rPr>
                          </m:ctrlPr>
                        </m:dPr>
                        <m:e>
                          <m:m>
                            <m:mPr>
                              <m:mcs>
                                <m:mc>
                                  <m:mcPr>
                                    <m:count m:val="1"/>
                                    <m:mcJc m:val="center"/>
                                  </m:mcPr>
                                </m:mc>
                              </m:mcs>
                              <m:ctrlPr>
                                <a:rPr lang="it-IT" i="1">
                                  <a:latin typeface="Cambria Math" panose="02040503050406030204" pitchFamily="18" charset="0"/>
                                </a:rPr>
                              </m:ctrlPr>
                            </m:mPr>
                            <m:mr>
                              <m:e>
                                <m:r>
                                  <m:rPr>
                                    <m:brk m:alnAt="7"/>
                                  </m:rPr>
                                  <a:rPr lang="it-IT" i="1">
                                    <a:latin typeface="Cambria Math" panose="02040503050406030204" pitchFamily="18" charset="0"/>
                                  </a:rPr>
                                  <m:t>0</m:t>
                                </m:r>
                                <m:r>
                                  <a:rPr lang="it-IT" i="1">
                                    <a:latin typeface="Cambria Math" panose="02040503050406030204" pitchFamily="18" charset="0"/>
                                  </a:rPr>
                                  <m:t> </m:t>
                                </m:r>
                                <m:r>
                                  <a:rPr lang="it-IT" i="1">
                                    <a:latin typeface="Cambria Math" panose="02040503050406030204" pitchFamily="18" charset="0"/>
                                  </a:rPr>
                                  <m:t>𝑓𝑜𝑟</m:t>
                                </m:r>
                                <m:r>
                                  <a:rPr lang="it-IT" i="1">
                                    <a:latin typeface="Cambria Math" panose="02040503050406030204" pitchFamily="18" charset="0"/>
                                  </a:rPr>
                                  <m:t> </m:t>
                                </m:r>
                                <m:r>
                                  <a:rPr lang="it-IT" i="1">
                                    <a:latin typeface="Cambria Math" panose="02040503050406030204" pitchFamily="18" charset="0"/>
                                  </a:rPr>
                                  <m:t>𝑥</m:t>
                                </m:r>
                                <m:r>
                                  <a:rPr lang="it-IT" i="1">
                                    <a:latin typeface="Cambria Math" panose="02040503050406030204" pitchFamily="18" charset="0"/>
                                  </a:rPr>
                                  <m:t>&lt;0</m:t>
                                </m:r>
                              </m:e>
                            </m:mr>
                            <m:mr>
                              <m:e>
                                <m:r>
                                  <a:rPr lang="it-IT" i="1">
                                    <a:latin typeface="Cambria Math" panose="02040503050406030204" pitchFamily="18" charset="0"/>
                                  </a:rPr>
                                  <m:t>1 </m:t>
                                </m:r>
                                <m:r>
                                  <a:rPr lang="it-IT" i="1">
                                    <a:latin typeface="Cambria Math" panose="02040503050406030204" pitchFamily="18" charset="0"/>
                                  </a:rPr>
                                  <m:t>𝑓𝑜𝑟</m:t>
                                </m:r>
                                <m:r>
                                  <a:rPr lang="it-IT" i="1">
                                    <a:latin typeface="Cambria Math" panose="02040503050406030204" pitchFamily="18" charset="0"/>
                                  </a:rPr>
                                  <m:t> </m:t>
                                </m:r>
                                <m:r>
                                  <a:rPr lang="it-IT" i="1">
                                    <a:latin typeface="Cambria Math" panose="02040503050406030204" pitchFamily="18" charset="0"/>
                                  </a:rPr>
                                  <m:t>𝑥</m:t>
                                </m:r>
                                <m:r>
                                  <a:rPr lang="it-IT" i="1">
                                    <a:latin typeface="Cambria Math" panose="02040503050406030204" pitchFamily="18" charset="0"/>
                                    <a:ea typeface="Cambria Math" panose="02040503050406030204" pitchFamily="18" charset="0"/>
                                  </a:rPr>
                                  <m:t>≥0</m:t>
                                </m:r>
                              </m:e>
                            </m:mr>
                          </m:m>
                        </m:e>
                      </m:d>
                    </m:oMath>
                  </m:oMathPara>
                </a14:m>
                <a:endParaRPr lang="en-GB" dirty="0"/>
              </a:p>
            </p:txBody>
          </p:sp>
        </mc:Choice>
        <mc:Fallback xmlns="">
          <p:sp>
            <p:nvSpPr>
              <p:cNvPr id="26" name="CasellaDiTesto 25">
                <a:extLst>
                  <a:ext uri="{FF2B5EF4-FFF2-40B4-BE49-F238E27FC236}">
                    <a16:creationId xmlns:a16="http://schemas.microsoft.com/office/drawing/2014/main" id="{FF593452-F972-4749-A7D6-20D05F253E2A}"/>
                  </a:ext>
                </a:extLst>
              </p:cNvPr>
              <p:cNvSpPr txBox="1">
                <a:spLocks noRot="1" noChangeAspect="1" noMove="1" noResize="1" noEditPoints="1" noAdjustHandles="1" noChangeArrowheads="1" noChangeShapeType="1" noTextEdit="1"/>
              </p:cNvSpPr>
              <p:nvPr/>
            </p:nvSpPr>
            <p:spPr>
              <a:xfrm>
                <a:off x="2054699" y="3211601"/>
                <a:ext cx="2079608" cy="617861"/>
              </a:xfrm>
              <a:prstGeom prst="rect">
                <a:avLst/>
              </a:prstGeom>
              <a:blipFill>
                <a:blip r:embed="rId7"/>
                <a:stretch>
                  <a:fillRect l="-18182" t="-224000" r="-1212" b="-322000"/>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7" name="CasellaDiTesto 26">
                <a:extLst>
                  <a:ext uri="{FF2B5EF4-FFF2-40B4-BE49-F238E27FC236}">
                    <a16:creationId xmlns:a16="http://schemas.microsoft.com/office/drawing/2014/main" id="{02CFCAE3-AC05-4A88-910F-069F9B2FB5AF}"/>
                  </a:ext>
                </a:extLst>
              </p:cNvPr>
              <p:cNvSpPr txBox="1"/>
              <p:nvPr/>
            </p:nvSpPr>
            <p:spPr>
              <a:xfrm>
                <a:off x="5532665" y="3320508"/>
                <a:ext cx="94006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a:latin typeface="Cambria Math" panose="02040503050406030204" pitchFamily="18" charset="0"/>
                        </a:rPr>
                        <m:t>𝑓</m:t>
                      </m:r>
                      <m:d>
                        <m:dPr>
                          <m:ctrlPr>
                            <a:rPr lang="it-IT" i="1">
                              <a:latin typeface="Cambria Math" panose="02040503050406030204" pitchFamily="18" charset="0"/>
                            </a:rPr>
                          </m:ctrlPr>
                        </m:dPr>
                        <m:e>
                          <m:r>
                            <a:rPr lang="it-IT" i="1">
                              <a:latin typeface="Cambria Math" panose="02040503050406030204" pitchFamily="18" charset="0"/>
                            </a:rPr>
                            <m:t>𝑥</m:t>
                          </m:r>
                        </m:e>
                      </m:d>
                      <m:r>
                        <a:rPr lang="it-IT" i="1">
                          <a:latin typeface="Cambria Math" panose="02040503050406030204" pitchFamily="18" charset="0"/>
                        </a:rPr>
                        <m:t>=</m:t>
                      </m:r>
                      <m:r>
                        <a:rPr lang="it-IT" i="1">
                          <a:latin typeface="Cambria Math" panose="02040503050406030204" pitchFamily="18" charset="0"/>
                        </a:rPr>
                        <m:t>𝑥</m:t>
                      </m:r>
                    </m:oMath>
                  </m:oMathPara>
                </a14:m>
                <a:endParaRPr lang="en-GB" dirty="0"/>
              </a:p>
            </p:txBody>
          </p:sp>
        </mc:Choice>
        <mc:Fallback xmlns="">
          <p:sp>
            <p:nvSpPr>
              <p:cNvPr id="27" name="CasellaDiTesto 26">
                <a:extLst>
                  <a:ext uri="{FF2B5EF4-FFF2-40B4-BE49-F238E27FC236}">
                    <a16:creationId xmlns:a16="http://schemas.microsoft.com/office/drawing/2014/main" id="{02CFCAE3-AC05-4A88-910F-069F9B2FB5AF}"/>
                  </a:ext>
                </a:extLst>
              </p:cNvPr>
              <p:cNvSpPr txBox="1">
                <a:spLocks noRot="1" noChangeAspect="1" noMove="1" noResize="1" noEditPoints="1" noAdjustHandles="1" noChangeArrowheads="1" noChangeShapeType="1" noTextEdit="1"/>
              </p:cNvSpPr>
              <p:nvPr/>
            </p:nvSpPr>
            <p:spPr>
              <a:xfrm>
                <a:off x="5532665" y="3320508"/>
                <a:ext cx="940066" cy="276999"/>
              </a:xfrm>
              <a:prstGeom prst="rect">
                <a:avLst/>
              </a:prstGeom>
              <a:blipFill>
                <a:blip r:embed="rId8"/>
                <a:stretch>
                  <a:fillRect l="-8000" r="-1333" b="-34783"/>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8" name="CasellaDiTesto 27">
                <a:extLst>
                  <a:ext uri="{FF2B5EF4-FFF2-40B4-BE49-F238E27FC236}">
                    <a16:creationId xmlns:a16="http://schemas.microsoft.com/office/drawing/2014/main" id="{EEC1DB8E-115F-4A72-809B-8A54F93258E5}"/>
                  </a:ext>
                </a:extLst>
              </p:cNvPr>
              <p:cNvSpPr txBox="1"/>
              <p:nvPr/>
            </p:nvSpPr>
            <p:spPr>
              <a:xfrm>
                <a:off x="8255832" y="3166492"/>
                <a:ext cx="1575047" cy="5250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a:latin typeface="Cambria Math" panose="02040503050406030204" pitchFamily="18" charset="0"/>
                        </a:rPr>
                        <m:t>𝑓</m:t>
                      </m:r>
                      <m:d>
                        <m:dPr>
                          <m:ctrlPr>
                            <a:rPr lang="it-IT" i="1">
                              <a:latin typeface="Cambria Math" panose="02040503050406030204" pitchFamily="18" charset="0"/>
                            </a:rPr>
                          </m:ctrlPr>
                        </m:dPr>
                        <m:e>
                          <m:r>
                            <a:rPr lang="it-IT" i="1">
                              <a:latin typeface="Cambria Math" panose="02040503050406030204" pitchFamily="18" charset="0"/>
                            </a:rPr>
                            <m:t>𝑥</m:t>
                          </m:r>
                        </m:e>
                      </m:d>
                      <m:r>
                        <a:rPr lang="it-IT" i="1">
                          <a:latin typeface="Cambria Math" panose="02040503050406030204" pitchFamily="18" charset="0"/>
                        </a:rPr>
                        <m:t>=</m:t>
                      </m:r>
                      <m:f>
                        <m:fPr>
                          <m:ctrlPr>
                            <a:rPr lang="it-IT" i="1">
                              <a:latin typeface="Cambria Math" panose="02040503050406030204" pitchFamily="18" charset="0"/>
                            </a:rPr>
                          </m:ctrlPr>
                        </m:fPr>
                        <m:num>
                          <m:r>
                            <a:rPr lang="it-IT" i="1">
                              <a:latin typeface="Cambria Math" panose="02040503050406030204" pitchFamily="18" charset="0"/>
                            </a:rPr>
                            <m:t>1</m:t>
                          </m:r>
                        </m:num>
                        <m:den>
                          <m:r>
                            <a:rPr lang="it-IT" i="1">
                              <a:latin typeface="Cambria Math" panose="02040503050406030204" pitchFamily="18" charset="0"/>
                            </a:rPr>
                            <m:t>1+</m:t>
                          </m:r>
                          <m:sSup>
                            <m:sSupPr>
                              <m:ctrlPr>
                                <a:rPr lang="it-IT" i="1">
                                  <a:latin typeface="Cambria Math" panose="02040503050406030204" pitchFamily="18" charset="0"/>
                                </a:rPr>
                              </m:ctrlPr>
                            </m:sSupPr>
                            <m:e>
                              <m:r>
                                <a:rPr lang="it-IT" i="1">
                                  <a:latin typeface="Cambria Math" panose="02040503050406030204" pitchFamily="18" charset="0"/>
                                </a:rPr>
                                <m:t>𝑒</m:t>
                              </m:r>
                            </m:e>
                            <m:sup>
                              <m:r>
                                <a:rPr lang="it-IT" i="1">
                                  <a:latin typeface="Cambria Math" panose="02040503050406030204" pitchFamily="18" charset="0"/>
                                </a:rPr>
                                <m:t>−</m:t>
                              </m:r>
                              <m:r>
                                <a:rPr lang="it-IT" i="1">
                                  <a:latin typeface="Cambria Math" panose="02040503050406030204" pitchFamily="18" charset="0"/>
                                </a:rPr>
                                <m:t>𝑥</m:t>
                              </m:r>
                            </m:sup>
                          </m:sSup>
                        </m:den>
                      </m:f>
                    </m:oMath>
                  </m:oMathPara>
                </a14:m>
                <a:endParaRPr lang="en-GB" dirty="0"/>
              </a:p>
            </p:txBody>
          </p:sp>
        </mc:Choice>
        <mc:Fallback xmlns="">
          <p:sp>
            <p:nvSpPr>
              <p:cNvPr id="28" name="CasellaDiTesto 27">
                <a:extLst>
                  <a:ext uri="{FF2B5EF4-FFF2-40B4-BE49-F238E27FC236}">
                    <a16:creationId xmlns:a16="http://schemas.microsoft.com/office/drawing/2014/main" id="{EEC1DB8E-115F-4A72-809B-8A54F93258E5}"/>
                  </a:ext>
                </a:extLst>
              </p:cNvPr>
              <p:cNvSpPr txBox="1">
                <a:spLocks noRot="1" noChangeAspect="1" noMove="1" noResize="1" noEditPoints="1" noAdjustHandles="1" noChangeArrowheads="1" noChangeShapeType="1" noTextEdit="1"/>
              </p:cNvSpPr>
              <p:nvPr/>
            </p:nvSpPr>
            <p:spPr>
              <a:xfrm>
                <a:off x="8255832" y="3166492"/>
                <a:ext cx="1575047" cy="525016"/>
              </a:xfrm>
              <a:prstGeom prst="rect">
                <a:avLst/>
              </a:prstGeom>
              <a:blipFill>
                <a:blip r:embed="rId9"/>
                <a:stretch>
                  <a:fillRect l="-4000" t="-2326" b="-9302"/>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9" name="CasellaDiTesto 28">
                <a:extLst>
                  <a:ext uri="{FF2B5EF4-FFF2-40B4-BE49-F238E27FC236}">
                    <a16:creationId xmlns:a16="http://schemas.microsoft.com/office/drawing/2014/main" id="{DFD0A19B-B774-4BFA-9C14-ED901ED2E0F1}"/>
                  </a:ext>
                </a:extLst>
              </p:cNvPr>
              <p:cNvSpPr txBox="1"/>
              <p:nvPr/>
            </p:nvSpPr>
            <p:spPr>
              <a:xfrm>
                <a:off x="2362310" y="6067222"/>
                <a:ext cx="1691745" cy="5378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a:latin typeface="Cambria Math" panose="02040503050406030204" pitchFamily="18" charset="0"/>
                        </a:rPr>
                        <m:t>𝑓</m:t>
                      </m:r>
                      <m:d>
                        <m:dPr>
                          <m:ctrlPr>
                            <a:rPr lang="it-IT" i="1">
                              <a:latin typeface="Cambria Math" panose="02040503050406030204" pitchFamily="18" charset="0"/>
                            </a:rPr>
                          </m:ctrlPr>
                        </m:dPr>
                        <m:e>
                          <m:r>
                            <a:rPr lang="it-IT" i="1">
                              <a:latin typeface="Cambria Math" panose="02040503050406030204" pitchFamily="18" charset="0"/>
                            </a:rPr>
                            <m:t>𝑥</m:t>
                          </m:r>
                        </m:e>
                      </m:d>
                      <m:r>
                        <a:rPr lang="it-IT" i="1">
                          <a:latin typeface="Cambria Math" panose="02040503050406030204" pitchFamily="18" charset="0"/>
                        </a:rPr>
                        <m:t>=</m:t>
                      </m:r>
                      <m:f>
                        <m:fPr>
                          <m:ctrlPr>
                            <a:rPr lang="it-IT" i="1">
                              <a:latin typeface="Cambria Math" panose="02040503050406030204" pitchFamily="18" charset="0"/>
                            </a:rPr>
                          </m:ctrlPr>
                        </m:fPr>
                        <m:num>
                          <m:sSup>
                            <m:sSupPr>
                              <m:ctrlPr>
                                <a:rPr lang="it-IT" i="1">
                                  <a:latin typeface="Cambria Math" panose="02040503050406030204" pitchFamily="18" charset="0"/>
                                </a:rPr>
                              </m:ctrlPr>
                            </m:sSupPr>
                            <m:e>
                              <m:r>
                                <a:rPr lang="it-IT" i="1">
                                  <a:latin typeface="Cambria Math" panose="02040503050406030204" pitchFamily="18" charset="0"/>
                                </a:rPr>
                                <m:t>𝑒</m:t>
                              </m:r>
                            </m:e>
                            <m:sup>
                              <m:r>
                                <a:rPr lang="it-IT" i="1">
                                  <a:latin typeface="Cambria Math" panose="02040503050406030204" pitchFamily="18" charset="0"/>
                                </a:rPr>
                                <m:t>𝑥</m:t>
                              </m:r>
                            </m:sup>
                          </m:sSup>
                          <m:r>
                            <a:rPr lang="it-IT" i="1">
                              <a:latin typeface="Cambria Math" panose="02040503050406030204" pitchFamily="18" charset="0"/>
                            </a:rPr>
                            <m:t>−</m:t>
                          </m:r>
                          <m:sSup>
                            <m:sSupPr>
                              <m:ctrlPr>
                                <a:rPr lang="it-IT" i="1">
                                  <a:latin typeface="Cambria Math" panose="02040503050406030204" pitchFamily="18" charset="0"/>
                                </a:rPr>
                              </m:ctrlPr>
                            </m:sSupPr>
                            <m:e>
                              <m:r>
                                <a:rPr lang="it-IT" i="1">
                                  <a:latin typeface="Cambria Math" panose="02040503050406030204" pitchFamily="18" charset="0"/>
                                </a:rPr>
                                <m:t>𝑒</m:t>
                              </m:r>
                            </m:e>
                            <m:sup>
                              <m:r>
                                <a:rPr lang="it-IT" i="1">
                                  <a:latin typeface="Cambria Math" panose="02040503050406030204" pitchFamily="18" charset="0"/>
                                </a:rPr>
                                <m:t>−</m:t>
                              </m:r>
                              <m:r>
                                <a:rPr lang="it-IT" i="1">
                                  <a:latin typeface="Cambria Math" panose="02040503050406030204" pitchFamily="18" charset="0"/>
                                </a:rPr>
                                <m:t>𝑥</m:t>
                              </m:r>
                            </m:sup>
                          </m:sSup>
                        </m:num>
                        <m:den>
                          <m:sSup>
                            <m:sSupPr>
                              <m:ctrlPr>
                                <a:rPr lang="it-IT" i="1">
                                  <a:latin typeface="Cambria Math" panose="02040503050406030204" pitchFamily="18" charset="0"/>
                                </a:rPr>
                              </m:ctrlPr>
                            </m:sSupPr>
                            <m:e>
                              <m:r>
                                <a:rPr lang="it-IT" i="1">
                                  <a:latin typeface="Cambria Math" panose="02040503050406030204" pitchFamily="18" charset="0"/>
                                </a:rPr>
                                <m:t>𝑒</m:t>
                              </m:r>
                            </m:e>
                            <m:sup>
                              <m:r>
                                <a:rPr lang="it-IT" i="1">
                                  <a:latin typeface="Cambria Math" panose="02040503050406030204" pitchFamily="18" charset="0"/>
                                </a:rPr>
                                <m:t>𝑥</m:t>
                              </m:r>
                            </m:sup>
                          </m:sSup>
                          <m:r>
                            <a:rPr lang="it-IT" i="1">
                              <a:latin typeface="Cambria Math" panose="02040503050406030204" pitchFamily="18" charset="0"/>
                            </a:rPr>
                            <m:t>+</m:t>
                          </m:r>
                          <m:sSup>
                            <m:sSupPr>
                              <m:ctrlPr>
                                <a:rPr lang="it-IT" i="1">
                                  <a:latin typeface="Cambria Math" panose="02040503050406030204" pitchFamily="18" charset="0"/>
                                </a:rPr>
                              </m:ctrlPr>
                            </m:sSupPr>
                            <m:e>
                              <m:r>
                                <a:rPr lang="it-IT" i="1">
                                  <a:latin typeface="Cambria Math" panose="02040503050406030204" pitchFamily="18" charset="0"/>
                                </a:rPr>
                                <m:t>𝑒</m:t>
                              </m:r>
                            </m:e>
                            <m:sup>
                              <m:r>
                                <a:rPr lang="it-IT" i="1">
                                  <a:latin typeface="Cambria Math" panose="02040503050406030204" pitchFamily="18" charset="0"/>
                                </a:rPr>
                                <m:t>−</m:t>
                              </m:r>
                              <m:r>
                                <a:rPr lang="it-IT" i="1">
                                  <a:latin typeface="Cambria Math" panose="02040503050406030204" pitchFamily="18" charset="0"/>
                                </a:rPr>
                                <m:t>𝑥</m:t>
                              </m:r>
                            </m:sup>
                          </m:sSup>
                        </m:den>
                      </m:f>
                    </m:oMath>
                  </m:oMathPara>
                </a14:m>
                <a:endParaRPr lang="en-GB" dirty="0"/>
              </a:p>
            </p:txBody>
          </p:sp>
        </mc:Choice>
        <mc:Fallback xmlns="">
          <p:sp>
            <p:nvSpPr>
              <p:cNvPr id="29" name="CasellaDiTesto 28">
                <a:extLst>
                  <a:ext uri="{FF2B5EF4-FFF2-40B4-BE49-F238E27FC236}">
                    <a16:creationId xmlns:a16="http://schemas.microsoft.com/office/drawing/2014/main" id="{DFD0A19B-B774-4BFA-9C14-ED901ED2E0F1}"/>
                  </a:ext>
                </a:extLst>
              </p:cNvPr>
              <p:cNvSpPr txBox="1">
                <a:spLocks noRot="1" noChangeAspect="1" noMove="1" noResize="1" noEditPoints="1" noAdjustHandles="1" noChangeArrowheads="1" noChangeShapeType="1" noTextEdit="1"/>
              </p:cNvSpPr>
              <p:nvPr/>
            </p:nvSpPr>
            <p:spPr>
              <a:xfrm>
                <a:off x="2362310" y="6067222"/>
                <a:ext cx="1691745" cy="537840"/>
              </a:xfrm>
              <a:prstGeom prst="rect">
                <a:avLst/>
              </a:prstGeom>
              <a:blipFill>
                <a:blip r:embed="rId10"/>
                <a:stretch>
                  <a:fillRect l="-3731" b="-9302"/>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1" name="CasellaDiTesto 30">
                <a:extLst>
                  <a:ext uri="{FF2B5EF4-FFF2-40B4-BE49-F238E27FC236}">
                    <a16:creationId xmlns:a16="http://schemas.microsoft.com/office/drawing/2014/main" id="{FFF67EFE-A569-4520-BDF4-3C2446EF63D4}"/>
                  </a:ext>
                </a:extLst>
              </p:cNvPr>
              <p:cNvSpPr txBox="1"/>
              <p:nvPr/>
            </p:nvSpPr>
            <p:spPr>
              <a:xfrm>
                <a:off x="5056196" y="6098501"/>
                <a:ext cx="2778068" cy="6178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a:latin typeface="Cambria Math" panose="02040503050406030204" pitchFamily="18" charset="0"/>
                        </a:rPr>
                        <m:t>𝑓</m:t>
                      </m:r>
                      <m:d>
                        <m:dPr>
                          <m:ctrlPr>
                            <a:rPr lang="it-IT" i="1">
                              <a:latin typeface="Cambria Math" panose="02040503050406030204" pitchFamily="18" charset="0"/>
                            </a:rPr>
                          </m:ctrlPr>
                        </m:dPr>
                        <m:e>
                          <m:r>
                            <a:rPr lang="it-IT" i="1">
                              <a:latin typeface="Cambria Math" panose="02040503050406030204" pitchFamily="18" charset="0"/>
                            </a:rPr>
                            <m:t>𝑥</m:t>
                          </m:r>
                        </m:e>
                      </m:d>
                      <m:r>
                        <a:rPr lang="it-IT" i="1">
                          <a:latin typeface="Cambria Math" panose="02040503050406030204" pitchFamily="18" charset="0"/>
                        </a:rPr>
                        <m:t>=</m:t>
                      </m:r>
                      <m:d>
                        <m:dPr>
                          <m:begChr m:val="{"/>
                          <m:endChr m:val=""/>
                          <m:ctrlPr>
                            <a:rPr lang="it-IT" i="1">
                              <a:latin typeface="Cambria Math" panose="02040503050406030204" pitchFamily="18" charset="0"/>
                            </a:rPr>
                          </m:ctrlPr>
                        </m:dPr>
                        <m:e>
                          <m:m>
                            <m:mPr>
                              <m:mcs>
                                <m:mc>
                                  <m:mcPr>
                                    <m:count m:val="1"/>
                                    <m:mcJc m:val="center"/>
                                  </m:mcPr>
                                </m:mc>
                              </m:mcs>
                              <m:ctrlPr>
                                <a:rPr lang="it-IT" i="1">
                                  <a:latin typeface="Cambria Math" panose="02040503050406030204" pitchFamily="18" charset="0"/>
                                </a:rPr>
                              </m:ctrlPr>
                            </m:mPr>
                            <m:mr>
                              <m:e>
                                <m:r>
                                  <m:rPr>
                                    <m:brk m:alnAt="7"/>
                                  </m:rPr>
                                  <a:rPr lang="it-IT" i="1">
                                    <a:latin typeface="Cambria Math" panose="02040503050406030204" pitchFamily="18" charset="0"/>
                                  </a:rPr>
                                  <m:t>0</m:t>
                                </m:r>
                                <m:r>
                                  <a:rPr lang="it-IT" i="1">
                                    <a:latin typeface="Cambria Math" panose="02040503050406030204" pitchFamily="18" charset="0"/>
                                  </a:rPr>
                                  <m:t> (</m:t>
                                </m:r>
                                <m:r>
                                  <a:rPr lang="it-IT" i="1">
                                    <a:latin typeface="Cambria Math" panose="02040503050406030204" pitchFamily="18" charset="0"/>
                                  </a:rPr>
                                  <m:t>𝑜𝑟</m:t>
                                </m:r>
                                <m:r>
                                  <a:rPr lang="it-IT" i="1">
                                    <a:latin typeface="Cambria Math" panose="02040503050406030204" pitchFamily="18" charset="0"/>
                                  </a:rPr>
                                  <m:t> </m:t>
                                </m:r>
                                <m:r>
                                  <a:rPr lang="it-IT" i="1">
                                    <a:latin typeface="Cambria Math" panose="02040503050406030204" pitchFamily="18" charset="0"/>
                                  </a:rPr>
                                  <m:t>𝜖</m:t>
                                </m:r>
                                <m:r>
                                  <a:rPr lang="it-IT" i="1">
                                    <a:latin typeface="Cambria Math" panose="02040503050406030204" pitchFamily="18" charset="0"/>
                                  </a:rPr>
                                  <m:t>) </m:t>
                                </m:r>
                                <m:r>
                                  <a:rPr lang="it-IT" i="1">
                                    <a:latin typeface="Cambria Math" panose="02040503050406030204" pitchFamily="18" charset="0"/>
                                  </a:rPr>
                                  <m:t>𝑓𝑜𝑟</m:t>
                                </m:r>
                                <m:r>
                                  <a:rPr lang="it-IT" i="1">
                                    <a:latin typeface="Cambria Math" panose="02040503050406030204" pitchFamily="18" charset="0"/>
                                  </a:rPr>
                                  <m:t> </m:t>
                                </m:r>
                                <m:r>
                                  <a:rPr lang="it-IT" i="1">
                                    <a:latin typeface="Cambria Math" panose="02040503050406030204" pitchFamily="18" charset="0"/>
                                  </a:rPr>
                                  <m:t>𝑥</m:t>
                                </m:r>
                                <m:r>
                                  <a:rPr lang="it-IT" i="1">
                                    <a:latin typeface="Cambria Math" panose="02040503050406030204" pitchFamily="18" charset="0"/>
                                  </a:rPr>
                                  <m:t>&lt;0</m:t>
                                </m:r>
                              </m:e>
                            </m:mr>
                            <m:mr>
                              <m:e>
                                <m:r>
                                  <a:rPr lang="it-IT" i="1">
                                    <a:latin typeface="Cambria Math" panose="02040503050406030204" pitchFamily="18" charset="0"/>
                                  </a:rPr>
                                  <m:t>𝑥</m:t>
                                </m:r>
                                <m:r>
                                  <a:rPr lang="it-IT" i="1">
                                    <a:latin typeface="Cambria Math" panose="02040503050406030204" pitchFamily="18" charset="0"/>
                                  </a:rPr>
                                  <m:t>             </m:t>
                                </m:r>
                                <m:r>
                                  <a:rPr lang="it-IT" i="1">
                                    <a:latin typeface="Cambria Math" panose="02040503050406030204" pitchFamily="18" charset="0"/>
                                  </a:rPr>
                                  <m:t>𝑓𝑜𝑟</m:t>
                                </m:r>
                                <m:r>
                                  <a:rPr lang="it-IT" i="1">
                                    <a:latin typeface="Cambria Math" panose="02040503050406030204" pitchFamily="18" charset="0"/>
                                  </a:rPr>
                                  <m:t> </m:t>
                                </m:r>
                                <m:r>
                                  <a:rPr lang="it-IT" i="1">
                                    <a:latin typeface="Cambria Math" panose="02040503050406030204" pitchFamily="18" charset="0"/>
                                  </a:rPr>
                                  <m:t>𝑥</m:t>
                                </m:r>
                                <m:r>
                                  <a:rPr lang="it-IT" i="1">
                                    <a:latin typeface="Cambria Math" panose="02040503050406030204" pitchFamily="18" charset="0"/>
                                    <a:ea typeface="Cambria Math" panose="02040503050406030204" pitchFamily="18" charset="0"/>
                                  </a:rPr>
                                  <m:t>≥0</m:t>
                                </m:r>
                              </m:e>
                            </m:mr>
                          </m:m>
                        </m:e>
                      </m:d>
                    </m:oMath>
                  </m:oMathPara>
                </a14:m>
                <a:endParaRPr lang="en-GB" dirty="0"/>
              </a:p>
            </p:txBody>
          </p:sp>
        </mc:Choice>
        <mc:Fallback xmlns="">
          <p:sp>
            <p:nvSpPr>
              <p:cNvPr id="31" name="CasellaDiTesto 30">
                <a:extLst>
                  <a:ext uri="{FF2B5EF4-FFF2-40B4-BE49-F238E27FC236}">
                    <a16:creationId xmlns:a16="http://schemas.microsoft.com/office/drawing/2014/main" id="{FFF67EFE-A569-4520-BDF4-3C2446EF63D4}"/>
                  </a:ext>
                </a:extLst>
              </p:cNvPr>
              <p:cNvSpPr txBox="1">
                <a:spLocks noRot="1" noChangeAspect="1" noMove="1" noResize="1" noEditPoints="1" noAdjustHandles="1" noChangeArrowheads="1" noChangeShapeType="1" noTextEdit="1"/>
              </p:cNvSpPr>
              <p:nvPr/>
            </p:nvSpPr>
            <p:spPr>
              <a:xfrm>
                <a:off x="5056196" y="6098501"/>
                <a:ext cx="2778068" cy="617861"/>
              </a:xfrm>
              <a:prstGeom prst="rect">
                <a:avLst/>
              </a:prstGeom>
              <a:blipFill>
                <a:blip r:embed="rId11"/>
                <a:stretch>
                  <a:fillRect l="-12273" t="-228571" b="-328571"/>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2" name="CasellaDiTesto 31">
                <a:extLst>
                  <a:ext uri="{FF2B5EF4-FFF2-40B4-BE49-F238E27FC236}">
                    <a16:creationId xmlns:a16="http://schemas.microsoft.com/office/drawing/2014/main" id="{4D2D60DA-83FD-403E-8253-4B7A37F2AC08}"/>
                  </a:ext>
                </a:extLst>
              </p:cNvPr>
              <p:cNvSpPr txBox="1"/>
              <p:nvPr/>
            </p:nvSpPr>
            <p:spPr>
              <a:xfrm>
                <a:off x="8027512" y="4626168"/>
                <a:ext cx="2378793" cy="9376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2800" i="1">
                          <a:latin typeface="Cambria Math" panose="02040503050406030204" pitchFamily="18" charset="0"/>
                        </a:rPr>
                        <m:t>𝑓</m:t>
                      </m:r>
                      <m:d>
                        <m:dPr>
                          <m:ctrlPr>
                            <a:rPr lang="it-IT" sz="2800" i="1">
                              <a:latin typeface="Cambria Math" panose="02040503050406030204" pitchFamily="18" charset="0"/>
                            </a:rPr>
                          </m:ctrlPr>
                        </m:dPr>
                        <m:e>
                          <m:sSub>
                            <m:sSubPr>
                              <m:ctrlPr>
                                <a:rPr lang="it-IT" sz="2800" i="1">
                                  <a:latin typeface="Cambria Math" panose="02040503050406030204" pitchFamily="18" charset="0"/>
                                </a:rPr>
                              </m:ctrlPr>
                            </m:sSubPr>
                            <m:e>
                              <m:r>
                                <a:rPr lang="it-IT" sz="2800" i="1">
                                  <a:latin typeface="Cambria Math" panose="02040503050406030204" pitchFamily="18" charset="0"/>
                                </a:rPr>
                                <m:t>𝑥</m:t>
                              </m:r>
                            </m:e>
                            <m:sub>
                              <m:r>
                                <a:rPr lang="it-IT" sz="2800" i="1">
                                  <a:latin typeface="Cambria Math" panose="02040503050406030204" pitchFamily="18" charset="0"/>
                                </a:rPr>
                                <m:t>𝑗</m:t>
                              </m:r>
                            </m:sub>
                          </m:sSub>
                        </m:e>
                      </m:d>
                      <m:r>
                        <a:rPr lang="it-IT" sz="2800" i="1">
                          <a:latin typeface="Cambria Math" panose="02040503050406030204" pitchFamily="18" charset="0"/>
                        </a:rPr>
                        <m:t>=</m:t>
                      </m:r>
                      <m:f>
                        <m:fPr>
                          <m:ctrlPr>
                            <a:rPr lang="it-IT" sz="2800" i="1">
                              <a:latin typeface="Cambria Math" panose="02040503050406030204" pitchFamily="18" charset="0"/>
                            </a:rPr>
                          </m:ctrlPr>
                        </m:fPr>
                        <m:num>
                          <m:sSup>
                            <m:sSupPr>
                              <m:ctrlPr>
                                <a:rPr lang="it-IT" sz="2800" i="1">
                                  <a:latin typeface="Cambria Math" panose="02040503050406030204" pitchFamily="18" charset="0"/>
                                </a:rPr>
                              </m:ctrlPr>
                            </m:sSupPr>
                            <m:e>
                              <m:r>
                                <a:rPr lang="it-IT" sz="2800" i="1">
                                  <a:latin typeface="Cambria Math" panose="02040503050406030204" pitchFamily="18" charset="0"/>
                                </a:rPr>
                                <m:t>𝑒</m:t>
                              </m:r>
                            </m:e>
                            <m:sup>
                              <m:sSub>
                                <m:sSubPr>
                                  <m:ctrlPr>
                                    <a:rPr lang="it-IT" sz="2800" i="1">
                                      <a:latin typeface="Cambria Math" panose="02040503050406030204" pitchFamily="18" charset="0"/>
                                    </a:rPr>
                                  </m:ctrlPr>
                                </m:sSubPr>
                                <m:e>
                                  <m:r>
                                    <a:rPr lang="it-IT" sz="2800" i="1">
                                      <a:latin typeface="Cambria Math" panose="02040503050406030204" pitchFamily="18" charset="0"/>
                                    </a:rPr>
                                    <m:t>𝑥</m:t>
                                  </m:r>
                                </m:e>
                                <m:sub>
                                  <m:r>
                                    <a:rPr lang="it-IT" sz="2800" i="1">
                                      <a:latin typeface="Cambria Math" panose="02040503050406030204" pitchFamily="18" charset="0"/>
                                    </a:rPr>
                                    <m:t>𝑗</m:t>
                                  </m:r>
                                </m:sub>
                              </m:sSub>
                            </m:sup>
                          </m:sSup>
                        </m:num>
                        <m:den>
                          <m:nary>
                            <m:naryPr>
                              <m:chr m:val="∑"/>
                              <m:supHide m:val="on"/>
                              <m:ctrlPr>
                                <a:rPr lang="it-IT" sz="2800" i="1">
                                  <a:latin typeface="Cambria Math" panose="02040503050406030204" pitchFamily="18" charset="0"/>
                                </a:rPr>
                              </m:ctrlPr>
                            </m:naryPr>
                            <m:sub>
                              <m:r>
                                <a:rPr lang="it-IT" sz="2800" i="1">
                                  <a:latin typeface="Cambria Math" panose="02040503050406030204" pitchFamily="18" charset="0"/>
                                </a:rPr>
                                <m:t>𝑘</m:t>
                              </m:r>
                            </m:sub>
                            <m:sup/>
                            <m:e>
                              <m:sSup>
                                <m:sSupPr>
                                  <m:ctrlPr>
                                    <a:rPr lang="it-IT" sz="2800" i="1">
                                      <a:latin typeface="Cambria Math" panose="02040503050406030204" pitchFamily="18" charset="0"/>
                                    </a:rPr>
                                  </m:ctrlPr>
                                </m:sSupPr>
                                <m:e>
                                  <m:r>
                                    <a:rPr lang="it-IT" sz="2800" i="1">
                                      <a:latin typeface="Cambria Math" panose="02040503050406030204" pitchFamily="18" charset="0"/>
                                    </a:rPr>
                                    <m:t>𝑒</m:t>
                                  </m:r>
                                </m:e>
                                <m:sup>
                                  <m:sSub>
                                    <m:sSubPr>
                                      <m:ctrlPr>
                                        <a:rPr lang="it-IT" sz="2800" i="1">
                                          <a:latin typeface="Cambria Math" panose="02040503050406030204" pitchFamily="18" charset="0"/>
                                        </a:rPr>
                                      </m:ctrlPr>
                                    </m:sSubPr>
                                    <m:e>
                                      <m:r>
                                        <a:rPr lang="it-IT" sz="2800" i="1">
                                          <a:latin typeface="Cambria Math" panose="02040503050406030204" pitchFamily="18" charset="0"/>
                                        </a:rPr>
                                        <m:t>𝑥</m:t>
                                      </m:r>
                                    </m:e>
                                    <m:sub>
                                      <m:r>
                                        <a:rPr lang="it-IT" sz="2800" i="1">
                                          <a:latin typeface="Cambria Math" panose="02040503050406030204" pitchFamily="18" charset="0"/>
                                        </a:rPr>
                                        <m:t>𝑘</m:t>
                                      </m:r>
                                    </m:sub>
                                  </m:sSub>
                                </m:sup>
                              </m:sSup>
                            </m:e>
                          </m:nary>
                        </m:den>
                      </m:f>
                    </m:oMath>
                  </m:oMathPara>
                </a14:m>
                <a:endParaRPr lang="en-GB" sz="2800" dirty="0"/>
              </a:p>
            </p:txBody>
          </p:sp>
        </mc:Choice>
        <mc:Fallback xmlns="">
          <p:sp>
            <p:nvSpPr>
              <p:cNvPr id="32" name="CasellaDiTesto 31">
                <a:extLst>
                  <a:ext uri="{FF2B5EF4-FFF2-40B4-BE49-F238E27FC236}">
                    <a16:creationId xmlns:a16="http://schemas.microsoft.com/office/drawing/2014/main" id="{4D2D60DA-83FD-403E-8253-4B7A37F2AC08}"/>
                  </a:ext>
                </a:extLst>
              </p:cNvPr>
              <p:cNvSpPr txBox="1">
                <a:spLocks noRot="1" noChangeAspect="1" noMove="1" noResize="1" noEditPoints="1" noAdjustHandles="1" noChangeArrowheads="1" noChangeShapeType="1" noTextEdit="1"/>
              </p:cNvSpPr>
              <p:nvPr/>
            </p:nvSpPr>
            <p:spPr>
              <a:xfrm>
                <a:off x="8027512" y="4626168"/>
                <a:ext cx="2378793" cy="937693"/>
              </a:xfrm>
              <a:prstGeom prst="rect">
                <a:avLst/>
              </a:prstGeom>
              <a:blipFill>
                <a:blip r:embed="rId12"/>
                <a:stretch>
                  <a:fillRect l="-4255" t="-22667" b="-112000"/>
                </a:stretch>
              </a:blipFill>
            </p:spPr>
            <p:txBody>
              <a:bodyPr/>
              <a:lstStyle/>
              <a:p>
                <a:r>
                  <a:rPr lang="it-IT">
                    <a:noFill/>
                  </a:rPr>
                  <a:t> </a:t>
                </a:r>
              </a:p>
            </p:txBody>
          </p:sp>
        </mc:Fallback>
      </mc:AlternateContent>
      <p:sp>
        <p:nvSpPr>
          <p:cNvPr id="34" name="CasellaDiTesto 33">
            <a:extLst>
              <a:ext uri="{FF2B5EF4-FFF2-40B4-BE49-F238E27FC236}">
                <a16:creationId xmlns:a16="http://schemas.microsoft.com/office/drawing/2014/main" id="{05A3DA7B-2823-42D8-A897-F81DC8269455}"/>
              </a:ext>
            </a:extLst>
          </p:cNvPr>
          <p:cNvSpPr txBox="1"/>
          <p:nvPr/>
        </p:nvSpPr>
        <p:spPr>
          <a:xfrm>
            <a:off x="8304093" y="5729168"/>
            <a:ext cx="1825628" cy="369332"/>
          </a:xfrm>
          <a:prstGeom prst="rect">
            <a:avLst/>
          </a:prstGeom>
          <a:noFill/>
        </p:spPr>
        <p:txBody>
          <a:bodyPr wrap="none" rtlCol="0">
            <a:spAutoFit/>
          </a:bodyPr>
          <a:lstStyle/>
          <a:p>
            <a:r>
              <a:rPr lang="it-IT" dirty="0" err="1">
                <a:solidFill>
                  <a:schemeClr val="accent2"/>
                </a:solidFill>
              </a:rPr>
              <a:t>Softmax</a:t>
            </a:r>
            <a:r>
              <a:rPr lang="it-IT" dirty="0">
                <a:solidFill>
                  <a:schemeClr val="accent2"/>
                </a:solidFill>
              </a:rPr>
              <a:t> </a:t>
            </a:r>
            <a:r>
              <a:rPr lang="it-IT" dirty="0" err="1">
                <a:solidFill>
                  <a:schemeClr val="accent2"/>
                </a:solidFill>
              </a:rPr>
              <a:t>Function</a:t>
            </a:r>
            <a:endParaRPr lang="en-GB" dirty="0">
              <a:solidFill>
                <a:schemeClr val="accent2"/>
              </a:solidFill>
            </a:endParaRPr>
          </a:p>
        </p:txBody>
      </p:sp>
      <p:cxnSp>
        <p:nvCxnSpPr>
          <p:cNvPr id="36" name="Connettore 2 35">
            <a:extLst>
              <a:ext uri="{FF2B5EF4-FFF2-40B4-BE49-F238E27FC236}">
                <a16:creationId xmlns:a16="http://schemas.microsoft.com/office/drawing/2014/main" id="{6EA4EFC2-C9BF-427D-AC7F-BF5E09244FAD}"/>
              </a:ext>
            </a:extLst>
          </p:cNvPr>
          <p:cNvCxnSpPr>
            <a:cxnSpLocks/>
          </p:cNvCxnSpPr>
          <p:nvPr/>
        </p:nvCxnSpPr>
        <p:spPr>
          <a:xfrm flipV="1">
            <a:off x="10034010" y="1761157"/>
            <a:ext cx="0" cy="2752835"/>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697206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en-US" dirty="0"/>
              <a:t>Learning Multi-layer Neural Network</a:t>
            </a:r>
          </a:p>
        </p:txBody>
      </p:sp>
      <p:sp>
        <p:nvSpPr>
          <p:cNvPr id="16387" name="Rectangle 3"/>
          <p:cNvSpPr>
            <a:spLocks noGrp="1" noChangeArrowheads="1"/>
          </p:cNvSpPr>
          <p:nvPr>
            <p:ph type="body" idx="1"/>
          </p:nvPr>
        </p:nvSpPr>
        <p:spPr>
          <a:xfrm>
            <a:off x="838200" y="1825625"/>
            <a:ext cx="11011678" cy="4351338"/>
          </a:xfrm>
        </p:spPr>
        <p:txBody>
          <a:bodyPr/>
          <a:lstStyle/>
          <a:p>
            <a:pPr>
              <a:lnSpc>
                <a:spcPct val="90000"/>
              </a:lnSpc>
            </a:pPr>
            <a:r>
              <a:rPr lang="en-US" altLang="en-US" dirty="0"/>
              <a:t>Can we apply perceptron learning to each node, including hidden nodes?</a:t>
            </a:r>
          </a:p>
          <a:p>
            <a:r>
              <a:rPr lang="en-US" altLang="en-US" dirty="0"/>
              <a:t>Perceptron computes error </a:t>
            </a:r>
            <a:r>
              <a:rPr lang="en-US" altLang="en-US" i="1" dirty="0"/>
              <a:t>e = y-f(</a:t>
            </a:r>
            <a:r>
              <a:rPr lang="en-US" altLang="en-US" i="1" dirty="0" err="1"/>
              <a:t>w,x</a:t>
            </a:r>
            <a:r>
              <a:rPr lang="en-US" altLang="en-US" i="1" dirty="0"/>
              <a:t>) </a:t>
            </a:r>
            <a:r>
              <a:rPr lang="en-US" altLang="en-US" dirty="0"/>
              <a:t>and updates weights accordingly</a:t>
            </a:r>
          </a:p>
          <a:p>
            <a:r>
              <a:rPr lang="en-US" altLang="en-US" dirty="0"/>
              <a:t>Problem: how to determine the true value of </a:t>
            </a:r>
            <a:r>
              <a:rPr lang="en-US" altLang="en-US" i="1" dirty="0"/>
              <a:t>y</a:t>
            </a:r>
            <a:r>
              <a:rPr lang="en-US" altLang="en-US" dirty="0"/>
              <a:t> for hidden nodes?</a:t>
            </a:r>
          </a:p>
          <a:p>
            <a:r>
              <a:rPr lang="en-US" altLang="en-US" dirty="0"/>
              <a:t>Approximate error in hidden nodes by error in the output nodes</a:t>
            </a:r>
          </a:p>
          <a:p>
            <a:r>
              <a:rPr lang="en-US" altLang="en-US" dirty="0"/>
              <a:t>Problems: </a:t>
            </a:r>
          </a:p>
          <a:p>
            <a:pPr lvl="1"/>
            <a:r>
              <a:rPr lang="en-US" altLang="en-US" dirty="0"/>
              <a:t>Not clear how adjustment in the hidden nodes affect overall error </a:t>
            </a:r>
          </a:p>
          <a:p>
            <a:pPr lvl="1"/>
            <a:r>
              <a:rPr lang="en-US" altLang="en-US" dirty="0"/>
              <a:t>No guarantee of convergence to optimal solution</a:t>
            </a:r>
          </a:p>
        </p:txBody>
      </p:sp>
    </p:spTree>
    <p:extLst>
      <p:ext uri="{BB962C8B-B14F-4D97-AF65-F5344CB8AC3E}">
        <p14:creationId xmlns:p14="http://schemas.microsoft.com/office/powerpoint/2010/main" val="3471315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387">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387">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38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50482-D59E-B8A2-13C0-09EDE768DDC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BD1BD6F-C651-B520-1D3F-87A806CD4A79}"/>
              </a:ext>
            </a:extLst>
          </p:cNvPr>
          <p:cNvSpPr>
            <a:spLocks noGrp="1"/>
          </p:cNvSpPr>
          <p:nvPr>
            <p:ph type="title"/>
          </p:nvPr>
        </p:nvSpPr>
        <p:spPr/>
        <p:txBody>
          <a:bodyPr/>
          <a:lstStyle/>
          <a:p>
            <a:r>
              <a:rPr lang="it-IT" dirty="0"/>
              <a:t>The delta rule</a:t>
            </a:r>
          </a:p>
        </p:txBody>
      </p:sp>
      <p:sp>
        <p:nvSpPr>
          <p:cNvPr id="3" name="Segnaposto contenuto 2">
            <a:extLst>
              <a:ext uri="{FF2B5EF4-FFF2-40B4-BE49-F238E27FC236}">
                <a16:creationId xmlns:a16="http://schemas.microsoft.com/office/drawing/2014/main" id="{5AD5E3A4-7B45-EECF-C6F0-BDCA389640E3}"/>
              </a:ext>
            </a:extLst>
          </p:cNvPr>
          <p:cNvSpPr>
            <a:spLocks noGrp="1"/>
          </p:cNvSpPr>
          <p:nvPr>
            <p:ph idx="1"/>
          </p:nvPr>
        </p:nvSpPr>
        <p:spPr/>
        <p:txBody>
          <a:bodyPr/>
          <a:lstStyle/>
          <a:p>
            <a:endParaRPr lang="it-IT" dirty="0"/>
          </a:p>
        </p:txBody>
      </p:sp>
      <p:pic>
        <p:nvPicPr>
          <p:cNvPr id="5" name="Immagine 4">
            <a:extLst>
              <a:ext uri="{FF2B5EF4-FFF2-40B4-BE49-F238E27FC236}">
                <a16:creationId xmlns:a16="http://schemas.microsoft.com/office/drawing/2014/main" id="{020CF45E-DF93-AA7A-FB58-161D328FACF4}"/>
              </a:ext>
            </a:extLst>
          </p:cNvPr>
          <p:cNvPicPr>
            <a:picLocks noChangeAspect="1"/>
          </p:cNvPicPr>
          <p:nvPr/>
        </p:nvPicPr>
        <p:blipFill>
          <a:blip r:embed="rId2"/>
          <a:stretch>
            <a:fillRect/>
          </a:stretch>
        </p:blipFill>
        <p:spPr>
          <a:xfrm>
            <a:off x="838200" y="1733800"/>
            <a:ext cx="6384601" cy="4442211"/>
          </a:xfrm>
          <a:prstGeom prst="rect">
            <a:avLst/>
          </a:prstGeom>
        </p:spPr>
      </p:pic>
    </p:spTree>
    <p:extLst>
      <p:ext uri="{BB962C8B-B14F-4D97-AF65-F5344CB8AC3E}">
        <p14:creationId xmlns:p14="http://schemas.microsoft.com/office/powerpoint/2010/main" val="403953931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351A6-A9DA-C86D-1393-DF0837ABDA2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4B7912B-10EB-6BB8-8263-CEDE76A7C41B}"/>
              </a:ext>
            </a:extLst>
          </p:cNvPr>
          <p:cNvSpPr>
            <a:spLocks noGrp="1"/>
          </p:cNvSpPr>
          <p:nvPr>
            <p:ph type="title"/>
          </p:nvPr>
        </p:nvSpPr>
        <p:spPr/>
        <p:txBody>
          <a:bodyPr/>
          <a:lstStyle/>
          <a:p>
            <a:r>
              <a:rPr lang="it-IT" dirty="0"/>
              <a:t>The delta rule</a:t>
            </a:r>
          </a:p>
        </p:txBody>
      </p:sp>
      <p:sp>
        <p:nvSpPr>
          <p:cNvPr id="3" name="Segnaposto contenuto 2">
            <a:extLst>
              <a:ext uri="{FF2B5EF4-FFF2-40B4-BE49-F238E27FC236}">
                <a16:creationId xmlns:a16="http://schemas.microsoft.com/office/drawing/2014/main" id="{EDB3CCD3-7BC2-7A49-5956-3192FD78030B}"/>
              </a:ext>
            </a:extLst>
          </p:cNvPr>
          <p:cNvSpPr>
            <a:spLocks noGrp="1"/>
          </p:cNvSpPr>
          <p:nvPr>
            <p:ph idx="1"/>
          </p:nvPr>
        </p:nvSpPr>
        <p:spPr/>
        <p:txBody>
          <a:bodyPr/>
          <a:lstStyle/>
          <a:p>
            <a:endParaRPr lang="it-IT" dirty="0"/>
          </a:p>
        </p:txBody>
      </p:sp>
      <p:pic>
        <p:nvPicPr>
          <p:cNvPr id="4" name="Immagine 3">
            <a:extLst>
              <a:ext uri="{FF2B5EF4-FFF2-40B4-BE49-F238E27FC236}">
                <a16:creationId xmlns:a16="http://schemas.microsoft.com/office/drawing/2014/main" id="{9F01B5D7-1576-FBAF-F633-1A2351B61A7E}"/>
              </a:ext>
            </a:extLst>
          </p:cNvPr>
          <p:cNvPicPr>
            <a:picLocks noChangeAspect="1"/>
          </p:cNvPicPr>
          <p:nvPr/>
        </p:nvPicPr>
        <p:blipFill>
          <a:blip r:embed="rId2"/>
          <a:stretch>
            <a:fillRect/>
          </a:stretch>
        </p:blipFill>
        <p:spPr>
          <a:xfrm>
            <a:off x="838200" y="1822269"/>
            <a:ext cx="6156960" cy="4283825"/>
          </a:xfrm>
          <a:prstGeom prst="rect">
            <a:avLst/>
          </a:prstGeom>
        </p:spPr>
      </p:pic>
    </p:spTree>
    <p:extLst>
      <p:ext uri="{BB962C8B-B14F-4D97-AF65-F5344CB8AC3E}">
        <p14:creationId xmlns:p14="http://schemas.microsoft.com/office/powerpoint/2010/main" val="107762296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ltLang="en-US" dirty="0"/>
              <a:t>Gradient Descent for Multilayer NN</a:t>
            </a:r>
          </a:p>
        </p:txBody>
      </p:sp>
      <p:sp>
        <p:nvSpPr>
          <p:cNvPr id="17411" name="Rectangle 3"/>
          <p:cNvSpPr>
            <a:spLocks noGrp="1" noChangeArrowheads="1"/>
          </p:cNvSpPr>
          <p:nvPr>
            <p:ph type="body" idx="1"/>
          </p:nvPr>
        </p:nvSpPr>
        <p:spPr/>
        <p:txBody>
          <a:bodyPr>
            <a:normAutofit fontScale="92500" lnSpcReduction="10000"/>
          </a:bodyPr>
          <a:lstStyle/>
          <a:p>
            <a:r>
              <a:rPr lang="en-US" altLang="en-US" dirty="0"/>
              <a:t>Error function to minimize:</a:t>
            </a:r>
          </a:p>
          <a:p>
            <a:pPr>
              <a:lnSpc>
                <a:spcPct val="90000"/>
              </a:lnSpc>
            </a:pPr>
            <a:endParaRPr lang="en-US" altLang="en-US" dirty="0"/>
          </a:p>
          <a:p>
            <a:pPr>
              <a:lnSpc>
                <a:spcPct val="90000"/>
              </a:lnSpc>
            </a:pPr>
            <a:r>
              <a:rPr lang="en-US" altLang="en-US" dirty="0"/>
              <a:t>Weight update:</a:t>
            </a:r>
          </a:p>
          <a:p>
            <a:pPr marL="0" indent="0">
              <a:lnSpc>
                <a:spcPct val="90000"/>
              </a:lnSpc>
              <a:buNone/>
            </a:pPr>
            <a:endParaRPr lang="en-US" altLang="en-US" dirty="0"/>
          </a:p>
          <a:p>
            <a:pPr>
              <a:lnSpc>
                <a:spcPct val="90000"/>
              </a:lnSpc>
            </a:pPr>
            <a:r>
              <a:rPr lang="en-US" altLang="en-US" dirty="0"/>
              <a:t>Activation function </a:t>
            </a:r>
            <a:r>
              <a:rPr lang="en-US" altLang="en-US" i="1" dirty="0"/>
              <a:t>f</a:t>
            </a:r>
            <a:r>
              <a:rPr lang="en-US" altLang="en-US" dirty="0"/>
              <a:t> must be differentiable</a:t>
            </a:r>
          </a:p>
          <a:p>
            <a:pPr>
              <a:lnSpc>
                <a:spcPct val="90000"/>
              </a:lnSpc>
            </a:pPr>
            <a:endParaRPr lang="en-US" altLang="en-US" dirty="0"/>
          </a:p>
          <a:p>
            <a:pPr>
              <a:lnSpc>
                <a:spcPct val="90000"/>
              </a:lnSpc>
            </a:pPr>
            <a:r>
              <a:rPr lang="en-US" altLang="en-US" dirty="0"/>
              <a:t>For sigmoid function:</a:t>
            </a:r>
          </a:p>
          <a:p>
            <a:pPr lvl="1">
              <a:lnSpc>
                <a:spcPct val="90000"/>
              </a:lnSpc>
            </a:pPr>
            <a:endParaRPr lang="en-US" altLang="en-US" dirty="0"/>
          </a:p>
          <a:p>
            <a:pPr>
              <a:lnSpc>
                <a:spcPct val="90000"/>
              </a:lnSpc>
            </a:pPr>
            <a:endParaRPr lang="en-US" altLang="en-US" dirty="0"/>
          </a:p>
          <a:p>
            <a:pPr>
              <a:lnSpc>
                <a:spcPct val="90000"/>
              </a:lnSpc>
            </a:pPr>
            <a:r>
              <a:rPr lang="en-US" altLang="en-US" dirty="0"/>
              <a:t>Stochastic Gradient Descent (update the weight immediately)</a:t>
            </a:r>
          </a:p>
        </p:txBody>
      </p:sp>
      <p:graphicFrame>
        <p:nvGraphicFramePr>
          <p:cNvPr id="17412" name="Object 2"/>
          <p:cNvGraphicFramePr>
            <a:graphicFrameLocks noGrp="1" noChangeAspect="1"/>
          </p:cNvGraphicFramePr>
          <p:nvPr>
            <p:ph sz="half" idx="4294967295"/>
          </p:nvPr>
        </p:nvGraphicFramePr>
        <p:xfrm>
          <a:off x="3314700" y="2472064"/>
          <a:ext cx="2895600" cy="1001713"/>
        </p:xfrm>
        <a:graphic>
          <a:graphicData uri="http://schemas.openxmlformats.org/presentationml/2006/ole">
            <mc:AlternateContent xmlns:mc="http://schemas.openxmlformats.org/markup-compatibility/2006">
              <mc:Choice xmlns:v="urn:schemas-microsoft-com:vml" Requires="v">
                <p:oleObj name="Equation" r:id="rId3" imgW="1282700" imgH="444500" progId="Equation.3">
                  <p:embed/>
                </p:oleObj>
              </mc:Choice>
              <mc:Fallback>
                <p:oleObj name="Equation" r:id="rId3" imgW="1282700" imgH="444500" progId="Equation.3">
                  <p:embed/>
                  <p:pic>
                    <p:nvPicPr>
                      <p:cNvPr id="1741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4700" y="2472064"/>
                        <a:ext cx="2895600" cy="1001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13" name="Object 3"/>
          <p:cNvGraphicFramePr>
            <a:graphicFrameLocks noGrp="1" noChangeAspect="1"/>
          </p:cNvGraphicFramePr>
          <p:nvPr>
            <p:ph sz="half" idx="4294967295"/>
          </p:nvPr>
        </p:nvGraphicFramePr>
        <p:xfrm>
          <a:off x="4831701" y="1551618"/>
          <a:ext cx="3429000" cy="993775"/>
        </p:xfrm>
        <a:graphic>
          <a:graphicData uri="http://schemas.openxmlformats.org/presentationml/2006/ole">
            <mc:AlternateContent xmlns:mc="http://schemas.openxmlformats.org/markup-compatibility/2006">
              <mc:Choice xmlns:v="urn:schemas-microsoft-com:vml" Requires="v">
                <p:oleObj name="Equation" r:id="rId5" imgW="1663700" imgH="482600" progId="Equation.3">
                  <p:embed/>
                </p:oleObj>
              </mc:Choice>
              <mc:Fallback>
                <p:oleObj name="Equation" r:id="rId5" imgW="1663700" imgH="482600" progId="Equation.3">
                  <p:embed/>
                  <p:pic>
                    <p:nvPicPr>
                      <p:cNvPr id="17413"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31701" y="1551618"/>
                        <a:ext cx="3429000" cy="993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14" name="Object 4"/>
          <p:cNvGraphicFramePr>
            <a:graphicFrameLocks noGrp="1" noChangeAspect="1"/>
          </p:cNvGraphicFramePr>
          <p:nvPr>
            <p:ph sz="quarter" idx="4294967295"/>
          </p:nvPr>
        </p:nvGraphicFramePr>
        <p:xfrm>
          <a:off x="4284306" y="4397044"/>
          <a:ext cx="4953000" cy="742950"/>
        </p:xfrm>
        <a:graphic>
          <a:graphicData uri="http://schemas.openxmlformats.org/presentationml/2006/ole">
            <mc:AlternateContent xmlns:mc="http://schemas.openxmlformats.org/markup-compatibility/2006">
              <mc:Choice xmlns:v="urn:schemas-microsoft-com:vml" Requires="v">
                <p:oleObj name="Equation" r:id="rId7" imgW="2298700" imgH="342900" progId="Equation.3">
                  <p:embed/>
                </p:oleObj>
              </mc:Choice>
              <mc:Fallback>
                <p:oleObj name="Equation" r:id="rId7" imgW="2298700" imgH="342900" progId="Equation.3">
                  <p:embed/>
                  <p:pic>
                    <p:nvPicPr>
                      <p:cNvPr id="17414"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84306" y="4397044"/>
                        <a:ext cx="4953000" cy="74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CasellaDiTesto 1">
            <a:extLst>
              <a:ext uri="{FF2B5EF4-FFF2-40B4-BE49-F238E27FC236}">
                <a16:creationId xmlns:a16="http://schemas.microsoft.com/office/drawing/2014/main" id="{285AAC04-FC8E-EC4C-8437-3CDD44C5488D}"/>
              </a:ext>
            </a:extLst>
          </p:cNvPr>
          <p:cNvSpPr txBox="1"/>
          <p:nvPr/>
        </p:nvSpPr>
        <p:spPr>
          <a:xfrm>
            <a:off x="6079767" y="1786895"/>
            <a:ext cx="399468" cy="523220"/>
          </a:xfrm>
          <a:prstGeom prst="rect">
            <a:avLst/>
          </a:prstGeom>
          <a:solidFill>
            <a:schemeClr val="bg1"/>
          </a:solidFill>
        </p:spPr>
        <p:txBody>
          <a:bodyPr wrap="none" rtlCol="0">
            <a:spAutoFit/>
          </a:bodyPr>
          <a:lstStyle/>
          <a:p>
            <a:r>
              <a:rPr lang="it-IT" sz="2800" i="1" dirty="0" err="1"/>
              <a:t>y</a:t>
            </a:r>
            <a:r>
              <a:rPr lang="it-IT" sz="2800" i="1" baseline="-25000" dirty="0" err="1"/>
              <a:t>i</a:t>
            </a:r>
            <a:endParaRPr lang="it-IT" sz="2800" i="1" baseline="-25000" dirty="0"/>
          </a:p>
        </p:txBody>
      </p:sp>
      <p:sp>
        <p:nvSpPr>
          <p:cNvPr id="8" name="TextBox 74">
            <a:extLst>
              <a:ext uri="{FF2B5EF4-FFF2-40B4-BE49-F238E27FC236}">
                <a16:creationId xmlns:a16="http://schemas.microsoft.com/office/drawing/2014/main" id="{A75D96CB-A43E-B34C-BC96-F04C0FB8EEF7}"/>
              </a:ext>
            </a:extLst>
          </p:cNvPr>
          <p:cNvSpPr txBox="1">
            <a:spLocks noChangeArrowheads="1"/>
          </p:cNvSpPr>
          <p:nvPr/>
        </p:nvSpPr>
        <p:spPr bwMode="auto">
          <a:xfrm>
            <a:off x="9627015" y="1453900"/>
            <a:ext cx="2157548" cy="738664"/>
          </a:xfrm>
          <a:prstGeom prst="rect">
            <a:avLst/>
          </a:prstGeom>
          <a:noFill/>
          <a:ln w="9525">
            <a:noFill/>
            <a:miter lim="800000"/>
            <a:headEnd/>
            <a:tailEnd/>
          </a:ln>
        </p:spPr>
        <p:txBody>
          <a:bodyPr wrap="square">
            <a:prstTxWarp prst="textNoShape">
              <a:avLst/>
            </a:prstTxWarp>
            <a:spAutoFit/>
          </a:bodyPr>
          <a:lstStyle/>
          <a:p>
            <a:pPr algn="ctr"/>
            <a:r>
              <a:rPr lang="en-US" sz="1400" dirty="0"/>
              <a:t>Quadratic function from which we can find a global minimum solution</a:t>
            </a:r>
          </a:p>
        </p:txBody>
      </p:sp>
      <p:cxnSp>
        <p:nvCxnSpPr>
          <p:cNvPr id="9" name="Straight Connector 27">
            <a:extLst>
              <a:ext uri="{FF2B5EF4-FFF2-40B4-BE49-F238E27FC236}">
                <a16:creationId xmlns:a16="http://schemas.microsoft.com/office/drawing/2014/main" id="{C1535FFC-1244-ED46-8E74-30203DB0A683}"/>
              </a:ext>
            </a:extLst>
          </p:cNvPr>
          <p:cNvCxnSpPr>
            <a:cxnSpLocks/>
          </p:cNvCxnSpPr>
          <p:nvPr/>
        </p:nvCxnSpPr>
        <p:spPr>
          <a:xfrm flipV="1">
            <a:off x="8378891" y="1675497"/>
            <a:ext cx="1408922" cy="344156"/>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sp>
        <p:nvSpPr>
          <p:cNvPr id="10" name="CasellaDiTesto 9">
            <a:extLst>
              <a:ext uri="{FF2B5EF4-FFF2-40B4-BE49-F238E27FC236}">
                <a16:creationId xmlns:a16="http://schemas.microsoft.com/office/drawing/2014/main" id="{0CDAF17A-EEC8-074C-BEC5-5986EA4914DC}"/>
              </a:ext>
            </a:extLst>
          </p:cNvPr>
          <p:cNvSpPr txBox="1"/>
          <p:nvPr/>
        </p:nvSpPr>
        <p:spPr>
          <a:xfrm>
            <a:off x="6889079" y="4461119"/>
            <a:ext cx="369012" cy="461665"/>
          </a:xfrm>
          <a:prstGeom prst="rect">
            <a:avLst/>
          </a:prstGeom>
          <a:solidFill>
            <a:schemeClr val="bg1"/>
          </a:solidFill>
        </p:spPr>
        <p:txBody>
          <a:bodyPr wrap="none" rtlCol="0">
            <a:spAutoFit/>
          </a:bodyPr>
          <a:lstStyle/>
          <a:p>
            <a:r>
              <a:rPr lang="it-IT" sz="2400" i="1" dirty="0" err="1"/>
              <a:t>y</a:t>
            </a:r>
            <a:r>
              <a:rPr lang="it-IT" sz="2400" i="1" baseline="-25000" dirty="0" err="1"/>
              <a:t>i</a:t>
            </a:r>
            <a:endParaRPr lang="it-IT" sz="2400" i="1" baseline="-25000" dirty="0"/>
          </a:p>
        </p:txBody>
      </p:sp>
      <p:cxnSp>
        <p:nvCxnSpPr>
          <p:cNvPr id="11" name="Straight Connector 27">
            <a:extLst>
              <a:ext uri="{FF2B5EF4-FFF2-40B4-BE49-F238E27FC236}">
                <a16:creationId xmlns:a16="http://schemas.microsoft.com/office/drawing/2014/main" id="{69EC12B2-0CE9-8D4C-A838-5D8295033DF0}"/>
              </a:ext>
            </a:extLst>
          </p:cNvPr>
          <p:cNvCxnSpPr>
            <a:cxnSpLocks/>
          </p:cNvCxnSpPr>
          <p:nvPr/>
        </p:nvCxnSpPr>
        <p:spPr>
          <a:xfrm>
            <a:off x="7319842" y="2613955"/>
            <a:ext cx="153978" cy="1908719"/>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sp>
        <p:nvSpPr>
          <p:cNvPr id="3" name="CasellaDiTesto 2">
            <a:extLst>
              <a:ext uri="{FF2B5EF4-FFF2-40B4-BE49-F238E27FC236}">
                <a16:creationId xmlns:a16="http://schemas.microsoft.com/office/drawing/2014/main" id="{E5274CED-6B10-364F-5832-AA064356A465}"/>
              </a:ext>
            </a:extLst>
          </p:cNvPr>
          <p:cNvSpPr txBox="1"/>
          <p:nvPr/>
        </p:nvSpPr>
        <p:spPr>
          <a:xfrm>
            <a:off x="8168953" y="1521518"/>
            <a:ext cx="301686" cy="369332"/>
          </a:xfrm>
          <a:prstGeom prst="rect">
            <a:avLst/>
          </a:prstGeom>
          <a:noFill/>
        </p:spPr>
        <p:txBody>
          <a:bodyPr wrap="none" rtlCol="0">
            <a:spAutoFit/>
          </a:bodyPr>
          <a:lstStyle/>
          <a:p>
            <a:r>
              <a:rPr lang="it-IT" dirty="0"/>
              <a:t>2</a:t>
            </a:r>
          </a:p>
        </p:txBody>
      </p:sp>
    </p:spTree>
    <p:extLst>
      <p:ext uri="{BB962C8B-B14F-4D97-AF65-F5344CB8AC3E}">
        <p14:creationId xmlns:p14="http://schemas.microsoft.com/office/powerpoint/2010/main" val="2453561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4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411">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4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411">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411">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4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41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uiExpand="1" build="p"/>
      <p:bldP spid="2" grpId="0" animBg="1"/>
      <p:bldP spid="8" grpId="0"/>
      <p:bldP spid="10"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B7F7DB1-66E4-484D-8E45-3C1272DFCECB}"/>
              </a:ext>
            </a:extLst>
          </p:cNvPr>
          <p:cNvSpPr>
            <a:spLocks noGrp="1"/>
          </p:cNvSpPr>
          <p:nvPr>
            <p:ph type="title"/>
          </p:nvPr>
        </p:nvSpPr>
        <p:spPr/>
        <p:txBody>
          <a:bodyPr/>
          <a:lstStyle/>
          <a:p>
            <a:r>
              <a:rPr lang="en-US" dirty="0"/>
              <a:t>Gradient Descent </a:t>
            </a:r>
            <a:r>
              <a:rPr lang="en-US" altLang="en-US" dirty="0"/>
              <a:t>for Multilayer NN</a:t>
            </a:r>
            <a:endParaRPr lang="en-US" dirty="0"/>
          </a:p>
        </p:txBody>
      </p:sp>
      <p:sp>
        <p:nvSpPr>
          <p:cNvPr id="3" name="Segnaposto contenuto 2">
            <a:extLst>
              <a:ext uri="{FF2B5EF4-FFF2-40B4-BE49-F238E27FC236}">
                <a16:creationId xmlns:a16="http://schemas.microsoft.com/office/drawing/2014/main" id="{304BC054-2601-1641-A5C0-D779D4EEFF0C}"/>
              </a:ext>
            </a:extLst>
          </p:cNvPr>
          <p:cNvSpPr>
            <a:spLocks noGrp="1"/>
          </p:cNvSpPr>
          <p:nvPr>
            <p:ph idx="1"/>
          </p:nvPr>
        </p:nvSpPr>
        <p:spPr>
          <a:xfrm>
            <a:off x="838200" y="1825625"/>
            <a:ext cx="4778829" cy="4351338"/>
          </a:xfrm>
        </p:spPr>
        <p:txBody>
          <a:bodyPr>
            <a:normAutofit fontScale="92500" lnSpcReduction="10000"/>
          </a:bodyPr>
          <a:lstStyle/>
          <a:p>
            <a:r>
              <a:rPr lang="en-US" dirty="0"/>
              <a:t>Weights are updated in the opposite direction of the gradient of the loss function.</a:t>
            </a:r>
          </a:p>
          <a:p>
            <a:endParaRPr lang="en-US" dirty="0"/>
          </a:p>
          <a:p>
            <a:r>
              <a:rPr lang="en-US" dirty="0"/>
              <a:t>Gradient direction is the direction of uphill of the error function.</a:t>
            </a:r>
          </a:p>
          <a:p>
            <a:r>
              <a:rPr lang="en-US" dirty="0"/>
              <a:t>By taking the negative we are going downhill.</a:t>
            </a:r>
          </a:p>
          <a:p>
            <a:r>
              <a:rPr lang="en-US" dirty="0"/>
              <a:t>Hopefully to a minimum of the error.</a:t>
            </a:r>
          </a:p>
          <a:p>
            <a:endParaRPr lang="en-US" dirty="0"/>
          </a:p>
          <a:p>
            <a:endParaRPr lang="en-US" dirty="0"/>
          </a:p>
          <a:p>
            <a:endParaRPr lang="en-US" dirty="0"/>
          </a:p>
          <a:p>
            <a:endParaRPr lang="en-US" dirty="0"/>
          </a:p>
        </p:txBody>
      </p:sp>
      <p:graphicFrame>
        <p:nvGraphicFramePr>
          <p:cNvPr id="4" name="Object 2">
            <a:extLst>
              <a:ext uri="{FF2B5EF4-FFF2-40B4-BE49-F238E27FC236}">
                <a16:creationId xmlns:a16="http://schemas.microsoft.com/office/drawing/2014/main" id="{2937E5A2-DCDF-CD48-A2C3-8631C5967EFE}"/>
              </a:ext>
            </a:extLst>
          </p:cNvPr>
          <p:cNvGraphicFramePr>
            <a:graphicFrameLocks noChangeAspect="1"/>
          </p:cNvGraphicFramePr>
          <p:nvPr/>
        </p:nvGraphicFramePr>
        <p:xfrm>
          <a:off x="5749989" y="2061517"/>
          <a:ext cx="2895600" cy="1001713"/>
        </p:xfrm>
        <a:graphic>
          <a:graphicData uri="http://schemas.openxmlformats.org/presentationml/2006/ole">
            <mc:AlternateContent xmlns:mc="http://schemas.openxmlformats.org/markup-compatibility/2006">
              <mc:Choice xmlns:v="urn:schemas-microsoft-com:vml" Requires="v">
                <p:oleObj name="Equation" r:id="rId2" imgW="1282700" imgH="444500" progId="Equation.3">
                  <p:embed/>
                </p:oleObj>
              </mc:Choice>
              <mc:Fallback>
                <p:oleObj name="Equation" r:id="rId2" imgW="1282700" imgH="444500" progId="Equation.3">
                  <p:embed/>
                  <p:pic>
                    <p:nvPicPr>
                      <p:cNvPr id="4" name="Object 2">
                        <a:extLst>
                          <a:ext uri="{FF2B5EF4-FFF2-40B4-BE49-F238E27FC236}">
                            <a16:creationId xmlns:a16="http://schemas.microsoft.com/office/drawing/2014/main" id="{2937E5A2-DCDF-CD48-A2C3-8631C5967E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9989" y="2061517"/>
                        <a:ext cx="2895600" cy="1001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 name="Group 3">
            <a:extLst>
              <a:ext uri="{FF2B5EF4-FFF2-40B4-BE49-F238E27FC236}">
                <a16:creationId xmlns:a16="http://schemas.microsoft.com/office/drawing/2014/main" id="{4FC31339-626A-354C-9869-903A3D4BDD6F}"/>
              </a:ext>
            </a:extLst>
          </p:cNvPr>
          <p:cNvGrpSpPr>
            <a:grpSpLocks/>
          </p:cNvGrpSpPr>
          <p:nvPr/>
        </p:nvGrpSpPr>
        <p:grpSpPr bwMode="auto">
          <a:xfrm>
            <a:off x="6312272" y="3201866"/>
            <a:ext cx="4261564" cy="2874818"/>
            <a:chOff x="864" y="2064"/>
            <a:chExt cx="3840" cy="2112"/>
          </a:xfrm>
        </p:grpSpPr>
        <p:pic>
          <p:nvPicPr>
            <p:cNvPr id="11" name="Picture 4" descr="xsquare">
              <a:extLst>
                <a:ext uri="{FF2B5EF4-FFF2-40B4-BE49-F238E27FC236}">
                  <a16:creationId xmlns:a16="http://schemas.microsoft.com/office/drawing/2014/main" id="{A12703A7-A493-364F-A277-5089E349C3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4" y="2064"/>
              <a:ext cx="3840" cy="2112"/>
            </a:xfrm>
            <a:prstGeom prst="rect">
              <a:avLst/>
            </a:prstGeom>
            <a:noFill/>
            <a:extLst>
              <a:ext uri="{909E8E84-426E-40DD-AFC4-6F175D3DCCD1}">
                <a14:hiddenFill xmlns:a14="http://schemas.microsoft.com/office/drawing/2010/main">
                  <a:solidFill>
                    <a:srgbClr val="FFFFFF"/>
                  </a:solidFill>
                </a14:hiddenFill>
              </a:ext>
            </a:extLst>
          </p:spPr>
        </p:pic>
        <p:sp>
          <p:nvSpPr>
            <p:cNvPr id="12" name="Line 5">
              <a:extLst>
                <a:ext uri="{FF2B5EF4-FFF2-40B4-BE49-F238E27FC236}">
                  <a16:creationId xmlns:a16="http://schemas.microsoft.com/office/drawing/2014/main" id="{A5D673BE-A90E-E843-B3E2-D692827B4233}"/>
                </a:ext>
              </a:extLst>
            </p:cNvPr>
            <p:cNvSpPr>
              <a:spLocks noChangeShapeType="1"/>
            </p:cNvSpPr>
            <p:nvPr/>
          </p:nvSpPr>
          <p:spPr bwMode="auto">
            <a:xfrm flipV="1">
              <a:off x="3408" y="3120"/>
              <a:ext cx="576" cy="576"/>
            </a:xfrm>
            <a:prstGeom prst="line">
              <a:avLst/>
            </a:prstGeom>
            <a:noFill/>
            <a:ln w="762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3" name="Text Box 6">
              <a:extLst>
                <a:ext uri="{FF2B5EF4-FFF2-40B4-BE49-F238E27FC236}">
                  <a16:creationId xmlns:a16="http://schemas.microsoft.com/office/drawing/2014/main" id="{61F19859-9215-D84E-8792-ABE7192881A0}"/>
                </a:ext>
              </a:extLst>
            </p:cNvPr>
            <p:cNvSpPr txBox="1">
              <a:spLocks noChangeArrowheads="1"/>
            </p:cNvSpPr>
            <p:nvPr/>
          </p:nvSpPr>
          <p:spPr bwMode="auto">
            <a:xfrm>
              <a:off x="2220" y="2919"/>
              <a:ext cx="1437" cy="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dirty="0">
                  <a:latin typeface="Times New Roman" panose="02020603050405020304" pitchFamily="18" charset="0"/>
                </a:rPr>
                <a:t>Gradient direction</a:t>
              </a:r>
            </a:p>
          </p:txBody>
        </p:sp>
      </p:grpSp>
      <p:sp>
        <p:nvSpPr>
          <p:cNvPr id="14" name="Ovale 13">
            <a:extLst>
              <a:ext uri="{FF2B5EF4-FFF2-40B4-BE49-F238E27FC236}">
                <a16:creationId xmlns:a16="http://schemas.microsoft.com/office/drawing/2014/main" id="{4AB14EC3-EDF3-5D4E-B659-587A85A2EE6E}"/>
              </a:ext>
            </a:extLst>
          </p:cNvPr>
          <p:cNvSpPr/>
          <p:nvPr/>
        </p:nvSpPr>
        <p:spPr>
          <a:xfrm>
            <a:off x="8922480" y="5274757"/>
            <a:ext cx="318976" cy="3107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e 15">
            <a:extLst>
              <a:ext uri="{FF2B5EF4-FFF2-40B4-BE49-F238E27FC236}">
                <a16:creationId xmlns:a16="http://schemas.microsoft.com/office/drawing/2014/main" id="{B8D5569A-6AF8-6E4C-A676-EF9EF747BA30}"/>
              </a:ext>
            </a:extLst>
          </p:cNvPr>
          <p:cNvSpPr/>
          <p:nvPr/>
        </p:nvSpPr>
        <p:spPr>
          <a:xfrm>
            <a:off x="8454802" y="5430153"/>
            <a:ext cx="318976" cy="3107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CasellaDiTesto 17">
            <a:extLst>
              <a:ext uri="{FF2B5EF4-FFF2-40B4-BE49-F238E27FC236}">
                <a16:creationId xmlns:a16="http://schemas.microsoft.com/office/drawing/2014/main" id="{893DAECF-E48B-F541-8CE7-94FD5F208041}"/>
              </a:ext>
            </a:extLst>
          </p:cNvPr>
          <p:cNvSpPr txBox="1"/>
          <p:nvPr/>
        </p:nvSpPr>
        <p:spPr>
          <a:xfrm>
            <a:off x="8825327" y="4970596"/>
            <a:ext cx="513282" cy="369332"/>
          </a:xfrm>
          <a:prstGeom prst="rect">
            <a:avLst/>
          </a:prstGeom>
          <a:noFill/>
        </p:spPr>
        <p:txBody>
          <a:bodyPr wrap="none" rtlCol="0">
            <a:spAutoFit/>
          </a:bodyPr>
          <a:lstStyle/>
          <a:p>
            <a:r>
              <a:rPr lang="it-IT" dirty="0"/>
              <a:t>w</a:t>
            </a:r>
            <a:r>
              <a:rPr lang="it-IT" baseline="30000" dirty="0"/>
              <a:t>(k)</a:t>
            </a:r>
          </a:p>
        </p:txBody>
      </p:sp>
      <p:sp>
        <p:nvSpPr>
          <p:cNvPr id="19" name="CasellaDiTesto 18">
            <a:extLst>
              <a:ext uri="{FF2B5EF4-FFF2-40B4-BE49-F238E27FC236}">
                <a16:creationId xmlns:a16="http://schemas.microsoft.com/office/drawing/2014/main" id="{70EBA759-B85F-4046-A3CC-2D7BB48FBE7C}"/>
              </a:ext>
            </a:extLst>
          </p:cNvPr>
          <p:cNvSpPr txBox="1"/>
          <p:nvPr/>
        </p:nvSpPr>
        <p:spPr>
          <a:xfrm>
            <a:off x="8301012" y="5171105"/>
            <a:ext cx="668773" cy="369332"/>
          </a:xfrm>
          <a:prstGeom prst="rect">
            <a:avLst/>
          </a:prstGeom>
          <a:noFill/>
        </p:spPr>
        <p:txBody>
          <a:bodyPr wrap="none" rtlCol="0">
            <a:spAutoFit/>
          </a:bodyPr>
          <a:lstStyle/>
          <a:p>
            <a:r>
              <a:rPr lang="it-IT" dirty="0"/>
              <a:t>w</a:t>
            </a:r>
            <a:r>
              <a:rPr lang="it-IT" baseline="30000" dirty="0"/>
              <a:t>(k+1)</a:t>
            </a:r>
          </a:p>
        </p:txBody>
      </p:sp>
    </p:spTree>
    <p:extLst>
      <p:ext uri="{BB962C8B-B14F-4D97-AF65-F5344CB8AC3E}">
        <p14:creationId xmlns:p14="http://schemas.microsoft.com/office/powerpoint/2010/main" val="116989748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normAutofit/>
          </a:bodyPr>
          <a:lstStyle/>
          <a:p>
            <a:r>
              <a:rPr lang="en-US" altLang="en-US" dirty="0"/>
              <a:t>Gradient Descent for Multilayer NN</a:t>
            </a:r>
          </a:p>
        </p:txBody>
      </p:sp>
      <p:graphicFrame>
        <p:nvGraphicFramePr>
          <p:cNvPr id="18437" name="Object 3"/>
          <p:cNvGraphicFramePr>
            <a:graphicFrameLocks noGrp="1" noChangeAspect="1"/>
          </p:cNvGraphicFramePr>
          <p:nvPr>
            <p:ph idx="1"/>
          </p:nvPr>
        </p:nvGraphicFramePr>
        <p:xfrm>
          <a:off x="7148804" y="2132045"/>
          <a:ext cx="4006850" cy="3000375"/>
        </p:xfrm>
        <a:graphic>
          <a:graphicData uri="http://schemas.openxmlformats.org/presentationml/2006/ole">
            <mc:AlternateContent xmlns:mc="http://schemas.openxmlformats.org/markup-compatibility/2006">
              <mc:Choice xmlns:v="urn:schemas-microsoft-com:vml" Requires="v">
                <p:oleObj name="Visio" r:id="rId2" imgW="6912153" imgH="5175951" progId="Visio.Drawing.6">
                  <p:embed/>
                </p:oleObj>
              </mc:Choice>
              <mc:Fallback>
                <p:oleObj name="Visio" r:id="rId2" imgW="6912153" imgH="5175951" progId="Visio.Drawing.6">
                  <p:embed/>
                  <p:pic>
                    <p:nvPicPr>
                      <p:cNvPr id="18437"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8804" y="2132045"/>
                        <a:ext cx="4006850" cy="300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35" name="Rectangle 3"/>
          <p:cNvSpPr>
            <a:spLocks noGrp="1" noChangeArrowheads="1"/>
          </p:cNvSpPr>
          <p:nvPr>
            <p:ph type="body" sz="half" idx="4294967295"/>
          </p:nvPr>
        </p:nvSpPr>
        <p:spPr>
          <a:xfrm>
            <a:off x="838200" y="1552575"/>
            <a:ext cx="5445125" cy="5181600"/>
          </a:xfrm>
        </p:spPr>
        <p:txBody>
          <a:bodyPr/>
          <a:lstStyle/>
          <a:p>
            <a:r>
              <a:rPr lang="en-US" altLang="en-US" sz="2400" dirty="0"/>
              <a:t>For output neurons, weight update formula is the same as before (gradient descent for perceptron)</a:t>
            </a:r>
          </a:p>
          <a:p>
            <a:endParaRPr lang="en-US" altLang="en-US" sz="2400" dirty="0"/>
          </a:p>
          <a:p>
            <a:r>
              <a:rPr lang="en-US" altLang="en-US" sz="2400" dirty="0"/>
              <a:t>For hidden neurons:</a:t>
            </a:r>
          </a:p>
        </p:txBody>
      </p:sp>
      <p:graphicFrame>
        <p:nvGraphicFramePr>
          <p:cNvPr id="18436" name="Object 2"/>
          <p:cNvGraphicFramePr>
            <a:graphicFrameLocks noGrp="1" noChangeAspect="1"/>
          </p:cNvGraphicFramePr>
          <p:nvPr>
            <p:ph sz="half" idx="4294967295"/>
          </p:nvPr>
        </p:nvGraphicFramePr>
        <p:xfrm>
          <a:off x="1326502" y="3760820"/>
          <a:ext cx="5334000" cy="2165350"/>
        </p:xfrm>
        <a:graphic>
          <a:graphicData uri="http://schemas.openxmlformats.org/presentationml/2006/ole">
            <mc:AlternateContent xmlns:mc="http://schemas.openxmlformats.org/markup-compatibility/2006">
              <mc:Choice xmlns:v="urn:schemas-microsoft-com:vml" Requires="v">
                <p:oleObj name="Equation" r:id="rId4" imgW="2501900" imgH="1016000" progId="Equation.3">
                  <p:embed/>
                </p:oleObj>
              </mc:Choice>
              <mc:Fallback>
                <p:oleObj name="Equation" r:id="rId4" imgW="2501900" imgH="1016000" progId="Equation.3">
                  <p:embed/>
                  <p:pic>
                    <p:nvPicPr>
                      <p:cNvPr id="18436"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26502" y="3760820"/>
                        <a:ext cx="5334000" cy="2165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0622983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Training Multilayer NN</a:t>
            </a:r>
          </a:p>
        </p:txBody>
      </p:sp>
      <p:grpSp>
        <p:nvGrpSpPr>
          <p:cNvPr id="34" name="Group 33"/>
          <p:cNvGrpSpPr/>
          <p:nvPr/>
        </p:nvGrpSpPr>
        <p:grpSpPr>
          <a:xfrm>
            <a:off x="1623310" y="2701705"/>
            <a:ext cx="4626190" cy="2547370"/>
            <a:chOff x="-15240" y="2174240"/>
            <a:chExt cx="7924800" cy="4363720"/>
          </a:xfrm>
        </p:grpSpPr>
        <p:sp>
          <p:nvSpPr>
            <p:cNvPr id="6" name="Connector 5"/>
            <p:cNvSpPr/>
            <p:nvPr/>
          </p:nvSpPr>
          <p:spPr>
            <a:xfrm>
              <a:off x="1371600" y="5715000"/>
              <a:ext cx="822960" cy="82296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200" dirty="0">
                  <a:ln>
                    <a:solidFill>
                      <a:schemeClr val="tx1"/>
                    </a:solidFill>
                  </a:ln>
                  <a:solidFill>
                    <a:schemeClr val="tx1"/>
                  </a:solidFill>
                  <a:latin typeface="Arial"/>
                  <a:cs typeface="Arial"/>
                </a:rPr>
                <a:t>x</a:t>
              </a:r>
              <a:r>
                <a:rPr lang="en-US" sz="1200" baseline="-25000" dirty="0">
                  <a:ln>
                    <a:solidFill>
                      <a:schemeClr val="tx1"/>
                    </a:solidFill>
                  </a:ln>
                  <a:solidFill>
                    <a:schemeClr val="tx1"/>
                  </a:solidFill>
                  <a:latin typeface="Arial"/>
                  <a:cs typeface="Arial"/>
                </a:rPr>
                <a:t>1</a:t>
              </a:r>
            </a:p>
          </p:txBody>
        </p:sp>
        <p:sp>
          <p:nvSpPr>
            <p:cNvPr id="7" name="Connector 6"/>
            <p:cNvSpPr/>
            <p:nvPr/>
          </p:nvSpPr>
          <p:spPr>
            <a:xfrm>
              <a:off x="2270760" y="3761740"/>
              <a:ext cx="822960" cy="82296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200" dirty="0">
                  <a:ln>
                    <a:solidFill>
                      <a:schemeClr val="tx1"/>
                    </a:solidFill>
                  </a:ln>
                  <a:solidFill>
                    <a:schemeClr val="tx1"/>
                  </a:solidFill>
                  <a:latin typeface="Arial"/>
                  <a:cs typeface="Arial"/>
                </a:rPr>
                <a:t>z</a:t>
              </a:r>
              <a:r>
                <a:rPr lang="en-US" sz="1200" baseline="-25000" dirty="0">
                  <a:ln>
                    <a:solidFill>
                      <a:schemeClr val="tx1"/>
                    </a:solidFill>
                  </a:ln>
                  <a:solidFill>
                    <a:schemeClr val="tx1"/>
                  </a:solidFill>
                  <a:latin typeface="Arial"/>
                  <a:cs typeface="Arial"/>
                </a:rPr>
                <a:t>1</a:t>
              </a:r>
            </a:p>
          </p:txBody>
        </p:sp>
        <p:sp>
          <p:nvSpPr>
            <p:cNvPr id="8" name="Connector 7"/>
            <p:cNvSpPr/>
            <p:nvPr/>
          </p:nvSpPr>
          <p:spPr>
            <a:xfrm>
              <a:off x="2895600" y="5715000"/>
              <a:ext cx="822960" cy="82296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200" dirty="0">
                  <a:ln>
                    <a:solidFill>
                      <a:schemeClr val="tx1"/>
                    </a:solidFill>
                  </a:ln>
                  <a:solidFill>
                    <a:schemeClr val="tx1"/>
                  </a:solidFill>
                  <a:latin typeface="Arial"/>
                  <a:cs typeface="Arial"/>
                </a:rPr>
                <a:t>x</a:t>
              </a:r>
              <a:r>
                <a:rPr lang="en-US" sz="1200" baseline="-25000" dirty="0">
                  <a:ln>
                    <a:solidFill>
                      <a:schemeClr val="tx1"/>
                    </a:solidFill>
                  </a:ln>
                  <a:solidFill>
                    <a:schemeClr val="tx1"/>
                  </a:solidFill>
                  <a:latin typeface="Arial"/>
                  <a:cs typeface="Arial"/>
                </a:rPr>
                <a:t>2</a:t>
              </a:r>
            </a:p>
          </p:txBody>
        </p:sp>
        <p:sp>
          <p:nvSpPr>
            <p:cNvPr id="9" name="Connector 8"/>
            <p:cNvSpPr/>
            <p:nvPr/>
          </p:nvSpPr>
          <p:spPr>
            <a:xfrm>
              <a:off x="4572000" y="5715000"/>
              <a:ext cx="822960" cy="82296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200" dirty="0">
                  <a:ln>
                    <a:solidFill>
                      <a:schemeClr val="tx1"/>
                    </a:solidFill>
                  </a:ln>
                  <a:solidFill>
                    <a:schemeClr val="tx1"/>
                  </a:solidFill>
                  <a:latin typeface="Arial"/>
                  <a:cs typeface="Arial"/>
                </a:rPr>
                <a:t>x</a:t>
              </a:r>
              <a:r>
                <a:rPr lang="en-US" sz="1200" baseline="-25000" dirty="0">
                  <a:ln>
                    <a:solidFill>
                      <a:schemeClr val="tx1"/>
                    </a:solidFill>
                  </a:ln>
                  <a:solidFill>
                    <a:schemeClr val="tx1"/>
                  </a:solidFill>
                  <a:latin typeface="Arial"/>
                  <a:cs typeface="Arial"/>
                </a:rPr>
                <a:t>3</a:t>
              </a:r>
            </a:p>
          </p:txBody>
        </p:sp>
        <p:sp>
          <p:nvSpPr>
            <p:cNvPr id="10" name="Connector 9"/>
            <p:cNvSpPr/>
            <p:nvPr/>
          </p:nvSpPr>
          <p:spPr>
            <a:xfrm>
              <a:off x="7086600" y="5715000"/>
              <a:ext cx="822960" cy="82296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200" dirty="0" err="1">
                  <a:ln>
                    <a:solidFill>
                      <a:schemeClr val="tx1"/>
                    </a:solidFill>
                  </a:ln>
                  <a:solidFill>
                    <a:schemeClr val="tx1"/>
                  </a:solidFill>
                  <a:latin typeface="Arial"/>
                  <a:cs typeface="Arial"/>
                </a:rPr>
                <a:t>x</a:t>
              </a:r>
              <a:r>
                <a:rPr lang="en-US" sz="1200" baseline="-25000" dirty="0" err="1">
                  <a:ln>
                    <a:solidFill>
                      <a:schemeClr val="tx1"/>
                    </a:solidFill>
                  </a:ln>
                  <a:solidFill>
                    <a:schemeClr val="tx1"/>
                  </a:solidFill>
                  <a:latin typeface="Arial"/>
                  <a:cs typeface="Arial"/>
                </a:rPr>
                <a:t>M</a:t>
              </a:r>
              <a:endParaRPr lang="en-US" sz="1200" baseline="-25000" dirty="0">
                <a:ln>
                  <a:solidFill>
                    <a:schemeClr val="tx1"/>
                  </a:solidFill>
                </a:ln>
                <a:solidFill>
                  <a:schemeClr val="tx1"/>
                </a:solidFill>
                <a:latin typeface="Arial"/>
                <a:cs typeface="Arial"/>
              </a:endParaRPr>
            </a:p>
          </p:txBody>
        </p:sp>
        <p:sp>
          <p:nvSpPr>
            <p:cNvPr id="11" name="Connector 10"/>
            <p:cNvSpPr/>
            <p:nvPr/>
          </p:nvSpPr>
          <p:spPr>
            <a:xfrm>
              <a:off x="4267200" y="2174240"/>
              <a:ext cx="822960" cy="822960"/>
            </a:xfrm>
            <a:prstGeom prst="flowChartConnector">
              <a:avLst/>
            </a:prstGeom>
            <a:solidFill>
              <a:srgbClr val="E0D925"/>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200" dirty="0">
                  <a:ln>
                    <a:solidFill>
                      <a:schemeClr val="tx1"/>
                    </a:solidFill>
                  </a:ln>
                  <a:solidFill>
                    <a:schemeClr val="tx1"/>
                  </a:solidFill>
                  <a:latin typeface="Arial"/>
                  <a:cs typeface="Arial"/>
                </a:rPr>
                <a:t>y</a:t>
              </a:r>
              <a:endParaRPr lang="en-US" sz="1200" baseline="-25000" dirty="0">
                <a:ln>
                  <a:solidFill>
                    <a:schemeClr val="tx1"/>
                  </a:solidFill>
                </a:ln>
                <a:solidFill>
                  <a:schemeClr val="tx1"/>
                </a:solidFill>
                <a:latin typeface="Arial"/>
                <a:cs typeface="Arial"/>
              </a:endParaRPr>
            </a:p>
          </p:txBody>
        </p:sp>
        <p:sp>
          <p:nvSpPr>
            <p:cNvPr id="12" name="Connector 11"/>
            <p:cNvSpPr/>
            <p:nvPr/>
          </p:nvSpPr>
          <p:spPr>
            <a:xfrm>
              <a:off x="3642360" y="3761740"/>
              <a:ext cx="822960" cy="82296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200" dirty="0">
                  <a:ln>
                    <a:solidFill>
                      <a:schemeClr val="tx1"/>
                    </a:solidFill>
                  </a:ln>
                  <a:solidFill>
                    <a:schemeClr val="tx1"/>
                  </a:solidFill>
                  <a:latin typeface="Arial"/>
                  <a:cs typeface="Arial"/>
                </a:rPr>
                <a:t>z</a:t>
              </a:r>
              <a:r>
                <a:rPr lang="en-US" sz="1200" baseline="-25000" dirty="0">
                  <a:ln>
                    <a:solidFill>
                      <a:schemeClr val="tx1"/>
                    </a:solidFill>
                  </a:ln>
                  <a:solidFill>
                    <a:schemeClr val="tx1"/>
                  </a:solidFill>
                  <a:latin typeface="Arial"/>
                  <a:cs typeface="Arial"/>
                </a:rPr>
                <a:t>2</a:t>
              </a:r>
            </a:p>
          </p:txBody>
        </p:sp>
        <p:sp>
          <p:nvSpPr>
            <p:cNvPr id="13" name="Connector 12"/>
            <p:cNvSpPr/>
            <p:nvPr/>
          </p:nvSpPr>
          <p:spPr>
            <a:xfrm>
              <a:off x="6019800" y="3761740"/>
              <a:ext cx="822960" cy="82296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200" dirty="0" err="1">
                  <a:ln>
                    <a:solidFill>
                      <a:schemeClr val="tx1"/>
                    </a:solidFill>
                  </a:ln>
                  <a:solidFill>
                    <a:schemeClr val="tx1"/>
                  </a:solidFill>
                  <a:latin typeface="Arial"/>
                  <a:cs typeface="Arial"/>
                </a:rPr>
                <a:t>z</a:t>
              </a:r>
              <a:r>
                <a:rPr lang="en-US" sz="1200" baseline="-25000" dirty="0" err="1">
                  <a:ln>
                    <a:solidFill>
                      <a:schemeClr val="tx1"/>
                    </a:solidFill>
                  </a:ln>
                  <a:solidFill>
                    <a:schemeClr val="tx1"/>
                  </a:solidFill>
                  <a:latin typeface="Arial"/>
                  <a:cs typeface="Arial"/>
                </a:rPr>
                <a:t>D</a:t>
              </a:r>
              <a:endParaRPr lang="en-US" sz="1200" baseline="-25000" dirty="0">
                <a:ln>
                  <a:solidFill>
                    <a:schemeClr val="tx1"/>
                  </a:solidFill>
                </a:ln>
                <a:solidFill>
                  <a:schemeClr val="tx1"/>
                </a:solidFill>
                <a:latin typeface="Arial"/>
                <a:cs typeface="Arial"/>
              </a:endParaRPr>
            </a:p>
          </p:txBody>
        </p:sp>
        <p:sp>
          <p:nvSpPr>
            <p:cNvPr id="14" name="TextBox 13"/>
            <p:cNvSpPr txBox="1">
              <a:spLocks noChangeArrowheads="1"/>
            </p:cNvSpPr>
            <p:nvPr/>
          </p:nvSpPr>
          <p:spPr bwMode="auto">
            <a:xfrm>
              <a:off x="5013959" y="3846746"/>
              <a:ext cx="533400" cy="474507"/>
            </a:xfrm>
            <a:prstGeom prst="rect">
              <a:avLst/>
            </a:prstGeom>
            <a:noFill/>
            <a:ln w="9525">
              <a:noFill/>
              <a:miter lim="800000"/>
              <a:headEnd/>
              <a:tailEnd/>
            </a:ln>
          </p:spPr>
          <p:txBody>
            <a:bodyPr anchor="ctr">
              <a:prstTxWarp prst="textNoShape">
                <a:avLst/>
              </a:prstTxWarp>
              <a:spAutoFit/>
            </a:bodyPr>
            <a:lstStyle/>
            <a:p>
              <a:pPr algn="ctr"/>
              <a:r>
                <a:rPr lang="en-US" sz="1200" b="1"/>
                <a:t>…</a:t>
              </a:r>
            </a:p>
          </p:txBody>
        </p:sp>
        <p:sp>
          <p:nvSpPr>
            <p:cNvPr id="15" name="TextBox 14"/>
            <p:cNvSpPr txBox="1">
              <a:spLocks noChangeArrowheads="1"/>
            </p:cNvSpPr>
            <p:nvPr/>
          </p:nvSpPr>
          <p:spPr bwMode="auto">
            <a:xfrm>
              <a:off x="6019801" y="5800007"/>
              <a:ext cx="533400" cy="474507"/>
            </a:xfrm>
            <a:prstGeom prst="rect">
              <a:avLst/>
            </a:prstGeom>
            <a:noFill/>
            <a:ln w="9525">
              <a:noFill/>
              <a:miter lim="800000"/>
              <a:headEnd/>
              <a:tailEnd/>
            </a:ln>
          </p:spPr>
          <p:txBody>
            <a:bodyPr anchor="ctr">
              <a:prstTxWarp prst="textNoShape">
                <a:avLst/>
              </a:prstTxWarp>
              <a:spAutoFit/>
            </a:bodyPr>
            <a:lstStyle/>
            <a:p>
              <a:pPr algn="ctr"/>
              <a:r>
                <a:rPr lang="en-US" sz="1200" b="1"/>
                <a:t>…</a:t>
              </a:r>
            </a:p>
          </p:txBody>
        </p:sp>
        <p:cxnSp>
          <p:nvCxnSpPr>
            <p:cNvPr id="16" name="Straight Connector 15"/>
            <p:cNvCxnSpPr>
              <a:stCxn id="7" idx="4"/>
              <a:endCxn id="6" idx="0"/>
            </p:cNvCxnSpPr>
            <p:nvPr/>
          </p:nvCxnSpPr>
          <p:spPr>
            <a:xfrm rot="5400000">
              <a:off x="1667510" y="4700270"/>
              <a:ext cx="1130300" cy="89916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a:stCxn id="7" idx="4"/>
              <a:endCxn id="8" idx="0"/>
            </p:cNvCxnSpPr>
            <p:nvPr/>
          </p:nvCxnSpPr>
          <p:spPr>
            <a:xfrm rot="16200000" flipH="1">
              <a:off x="2429510" y="4837430"/>
              <a:ext cx="1130300" cy="62484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a:stCxn id="7" idx="4"/>
              <a:endCxn id="9" idx="0"/>
            </p:cNvCxnSpPr>
            <p:nvPr/>
          </p:nvCxnSpPr>
          <p:spPr>
            <a:xfrm rot="16200000" flipH="1">
              <a:off x="3267710" y="3999230"/>
              <a:ext cx="1130300" cy="230124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a:stCxn id="7" idx="4"/>
              <a:endCxn id="10" idx="0"/>
            </p:cNvCxnSpPr>
            <p:nvPr/>
          </p:nvCxnSpPr>
          <p:spPr>
            <a:xfrm rot="16200000" flipH="1">
              <a:off x="4525010" y="2741930"/>
              <a:ext cx="1130300" cy="481584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a:stCxn id="12" idx="4"/>
              <a:endCxn id="8" idx="0"/>
            </p:cNvCxnSpPr>
            <p:nvPr/>
          </p:nvCxnSpPr>
          <p:spPr>
            <a:xfrm rot="5400000">
              <a:off x="3115310" y="4776470"/>
              <a:ext cx="1130300" cy="74676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a:stCxn id="12" idx="4"/>
              <a:endCxn id="9" idx="0"/>
            </p:cNvCxnSpPr>
            <p:nvPr/>
          </p:nvCxnSpPr>
          <p:spPr>
            <a:xfrm rot="16200000" flipH="1">
              <a:off x="3953510" y="4685030"/>
              <a:ext cx="1130300" cy="92964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a:stCxn id="12" idx="4"/>
              <a:endCxn id="10" idx="0"/>
            </p:cNvCxnSpPr>
            <p:nvPr/>
          </p:nvCxnSpPr>
          <p:spPr>
            <a:xfrm rot="16200000" flipH="1">
              <a:off x="5210810" y="3427730"/>
              <a:ext cx="1130300" cy="344424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a:stCxn id="13" idx="4"/>
              <a:endCxn id="6" idx="0"/>
            </p:cNvCxnSpPr>
            <p:nvPr/>
          </p:nvCxnSpPr>
          <p:spPr>
            <a:xfrm rot="5400000">
              <a:off x="3542030" y="2825750"/>
              <a:ext cx="1130300" cy="464820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a:stCxn id="12" idx="4"/>
              <a:endCxn id="6" idx="0"/>
            </p:cNvCxnSpPr>
            <p:nvPr/>
          </p:nvCxnSpPr>
          <p:spPr>
            <a:xfrm rot="5400000">
              <a:off x="2353310" y="4014470"/>
              <a:ext cx="1130300" cy="227076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5" name="Straight Connector 24"/>
            <p:cNvCxnSpPr>
              <a:stCxn id="13" idx="4"/>
              <a:endCxn id="8" idx="0"/>
            </p:cNvCxnSpPr>
            <p:nvPr/>
          </p:nvCxnSpPr>
          <p:spPr>
            <a:xfrm rot="5400000">
              <a:off x="4304030" y="3587750"/>
              <a:ext cx="1130300" cy="312420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6" name="Straight Connector 25"/>
            <p:cNvCxnSpPr>
              <a:stCxn id="13" idx="4"/>
              <a:endCxn id="9" idx="0"/>
            </p:cNvCxnSpPr>
            <p:nvPr/>
          </p:nvCxnSpPr>
          <p:spPr>
            <a:xfrm rot="5400000">
              <a:off x="5142230" y="4425950"/>
              <a:ext cx="1130300" cy="144780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7" name="Straight Connector 26"/>
            <p:cNvCxnSpPr>
              <a:stCxn id="13" idx="4"/>
              <a:endCxn id="10" idx="0"/>
            </p:cNvCxnSpPr>
            <p:nvPr/>
          </p:nvCxnSpPr>
          <p:spPr>
            <a:xfrm rot="16200000" flipH="1">
              <a:off x="6399530" y="4616450"/>
              <a:ext cx="1130300" cy="106680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8" name="Straight Connector 27"/>
            <p:cNvCxnSpPr>
              <a:stCxn id="11" idx="4"/>
              <a:endCxn id="7" idx="0"/>
            </p:cNvCxnSpPr>
            <p:nvPr/>
          </p:nvCxnSpPr>
          <p:spPr>
            <a:xfrm rot="5400000">
              <a:off x="3298190" y="2381250"/>
              <a:ext cx="764540" cy="199644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a:stCxn id="11" idx="4"/>
              <a:endCxn id="12" idx="0"/>
            </p:cNvCxnSpPr>
            <p:nvPr/>
          </p:nvCxnSpPr>
          <p:spPr>
            <a:xfrm rot="5400000">
              <a:off x="3983990" y="3067050"/>
              <a:ext cx="764540" cy="62484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0" name="Straight Connector 29"/>
            <p:cNvCxnSpPr>
              <a:stCxn id="11" idx="4"/>
              <a:endCxn id="13" idx="0"/>
            </p:cNvCxnSpPr>
            <p:nvPr/>
          </p:nvCxnSpPr>
          <p:spPr>
            <a:xfrm rot="16200000" flipH="1">
              <a:off x="5172710" y="2503170"/>
              <a:ext cx="764540" cy="175260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sp>
          <p:nvSpPr>
            <p:cNvPr id="31" name="TextBox 74"/>
            <p:cNvSpPr txBox="1">
              <a:spLocks noChangeArrowheads="1"/>
            </p:cNvSpPr>
            <p:nvPr/>
          </p:nvSpPr>
          <p:spPr bwMode="auto">
            <a:xfrm>
              <a:off x="424179" y="2362200"/>
              <a:ext cx="1295400" cy="474507"/>
            </a:xfrm>
            <a:prstGeom prst="rect">
              <a:avLst/>
            </a:prstGeom>
            <a:noFill/>
            <a:ln w="9525">
              <a:noFill/>
              <a:miter lim="800000"/>
              <a:headEnd/>
              <a:tailEnd/>
            </a:ln>
          </p:spPr>
          <p:txBody>
            <a:bodyPr>
              <a:prstTxWarp prst="textNoShape">
                <a:avLst/>
              </a:prstTxWarp>
              <a:spAutoFit/>
            </a:bodyPr>
            <a:lstStyle/>
            <a:p>
              <a:r>
                <a:rPr lang="en-US" sz="1200" dirty="0"/>
                <a:t>Output</a:t>
              </a:r>
            </a:p>
          </p:txBody>
        </p:sp>
        <p:sp>
          <p:nvSpPr>
            <p:cNvPr id="32" name="TextBox 75"/>
            <p:cNvSpPr txBox="1">
              <a:spLocks noChangeArrowheads="1"/>
            </p:cNvSpPr>
            <p:nvPr/>
          </p:nvSpPr>
          <p:spPr bwMode="auto">
            <a:xfrm>
              <a:off x="1" y="5943600"/>
              <a:ext cx="1295400" cy="474507"/>
            </a:xfrm>
            <a:prstGeom prst="rect">
              <a:avLst/>
            </a:prstGeom>
            <a:noFill/>
            <a:ln w="9525">
              <a:noFill/>
              <a:miter lim="800000"/>
              <a:headEnd/>
              <a:tailEnd/>
            </a:ln>
          </p:spPr>
          <p:txBody>
            <a:bodyPr>
              <a:prstTxWarp prst="textNoShape">
                <a:avLst/>
              </a:prstTxWarp>
              <a:spAutoFit/>
            </a:bodyPr>
            <a:lstStyle/>
            <a:p>
              <a:pPr algn="ctr"/>
              <a:r>
                <a:rPr lang="en-US" sz="1200"/>
                <a:t>Input</a:t>
              </a:r>
            </a:p>
          </p:txBody>
        </p:sp>
        <p:sp>
          <p:nvSpPr>
            <p:cNvPr id="33" name="TextBox 76"/>
            <p:cNvSpPr txBox="1">
              <a:spLocks noChangeArrowheads="1"/>
            </p:cNvSpPr>
            <p:nvPr/>
          </p:nvSpPr>
          <p:spPr bwMode="auto">
            <a:xfrm>
              <a:off x="-15240" y="3990341"/>
              <a:ext cx="2057400" cy="474507"/>
            </a:xfrm>
            <a:prstGeom prst="rect">
              <a:avLst/>
            </a:prstGeom>
            <a:noFill/>
            <a:ln w="9525">
              <a:noFill/>
              <a:miter lim="800000"/>
              <a:headEnd/>
              <a:tailEnd/>
            </a:ln>
          </p:spPr>
          <p:txBody>
            <a:bodyPr>
              <a:prstTxWarp prst="textNoShape">
                <a:avLst/>
              </a:prstTxWarp>
              <a:spAutoFit/>
            </a:bodyPr>
            <a:lstStyle/>
            <a:p>
              <a:pPr algn="ctr"/>
              <a:r>
                <a:rPr lang="en-US" sz="1200" dirty="0"/>
                <a:t>Hidden Layer</a:t>
              </a:r>
            </a:p>
          </p:txBody>
        </p:sp>
      </p:grpSp>
      <p:pic>
        <p:nvPicPr>
          <p:cNvPr id="36" name="Picture 35" descr="latex-image-1.pdf"/>
          <p:cNvPicPr>
            <a:picLocks noChangeAspect="1"/>
          </p:cNvPicPr>
          <p:nvPr/>
        </p:nvPicPr>
        <p:blipFill rotWithShape="1">
          <a:blip r:embed="rId2">
            <a:extLst>
              <a:ext uri="{28A0092B-C50C-407E-A947-70E740481C1C}">
                <a14:useLocalDpi xmlns:a14="http://schemas.microsoft.com/office/drawing/2010/main" val="0"/>
              </a:ext>
            </a:extLst>
          </a:blip>
          <a:srcRect t="16305"/>
          <a:stretch/>
        </p:blipFill>
        <p:spPr>
          <a:xfrm>
            <a:off x="6704818" y="2361192"/>
            <a:ext cx="3280042" cy="4369336"/>
          </a:xfrm>
          <a:prstGeom prst="rect">
            <a:avLst/>
          </a:prstGeom>
        </p:spPr>
      </p:pic>
    </p:spTree>
    <p:extLst>
      <p:ext uri="{BB962C8B-B14F-4D97-AF65-F5344CB8AC3E}">
        <p14:creationId xmlns:p14="http://schemas.microsoft.com/office/powerpoint/2010/main" val="370042480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Training Multilayer NN</a:t>
            </a:r>
          </a:p>
        </p:txBody>
      </p:sp>
      <p:grpSp>
        <p:nvGrpSpPr>
          <p:cNvPr id="34" name="Group 33"/>
          <p:cNvGrpSpPr/>
          <p:nvPr/>
        </p:nvGrpSpPr>
        <p:grpSpPr>
          <a:xfrm>
            <a:off x="1623310" y="2701705"/>
            <a:ext cx="4626190" cy="2547370"/>
            <a:chOff x="-15240" y="2174240"/>
            <a:chExt cx="7924800" cy="4363720"/>
          </a:xfrm>
        </p:grpSpPr>
        <p:sp>
          <p:nvSpPr>
            <p:cNvPr id="6" name="Connector 5"/>
            <p:cNvSpPr/>
            <p:nvPr/>
          </p:nvSpPr>
          <p:spPr>
            <a:xfrm>
              <a:off x="1371600" y="5715000"/>
              <a:ext cx="822960" cy="82296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200" dirty="0">
                  <a:ln>
                    <a:solidFill>
                      <a:schemeClr val="tx1"/>
                    </a:solidFill>
                  </a:ln>
                  <a:solidFill>
                    <a:schemeClr val="tx1"/>
                  </a:solidFill>
                  <a:latin typeface="Arial"/>
                  <a:cs typeface="Arial"/>
                </a:rPr>
                <a:t>x</a:t>
              </a:r>
              <a:r>
                <a:rPr lang="en-US" sz="1200" baseline="-25000" dirty="0">
                  <a:ln>
                    <a:solidFill>
                      <a:schemeClr val="tx1"/>
                    </a:solidFill>
                  </a:ln>
                  <a:solidFill>
                    <a:schemeClr val="tx1"/>
                  </a:solidFill>
                  <a:latin typeface="Arial"/>
                  <a:cs typeface="Arial"/>
                </a:rPr>
                <a:t>1</a:t>
              </a:r>
            </a:p>
          </p:txBody>
        </p:sp>
        <p:sp>
          <p:nvSpPr>
            <p:cNvPr id="7" name="Connector 6"/>
            <p:cNvSpPr/>
            <p:nvPr/>
          </p:nvSpPr>
          <p:spPr>
            <a:xfrm>
              <a:off x="2270760" y="3761740"/>
              <a:ext cx="822960" cy="82296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200" dirty="0">
                  <a:ln>
                    <a:solidFill>
                      <a:schemeClr val="tx1"/>
                    </a:solidFill>
                  </a:ln>
                  <a:solidFill>
                    <a:schemeClr val="tx1"/>
                  </a:solidFill>
                  <a:latin typeface="Arial"/>
                  <a:cs typeface="Arial"/>
                </a:rPr>
                <a:t>z</a:t>
              </a:r>
              <a:r>
                <a:rPr lang="en-US" sz="1200" baseline="-25000" dirty="0">
                  <a:ln>
                    <a:solidFill>
                      <a:schemeClr val="tx1"/>
                    </a:solidFill>
                  </a:ln>
                  <a:solidFill>
                    <a:schemeClr val="tx1"/>
                  </a:solidFill>
                  <a:latin typeface="Arial"/>
                  <a:cs typeface="Arial"/>
                </a:rPr>
                <a:t>1</a:t>
              </a:r>
            </a:p>
          </p:txBody>
        </p:sp>
        <p:sp>
          <p:nvSpPr>
            <p:cNvPr id="8" name="Connector 7"/>
            <p:cNvSpPr/>
            <p:nvPr/>
          </p:nvSpPr>
          <p:spPr>
            <a:xfrm>
              <a:off x="2895600" y="5715000"/>
              <a:ext cx="822960" cy="82296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200" dirty="0">
                  <a:ln>
                    <a:solidFill>
                      <a:schemeClr val="tx1"/>
                    </a:solidFill>
                  </a:ln>
                  <a:solidFill>
                    <a:schemeClr val="tx1"/>
                  </a:solidFill>
                  <a:latin typeface="Arial"/>
                  <a:cs typeface="Arial"/>
                </a:rPr>
                <a:t>x</a:t>
              </a:r>
              <a:r>
                <a:rPr lang="en-US" sz="1200" baseline="-25000" dirty="0">
                  <a:ln>
                    <a:solidFill>
                      <a:schemeClr val="tx1"/>
                    </a:solidFill>
                  </a:ln>
                  <a:solidFill>
                    <a:schemeClr val="tx1"/>
                  </a:solidFill>
                  <a:latin typeface="Arial"/>
                  <a:cs typeface="Arial"/>
                </a:rPr>
                <a:t>2</a:t>
              </a:r>
            </a:p>
          </p:txBody>
        </p:sp>
        <p:sp>
          <p:nvSpPr>
            <p:cNvPr id="9" name="Connector 8"/>
            <p:cNvSpPr/>
            <p:nvPr/>
          </p:nvSpPr>
          <p:spPr>
            <a:xfrm>
              <a:off x="4572000" y="5715000"/>
              <a:ext cx="822960" cy="82296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200" dirty="0">
                  <a:ln>
                    <a:solidFill>
                      <a:schemeClr val="tx1"/>
                    </a:solidFill>
                  </a:ln>
                  <a:solidFill>
                    <a:schemeClr val="tx1"/>
                  </a:solidFill>
                  <a:latin typeface="Arial"/>
                  <a:cs typeface="Arial"/>
                </a:rPr>
                <a:t>x</a:t>
              </a:r>
              <a:r>
                <a:rPr lang="en-US" sz="1200" baseline="-25000" dirty="0">
                  <a:ln>
                    <a:solidFill>
                      <a:schemeClr val="tx1"/>
                    </a:solidFill>
                  </a:ln>
                  <a:solidFill>
                    <a:schemeClr val="tx1"/>
                  </a:solidFill>
                  <a:latin typeface="Arial"/>
                  <a:cs typeface="Arial"/>
                </a:rPr>
                <a:t>3</a:t>
              </a:r>
            </a:p>
          </p:txBody>
        </p:sp>
        <p:sp>
          <p:nvSpPr>
            <p:cNvPr id="10" name="Connector 9"/>
            <p:cNvSpPr/>
            <p:nvPr/>
          </p:nvSpPr>
          <p:spPr>
            <a:xfrm>
              <a:off x="7086600" y="5715000"/>
              <a:ext cx="822960" cy="82296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200" dirty="0" err="1">
                  <a:ln>
                    <a:solidFill>
                      <a:schemeClr val="tx1"/>
                    </a:solidFill>
                  </a:ln>
                  <a:solidFill>
                    <a:schemeClr val="tx1"/>
                  </a:solidFill>
                  <a:latin typeface="Arial"/>
                  <a:cs typeface="Arial"/>
                </a:rPr>
                <a:t>x</a:t>
              </a:r>
              <a:r>
                <a:rPr lang="en-US" sz="1200" baseline="-25000" dirty="0" err="1">
                  <a:ln>
                    <a:solidFill>
                      <a:schemeClr val="tx1"/>
                    </a:solidFill>
                  </a:ln>
                  <a:solidFill>
                    <a:schemeClr val="tx1"/>
                  </a:solidFill>
                  <a:latin typeface="Arial"/>
                  <a:cs typeface="Arial"/>
                </a:rPr>
                <a:t>M</a:t>
              </a:r>
              <a:endParaRPr lang="en-US" sz="1200" baseline="-25000" dirty="0">
                <a:ln>
                  <a:solidFill>
                    <a:schemeClr val="tx1"/>
                  </a:solidFill>
                </a:ln>
                <a:solidFill>
                  <a:schemeClr val="tx1"/>
                </a:solidFill>
                <a:latin typeface="Arial"/>
                <a:cs typeface="Arial"/>
              </a:endParaRPr>
            </a:p>
          </p:txBody>
        </p:sp>
        <p:sp>
          <p:nvSpPr>
            <p:cNvPr id="11" name="Connector 10"/>
            <p:cNvSpPr/>
            <p:nvPr/>
          </p:nvSpPr>
          <p:spPr>
            <a:xfrm>
              <a:off x="4267200" y="2174240"/>
              <a:ext cx="822960" cy="822960"/>
            </a:xfrm>
            <a:prstGeom prst="flowChartConnector">
              <a:avLst/>
            </a:prstGeom>
            <a:solidFill>
              <a:srgbClr val="E0D925"/>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200" dirty="0">
                  <a:ln>
                    <a:solidFill>
                      <a:schemeClr val="tx1"/>
                    </a:solidFill>
                  </a:ln>
                  <a:solidFill>
                    <a:schemeClr val="tx1"/>
                  </a:solidFill>
                  <a:latin typeface="Arial"/>
                  <a:cs typeface="Arial"/>
                </a:rPr>
                <a:t>y</a:t>
              </a:r>
              <a:endParaRPr lang="en-US" sz="1200" baseline="-25000" dirty="0">
                <a:ln>
                  <a:solidFill>
                    <a:schemeClr val="tx1"/>
                  </a:solidFill>
                </a:ln>
                <a:solidFill>
                  <a:schemeClr val="tx1"/>
                </a:solidFill>
                <a:latin typeface="Arial"/>
                <a:cs typeface="Arial"/>
              </a:endParaRPr>
            </a:p>
          </p:txBody>
        </p:sp>
        <p:sp>
          <p:nvSpPr>
            <p:cNvPr id="12" name="Connector 11"/>
            <p:cNvSpPr/>
            <p:nvPr/>
          </p:nvSpPr>
          <p:spPr>
            <a:xfrm>
              <a:off x="3642360" y="3761740"/>
              <a:ext cx="822960" cy="82296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200" dirty="0">
                  <a:ln>
                    <a:solidFill>
                      <a:schemeClr val="tx1"/>
                    </a:solidFill>
                  </a:ln>
                  <a:solidFill>
                    <a:schemeClr val="tx1"/>
                  </a:solidFill>
                  <a:latin typeface="Arial"/>
                  <a:cs typeface="Arial"/>
                </a:rPr>
                <a:t>z</a:t>
              </a:r>
              <a:r>
                <a:rPr lang="en-US" sz="1200" baseline="-25000" dirty="0">
                  <a:ln>
                    <a:solidFill>
                      <a:schemeClr val="tx1"/>
                    </a:solidFill>
                  </a:ln>
                  <a:solidFill>
                    <a:schemeClr val="tx1"/>
                  </a:solidFill>
                  <a:latin typeface="Arial"/>
                  <a:cs typeface="Arial"/>
                </a:rPr>
                <a:t>2</a:t>
              </a:r>
            </a:p>
          </p:txBody>
        </p:sp>
        <p:sp>
          <p:nvSpPr>
            <p:cNvPr id="13" name="Connector 12"/>
            <p:cNvSpPr/>
            <p:nvPr/>
          </p:nvSpPr>
          <p:spPr>
            <a:xfrm>
              <a:off x="6019800" y="3761740"/>
              <a:ext cx="822960" cy="82296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200" dirty="0" err="1">
                  <a:ln>
                    <a:solidFill>
                      <a:schemeClr val="tx1"/>
                    </a:solidFill>
                  </a:ln>
                  <a:solidFill>
                    <a:schemeClr val="tx1"/>
                  </a:solidFill>
                  <a:latin typeface="Arial"/>
                  <a:cs typeface="Arial"/>
                </a:rPr>
                <a:t>z</a:t>
              </a:r>
              <a:r>
                <a:rPr lang="en-US" sz="1200" baseline="-25000" dirty="0" err="1">
                  <a:ln>
                    <a:solidFill>
                      <a:schemeClr val="tx1"/>
                    </a:solidFill>
                  </a:ln>
                  <a:solidFill>
                    <a:schemeClr val="tx1"/>
                  </a:solidFill>
                  <a:latin typeface="Arial"/>
                  <a:cs typeface="Arial"/>
                </a:rPr>
                <a:t>D</a:t>
              </a:r>
              <a:endParaRPr lang="en-US" sz="1200" baseline="-25000" dirty="0">
                <a:ln>
                  <a:solidFill>
                    <a:schemeClr val="tx1"/>
                  </a:solidFill>
                </a:ln>
                <a:solidFill>
                  <a:schemeClr val="tx1"/>
                </a:solidFill>
                <a:latin typeface="Arial"/>
                <a:cs typeface="Arial"/>
              </a:endParaRPr>
            </a:p>
          </p:txBody>
        </p:sp>
        <p:sp>
          <p:nvSpPr>
            <p:cNvPr id="14" name="TextBox 13"/>
            <p:cNvSpPr txBox="1">
              <a:spLocks noChangeArrowheads="1"/>
            </p:cNvSpPr>
            <p:nvPr/>
          </p:nvSpPr>
          <p:spPr bwMode="auto">
            <a:xfrm>
              <a:off x="5013959" y="3846746"/>
              <a:ext cx="533400" cy="474507"/>
            </a:xfrm>
            <a:prstGeom prst="rect">
              <a:avLst/>
            </a:prstGeom>
            <a:noFill/>
            <a:ln w="9525">
              <a:noFill/>
              <a:miter lim="800000"/>
              <a:headEnd/>
              <a:tailEnd/>
            </a:ln>
          </p:spPr>
          <p:txBody>
            <a:bodyPr anchor="ctr">
              <a:prstTxWarp prst="textNoShape">
                <a:avLst/>
              </a:prstTxWarp>
              <a:spAutoFit/>
            </a:bodyPr>
            <a:lstStyle/>
            <a:p>
              <a:pPr algn="ctr"/>
              <a:r>
                <a:rPr lang="en-US" sz="1200" b="1"/>
                <a:t>…</a:t>
              </a:r>
            </a:p>
          </p:txBody>
        </p:sp>
        <p:sp>
          <p:nvSpPr>
            <p:cNvPr id="15" name="TextBox 14"/>
            <p:cNvSpPr txBox="1">
              <a:spLocks noChangeArrowheads="1"/>
            </p:cNvSpPr>
            <p:nvPr/>
          </p:nvSpPr>
          <p:spPr bwMode="auto">
            <a:xfrm>
              <a:off x="6019801" y="5800007"/>
              <a:ext cx="533400" cy="474507"/>
            </a:xfrm>
            <a:prstGeom prst="rect">
              <a:avLst/>
            </a:prstGeom>
            <a:noFill/>
            <a:ln w="9525">
              <a:noFill/>
              <a:miter lim="800000"/>
              <a:headEnd/>
              <a:tailEnd/>
            </a:ln>
          </p:spPr>
          <p:txBody>
            <a:bodyPr anchor="ctr">
              <a:prstTxWarp prst="textNoShape">
                <a:avLst/>
              </a:prstTxWarp>
              <a:spAutoFit/>
            </a:bodyPr>
            <a:lstStyle/>
            <a:p>
              <a:pPr algn="ctr"/>
              <a:r>
                <a:rPr lang="en-US" sz="1200" b="1"/>
                <a:t>…</a:t>
              </a:r>
            </a:p>
          </p:txBody>
        </p:sp>
        <p:cxnSp>
          <p:nvCxnSpPr>
            <p:cNvPr id="16" name="Straight Connector 15"/>
            <p:cNvCxnSpPr>
              <a:stCxn id="7" idx="4"/>
              <a:endCxn id="6" idx="0"/>
            </p:cNvCxnSpPr>
            <p:nvPr/>
          </p:nvCxnSpPr>
          <p:spPr>
            <a:xfrm rot="5400000">
              <a:off x="1667510" y="4700270"/>
              <a:ext cx="1130300" cy="89916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a:stCxn id="7" idx="4"/>
              <a:endCxn id="8" idx="0"/>
            </p:cNvCxnSpPr>
            <p:nvPr/>
          </p:nvCxnSpPr>
          <p:spPr>
            <a:xfrm rot="16200000" flipH="1">
              <a:off x="2429510" y="4837430"/>
              <a:ext cx="1130300" cy="62484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a:stCxn id="7" idx="4"/>
              <a:endCxn id="9" idx="0"/>
            </p:cNvCxnSpPr>
            <p:nvPr/>
          </p:nvCxnSpPr>
          <p:spPr>
            <a:xfrm rot="16200000" flipH="1">
              <a:off x="3267710" y="3999230"/>
              <a:ext cx="1130300" cy="230124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a:stCxn id="7" idx="4"/>
              <a:endCxn id="10" idx="0"/>
            </p:cNvCxnSpPr>
            <p:nvPr/>
          </p:nvCxnSpPr>
          <p:spPr>
            <a:xfrm rot="16200000" flipH="1">
              <a:off x="4525010" y="2741930"/>
              <a:ext cx="1130300" cy="481584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a:stCxn id="12" idx="4"/>
              <a:endCxn id="8" idx="0"/>
            </p:cNvCxnSpPr>
            <p:nvPr/>
          </p:nvCxnSpPr>
          <p:spPr>
            <a:xfrm rot="5400000">
              <a:off x="3115310" y="4776470"/>
              <a:ext cx="1130300" cy="74676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a:stCxn id="12" idx="4"/>
              <a:endCxn id="9" idx="0"/>
            </p:cNvCxnSpPr>
            <p:nvPr/>
          </p:nvCxnSpPr>
          <p:spPr>
            <a:xfrm rot="16200000" flipH="1">
              <a:off x="3953510" y="4685030"/>
              <a:ext cx="1130300" cy="92964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a:stCxn id="12" idx="4"/>
              <a:endCxn id="10" idx="0"/>
            </p:cNvCxnSpPr>
            <p:nvPr/>
          </p:nvCxnSpPr>
          <p:spPr>
            <a:xfrm rot="16200000" flipH="1">
              <a:off x="5210810" y="3427730"/>
              <a:ext cx="1130300" cy="344424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a:stCxn id="13" idx="4"/>
              <a:endCxn id="6" idx="0"/>
            </p:cNvCxnSpPr>
            <p:nvPr/>
          </p:nvCxnSpPr>
          <p:spPr>
            <a:xfrm rot="5400000">
              <a:off x="3542030" y="2825750"/>
              <a:ext cx="1130300" cy="464820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a:stCxn id="12" idx="4"/>
              <a:endCxn id="6" idx="0"/>
            </p:cNvCxnSpPr>
            <p:nvPr/>
          </p:nvCxnSpPr>
          <p:spPr>
            <a:xfrm rot="5400000">
              <a:off x="2353310" y="4014470"/>
              <a:ext cx="1130300" cy="227076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5" name="Straight Connector 24"/>
            <p:cNvCxnSpPr>
              <a:stCxn id="13" idx="4"/>
              <a:endCxn id="8" idx="0"/>
            </p:cNvCxnSpPr>
            <p:nvPr/>
          </p:nvCxnSpPr>
          <p:spPr>
            <a:xfrm rot="5400000">
              <a:off x="4304030" y="3587750"/>
              <a:ext cx="1130300" cy="312420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6" name="Straight Connector 25"/>
            <p:cNvCxnSpPr>
              <a:stCxn id="13" idx="4"/>
              <a:endCxn id="9" idx="0"/>
            </p:cNvCxnSpPr>
            <p:nvPr/>
          </p:nvCxnSpPr>
          <p:spPr>
            <a:xfrm rot="5400000">
              <a:off x="5142230" y="4425950"/>
              <a:ext cx="1130300" cy="144780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7" name="Straight Connector 26"/>
            <p:cNvCxnSpPr>
              <a:stCxn id="13" idx="4"/>
              <a:endCxn id="10" idx="0"/>
            </p:cNvCxnSpPr>
            <p:nvPr/>
          </p:nvCxnSpPr>
          <p:spPr>
            <a:xfrm rot="16200000" flipH="1">
              <a:off x="6399530" y="4616450"/>
              <a:ext cx="1130300" cy="106680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8" name="Straight Connector 27"/>
            <p:cNvCxnSpPr>
              <a:stCxn id="11" idx="4"/>
              <a:endCxn id="7" idx="0"/>
            </p:cNvCxnSpPr>
            <p:nvPr/>
          </p:nvCxnSpPr>
          <p:spPr>
            <a:xfrm rot="5400000">
              <a:off x="3298190" y="2381250"/>
              <a:ext cx="764540" cy="199644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a:stCxn id="11" idx="4"/>
              <a:endCxn id="12" idx="0"/>
            </p:cNvCxnSpPr>
            <p:nvPr/>
          </p:nvCxnSpPr>
          <p:spPr>
            <a:xfrm rot="5400000">
              <a:off x="3983990" y="3067050"/>
              <a:ext cx="764540" cy="62484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0" name="Straight Connector 29"/>
            <p:cNvCxnSpPr>
              <a:stCxn id="11" idx="4"/>
              <a:endCxn id="13" idx="0"/>
            </p:cNvCxnSpPr>
            <p:nvPr/>
          </p:nvCxnSpPr>
          <p:spPr>
            <a:xfrm rot="16200000" flipH="1">
              <a:off x="5172710" y="2503170"/>
              <a:ext cx="764540" cy="175260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sp>
          <p:nvSpPr>
            <p:cNvPr id="31" name="TextBox 74"/>
            <p:cNvSpPr txBox="1">
              <a:spLocks noChangeArrowheads="1"/>
            </p:cNvSpPr>
            <p:nvPr/>
          </p:nvSpPr>
          <p:spPr bwMode="auto">
            <a:xfrm>
              <a:off x="424179" y="2362200"/>
              <a:ext cx="1295400" cy="474507"/>
            </a:xfrm>
            <a:prstGeom prst="rect">
              <a:avLst/>
            </a:prstGeom>
            <a:noFill/>
            <a:ln w="9525">
              <a:noFill/>
              <a:miter lim="800000"/>
              <a:headEnd/>
              <a:tailEnd/>
            </a:ln>
          </p:spPr>
          <p:txBody>
            <a:bodyPr>
              <a:prstTxWarp prst="textNoShape">
                <a:avLst/>
              </a:prstTxWarp>
              <a:spAutoFit/>
            </a:bodyPr>
            <a:lstStyle/>
            <a:p>
              <a:r>
                <a:rPr lang="en-US" sz="1200" dirty="0"/>
                <a:t>Output</a:t>
              </a:r>
            </a:p>
          </p:txBody>
        </p:sp>
        <p:sp>
          <p:nvSpPr>
            <p:cNvPr id="32" name="TextBox 75"/>
            <p:cNvSpPr txBox="1">
              <a:spLocks noChangeArrowheads="1"/>
            </p:cNvSpPr>
            <p:nvPr/>
          </p:nvSpPr>
          <p:spPr bwMode="auto">
            <a:xfrm>
              <a:off x="1" y="5943600"/>
              <a:ext cx="1295400" cy="474507"/>
            </a:xfrm>
            <a:prstGeom prst="rect">
              <a:avLst/>
            </a:prstGeom>
            <a:noFill/>
            <a:ln w="9525">
              <a:noFill/>
              <a:miter lim="800000"/>
              <a:headEnd/>
              <a:tailEnd/>
            </a:ln>
          </p:spPr>
          <p:txBody>
            <a:bodyPr>
              <a:prstTxWarp prst="textNoShape">
                <a:avLst/>
              </a:prstTxWarp>
              <a:spAutoFit/>
            </a:bodyPr>
            <a:lstStyle/>
            <a:p>
              <a:pPr algn="ctr"/>
              <a:r>
                <a:rPr lang="en-US" sz="1200"/>
                <a:t>Input</a:t>
              </a:r>
            </a:p>
          </p:txBody>
        </p:sp>
        <p:sp>
          <p:nvSpPr>
            <p:cNvPr id="33" name="TextBox 76"/>
            <p:cNvSpPr txBox="1">
              <a:spLocks noChangeArrowheads="1"/>
            </p:cNvSpPr>
            <p:nvPr/>
          </p:nvSpPr>
          <p:spPr bwMode="auto">
            <a:xfrm>
              <a:off x="-15240" y="3990341"/>
              <a:ext cx="2057400" cy="474507"/>
            </a:xfrm>
            <a:prstGeom prst="rect">
              <a:avLst/>
            </a:prstGeom>
            <a:noFill/>
            <a:ln w="9525">
              <a:noFill/>
              <a:miter lim="800000"/>
              <a:headEnd/>
              <a:tailEnd/>
            </a:ln>
          </p:spPr>
          <p:txBody>
            <a:bodyPr>
              <a:prstTxWarp prst="textNoShape">
                <a:avLst/>
              </a:prstTxWarp>
              <a:spAutoFit/>
            </a:bodyPr>
            <a:lstStyle/>
            <a:p>
              <a:pPr algn="ctr"/>
              <a:r>
                <a:rPr lang="en-US" sz="1200" dirty="0"/>
                <a:t>Hidden Layer</a:t>
              </a:r>
            </a:p>
          </p:txBody>
        </p:sp>
      </p:grpSp>
      <p:pic>
        <p:nvPicPr>
          <p:cNvPr id="37" name="Picture 36"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4818" y="1500884"/>
            <a:ext cx="3280042" cy="5209142"/>
          </a:xfrm>
          <a:prstGeom prst="rect">
            <a:avLst/>
          </a:prstGeom>
        </p:spPr>
      </p:pic>
      <mc:AlternateContent xmlns:mc="http://schemas.openxmlformats.org/markup-compatibility/2006" xmlns:a14="http://schemas.microsoft.com/office/drawing/2010/main">
        <mc:Choice Requires="a14">
          <p:sp>
            <p:nvSpPr>
              <p:cNvPr id="36" name="CasellaDiTesto 35">
                <a:extLst>
                  <a:ext uri="{FF2B5EF4-FFF2-40B4-BE49-F238E27FC236}">
                    <a16:creationId xmlns:a16="http://schemas.microsoft.com/office/drawing/2014/main" id="{35AA1702-1B0B-4667-B2CC-5AE42AF28744}"/>
                  </a:ext>
                </a:extLst>
              </p:cNvPr>
              <p:cNvSpPr txBox="1"/>
              <p:nvPr/>
            </p:nvSpPr>
            <p:spPr>
              <a:xfrm>
                <a:off x="3836424" y="2103420"/>
                <a:ext cx="1172437" cy="430887"/>
              </a:xfrm>
              <a:prstGeom prst="rect">
                <a:avLst/>
              </a:prstGeom>
              <a:noFill/>
            </p:spPr>
            <p:txBody>
              <a:bodyPr wrap="none" lIns="0" tIns="0" rIns="0" bIns="0" rtlCol="0">
                <a:spAutoFit/>
              </a:bodyPr>
              <a:lstStyle/>
              <a:p>
                <a:r>
                  <a:rPr lang="it-IT" sz="2800" dirty="0"/>
                  <a:t>E</a:t>
                </a:r>
                <a14:m>
                  <m:oMath xmlns:m="http://schemas.openxmlformats.org/officeDocument/2006/math">
                    <m:r>
                      <a:rPr lang="it-IT" sz="2800" i="1">
                        <a:latin typeface="Cambria Math" panose="02040503050406030204" pitchFamily="18" charset="0"/>
                      </a:rPr>
                      <m:t>(</m:t>
                    </m:r>
                    <m:r>
                      <a:rPr lang="it-IT" sz="2800" i="1">
                        <a:latin typeface="Cambria Math" panose="02040503050406030204" pitchFamily="18" charset="0"/>
                      </a:rPr>
                      <m:t>𝑦</m:t>
                    </m:r>
                    <m:r>
                      <a:rPr lang="it-IT" sz="2800" i="1">
                        <a:latin typeface="Cambria Math" panose="02040503050406030204" pitchFamily="18" charset="0"/>
                      </a:rPr>
                      <m:t>,</m:t>
                    </m:r>
                    <m:sSup>
                      <m:sSupPr>
                        <m:ctrlPr>
                          <a:rPr lang="it-IT" sz="2800" i="1">
                            <a:latin typeface="Cambria Math" panose="02040503050406030204" pitchFamily="18" charset="0"/>
                          </a:rPr>
                        </m:ctrlPr>
                      </m:sSupPr>
                      <m:e>
                        <m:r>
                          <a:rPr lang="it-IT" sz="2800" i="1">
                            <a:latin typeface="Cambria Math" panose="02040503050406030204" pitchFamily="18" charset="0"/>
                          </a:rPr>
                          <m:t>𝑦</m:t>
                        </m:r>
                      </m:e>
                      <m:sup>
                        <m:r>
                          <a:rPr lang="it-IT" sz="2800" i="1">
                            <a:latin typeface="Cambria Math" panose="02040503050406030204" pitchFamily="18" charset="0"/>
                          </a:rPr>
                          <m:t>∗</m:t>
                        </m:r>
                      </m:sup>
                    </m:sSup>
                    <m:r>
                      <a:rPr lang="it-IT" sz="2800" i="1">
                        <a:latin typeface="Cambria Math" panose="02040503050406030204" pitchFamily="18" charset="0"/>
                      </a:rPr>
                      <m:t>)</m:t>
                    </m:r>
                  </m:oMath>
                </a14:m>
                <a:endParaRPr lang="en-GB" sz="2800" dirty="0"/>
              </a:p>
            </p:txBody>
          </p:sp>
        </mc:Choice>
        <mc:Fallback xmlns="">
          <p:sp>
            <p:nvSpPr>
              <p:cNvPr id="36" name="CasellaDiTesto 35">
                <a:extLst>
                  <a:ext uri="{FF2B5EF4-FFF2-40B4-BE49-F238E27FC236}">
                    <a16:creationId xmlns:a16="http://schemas.microsoft.com/office/drawing/2014/main" id="{35AA1702-1B0B-4667-B2CC-5AE42AF28744}"/>
                  </a:ext>
                </a:extLst>
              </p:cNvPr>
              <p:cNvSpPr txBox="1">
                <a:spLocks noRot="1" noChangeAspect="1" noMove="1" noResize="1" noEditPoints="1" noAdjustHandles="1" noChangeArrowheads="1" noChangeShapeType="1" noTextEdit="1"/>
              </p:cNvSpPr>
              <p:nvPr/>
            </p:nvSpPr>
            <p:spPr>
              <a:xfrm>
                <a:off x="3836424" y="2103420"/>
                <a:ext cx="1172437" cy="430887"/>
              </a:xfrm>
              <a:prstGeom prst="rect">
                <a:avLst/>
              </a:prstGeom>
              <a:blipFill>
                <a:blip r:embed="rId4"/>
                <a:stretch>
                  <a:fillRect l="-18280" t="-25714" r="-12903" b="-45714"/>
                </a:stretch>
              </a:blipFill>
            </p:spPr>
            <p:txBody>
              <a:bodyPr/>
              <a:lstStyle/>
              <a:p>
                <a:r>
                  <a:rPr lang="it-IT">
                    <a:noFill/>
                  </a:rPr>
                  <a:t> </a:t>
                </a:r>
              </a:p>
            </p:txBody>
          </p:sp>
        </mc:Fallback>
      </mc:AlternateContent>
      <p:sp>
        <p:nvSpPr>
          <p:cNvPr id="38" name="CasellaDiTesto 37">
            <a:extLst>
              <a:ext uri="{FF2B5EF4-FFF2-40B4-BE49-F238E27FC236}">
                <a16:creationId xmlns:a16="http://schemas.microsoft.com/office/drawing/2014/main" id="{EFC6425C-3098-435C-89A8-F2A6AC674C62}"/>
              </a:ext>
            </a:extLst>
          </p:cNvPr>
          <p:cNvSpPr txBox="1"/>
          <p:nvPr/>
        </p:nvSpPr>
        <p:spPr>
          <a:xfrm>
            <a:off x="1943586" y="5553056"/>
            <a:ext cx="4413471" cy="1200329"/>
          </a:xfrm>
          <a:prstGeom prst="rect">
            <a:avLst/>
          </a:prstGeom>
          <a:noFill/>
        </p:spPr>
        <p:txBody>
          <a:bodyPr wrap="square" rtlCol="0">
            <a:spAutoFit/>
          </a:bodyPr>
          <a:lstStyle/>
          <a:p>
            <a:r>
              <a:rPr lang="it-IT" sz="2400" dirty="0"/>
              <a:t>How do </a:t>
            </a:r>
            <a:r>
              <a:rPr lang="it-IT" sz="2400" dirty="0" err="1"/>
              <a:t>we</a:t>
            </a:r>
            <a:r>
              <a:rPr lang="it-IT" sz="2400" dirty="0"/>
              <a:t> update </a:t>
            </a:r>
            <a:r>
              <a:rPr lang="it-IT" sz="2400" dirty="0" err="1"/>
              <a:t>these</a:t>
            </a:r>
            <a:r>
              <a:rPr lang="it-IT" sz="2400" dirty="0"/>
              <a:t> weights </a:t>
            </a:r>
            <a:r>
              <a:rPr lang="it-IT" sz="2400" dirty="0" err="1"/>
              <a:t>given</a:t>
            </a:r>
            <a:r>
              <a:rPr lang="it-IT" sz="2400" dirty="0"/>
              <a:t> the </a:t>
            </a:r>
            <a:r>
              <a:rPr lang="it-IT" sz="2400" dirty="0" err="1"/>
              <a:t>loss</a:t>
            </a:r>
            <a:r>
              <a:rPr lang="it-IT" sz="2400" dirty="0"/>
              <a:t> </a:t>
            </a:r>
            <a:r>
              <a:rPr lang="it-IT" sz="2400" dirty="0" err="1"/>
              <a:t>is</a:t>
            </a:r>
            <a:r>
              <a:rPr lang="it-IT" sz="2400" dirty="0"/>
              <a:t> </a:t>
            </a:r>
            <a:r>
              <a:rPr lang="it-IT" sz="2400" dirty="0" err="1"/>
              <a:t>available</a:t>
            </a:r>
            <a:r>
              <a:rPr lang="it-IT" sz="2400" dirty="0"/>
              <a:t> </a:t>
            </a:r>
            <a:r>
              <a:rPr lang="it-IT" sz="2400" dirty="0" err="1"/>
              <a:t>only</a:t>
            </a:r>
            <a:r>
              <a:rPr lang="it-IT" sz="2400" dirty="0"/>
              <a:t> </a:t>
            </a:r>
            <a:r>
              <a:rPr lang="it-IT" sz="2400" dirty="0" err="1"/>
              <a:t>at</a:t>
            </a:r>
            <a:r>
              <a:rPr lang="it-IT" sz="2400" dirty="0"/>
              <a:t> the output </a:t>
            </a:r>
            <a:r>
              <a:rPr lang="it-IT" sz="2400" dirty="0" err="1"/>
              <a:t>unit</a:t>
            </a:r>
            <a:r>
              <a:rPr lang="it-IT" sz="2400" dirty="0"/>
              <a:t>?</a:t>
            </a:r>
            <a:endParaRPr lang="en-GB" sz="2400" dirty="0"/>
          </a:p>
        </p:txBody>
      </p:sp>
      <p:cxnSp>
        <p:nvCxnSpPr>
          <p:cNvPr id="40" name="Connettore 2 39">
            <a:extLst>
              <a:ext uri="{FF2B5EF4-FFF2-40B4-BE49-F238E27FC236}">
                <a16:creationId xmlns:a16="http://schemas.microsoft.com/office/drawing/2014/main" id="{61D273A6-D3D2-4CF8-95EE-7D1578E84F13}"/>
              </a:ext>
            </a:extLst>
          </p:cNvPr>
          <p:cNvCxnSpPr>
            <a:cxnSpLocks/>
            <a:stCxn id="38" idx="0"/>
          </p:cNvCxnSpPr>
          <p:nvPr/>
        </p:nvCxnSpPr>
        <p:spPr>
          <a:xfrm flipH="1" flipV="1">
            <a:off x="3998681" y="4674743"/>
            <a:ext cx="151640" cy="878312"/>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 name="CasellaDiTesto 2">
            <a:extLst>
              <a:ext uri="{FF2B5EF4-FFF2-40B4-BE49-F238E27FC236}">
                <a16:creationId xmlns:a16="http://schemas.microsoft.com/office/drawing/2014/main" id="{5EBCED45-4C1E-574A-8ED7-E4C711A719BB}"/>
              </a:ext>
            </a:extLst>
          </p:cNvPr>
          <p:cNvSpPr txBox="1"/>
          <p:nvPr/>
        </p:nvSpPr>
        <p:spPr>
          <a:xfrm>
            <a:off x="7563358" y="1734088"/>
            <a:ext cx="296876" cy="369332"/>
          </a:xfrm>
          <a:prstGeom prst="rect">
            <a:avLst/>
          </a:prstGeom>
          <a:solidFill>
            <a:schemeClr val="bg1"/>
          </a:solidFill>
        </p:spPr>
        <p:txBody>
          <a:bodyPr wrap="none" rtlCol="0">
            <a:spAutoFit/>
          </a:bodyPr>
          <a:lstStyle/>
          <a:p>
            <a:r>
              <a:rPr lang="it-IT" dirty="0"/>
              <a:t>E</a:t>
            </a:r>
          </a:p>
        </p:txBody>
      </p:sp>
    </p:spTree>
    <p:extLst>
      <p:ext uri="{BB962C8B-B14F-4D97-AF65-F5344CB8AC3E}">
        <p14:creationId xmlns:p14="http://schemas.microsoft.com/office/powerpoint/2010/main" val="282858864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Error Backpropagation</a:t>
            </a:r>
          </a:p>
        </p:txBody>
      </p:sp>
      <p:grpSp>
        <p:nvGrpSpPr>
          <p:cNvPr id="34" name="Group 33"/>
          <p:cNvGrpSpPr/>
          <p:nvPr/>
        </p:nvGrpSpPr>
        <p:grpSpPr>
          <a:xfrm>
            <a:off x="1623310" y="2701705"/>
            <a:ext cx="4626190" cy="2547370"/>
            <a:chOff x="-15240" y="2174240"/>
            <a:chExt cx="7924800" cy="4363720"/>
          </a:xfrm>
        </p:grpSpPr>
        <p:sp>
          <p:nvSpPr>
            <p:cNvPr id="6" name="Connector 5"/>
            <p:cNvSpPr/>
            <p:nvPr/>
          </p:nvSpPr>
          <p:spPr>
            <a:xfrm>
              <a:off x="1371600" y="5715000"/>
              <a:ext cx="822960" cy="82296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200" dirty="0">
                  <a:ln>
                    <a:solidFill>
                      <a:schemeClr val="tx1"/>
                    </a:solidFill>
                  </a:ln>
                  <a:solidFill>
                    <a:schemeClr val="tx1"/>
                  </a:solidFill>
                  <a:latin typeface="Arial"/>
                  <a:cs typeface="Arial"/>
                </a:rPr>
                <a:t>x</a:t>
              </a:r>
              <a:r>
                <a:rPr lang="en-US" sz="1200" baseline="-25000" dirty="0">
                  <a:ln>
                    <a:solidFill>
                      <a:schemeClr val="tx1"/>
                    </a:solidFill>
                  </a:ln>
                  <a:solidFill>
                    <a:schemeClr val="tx1"/>
                  </a:solidFill>
                  <a:latin typeface="Arial"/>
                  <a:cs typeface="Arial"/>
                </a:rPr>
                <a:t>1</a:t>
              </a:r>
            </a:p>
          </p:txBody>
        </p:sp>
        <p:sp>
          <p:nvSpPr>
            <p:cNvPr id="7" name="Connector 6"/>
            <p:cNvSpPr/>
            <p:nvPr/>
          </p:nvSpPr>
          <p:spPr>
            <a:xfrm>
              <a:off x="2270760" y="3761740"/>
              <a:ext cx="822960" cy="82296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200" dirty="0">
                  <a:ln>
                    <a:solidFill>
                      <a:schemeClr val="tx1"/>
                    </a:solidFill>
                  </a:ln>
                  <a:solidFill>
                    <a:schemeClr val="tx1"/>
                  </a:solidFill>
                  <a:latin typeface="Arial"/>
                  <a:cs typeface="Arial"/>
                </a:rPr>
                <a:t>z</a:t>
              </a:r>
              <a:r>
                <a:rPr lang="en-US" sz="1200" baseline="-25000" dirty="0">
                  <a:ln>
                    <a:solidFill>
                      <a:schemeClr val="tx1"/>
                    </a:solidFill>
                  </a:ln>
                  <a:solidFill>
                    <a:schemeClr val="tx1"/>
                  </a:solidFill>
                  <a:latin typeface="Arial"/>
                  <a:cs typeface="Arial"/>
                </a:rPr>
                <a:t>1</a:t>
              </a:r>
            </a:p>
          </p:txBody>
        </p:sp>
        <p:sp>
          <p:nvSpPr>
            <p:cNvPr id="8" name="Connector 7"/>
            <p:cNvSpPr/>
            <p:nvPr/>
          </p:nvSpPr>
          <p:spPr>
            <a:xfrm>
              <a:off x="2895600" y="5715000"/>
              <a:ext cx="822960" cy="82296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200" dirty="0">
                  <a:ln>
                    <a:solidFill>
                      <a:schemeClr val="tx1"/>
                    </a:solidFill>
                  </a:ln>
                  <a:solidFill>
                    <a:schemeClr val="tx1"/>
                  </a:solidFill>
                  <a:latin typeface="Arial"/>
                  <a:cs typeface="Arial"/>
                </a:rPr>
                <a:t>x</a:t>
              </a:r>
              <a:r>
                <a:rPr lang="en-US" sz="1200" baseline="-25000" dirty="0">
                  <a:ln>
                    <a:solidFill>
                      <a:schemeClr val="tx1"/>
                    </a:solidFill>
                  </a:ln>
                  <a:solidFill>
                    <a:schemeClr val="tx1"/>
                  </a:solidFill>
                  <a:latin typeface="Arial"/>
                  <a:cs typeface="Arial"/>
                </a:rPr>
                <a:t>2</a:t>
              </a:r>
            </a:p>
          </p:txBody>
        </p:sp>
        <p:sp>
          <p:nvSpPr>
            <p:cNvPr id="9" name="Connector 8"/>
            <p:cNvSpPr/>
            <p:nvPr/>
          </p:nvSpPr>
          <p:spPr>
            <a:xfrm>
              <a:off x="4572000" y="5715000"/>
              <a:ext cx="822960" cy="82296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200" dirty="0">
                  <a:ln>
                    <a:solidFill>
                      <a:schemeClr val="tx1"/>
                    </a:solidFill>
                  </a:ln>
                  <a:solidFill>
                    <a:schemeClr val="tx1"/>
                  </a:solidFill>
                  <a:latin typeface="Arial"/>
                  <a:cs typeface="Arial"/>
                </a:rPr>
                <a:t>x</a:t>
              </a:r>
              <a:r>
                <a:rPr lang="en-US" sz="1200" baseline="-25000" dirty="0">
                  <a:ln>
                    <a:solidFill>
                      <a:schemeClr val="tx1"/>
                    </a:solidFill>
                  </a:ln>
                  <a:solidFill>
                    <a:schemeClr val="tx1"/>
                  </a:solidFill>
                  <a:latin typeface="Arial"/>
                  <a:cs typeface="Arial"/>
                </a:rPr>
                <a:t>3</a:t>
              </a:r>
            </a:p>
          </p:txBody>
        </p:sp>
        <p:sp>
          <p:nvSpPr>
            <p:cNvPr id="10" name="Connector 9"/>
            <p:cNvSpPr/>
            <p:nvPr/>
          </p:nvSpPr>
          <p:spPr>
            <a:xfrm>
              <a:off x="7086600" y="5715000"/>
              <a:ext cx="822960" cy="822960"/>
            </a:xfrm>
            <a:prstGeom prst="flowChartConnector">
              <a:avLst/>
            </a:prstGeom>
            <a:solidFill>
              <a:srgbClr val="72CEE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200" dirty="0" err="1">
                  <a:ln>
                    <a:solidFill>
                      <a:schemeClr val="tx1"/>
                    </a:solidFill>
                  </a:ln>
                  <a:solidFill>
                    <a:schemeClr val="tx1"/>
                  </a:solidFill>
                  <a:latin typeface="Arial"/>
                  <a:cs typeface="Arial"/>
                </a:rPr>
                <a:t>x</a:t>
              </a:r>
              <a:r>
                <a:rPr lang="en-US" sz="1200" baseline="-25000" dirty="0" err="1">
                  <a:ln>
                    <a:solidFill>
                      <a:schemeClr val="tx1"/>
                    </a:solidFill>
                  </a:ln>
                  <a:solidFill>
                    <a:schemeClr val="tx1"/>
                  </a:solidFill>
                  <a:latin typeface="Arial"/>
                  <a:cs typeface="Arial"/>
                </a:rPr>
                <a:t>M</a:t>
              </a:r>
              <a:endParaRPr lang="en-US" sz="1200" baseline="-25000" dirty="0">
                <a:ln>
                  <a:solidFill>
                    <a:schemeClr val="tx1"/>
                  </a:solidFill>
                </a:ln>
                <a:solidFill>
                  <a:schemeClr val="tx1"/>
                </a:solidFill>
                <a:latin typeface="Arial"/>
                <a:cs typeface="Arial"/>
              </a:endParaRPr>
            </a:p>
          </p:txBody>
        </p:sp>
        <p:sp>
          <p:nvSpPr>
            <p:cNvPr id="11" name="Connector 10"/>
            <p:cNvSpPr/>
            <p:nvPr/>
          </p:nvSpPr>
          <p:spPr>
            <a:xfrm>
              <a:off x="4267200" y="2174240"/>
              <a:ext cx="822960" cy="822960"/>
            </a:xfrm>
            <a:prstGeom prst="flowChartConnector">
              <a:avLst/>
            </a:prstGeom>
            <a:solidFill>
              <a:srgbClr val="E0D925"/>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200" dirty="0">
                  <a:ln>
                    <a:solidFill>
                      <a:schemeClr val="tx1"/>
                    </a:solidFill>
                  </a:ln>
                  <a:solidFill>
                    <a:schemeClr val="tx1"/>
                  </a:solidFill>
                  <a:latin typeface="Arial"/>
                  <a:cs typeface="Arial"/>
                </a:rPr>
                <a:t>y</a:t>
              </a:r>
              <a:endParaRPr lang="en-US" sz="1200" baseline="-25000" dirty="0">
                <a:ln>
                  <a:solidFill>
                    <a:schemeClr val="tx1"/>
                  </a:solidFill>
                </a:ln>
                <a:solidFill>
                  <a:schemeClr val="tx1"/>
                </a:solidFill>
                <a:latin typeface="Arial"/>
                <a:cs typeface="Arial"/>
              </a:endParaRPr>
            </a:p>
          </p:txBody>
        </p:sp>
        <p:sp>
          <p:nvSpPr>
            <p:cNvPr id="12" name="Connector 11"/>
            <p:cNvSpPr/>
            <p:nvPr/>
          </p:nvSpPr>
          <p:spPr>
            <a:xfrm>
              <a:off x="3642360" y="3761740"/>
              <a:ext cx="822960" cy="82296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200" dirty="0">
                  <a:ln>
                    <a:solidFill>
                      <a:schemeClr val="tx1"/>
                    </a:solidFill>
                  </a:ln>
                  <a:solidFill>
                    <a:schemeClr val="tx1"/>
                  </a:solidFill>
                  <a:latin typeface="Arial"/>
                  <a:cs typeface="Arial"/>
                </a:rPr>
                <a:t>z</a:t>
              </a:r>
              <a:r>
                <a:rPr lang="en-US" sz="1200" baseline="-25000" dirty="0">
                  <a:ln>
                    <a:solidFill>
                      <a:schemeClr val="tx1"/>
                    </a:solidFill>
                  </a:ln>
                  <a:solidFill>
                    <a:schemeClr val="tx1"/>
                  </a:solidFill>
                  <a:latin typeface="Arial"/>
                  <a:cs typeface="Arial"/>
                </a:rPr>
                <a:t>2</a:t>
              </a:r>
            </a:p>
          </p:txBody>
        </p:sp>
        <p:sp>
          <p:nvSpPr>
            <p:cNvPr id="13" name="Connector 12"/>
            <p:cNvSpPr/>
            <p:nvPr/>
          </p:nvSpPr>
          <p:spPr>
            <a:xfrm>
              <a:off x="6019800" y="3761740"/>
              <a:ext cx="822960" cy="822960"/>
            </a:xfrm>
            <a:prstGeom prst="flowChartConnector">
              <a:avLst/>
            </a:prstGeom>
            <a:solidFill>
              <a:srgbClr val="EE6802"/>
            </a:solidFill>
            <a:ln>
              <a:solidFill>
                <a:schemeClr val="accent1">
                  <a:shade val="95000"/>
                  <a:satMod val="10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200" dirty="0" err="1">
                  <a:ln>
                    <a:solidFill>
                      <a:schemeClr val="tx1"/>
                    </a:solidFill>
                  </a:ln>
                  <a:solidFill>
                    <a:schemeClr val="tx1"/>
                  </a:solidFill>
                  <a:latin typeface="Arial"/>
                  <a:cs typeface="Arial"/>
                </a:rPr>
                <a:t>z</a:t>
              </a:r>
              <a:r>
                <a:rPr lang="en-US" sz="1200" baseline="-25000" dirty="0" err="1">
                  <a:ln>
                    <a:solidFill>
                      <a:schemeClr val="tx1"/>
                    </a:solidFill>
                  </a:ln>
                  <a:solidFill>
                    <a:schemeClr val="tx1"/>
                  </a:solidFill>
                  <a:latin typeface="Arial"/>
                  <a:cs typeface="Arial"/>
                </a:rPr>
                <a:t>D</a:t>
              </a:r>
              <a:endParaRPr lang="en-US" sz="1200" baseline="-25000" dirty="0">
                <a:ln>
                  <a:solidFill>
                    <a:schemeClr val="tx1"/>
                  </a:solidFill>
                </a:ln>
                <a:solidFill>
                  <a:schemeClr val="tx1"/>
                </a:solidFill>
                <a:latin typeface="Arial"/>
                <a:cs typeface="Arial"/>
              </a:endParaRPr>
            </a:p>
          </p:txBody>
        </p:sp>
        <p:sp>
          <p:nvSpPr>
            <p:cNvPr id="14" name="TextBox 13"/>
            <p:cNvSpPr txBox="1">
              <a:spLocks noChangeArrowheads="1"/>
            </p:cNvSpPr>
            <p:nvPr/>
          </p:nvSpPr>
          <p:spPr bwMode="auto">
            <a:xfrm>
              <a:off x="5013959" y="3846746"/>
              <a:ext cx="533400" cy="474507"/>
            </a:xfrm>
            <a:prstGeom prst="rect">
              <a:avLst/>
            </a:prstGeom>
            <a:noFill/>
            <a:ln w="9525">
              <a:noFill/>
              <a:miter lim="800000"/>
              <a:headEnd/>
              <a:tailEnd/>
            </a:ln>
          </p:spPr>
          <p:txBody>
            <a:bodyPr anchor="ctr">
              <a:prstTxWarp prst="textNoShape">
                <a:avLst/>
              </a:prstTxWarp>
              <a:spAutoFit/>
            </a:bodyPr>
            <a:lstStyle/>
            <a:p>
              <a:pPr algn="ctr"/>
              <a:r>
                <a:rPr lang="en-US" sz="1200" b="1"/>
                <a:t>…</a:t>
              </a:r>
            </a:p>
          </p:txBody>
        </p:sp>
        <p:sp>
          <p:nvSpPr>
            <p:cNvPr id="15" name="TextBox 14"/>
            <p:cNvSpPr txBox="1">
              <a:spLocks noChangeArrowheads="1"/>
            </p:cNvSpPr>
            <p:nvPr/>
          </p:nvSpPr>
          <p:spPr bwMode="auto">
            <a:xfrm>
              <a:off x="6019801" y="5800007"/>
              <a:ext cx="533400" cy="474507"/>
            </a:xfrm>
            <a:prstGeom prst="rect">
              <a:avLst/>
            </a:prstGeom>
            <a:noFill/>
            <a:ln w="9525">
              <a:noFill/>
              <a:miter lim="800000"/>
              <a:headEnd/>
              <a:tailEnd/>
            </a:ln>
          </p:spPr>
          <p:txBody>
            <a:bodyPr anchor="ctr">
              <a:prstTxWarp prst="textNoShape">
                <a:avLst/>
              </a:prstTxWarp>
              <a:spAutoFit/>
            </a:bodyPr>
            <a:lstStyle/>
            <a:p>
              <a:pPr algn="ctr"/>
              <a:r>
                <a:rPr lang="en-US" sz="1200" b="1"/>
                <a:t>…</a:t>
              </a:r>
            </a:p>
          </p:txBody>
        </p:sp>
        <p:cxnSp>
          <p:nvCxnSpPr>
            <p:cNvPr id="16" name="Straight Connector 15"/>
            <p:cNvCxnSpPr>
              <a:stCxn id="7" idx="4"/>
              <a:endCxn id="6" idx="0"/>
            </p:cNvCxnSpPr>
            <p:nvPr/>
          </p:nvCxnSpPr>
          <p:spPr>
            <a:xfrm rot="5400000">
              <a:off x="1667510" y="4700270"/>
              <a:ext cx="1130300" cy="89916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a:stCxn id="7" idx="4"/>
              <a:endCxn id="8" idx="0"/>
            </p:cNvCxnSpPr>
            <p:nvPr/>
          </p:nvCxnSpPr>
          <p:spPr>
            <a:xfrm rot="16200000" flipH="1">
              <a:off x="2429510" y="4837430"/>
              <a:ext cx="1130300" cy="62484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a:stCxn id="7" idx="4"/>
              <a:endCxn id="9" idx="0"/>
            </p:cNvCxnSpPr>
            <p:nvPr/>
          </p:nvCxnSpPr>
          <p:spPr>
            <a:xfrm rot="16200000" flipH="1">
              <a:off x="3267710" y="3999230"/>
              <a:ext cx="1130300" cy="230124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a:stCxn id="7" idx="4"/>
              <a:endCxn id="10" idx="0"/>
            </p:cNvCxnSpPr>
            <p:nvPr/>
          </p:nvCxnSpPr>
          <p:spPr>
            <a:xfrm rot="16200000" flipH="1">
              <a:off x="4525010" y="2741930"/>
              <a:ext cx="1130300" cy="481584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a:stCxn id="12" idx="4"/>
              <a:endCxn id="8" idx="0"/>
            </p:cNvCxnSpPr>
            <p:nvPr/>
          </p:nvCxnSpPr>
          <p:spPr>
            <a:xfrm rot="5400000">
              <a:off x="3115310" y="4776470"/>
              <a:ext cx="1130300" cy="74676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a:stCxn id="12" idx="4"/>
              <a:endCxn id="9" idx="0"/>
            </p:cNvCxnSpPr>
            <p:nvPr/>
          </p:nvCxnSpPr>
          <p:spPr>
            <a:xfrm rot="16200000" flipH="1">
              <a:off x="3953510" y="4685030"/>
              <a:ext cx="1130300" cy="92964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a:stCxn id="12" idx="4"/>
              <a:endCxn id="10" idx="0"/>
            </p:cNvCxnSpPr>
            <p:nvPr/>
          </p:nvCxnSpPr>
          <p:spPr>
            <a:xfrm rot="16200000" flipH="1">
              <a:off x="5210810" y="3427730"/>
              <a:ext cx="1130300" cy="344424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a:stCxn id="13" idx="4"/>
              <a:endCxn id="6" idx="0"/>
            </p:cNvCxnSpPr>
            <p:nvPr/>
          </p:nvCxnSpPr>
          <p:spPr>
            <a:xfrm rot="5400000">
              <a:off x="3542030" y="2825750"/>
              <a:ext cx="1130300" cy="464820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a:stCxn id="12" idx="4"/>
              <a:endCxn id="6" idx="0"/>
            </p:cNvCxnSpPr>
            <p:nvPr/>
          </p:nvCxnSpPr>
          <p:spPr>
            <a:xfrm rot="5400000">
              <a:off x="2353310" y="4014470"/>
              <a:ext cx="1130300" cy="227076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5" name="Straight Connector 24"/>
            <p:cNvCxnSpPr>
              <a:stCxn id="13" idx="4"/>
              <a:endCxn id="8" idx="0"/>
            </p:cNvCxnSpPr>
            <p:nvPr/>
          </p:nvCxnSpPr>
          <p:spPr>
            <a:xfrm rot="5400000">
              <a:off x="4304030" y="3587750"/>
              <a:ext cx="1130300" cy="312420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6" name="Straight Connector 25"/>
            <p:cNvCxnSpPr>
              <a:stCxn id="13" idx="4"/>
              <a:endCxn id="9" idx="0"/>
            </p:cNvCxnSpPr>
            <p:nvPr/>
          </p:nvCxnSpPr>
          <p:spPr>
            <a:xfrm rot="5400000">
              <a:off x="5142230" y="4425950"/>
              <a:ext cx="1130300" cy="144780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7" name="Straight Connector 26"/>
            <p:cNvCxnSpPr>
              <a:stCxn id="13" idx="4"/>
              <a:endCxn id="10" idx="0"/>
            </p:cNvCxnSpPr>
            <p:nvPr/>
          </p:nvCxnSpPr>
          <p:spPr>
            <a:xfrm rot="16200000" flipH="1">
              <a:off x="6399530" y="4616450"/>
              <a:ext cx="1130300" cy="106680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8" name="Straight Connector 27"/>
            <p:cNvCxnSpPr>
              <a:stCxn id="11" idx="4"/>
              <a:endCxn id="7" idx="0"/>
            </p:cNvCxnSpPr>
            <p:nvPr/>
          </p:nvCxnSpPr>
          <p:spPr>
            <a:xfrm rot="5400000">
              <a:off x="3298190" y="2381250"/>
              <a:ext cx="764540" cy="199644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a:stCxn id="11" idx="4"/>
              <a:endCxn id="12" idx="0"/>
            </p:cNvCxnSpPr>
            <p:nvPr/>
          </p:nvCxnSpPr>
          <p:spPr>
            <a:xfrm rot="5400000">
              <a:off x="3983990" y="3067050"/>
              <a:ext cx="764540" cy="62484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cxnSp>
          <p:nvCxnSpPr>
            <p:cNvPr id="30" name="Straight Connector 29"/>
            <p:cNvCxnSpPr>
              <a:stCxn id="11" idx="4"/>
              <a:endCxn id="13" idx="0"/>
            </p:cNvCxnSpPr>
            <p:nvPr/>
          </p:nvCxnSpPr>
          <p:spPr>
            <a:xfrm rot="16200000" flipH="1">
              <a:off x="5172710" y="2503170"/>
              <a:ext cx="764540" cy="1752600"/>
            </a:xfrm>
            <a:prstGeom prst="line">
              <a:avLst/>
            </a:prstGeom>
            <a:ln>
              <a:solidFill>
                <a:schemeClr val="tx1"/>
              </a:solidFill>
              <a:headEnd type="arrow" w="lg" len="lg"/>
            </a:ln>
          </p:spPr>
          <p:style>
            <a:lnRef idx="2">
              <a:schemeClr val="accent1"/>
            </a:lnRef>
            <a:fillRef idx="0">
              <a:schemeClr val="accent1"/>
            </a:fillRef>
            <a:effectRef idx="1">
              <a:schemeClr val="accent1"/>
            </a:effectRef>
            <a:fontRef idx="minor">
              <a:schemeClr val="tx1"/>
            </a:fontRef>
          </p:style>
        </p:cxnSp>
        <p:sp>
          <p:nvSpPr>
            <p:cNvPr id="31" name="TextBox 74"/>
            <p:cNvSpPr txBox="1">
              <a:spLocks noChangeArrowheads="1"/>
            </p:cNvSpPr>
            <p:nvPr/>
          </p:nvSpPr>
          <p:spPr bwMode="auto">
            <a:xfrm>
              <a:off x="424179" y="2362200"/>
              <a:ext cx="1295400" cy="474507"/>
            </a:xfrm>
            <a:prstGeom prst="rect">
              <a:avLst/>
            </a:prstGeom>
            <a:noFill/>
            <a:ln w="9525">
              <a:noFill/>
              <a:miter lim="800000"/>
              <a:headEnd/>
              <a:tailEnd/>
            </a:ln>
          </p:spPr>
          <p:txBody>
            <a:bodyPr>
              <a:prstTxWarp prst="textNoShape">
                <a:avLst/>
              </a:prstTxWarp>
              <a:spAutoFit/>
            </a:bodyPr>
            <a:lstStyle/>
            <a:p>
              <a:r>
                <a:rPr lang="en-US" sz="1200" dirty="0"/>
                <a:t>Output</a:t>
              </a:r>
            </a:p>
          </p:txBody>
        </p:sp>
        <p:sp>
          <p:nvSpPr>
            <p:cNvPr id="32" name="TextBox 75"/>
            <p:cNvSpPr txBox="1">
              <a:spLocks noChangeArrowheads="1"/>
            </p:cNvSpPr>
            <p:nvPr/>
          </p:nvSpPr>
          <p:spPr bwMode="auto">
            <a:xfrm>
              <a:off x="1" y="5943600"/>
              <a:ext cx="1295400" cy="474507"/>
            </a:xfrm>
            <a:prstGeom prst="rect">
              <a:avLst/>
            </a:prstGeom>
            <a:noFill/>
            <a:ln w="9525">
              <a:noFill/>
              <a:miter lim="800000"/>
              <a:headEnd/>
              <a:tailEnd/>
            </a:ln>
          </p:spPr>
          <p:txBody>
            <a:bodyPr>
              <a:prstTxWarp prst="textNoShape">
                <a:avLst/>
              </a:prstTxWarp>
              <a:spAutoFit/>
            </a:bodyPr>
            <a:lstStyle/>
            <a:p>
              <a:pPr algn="ctr"/>
              <a:r>
                <a:rPr lang="en-US" sz="1200"/>
                <a:t>Input</a:t>
              </a:r>
            </a:p>
          </p:txBody>
        </p:sp>
        <p:sp>
          <p:nvSpPr>
            <p:cNvPr id="33" name="TextBox 76"/>
            <p:cNvSpPr txBox="1">
              <a:spLocks noChangeArrowheads="1"/>
            </p:cNvSpPr>
            <p:nvPr/>
          </p:nvSpPr>
          <p:spPr bwMode="auto">
            <a:xfrm>
              <a:off x="-15240" y="3990341"/>
              <a:ext cx="2057400" cy="474507"/>
            </a:xfrm>
            <a:prstGeom prst="rect">
              <a:avLst/>
            </a:prstGeom>
            <a:noFill/>
            <a:ln w="9525">
              <a:noFill/>
              <a:miter lim="800000"/>
              <a:headEnd/>
              <a:tailEnd/>
            </a:ln>
          </p:spPr>
          <p:txBody>
            <a:bodyPr>
              <a:prstTxWarp prst="textNoShape">
                <a:avLst/>
              </a:prstTxWarp>
              <a:spAutoFit/>
            </a:bodyPr>
            <a:lstStyle/>
            <a:p>
              <a:pPr algn="ctr"/>
              <a:r>
                <a:rPr lang="en-US" sz="1200" dirty="0"/>
                <a:t>Hidden Layer</a:t>
              </a:r>
            </a:p>
          </p:txBody>
        </p:sp>
      </p:grpSp>
      <mc:AlternateContent xmlns:mc="http://schemas.openxmlformats.org/markup-compatibility/2006" xmlns:a14="http://schemas.microsoft.com/office/drawing/2010/main">
        <mc:Choice Requires="a14">
          <p:sp>
            <p:nvSpPr>
              <p:cNvPr id="36" name="CasellaDiTesto 35">
                <a:extLst>
                  <a:ext uri="{FF2B5EF4-FFF2-40B4-BE49-F238E27FC236}">
                    <a16:creationId xmlns:a16="http://schemas.microsoft.com/office/drawing/2014/main" id="{35AA1702-1B0B-4667-B2CC-5AE42AF28744}"/>
                  </a:ext>
                </a:extLst>
              </p:cNvPr>
              <p:cNvSpPr txBox="1"/>
              <p:nvPr/>
            </p:nvSpPr>
            <p:spPr>
              <a:xfrm>
                <a:off x="4309971" y="2064635"/>
                <a:ext cx="1172437" cy="430887"/>
              </a:xfrm>
              <a:prstGeom prst="rect">
                <a:avLst/>
              </a:prstGeom>
              <a:noFill/>
            </p:spPr>
            <p:txBody>
              <a:bodyPr wrap="none" lIns="0" tIns="0" rIns="0" bIns="0" rtlCol="0">
                <a:spAutoFit/>
              </a:bodyPr>
              <a:lstStyle/>
              <a:p>
                <a:r>
                  <a:rPr lang="it-IT" sz="2800" dirty="0"/>
                  <a:t>E</a:t>
                </a:r>
                <a14:m>
                  <m:oMath xmlns:m="http://schemas.openxmlformats.org/officeDocument/2006/math">
                    <m:r>
                      <a:rPr lang="it-IT" sz="2800" i="1">
                        <a:latin typeface="Cambria Math" panose="02040503050406030204" pitchFamily="18" charset="0"/>
                      </a:rPr>
                      <m:t>(</m:t>
                    </m:r>
                    <m:r>
                      <a:rPr lang="it-IT" sz="2800" i="1">
                        <a:latin typeface="Cambria Math" panose="02040503050406030204" pitchFamily="18" charset="0"/>
                      </a:rPr>
                      <m:t>𝑦</m:t>
                    </m:r>
                    <m:r>
                      <a:rPr lang="it-IT" sz="2800" i="1">
                        <a:latin typeface="Cambria Math" panose="02040503050406030204" pitchFamily="18" charset="0"/>
                      </a:rPr>
                      <m:t>,</m:t>
                    </m:r>
                    <m:sSup>
                      <m:sSupPr>
                        <m:ctrlPr>
                          <a:rPr lang="it-IT" sz="2800" i="1">
                            <a:latin typeface="Cambria Math" panose="02040503050406030204" pitchFamily="18" charset="0"/>
                          </a:rPr>
                        </m:ctrlPr>
                      </m:sSupPr>
                      <m:e>
                        <m:r>
                          <a:rPr lang="it-IT" sz="2800" i="1">
                            <a:latin typeface="Cambria Math" panose="02040503050406030204" pitchFamily="18" charset="0"/>
                          </a:rPr>
                          <m:t>𝑦</m:t>
                        </m:r>
                      </m:e>
                      <m:sup>
                        <m:r>
                          <a:rPr lang="it-IT" sz="2800" i="1">
                            <a:latin typeface="Cambria Math" panose="02040503050406030204" pitchFamily="18" charset="0"/>
                          </a:rPr>
                          <m:t>∗</m:t>
                        </m:r>
                      </m:sup>
                    </m:sSup>
                    <m:r>
                      <a:rPr lang="it-IT" sz="2800" i="1">
                        <a:latin typeface="Cambria Math" panose="02040503050406030204" pitchFamily="18" charset="0"/>
                      </a:rPr>
                      <m:t>)</m:t>
                    </m:r>
                  </m:oMath>
                </a14:m>
                <a:endParaRPr lang="en-GB" sz="2800" dirty="0"/>
              </a:p>
            </p:txBody>
          </p:sp>
        </mc:Choice>
        <mc:Fallback xmlns="">
          <p:sp>
            <p:nvSpPr>
              <p:cNvPr id="36" name="CasellaDiTesto 35">
                <a:extLst>
                  <a:ext uri="{FF2B5EF4-FFF2-40B4-BE49-F238E27FC236}">
                    <a16:creationId xmlns:a16="http://schemas.microsoft.com/office/drawing/2014/main" id="{35AA1702-1B0B-4667-B2CC-5AE42AF28744}"/>
                  </a:ext>
                </a:extLst>
              </p:cNvPr>
              <p:cNvSpPr txBox="1">
                <a:spLocks noRot="1" noChangeAspect="1" noMove="1" noResize="1" noEditPoints="1" noAdjustHandles="1" noChangeArrowheads="1" noChangeShapeType="1" noTextEdit="1"/>
              </p:cNvSpPr>
              <p:nvPr/>
            </p:nvSpPr>
            <p:spPr>
              <a:xfrm>
                <a:off x="4309971" y="2064635"/>
                <a:ext cx="1172437" cy="430887"/>
              </a:xfrm>
              <a:prstGeom prst="rect">
                <a:avLst/>
              </a:prstGeom>
              <a:blipFill>
                <a:blip r:embed="rId3"/>
                <a:stretch>
                  <a:fillRect l="-17021" t="-26471" r="-12766" b="-47059"/>
                </a:stretch>
              </a:blipFill>
            </p:spPr>
            <p:txBody>
              <a:bodyPr/>
              <a:lstStyle/>
              <a:p>
                <a:r>
                  <a:rPr lang="it-IT">
                    <a:noFill/>
                  </a:rPr>
                  <a:t> </a:t>
                </a:r>
              </a:p>
            </p:txBody>
          </p:sp>
        </mc:Fallback>
      </mc:AlternateContent>
      <p:sp>
        <p:nvSpPr>
          <p:cNvPr id="38" name="CasellaDiTesto 37">
            <a:extLst>
              <a:ext uri="{FF2B5EF4-FFF2-40B4-BE49-F238E27FC236}">
                <a16:creationId xmlns:a16="http://schemas.microsoft.com/office/drawing/2014/main" id="{EFC6425C-3098-435C-89A8-F2A6AC674C62}"/>
              </a:ext>
            </a:extLst>
          </p:cNvPr>
          <p:cNvSpPr txBox="1"/>
          <p:nvPr/>
        </p:nvSpPr>
        <p:spPr>
          <a:xfrm>
            <a:off x="5945226" y="1381018"/>
            <a:ext cx="4413471" cy="1938992"/>
          </a:xfrm>
          <a:prstGeom prst="rect">
            <a:avLst/>
          </a:prstGeom>
          <a:noFill/>
        </p:spPr>
        <p:txBody>
          <a:bodyPr wrap="square" rtlCol="0">
            <a:spAutoFit/>
          </a:bodyPr>
          <a:lstStyle/>
          <a:p>
            <a:r>
              <a:rPr lang="it-IT" sz="2400" dirty="0" err="1"/>
              <a:t>Error</a:t>
            </a:r>
            <a:r>
              <a:rPr lang="it-IT" sz="2400" dirty="0"/>
              <a:t> </a:t>
            </a:r>
            <a:r>
              <a:rPr lang="it-IT" sz="2400" dirty="0" err="1"/>
              <a:t>is</a:t>
            </a:r>
            <a:r>
              <a:rPr lang="it-IT" sz="2400" dirty="0"/>
              <a:t> </a:t>
            </a:r>
            <a:r>
              <a:rPr lang="it-IT" sz="2400" dirty="0" err="1"/>
              <a:t>computed</a:t>
            </a:r>
            <a:r>
              <a:rPr lang="it-IT" sz="2400" dirty="0"/>
              <a:t> </a:t>
            </a:r>
            <a:r>
              <a:rPr lang="it-IT" sz="2400" dirty="0" err="1"/>
              <a:t>at</a:t>
            </a:r>
            <a:r>
              <a:rPr lang="it-IT" sz="2400" dirty="0"/>
              <a:t> the output and </a:t>
            </a:r>
            <a:r>
              <a:rPr lang="it-IT" sz="2400" dirty="0" err="1"/>
              <a:t>propagated</a:t>
            </a:r>
            <a:r>
              <a:rPr lang="it-IT" sz="2400" dirty="0"/>
              <a:t> back to the input by chain rule to compute the </a:t>
            </a:r>
            <a:r>
              <a:rPr lang="it-IT" sz="2400" dirty="0" err="1"/>
              <a:t>contribution</a:t>
            </a:r>
            <a:r>
              <a:rPr lang="it-IT" sz="2400" dirty="0"/>
              <a:t> of </a:t>
            </a:r>
            <a:r>
              <a:rPr lang="it-IT" sz="2400" dirty="0" err="1"/>
              <a:t>each</a:t>
            </a:r>
            <a:r>
              <a:rPr lang="it-IT" sz="2400" dirty="0"/>
              <a:t> weight (</a:t>
            </a:r>
            <a:r>
              <a:rPr lang="it-IT" sz="2400" dirty="0" err="1"/>
              <a:t>a.k.a</a:t>
            </a:r>
            <a:r>
              <a:rPr lang="it-IT" sz="2400" dirty="0"/>
              <a:t>. derivative) to the </a:t>
            </a:r>
            <a:r>
              <a:rPr lang="it-IT" sz="2400" dirty="0" err="1"/>
              <a:t>loss</a:t>
            </a:r>
            <a:endParaRPr lang="en-GB" sz="2400" dirty="0"/>
          </a:p>
        </p:txBody>
      </p:sp>
      <p:cxnSp>
        <p:nvCxnSpPr>
          <p:cNvPr id="40" name="Connettore 2 39">
            <a:extLst>
              <a:ext uri="{FF2B5EF4-FFF2-40B4-BE49-F238E27FC236}">
                <a16:creationId xmlns:a16="http://schemas.microsoft.com/office/drawing/2014/main" id="{61D273A6-D3D2-4CF8-95EE-7D1578E84F13}"/>
              </a:ext>
            </a:extLst>
          </p:cNvPr>
          <p:cNvCxnSpPr>
            <a:cxnSpLocks/>
          </p:cNvCxnSpPr>
          <p:nvPr/>
        </p:nvCxnSpPr>
        <p:spPr>
          <a:xfrm>
            <a:off x="4922126" y="2598537"/>
            <a:ext cx="0" cy="1510301"/>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1" name="CasellaDiTesto 40">
            <a:extLst>
              <a:ext uri="{FF2B5EF4-FFF2-40B4-BE49-F238E27FC236}">
                <a16:creationId xmlns:a16="http://schemas.microsoft.com/office/drawing/2014/main" id="{A4848DF5-C4DA-48FB-A44B-EDD4CF1E71DB}"/>
              </a:ext>
            </a:extLst>
          </p:cNvPr>
          <p:cNvSpPr txBox="1"/>
          <p:nvPr/>
        </p:nvSpPr>
        <p:spPr>
          <a:xfrm>
            <a:off x="6558443" y="3563283"/>
            <a:ext cx="5067500" cy="1938992"/>
          </a:xfrm>
          <a:prstGeom prst="rect">
            <a:avLst/>
          </a:prstGeom>
          <a:noFill/>
        </p:spPr>
        <p:txBody>
          <a:bodyPr wrap="square" rtlCol="0">
            <a:spAutoFit/>
          </a:bodyPr>
          <a:lstStyle/>
          <a:p>
            <a:r>
              <a:rPr lang="it-IT" sz="2400" dirty="0"/>
              <a:t>A 2-step </a:t>
            </a:r>
            <a:r>
              <a:rPr lang="it-IT" sz="2400" dirty="0" err="1"/>
              <a:t>process</a:t>
            </a:r>
            <a:endParaRPr lang="it-IT" sz="2400" dirty="0"/>
          </a:p>
          <a:p>
            <a:pPr marL="457200" indent="-457200">
              <a:buFont typeface="+mj-lt"/>
              <a:buAutoNum type="arabicPeriod"/>
            </a:pPr>
            <a:r>
              <a:rPr lang="it-IT" sz="2400" dirty="0" err="1">
                <a:solidFill>
                  <a:schemeClr val="accent2"/>
                </a:solidFill>
              </a:rPr>
              <a:t>Forward</a:t>
            </a:r>
            <a:r>
              <a:rPr lang="it-IT" sz="2400" dirty="0">
                <a:solidFill>
                  <a:schemeClr val="accent2"/>
                </a:solidFill>
              </a:rPr>
              <a:t> pass</a:t>
            </a:r>
            <a:r>
              <a:rPr lang="it-IT" sz="2400" dirty="0"/>
              <a:t> - Compute the network output</a:t>
            </a:r>
          </a:p>
          <a:p>
            <a:pPr marL="457200" indent="-457200">
              <a:buFont typeface="+mj-lt"/>
              <a:buAutoNum type="arabicPeriod"/>
            </a:pPr>
            <a:r>
              <a:rPr lang="it-IT" sz="2400" dirty="0" err="1">
                <a:solidFill>
                  <a:schemeClr val="accent2"/>
                </a:solidFill>
              </a:rPr>
              <a:t>Backward</a:t>
            </a:r>
            <a:r>
              <a:rPr lang="it-IT" sz="2400" dirty="0">
                <a:solidFill>
                  <a:schemeClr val="accent2"/>
                </a:solidFill>
              </a:rPr>
              <a:t> pass </a:t>
            </a:r>
            <a:r>
              <a:rPr lang="it-IT" sz="2400" dirty="0"/>
              <a:t>– Compute the </a:t>
            </a:r>
            <a:r>
              <a:rPr lang="it-IT" sz="2400" dirty="0" err="1"/>
              <a:t>loss</a:t>
            </a:r>
            <a:r>
              <a:rPr lang="it-IT" sz="2400" dirty="0"/>
              <a:t> </a:t>
            </a:r>
            <a:r>
              <a:rPr lang="it-IT" sz="2400" dirty="0" err="1"/>
              <a:t>function</a:t>
            </a:r>
            <a:r>
              <a:rPr lang="it-IT" sz="2400" dirty="0"/>
              <a:t> </a:t>
            </a:r>
            <a:r>
              <a:rPr lang="it-IT" sz="2400" dirty="0" err="1"/>
              <a:t>gradients</a:t>
            </a:r>
            <a:r>
              <a:rPr lang="it-IT" sz="2400" dirty="0"/>
              <a:t> and update</a:t>
            </a:r>
            <a:endParaRPr lang="en-GB" sz="2400" dirty="0"/>
          </a:p>
        </p:txBody>
      </p:sp>
      <p:sp>
        <p:nvSpPr>
          <p:cNvPr id="3" name="CasellaDiTesto 2">
            <a:extLst>
              <a:ext uri="{FF2B5EF4-FFF2-40B4-BE49-F238E27FC236}">
                <a16:creationId xmlns:a16="http://schemas.microsoft.com/office/drawing/2014/main" id="{7EE36F31-D928-084E-BE66-75248EF5D240}"/>
              </a:ext>
            </a:extLst>
          </p:cNvPr>
          <p:cNvSpPr txBox="1"/>
          <p:nvPr/>
        </p:nvSpPr>
        <p:spPr>
          <a:xfrm>
            <a:off x="838200" y="6217316"/>
            <a:ext cx="7602209" cy="369332"/>
          </a:xfrm>
          <a:prstGeom prst="rect">
            <a:avLst/>
          </a:prstGeom>
          <a:noFill/>
        </p:spPr>
        <p:txBody>
          <a:bodyPr wrap="none" rtlCol="0">
            <a:spAutoFit/>
          </a:bodyPr>
          <a:lstStyle/>
          <a:p>
            <a:r>
              <a:rPr lang="it-IT" dirty="0">
                <a:hlinkClick r:id="rId4"/>
              </a:rPr>
              <a:t>https://mattmazur.com/2015/03/17/a-step-by-step-backpropagation-example/</a:t>
            </a:r>
            <a:endParaRPr lang="it-IT" dirty="0"/>
          </a:p>
        </p:txBody>
      </p:sp>
    </p:spTree>
    <p:extLst>
      <p:ext uri="{BB962C8B-B14F-4D97-AF65-F5344CB8AC3E}">
        <p14:creationId xmlns:p14="http://schemas.microsoft.com/office/powerpoint/2010/main" val="201181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9F82C8A-0B5A-C045-34D4-26293055E457}"/>
              </a:ext>
            </a:extLst>
          </p:cNvPr>
          <p:cNvSpPr>
            <a:spLocks noGrp="1"/>
          </p:cNvSpPr>
          <p:nvPr>
            <p:ph type="title"/>
          </p:nvPr>
        </p:nvSpPr>
        <p:spPr/>
        <p:txBody>
          <a:bodyPr/>
          <a:lstStyle/>
          <a:p>
            <a:r>
              <a:rPr lang="it-IT" dirty="0" err="1"/>
              <a:t>remaind</a:t>
            </a:r>
            <a:r>
              <a:rPr lang="it-IT" dirty="0"/>
              <a:t> CHAIN RULE</a:t>
            </a:r>
          </a:p>
        </p:txBody>
      </p:sp>
      <p:pic>
        <p:nvPicPr>
          <p:cNvPr id="4" name="Immagine 3" descr="Immagine che contiene testo, libro, carta, calligrafia&#10;&#10;Il contenuto generato dall'IA potrebbe non essere corretto.">
            <a:extLst>
              <a:ext uri="{FF2B5EF4-FFF2-40B4-BE49-F238E27FC236}">
                <a16:creationId xmlns:a16="http://schemas.microsoft.com/office/drawing/2014/main" id="{C88A2F20-87F5-E055-07DD-5B3E89BBFB6F}"/>
              </a:ext>
            </a:extLst>
          </p:cNvPr>
          <p:cNvPicPr>
            <a:picLocks noChangeAspect="1"/>
          </p:cNvPicPr>
          <p:nvPr/>
        </p:nvPicPr>
        <p:blipFill>
          <a:blip r:embed="rId2"/>
          <a:stretch>
            <a:fillRect/>
          </a:stretch>
        </p:blipFill>
        <p:spPr>
          <a:xfrm>
            <a:off x="1897627" y="1445341"/>
            <a:ext cx="7216878" cy="5412659"/>
          </a:xfrm>
          <a:prstGeom prst="rect">
            <a:avLst/>
          </a:prstGeom>
        </p:spPr>
      </p:pic>
    </p:spTree>
    <p:extLst>
      <p:ext uri="{BB962C8B-B14F-4D97-AF65-F5344CB8AC3E}">
        <p14:creationId xmlns:p14="http://schemas.microsoft.com/office/powerpoint/2010/main" val="40195295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A3BB514-B801-E541-928F-8D561A77F2CD}"/>
              </a:ext>
            </a:extLst>
          </p:cNvPr>
          <p:cNvSpPr>
            <a:spLocks noGrp="1"/>
          </p:cNvSpPr>
          <p:nvPr>
            <p:ph type="title"/>
          </p:nvPr>
        </p:nvSpPr>
        <p:spPr/>
        <p:txBody>
          <a:bodyPr/>
          <a:lstStyle/>
          <a:p>
            <a:r>
              <a:rPr lang="en-US" dirty="0"/>
              <a:t>Backpropagation in other words</a:t>
            </a:r>
          </a:p>
        </p:txBody>
      </p:sp>
      <p:sp>
        <p:nvSpPr>
          <p:cNvPr id="3" name="Segnaposto contenuto 2">
            <a:extLst>
              <a:ext uri="{FF2B5EF4-FFF2-40B4-BE49-F238E27FC236}">
                <a16:creationId xmlns:a16="http://schemas.microsoft.com/office/drawing/2014/main" id="{CBE07304-812D-DA40-BB4C-4D10EF82B792}"/>
              </a:ext>
            </a:extLst>
          </p:cNvPr>
          <p:cNvSpPr>
            <a:spLocks noGrp="1"/>
          </p:cNvSpPr>
          <p:nvPr>
            <p:ph idx="1"/>
          </p:nvPr>
        </p:nvSpPr>
        <p:spPr>
          <a:xfrm>
            <a:off x="838200" y="1825625"/>
            <a:ext cx="5743591" cy="4351338"/>
          </a:xfrm>
        </p:spPr>
        <p:txBody>
          <a:bodyPr>
            <a:normAutofit lnSpcReduction="10000"/>
          </a:bodyPr>
          <a:lstStyle/>
          <a:p>
            <a:r>
              <a:rPr lang="en-US" dirty="0"/>
              <a:t>In order to get the loss of a node (e.g. Z0), we multiply the value of its corresponding f’(z) by the loss of the node it is connected to in the next layer (delta_1), by the weight of the link connecting both nodes.</a:t>
            </a:r>
          </a:p>
          <a:p>
            <a:r>
              <a:rPr lang="en-US" dirty="0"/>
              <a:t>We do the delta calculation step at every unit, back-propagating the loss into the neural net, and finding out what loss every node/unit is responsible for.</a:t>
            </a:r>
          </a:p>
        </p:txBody>
      </p:sp>
      <p:pic>
        <p:nvPicPr>
          <p:cNvPr id="5" name="Immagine 4">
            <a:extLst>
              <a:ext uri="{FF2B5EF4-FFF2-40B4-BE49-F238E27FC236}">
                <a16:creationId xmlns:a16="http://schemas.microsoft.com/office/drawing/2014/main" id="{D6549717-FD2F-7F41-9723-81865B34D0B8}"/>
              </a:ext>
            </a:extLst>
          </p:cNvPr>
          <p:cNvPicPr>
            <a:picLocks noChangeAspect="1"/>
          </p:cNvPicPr>
          <p:nvPr/>
        </p:nvPicPr>
        <p:blipFill>
          <a:blip r:embed="rId2"/>
          <a:stretch>
            <a:fillRect/>
          </a:stretch>
        </p:blipFill>
        <p:spPr>
          <a:xfrm>
            <a:off x="6581791" y="1993900"/>
            <a:ext cx="4772009" cy="3571578"/>
          </a:xfrm>
          <a:prstGeom prst="rect">
            <a:avLst/>
          </a:prstGeom>
        </p:spPr>
      </p:pic>
      <p:sp>
        <p:nvSpPr>
          <p:cNvPr id="6" name="CasellaDiTesto 5">
            <a:extLst>
              <a:ext uri="{FF2B5EF4-FFF2-40B4-BE49-F238E27FC236}">
                <a16:creationId xmlns:a16="http://schemas.microsoft.com/office/drawing/2014/main" id="{72EEDA0F-2CF7-4E48-B2A7-D969F2F2397A}"/>
              </a:ext>
            </a:extLst>
          </p:cNvPr>
          <p:cNvSpPr txBox="1"/>
          <p:nvPr/>
        </p:nvSpPr>
        <p:spPr>
          <a:xfrm>
            <a:off x="228600" y="6295509"/>
            <a:ext cx="10470367" cy="369332"/>
          </a:xfrm>
          <a:prstGeom prst="rect">
            <a:avLst/>
          </a:prstGeom>
          <a:noFill/>
        </p:spPr>
        <p:txBody>
          <a:bodyPr wrap="none" rtlCol="0">
            <a:spAutoFit/>
          </a:bodyPr>
          <a:lstStyle/>
          <a:p>
            <a:r>
              <a:rPr lang="it-IT" dirty="0">
                <a:hlinkClick r:id="rId3"/>
              </a:rPr>
              <a:t>https://towardsdatascience.com/how-does-back-propagation-in-artificial-neural-networks-work-c7cad873ea7</a:t>
            </a:r>
            <a:endParaRPr lang="it-IT" dirty="0"/>
          </a:p>
        </p:txBody>
      </p:sp>
    </p:spTree>
    <p:extLst>
      <p:ext uri="{BB962C8B-B14F-4D97-AF65-F5344CB8AC3E}">
        <p14:creationId xmlns:p14="http://schemas.microsoft.com/office/powerpoint/2010/main" val="293117727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3D1B58C-2183-A345-9FA2-AC7B0DFC8930}"/>
              </a:ext>
            </a:extLst>
          </p:cNvPr>
          <p:cNvSpPr>
            <a:spLocks noGrp="1"/>
          </p:cNvSpPr>
          <p:nvPr>
            <p:ph type="title"/>
          </p:nvPr>
        </p:nvSpPr>
        <p:spPr/>
        <p:txBody>
          <a:bodyPr/>
          <a:lstStyle/>
          <a:p>
            <a:r>
              <a:rPr lang="en-US" dirty="0"/>
              <a:t>Error Backpropagation - Example</a:t>
            </a:r>
          </a:p>
        </p:txBody>
      </p:sp>
      <p:pic>
        <p:nvPicPr>
          <p:cNvPr id="4" name="Immagine 3">
            <a:extLst>
              <a:ext uri="{FF2B5EF4-FFF2-40B4-BE49-F238E27FC236}">
                <a16:creationId xmlns:a16="http://schemas.microsoft.com/office/drawing/2014/main" id="{2C626322-9109-624C-91AB-72D5E638B0F6}"/>
              </a:ext>
            </a:extLst>
          </p:cNvPr>
          <p:cNvPicPr>
            <a:picLocks noChangeAspect="1"/>
          </p:cNvPicPr>
          <p:nvPr/>
        </p:nvPicPr>
        <p:blipFill>
          <a:blip r:embed="rId2"/>
          <a:stretch>
            <a:fillRect/>
          </a:stretch>
        </p:blipFill>
        <p:spPr>
          <a:xfrm>
            <a:off x="3398899" y="1690688"/>
            <a:ext cx="5394201" cy="4577648"/>
          </a:xfrm>
          <a:prstGeom prst="rect">
            <a:avLst/>
          </a:prstGeom>
        </p:spPr>
      </p:pic>
    </p:spTree>
    <p:extLst>
      <p:ext uri="{BB962C8B-B14F-4D97-AF65-F5344CB8AC3E}">
        <p14:creationId xmlns:p14="http://schemas.microsoft.com/office/powerpoint/2010/main" val="218934161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3D1B58C-2183-A345-9FA2-AC7B0DFC8930}"/>
              </a:ext>
            </a:extLst>
          </p:cNvPr>
          <p:cNvSpPr>
            <a:spLocks noGrp="1"/>
          </p:cNvSpPr>
          <p:nvPr>
            <p:ph type="title"/>
          </p:nvPr>
        </p:nvSpPr>
        <p:spPr/>
        <p:txBody>
          <a:bodyPr/>
          <a:lstStyle/>
          <a:p>
            <a:r>
              <a:rPr lang="en-US" dirty="0"/>
              <a:t>Error Backpropagation - Example</a:t>
            </a:r>
          </a:p>
        </p:txBody>
      </p:sp>
      <p:pic>
        <p:nvPicPr>
          <p:cNvPr id="4" name="Immagine 3">
            <a:extLst>
              <a:ext uri="{FF2B5EF4-FFF2-40B4-BE49-F238E27FC236}">
                <a16:creationId xmlns:a16="http://schemas.microsoft.com/office/drawing/2014/main" id="{2C626322-9109-624C-91AB-72D5E638B0F6}"/>
              </a:ext>
            </a:extLst>
          </p:cNvPr>
          <p:cNvPicPr>
            <a:picLocks noChangeAspect="1"/>
          </p:cNvPicPr>
          <p:nvPr/>
        </p:nvPicPr>
        <p:blipFill>
          <a:blip r:embed="rId2"/>
          <a:stretch>
            <a:fillRect/>
          </a:stretch>
        </p:blipFill>
        <p:spPr>
          <a:xfrm>
            <a:off x="3398899" y="1690688"/>
            <a:ext cx="5394201" cy="4577648"/>
          </a:xfrm>
          <a:prstGeom prst="rect">
            <a:avLst/>
          </a:prstGeom>
        </p:spPr>
      </p:pic>
      <p:pic>
        <p:nvPicPr>
          <p:cNvPr id="5" name="Immagine 4">
            <a:extLst>
              <a:ext uri="{FF2B5EF4-FFF2-40B4-BE49-F238E27FC236}">
                <a16:creationId xmlns:a16="http://schemas.microsoft.com/office/drawing/2014/main" id="{0CA894EB-3BC8-7A42-9E55-E02142F5FB33}"/>
              </a:ext>
            </a:extLst>
          </p:cNvPr>
          <p:cNvPicPr>
            <a:picLocks noChangeAspect="1"/>
          </p:cNvPicPr>
          <p:nvPr/>
        </p:nvPicPr>
        <p:blipFill>
          <a:blip r:embed="rId3"/>
          <a:stretch>
            <a:fillRect/>
          </a:stretch>
        </p:blipFill>
        <p:spPr>
          <a:xfrm>
            <a:off x="3398899" y="1690688"/>
            <a:ext cx="5394201" cy="4577648"/>
          </a:xfrm>
          <a:prstGeom prst="rect">
            <a:avLst/>
          </a:prstGeom>
        </p:spPr>
      </p:pic>
      <p:sp>
        <p:nvSpPr>
          <p:cNvPr id="6" name="CasellaDiTesto 5">
            <a:extLst>
              <a:ext uri="{FF2B5EF4-FFF2-40B4-BE49-F238E27FC236}">
                <a16:creationId xmlns:a16="http://schemas.microsoft.com/office/drawing/2014/main" id="{258127FE-27D3-CA4E-B42B-AA3A2B1846D4}"/>
              </a:ext>
            </a:extLst>
          </p:cNvPr>
          <p:cNvSpPr txBox="1"/>
          <p:nvPr/>
        </p:nvSpPr>
        <p:spPr>
          <a:xfrm>
            <a:off x="498764" y="6221709"/>
            <a:ext cx="10855036" cy="646331"/>
          </a:xfrm>
          <a:prstGeom prst="rect">
            <a:avLst/>
          </a:prstGeom>
          <a:noFill/>
        </p:spPr>
        <p:txBody>
          <a:bodyPr wrap="square" rtlCol="0">
            <a:spAutoFit/>
          </a:bodyPr>
          <a:lstStyle/>
          <a:p>
            <a:r>
              <a:rPr lang="it-IT" dirty="0"/>
              <a:t>The goal of </a:t>
            </a:r>
            <a:r>
              <a:rPr lang="it-IT" dirty="0" err="1"/>
              <a:t>backpropagation</a:t>
            </a:r>
            <a:r>
              <a:rPr lang="it-IT" dirty="0"/>
              <a:t> </a:t>
            </a:r>
            <a:r>
              <a:rPr lang="it-IT" dirty="0" err="1"/>
              <a:t>is</a:t>
            </a:r>
            <a:r>
              <a:rPr lang="it-IT" dirty="0"/>
              <a:t> to </a:t>
            </a:r>
            <a:r>
              <a:rPr lang="it-IT" dirty="0" err="1"/>
              <a:t>optimize</a:t>
            </a:r>
            <a:r>
              <a:rPr lang="it-IT" dirty="0"/>
              <a:t> the </a:t>
            </a:r>
            <a:r>
              <a:rPr lang="it-IT" dirty="0" err="1"/>
              <a:t>weights</a:t>
            </a:r>
            <a:r>
              <a:rPr lang="it-IT" dirty="0"/>
              <a:t> so </a:t>
            </a:r>
            <a:r>
              <a:rPr lang="it-IT" dirty="0" err="1"/>
              <a:t>that</a:t>
            </a:r>
            <a:r>
              <a:rPr lang="it-IT" dirty="0"/>
              <a:t> the </a:t>
            </a:r>
            <a:r>
              <a:rPr lang="it-IT" dirty="0" err="1"/>
              <a:t>neural</a:t>
            </a:r>
            <a:r>
              <a:rPr lang="it-IT" dirty="0"/>
              <a:t> network can </a:t>
            </a:r>
            <a:r>
              <a:rPr lang="it-IT" dirty="0" err="1"/>
              <a:t>learn</a:t>
            </a:r>
            <a:r>
              <a:rPr lang="it-IT" dirty="0"/>
              <a:t> </a:t>
            </a:r>
            <a:r>
              <a:rPr lang="it-IT" dirty="0" err="1"/>
              <a:t>how</a:t>
            </a:r>
            <a:r>
              <a:rPr lang="it-IT" dirty="0"/>
              <a:t> to </a:t>
            </a:r>
            <a:r>
              <a:rPr lang="it-IT" dirty="0" err="1"/>
              <a:t>correctly</a:t>
            </a:r>
            <a:r>
              <a:rPr lang="it-IT" dirty="0"/>
              <a:t> </a:t>
            </a:r>
            <a:r>
              <a:rPr lang="it-IT" dirty="0" err="1"/>
              <a:t>map</a:t>
            </a:r>
            <a:r>
              <a:rPr lang="it-IT" dirty="0"/>
              <a:t> </a:t>
            </a:r>
            <a:r>
              <a:rPr lang="it-IT" dirty="0" err="1"/>
              <a:t>arbitrary</a:t>
            </a:r>
            <a:r>
              <a:rPr lang="it-IT" dirty="0"/>
              <a:t> </a:t>
            </a:r>
            <a:r>
              <a:rPr lang="it-IT" dirty="0" err="1"/>
              <a:t>inputs</a:t>
            </a:r>
            <a:r>
              <a:rPr lang="it-IT" dirty="0"/>
              <a:t> to </a:t>
            </a:r>
            <a:r>
              <a:rPr lang="it-IT" dirty="0" err="1"/>
              <a:t>outputs</a:t>
            </a:r>
            <a:r>
              <a:rPr lang="it-IT" dirty="0"/>
              <a:t>.</a:t>
            </a:r>
            <a:endParaRPr lang="en-US" dirty="0"/>
          </a:p>
        </p:txBody>
      </p:sp>
    </p:spTree>
    <p:extLst>
      <p:ext uri="{BB962C8B-B14F-4D97-AF65-F5344CB8AC3E}">
        <p14:creationId xmlns:p14="http://schemas.microsoft.com/office/powerpoint/2010/main" val="100421890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3D1B58C-2183-A345-9FA2-AC7B0DFC8930}"/>
              </a:ext>
            </a:extLst>
          </p:cNvPr>
          <p:cNvSpPr>
            <a:spLocks noGrp="1"/>
          </p:cNvSpPr>
          <p:nvPr>
            <p:ph type="title"/>
          </p:nvPr>
        </p:nvSpPr>
        <p:spPr/>
        <p:txBody>
          <a:bodyPr/>
          <a:lstStyle/>
          <a:p>
            <a:r>
              <a:rPr lang="en-US" dirty="0"/>
              <a:t>Error Backpropagation - Example</a:t>
            </a:r>
          </a:p>
        </p:txBody>
      </p:sp>
      <p:pic>
        <p:nvPicPr>
          <p:cNvPr id="4" name="Immagine 3">
            <a:extLst>
              <a:ext uri="{FF2B5EF4-FFF2-40B4-BE49-F238E27FC236}">
                <a16:creationId xmlns:a16="http://schemas.microsoft.com/office/drawing/2014/main" id="{2C626322-9109-624C-91AB-72D5E638B0F6}"/>
              </a:ext>
            </a:extLst>
          </p:cNvPr>
          <p:cNvPicPr>
            <a:picLocks noChangeAspect="1"/>
          </p:cNvPicPr>
          <p:nvPr/>
        </p:nvPicPr>
        <p:blipFill>
          <a:blip r:embed="rId2"/>
          <a:stretch>
            <a:fillRect/>
          </a:stretch>
        </p:blipFill>
        <p:spPr>
          <a:xfrm>
            <a:off x="3398899" y="1690688"/>
            <a:ext cx="5394201" cy="4577648"/>
          </a:xfrm>
          <a:prstGeom prst="rect">
            <a:avLst/>
          </a:prstGeom>
        </p:spPr>
      </p:pic>
      <p:pic>
        <p:nvPicPr>
          <p:cNvPr id="5" name="Immagine 4">
            <a:extLst>
              <a:ext uri="{FF2B5EF4-FFF2-40B4-BE49-F238E27FC236}">
                <a16:creationId xmlns:a16="http://schemas.microsoft.com/office/drawing/2014/main" id="{0CA894EB-3BC8-7A42-9E55-E02142F5FB33}"/>
              </a:ext>
            </a:extLst>
          </p:cNvPr>
          <p:cNvPicPr>
            <a:picLocks noChangeAspect="1"/>
          </p:cNvPicPr>
          <p:nvPr/>
        </p:nvPicPr>
        <p:blipFill>
          <a:blip r:embed="rId3"/>
          <a:stretch>
            <a:fillRect/>
          </a:stretch>
        </p:blipFill>
        <p:spPr>
          <a:xfrm>
            <a:off x="3398899" y="1690688"/>
            <a:ext cx="5394201" cy="4577648"/>
          </a:xfrm>
          <a:prstGeom prst="rect">
            <a:avLst/>
          </a:prstGeom>
        </p:spPr>
      </p:pic>
      <p:sp>
        <p:nvSpPr>
          <p:cNvPr id="3" name="CasellaDiTesto 2">
            <a:extLst>
              <a:ext uri="{FF2B5EF4-FFF2-40B4-BE49-F238E27FC236}">
                <a16:creationId xmlns:a16="http://schemas.microsoft.com/office/drawing/2014/main" id="{9E828CCA-B191-2D41-89A1-62F88C6BAA46}"/>
              </a:ext>
            </a:extLst>
          </p:cNvPr>
          <p:cNvSpPr txBox="1"/>
          <p:nvPr/>
        </p:nvSpPr>
        <p:spPr>
          <a:xfrm>
            <a:off x="8793100" y="5345006"/>
            <a:ext cx="3116285" cy="1200329"/>
          </a:xfrm>
          <a:prstGeom prst="rect">
            <a:avLst/>
          </a:prstGeom>
          <a:noFill/>
        </p:spPr>
        <p:txBody>
          <a:bodyPr wrap="square" rtlCol="0">
            <a:spAutoFit/>
          </a:bodyPr>
          <a:lstStyle/>
          <a:p>
            <a:pPr marL="285750" indent="-285750">
              <a:buFont typeface="Arial" panose="020B0604020202020204" pitchFamily="34" charset="0"/>
              <a:buChar char="•"/>
            </a:pPr>
            <a:r>
              <a:rPr lang="it-IT" dirty="0" err="1">
                <a:solidFill>
                  <a:srgbClr val="FF0000"/>
                </a:solidFill>
              </a:rPr>
              <a:t>initial</a:t>
            </a:r>
            <a:r>
              <a:rPr lang="it-IT" dirty="0">
                <a:solidFill>
                  <a:srgbClr val="FF0000"/>
                </a:solidFill>
              </a:rPr>
              <a:t> </a:t>
            </a:r>
            <a:r>
              <a:rPr lang="it-IT" dirty="0" err="1">
                <a:solidFill>
                  <a:srgbClr val="FF0000"/>
                </a:solidFill>
              </a:rPr>
              <a:t>weights</a:t>
            </a:r>
            <a:endParaRPr lang="it-IT" dirty="0">
              <a:solidFill>
                <a:srgbClr val="FF0000"/>
              </a:solidFill>
            </a:endParaRPr>
          </a:p>
          <a:p>
            <a:pPr marL="285750" indent="-285750">
              <a:buFont typeface="Arial" panose="020B0604020202020204" pitchFamily="34" charset="0"/>
              <a:buChar char="•"/>
            </a:pPr>
            <a:r>
              <a:rPr lang="it-IT" dirty="0" err="1">
                <a:solidFill>
                  <a:schemeClr val="accent2"/>
                </a:solidFill>
              </a:rPr>
              <a:t>biases</a:t>
            </a:r>
            <a:r>
              <a:rPr lang="it-IT" dirty="0"/>
              <a:t> </a:t>
            </a:r>
          </a:p>
          <a:p>
            <a:pPr marL="285750" indent="-285750">
              <a:buFont typeface="Arial" panose="020B0604020202020204" pitchFamily="34" charset="0"/>
              <a:buChar char="•"/>
            </a:pPr>
            <a:r>
              <a:rPr lang="it-IT" dirty="0">
                <a:solidFill>
                  <a:srgbClr val="0096FF"/>
                </a:solidFill>
              </a:rPr>
              <a:t>training </a:t>
            </a:r>
            <a:r>
              <a:rPr lang="it-IT" dirty="0" err="1">
                <a:solidFill>
                  <a:srgbClr val="0096FF"/>
                </a:solidFill>
              </a:rPr>
              <a:t>inputs</a:t>
            </a:r>
            <a:r>
              <a:rPr lang="it-IT" dirty="0">
                <a:solidFill>
                  <a:srgbClr val="0096FF"/>
                </a:solidFill>
              </a:rPr>
              <a:t>/</a:t>
            </a:r>
            <a:r>
              <a:rPr lang="it-IT" dirty="0" err="1">
                <a:solidFill>
                  <a:srgbClr val="0096FF"/>
                </a:solidFill>
              </a:rPr>
              <a:t>outputs</a:t>
            </a:r>
            <a:endParaRPr lang="it-IT" dirty="0">
              <a:solidFill>
                <a:srgbClr val="0096FF"/>
              </a:solidFill>
            </a:endParaRPr>
          </a:p>
          <a:p>
            <a:pPr marL="285750" indent="-285750">
              <a:buFont typeface="Arial" panose="020B0604020202020204" pitchFamily="34" charset="0"/>
              <a:buChar char="•"/>
            </a:pPr>
            <a:r>
              <a:rPr lang="it-IT" dirty="0" err="1"/>
              <a:t>activation</a:t>
            </a:r>
            <a:r>
              <a:rPr lang="it-IT" dirty="0"/>
              <a:t>: </a:t>
            </a:r>
            <a:r>
              <a:rPr lang="it-IT" dirty="0" err="1"/>
              <a:t>logistic</a:t>
            </a:r>
            <a:endParaRPr lang="en-US" dirty="0"/>
          </a:p>
        </p:txBody>
      </p:sp>
    </p:spTree>
    <p:extLst>
      <p:ext uri="{BB962C8B-B14F-4D97-AF65-F5344CB8AC3E}">
        <p14:creationId xmlns:p14="http://schemas.microsoft.com/office/powerpoint/2010/main" val="340197266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Forward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stretch>
            <a:fillRect/>
          </a:stretch>
        </p:blipFill>
        <p:spPr>
          <a:xfrm>
            <a:off x="5959599" y="1690688"/>
            <a:ext cx="5394201" cy="4577648"/>
          </a:xfrm>
          <a:prstGeom prst="rect">
            <a:avLst/>
          </a:prstGeom>
        </p:spPr>
      </p:pic>
      <p:pic>
        <p:nvPicPr>
          <p:cNvPr id="5" name="Immagine 4">
            <a:extLst>
              <a:ext uri="{FF2B5EF4-FFF2-40B4-BE49-F238E27FC236}">
                <a16:creationId xmlns:a16="http://schemas.microsoft.com/office/drawing/2014/main" id="{55E8A861-05D0-384F-B9D5-8115B2FECEC4}"/>
              </a:ext>
            </a:extLst>
          </p:cNvPr>
          <p:cNvPicPr>
            <a:picLocks noChangeAspect="1"/>
          </p:cNvPicPr>
          <p:nvPr/>
        </p:nvPicPr>
        <p:blipFill>
          <a:blip r:embed="rId3"/>
          <a:stretch>
            <a:fillRect/>
          </a:stretch>
        </p:blipFill>
        <p:spPr>
          <a:xfrm>
            <a:off x="211715" y="2054023"/>
            <a:ext cx="5747884" cy="1236104"/>
          </a:xfrm>
          <a:prstGeom prst="rect">
            <a:avLst/>
          </a:prstGeom>
        </p:spPr>
      </p:pic>
      <p:sp>
        <p:nvSpPr>
          <p:cNvPr id="12" name="Figura a mano libera 11">
            <a:extLst>
              <a:ext uri="{FF2B5EF4-FFF2-40B4-BE49-F238E27FC236}">
                <a16:creationId xmlns:a16="http://schemas.microsoft.com/office/drawing/2014/main" id="{6DBAFA95-2DDE-6F4C-806D-A8C737883FB7}"/>
              </a:ext>
            </a:extLst>
          </p:cNvPr>
          <p:cNvSpPr/>
          <p:nvPr/>
        </p:nvSpPr>
        <p:spPr>
          <a:xfrm>
            <a:off x="2493818" y="1579418"/>
            <a:ext cx="5545777" cy="641268"/>
          </a:xfrm>
          <a:custGeom>
            <a:avLst/>
            <a:gdLst>
              <a:gd name="connsiteX0" fmla="*/ 0 w 5545777"/>
              <a:gd name="connsiteY0" fmla="*/ 498764 h 641268"/>
              <a:gd name="connsiteX1" fmla="*/ 130629 w 5545777"/>
              <a:gd name="connsiteY1" fmla="*/ 439387 h 641268"/>
              <a:gd name="connsiteX2" fmla="*/ 201881 w 5545777"/>
              <a:gd name="connsiteY2" fmla="*/ 391886 h 641268"/>
              <a:gd name="connsiteX3" fmla="*/ 273133 w 5545777"/>
              <a:gd name="connsiteY3" fmla="*/ 344385 h 641268"/>
              <a:gd name="connsiteX4" fmla="*/ 356260 w 5545777"/>
              <a:gd name="connsiteY4" fmla="*/ 296883 h 641268"/>
              <a:gd name="connsiteX5" fmla="*/ 391886 w 5545777"/>
              <a:gd name="connsiteY5" fmla="*/ 285008 h 641268"/>
              <a:gd name="connsiteX6" fmla="*/ 498764 w 5545777"/>
              <a:gd name="connsiteY6" fmla="*/ 237507 h 641268"/>
              <a:gd name="connsiteX7" fmla="*/ 534390 w 5545777"/>
              <a:gd name="connsiteY7" fmla="*/ 225631 h 641268"/>
              <a:gd name="connsiteX8" fmla="*/ 665018 w 5545777"/>
              <a:gd name="connsiteY8" fmla="*/ 178130 h 641268"/>
              <a:gd name="connsiteX9" fmla="*/ 700644 w 5545777"/>
              <a:gd name="connsiteY9" fmla="*/ 166255 h 641268"/>
              <a:gd name="connsiteX10" fmla="*/ 831273 w 5545777"/>
              <a:gd name="connsiteY10" fmla="*/ 142504 h 641268"/>
              <a:gd name="connsiteX11" fmla="*/ 878774 w 5545777"/>
              <a:gd name="connsiteY11" fmla="*/ 130629 h 641268"/>
              <a:gd name="connsiteX12" fmla="*/ 950026 w 5545777"/>
              <a:gd name="connsiteY12" fmla="*/ 118753 h 641268"/>
              <a:gd name="connsiteX13" fmla="*/ 1163782 w 5545777"/>
              <a:gd name="connsiteY13" fmla="*/ 95003 h 641268"/>
              <a:gd name="connsiteX14" fmla="*/ 1472540 w 5545777"/>
              <a:gd name="connsiteY14" fmla="*/ 59377 h 641268"/>
              <a:gd name="connsiteX15" fmla="*/ 1615044 w 5545777"/>
              <a:gd name="connsiteY15" fmla="*/ 47501 h 641268"/>
              <a:gd name="connsiteX16" fmla="*/ 1733798 w 5545777"/>
              <a:gd name="connsiteY16" fmla="*/ 35626 h 641268"/>
              <a:gd name="connsiteX17" fmla="*/ 2054431 w 5545777"/>
              <a:gd name="connsiteY17" fmla="*/ 23751 h 641268"/>
              <a:gd name="connsiteX18" fmla="*/ 2327564 w 5545777"/>
              <a:gd name="connsiteY18" fmla="*/ 0 h 641268"/>
              <a:gd name="connsiteX19" fmla="*/ 3348842 w 5545777"/>
              <a:gd name="connsiteY19" fmla="*/ 11876 h 641268"/>
              <a:gd name="connsiteX20" fmla="*/ 3515096 w 5545777"/>
              <a:gd name="connsiteY20" fmla="*/ 23751 h 641268"/>
              <a:gd name="connsiteX21" fmla="*/ 3788229 w 5545777"/>
              <a:gd name="connsiteY21" fmla="*/ 35626 h 641268"/>
              <a:gd name="connsiteX22" fmla="*/ 3871356 w 5545777"/>
              <a:gd name="connsiteY22" fmla="*/ 47501 h 641268"/>
              <a:gd name="connsiteX23" fmla="*/ 4001985 w 5545777"/>
              <a:gd name="connsiteY23" fmla="*/ 59377 h 641268"/>
              <a:gd name="connsiteX24" fmla="*/ 4096987 w 5545777"/>
              <a:gd name="connsiteY24" fmla="*/ 71252 h 641268"/>
              <a:gd name="connsiteX25" fmla="*/ 4322618 w 5545777"/>
              <a:gd name="connsiteY25" fmla="*/ 95003 h 641268"/>
              <a:gd name="connsiteX26" fmla="*/ 4381995 w 5545777"/>
              <a:gd name="connsiteY26" fmla="*/ 106878 h 641268"/>
              <a:gd name="connsiteX27" fmla="*/ 4465122 w 5545777"/>
              <a:gd name="connsiteY27" fmla="*/ 118753 h 641268"/>
              <a:gd name="connsiteX28" fmla="*/ 4548250 w 5545777"/>
              <a:gd name="connsiteY28" fmla="*/ 142504 h 641268"/>
              <a:gd name="connsiteX29" fmla="*/ 4607626 w 5545777"/>
              <a:gd name="connsiteY29" fmla="*/ 154379 h 641268"/>
              <a:gd name="connsiteX30" fmla="*/ 4750130 w 5545777"/>
              <a:gd name="connsiteY30" fmla="*/ 190005 h 641268"/>
              <a:gd name="connsiteX31" fmla="*/ 4845133 w 5545777"/>
              <a:gd name="connsiteY31" fmla="*/ 213756 h 641268"/>
              <a:gd name="connsiteX32" fmla="*/ 4916385 w 5545777"/>
              <a:gd name="connsiteY32" fmla="*/ 237507 h 641268"/>
              <a:gd name="connsiteX33" fmla="*/ 4952011 w 5545777"/>
              <a:gd name="connsiteY33" fmla="*/ 249382 h 641268"/>
              <a:gd name="connsiteX34" fmla="*/ 4987637 w 5545777"/>
              <a:gd name="connsiteY34" fmla="*/ 261257 h 641268"/>
              <a:gd name="connsiteX35" fmla="*/ 5165766 w 5545777"/>
              <a:gd name="connsiteY35" fmla="*/ 380011 h 641268"/>
              <a:gd name="connsiteX36" fmla="*/ 5237018 w 5545777"/>
              <a:gd name="connsiteY36" fmla="*/ 427512 h 641268"/>
              <a:gd name="connsiteX37" fmla="*/ 5272644 w 5545777"/>
              <a:gd name="connsiteY37" fmla="*/ 451263 h 641268"/>
              <a:gd name="connsiteX38" fmla="*/ 5308270 w 5545777"/>
              <a:gd name="connsiteY38" fmla="*/ 463138 h 641268"/>
              <a:gd name="connsiteX39" fmla="*/ 5343896 w 5545777"/>
              <a:gd name="connsiteY39" fmla="*/ 498764 h 641268"/>
              <a:gd name="connsiteX40" fmla="*/ 5415148 w 5545777"/>
              <a:gd name="connsiteY40" fmla="*/ 546265 h 641268"/>
              <a:gd name="connsiteX41" fmla="*/ 5486400 w 5545777"/>
              <a:gd name="connsiteY41" fmla="*/ 593766 h 641268"/>
              <a:gd name="connsiteX42" fmla="*/ 5522026 w 5545777"/>
              <a:gd name="connsiteY42" fmla="*/ 617517 h 641268"/>
              <a:gd name="connsiteX43" fmla="*/ 5545777 w 5545777"/>
              <a:gd name="connsiteY43" fmla="*/ 641268 h 641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5545777" h="641268">
                <a:moveTo>
                  <a:pt x="0" y="498764"/>
                </a:moveTo>
                <a:cubicBezTo>
                  <a:pt x="4292" y="496925"/>
                  <a:pt x="112013" y="452684"/>
                  <a:pt x="130629" y="439387"/>
                </a:cubicBezTo>
                <a:cubicBezTo>
                  <a:pt x="208464" y="383791"/>
                  <a:pt x="125459" y="417359"/>
                  <a:pt x="201881" y="391886"/>
                </a:cubicBezTo>
                <a:lnTo>
                  <a:pt x="273133" y="344385"/>
                </a:lnTo>
                <a:cubicBezTo>
                  <a:pt x="308912" y="320532"/>
                  <a:pt x="314073" y="314963"/>
                  <a:pt x="356260" y="296883"/>
                </a:cubicBezTo>
                <a:cubicBezTo>
                  <a:pt x="367766" y="291952"/>
                  <a:pt x="380011" y="288966"/>
                  <a:pt x="391886" y="285008"/>
                </a:cubicBezTo>
                <a:cubicBezTo>
                  <a:pt x="448344" y="247369"/>
                  <a:pt x="413970" y="265772"/>
                  <a:pt x="498764" y="237507"/>
                </a:cubicBezTo>
                <a:cubicBezTo>
                  <a:pt x="510639" y="233549"/>
                  <a:pt x="523974" y="232574"/>
                  <a:pt x="534390" y="225631"/>
                </a:cubicBezTo>
                <a:cubicBezTo>
                  <a:pt x="609072" y="175844"/>
                  <a:pt x="528962" y="223481"/>
                  <a:pt x="665018" y="178130"/>
                </a:cubicBezTo>
                <a:cubicBezTo>
                  <a:pt x="676893" y="174172"/>
                  <a:pt x="688500" y="169291"/>
                  <a:pt x="700644" y="166255"/>
                </a:cubicBezTo>
                <a:cubicBezTo>
                  <a:pt x="751607" y="153514"/>
                  <a:pt x="778314" y="153095"/>
                  <a:pt x="831273" y="142504"/>
                </a:cubicBezTo>
                <a:cubicBezTo>
                  <a:pt x="847277" y="139303"/>
                  <a:pt x="862770" y="133830"/>
                  <a:pt x="878774" y="130629"/>
                </a:cubicBezTo>
                <a:cubicBezTo>
                  <a:pt x="902385" y="125907"/>
                  <a:pt x="926134" y="121740"/>
                  <a:pt x="950026" y="118753"/>
                </a:cubicBezTo>
                <a:cubicBezTo>
                  <a:pt x="1021163" y="109861"/>
                  <a:pt x="1163782" y="95003"/>
                  <a:pt x="1163782" y="95003"/>
                </a:cubicBezTo>
                <a:cubicBezTo>
                  <a:pt x="1295261" y="62131"/>
                  <a:pt x="1199611" y="83459"/>
                  <a:pt x="1472540" y="59377"/>
                </a:cubicBezTo>
                <a:lnTo>
                  <a:pt x="1615044" y="47501"/>
                </a:lnTo>
                <a:cubicBezTo>
                  <a:pt x="1654629" y="43543"/>
                  <a:pt x="1694074" y="37773"/>
                  <a:pt x="1733798" y="35626"/>
                </a:cubicBezTo>
                <a:cubicBezTo>
                  <a:pt x="1840593" y="29853"/>
                  <a:pt x="1947553" y="27709"/>
                  <a:pt x="2054431" y="23751"/>
                </a:cubicBezTo>
                <a:cubicBezTo>
                  <a:pt x="2132738" y="15050"/>
                  <a:pt x="2255429" y="0"/>
                  <a:pt x="2327564" y="0"/>
                </a:cubicBezTo>
                <a:cubicBezTo>
                  <a:pt x="2668013" y="0"/>
                  <a:pt x="3008416" y="7917"/>
                  <a:pt x="3348842" y="11876"/>
                </a:cubicBezTo>
                <a:lnTo>
                  <a:pt x="3515096" y="23751"/>
                </a:lnTo>
                <a:cubicBezTo>
                  <a:pt x="3606094" y="28670"/>
                  <a:pt x="3697300" y="29564"/>
                  <a:pt x="3788229" y="35626"/>
                </a:cubicBezTo>
                <a:cubicBezTo>
                  <a:pt x="3816157" y="37488"/>
                  <a:pt x="3843537" y="44410"/>
                  <a:pt x="3871356" y="47501"/>
                </a:cubicBezTo>
                <a:cubicBezTo>
                  <a:pt x="3914811" y="52329"/>
                  <a:pt x="3958503" y="54800"/>
                  <a:pt x="4001985" y="59377"/>
                </a:cubicBezTo>
                <a:cubicBezTo>
                  <a:pt x="4033723" y="62718"/>
                  <a:pt x="4065249" y="67911"/>
                  <a:pt x="4096987" y="71252"/>
                </a:cubicBezTo>
                <a:cubicBezTo>
                  <a:pt x="4194841" y="81552"/>
                  <a:pt x="4231353" y="80962"/>
                  <a:pt x="4322618" y="95003"/>
                </a:cubicBezTo>
                <a:cubicBezTo>
                  <a:pt x="4342568" y="98072"/>
                  <a:pt x="4362085" y="103560"/>
                  <a:pt x="4381995" y="106878"/>
                </a:cubicBezTo>
                <a:cubicBezTo>
                  <a:pt x="4409604" y="111479"/>
                  <a:pt x="4437583" y="113746"/>
                  <a:pt x="4465122" y="118753"/>
                </a:cubicBezTo>
                <a:cubicBezTo>
                  <a:pt x="4546562" y="133560"/>
                  <a:pt x="4480425" y="125548"/>
                  <a:pt x="4548250" y="142504"/>
                </a:cubicBezTo>
                <a:cubicBezTo>
                  <a:pt x="4567831" y="147399"/>
                  <a:pt x="4588153" y="149068"/>
                  <a:pt x="4607626" y="154379"/>
                </a:cubicBezTo>
                <a:cubicBezTo>
                  <a:pt x="4755489" y="194705"/>
                  <a:pt x="4602471" y="165396"/>
                  <a:pt x="4750130" y="190005"/>
                </a:cubicBezTo>
                <a:cubicBezTo>
                  <a:pt x="4858216" y="226036"/>
                  <a:pt x="4687520" y="170771"/>
                  <a:pt x="4845133" y="213756"/>
                </a:cubicBezTo>
                <a:cubicBezTo>
                  <a:pt x="4869286" y="220343"/>
                  <a:pt x="4892634" y="229590"/>
                  <a:pt x="4916385" y="237507"/>
                </a:cubicBezTo>
                <a:lnTo>
                  <a:pt x="4952011" y="249382"/>
                </a:lnTo>
                <a:lnTo>
                  <a:pt x="4987637" y="261257"/>
                </a:lnTo>
                <a:lnTo>
                  <a:pt x="5165766" y="380011"/>
                </a:lnTo>
                <a:lnTo>
                  <a:pt x="5237018" y="427512"/>
                </a:lnTo>
                <a:cubicBezTo>
                  <a:pt x="5248893" y="435429"/>
                  <a:pt x="5259104" y="446750"/>
                  <a:pt x="5272644" y="451263"/>
                </a:cubicBezTo>
                <a:lnTo>
                  <a:pt x="5308270" y="463138"/>
                </a:lnTo>
                <a:cubicBezTo>
                  <a:pt x="5320145" y="475013"/>
                  <a:pt x="5330639" y="488453"/>
                  <a:pt x="5343896" y="498764"/>
                </a:cubicBezTo>
                <a:cubicBezTo>
                  <a:pt x="5366428" y="516289"/>
                  <a:pt x="5391397" y="530431"/>
                  <a:pt x="5415148" y="546265"/>
                </a:cubicBezTo>
                <a:lnTo>
                  <a:pt x="5486400" y="593766"/>
                </a:lnTo>
                <a:cubicBezTo>
                  <a:pt x="5498275" y="601683"/>
                  <a:pt x="5511934" y="607425"/>
                  <a:pt x="5522026" y="617517"/>
                </a:cubicBezTo>
                <a:lnTo>
                  <a:pt x="5545777" y="641268"/>
                </a:lnTo>
              </a:path>
            </a:pathLst>
          </a:custGeom>
          <a:noFill/>
          <a:ln w="38100">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6195921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Forward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stretch>
            <a:fillRect/>
          </a:stretch>
        </p:blipFill>
        <p:spPr>
          <a:xfrm>
            <a:off x="5959599" y="1690688"/>
            <a:ext cx="5394201" cy="4577648"/>
          </a:xfrm>
          <a:prstGeom prst="rect">
            <a:avLst/>
          </a:prstGeom>
        </p:spPr>
      </p:pic>
      <p:pic>
        <p:nvPicPr>
          <p:cNvPr id="5" name="Immagine 4">
            <a:extLst>
              <a:ext uri="{FF2B5EF4-FFF2-40B4-BE49-F238E27FC236}">
                <a16:creationId xmlns:a16="http://schemas.microsoft.com/office/drawing/2014/main" id="{55E8A861-05D0-384F-B9D5-8115B2FECEC4}"/>
              </a:ext>
            </a:extLst>
          </p:cNvPr>
          <p:cNvPicPr>
            <a:picLocks noChangeAspect="1"/>
          </p:cNvPicPr>
          <p:nvPr/>
        </p:nvPicPr>
        <p:blipFill>
          <a:blip r:embed="rId3"/>
          <a:stretch>
            <a:fillRect/>
          </a:stretch>
        </p:blipFill>
        <p:spPr>
          <a:xfrm>
            <a:off x="211715" y="2054023"/>
            <a:ext cx="5747884" cy="1236104"/>
          </a:xfrm>
          <a:prstGeom prst="rect">
            <a:avLst/>
          </a:prstGeom>
        </p:spPr>
      </p:pic>
      <p:pic>
        <p:nvPicPr>
          <p:cNvPr id="6" name="Immagine 5">
            <a:extLst>
              <a:ext uri="{FF2B5EF4-FFF2-40B4-BE49-F238E27FC236}">
                <a16:creationId xmlns:a16="http://schemas.microsoft.com/office/drawing/2014/main" id="{03184072-E58F-424A-B4D1-1366C7E7DDDD}"/>
              </a:ext>
            </a:extLst>
          </p:cNvPr>
          <p:cNvPicPr>
            <a:picLocks noChangeAspect="1"/>
          </p:cNvPicPr>
          <p:nvPr/>
        </p:nvPicPr>
        <p:blipFill>
          <a:blip r:embed="rId4"/>
          <a:stretch>
            <a:fillRect/>
          </a:stretch>
        </p:blipFill>
        <p:spPr>
          <a:xfrm>
            <a:off x="211715" y="3290127"/>
            <a:ext cx="5034544" cy="825335"/>
          </a:xfrm>
          <a:prstGeom prst="rect">
            <a:avLst/>
          </a:prstGeom>
        </p:spPr>
      </p:pic>
      <p:sp>
        <p:nvSpPr>
          <p:cNvPr id="7" name="Figura a mano libera 6">
            <a:extLst>
              <a:ext uri="{FF2B5EF4-FFF2-40B4-BE49-F238E27FC236}">
                <a16:creationId xmlns:a16="http://schemas.microsoft.com/office/drawing/2014/main" id="{A4C8B4AC-50AF-9A47-8363-A4D3E78D1AE8}"/>
              </a:ext>
            </a:extLst>
          </p:cNvPr>
          <p:cNvSpPr/>
          <p:nvPr/>
        </p:nvSpPr>
        <p:spPr>
          <a:xfrm>
            <a:off x="5260769" y="2529444"/>
            <a:ext cx="3574473" cy="1199408"/>
          </a:xfrm>
          <a:custGeom>
            <a:avLst/>
            <a:gdLst>
              <a:gd name="connsiteX0" fmla="*/ 0 w 3574473"/>
              <a:gd name="connsiteY0" fmla="*/ 1199408 h 1199408"/>
              <a:gd name="connsiteX1" fmla="*/ 118753 w 3574473"/>
              <a:gd name="connsiteY1" fmla="*/ 1187533 h 1199408"/>
              <a:gd name="connsiteX2" fmla="*/ 154379 w 3574473"/>
              <a:gd name="connsiteY2" fmla="*/ 1175657 h 1199408"/>
              <a:gd name="connsiteX3" fmla="*/ 201880 w 3574473"/>
              <a:gd name="connsiteY3" fmla="*/ 1163782 h 1199408"/>
              <a:gd name="connsiteX4" fmla="*/ 273132 w 3574473"/>
              <a:gd name="connsiteY4" fmla="*/ 1140031 h 1199408"/>
              <a:gd name="connsiteX5" fmla="*/ 344384 w 3574473"/>
              <a:gd name="connsiteY5" fmla="*/ 1116281 h 1199408"/>
              <a:gd name="connsiteX6" fmla="*/ 427512 w 3574473"/>
              <a:gd name="connsiteY6" fmla="*/ 1092530 h 1199408"/>
              <a:gd name="connsiteX7" fmla="*/ 498763 w 3574473"/>
              <a:gd name="connsiteY7" fmla="*/ 1068779 h 1199408"/>
              <a:gd name="connsiteX8" fmla="*/ 534389 w 3574473"/>
              <a:gd name="connsiteY8" fmla="*/ 1056904 h 1199408"/>
              <a:gd name="connsiteX9" fmla="*/ 617517 w 3574473"/>
              <a:gd name="connsiteY9" fmla="*/ 1021278 h 1199408"/>
              <a:gd name="connsiteX10" fmla="*/ 676893 w 3574473"/>
              <a:gd name="connsiteY10" fmla="*/ 997527 h 1199408"/>
              <a:gd name="connsiteX11" fmla="*/ 748145 w 3574473"/>
              <a:gd name="connsiteY11" fmla="*/ 973777 h 1199408"/>
              <a:gd name="connsiteX12" fmla="*/ 783771 w 3574473"/>
              <a:gd name="connsiteY12" fmla="*/ 961901 h 1199408"/>
              <a:gd name="connsiteX13" fmla="*/ 831273 w 3574473"/>
              <a:gd name="connsiteY13" fmla="*/ 950026 h 1199408"/>
              <a:gd name="connsiteX14" fmla="*/ 866899 w 3574473"/>
              <a:gd name="connsiteY14" fmla="*/ 926275 h 1199408"/>
              <a:gd name="connsiteX15" fmla="*/ 926275 w 3574473"/>
              <a:gd name="connsiteY15" fmla="*/ 914400 h 1199408"/>
              <a:gd name="connsiteX16" fmla="*/ 997527 w 3574473"/>
              <a:gd name="connsiteY16" fmla="*/ 890650 h 1199408"/>
              <a:gd name="connsiteX17" fmla="*/ 1151906 w 3574473"/>
              <a:gd name="connsiteY17" fmla="*/ 843148 h 1199408"/>
              <a:gd name="connsiteX18" fmla="*/ 1223158 w 3574473"/>
              <a:gd name="connsiteY18" fmla="*/ 819398 h 1199408"/>
              <a:gd name="connsiteX19" fmla="*/ 1258784 w 3574473"/>
              <a:gd name="connsiteY19" fmla="*/ 807522 h 1199408"/>
              <a:gd name="connsiteX20" fmla="*/ 1484415 w 3574473"/>
              <a:gd name="connsiteY20" fmla="*/ 771896 h 1199408"/>
              <a:gd name="connsiteX21" fmla="*/ 1579418 w 3574473"/>
              <a:gd name="connsiteY21" fmla="*/ 760021 h 1199408"/>
              <a:gd name="connsiteX22" fmla="*/ 2244436 w 3574473"/>
              <a:gd name="connsiteY22" fmla="*/ 724395 h 1199408"/>
              <a:gd name="connsiteX23" fmla="*/ 2755075 w 3574473"/>
              <a:gd name="connsiteY23" fmla="*/ 688769 h 1199408"/>
              <a:gd name="connsiteX24" fmla="*/ 2873828 w 3574473"/>
              <a:gd name="connsiteY24" fmla="*/ 665018 h 1199408"/>
              <a:gd name="connsiteX25" fmla="*/ 2980706 w 3574473"/>
              <a:gd name="connsiteY25" fmla="*/ 641268 h 1199408"/>
              <a:gd name="connsiteX26" fmla="*/ 3028208 w 3574473"/>
              <a:gd name="connsiteY26" fmla="*/ 617517 h 1199408"/>
              <a:gd name="connsiteX27" fmla="*/ 3146961 w 3574473"/>
              <a:gd name="connsiteY27" fmla="*/ 558140 h 1199408"/>
              <a:gd name="connsiteX28" fmla="*/ 3182587 w 3574473"/>
              <a:gd name="connsiteY28" fmla="*/ 522514 h 1199408"/>
              <a:gd name="connsiteX29" fmla="*/ 3218213 w 3574473"/>
              <a:gd name="connsiteY29" fmla="*/ 498764 h 1199408"/>
              <a:gd name="connsiteX30" fmla="*/ 3289465 w 3574473"/>
              <a:gd name="connsiteY30" fmla="*/ 427512 h 1199408"/>
              <a:gd name="connsiteX31" fmla="*/ 3313215 w 3574473"/>
              <a:gd name="connsiteY31" fmla="*/ 391886 h 1199408"/>
              <a:gd name="connsiteX32" fmla="*/ 3348841 w 3574473"/>
              <a:gd name="connsiteY32" fmla="*/ 368135 h 1199408"/>
              <a:gd name="connsiteX33" fmla="*/ 3360717 w 3574473"/>
              <a:gd name="connsiteY33" fmla="*/ 332509 h 1199408"/>
              <a:gd name="connsiteX34" fmla="*/ 3420093 w 3574473"/>
              <a:gd name="connsiteY34" fmla="*/ 261257 h 1199408"/>
              <a:gd name="connsiteX35" fmla="*/ 3431969 w 3574473"/>
              <a:gd name="connsiteY35" fmla="*/ 225631 h 1199408"/>
              <a:gd name="connsiteX36" fmla="*/ 3479470 w 3574473"/>
              <a:gd name="connsiteY36" fmla="*/ 154379 h 1199408"/>
              <a:gd name="connsiteX37" fmla="*/ 3526971 w 3574473"/>
              <a:gd name="connsiteY37" fmla="*/ 83127 h 1199408"/>
              <a:gd name="connsiteX38" fmla="*/ 3538847 w 3574473"/>
              <a:gd name="connsiteY38" fmla="*/ 47501 h 1199408"/>
              <a:gd name="connsiteX39" fmla="*/ 3574473 w 3574473"/>
              <a:gd name="connsiteY39" fmla="*/ 0 h 1199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574473" h="1199408">
                <a:moveTo>
                  <a:pt x="0" y="1199408"/>
                </a:moveTo>
                <a:cubicBezTo>
                  <a:pt x="39584" y="1195450"/>
                  <a:pt x="79434" y="1193582"/>
                  <a:pt x="118753" y="1187533"/>
                </a:cubicBezTo>
                <a:cubicBezTo>
                  <a:pt x="131125" y="1185630"/>
                  <a:pt x="142343" y="1179096"/>
                  <a:pt x="154379" y="1175657"/>
                </a:cubicBezTo>
                <a:cubicBezTo>
                  <a:pt x="170072" y="1171173"/>
                  <a:pt x="186247" y="1168472"/>
                  <a:pt x="201880" y="1163782"/>
                </a:cubicBezTo>
                <a:cubicBezTo>
                  <a:pt x="225860" y="1156588"/>
                  <a:pt x="249381" y="1147948"/>
                  <a:pt x="273132" y="1140031"/>
                </a:cubicBezTo>
                <a:lnTo>
                  <a:pt x="344384" y="1116281"/>
                </a:lnTo>
                <a:cubicBezTo>
                  <a:pt x="464142" y="1076361"/>
                  <a:pt x="278359" y="1137276"/>
                  <a:pt x="427512" y="1092530"/>
                </a:cubicBezTo>
                <a:cubicBezTo>
                  <a:pt x="451491" y="1085336"/>
                  <a:pt x="475013" y="1076696"/>
                  <a:pt x="498763" y="1068779"/>
                </a:cubicBezTo>
                <a:lnTo>
                  <a:pt x="534389" y="1056904"/>
                </a:lnTo>
                <a:cubicBezTo>
                  <a:pt x="597008" y="1015157"/>
                  <a:pt x="540830" y="1046840"/>
                  <a:pt x="617517" y="1021278"/>
                </a:cubicBezTo>
                <a:cubicBezTo>
                  <a:pt x="637740" y="1014537"/>
                  <a:pt x="656860" y="1004812"/>
                  <a:pt x="676893" y="997527"/>
                </a:cubicBezTo>
                <a:cubicBezTo>
                  <a:pt x="700421" y="988971"/>
                  <a:pt x="724394" y="981694"/>
                  <a:pt x="748145" y="973777"/>
                </a:cubicBezTo>
                <a:cubicBezTo>
                  <a:pt x="760020" y="969819"/>
                  <a:pt x="771627" y="964937"/>
                  <a:pt x="783771" y="961901"/>
                </a:cubicBezTo>
                <a:lnTo>
                  <a:pt x="831273" y="950026"/>
                </a:lnTo>
                <a:cubicBezTo>
                  <a:pt x="843148" y="942109"/>
                  <a:pt x="853535" y="931286"/>
                  <a:pt x="866899" y="926275"/>
                </a:cubicBezTo>
                <a:cubicBezTo>
                  <a:pt x="885798" y="919188"/>
                  <a:pt x="906802" y="919711"/>
                  <a:pt x="926275" y="914400"/>
                </a:cubicBezTo>
                <a:cubicBezTo>
                  <a:pt x="950428" y="907813"/>
                  <a:pt x="974282" y="899948"/>
                  <a:pt x="997527" y="890650"/>
                </a:cubicBezTo>
                <a:cubicBezTo>
                  <a:pt x="1181611" y="817016"/>
                  <a:pt x="891673" y="929890"/>
                  <a:pt x="1151906" y="843148"/>
                </a:cubicBezTo>
                <a:lnTo>
                  <a:pt x="1223158" y="819398"/>
                </a:lnTo>
                <a:cubicBezTo>
                  <a:pt x="1235033" y="815440"/>
                  <a:pt x="1246509" y="809977"/>
                  <a:pt x="1258784" y="807522"/>
                </a:cubicBezTo>
                <a:cubicBezTo>
                  <a:pt x="1425816" y="774116"/>
                  <a:pt x="1325757" y="790562"/>
                  <a:pt x="1484415" y="771896"/>
                </a:cubicBezTo>
                <a:cubicBezTo>
                  <a:pt x="1516110" y="768167"/>
                  <a:pt x="1547598" y="762469"/>
                  <a:pt x="1579418" y="760021"/>
                </a:cubicBezTo>
                <a:cubicBezTo>
                  <a:pt x="1952627" y="731313"/>
                  <a:pt x="1900201" y="740042"/>
                  <a:pt x="2244436" y="724395"/>
                </a:cubicBezTo>
                <a:cubicBezTo>
                  <a:pt x="2350714" y="719564"/>
                  <a:pt x="2666591" y="703516"/>
                  <a:pt x="2755075" y="688769"/>
                </a:cubicBezTo>
                <a:cubicBezTo>
                  <a:pt x="2894712" y="665497"/>
                  <a:pt x="2767526" y="688641"/>
                  <a:pt x="2873828" y="665018"/>
                </a:cubicBezTo>
                <a:cubicBezTo>
                  <a:pt x="3009559" y="634855"/>
                  <a:pt x="2864825" y="670238"/>
                  <a:pt x="2980706" y="641268"/>
                </a:cubicBezTo>
                <a:cubicBezTo>
                  <a:pt x="2996540" y="633351"/>
                  <a:pt x="3011632" y="623733"/>
                  <a:pt x="3028208" y="617517"/>
                </a:cubicBezTo>
                <a:cubicBezTo>
                  <a:pt x="3092573" y="593380"/>
                  <a:pt x="3081068" y="624033"/>
                  <a:pt x="3146961" y="558140"/>
                </a:cubicBezTo>
                <a:cubicBezTo>
                  <a:pt x="3158836" y="546265"/>
                  <a:pt x="3169685" y="533265"/>
                  <a:pt x="3182587" y="522514"/>
                </a:cubicBezTo>
                <a:cubicBezTo>
                  <a:pt x="3193551" y="513377"/>
                  <a:pt x="3207546" y="508246"/>
                  <a:pt x="3218213" y="498764"/>
                </a:cubicBezTo>
                <a:cubicBezTo>
                  <a:pt x="3243317" y="476449"/>
                  <a:pt x="3270834" y="455460"/>
                  <a:pt x="3289465" y="427512"/>
                </a:cubicBezTo>
                <a:cubicBezTo>
                  <a:pt x="3297382" y="415637"/>
                  <a:pt x="3303123" y="401978"/>
                  <a:pt x="3313215" y="391886"/>
                </a:cubicBezTo>
                <a:cubicBezTo>
                  <a:pt x="3323307" y="381794"/>
                  <a:pt x="3336966" y="376052"/>
                  <a:pt x="3348841" y="368135"/>
                </a:cubicBezTo>
                <a:cubicBezTo>
                  <a:pt x="3352800" y="356260"/>
                  <a:pt x="3355119" y="343705"/>
                  <a:pt x="3360717" y="332509"/>
                </a:cubicBezTo>
                <a:cubicBezTo>
                  <a:pt x="3377251" y="299441"/>
                  <a:pt x="3393828" y="287522"/>
                  <a:pt x="3420093" y="261257"/>
                </a:cubicBezTo>
                <a:cubicBezTo>
                  <a:pt x="3424052" y="249382"/>
                  <a:pt x="3425890" y="236573"/>
                  <a:pt x="3431969" y="225631"/>
                </a:cubicBezTo>
                <a:cubicBezTo>
                  <a:pt x="3445832" y="200678"/>
                  <a:pt x="3479470" y="154379"/>
                  <a:pt x="3479470" y="154379"/>
                </a:cubicBezTo>
                <a:cubicBezTo>
                  <a:pt x="3507705" y="69672"/>
                  <a:pt x="3467670" y="172078"/>
                  <a:pt x="3526971" y="83127"/>
                </a:cubicBezTo>
                <a:cubicBezTo>
                  <a:pt x="3533915" y="72712"/>
                  <a:pt x="3533249" y="58697"/>
                  <a:pt x="3538847" y="47501"/>
                </a:cubicBezTo>
                <a:cubicBezTo>
                  <a:pt x="3552277" y="20641"/>
                  <a:pt x="3557771" y="16701"/>
                  <a:pt x="3574473" y="0"/>
                </a:cubicBezTo>
              </a:path>
            </a:pathLst>
          </a:custGeom>
          <a:noFill/>
          <a:ln w="38100">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4717820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Forward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stretch>
            <a:fillRect/>
          </a:stretch>
        </p:blipFill>
        <p:spPr>
          <a:xfrm>
            <a:off x="5959599" y="1690688"/>
            <a:ext cx="5394201" cy="4577648"/>
          </a:xfrm>
          <a:prstGeom prst="rect">
            <a:avLst/>
          </a:prstGeom>
        </p:spPr>
      </p:pic>
      <p:pic>
        <p:nvPicPr>
          <p:cNvPr id="5" name="Immagine 4">
            <a:extLst>
              <a:ext uri="{FF2B5EF4-FFF2-40B4-BE49-F238E27FC236}">
                <a16:creationId xmlns:a16="http://schemas.microsoft.com/office/drawing/2014/main" id="{55E8A861-05D0-384F-B9D5-8115B2FECEC4}"/>
              </a:ext>
            </a:extLst>
          </p:cNvPr>
          <p:cNvPicPr>
            <a:picLocks noChangeAspect="1"/>
          </p:cNvPicPr>
          <p:nvPr/>
        </p:nvPicPr>
        <p:blipFill>
          <a:blip r:embed="rId3"/>
          <a:stretch>
            <a:fillRect/>
          </a:stretch>
        </p:blipFill>
        <p:spPr>
          <a:xfrm>
            <a:off x="211715" y="2054023"/>
            <a:ext cx="5747884" cy="1236104"/>
          </a:xfrm>
          <a:prstGeom prst="rect">
            <a:avLst/>
          </a:prstGeom>
        </p:spPr>
      </p:pic>
      <p:pic>
        <p:nvPicPr>
          <p:cNvPr id="6" name="Immagine 5">
            <a:extLst>
              <a:ext uri="{FF2B5EF4-FFF2-40B4-BE49-F238E27FC236}">
                <a16:creationId xmlns:a16="http://schemas.microsoft.com/office/drawing/2014/main" id="{03184072-E58F-424A-B4D1-1366C7E7DDDD}"/>
              </a:ext>
            </a:extLst>
          </p:cNvPr>
          <p:cNvPicPr>
            <a:picLocks noChangeAspect="1"/>
          </p:cNvPicPr>
          <p:nvPr/>
        </p:nvPicPr>
        <p:blipFill>
          <a:blip r:embed="rId4"/>
          <a:stretch>
            <a:fillRect/>
          </a:stretch>
        </p:blipFill>
        <p:spPr>
          <a:xfrm>
            <a:off x="211715" y="3290127"/>
            <a:ext cx="5034544" cy="825335"/>
          </a:xfrm>
          <a:prstGeom prst="rect">
            <a:avLst/>
          </a:prstGeom>
        </p:spPr>
      </p:pic>
      <p:sp>
        <p:nvSpPr>
          <p:cNvPr id="7" name="Figura a mano libera 6">
            <a:extLst>
              <a:ext uri="{FF2B5EF4-FFF2-40B4-BE49-F238E27FC236}">
                <a16:creationId xmlns:a16="http://schemas.microsoft.com/office/drawing/2014/main" id="{A4C8B4AC-50AF-9A47-8363-A4D3E78D1AE8}"/>
              </a:ext>
            </a:extLst>
          </p:cNvPr>
          <p:cNvSpPr/>
          <p:nvPr/>
        </p:nvSpPr>
        <p:spPr>
          <a:xfrm>
            <a:off x="5260769" y="2529444"/>
            <a:ext cx="3574473" cy="1199408"/>
          </a:xfrm>
          <a:custGeom>
            <a:avLst/>
            <a:gdLst>
              <a:gd name="connsiteX0" fmla="*/ 0 w 3574473"/>
              <a:gd name="connsiteY0" fmla="*/ 1199408 h 1199408"/>
              <a:gd name="connsiteX1" fmla="*/ 118753 w 3574473"/>
              <a:gd name="connsiteY1" fmla="*/ 1187533 h 1199408"/>
              <a:gd name="connsiteX2" fmla="*/ 154379 w 3574473"/>
              <a:gd name="connsiteY2" fmla="*/ 1175657 h 1199408"/>
              <a:gd name="connsiteX3" fmla="*/ 201880 w 3574473"/>
              <a:gd name="connsiteY3" fmla="*/ 1163782 h 1199408"/>
              <a:gd name="connsiteX4" fmla="*/ 273132 w 3574473"/>
              <a:gd name="connsiteY4" fmla="*/ 1140031 h 1199408"/>
              <a:gd name="connsiteX5" fmla="*/ 344384 w 3574473"/>
              <a:gd name="connsiteY5" fmla="*/ 1116281 h 1199408"/>
              <a:gd name="connsiteX6" fmla="*/ 427512 w 3574473"/>
              <a:gd name="connsiteY6" fmla="*/ 1092530 h 1199408"/>
              <a:gd name="connsiteX7" fmla="*/ 498763 w 3574473"/>
              <a:gd name="connsiteY7" fmla="*/ 1068779 h 1199408"/>
              <a:gd name="connsiteX8" fmla="*/ 534389 w 3574473"/>
              <a:gd name="connsiteY8" fmla="*/ 1056904 h 1199408"/>
              <a:gd name="connsiteX9" fmla="*/ 617517 w 3574473"/>
              <a:gd name="connsiteY9" fmla="*/ 1021278 h 1199408"/>
              <a:gd name="connsiteX10" fmla="*/ 676893 w 3574473"/>
              <a:gd name="connsiteY10" fmla="*/ 997527 h 1199408"/>
              <a:gd name="connsiteX11" fmla="*/ 748145 w 3574473"/>
              <a:gd name="connsiteY11" fmla="*/ 973777 h 1199408"/>
              <a:gd name="connsiteX12" fmla="*/ 783771 w 3574473"/>
              <a:gd name="connsiteY12" fmla="*/ 961901 h 1199408"/>
              <a:gd name="connsiteX13" fmla="*/ 831273 w 3574473"/>
              <a:gd name="connsiteY13" fmla="*/ 950026 h 1199408"/>
              <a:gd name="connsiteX14" fmla="*/ 866899 w 3574473"/>
              <a:gd name="connsiteY14" fmla="*/ 926275 h 1199408"/>
              <a:gd name="connsiteX15" fmla="*/ 926275 w 3574473"/>
              <a:gd name="connsiteY15" fmla="*/ 914400 h 1199408"/>
              <a:gd name="connsiteX16" fmla="*/ 997527 w 3574473"/>
              <a:gd name="connsiteY16" fmla="*/ 890650 h 1199408"/>
              <a:gd name="connsiteX17" fmla="*/ 1151906 w 3574473"/>
              <a:gd name="connsiteY17" fmla="*/ 843148 h 1199408"/>
              <a:gd name="connsiteX18" fmla="*/ 1223158 w 3574473"/>
              <a:gd name="connsiteY18" fmla="*/ 819398 h 1199408"/>
              <a:gd name="connsiteX19" fmla="*/ 1258784 w 3574473"/>
              <a:gd name="connsiteY19" fmla="*/ 807522 h 1199408"/>
              <a:gd name="connsiteX20" fmla="*/ 1484415 w 3574473"/>
              <a:gd name="connsiteY20" fmla="*/ 771896 h 1199408"/>
              <a:gd name="connsiteX21" fmla="*/ 1579418 w 3574473"/>
              <a:gd name="connsiteY21" fmla="*/ 760021 h 1199408"/>
              <a:gd name="connsiteX22" fmla="*/ 2244436 w 3574473"/>
              <a:gd name="connsiteY22" fmla="*/ 724395 h 1199408"/>
              <a:gd name="connsiteX23" fmla="*/ 2755075 w 3574473"/>
              <a:gd name="connsiteY23" fmla="*/ 688769 h 1199408"/>
              <a:gd name="connsiteX24" fmla="*/ 2873828 w 3574473"/>
              <a:gd name="connsiteY24" fmla="*/ 665018 h 1199408"/>
              <a:gd name="connsiteX25" fmla="*/ 2980706 w 3574473"/>
              <a:gd name="connsiteY25" fmla="*/ 641268 h 1199408"/>
              <a:gd name="connsiteX26" fmla="*/ 3028208 w 3574473"/>
              <a:gd name="connsiteY26" fmla="*/ 617517 h 1199408"/>
              <a:gd name="connsiteX27" fmla="*/ 3146961 w 3574473"/>
              <a:gd name="connsiteY27" fmla="*/ 558140 h 1199408"/>
              <a:gd name="connsiteX28" fmla="*/ 3182587 w 3574473"/>
              <a:gd name="connsiteY28" fmla="*/ 522514 h 1199408"/>
              <a:gd name="connsiteX29" fmla="*/ 3218213 w 3574473"/>
              <a:gd name="connsiteY29" fmla="*/ 498764 h 1199408"/>
              <a:gd name="connsiteX30" fmla="*/ 3289465 w 3574473"/>
              <a:gd name="connsiteY30" fmla="*/ 427512 h 1199408"/>
              <a:gd name="connsiteX31" fmla="*/ 3313215 w 3574473"/>
              <a:gd name="connsiteY31" fmla="*/ 391886 h 1199408"/>
              <a:gd name="connsiteX32" fmla="*/ 3348841 w 3574473"/>
              <a:gd name="connsiteY32" fmla="*/ 368135 h 1199408"/>
              <a:gd name="connsiteX33" fmla="*/ 3360717 w 3574473"/>
              <a:gd name="connsiteY33" fmla="*/ 332509 h 1199408"/>
              <a:gd name="connsiteX34" fmla="*/ 3420093 w 3574473"/>
              <a:gd name="connsiteY34" fmla="*/ 261257 h 1199408"/>
              <a:gd name="connsiteX35" fmla="*/ 3431969 w 3574473"/>
              <a:gd name="connsiteY35" fmla="*/ 225631 h 1199408"/>
              <a:gd name="connsiteX36" fmla="*/ 3479470 w 3574473"/>
              <a:gd name="connsiteY36" fmla="*/ 154379 h 1199408"/>
              <a:gd name="connsiteX37" fmla="*/ 3526971 w 3574473"/>
              <a:gd name="connsiteY37" fmla="*/ 83127 h 1199408"/>
              <a:gd name="connsiteX38" fmla="*/ 3538847 w 3574473"/>
              <a:gd name="connsiteY38" fmla="*/ 47501 h 1199408"/>
              <a:gd name="connsiteX39" fmla="*/ 3574473 w 3574473"/>
              <a:gd name="connsiteY39" fmla="*/ 0 h 1199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574473" h="1199408">
                <a:moveTo>
                  <a:pt x="0" y="1199408"/>
                </a:moveTo>
                <a:cubicBezTo>
                  <a:pt x="39584" y="1195450"/>
                  <a:pt x="79434" y="1193582"/>
                  <a:pt x="118753" y="1187533"/>
                </a:cubicBezTo>
                <a:cubicBezTo>
                  <a:pt x="131125" y="1185630"/>
                  <a:pt x="142343" y="1179096"/>
                  <a:pt x="154379" y="1175657"/>
                </a:cubicBezTo>
                <a:cubicBezTo>
                  <a:pt x="170072" y="1171173"/>
                  <a:pt x="186247" y="1168472"/>
                  <a:pt x="201880" y="1163782"/>
                </a:cubicBezTo>
                <a:cubicBezTo>
                  <a:pt x="225860" y="1156588"/>
                  <a:pt x="249381" y="1147948"/>
                  <a:pt x="273132" y="1140031"/>
                </a:cubicBezTo>
                <a:lnTo>
                  <a:pt x="344384" y="1116281"/>
                </a:lnTo>
                <a:cubicBezTo>
                  <a:pt x="464142" y="1076361"/>
                  <a:pt x="278359" y="1137276"/>
                  <a:pt x="427512" y="1092530"/>
                </a:cubicBezTo>
                <a:cubicBezTo>
                  <a:pt x="451491" y="1085336"/>
                  <a:pt x="475013" y="1076696"/>
                  <a:pt x="498763" y="1068779"/>
                </a:cubicBezTo>
                <a:lnTo>
                  <a:pt x="534389" y="1056904"/>
                </a:lnTo>
                <a:cubicBezTo>
                  <a:pt x="597008" y="1015157"/>
                  <a:pt x="540830" y="1046840"/>
                  <a:pt x="617517" y="1021278"/>
                </a:cubicBezTo>
                <a:cubicBezTo>
                  <a:pt x="637740" y="1014537"/>
                  <a:pt x="656860" y="1004812"/>
                  <a:pt x="676893" y="997527"/>
                </a:cubicBezTo>
                <a:cubicBezTo>
                  <a:pt x="700421" y="988971"/>
                  <a:pt x="724394" y="981694"/>
                  <a:pt x="748145" y="973777"/>
                </a:cubicBezTo>
                <a:cubicBezTo>
                  <a:pt x="760020" y="969819"/>
                  <a:pt x="771627" y="964937"/>
                  <a:pt x="783771" y="961901"/>
                </a:cubicBezTo>
                <a:lnTo>
                  <a:pt x="831273" y="950026"/>
                </a:lnTo>
                <a:cubicBezTo>
                  <a:pt x="843148" y="942109"/>
                  <a:pt x="853535" y="931286"/>
                  <a:pt x="866899" y="926275"/>
                </a:cubicBezTo>
                <a:cubicBezTo>
                  <a:pt x="885798" y="919188"/>
                  <a:pt x="906802" y="919711"/>
                  <a:pt x="926275" y="914400"/>
                </a:cubicBezTo>
                <a:cubicBezTo>
                  <a:pt x="950428" y="907813"/>
                  <a:pt x="974282" y="899948"/>
                  <a:pt x="997527" y="890650"/>
                </a:cubicBezTo>
                <a:cubicBezTo>
                  <a:pt x="1181611" y="817016"/>
                  <a:pt x="891673" y="929890"/>
                  <a:pt x="1151906" y="843148"/>
                </a:cubicBezTo>
                <a:lnTo>
                  <a:pt x="1223158" y="819398"/>
                </a:lnTo>
                <a:cubicBezTo>
                  <a:pt x="1235033" y="815440"/>
                  <a:pt x="1246509" y="809977"/>
                  <a:pt x="1258784" y="807522"/>
                </a:cubicBezTo>
                <a:cubicBezTo>
                  <a:pt x="1425816" y="774116"/>
                  <a:pt x="1325757" y="790562"/>
                  <a:pt x="1484415" y="771896"/>
                </a:cubicBezTo>
                <a:cubicBezTo>
                  <a:pt x="1516110" y="768167"/>
                  <a:pt x="1547598" y="762469"/>
                  <a:pt x="1579418" y="760021"/>
                </a:cubicBezTo>
                <a:cubicBezTo>
                  <a:pt x="1952627" y="731313"/>
                  <a:pt x="1900201" y="740042"/>
                  <a:pt x="2244436" y="724395"/>
                </a:cubicBezTo>
                <a:cubicBezTo>
                  <a:pt x="2350714" y="719564"/>
                  <a:pt x="2666591" y="703516"/>
                  <a:pt x="2755075" y="688769"/>
                </a:cubicBezTo>
                <a:cubicBezTo>
                  <a:pt x="2894712" y="665497"/>
                  <a:pt x="2767526" y="688641"/>
                  <a:pt x="2873828" y="665018"/>
                </a:cubicBezTo>
                <a:cubicBezTo>
                  <a:pt x="3009559" y="634855"/>
                  <a:pt x="2864825" y="670238"/>
                  <a:pt x="2980706" y="641268"/>
                </a:cubicBezTo>
                <a:cubicBezTo>
                  <a:pt x="2996540" y="633351"/>
                  <a:pt x="3011632" y="623733"/>
                  <a:pt x="3028208" y="617517"/>
                </a:cubicBezTo>
                <a:cubicBezTo>
                  <a:pt x="3092573" y="593380"/>
                  <a:pt x="3081068" y="624033"/>
                  <a:pt x="3146961" y="558140"/>
                </a:cubicBezTo>
                <a:cubicBezTo>
                  <a:pt x="3158836" y="546265"/>
                  <a:pt x="3169685" y="533265"/>
                  <a:pt x="3182587" y="522514"/>
                </a:cubicBezTo>
                <a:cubicBezTo>
                  <a:pt x="3193551" y="513377"/>
                  <a:pt x="3207546" y="508246"/>
                  <a:pt x="3218213" y="498764"/>
                </a:cubicBezTo>
                <a:cubicBezTo>
                  <a:pt x="3243317" y="476449"/>
                  <a:pt x="3270834" y="455460"/>
                  <a:pt x="3289465" y="427512"/>
                </a:cubicBezTo>
                <a:cubicBezTo>
                  <a:pt x="3297382" y="415637"/>
                  <a:pt x="3303123" y="401978"/>
                  <a:pt x="3313215" y="391886"/>
                </a:cubicBezTo>
                <a:cubicBezTo>
                  <a:pt x="3323307" y="381794"/>
                  <a:pt x="3336966" y="376052"/>
                  <a:pt x="3348841" y="368135"/>
                </a:cubicBezTo>
                <a:cubicBezTo>
                  <a:pt x="3352800" y="356260"/>
                  <a:pt x="3355119" y="343705"/>
                  <a:pt x="3360717" y="332509"/>
                </a:cubicBezTo>
                <a:cubicBezTo>
                  <a:pt x="3377251" y="299441"/>
                  <a:pt x="3393828" y="287522"/>
                  <a:pt x="3420093" y="261257"/>
                </a:cubicBezTo>
                <a:cubicBezTo>
                  <a:pt x="3424052" y="249382"/>
                  <a:pt x="3425890" y="236573"/>
                  <a:pt x="3431969" y="225631"/>
                </a:cubicBezTo>
                <a:cubicBezTo>
                  <a:pt x="3445832" y="200678"/>
                  <a:pt x="3479470" y="154379"/>
                  <a:pt x="3479470" y="154379"/>
                </a:cubicBezTo>
                <a:cubicBezTo>
                  <a:pt x="3507705" y="69672"/>
                  <a:pt x="3467670" y="172078"/>
                  <a:pt x="3526971" y="83127"/>
                </a:cubicBezTo>
                <a:cubicBezTo>
                  <a:pt x="3533915" y="72712"/>
                  <a:pt x="3533249" y="58697"/>
                  <a:pt x="3538847" y="47501"/>
                </a:cubicBezTo>
                <a:cubicBezTo>
                  <a:pt x="3552277" y="20641"/>
                  <a:pt x="3557771" y="16701"/>
                  <a:pt x="3574473" y="0"/>
                </a:cubicBezTo>
              </a:path>
            </a:pathLst>
          </a:custGeom>
          <a:noFill/>
          <a:ln w="38100">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Immagine 7">
            <a:extLst>
              <a:ext uri="{FF2B5EF4-FFF2-40B4-BE49-F238E27FC236}">
                <a16:creationId xmlns:a16="http://schemas.microsoft.com/office/drawing/2014/main" id="{2E4419B9-0712-C54D-A2F8-C65D348637CE}"/>
              </a:ext>
            </a:extLst>
          </p:cNvPr>
          <p:cNvPicPr>
            <a:picLocks noChangeAspect="1"/>
          </p:cNvPicPr>
          <p:nvPr/>
        </p:nvPicPr>
        <p:blipFill>
          <a:blip r:embed="rId5"/>
          <a:stretch>
            <a:fillRect/>
          </a:stretch>
        </p:blipFill>
        <p:spPr>
          <a:xfrm>
            <a:off x="211715" y="4069693"/>
            <a:ext cx="2697740" cy="758043"/>
          </a:xfrm>
          <a:prstGeom prst="rect">
            <a:avLst/>
          </a:prstGeom>
        </p:spPr>
      </p:pic>
      <p:sp>
        <p:nvSpPr>
          <p:cNvPr id="9" name="Figura a mano libera 8">
            <a:extLst>
              <a:ext uri="{FF2B5EF4-FFF2-40B4-BE49-F238E27FC236}">
                <a16:creationId xmlns:a16="http://schemas.microsoft.com/office/drawing/2014/main" id="{9AEE8A2F-CB93-F04B-BB1B-9E4C5E943507}"/>
              </a:ext>
            </a:extLst>
          </p:cNvPr>
          <p:cNvSpPr/>
          <p:nvPr/>
        </p:nvSpPr>
        <p:spPr>
          <a:xfrm>
            <a:off x="2840188" y="4115462"/>
            <a:ext cx="5817151" cy="292016"/>
          </a:xfrm>
          <a:custGeom>
            <a:avLst/>
            <a:gdLst>
              <a:gd name="connsiteX0" fmla="*/ 0 w 3574473"/>
              <a:gd name="connsiteY0" fmla="*/ 1199408 h 1199408"/>
              <a:gd name="connsiteX1" fmla="*/ 118753 w 3574473"/>
              <a:gd name="connsiteY1" fmla="*/ 1187533 h 1199408"/>
              <a:gd name="connsiteX2" fmla="*/ 154379 w 3574473"/>
              <a:gd name="connsiteY2" fmla="*/ 1175657 h 1199408"/>
              <a:gd name="connsiteX3" fmla="*/ 201880 w 3574473"/>
              <a:gd name="connsiteY3" fmla="*/ 1163782 h 1199408"/>
              <a:gd name="connsiteX4" fmla="*/ 273132 w 3574473"/>
              <a:gd name="connsiteY4" fmla="*/ 1140031 h 1199408"/>
              <a:gd name="connsiteX5" fmla="*/ 344384 w 3574473"/>
              <a:gd name="connsiteY5" fmla="*/ 1116281 h 1199408"/>
              <a:gd name="connsiteX6" fmla="*/ 427512 w 3574473"/>
              <a:gd name="connsiteY6" fmla="*/ 1092530 h 1199408"/>
              <a:gd name="connsiteX7" fmla="*/ 498763 w 3574473"/>
              <a:gd name="connsiteY7" fmla="*/ 1068779 h 1199408"/>
              <a:gd name="connsiteX8" fmla="*/ 534389 w 3574473"/>
              <a:gd name="connsiteY8" fmla="*/ 1056904 h 1199408"/>
              <a:gd name="connsiteX9" fmla="*/ 617517 w 3574473"/>
              <a:gd name="connsiteY9" fmla="*/ 1021278 h 1199408"/>
              <a:gd name="connsiteX10" fmla="*/ 676893 w 3574473"/>
              <a:gd name="connsiteY10" fmla="*/ 997527 h 1199408"/>
              <a:gd name="connsiteX11" fmla="*/ 748145 w 3574473"/>
              <a:gd name="connsiteY11" fmla="*/ 973777 h 1199408"/>
              <a:gd name="connsiteX12" fmla="*/ 783771 w 3574473"/>
              <a:gd name="connsiteY12" fmla="*/ 961901 h 1199408"/>
              <a:gd name="connsiteX13" fmla="*/ 831273 w 3574473"/>
              <a:gd name="connsiteY13" fmla="*/ 950026 h 1199408"/>
              <a:gd name="connsiteX14" fmla="*/ 866899 w 3574473"/>
              <a:gd name="connsiteY14" fmla="*/ 926275 h 1199408"/>
              <a:gd name="connsiteX15" fmla="*/ 926275 w 3574473"/>
              <a:gd name="connsiteY15" fmla="*/ 914400 h 1199408"/>
              <a:gd name="connsiteX16" fmla="*/ 997527 w 3574473"/>
              <a:gd name="connsiteY16" fmla="*/ 890650 h 1199408"/>
              <a:gd name="connsiteX17" fmla="*/ 1151906 w 3574473"/>
              <a:gd name="connsiteY17" fmla="*/ 843148 h 1199408"/>
              <a:gd name="connsiteX18" fmla="*/ 1223158 w 3574473"/>
              <a:gd name="connsiteY18" fmla="*/ 819398 h 1199408"/>
              <a:gd name="connsiteX19" fmla="*/ 1258784 w 3574473"/>
              <a:gd name="connsiteY19" fmla="*/ 807522 h 1199408"/>
              <a:gd name="connsiteX20" fmla="*/ 1484415 w 3574473"/>
              <a:gd name="connsiteY20" fmla="*/ 771896 h 1199408"/>
              <a:gd name="connsiteX21" fmla="*/ 1579418 w 3574473"/>
              <a:gd name="connsiteY21" fmla="*/ 760021 h 1199408"/>
              <a:gd name="connsiteX22" fmla="*/ 2244436 w 3574473"/>
              <a:gd name="connsiteY22" fmla="*/ 724395 h 1199408"/>
              <a:gd name="connsiteX23" fmla="*/ 2755075 w 3574473"/>
              <a:gd name="connsiteY23" fmla="*/ 688769 h 1199408"/>
              <a:gd name="connsiteX24" fmla="*/ 2873828 w 3574473"/>
              <a:gd name="connsiteY24" fmla="*/ 665018 h 1199408"/>
              <a:gd name="connsiteX25" fmla="*/ 2980706 w 3574473"/>
              <a:gd name="connsiteY25" fmla="*/ 641268 h 1199408"/>
              <a:gd name="connsiteX26" fmla="*/ 3028208 w 3574473"/>
              <a:gd name="connsiteY26" fmla="*/ 617517 h 1199408"/>
              <a:gd name="connsiteX27" fmla="*/ 3146961 w 3574473"/>
              <a:gd name="connsiteY27" fmla="*/ 558140 h 1199408"/>
              <a:gd name="connsiteX28" fmla="*/ 3182587 w 3574473"/>
              <a:gd name="connsiteY28" fmla="*/ 522514 h 1199408"/>
              <a:gd name="connsiteX29" fmla="*/ 3218213 w 3574473"/>
              <a:gd name="connsiteY29" fmla="*/ 498764 h 1199408"/>
              <a:gd name="connsiteX30" fmla="*/ 3289465 w 3574473"/>
              <a:gd name="connsiteY30" fmla="*/ 427512 h 1199408"/>
              <a:gd name="connsiteX31" fmla="*/ 3313215 w 3574473"/>
              <a:gd name="connsiteY31" fmla="*/ 391886 h 1199408"/>
              <a:gd name="connsiteX32" fmla="*/ 3348841 w 3574473"/>
              <a:gd name="connsiteY32" fmla="*/ 368135 h 1199408"/>
              <a:gd name="connsiteX33" fmla="*/ 3360717 w 3574473"/>
              <a:gd name="connsiteY33" fmla="*/ 332509 h 1199408"/>
              <a:gd name="connsiteX34" fmla="*/ 3420093 w 3574473"/>
              <a:gd name="connsiteY34" fmla="*/ 261257 h 1199408"/>
              <a:gd name="connsiteX35" fmla="*/ 3431969 w 3574473"/>
              <a:gd name="connsiteY35" fmla="*/ 225631 h 1199408"/>
              <a:gd name="connsiteX36" fmla="*/ 3479470 w 3574473"/>
              <a:gd name="connsiteY36" fmla="*/ 154379 h 1199408"/>
              <a:gd name="connsiteX37" fmla="*/ 3526971 w 3574473"/>
              <a:gd name="connsiteY37" fmla="*/ 83127 h 1199408"/>
              <a:gd name="connsiteX38" fmla="*/ 3538847 w 3574473"/>
              <a:gd name="connsiteY38" fmla="*/ 47501 h 1199408"/>
              <a:gd name="connsiteX39" fmla="*/ 3574473 w 3574473"/>
              <a:gd name="connsiteY39" fmla="*/ 0 h 1199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574473" h="1199408">
                <a:moveTo>
                  <a:pt x="0" y="1199408"/>
                </a:moveTo>
                <a:cubicBezTo>
                  <a:pt x="39584" y="1195450"/>
                  <a:pt x="79434" y="1193582"/>
                  <a:pt x="118753" y="1187533"/>
                </a:cubicBezTo>
                <a:cubicBezTo>
                  <a:pt x="131125" y="1185630"/>
                  <a:pt x="142343" y="1179096"/>
                  <a:pt x="154379" y="1175657"/>
                </a:cubicBezTo>
                <a:cubicBezTo>
                  <a:pt x="170072" y="1171173"/>
                  <a:pt x="186247" y="1168472"/>
                  <a:pt x="201880" y="1163782"/>
                </a:cubicBezTo>
                <a:cubicBezTo>
                  <a:pt x="225860" y="1156588"/>
                  <a:pt x="249381" y="1147948"/>
                  <a:pt x="273132" y="1140031"/>
                </a:cubicBezTo>
                <a:lnTo>
                  <a:pt x="344384" y="1116281"/>
                </a:lnTo>
                <a:cubicBezTo>
                  <a:pt x="464142" y="1076361"/>
                  <a:pt x="278359" y="1137276"/>
                  <a:pt x="427512" y="1092530"/>
                </a:cubicBezTo>
                <a:cubicBezTo>
                  <a:pt x="451491" y="1085336"/>
                  <a:pt x="475013" y="1076696"/>
                  <a:pt x="498763" y="1068779"/>
                </a:cubicBezTo>
                <a:lnTo>
                  <a:pt x="534389" y="1056904"/>
                </a:lnTo>
                <a:cubicBezTo>
                  <a:pt x="597008" y="1015157"/>
                  <a:pt x="540830" y="1046840"/>
                  <a:pt x="617517" y="1021278"/>
                </a:cubicBezTo>
                <a:cubicBezTo>
                  <a:pt x="637740" y="1014537"/>
                  <a:pt x="656860" y="1004812"/>
                  <a:pt x="676893" y="997527"/>
                </a:cubicBezTo>
                <a:cubicBezTo>
                  <a:pt x="700421" y="988971"/>
                  <a:pt x="724394" y="981694"/>
                  <a:pt x="748145" y="973777"/>
                </a:cubicBezTo>
                <a:cubicBezTo>
                  <a:pt x="760020" y="969819"/>
                  <a:pt x="771627" y="964937"/>
                  <a:pt x="783771" y="961901"/>
                </a:cubicBezTo>
                <a:lnTo>
                  <a:pt x="831273" y="950026"/>
                </a:lnTo>
                <a:cubicBezTo>
                  <a:pt x="843148" y="942109"/>
                  <a:pt x="853535" y="931286"/>
                  <a:pt x="866899" y="926275"/>
                </a:cubicBezTo>
                <a:cubicBezTo>
                  <a:pt x="885798" y="919188"/>
                  <a:pt x="906802" y="919711"/>
                  <a:pt x="926275" y="914400"/>
                </a:cubicBezTo>
                <a:cubicBezTo>
                  <a:pt x="950428" y="907813"/>
                  <a:pt x="974282" y="899948"/>
                  <a:pt x="997527" y="890650"/>
                </a:cubicBezTo>
                <a:cubicBezTo>
                  <a:pt x="1181611" y="817016"/>
                  <a:pt x="891673" y="929890"/>
                  <a:pt x="1151906" y="843148"/>
                </a:cubicBezTo>
                <a:lnTo>
                  <a:pt x="1223158" y="819398"/>
                </a:lnTo>
                <a:cubicBezTo>
                  <a:pt x="1235033" y="815440"/>
                  <a:pt x="1246509" y="809977"/>
                  <a:pt x="1258784" y="807522"/>
                </a:cubicBezTo>
                <a:cubicBezTo>
                  <a:pt x="1425816" y="774116"/>
                  <a:pt x="1325757" y="790562"/>
                  <a:pt x="1484415" y="771896"/>
                </a:cubicBezTo>
                <a:cubicBezTo>
                  <a:pt x="1516110" y="768167"/>
                  <a:pt x="1547598" y="762469"/>
                  <a:pt x="1579418" y="760021"/>
                </a:cubicBezTo>
                <a:cubicBezTo>
                  <a:pt x="1952627" y="731313"/>
                  <a:pt x="1900201" y="740042"/>
                  <a:pt x="2244436" y="724395"/>
                </a:cubicBezTo>
                <a:cubicBezTo>
                  <a:pt x="2350714" y="719564"/>
                  <a:pt x="2666591" y="703516"/>
                  <a:pt x="2755075" y="688769"/>
                </a:cubicBezTo>
                <a:cubicBezTo>
                  <a:pt x="2894712" y="665497"/>
                  <a:pt x="2767526" y="688641"/>
                  <a:pt x="2873828" y="665018"/>
                </a:cubicBezTo>
                <a:cubicBezTo>
                  <a:pt x="3009559" y="634855"/>
                  <a:pt x="2864825" y="670238"/>
                  <a:pt x="2980706" y="641268"/>
                </a:cubicBezTo>
                <a:cubicBezTo>
                  <a:pt x="2996540" y="633351"/>
                  <a:pt x="3011632" y="623733"/>
                  <a:pt x="3028208" y="617517"/>
                </a:cubicBezTo>
                <a:cubicBezTo>
                  <a:pt x="3092573" y="593380"/>
                  <a:pt x="3081068" y="624033"/>
                  <a:pt x="3146961" y="558140"/>
                </a:cubicBezTo>
                <a:cubicBezTo>
                  <a:pt x="3158836" y="546265"/>
                  <a:pt x="3169685" y="533265"/>
                  <a:pt x="3182587" y="522514"/>
                </a:cubicBezTo>
                <a:cubicBezTo>
                  <a:pt x="3193551" y="513377"/>
                  <a:pt x="3207546" y="508246"/>
                  <a:pt x="3218213" y="498764"/>
                </a:cubicBezTo>
                <a:cubicBezTo>
                  <a:pt x="3243317" y="476449"/>
                  <a:pt x="3270834" y="455460"/>
                  <a:pt x="3289465" y="427512"/>
                </a:cubicBezTo>
                <a:cubicBezTo>
                  <a:pt x="3297382" y="415637"/>
                  <a:pt x="3303123" y="401978"/>
                  <a:pt x="3313215" y="391886"/>
                </a:cubicBezTo>
                <a:cubicBezTo>
                  <a:pt x="3323307" y="381794"/>
                  <a:pt x="3336966" y="376052"/>
                  <a:pt x="3348841" y="368135"/>
                </a:cubicBezTo>
                <a:cubicBezTo>
                  <a:pt x="3352800" y="356260"/>
                  <a:pt x="3355119" y="343705"/>
                  <a:pt x="3360717" y="332509"/>
                </a:cubicBezTo>
                <a:cubicBezTo>
                  <a:pt x="3377251" y="299441"/>
                  <a:pt x="3393828" y="287522"/>
                  <a:pt x="3420093" y="261257"/>
                </a:cubicBezTo>
                <a:cubicBezTo>
                  <a:pt x="3424052" y="249382"/>
                  <a:pt x="3425890" y="236573"/>
                  <a:pt x="3431969" y="225631"/>
                </a:cubicBezTo>
                <a:cubicBezTo>
                  <a:pt x="3445832" y="200678"/>
                  <a:pt x="3479470" y="154379"/>
                  <a:pt x="3479470" y="154379"/>
                </a:cubicBezTo>
                <a:cubicBezTo>
                  <a:pt x="3507705" y="69672"/>
                  <a:pt x="3467670" y="172078"/>
                  <a:pt x="3526971" y="83127"/>
                </a:cubicBezTo>
                <a:cubicBezTo>
                  <a:pt x="3533915" y="72712"/>
                  <a:pt x="3533249" y="58697"/>
                  <a:pt x="3538847" y="47501"/>
                </a:cubicBezTo>
                <a:cubicBezTo>
                  <a:pt x="3552277" y="20641"/>
                  <a:pt x="3557771" y="16701"/>
                  <a:pt x="3574473" y="0"/>
                </a:cubicBezTo>
              </a:path>
            </a:pathLst>
          </a:custGeom>
          <a:noFill/>
          <a:ln w="38100">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199426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Forward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pic>
        <p:nvPicPr>
          <p:cNvPr id="8" name="Immagine 7">
            <a:extLst>
              <a:ext uri="{FF2B5EF4-FFF2-40B4-BE49-F238E27FC236}">
                <a16:creationId xmlns:a16="http://schemas.microsoft.com/office/drawing/2014/main" id="{27FF44CE-D30D-D846-B480-41A4396AA75D}"/>
              </a:ext>
            </a:extLst>
          </p:cNvPr>
          <p:cNvPicPr>
            <a:picLocks noChangeAspect="1"/>
          </p:cNvPicPr>
          <p:nvPr/>
        </p:nvPicPr>
        <p:blipFill rotWithShape="1">
          <a:blip r:embed="rId5"/>
          <a:srcRect r="13108"/>
          <a:stretch/>
        </p:blipFill>
        <p:spPr>
          <a:xfrm>
            <a:off x="268440" y="2200616"/>
            <a:ext cx="5394202" cy="1583984"/>
          </a:xfrm>
          <a:prstGeom prst="rect">
            <a:avLst/>
          </a:prstGeom>
        </p:spPr>
      </p:pic>
      <p:pic>
        <p:nvPicPr>
          <p:cNvPr id="10" name="Immagine 9">
            <a:extLst>
              <a:ext uri="{FF2B5EF4-FFF2-40B4-BE49-F238E27FC236}">
                <a16:creationId xmlns:a16="http://schemas.microsoft.com/office/drawing/2014/main" id="{4861289B-2CE8-3F43-82A3-6DAD0550C8F2}"/>
              </a:ext>
            </a:extLst>
          </p:cNvPr>
          <p:cNvPicPr>
            <a:picLocks noChangeAspect="1"/>
          </p:cNvPicPr>
          <p:nvPr/>
        </p:nvPicPr>
        <p:blipFill>
          <a:blip r:embed="rId6"/>
          <a:stretch>
            <a:fillRect/>
          </a:stretch>
        </p:blipFill>
        <p:spPr>
          <a:xfrm>
            <a:off x="268440" y="3832070"/>
            <a:ext cx="2081060" cy="462458"/>
          </a:xfrm>
          <a:prstGeom prst="rect">
            <a:avLst/>
          </a:prstGeom>
        </p:spPr>
      </p:pic>
      <p:sp>
        <p:nvSpPr>
          <p:cNvPr id="11" name="Figura a mano libera 10">
            <a:extLst>
              <a:ext uri="{FF2B5EF4-FFF2-40B4-BE49-F238E27FC236}">
                <a16:creationId xmlns:a16="http://schemas.microsoft.com/office/drawing/2014/main" id="{ED095C62-CF71-B944-A860-5B54415099AB}"/>
              </a:ext>
            </a:extLst>
          </p:cNvPr>
          <p:cNvSpPr/>
          <p:nvPr/>
        </p:nvSpPr>
        <p:spPr>
          <a:xfrm>
            <a:off x="4356100" y="1522816"/>
            <a:ext cx="6464300" cy="2020763"/>
          </a:xfrm>
          <a:custGeom>
            <a:avLst/>
            <a:gdLst>
              <a:gd name="connsiteX0" fmla="*/ 0 w 6464300"/>
              <a:gd name="connsiteY0" fmla="*/ 2007784 h 2020763"/>
              <a:gd name="connsiteX1" fmla="*/ 254000 w 6464300"/>
              <a:gd name="connsiteY1" fmla="*/ 2007784 h 2020763"/>
              <a:gd name="connsiteX2" fmla="*/ 609600 w 6464300"/>
              <a:gd name="connsiteY2" fmla="*/ 1995084 h 2020763"/>
              <a:gd name="connsiteX3" fmla="*/ 952500 w 6464300"/>
              <a:gd name="connsiteY3" fmla="*/ 1969684 h 2020763"/>
              <a:gd name="connsiteX4" fmla="*/ 1219200 w 6464300"/>
              <a:gd name="connsiteY4" fmla="*/ 1944284 h 2020763"/>
              <a:gd name="connsiteX5" fmla="*/ 1397000 w 6464300"/>
              <a:gd name="connsiteY5" fmla="*/ 1893484 h 2020763"/>
              <a:gd name="connsiteX6" fmla="*/ 1498600 w 6464300"/>
              <a:gd name="connsiteY6" fmla="*/ 1855384 h 2020763"/>
              <a:gd name="connsiteX7" fmla="*/ 1536700 w 6464300"/>
              <a:gd name="connsiteY7" fmla="*/ 1842684 h 2020763"/>
              <a:gd name="connsiteX8" fmla="*/ 1600200 w 6464300"/>
              <a:gd name="connsiteY8" fmla="*/ 1804584 h 2020763"/>
              <a:gd name="connsiteX9" fmla="*/ 1651000 w 6464300"/>
              <a:gd name="connsiteY9" fmla="*/ 1728384 h 2020763"/>
              <a:gd name="connsiteX10" fmla="*/ 1676400 w 6464300"/>
              <a:gd name="connsiteY10" fmla="*/ 1690284 h 2020763"/>
              <a:gd name="connsiteX11" fmla="*/ 1714500 w 6464300"/>
              <a:gd name="connsiteY11" fmla="*/ 1563284 h 2020763"/>
              <a:gd name="connsiteX12" fmla="*/ 1701800 w 6464300"/>
              <a:gd name="connsiteY12" fmla="*/ 1245784 h 2020763"/>
              <a:gd name="connsiteX13" fmla="*/ 1689100 w 6464300"/>
              <a:gd name="connsiteY13" fmla="*/ 1156884 h 2020763"/>
              <a:gd name="connsiteX14" fmla="*/ 1676400 w 6464300"/>
              <a:gd name="connsiteY14" fmla="*/ 1118784 h 2020763"/>
              <a:gd name="connsiteX15" fmla="*/ 1663700 w 6464300"/>
              <a:gd name="connsiteY15" fmla="*/ 1067984 h 2020763"/>
              <a:gd name="connsiteX16" fmla="*/ 1638300 w 6464300"/>
              <a:gd name="connsiteY16" fmla="*/ 877484 h 2020763"/>
              <a:gd name="connsiteX17" fmla="*/ 1663700 w 6464300"/>
              <a:gd name="connsiteY17" fmla="*/ 559984 h 2020763"/>
              <a:gd name="connsiteX18" fmla="*/ 1689100 w 6464300"/>
              <a:gd name="connsiteY18" fmla="*/ 483784 h 2020763"/>
              <a:gd name="connsiteX19" fmla="*/ 1714500 w 6464300"/>
              <a:gd name="connsiteY19" fmla="*/ 445684 h 2020763"/>
              <a:gd name="connsiteX20" fmla="*/ 1854200 w 6464300"/>
              <a:gd name="connsiteY20" fmla="*/ 331384 h 2020763"/>
              <a:gd name="connsiteX21" fmla="*/ 1955800 w 6464300"/>
              <a:gd name="connsiteY21" fmla="*/ 280584 h 2020763"/>
              <a:gd name="connsiteX22" fmla="*/ 2070100 w 6464300"/>
              <a:gd name="connsiteY22" fmla="*/ 229784 h 2020763"/>
              <a:gd name="connsiteX23" fmla="*/ 2184400 w 6464300"/>
              <a:gd name="connsiteY23" fmla="*/ 204384 h 2020763"/>
              <a:gd name="connsiteX24" fmla="*/ 2235200 w 6464300"/>
              <a:gd name="connsiteY24" fmla="*/ 178984 h 2020763"/>
              <a:gd name="connsiteX25" fmla="*/ 2387600 w 6464300"/>
              <a:gd name="connsiteY25" fmla="*/ 153584 h 2020763"/>
              <a:gd name="connsiteX26" fmla="*/ 2425700 w 6464300"/>
              <a:gd name="connsiteY26" fmla="*/ 140884 h 2020763"/>
              <a:gd name="connsiteX27" fmla="*/ 2628900 w 6464300"/>
              <a:gd name="connsiteY27" fmla="*/ 115484 h 2020763"/>
              <a:gd name="connsiteX28" fmla="*/ 3136900 w 6464300"/>
              <a:gd name="connsiteY28" fmla="*/ 77384 h 2020763"/>
              <a:gd name="connsiteX29" fmla="*/ 3632200 w 6464300"/>
              <a:gd name="connsiteY29" fmla="*/ 51984 h 2020763"/>
              <a:gd name="connsiteX30" fmla="*/ 4279900 w 6464300"/>
              <a:gd name="connsiteY30" fmla="*/ 39284 h 2020763"/>
              <a:gd name="connsiteX31" fmla="*/ 4660900 w 6464300"/>
              <a:gd name="connsiteY31" fmla="*/ 26584 h 2020763"/>
              <a:gd name="connsiteX32" fmla="*/ 4737100 w 6464300"/>
              <a:gd name="connsiteY32" fmla="*/ 13884 h 2020763"/>
              <a:gd name="connsiteX33" fmla="*/ 5562600 w 6464300"/>
              <a:gd name="connsiteY33" fmla="*/ 13884 h 2020763"/>
              <a:gd name="connsiteX34" fmla="*/ 5740400 w 6464300"/>
              <a:gd name="connsiteY34" fmla="*/ 39284 h 2020763"/>
              <a:gd name="connsiteX35" fmla="*/ 5867400 w 6464300"/>
              <a:gd name="connsiteY35" fmla="*/ 64684 h 2020763"/>
              <a:gd name="connsiteX36" fmla="*/ 5918200 w 6464300"/>
              <a:gd name="connsiteY36" fmla="*/ 77384 h 2020763"/>
              <a:gd name="connsiteX37" fmla="*/ 5994400 w 6464300"/>
              <a:gd name="connsiteY37" fmla="*/ 90084 h 2020763"/>
              <a:gd name="connsiteX38" fmla="*/ 6045200 w 6464300"/>
              <a:gd name="connsiteY38" fmla="*/ 102784 h 2020763"/>
              <a:gd name="connsiteX39" fmla="*/ 6172200 w 6464300"/>
              <a:gd name="connsiteY39" fmla="*/ 128184 h 2020763"/>
              <a:gd name="connsiteX40" fmla="*/ 6273800 w 6464300"/>
              <a:gd name="connsiteY40" fmla="*/ 166284 h 2020763"/>
              <a:gd name="connsiteX41" fmla="*/ 6350000 w 6464300"/>
              <a:gd name="connsiteY41" fmla="*/ 191684 h 2020763"/>
              <a:gd name="connsiteX42" fmla="*/ 6388100 w 6464300"/>
              <a:gd name="connsiteY42" fmla="*/ 229784 h 2020763"/>
              <a:gd name="connsiteX43" fmla="*/ 6400800 w 6464300"/>
              <a:gd name="connsiteY43" fmla="*/ 267884 h 2020763"/>
              <a:gd name="connsiteX44" fmla="*/ 6426200 w 6464300"/>
              <a:gd name="connsiteY44" fmla="*/ 305984 h 2020763"/>
              <a:gd name="connsiteX45" fmla="*/ 6451600 w 6464300"/>
              <a:gd name="connsiteY45" fmla="*/ 585384 h 2020763"/>
              <a:gd name="connsiteX46" fmla="*/ 6464300 w 6464300"/>
              <a:gd name="connsiteY46" fmla="*/ 737784 h 2020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6464300" h="2020763">
                <a:moveTo>
                  <a:pt x="0" y="2007784"/>
                </a:moveTo>
                <a:cubicBezTo>
                  <a:pt x="159067" y="2030508"/>
                  <a:pt x="30426" y="2018690"/>
                  <a:pt x="254000" y="2007784"/>
                </a:cubicBezTo>
                <a:cubicBezTo>
                  <a:pt x="372468" y="2002005"/>
                  <a:pt x="491067" y="1999317"/>
                  <a:pt x="609600" y="1995084"/>
                </a:cubicBezTo>
                <a:lnTo>
                  <a:pt x="952500" y="1969684"/>
                </a:lnTo>
                <a:cubicBezTo>
                  <a:pt x="1007735" y="1965541"/>
                  <a:pt x="1151807" y="1956920"/>
                  <a:pt x="1219200" y="1944284"/>
                </a:cubicBezTo>
                <a:cubicBezTo>
                  <a:pt x="1292100" y="1930615"/>
                  <a:pt x="1329616" y="1915945"/>
                  <a:pt x="1397000" y="1893484"/>
                </a:cubicBezTo>
                <a:cubicBezTo>
                  <a:pt x="1483480" y="1864657"/>
                  <a:pt x="1377113" y="1900942"/>
                  <a:pt x="1498600" y="1855384"/>
                </a:cubicBezTo>
                <a:cubicBezTo>
                  <a:pt x="1511135" y="1850684"/>
                  <a:pt x="1524726" y="1848671"/>
                  <a:pt x="1536700" y="1842684"/>
                </a:cubicBezTo>
                <a:cubicBezTo>
                  <a:pt x="1558778" y="1831645"/>
                  <a:pt x="1579033" y="1817284"/>
                  <a:pt x="1600200" y="1804584"/>
                </a:cubicBezTo>
                <a:lnTo>
                  <a:pt x="1651000" y="1728384"/>
                </a:lnTo>
                <a:cubicBezTo>
                  <a:pt x="1659467" y="1715684"/>
                  <a:pt x="1671573" y="1704764"/>
                  <a:pt x="1676400" y="1690284"/>
                </a:cubicBezTo>
                <a:cubicBezTo>
                  <a:pt x="1707320" y="1597525"/>
                  <a:pt x="1695306" y="1640059"/>
                  <a:pt x="1714500" y="1563284"/>
                </a:cubicBezTo>
                <a:cubicBezTo>
                  <a:pt x="1710267" y="1457451"/>
                  <a:pt x="1708407" y="1351496"/>
                  <a:pt x="1701800" y="1245784"/>
                </a:cubicBezTo>
                <a:cubicBezTo>
                  <a:pt x="1699933" y="1215908"/>
                  <a:pt x="1694971" y="1186237"/>
                  <a:pt x="1689100" y="1156884"/>
                </a:cubicBezTo>
                <a:cubicBezTo>
                  <a:pt x="1686475" y="1143757"/>
                  <a:pt x="1680078" y="1131656"/>
                  <a:pt x="1676400" y="1118784"/>
                </a:cubicBezTo>
                <a:cubicBezTo>
                  <a:pt x="1671605" y="1102001"/>
                  <a:pt x="1667123" y="1085100"/>
                  <a:pt x="1663700" y="1067984"/>
                </a:cubicBezTo>
                <a:cubicBezTo>
                  <a:pt x="1649448" y="996726"/>
                  <a:pt x="1646772" y="953728"/>
                  <a:pt x="1638300" y="877484"/>
                </a:cubicBezTo>
                <a:cubicBezTo>
                  <a:pt x="1640974" y="829360"/>
                  <a:pt x="1644791" y="641923"/>
                  <a:pt x="1663700" y="559984"/>
                </a:cubicBezTo>
                <a:cubicBezTo>
                  <a:pt x="1669720" y="533896"/>
                  <a:pt x="1674248" y="506061"/>
                  <a:pt x="1689100" y="483784"/>
                </a:cubicBezTo>
                <a:cubicBezTo>
                  <a:pt x="1697567" y="471084"/>
                  <a:pt x="1704729" y="457410"/>
                  <a:pt x="1714500" y="445684"/>
                </a:cubicBezTo>
                <a:cubicBezTo>
                  <a:pt x="1745524" y="408455"/>
                  <a:pt x="1825465" y="345751"/>
                  <a:pt x="1854200" y="331384"/>
                </a:cubicBezTo>
                <a:lnTo>
                  <a:pt x="1955800" y="280584"/>
                </a:lnTo>
                <a:cubicBezTo>
                  <a:pt x="1993325" y="261822"/>
                  <a:pt x="2029561" y="241946"/>
                  <a:pt x="2070100" y="229784"/>
                </a:cubicBezTo>
                <a:cubicBezTo>
                  <a:pt x="2110333" y="217714"/>
                  <a:pt x="2145312" y="219042"/>
                  <a:pt x="2184400" y="204384"/>
                </a:cubicBezTo>
                <a:cubicBezTo>
                  <a:pt x="2202127" y="197737"/>
                  <a:pt x="2216833" y="183576"/>
                  <a:pt x="2235200" y="178984"/>
                </a:cubicBezTo>
                <a:cubicBezTo>
                  <a:pt x="2285163" y="166493"/>
                  <a:pt x="2338742" y="169870"/>
                  <a:pt x="2387600" y="153584"/>
                </a:cubicBezTo>
                <a:cubicBezTo>
                  <a:pt x="2400300" y="149351"/>
                  <a:pt x="2412573" y="143509"/>
                  <a:pt x="2425700" y="140884"/>
                </a:cubicBezTo>
                <a:cubicBezTo>
                  <a:pt x="2474441" y="131136"/>
                  <a:pt x="2584876" y="120767"/>
                  <a:pt x="2628900" y="115484"/>
                </a:cubicBezTo>
                <a:cubicBezTo>
                  <a:pt x="2990165" y="72132"/>
                  <a:pt x="2678744" y="100879"/>
                  <a:pt x="3136900" y="77384"/>
                </a:cubicBezTo>
                <a:cubicBezTo>
                  <a:pt x="3470847" y="60259"/>
                  <a:pt x="3196730" y="63597"/>
                  <a:pt x="3632200" y="51984"/>
                </a:cubicBezTo>
                <a:lnTo>
                  <a:pt x="4279900" y="39284"/>
                </a:lnTo>
                <a:lnTo>
                  <a:pt x="4660900" y="26584"/>
                </a:lnTo>
                <a:cubicBezTo>
                  <a:pt x="4686300" y="22351"/>
                  <a:pt x="4711446" y="16115"/>
                  <a:pt x="4737100" y="13884"/>
                </a:cubicBezTo>
                <a:cubicBezTo>
                  <a:pt x="5046589" y="-13028"/>
                  <a:pt x="5189083" y="6102"/>
                  <a:pt x="5562600" y="13884"/>
                </a:cubicBezTo>
                <a:cubicBezTo>
                  <a:pt x="5621867" y="22351"/>
                  <a:pt x="5681694" y="27543"/>
                  <a:pt x="5740400" y="39284"/>
                </a:cubicBezTo>
                <a:cubicBezTo>
                  <a:pt x="5782733" y="47751"/>
                  <a:pt x="5825517" y="54213"/>
                  <a:pt x="5867400" y="64684"/>
                </a:cubicBezTo>
                <a:cubicBezTo>
                  <a:pt x="5884333" y="68917"/>
                  <a:pt x="5901084" y="73961"/>
                  <a:pt x="5918200" y="77384"/>
                </a:cubicBezTo>
                <a:cubicBezTo>
                  <a:pt x="5943450" y="82434"/>
                  <a:pt x="5969150" y="85034"/>
                  <a:pt x="5994400" y="90084"/>
                </a:cubicBezTo>
                <a:cubicBezTo>
                  <a:pt x="6011516" y="93507"/>
                  <a:pt x="6028133" y="99127"/>
                  <a:pt x="6045200" y="102784"/>
                </a:cubicBezTo>
                <a:cubicBezTo>
                  <a:pt x="6087413" y="111830"/>
                  <a:pt x="6172200" y="128184"/>
                  <a:pt x="6172200" y="128184"/>
                </a:cubicBezTo>
                <a:cubicBezTo>
                  <a:pt x="6257367" y="170768"/>
                  <a:pt x="6187342" y="140346"/>
                  <a:pt x="6273800" y="166284"/>
                </a:cubicBezTo>
                <a:cubicBezTo>
                  <a:pt x="6299445" y="173977"/>
                  <a:pt x="6350000" y="191684"/>
                  <a:pt x="6350000" y="191684"/>
                </a:cubicBezTo>
                <a:cubicBezTo>
                  <a:pt x="6362700" y="204384"/>
                  <a:pt x="6378137" y="214840"/>
                  <a:pt x="6388100" y="229784"/>
                </a:cubicBezTo>
                <a:cubicBezTo>
                  <a:pt x="6395526" y="240923"/>
                  <a:pt x="6394813" y="255910"/>
                  <a:pt x="6400800" y="267884"/>
                </a:cubicBezTo>
                <a:cubicBezTo>
                  <a:pt x="6407626" y="281536"/>
                  <a:pt x="6417733" y="293284"/>
                  <a:pt x="6426200" y="305984"/>
                </a:cubicBezTo>
                <a:cubicBezTo>
                  <a:pt x="6448008" y="480450"/>
                  <a:pt x="6433442" y="349330"/>
                  <a:pt x="6451600" y="585384"/>
                </a:cubicBezTo>
                <a:cubicBezTo>
                  <a:pt x="6455510" y="636210"/>
                  <a:pt x="6464300" y="737784"/>
                  <a:pt x="6464300" y="737784"/>
                </a:cubicBezTo>
              </a:path>
            </a:pathLst>
          </a:custGeom>
          <a:noFill/>
          <a:ln w="38100">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igura a mano libera 12">
            <a:extLst>
              <a:ext uri="{FF2B5EF4-FFF2-40B4-BE49-F238E27FC236}">
                <a16:creationId xmlns:a16="http://schemas.microsoft.com/office/drawing/2014/main" id="{D536E7B0-46FA-C349-BED1-1C19182A9A2F}"/>
              </a:ext>
            </a:extLst>
          </p:cNvPr>
          <p:cNvSpPr/>
          <p:nvPr/>
        </p:nvSpPr>
        <p:spPr>
          <a:xfrm>
            <a:off x="2456761" y="4109259"/>
            <a:ext cx="8350786" cy="1167821"/>
          </a:xfrm>
          <a:custGeom>
            <a:avLst/>
            <a:gdLst>
              <a:gd name="connsiteX0" fmla="*/ 0 w 8350786"/>
              <a:gd name="connsiteY0" fmla="*/ 11049 h 1167821"/>
              <a:gd name="connsiteX1" fmla="*/ 198304 w 8350786"/>
              <a:gd name="connsiteY1" fmla="*/ 33 h 1167821"/>
              <a:gd name="connsiteX2" fmla="*/ 1333041 w 8350786"/>
              <a:gd name="connsiteY2" fmla="*/ 33083 h 1167821"/>
              <a:gd name="connsiteX3" fmla="*/ 1465244 w 8350786"/>
              <a:gd name="connsiteY3" fmla="*/ 66134 h 1167821"/>
              <a:gd name="connsiteX4" fmla="*/ 1509311 w 8350786"/>
              <a:gd name="connsiteY4" fmla="*/ 77151 h 1167821"/>
              <a:gd name="connsiteX5" fmla="*/ 1575412 w 8350786"/>
              <a:gd name="connsiteY5" fmla="*/ 88168 h 1167821"/>
              <a:gd name="connsiteX6" fmla="*/ 1641514 w 8350786"/>
              <a:gd name="connsiteY6" fmla="*/ 110201 h 1167821"/>
              <a:gd name="connsiteX7" fmla="*/ 1696598 w 8350786"/>
              <a:gd name="connsiteY7" fmla="*/ 121218 h 1167821"/>
              <a:gd name="connsiteX8" fmla="*/ 1729649 w 8350786"/>
              <a:gd name="connsiteY8" fmla="*/ 143252 h 1167821"/>
              <a:gd name="connsiteX9" fmla="*/ 1806767 w 8350786"/>
              <a:gd name="connsiteY9" fmla="*/ 165286 h 1167821"/>
              <a:gd name="connsiteX10" fmla="*/ 1850834 w 8350786"/>
              <a:gd name="connsiteY10" fmla="*/ 187319 h 1167821"/>
              <a:gd name="connsiteX11" fmla="*/ 1972020 w 8350786"/>
              <a:gd name="connsiteY11" fmla="*/ 231387 h 1167821"/>
              <a:gd name="connsiteX12" fmla="*/ 2104222 w 8350786"/>
              <a:gd name="connsiteY12" fmla="*/ 264437 h 1167821"/>
              <a:gd name="connsiteX13" fmla="*/ 2181340 w 8350786"/>
              <a:gd name="connsiteY13" fmla="*/ 286471 h 1167821"/>
              <a:gd name="connsiteX14" fmla="*/ 2214391 w 8350786"/>
              <a:gd name="connsiteY14" fmla="*/ 297488 h 1167821"/>
              <a:gd name="connsiteX15" fmla="*/ 2313543 w 8350786"/>
              <a:gd name="connsiteY15" fmla="*/ 319522 h 1167821"/>
              <a:gd name="connsiteX16" fmla="*/ 2346593 w 8350786"/>
              <a:gd name="connsiteY16" fmla="*/ 330539 h 1167821"/>
              <a:gd name="connsiteX17" fmla="*/ 2555914 w 8350786"/>
              <a:gd name="connsiteY17" fmla="*/ 396640 h 1167821"/>
              <a:gd name="connsiteX18" fmla="*/ 2588964 w 8350786"/>
              <a:gd name="connsiteY18" fmla="*/ 407657 h 1167821"/>
              <a:gd name="connsiteX19" fmla="*/ 2765234 w 8350786"/>
              <a:gd name="connsiteY19" fmla="*/ 440707 h 1167821"/>
              <a:gd name="connsiteX20" fmla="*/ 2853369 w 8350786"/>
              <a:gd name="connsiteY20" fmla="*/ 462741 h 1167821"/>
              <a:gd name="connsiteX21" fmla="*/ 2919470 w 8350786"/>
              <a:gd name="connsiteY21" fmla="*/ 473758 h 1167821"/>
              <a:gd name="connsiteX22" fmla="*/ 3051673 w 8350786"/>
              <a:gd name="connsiteY22" fmla="*/ 506808 h 1167821"/>
              <a:gd name="connsiteX23" fmla="*/ 3095740 w 8350786"/>
              <a:gd name="connsiteY23" fmla="*/ 517825 h 1167821"/>
              <a:gd name="connsiteX24" fmla="*/ 3161841 w 8350786"/>
              <a:gd name="connsiteY24" fmla="*/ 539859 h 1167821"/>
              <a:gd name="connsiteX25" fmla="*/ 3316078 w 8350786"/>
              <a:gd name="connsiteY25" fmla="*/ 572910 h 1167821"/>
              <a:gd name="connsiteX26" fmla="*/ 3349128 w 8350786"/>
              <a:gd name="connsiteY26" fmla="*/ 583927 h 1167821"/>
              <a:gd name="connsiteX27" fmla="*/ 3404212 w 8350786"/>
              <a:gd name="connsiteY27" fmla="*/ 594943 h 1167821"/>
              <a:gd name="connsiteX28" fmla="*/ 3503364 w 8350786"/>
              <a:gd name="connsiteY28" fmla="*/ 627994 h 1167821"/>
              <a:gd name="connsiteX29" fmla="*/ 3657600 w 8350786"/>
              <a:gd name="connsiteY29" fmla="*/ 672061 h 1167821"/>
              <a:gd name="connsiteX30" fmla="*/ 3701668 w 8350786"/>
              <a:gd name="connsiteY30" fmla="*/ 683078 h 1167821"/>
              <a:gd name="connsiteX31" fmla="*/ 3734719 w 8350786"/>
              <a:gd name="connsiteY31" fmla="*/ 694095 h 1167821"/>
              <a:gd name="connsiteX32" fmla="*/ 3822853 w 8350786"/>
              <a:gd name="connsiteY32" fmla="*/ 716129 h 1167821"/>
              <a:gd name="connsiteX33" fmla="*/ 3855904 w 8350786"/>
              <a:gd name="connsiteY33" fmla="*/ 727146 h 1167821"/>
              <a:gd name="connsiteX34" fmla="*/ 3944039 w 8350786"/>
              <a:gd name="connsiteY34" fmla="*/ 760196 h 1167821"/>
              <a:gd name="connsiteX35" fmla="*/ 3999123 w 8350786"/>
              <a:gd name="connsiteY35" fmla="*/ 771213 h 1167821"/>
              <a:gd name="connsiteX36" fmla="*/ 4065225 w 8350786"/>
              <a:gd name="connsiteY36" fmla="*/ 793247 h 1167821"/>
              <a:gd name="connsiteX37" fmla="*/ 4219461 w 8350786"/>
              <a:gd name="connsiteY37" fmla="*/ 826298 h 1167821"/>
              <a:gd name="connsiteX38" fmla="*/ 4351663 w 8350786"/>
              <a:gd name="connsiteY38" fmla="*/ 859348 h 1167821"/>
              <a:gd name="connsiteX39" fmla="*/ 4395731 w 8350786"/>
              <a:gd name="connsiteY39" fmla="*/ 870365 h 1167821"/>
              <a:gd name="connsiteX40" fmla="*/ 4450815 w 8350786"/>
              <a:gd name="connsiteY40" fmla="*/ 881382 h 1167821"/>
              <a:gd name="connsiteX41" fmla="*/ 4638102 w 8350786"/>
              <a:gd name="connsiteY41" fmla="*/ 914433 h 1167821"/>
              <a:gd name="connsiteX42" fmla="*/ 4737253 w 8350786"/>
              <a:gd name="connsiteY42" fmla="*/ 936466 h 1167821"/>
              <a:gd name="connsiteX43" fmla="*/ 4935557 w 8350786"/>
              <a:gd name="connsiteY43" fmla="*/ 969517 h 1167821"/>
              <a:gd name="connsiteX44" fmla="*/ 5034709 w 8350786"/>
              <a:gd name="connsiteY44" fmla="*/ 980534 h 1167821"/>
              <a:gd name="connsiteX45" fmla="*/ 5188945 w 8350786"/>
              <a:gd name="connsiteY45" fmla="*/ 1002568 h 1167821"/>
              <a:gd name="connsiteX46" fmla="*/ 5233012 w 8350786"/>
              <a:gd name="connsiteY46" fmla="*/ 1013584 h 1167821"/>
              <a:gd name="connsiteX47" fmla="*/ 5310131 w 8350786"/>
              <a:gd name="connsiteY47" fmla="*/ 1024601 h 1167821"/>
              <a:gd name="connsiteX48" fmla="*/ 5453350 w 8350786"/>
              <a:gd name="connsiteY48" fmla="*/ 1046635 h 1167821"/>
              <a:gd name="connsiteX49" fmla="*/ 5519451 w 8350786"/>
              <a:gd name="connsiteY49" fmla="*/ 1057652 h 1167821"/>
              <a:gd name="connsiteX50" fmla="*/ 5607586 w 8350786"/>
              <a:gd name="connsiteY50" fmla="*/ 1068669 h 1167821"/>
              <a:gd name="connsiteX51" fmla="*/ 5717755 w 8350786"/>
              <a:gd name="connsiteY51" fmla="*/ 1090702 h 1167821"/>
              <a:gd name="connsiteX52" fmla="*/ 5838940 w 8350786"/>
              <a:gd name="connsiteY52" fmla="*/ 1101719 h 1167821"/>
              <a:gd name="connsiteX53" fmla="*/ 6026227 w 8350786"/>
              <a:gd name="connsiteY53" fmla="*/ 1123753 h 1167821"/>
              <a:gd name="connsiteX54" fmla="*/ 6070294 w 8350786"/>
              <a:gd name="connsiteY54" fmla="*/ 1134770 h 1167821"/>
              <a:gd name="connsiteX55" fmla="*/ 6147412 w 8350786"/>
              <a:gd name="connsiteY55" fmla="*/ 1145787 h 1167821"/>
              <a:gd name="connsiteX56" fmla="*/ 6521986 w 8350786"/>
              <a:gd name="connsiteY56" fmla="*/ 1167821 h 1167821"/>
              <a:gd name="connsiteX57" fmla="*/ 6841475 w 8350786"/>
              <a:gd name="connsiteY57" fmla="*/ 1156804 h 1167821"/>
              <a:gd name="connsiteX58" fmla="*/ 6951644 w 8350786"/>
              <a:gd name="connsiteY58" fmla="*/ 1134770 h 1167821"/>
              <a:gd name="connsiteX59" fmla="*/ 7017745 w 8350786"/>
              <a:gd name="connsiteY59" fmla="*/ 1123753 h 1167821"/>
              <a:gd name="connsiteX60" fmla="*/ 7050796 w 8350786"/>
              <a:gd name="connsiteY60" fmla="*/ 1112736 h 1167821"/>
              <a:gd name="connsiteX61" fmla="*/ 7116897 w 8350786"/>
              <a:gd name="connsiteY61" fmla="*/ 1101719 h 1167821"/>
              <a:gd name="connsiteX62" fmla="*/ 7160964 w 8350786"/>
              <a:gd name="connsiteY62" fmla="*/ 1090702 h 1167821"/>
              <a:gd name="connsiteX63" fmla="*/ 7194015 w 8350786"/>
              <a:gd name="connsiteY63" fmla="*/ 1079686 h 1167821"/>
              <a:gd name="connsiteX64" fmla="*/ 7260116 w 8350786"/>
              <a:gd name="connsiteY64" fmla="*/ 1068669 h 1167821"/>
              <a:gd name="connsiteX65" fmla="*/ 7359268 w 8350786"/>
              <a:gd name="connsiteY65" fmla="*/ 1046635 h 1167821"/>
              <a:gd name="connsiteX66" fmla="*/ 7414352 w 8350786"/>
              <a:gd name="connsiteY66" fmla="*/ 1035618 h 1167821"/>
              <a:gd name="connsiteX67" fmla="*/ 7447403 w 8350786"/>
              <a:gd name="connsiteY67" fmla="*/ 1013584 h 1167821"/>
              <a:gd name="connsiteX68" fmla="*/ 7535538 w 8350786"/>
              <a:gd name="connsiteY68" fmla="*/ 991551 h 1167821"/>
              <a:gd name="connsiteX69" fmla="*/ 7601639 w 8350786"/>
              <a:gd name="connsiteY69" fmla="*/ 947483 h 1167821"/>
              <a:gd name="connsiteX70" fmla="*/ 7634690 w 8350786"/>
              <a:gd name="connsiteY70" fmla="*/ 925449 h 1167821"/>
              <a:gd name="connsiteX71" fmla="*/ 7689774 w 8350786"/>
              <a:gd name="connsiteY71" fmla="*/ 881382 h 1167821"/>
              <a:gd name="connsiteX72" fmla="*/ 7722825 w 8350786"/>
              <a:gd name="connsiteY72" fmla="*/ 848331 h 1167821"/>
              <a:gd name="connsiteX73" fmla="*/ 7744858 w 8350786"/>
              <a:gd name="connsiteY73" fmla="*/ 815281 h 1167821"/>
              <a:gd name="connsiteX74" fmla="*/ 7777909 w 8350786"/>
              <a:gd name="connsiteY74" fmla="*/ 782230 h 1167821"/>
              <a:gd name="connsiteX75" fmla="*/ 7799943 w 8350786"/>
              <a:gd name="connsiteY75" fmla="*/ 749180 h 1167821"/>
              <a:gd name="connsiteX76" fmla="*/ 7832993 w 8350786"/>
              <a:gd name="connsiteY76" fmla="*/ 727146 h 1167821"/>
              <a:gd name="connsiteX77" fmla="*/ 7855027 w 8350786"/>
              <a:gd name="connsiteY77" fmla="*/ 694095 h 1167821"/>
              <a:gd name="connsiteX78" fmla="*/ 7921128 w 8350786"/>
              <a:gd name="connsiteY78" fmla="*/ 627994 h 1167821"/>
              <a:gd name="connsiteX79" fmla="*/ 7976212 w 8350786"/>
              <a:gd name="connsiteY79" fmla="*/ 561893 h 1167821"/>
              <a:gd name="connsiteX80" fmla="*/ 8020280 w 8350786"/>
              <a:gd name="connsiteY80" fmla="*/ 495792 h 1167821"/>
              <a:gd name="connsiteX81" fmla="*/ 8130449 w 8350786"/>
              <a:gd name="connsiteY81" fmla="*/ 385623 h 1167821"/>
              <a:gd name="connsiteX82" fmla="*/ 8196550 w 8350786"/>
              <a:gd name="connsiteY82" fmla="*/ 319522 h 1167821"/>
              <a:gd name="connsiteX83" fmla="*/ 8229600 w 8350786"/>
              <a:gd name="connsiteY83" fmla="*/ 286471 h 1167821"/>
              <a:gd name="connsiteX84" fmla="*/ 8284685 w 8350786"/>
              <a:gd name="connsiteY84" fmla="*/ 231387 h 1167821"/>
              <a:gd name="connsiteX85" fmla="*/ 8328752 w 8350786"/>
              <a:gd name="connsiteY85" fmla="*/ 165286 h 1167821"/>
              <a:gd name="connsiteX86" fmla="*/ 8350786 w 8350786"/>
              <a:gd name="connsiteY86" fmla="*/ 99184 h 1167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8350786" h="1167821">
                <a:moveTo>
                  <a:pt x="0" y="11049"/>
                </a:moveTo>
                <a:cubicBezTo>
                  <a:pt x="66101" y="7377"/>
                  <a:pt x="132104" y="-580"/>
                  <a:pt x="198304" y="33"/>
                </a:cubicBezTo>
                <a:cubicBezTo>
                  <a:pt x="1038582" y="7813"/>
                  <a:pt x="889046" y="-1071"/>
                  <a:pt x="1333041" y="33083"/>
                </a:cubicBezTo>
                <a:lnTo>
                  <a:pt x="1465244" y="66134"/>
                </a:lnTo>
                <a:cubicBezTo>
                  <a:pt x="1479933" y="69806"/>
                  <a:pt x="1494376" y="74662"/>
                  <a:pt x="1509311" y="77151"/>
                </a:cubicBezTo>
                <a:cubicBezTo>
                  <a:pt x="1531345" y="80823"/>
                  <a:pt x="1553741" y="82750"/>
                  <a:pt x="1575412" y="88168"/>
                </a:cubicBezTo>
                <a:cubicBezTo>
                  <a:pt x="1597944" y="93801"/>
                  <a:pt x="1618739" y="105646"/>
                  <a:pt x="1641514" y="110201"/>
                </a:cubicBezTo>
                <a:lnTo>
                  <a:pt x="1696598" y="121218"/>
                </a:lnTo>
                <a:cubicBezTo>
                  <a:pt x="1707615" y="128563"/>
                  <a:pt x="1717806" y="137330"/>
                  <a:pt x="1729649" y="143252"/>
                </a:cubicBezTo>
                <a:cubicBezTo>
                  <a:pt x="1756283" y="156569"/>
                  <a:pt x="1778528" y="154697"/>
                  <a:pt x="1806767" y="165286"/>
                </a:cubicBezTo>
                <a:cubicBezTo>
                  <a:pt x="1822144" y="171052"/>
                  <a:pt x="1835827" y="180649"/>
                  <a:pt x="1850834" y="187319"/>
                </a:cubicBezTo>
                <a:cubicBezTo>
                  <a:pt x="1889024" y="204292"/>
                  <a:pt x="1932326" y="219173"/>
                  <a:pt x="1972020" y="231387"/>
                </a:cubicBezTo>
                <a:cubicBezTo>
                  <a:pt x="2131516" y="280463"/>
                  <a:pt x="1977835" y="232841"/>
                  <a:pt x="2104222" y="264437"/>
                </a:cubicBezTo>
                <a:cubicBezTo>
                  <a:pt x="2130158" y="270921"/>
                  <a:pt x="2155733" y="278789"/>
                  <a:pt x="2181340" y="286471"/>
                </a:cubicBezTo>
                <a:cubicBezTo>
                  <a:pt x="2192463" y="289808"/>
                  <a:pt x="2203125" y="294671"/>
                  <a:pt x="2214391" y="297488"/>
                </a:cubicBezTo>
                <a:cubicBezTo>
                  <a:pt x="2247237" y="305700"/>
                  <a:pt x="2280697" y="311310"/>
                  <a:pt x="2313543" y="319522"/>
                </a:cubicBezTo>
                <a:cubicBezTo>
                  <a:pt x="2324809" y="322339"/>
                  <a:pt x="2335470" y="327202"/>
                  <a:pt x="2346593" y="330539"/>
                </a:cubicBezTo>
                <a:cubicBezTo>
                  <a:pt x="2520572" y="382732"/>
                  <a:pt x="2307656" y="313886"/>
                  <a:pt x="2555914" y="396640"/>
                </a:cubicBezTo>
                <a:cubicBezTo>
                  <a:pt x="2566931" y="400312"/>
                  <a:pt x="2577539" y="405580"/>
                  <a:pt x="2588964" y="407657"/>
                </a:cubicBezTo>
                <a:cubicBezTo>
                  <a:pt x="2597194" y="409153"/>
                  <a:pt x="2729807" y="432532"/>
                  <a:pt x="2765234" y="440707"/>
                </a:cubicBezTo>
                <a:cubicBezTo>
                  <a:pt x="2794741" y="447516"/>
                  <a:pt x="2823759" y="456396"/>
                  <a:pt x="2853369" y="462741"/>
                </a:cubicBezTo>
                <a:cubicBezTo>
                  <a:pt x="2875211" y="467421"/>
                  <a:pt x="2897664" y="468912"/>
                  <a:pt x="2919470" y="473758"/>
                </a:cubicBezTo>
                <a:cubicBezTo>
                  <a:pt x="2963812" y="483612"/>
                  <a:pt x="3007605" y="495791"/>
                  <a:pt x="3051673" y="506808"/>
                </a:cubicBezTo>
                <a:cubicBezTo>
                  <a:pt x="3066362" y="510480"/>
                  <a:pt x="3081376" y="513037"/>
                  <a:pt x="3095740" y="517825"/>
                </a:cubicBezTo>
                <a:cubicBezTo>
                  <a:pt x="3117774" y="525170"/>
                  <a:pt x="3139131" y="534993"/>
                  <a:pt x="3161841" y="539859"/>
                </a:cubicBezTo>
                <a:cubicBezTo>
                  <a:pt x="3213253" y="550876"/>
                  <a:pt x="3264896" y="560867"/>
                  <a:pt x="3316078" y="572910"/>
                </a:cubicBezTo>
                <a:cubicBezTo>
                  <a:pt x="3327382" y="575570"/>
                  <a:pt x="3337862" y="581111"/>
                  <a:pt x="3349128" y="583927"/>
                </a:cubicBezTo>
                <a:cubicBezTo>
                  <a:pt x="3367294" y="588468"/>
                  <a:pt x="3385851" y="591271"/>
                  <a:pt x="3404212" y="594943"/>
                </a:cubicBezTo>
                <a:cubicBezTo>
                  <a:pt x="3481677" y="633675"/>
                  <a:pt x="3413194" y="604265"/>
                  <a:pt x="3503364" y="627994"/>
                </a:cubicBezTo>
                <a:cubicBezTo>
                  <a:pt x="3555073" y="641602"/>
                  <a:pt x="3606081" y="657750"/>
                  <a:pt x="3657600" y="672061"/>
                </a:cubicBezTo>
                <a:cubicBezTo>
                  <a:pt x="3672189" y="676113"/>
                  <a:pt x="3687109" y="678918"/>
                  <a:pt x="3701668" y="683078"/>
                </a:cubicBezTo>
                <a:cubicBezTo>
                  <a:pt x="3712834" y="686268"/>
                  <a:pt x="3723515" y="691039"/>
                  <a:pt x="3734719" y="694095"/>
                </a:cubicBezTo>
                <a:cubicBezTo>
                  <a:pt x="3763934" y="702063"/>
                  <a:pt x="3794125" y="706553"/>
                  <a:pt x="3822853" y="716129"/>
                </a:cubicBezTo>
                <a:cubicBezTo>
                  <a:pt x="3833870" y="719801"/>
                  <a:pt x="3844990" y="723177"/>
                  <a:pt x="3855904" y="727146"/>
                </a:cubicBezTo>
                <a:cubicBezTo>
                  <a:pt x="3885391" y="737868"/>
                  <a:pt x="3914050" y="750969"/>
                  <a:pt x="3944039" y="760196"/>
                </a:cubicBezTo>
                <a:cubicBezTo>
                  <a:pt x="3961936" y="765703"/>
                  <a:pt x="3981058" y="766286"/>
                  <a:pt x="3999123" y="771213"/>
                </a:cubicBezTo>
                <a:cubicBezTo>
                  <a:pt x="4021530" y="777324"/>
                  <a:pt x="4042515" y="788380"/>
                  <a:pt x="4065225" y="793247"/>
                </a:cubicBezTo>
                <a:lnTo>
                  <a:pt x="4219461" y="826298"/>
                </a:lnTo>
                <a:cubicBezTo>
                  <a:pt x="4219531" y="826314"/>
                  <a:pt x="4329595" y="853831"/>
                  <a:pt x="4351663" y="859348"/>
                </a:cubicBezTo>
                <a:cubicBezTo>
                  <a:pt x="4366352" y="863020"/>
                  <a:pt x="4380884" y="867395"/>
                  <a:pt x="4395731" y="870365"/>
                </a:cubicBezTo>
                <a:lnTo>
                  <a:pt x="4450815" y="881382"/>
                </a:lnTo>
                <a:lnTo>
                  <a:pt x="4638102" y="914433"/>
                </a:lnTo>
                <a:cubicBezTo>
                  <a:pt x="4834894" y="951917"/>
                  <a:pt x="4500912" y="895363"/>
                  <a:pt x="4737253" y="936466"/>
                </a:cubicBezTo>
                <a:lnTo>
                  <a:pt x="4935557" y="969517"/>
                </a:lnTo>
                <a:cubicBezTo>
                  <a:pt x="4968452" y="974390"/>
                  <a:pt x="5001734" y="976233"/>
                  <a:pt x="5034709" y="980534"/>
                </a:cubicBezTo>
                <a:cubicBezTo>
                  <a:pt x="5086207" y="987251"/>
                  <a:pt x="5137718" y="994030"/>
                  <a:pt x="5188945" y="1002568"/>
                </a:cubicBezTo>
                <a:cubicBezTo>
                  <a:pt x="5203880" y="1005057"/>
                  <a:pt x="5218115" y="1010876"/>
                  <a:pt x="5233012" y="1013584"/>
                </a:cubicBezTo>
                <a:cubicBezTo>
                  <a:pt x="5258560" y="1018229"/>
                  <a:pt x="5284425" y="1020929"/>
                  <a:pt x="5310131" y="1024601"/>
                </a:cubicBezTo>
                <a:cubicBezTo>
                  <a:pt x="5382789" y="1048821"/>
                  <a:pt x="5317019" y="1029593"/>
                  <a:pt x="5453350" y="1046635"/>
                </a:cubicBezTo>
                <a:cubicBezTo>
                  <a:pt x="5475515" y="1049406"/>
                  <a:pt x="5497338" y="1054493"/>
                  <a:pt x="5519451" y="1057652"/>
                </a:cubicBezTo>
                <a:cubicBezTo>
                  <a:pt x="5548760" y="1061839"/>
                  <a:pt x="5578382" y="1063802"/>
                  <a:pt x="5607586" y="1068669"/>
                </a:cubicBezTo>
                <a:cubicBezTo>
                  <a:pt x="5644527" y="1074826"/>
                  <a:pt x="5680681" y="1085406"/>
                  <a:pt x="5717755" y="1090702"/>
                </a:cubicBezTo>
                <a:cubicBezTo>
                  <a:pt x="5757909" y="1096438"/>
                  <a:pt x="5798545" y="1098047"/>
                  <a:pt x="5838940" y="1101719"/>
                </a:cubicBezTo>
                <a:cubicBezTo>
                  <a:pt x="5944864" y="1128200"/>
                  <a:pt x="5819197" y="1099396"/>
                  <a:pt x="6026227" y="1123753"/>
                </a:cubicBezTo>
                <a:cubicBezTo>
                  <a:pt x="6041264" y="1125522"/>
                  <a:pt x="6055397" y="1132061"/>
                  <a:pt x="6070294" y="1134770"/>
                </a:cubicBezTo>
                <a:cubicBezTo>
                  <a:pt x="6095842" y="1139415"/>
                  <a:pt x="6121552" y="1143436"/>
                  <a:pt x="6147412" y="1145787"/>
                </a:cubicBezTo>
                <a:cubicBezTo>
                  <a:pt x="6233565" y="1153619"/>
                  <a:pt x="6445877" y="1163815"/>
                  <a:pt x="6521986" y="1167821"/>
                </a:cubicBezTo>
                <a:cubicBezTo>
                  <a:pt x="6628482" y="1164149"/>
                  <a:pt x="6735229" y="1164977"/>
                  <a:pt x="6841475" y="1156804"/>
                </a:cubicBezTo>
                <a:cubicBezTo>
                  <a:pt x="6878815" y="1153932"/>
                  <a:pt x="6914703" y="1140927"/>
                  <a:pt x="6951644" y="1134770"/>
                </a:cubicBezTo>
                <a:cubicBezTo>
                  <a:pt x="6973678" y="1131098"/>
                  <a:pt x="6995939" y="1128599"/>
                  <a:pt x="7017745" y="1123753"/>
                </a:cubicBezTo>
                <a:cubicBezTo>
                  <a:pt x="7029081" y="1121234"/>
                  <a:pt x="7039460" y="1115255"/>
                  <a:pt x="7050796" y="1112736"/>
                </a:cubicBezTo>
                <a:cubicBezTo>
                  <a:pt x="7072602" y="1107890"/>
                  <a:pt x="7094993" y="1106100"/>
                  <a:pt x="7116897" y="1101719"/>
                </a:cubicBezTo>
                <a:cubicBezTo>
                  <a:pt x="7131744" y="1098750"/>
                  <a:pt x="7146405" y="1094861"/>
                  <a:pt x="7160964" y="1090702"/>
                </a:cubicBezTo>
                <a:cubicBezTo>
                  <a:pt x="7172130" y="1087512"/>
                  <a:pt x="7182679" y="1082205"/>
                  <a:pt x="7194015" y="1079686"/>
                </a:cubicBezTo>
                <a:cubicBezTo>
                  <a:pt x="7215821" y="1074840"/>
                  <a:pt x="7238139" y="1072665"/>
                  <a:pt x="7260116" y="1068669"/>
                </a:cubicBezTo>
                <a:cubicBezTo>
                  <a:pt x="7351485" y="1052056"/>
                  <a:pt x="7279699" y="1064317"/>
                  <a:pt x="7359268" y="1046635"/>
                </a:cubicBezTo>
                <a:cubicBezTo>
                  <a:pt x="7377547" y="1042573"/>
                  <a:pt x="7395991" y="1039290"/>
                  <a:pt x="7414352" y="1035618"/>
                </a:cubicBezTo>
                <a:cubicBezTo>
                  <a:pt x="7425369" y="1028273"/>
                  <a:pt x="7435560" y="1019505"/>
                  <a:pt x="7447403" y="1013584"/>
                </a:cubicBezTo>
                <a:cubicBezTo>
                  <a:pt x="7469984" y="1002293"/>
                  <a:pt x="7514592" y="995740"/>
                  <a:pt x="7535538" y="991551"/>
                </a:cubicBezTo>
                <a:lnTo>
                  <a:pt x="7601639" y="947483"/>
                </a:lnTo>
                <a:cubicBezTo>
                  <a:pt x="7612656" y="940138"/>
                  <a:pt x="7624351" y="933720"/>
                  <a:pt x="7634690" y="925449"/>
                </a:cubicBezTo>
                <a:cubicBezTo>
                  <a:pt x="7653051" y="910760"/>
                  <a:pt x="7672078" y="896866"/>
                  <a:pt x="7689774" y="881382"/>
                </a:cubicBezTo>
                <a:cubicBezTo>
                  <a:pt x="7701499" y="871122"/>
                  <a:pt x="7712851" y="860300"/>
                  <a:pt x="7722825" y="848331"/>
                </a:cubicBezTo>
                <a:cubicBezTo>
                  <a:pt x="7731301" y="838159"/>
                  <a:pt x="7736382" y="825453"/>
                  <a:pt x="7744858" y="815281"/>
                </a:cubicBezTo>
                <a:cubicBezTo>
                  <a:pt x="7754832" y="803312"/>
                  <a:pt x="7767935" y="794199"/>
                  <a:pt x="7777909" y="782230"/>
                </a:cubicBezTo>
                <a:cubicBezTo>
                  <a:pt x="7786385" y="772058"/>
                  <a:pt x="7790581" y="758542"/>
                  <a:pt x="7799943" y="749180"/>
                </a:cubicBezTo>
                <a:cubicBezTo>
                  <a:pt x="7809305" y="739818"/>
                  <a:pt x="7821976" y="734491"/>
                  <a:pt x="7832993" y="727146"/>
                </a:cubicBezTo>
                <a:cubicBezTo>
                  <a:pt x="7840338" y="716129"/>
                  <a:pt x="7846230" y="703991"/>
                  <a:pt x="7855027" y="694095"/>
                </a:cubicBezTo>
                <a:cubicBezTo>
                  <a:pt x="7875729" y="670805"/>
                  <a:pt x="7903843" y="653921"/>
                  <a:pt x="7921128" y="627994"/>
                </a:cubicBezTo>
                <a:cubicBezTo>
                  <a:pt x="7999860" y="509895"/>
                  <a:pt x="7877253" y="689125"/>
                  <a:pt x="7976212" y="561893"/>
                </a:cubicBezTo>
                <a:cubicBezTo>
                  <a:pt x="7992470" y="540990"/>
                  <a:pt x="8001555" y="514517"/>
                  <a:pt x="8020280" y="495792"/>
                </a:cubicBezTo>
                <a:lnTo>
                  <a:pt x="8130449" y="385623"/>
                </a:lnTo>
                <a:lnTo>
                  <a:pt x="8196550" y="319522"/>
                </a:lnTo>
                <a:cubicBezTo>
                  <a:pt x="8207567" y="308505"/>
                  <a:pt x="8220958" y="299434"/>
                  <a:pt x="8229600" y="286471"/>
                </a:cubicBezTo>
                <a:cubicBezTo>
                  <a:pt x="8258979" y="242404"/>
                  <a:pt x="8240617" y="260766"/>
                  <a:pt x="8284685" y="231387"/>
                </a:cubicBezTo>
                <a:cubicBezTo>
                  <a:pt x="8299374" y="209353"/>
                  <a:pt x="8320378" y="190408"/>
                  <a:pt x="8328752" y="165286"/>
                </a:cubicBezTo>
                <a:lnTo>
                  <a:pt x="8350786" y="99184"/>
                </a:lnTo>
              </a:path>
            </a:pathLst>
          </a:custGeom>
          <a:noFill/>
          <a:ln w="38100">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188288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a:t>
            </a:r>
            <a:r>
              <a:rPr lang="it-IT" dirty="0" err="1"/>
              <a:t>Calculating</a:t>
            </a:r>
            <a:r>
              <a:rPr lang="it-IT" dirty="0"/>
              <a:t> the Total </a:t>
            </a:r>
            <a:r>
              <a:rPr lang="it-IT" dirty="0" err="1"/>
              <a:t>Error</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pic>
        <p:nvPicPr>
          <p:cNvPr id="5" name="Immagine 4">
            <a:extLst>
              <a:ext uri="{FF2B5EF4-FFF2-40B4-BE49-F238E27FC236}">
                <a16:creationId xmlns:a16="http://schemas.microsoft.com/office/drawing/2014/main" id="{8D3F86BF-68CB-0C47-AC9E-25E08D21D45F}"/>
              </a:ext>
            </a:extLst>
          </p:cNvPr>
          <p:cNvPicPr>
            <a:picLocks noChangeAspect="1"/>
          </p:cNvPicPr>
          <p:nvPr/>
        </p:nvPicPr>
        <p:blipFill>
          <a:blip r:embed="rId5"/>
          <a:stretch>
            <a:fillRect/>
          </a:stretch>
        </p:blipFill>
        <p:spPr>
          <a:xfrm>
            <a:off x="1387282" y="2039272"/>
            <a:ext cx="3543069" cy="670877"/>
          </a:xfrm>
          <a:prstGeom prst="rect">
            <a:avLst/>
          </a:prstGeom>
        </p:spPr>
      </p:pic>
      <p:pic>
        <p:nvPicPr>
          <p:cNvPr id="12" name="Immagine 11">
            <a:extLst>
              <a:ext uri="{FF2B5EF4-FFF2-40B4-BE49-F238E27FC236}">
                <a16:creationId xmlns:a16="http://schemas.microsoft.com/office/drawing/2014/main" id="{4BFBFD97-04B0-5740-9FEA-BAC04CAF37DB}"/>
              </a:ext>
            </a:extLst>
          </p:cNvPr>
          <p:cNvPicPr>
            <a:picLocks noChangeAspect="1"/>
          </p:cNvPicPr>
          <p:nvPr/>
        </p:nvPicPr>
        <p:blipFill>
          <a:blip r:embed="rId6"/>
          <a:stretch>
            <a:fillRect/>
          </a:stretch>
        </p:blipFill>
        <p:spPr>
          <a:xfrm>
            <a:off x="1929936" y="3427965"/>
            <a:ext cx="2374406" cy="527646"/>
          </a:xfrm>
          <a:prstGeom prst="rect">
            <a:avLst/>
          </a:prstGeom>
        </p:spPr>
      </p:pic>
      <p:pic>
        <p:nvPicPr>
          <p:cNvPr id="15" name="Immagine 14">
            <a:extLst>
              <a:ext uri="{FF2B5EF4-FFF2-40B4-BE49-F238E27FC236}">
                <a16:creationId xmlns:a16="http://schemas.microsoft.com/office/drawing/2014/main" id="{C1B2FC91-A210-EE40-945A-429D29599900}"/>
              </a:ext>
            </a:extLst>
          </p:cNvPr>
          <p:cNvPicPr>
            <a:picLocks noChangeAspect="1"/>
          </p:cNvPicPr>
          <p:nvPr/>
        </p:nvPicPr>
        <p:blipFill>
          <a:blip r:embed="rId7"/>
          <a:stretch>
            <a:fillRect/>
          </a:stretch>
        </p:blipFill>
        <p:spPr>
          <a:xfrm>
            <a:off x="274678" y="2710149"/>
            <a:ext cx="7983436" cy="670877"/>
          </a:xfrm>
          <a:prstGeom prst="rect">
            <a:avLst/>
          </a:prstGeom>
        </p:spPr>
      </p:pic>
      <p:pic>
        <p:nvPicPr>
          <p:cNvPr id="17" name="Immagine 16">
            <a:extLst>
              <a:ext uri="{FF2B5EF4-FFF2-40B4-BE49-F238E27FC236}">
                <a16:creationId xmlns:a16="http://schemas.microsoft.com/office/drawing/2014/main" id="{7EC044F2-0BD5-DC49-9C36-3AC9CA9BD131}"/>
              </a:ext>
            </a:extLst>
          </p:cNvPr>
          <p:cNvPicPr>
            <a:picLocks noChangeAspect="1"/>
          </p:cNvPicPr>
          <p:nvPr/>
        </p:nvPicPr>
        <p:blipFill>
          <a:blip r:embed="rId8"/>
          <a:stretch>
            <a:fillRect/>
          </a:stretch>
        </p:blipFill>
        <p:spPr>
          <a:xfrm>
            <a:off x="187751" y="4049366"/>
            <a:ext cx="8233182" cy="702242"/>
          </a:xfrm>
          <a:prstGeom prst="rect">
            <a:avLst/>
          </a:prstGeom>
        </p:spPr>
      </p:pic>
      <p:pic>
        <p:nvPicPr>
          <p:cNvPr id="18" name="Immagine 17">
            <a:extLst>
              <a:ext uri="{FF2B5EF4-FFF2-40B4-BE49-F238E27FC236}">
                <a16:creationId xmlns:a16="http://schemas.microsoft.com/office/drawing/2014/main" id="{4B014816-F740-CB45-91E1-1C09C9D773FD}"/>
              </a:ext>
            </a:extLst>
          </p:cNvPr>
          <p:cNvPicPr>
            <a:picLocks noChangeAspect="1"/>
          </p:cNvPicPr>
          <p:nvPr/>
        </p:nvPicPr>
        <p:blipFill rotWithShape="1">
          <a:blip r:embed="rId9"/>
          <a:srcRect l="37508"/>
          <a:stretch/>
        </p:blipFill>
        <p:spPr>
          <a:xfrm>
            <a:off x="10891507" y="3454183"/>
            <a:ext cx="1300493" cy="462458"/>
          </a:xfrm>
          <a:prstGeom prst="rect">
            <a:avLst/>
          </a:prstGeom>
        </p:spPr>
      </p:pic>
      <p:pic>
        <p:nvPicPr>
          <p:cNvPr id="19" name="Immagine 18">
            <a:extLst>
              <a:ext uri="{FF2B5EF4-FFF2-40B4-BE49-F238E27FC236}">
                <a16:creationId xmlns:a16="http://schemas.microsoft.com/office/drawing/2014/main" id="{BEE5BEC3-6A39-AD47-B6F8-15D2EC9E1A66}"/>
              </a:ext>
            </a:extLst>
          </p:cNvPr>
          <p:cNvPicPr>
            <a:picLocks noChangeAspect="1"/>
          </p:cNvPicPr>
          <p:nvPr/>
        </p:nvPicPr>
        <p:blipFill rotWithShape="1">
          <a:blip r:embed="rId10"/>
          <a:srcRect l="47719" t="70430" r="35447" b="7602"/>
          <a:stretch/>
        </p:blipFill>
        <p:spPr>
          <a:xfrm>
            <a:off x="11008726" y="1930920"/>
            <a:ext cx="1045029" cy="347967"/>
          </a:xfrm>
          <a:prstGeom prst="rect">
            <a:avLst/>
          </a:prstGeom>
        </p:spPr>
      </p:pic>
    </p:spTree>
    <p:extLst>
      <p:ext uri="{BB962C8B-B14F-4D97-AF65-F5344CB8AC3E}">
        <p14:creationId xmlns:p14="http://schemas.microsoft.com/office/powerpoint/2010/main" val="133587754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9471725" y="2039272"/>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sp>
        <p:nvSpPr>
          <p:cNvPr id="15" name="CasellaDiTesto 14">
            <a:extLst>
              <a:ext uri="{FF2B5EF4-FFF2-40B4-BE49-F238E27FC236}">
                <a16:creationId xmlns:a16="http://schemas.microsoft.com/office/drawing/2014/main" id="{D925DA32-3515-A543-AF8C-7DB36CD299D7}"/>
              </a:ext>
            </a:extLst>
          </p:cNvPr>
          <p:cNvSpPr txBox="1"/>
          <p:nvPr/>
        </p:nvSpPr>
        <p:spPr>
          <a:xfrm>
            <a:off x="838200" y="2039272"/>
            <a:ext cx="4810804" cy="369332"/>
          </a:xfrm>
          <a:prstGeom prst="rect">
            <a:avLst/>
          </a:prstGeom>
          <a:noFill/>
        </p:spPr>
        <p:txBody>
          <a:bodyPr wrap="none" rtlCol="0">
            <a:spAutoFit/>
          </a:bodyPr>
          <a:lstStyle/>
          <a:p>
            <a:r>
              <a:rPr lang="en-US" dirty="0"/>
              <a:t>How much a change in w5 affects the total error?</a:t>
            </a:r>
          </a:p>
        </p:txBody>
      </p:sp>
      <p:pic>
        <p:nvPicPr>
          <p:cNvPr id="20" name="Immagine 19">
            <a:extLst>
              <a:ext uri="{FF2B5EF4-FFF2-40B4-BE49-F238E27FC236}">
                <a16:creationId xmlns:a16="http://schemas.microsoft.com/office/drawing/2014/main" id="{FF14A85C-3217-CC40-AE73-27D64A52F645}"/>
              </a:ext>
            </a:extLst>
          </p:cNvPr>
          <p:cNvPicPr>
            <a:picLocks noChangeAspect="1"/>
          </p:cNvPicPr>
          <p:nvPr/>
        </p:nvPicPr>
        <p:blipFill rotWithShape="1">
          <a:blip r:embed="rId5"/>
          <a:srcRect l="37508"/>
          <a:stretch/>
        </p:blipFill>
        <p:spPr>
          <a:xfrm>
            <a:off x="10891507" y="3454183"/>
            <a:ext cx="1300493" cy="462458"/>
          </a:xfrm>
          <a:prstGeom prst="rect">
            <a:avLst/>
          </a:prstGeom>
        </p:spPr>
      </p:pic>
      <p:pic>
        <p:nvPicPr>
          <p:cNvPr id="21" name="Immagine 20">
            <a:extLst>
              <a:ext uri="{FF2B5EF4-FFF2-40B4-BE49-F238E27FC236}">
                <a16:creationId xmlns:a16="http://schemas.microsoft.com/office/drawing/2014/main" id="{8406EBB8-627C-1F4B-8D28-82C51A52912A}"/>
              </a:ext>
            </a:extLst>
          </p:cNvPr>
          <p:cNvPicPr>
            <a:picLocks noChangeAspect="1"/>
          </p:cNvPicPr>
          <p:nvPr/>
        </p:nvPicPr>
        <p:blipFill rotWithShape="1">
          <a:blip r:embed="rId6"/>
          <a:srcRect l="47719" t="70430" r="35447" b="7602"/>
          <a:stretch/>
        </p:blipFill>
        <p:spPr>
          <a:xfrm>
            <a:off x="11008726" y="1930920"/>
            <a:ext cx="1045029" cy="347967"/>
          </a:xfrm>
          <a:prstGeom prst="rect">
            <a:avLst/>
          </a:prstGeom>
        </p:spPr>
      </p:pic>
    </p:spTree>
    <p:extLst>
      <p:ext uri="{BB962C8B-B14F-4D97-AF65-F5344CB8AC3E}">
        <p14:creationId xmlns:p14="http://schemas.microsoft.com/office/powerpoint/2010/main" val="132798378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9471725" y="2039272"/>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8" name="Immagine 7">
            <a:extLst>
              <a:ext uri="{FF2B5EF4-FFF2-40B4-BE49-F238E27FC236}">
                <a16:creationId xmlns:a16="http://schemas.microsoft.com/office/drawing/2014/main" id="{06B63281-F2B6-AA4A-BC41-4E3B384B097E}"/>
              </a:ext>
            </a:extLst>
          </p:cNvPr>
          <p:cNvPicPr>
            <a:picLocks noChangeAspect="1"/>
          </p:cNvPicPr>
          <p:nvPr/>
        </p:nvPicPr>
        <p:blipFill>
          <a:blip r:embed="rId5"/>
          <a:stretch>
            <a:fillRect/>
          </a:stretch>
        </p:blipFill>
        <p:spPr>
          <a:xfrm>
            <a:off x="1105683" y="2048325"/>
            <a:ext cx="3568700" cy="444500"/>
          </a:xfrm>
          <a:prstGeom prst="rect">
            <a:avLst/>
          </a:prstGeom>
        </p:spPr>
      </p:pic>
      <p:pic>
        <p:nvPicPr>
          <p:cNvPr id="9" name="Immagine 8">
            <a:extLst>
              <a:ext uri="{FF2B5EF4-FFF2-40B4-BE49-F238E27FC236}">
                <a16:creationId xmlns:a16="http://schemas.microsoft.com/office/drawing/2014/main" id="{BAE742E4-586F-6F47-A9FD-F32DA7FA2AE1}"/>
              </a:ext>
            </a:extLst>
          </p:cNvPr>
          <p:cNvPicPr>
            <a:picLocks noChangeAspect="1"/>
          </p:cNvPicPr>
          <p:nvPr/>
        </p:nvPicPr>
        <p:blipFill rotWithShape="1">
          <a:blip r:embed="rId6"/>
          <a:srcRect l="37508"/>
          <a:stretch/>
        </p:blipFill>
        <p:spPr>
          <a:xfrm>
            <a:off x="10891507" y="3454183"/>
            <a:ext cx="1300493" cy="462458"/>
          </a:xfrm>
          <a:prstGeom prst="rect">
            <a:avLst/>
          </a:prstGeom>
        </p:spPr>
      </p:pic>
      <p:pic>
        <p:nvPicPr>
          <p:cNvPr id="10" name="Immagine 9">
            <a:extLst>
              <a:ext uri="{FF2B5EF4-FFF2-40B4-BE49-F238E27FC236}">
                <a16:creationId xmlns:a16="http://schemas.microsoft.com/office/drawing/2014/main" id="{D07E8D44-3F22-F04F-A026-36F8C38B1E1E}"/>
              </a:ext>
            </a:extLst>
          </p:cNvPr>
          <p:cNvPicPr>
            <a:picLocks noChangeAspect="1"/>
          </p:cNvPicPr>
          <p:nvPr/>
        </p:nvPicPr>
        <p:blipFill rotWithShape="1">
          <a:blip r:embed="rId7"/>
          <a:srcRect l="47719" t="70430" r="35447" b="7602"/>
          <a:stretch/>
        </p:blipFill>
        <p:spPr>
          <a:xfrm>
            <a:off x="11008726" y="1930920"/>
            <a:ext cx="1045029" cy="347967"/>
          </a:xfrm>
          <a:prstGeom prst="rect">
            <a:avLst/>
          </a:prstGeom>
        </p:spPr>
      </p:pic>
    </p:spTree>
    <p:extLst>
      <p:ext uri="{BB962C8B-B14F-4D97-AF65-F5344CB8AC3E}">
        <p14:creationId xmlns:p14="http://schemas.microsoft.com/office/powerpoint/2010/main" val="21174282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9471725" y="2039272"/>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8" name="Immagine 7">
            <a:extLst>
              <a:ext uri="{FF2B5EF4-FFF2-40B4-BE49-F238E27FC236}">
                <a16:creationId xmlns:a16="http://schemas.microsoft.com/office/drawing/2014/main" id="{06B63281-F2B6-AA4A-BC41-4E3B384B097E}"/>
              </a:ext>
            </a:extLst>
          </p:cNvPr>
          <p:cNvPicPr>
            <a:picLocks noChangeAspect="1"/>
          </p:cNvPicPr>
          <p:nvPr/>
        </p:nvPicPr>
        <p:blipFill>
          <a:blip r:embed="rId5"/>
          <a:stretch>
            <a:fillRect/>
          </a:stretch>
        </p:blipFill>
        <p:spPr>
          <a:xfrm>
            <a:off x="1105683" y="2039272"/>
            <a:ext cx="3568700" cy="444500"/>
          </a:xfrm>
          <a:prstGeom prst="rect">
            <a:avLst/>
          </a:prstGeom>
        </p:spPr>
      </p:pic>
      <p:pic>
        <p:nvPicPr>
          <p:cNvPr id="9" name="Immagine 8">
            <a:extLst>
              <a:ext uri="{FF2B5EF4-FFF2-40B4-BE49-F238E27FC236}">
                <a16:creationId xmlns:a16="http://schemas.microsoft.com/office/drawing/2014/main" id="{9101CD49-4858-F84A-8F99-E3F99872DBA1}"/>
              </a:ext>
            </a:extLst>
          </p:cNvPr>
          <p:cNvPicPr>
            <a:picLocks noChangeAspect="1"/>
          </p:cNvPicPr>
          <p:nvPr/>
        </p:nvPicPr>
        <p:blipFill>
          <a:blip r:embed="rId6"/>
          <a:stretch>
            <a:fillRect/>
          </a:stretch>
        </p:blipFill>
        <p:spPr>
          <a:xfrm>
            <a:off x="672252" y="3045090"/>
            <a:ext cx="5086992" cy="2496394"/>
          </a:xfrm>
          <a:prstGeom prst="rect">
            <a:avLst/>
          </a:prstGeom>
        </p:spPr>
      </p:pic>
      <p:pic>
        <p:nvPicPr>
          <p:cNvPr id="10" name="Immagine 9">
            <a:extLst>
              <a:ext uri="{FF2B5EF4-FFF2-40B4-BE49-F238E27FC236}">
                <a16:creationId xmlns:a16="http://schemas.microsoft.com/office/drawing/2014/main" id="{FAF4E2E5-7002-264C-A930-8036978C8DC3}"/>
              </a:ext>
            </a:extLst>
          </p:cNvPr>
          <p:cNvPicPr>
            <a:picLocks noChangeAspect="1"/>
          </p:cNvPicPr>
          <p:nvPr/>
        </p:nvPicPr>
        <p:blipFill rotWithShape="1">
          <a:blip r:embed="rId7"/>
          <a:srcRect l="37508"/>
          <a:stretch/>
        </p:blipFill>
        <p:spPr>
          <a:xfrm>
            <a:off x="10891507" y="3454183"/>
            <a:ext cx="1300493" cy="462458"/>
          </a:xfrm>
          <a:prstGeom prst="rect">
            <a:avLst/>
          </a:prstGeom>
        </p:spPr>
      </p:pic>
      <p:pic>
        <p:nvPicPr>
          <p:cNvPr id="11" name="Immagine 10">
            <a:extLst>
              <a:ext uri="{FF2B5EF4-FFF2-40B4-BE49-F238E27FC236}">
                <a16:creationId xmlns:a16="http://schemas.microsoft.com/office/drawing/2014/main" id="{053F7086-68FC-8846-9758-48BA9CEA9985}"/>
              </a:ext>
            </a:extLst>
          </p:cNvPr>
          <p:cNvPicPr>
            <a:picLocks noChangeAspect="1"/>
          </p:cNvPicPr>
          <p:nvPr/>
        </p:nvPicPr>
        <p:blipFill rotWithShape="1">
          <a:blip r:embed="rId8"/>
          <a:srcRect l="47719" t="70430" r="35447" b="7602"/>
          <a:stretch/>
        </p:blipFill>
        <p:spPr>
          <a:xfrm>
            <a:off x="11008726" y="1930920"/>
            <a:ext cx="1045029" cy="347967"/>
          </a:xfrm>
          <a:prstGeom prst="rect">
            <a:avLst/>
          </a:prstGeom>
        </p:spPr>
      </p:pic>
    </p:spTree>
    <p:extLst>
      <p:ext uri="{BB962C8B-B14F-4D97-AF65-F5344CB8AC3E}">
        <p14:creationId xmlns:p14="http://schemas.microsoft.com/office/powerpoint/2010/main" val="294477870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alphaModFix amt="35000"/>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9471725" y="2039272"/>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8" name="Immagine 7">
            <a:extLst>
              <a:ext uri="{FF2B5EF4-FFF2-40B4-BE49-F238E27FC236}">
                <a16:creationId xmlns:a16="http://schemas.microsoft.com/office/drawing/2014/main" id="{06B63281-F2B6-AA4A-BC41-4E3B384B097E}"/>
              </a:ext>
            </a:extLst>
          </p:cNvPr>
          <p:cNvPicPr>
            <a:picLocks noChangeAspect="1"/>
          </p:cNvPicPr>
          <p:nvPr/>
        </p:nvPicPr>
        <p:blipFill>
          <a:blip r:embed="rId5"/>
          <a:stretch>
            <a:fillRect/>
          </a:stretch>
        </p:blipFill>
        <p:spPr>
          <a:xfrm>
            <a:off x="1105683" y="2039272"/>
            <a:ext cx="3568700" cy="444500"/>
          </a:xfrm>
          <a:prstGeom prst="rect">
            <a:avLst/>
          </a:prstGeom>
        </p:spPr>
      </p:pic>
      <p:sp>
        <p:nvSpPr>
          <p:cNvPr id="17" name="CasellaDiTesto 16">
            <a:extLst>
              <a:ext uri="{FF2B5EF4-FFF2-40B4-BE49-F238E27FC236}">
                <a16:creationId xmlns:a16="http://schemas.microsoft.com/office/drawing/2014/main" id="{E549462A-97A8-764F-AD22-9E8AC8FFFD84}"/>
              </a:ext>
            </a:extLst>
          </p:cNvPr>
          <p:cNvSpPr txBox="1"/>
          <p:nvPr/>
        </p:nvSpPr>
        <p:spPr>
          <a:xfrm>
            <a:off x="2901234" y="6397734"/>
            <a:ext cx="6581692" cy="369332"/>
          </a:xfrm>
          <a:prstGeom prst="rect">
            <a:avLst/>
          </a:prstGeom>
          <a:noFill/>
        </p:spPr>
        <p:txBody>
          <a:bodyPr wrap="square">
            <a:spAutoFit/>
          </a:bodyPr>
          <a:lstStyle/>
          <a:p>
            <a:r>
              <a:rPr lang="it-IT" b="0" i="0" dirty="0" err="1">
                <a:solidFill>
                  <a:srgbClr val="444444"/>
                </a:solidFill>
                <a:effectLst/>
              </a:rPr>
              <a:t>how</a:t>
            </a:r>
            <a:r>
              <a:rPr lang="it-IT" b="0" i="0" dirty="0">
                <a:solidFill>
                  <a:srgbClr val="444444"/>
                </a:solidFill>
                <a:effectLst/>
              </a:rPr>
              <a:t> </a:t>
            </a:r>
            <a:r>
              <a:rPr lang="it-IT" b="0" i="0" dirty="0" err="1">
                <a:solidFill>
                  <a:srgbClr val="444444"/>
                </a:solidFill>
                <a:effectLst/>
              </a:rPr>
              <a:t>much</a:t>
            </a:r>
            <a:r>
              <a:rPr lang="it-IT" b="0" i="0" dirty="0">
                <a:solidFill>
                  <a:srgbClr val="444444"/>
                </a:solidFill>
                <a:effectLst/>
              </a:rPr>
              <a:t> </a:t>
            </a:r>
            <a:r>
              <a:rPr lang="it-IT" b="0" i="0" dirty="0" err="1">
                <a:solidFill>
                  <a:srgbClr val="444444"/>
                </a:solidFill>
                <a:effectLst/>
              </a:rPr>
              <a:t>does</a:t>
            </a:r>
            <a:r>
              <a:rPr lang="it-IT" b="0" i="0" dirty="0">
                <a:solidFill>
                  <a:srgbClr val="444444"/>
                </a:solidFill>
                <a:effectLst/>
              </a:rPr>
              <a:t> the </a:t>
            </a:r>
            <a:r>
              <a:rPr lang="it-IT" b="0" i="0" dirty="0" err="1">
                <a:solidFill>
                  <a:srgbClr val="444444"/>
                </a:solidFill>
                <a:effectLst/>
              </a:rPr>
              <a:t>total</a:t>
            </a:r>
            <a:r>
              <a:rPr lang="it-IT" b="0" i="0" dirty="0">
                <a:solidFill>
                  <a:srgbClr val="444444"/>
                </a:solidFill>
                <a:effectLst/>
              </a:rPr>
              <a:t> </a:t>
            </a:r>
            <a:r>
              <a:rPr lang="it-IT" b="0" i="0" dirty="0" err="1">
                <a:solidFill>
                  <a:srgbClr val="444444"/>
                </a:solidFill>
                <a:effectLst/>
              </a:rPr>
              <a:t>error</a:t>
            </a:r>
            <a:r>
              <a:rPr lang="it-IT" b="0" i="0" dirty="0">
                <a:solidFill>
                  <a:srgbClr val="444444"/>
                </a:solidFill>
                <a:effectLst/>
              </a:rPr>
              <a:t> </a:t>
            </a:r>
            <a:r>
              <a:rPr lang="it-IT" b="0" i="0" dirty="0" err="1">
                <a:solidFill>
                  <a:srgbClr val="444444"/>
                </a:solidFill>
                <a:effectLst/>
              </a:rPr>
              <a:t>change</a:t>
            </a:r>
            <a:r>
              <a:rPr lang="it-IT" b="0" i="0" dirty="0">
                <a:solidFill>
                  <a:srgbClr val="444444"/>
                </a:solidFill>
                <a:effectLst/>
              </a:rPr>
              <a:t> with </a:t>
            </a:r>
            <a:r>
              <a:rPr lang="it-IT" b="0" i="0" dirty="0" err="1">
                <a:solidFill>
                  <a:srgbClr val="444444"/>
                </a:solidFill>
                <a:effectLst/>
              </a:rPr>
              <a:t>respect</a:t>
            </a:r>
            <a:r>
              <a:rPr lang="it-IT" b="0" i="0" dirty="0">
                <a:solidFill>
                  <a:srgbClr val="444444"/>
                </a:solidFill>
                <a:effectLst/>
              </a:rPr>
              <a:t> to the output?</a:t>
            </a:r>
            <a:endParaRPr lang="en-US" dirty="0"/>
          </a:p>
        </p:txBody>
      </p:sp>
      <p:pic>
        <p:nvPicPr>
          <p:cNvPr id="18" name="Immagine 17">
            <a:extLst>
              <a:ext uri="{FF2B5EF4-FFF2-40B4-BE49-F238E27FC236}">
                <a16:creationId xmlns:a16="http://schemas.microsoft.com/office/drawing/2014/main" id="{857D54DC-8AED-4A48-9C04-2F98D20936B2}"/>
              </a:ext>
            </a:extLst>
          </p:cNvPr>
          <p:cNvPicPr>
            <a:picLocks noChangeAspect="1"/>
          </p:cNvPicPr>
          <p:nvPr/>
        </p:nvPicPr>
        <p:blipFill rotWithShape="1">
          <a:blip r:embed="rId6"/>
          <a:srcRect l="37508"/>
          <a:stretch/>
        </p:blipFill>
        <p:spPr>
          <a:xfrm>
            <a:off x="10891507" y="3454183"/>
            <a:ext cx="1300493" cy="462458"/>
          </a:xfrm>
          <a:prstGeom prst="rect">
            <a:avLst/>
          </a:prstGeom>
        </p:spPr>
      </p:pic>
      <p:pic>
        <p:nvPicPr>
          <p:cNvPr id="19" name="Immagine 18">
            <a:extLst>
              <a:ext uri="{FF2B5EF4-FFF2-40B4-BE49-F238E27FC236}">
                <a16:creationId xmlns:a16="http://schemas.microsoft.com/office/drawing/2014/main" id="{5FAA4E15-EC23-5C4F-A2F1-8486CD647428}"/>
              </a:ext>
            </a:extLst>
          </p:cNvPr>
          <p:cNvPicPr>
            <a:picLocks noChangeAspect="1"/>
          </p:cNvPicPr>
          <p:nvPr/>
        </p:nvPicPr>
        <p:blipFill rotWithShape="1">
          <a:blip r:embed="rId7"/>
          <a:srcRect l="47719" t="70430" r="35447" b="7602"/>
          <a:stretch/>
        </p:blipFill>
        <p:spPr>
          <a:xfrm>
            <a:off x="11008726" y="1930920"/>
            <a:ext cx="1045029" cy="347967"/>
          </a:xfrm>
          <a:prstGeom prst="rect">
            <a:avLst/>
          </a:prstGeom>
        </p:spPr>
      </p:pic>
    </p:spTree>
    <p:extLst>
      <p:ext uri="{BB962C8B-B14F-4D97-AF65-F5344CB8AC3E}">
        <p14:creationId xmlns:p14="http://schemas.microsoft.com/office/powerpoint/2010/main" val="84061838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alphaModFix amt="35000"/>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9471725" y="2039272"/>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8" name="Immagine 7">
            <a:extLst>
              <a:ext uri="{FF2B5EF4-FFF2-40B4-BE49-F238E27FC236}">
                <a16:creationId xmlns:a16="http://schemas.microsoft.com/office/drawing/2014/main" id="{06B63281-F2B6-AA4A-BC41-4E3B384B097E}"/>
              </a:ext>
            </a:extLst>
          </p:cNvPr>
          <p:cNvPicPr>
            <a:picLocks noChangeAspect="1"/>
          </p:cNvPicPr>
          <p:nvPr/>
        </p:nvPicPr>
        <p:blipFill>
          <a:blip r:embed="rId5"/>
          <a:stretch>
            <a:fillRect/>
          </a:stretch>
        </p:blipFill>
        <p:spPr>
          <a:xfrm>
            <a:off x="1105683" y="2039272"/>
            <a:ext cx="3568700" cy="444500"/>
          </a:xfrm>
          <a:prstGeom prst="rect">
            <a:avLst/>
          </a:prstGeom>
        </p:spPr>
      </p:pic>
      <p:pic>
        <p:nvPicPr>
          <p:cNvPr id="10" name="Immagine 9">
            <a:extLst>
              <a:ext uri="{FF2B5EF4-FFF2-40B4-BE49-F238E27FC236}">
                <a16:creationId xmlns:a16="http://schemas.microsoft.com/office/drawing/2014/main" id="{AE63E900-30D1-D740-BAFD-B30370406AA6}"/>
              </a:ext>
            </a:extLst>
          </p:cNvPr>
          <p:cNvPicPr>
            <a:picLocks noChangeAspect="1"/>
          </p:cNvPicPr>
          <p:nvPr/>
        </p:nvPicPr>
        <p:blipFill>
          <a:blip r:embed="rId6"/>
          <a:stretch>
            <a:fillRect/>
          </a:stretch>
        </p:blipFill>
        <p:spPr>
          <a:xfrm>
            <a:off x="1105683" y="2871542"/>
            <a:ext cx="6807200" cy="368300"/>
          </a:xfrm>
          <a:prstGeom prst="rect">
            <a:avLst/>
          </a:prstGeom>
        </p:spPr>
      </p:pic>
      <p:sp>
        <p:nvSpPr>
          <p:cNvPr id="13" name="CasellaDiTesto 12">
            <a:extLst>
              <a:ext uri="{FF2B5EF4-FFF2-40B4-BE49-F238E27FC236}">
                <a16:creationId xmlns:a16="http://schemas.microsoft.com/office/drawing/2014/main" id="{A0B85433-2A2C-1743-A476-766C7C97F55E}"/>
              </a:ext>
            </a:extLst>
          </p:cNvPr>
          <p:cNvSpPr txBox="1"/>
          <p:nvPr/>
        </p:nvSpPr>
        <p:spPr>
          <a:xfrm>
            <a:off x="2901234" y="6397734"/>
            <a:ext cx="6581692" cy="369332"/>
          </a:xfrm>
          <a:prstGeom prst="rect">
            <a:avLst/>
          </a:prstGeom>
          <a:noFill/>
        </p:spPr>
        <p:txBody>
          <a:bodyPr wrap="square">
            <a:spAutoFit/>
          </a:bodyPr>
          <a:lstStyle/>
          <a:p>
            <a:r>
              <a:rPr lang="it-IT" b="0" i="0" dirty="0" err="1">
                <a:solidFill>
                  <a:srgbClr val="444444"/>
                </a:solidFill>
                <a:effectLst/>
              </a:rPr>
              <a:t>how</a:t>
            </a:r>
            <a:r>
              <a:rPr lang="it-IT" b="0" i="0" dirty="0">
                <a:solidFill>
                  <a:srgbClr val="444444"/>
                </a:solidFill>
                <a:effectLst/>
              </a:rPr>
              <a:t> </a:t>
            </a:r>
            <a:r>
              <a:rPr lang="it-IT" b="0" i="0" dirty="0" err="1">
                <a:solidFill>
                  <a:srgbClr val="444444"/>
                </a:solidFill>
                <a:effectLst/>
              </a:rPr>
              <a:t>much</a:t>
            </a:r>
            <a:r>
              <a:rPr lang="it-IT" b="0" i="0" dirty="0">
                <a:solidFill>
                  <a:srgbClr val="444444"/>
                </a:solidFill>
                <a:effectLst/>
              </a:rPr>
              <a:t> </a:t>
            </a:r>
            <a:r>
              <a:rPr lang="it-IT" b="0" i="0" dirty="0" err="1">
                <a:solidFill>
                  <a:srgbClr val="444444"/>
                </a:solidFill>
                <a:effectLst/>
              </a:rPr>
              <a:t>does</a:t>
            </a:r>
            <a:r>
              <a:rPr lang="it-IT" b="0" i="0" dirty="0">
                <a:solidFill>
                  <a:srgbClr val="444444"/>
                </a:solidFill>
                <a:effectLst/>
              </a:rPr>
              <a:t> the </a:t>
            </a:r>
            <a:r>
              <a:rPr lang="it-IT" b="0" i="0" dirty="0" err="1">
                <a:solidFill>
                  <a:srgbClr val="444444"/>
                </a:solidFill>
                <a:effectLst/>
              </a:rPr>
              <a:t>total</a:t>
            </a:r>
            <a:r>
              <a:rPr lang="it-IT" b="0" i="0" dirty="0">
                <a:solidFill>
                  <a:srgbClr val="444444"/>
                </a:solidFill>
                <a:effectLst/>
              </a:rPr>
              <a:t> </a:t>
            </a:r>
            <a:r>
              <a:rPr lang="it-IT" b="0" i="0" dirty="0" err="1">
                <a:solidFill>
                  <a:srgbClr val="444444"/>
                </a:solidFill>
                <a:effectLst/>
              </a:rPr>
              <a:t>error</a:t>
            </a:r>
            <a:r>
              <a:rPr lang="it-IT" b="0" i="0" dirty="0">
                <a:solidFill>
                  <a:srgbClr val="444444"/>
                </a:solidFill>
                <a:effectLst/>
              </a:rPr>
              <a:t> </a:t>
            </a:r>
            <a:r>
              <a:rPr lang="it-IT" b="0" i="0" dirty="0" err="1">
                <a:solidFill>
                  <a:srgbClr val="444444"/>
                </a:solidFill>
                <a:effectLst/>
              </a:rPr>
              <a:t>change</a:t>
            </a:r>
            <a:r>
              <a:rPr lang="it-IT" b="0" i="0" dirty="0">
                <a:solidFill>
                  <a:srgbClr val="444444"/>
                </a:solidFill>
                <a:effectLst/>
              </a:rPr>
              <a:t> with </a:t>
            </a:r>
            <a:r>
              <a:rPr lang="it-IT" b="0" i="0" dirty="0" err="1">
                <a:solidFill>
                  <a:srgbClr val="444444"/>
                </a:solidFill>
                <a:effectLst/>
              </a:rPr>
              <a:t>respect</a:t>
            </a:r>
            <a:r>
              <a:rPr lang="it-IT" b="0" i="0" dirty="0">
                <a:solidFill>
                  <a:srgbClr val="444444"/>
                </a:solidFill>
                <a:effectLst/>
              </a:rPr>
              <a:t> to the output?</a:t>
            </a:r>
            <a:endParaRPr lang="en-US" dirty="0"/>
          </a:p>
        </p:txBody>
      </p:sp>
      <p:pic>
        <p:nvPicPr>
          <p:cNvPr id="16" name="Immagine 15">
            <a:extLst>
              <a:ext uri="{FF2B5EF4-FFF2-40B4-BE49-F238E27FC236}">
                <a16:creationId xmlns:a16="http://schemas.microsoft.com/office/drawing/2014/main" id="{BFF34B0C-382F-044A-B0FE-2C9D0B871555}"/>
              </a:ext>
            </a:extLst>
          </p:cNvPr>
          <p:cNvPicPr>
            <a:picLocks noChangeAspect="1"/>
          </p:cNvPicPr>
          <p:nvPr/>
        </p:nvPicPr>
        <p:blipFill rotWithShape="1">
          <a:blip r:embed="rId7"/>
          <a:srcRect l="37508"/>
          <a:stretch/>
        </p:blipFill>
        <p:spPr>
          <a:xfrm>
            <a:off x="10891507" y="3454183"/>
            <a:ext cx="1300493" cy="462458"/>
          </a:xfrm>
          <a:prstGeom prst="rect">
            <a:avLst/>
          </a:prstGeom>
        </p:spPr>
      </p:pic>
      <p:pic>
        <p:nvPicPr>
          <p:cNvPr id="17" name="Immagine 16">
            <a:extLst>
              <a:ext uri="{FF2B5EF4-FFF2-40B4-BE49-F238E27FC236}">
                <a16:creationId xmlns:a16="http://schemas.microsoft.com/office/drawing/2014/main" id="{C055E223-5AC4-6044-B291-8D4630AF82CC}"/>
              </a:ext>
            </a:extLst>
          </p:cNvPr>
          <p:cNvPicPr>
            <a:picLocks noChangeAspect="1"/>
          </p:cNvPicPr>
          <p:nvPr/>
        </p:nvPicPr>
        <p:blipFill rotWithShape="1">
          <a:blip r:embed="rId8"/>
          <a:srcRect l="47719" t="70430" r="35447" b="7602"/>
          <a:stretch/>
        </p:blipFill>
        <p:spPr>
          <a:xfrm>
            <a:off x="11008726" y="1930920"/>
            <a:ext cx="1045029" cy="347967"/>
          </a:xfrm>
          <a:prstGeom prst="rect">
            <a:avLst/>
          </a:prstGeom>
        </p:spPr>
      </p:pic>
    </p:spTree>
    <p:extLst>
      <p:ext uri="{BB962C8B-B14F-4D97-AF65-F5344CB8AC3E}">
        <p14:creationId xmlns:p14="http://schemas.microsoft.com/office/powerpoint/2010/main" val="316686928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alphaModFix amt="35000"/>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9471725" y="2039272"/>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8" name="Immagine 7">
            <a:extLst>
              <a:ext uri="{FF2B5EF4-FFF2-40B4-BE49-F238E27FC236}">
                <a16:creationId xmlns:a16="http://schemas.microsoft.com/office/drawing/2014/main" id="{06B63281-F2B6-AA4A-BC41-4E3B384B097E}"/>
              </a:ext>
            </a:extLst>
          </p:cNvPr>
          <p:cNvPicPr>
            <a:picLocks noChangeAspect="1"/>
          </p:cNvPicPr>
          <p:nvPr/>
        </p:nvPicPr>
        <p:blipFill>
          <a:blip r:embed="rId5"/>
          <a:stretch>
            <a:fillRect/>
          </a:stretch>
        </p:blipFill>
        <p:spPr>
          <a:xfrm>
            <a:off x="1105683" y="2039272"/>
            <a:ext cx="3568700" cy="444500"/>
          </a:xfrm>
          <a:prstGeom prst="rect">
            <a:avLst/>
          </a:prstGeom>
        </p:spPr>
      </p:pic>
      <p:pic>
        <p:nvPicPr>
          <p:cNvPr id="10" name="Immagine 9">
            <a:extLst>
              <a:ext uri="{FF2B5EF4-FFF2-40B4-BE49-F238E27FC236}">
                <a16:creationId xmlns:a16="http://schemas.microsoft.com/office/drawing/2014/main" id="{AE63E900-30D1-D740-BAFD-B30370406AA6}"/>
              </a:ext>
            </a:extLst>
          </p:cNvPr>
          <p:cNvPicPr>
            <a:picLocks noChangeAspect="1"/>
          </p:cNvPicPr>
          <p:nvPr/>
        </p:nvPicPr>
        <p:blipFill>
          <a:blip r:embed="rId6"/>
          <a:stretch>
            <a:fillRect/>
          </a:stretch>
        </p:blipFill>
        <p:spPr>
          <a:xfrm>
            <a:off x="1105683" y="2871542"/>
            <a:ext cx="6807200" cy="368300"/>
          </a:xfrm>
          <a:prstGeom prst="rect">
            <a:avLst/>
          </a:prstGeom>
        </p:spPr>
      </p:pic>
      <p:pic>
        <p:nvPicPr>
          <p:cNvPr id="12" name="Immagine 11">
            <a:extLst>
              <a:ext uri="{FF2B5EF4-FFF2-40B4-BE49-F238E27FC236}">
                <a16:creationId xmlns:a16="http://schemas.microsoft.com/office/drawing/2014/main" id="{BAAF7FE9-FADA-C44C-83C0-E34FAD3AF14E}"/>
              </a:ext>
            </a:extLst>
          </p:cNvPr>
          <p:cNvPicPr>
            <a:picLocks noChangeAspect="1"/>
          </p:cNvPicPr>
          <p:nvPr/>
        </p:nvPicPr>
        <p:blipFill>
          <a:blip r:embed="rId7"/>
          <a:stretch>
            <a:fillRect/>
          </a:stretch>
        </p:blipFill>
        <p:spPr>
          <a:xfrm>
            <a:off x="1105682" y="3503246"/>
            <a:ext cx="5932139" cy="427892"/>
          </a:xfrm>
          <a:prstGeom prst="rect">
            <a:avLst/>
          </a:prstGeom>
        </p:spPr>
      </p:pic>
      <p:sp>
        <p:nvSpPr>
          <p:cNvPr id="15" name="Figura a mano libera 14">
            <a:extLst>
              <a:ext uri="{FF2B5EF4-FFF2-40B4-BE49-F238E27FC236}">
                <a16:creationId xmlns:a16="http://schemas.microsoft.com/office/drawing/2014/main" id="{E784CDC9-1F1E-E143-B9CE-C3D7C24FDFBF}"/>
              </a:ext>
            </a:extLst>
          </p:cNvPr>
          <p:cNvSpPr/>
          <p:nvPr/>
        </p:nvSpPr>
        <p:spPr>
          <a:xfrm>
            <a:off x="330506" y="1762699"/>
            <a:ext cx="2644048" cy="1916966"/>
          </a:xfrm>
          <a:custGeom>
            <a:avLst/>
            <a:gdLst>
              <a:gd name="connsiteX0" fmla="*/ 1839817 w 2644048"/>
              <a:gd name="connsiteY0" fmla="*/ 738130 h 1916966"/>
              <a:gd name="connsiteX1" fmla="*/ 1905918 w 2644048"/>
              <a:gd name="connsiteY1" fmla="*/ 815248 h 1916966"/>
              <a:gd name="connsiteX2" fmla="*/ 1972019 w 2644048"/>
              <a:gd name="connsiteY2" fmla="*/ 848299 h 1916966"/>
              <a:gd name="connsiteX3" fmla="*/ 2005070 w 2644048"/>
              <a:gd name="connsiteY3" fmla="*/ 870332 h 1916966"/>
              <a:gd name="connsiteX4" fmla="*/ 2093205 w 2644048"/>
              <a:gd name="connsiteY4" fmla="*/ 892366 h 1916966"/>
              <a:gd name="connsiteX5" fmla="*/ 2368627 w 2644048"/>
              <a:gd name="connsiteY5" fmla="*/ 881349 h 1916966"/>
              <a:gd name="connsiteX6" fmla="*/ 2434728 w 2644048"/>
              <a:gd name="connsiteY6" fmla="*/ 859315 h 1916966"/>
              <a:gd name="connsiteX7" fmla="*/ 2467778 w 2644048"/>
              <a:gd name="connsiteY7" fmla="*/ 837282 h 1916966"/>
              <a:gd name="connsiteX8" fmla="*/ 2489812 w 2644048"/>
              <a:gd name="connsiteY8" fmla="*/ 804231 h 1916966"/>
              <a:gd name="connsiteX9" fmla="*/ 2522863 w 2644048"/>
              <a:gd name="connsiteY9" fmla="*/ 782197 h 1916966"/>
              <a:gd name="connsiteX10" fmla="*/ 2533880 w 2644048"/>
              <a:gd name="connsiteY10" fmla="*/ 749147 h 1916966"/>
              <a:gd name="connsiteX11" fmla="*/ 2566930 w 2644048"/>
              <a:gd name="connsiteY11" fmla="*/ 716096 h 1916966"/>
              <a:gd name="connsiteX12" fmla="*/ 2599981 w 2644048"/>
              <a:gd name="connsiteY12" fmla="*/ 649995 h 1916966"/>
              <a:gd name="connsiteX13" fmla="*/ 2633031 w 2644048"/>
              <a:gd name="connsiteY13" fmla="*/ 539826 h 1916966"/>
              <a:gd name="connsiteX14" fmla="*/ 2644048 w 2644048"/>
              <a:gd name="connsiteY14" fmla="*/ 451691 h 1916966"/>
              <a:gd name="connsiteX15" fmla="*/ 2633031 w 2644048"/>
              <a:gd name="connsiteY15" fmla="*/ 352540 h 1916966"/>
              <a:gd name="connsiteX16" fmla="*/ 2610998 w 2644048"/>
              <a:gd name="connsiteY16" fmla="*/ 253388 h 1916966"/>
              <a:gd name="connsiteX17" fmla="*/ 2588964 w 2644048"/>
              <a:gd name="connsiteY17" fmla="*/ 187287 h 1916966"/>
              <a:gd name="connsiteX18" fmla="*/ 2500829 w 2644048"/>
              <a:gd name="connsiteY18" fmla="*/ 88135 h 1916966"/>
              <a:gd name="connsiteX19" fmla="*/ 2467778 w 2644048"/>
              <a:gd name="connsiteY19" fmla="*/ 66101 h 1916966"/>
              <a:gd name="connsiteX20" fmla="*/ 2401677 w 2644048"/>
              <a:gd name="connsiteY20" fmla="*/ 44067 h 1916966"/>
              <a:gd name="connsiteX21" fmla="*/ 2335576 w 2644048"/>
              <a:gd name="connsiteY21" fmla="*/ 22034 h 1916966"/>
              <a:gd name="connsiteX22" fmla="*/ 2302525 w 2644048"/>
              <a:gd name="connsiteY22" fmla="*/ 11017 h 1916966"/>
              <a:gd name="connsiteX23" fmla="*/ 2236424 w 2644048"/>
              <a:gd name="connsiteY23" fmla="*/ 0 h 1916966"/>
              <a:gd name="connsiteX24" fmla="*/ 1938969 w 2644048"/>
              <a:gd name="connsiteY24" fmla="*/ 11017 h 1916966"/>
              <a:gd name="connsiteX25" fmla="*/ 1872867 w 2644048"/>
              <a:gd name="connsiteY25" fmla="*/ 22034 h 1916966"/>
              <a:gd name="connsiteX26" fmla="*/ 1795749 w 2644048"/>
              <a:gd name="connsiteY26" fmla="*/ 44067 h 1916966"/>
              <a:gd name="connsiteX27" fmla="*/ 1762699 w 2644048"/>
              <a:gd name="connsiteY27" fmla="*/ 66101 h 1916966"/>
              <a:gd name="connsiteX28" fmla="*/ 1718631 w 2644048"/>
              <a:gd name="connsiteY28" fmla="*/ 132202 h 1916966"/>
              <a:gd name="connsiteX29" fmla="*/ 1718631 w 2644048"/>
              <a:gd name="connsiteY29" fmla="*/ 286438 h 1916966"/>
              <a:gd name="connsiteX30" fmla="*/ 1729648 w 2644048"/>
              <a:gd name="connsiteY30" fmla="*/ 341523 h 1916966"/>
              <a:gd name="connsiteX31" fmla="*/ 1762699 w 2644048"/>
              <a:gd name="connsiteY31" fmla="*/ 451691 h 1916966"/>
              <a:gd name="connsiteX32" fmla="*/ 1795749 w 2644048"/>
              <a:gd name="connsiteY32" fmla="*/ 550843 h 1916966"/>
              <a:gd name="connsiteX33" fmla="*/ 1806766 w 2644048"/>
              <a:gd name="connsiteY33" fmla="*/ 583894 h 1916966"/>
              <a:gd name="connsiteX34" fmla="*/ 1817783 w 2644048"/>
              <a:gd name="connsiteY34" fmla="*/ 616944 h 1916966"/>
              <a:gd name="connsiteX35" fmla="*/ 1817783 w 2644048"/>
              <a:gd name="connsiteY35" fmla="*/ 771181 h 1916966"/>
              <a:gd name="connsiteX36" fmla="*/ 1751682 w 2644048"/>
              <a:gd name="connsiteY36" fmla="*/ 793214 h 1916966"/>
              <a:gd name="connsiteX37" fmla="*/ 1718631 w 2644048"/>
              <a:gd name="connsiteY37" fmla="*/ 804231 h 1916966"/>
              <a:gd name="connsiteX38" fmla="*/ 1685581 w 2644048"/>
              <a:gd name="connsiteY38" fmla="*/ 815248 h 1916966"/>
              <a:gd name="connsiteX39" fmla="*/ 1553378 w 2644048"/>
              <a:gd name="connsiteY39" fmla="*/ 837282 h 1916966"/>
              <a:gd name="connsiteX40" fmla="*/ 1355075 w 2644048"/>
              <a:gd name="connsiteY40" fmla="*/ 859315 h 1916966"/>
              <a:gd name="connsiteX41" fmla="*/ 969484 w 2644048"/>
              <a:gd name="connsiteY41" fmla="*/ 881349 h 1916966"/>
              <a:gd name="connsiteX42" fmla="*/ 881349 w 2644048"/>
              <a:gd name="connsiteY42" fmla="*/ 892366 h 1916966"/>
              <a:gd name="connsiteX43" fmla="*/ 705080 w 2644048"/>
              <a:gd name="connsiteY43" fmla="*/ 914400 h 1916966"/>
              <a:gd name="connsiteX44" fmla="*/ 649995 w 2644048"/>
              <a:gd name="connsiteY44" fmla="*/ 925417 h 1916966"/>
              <a:gd name="connsiteX45" fmla="*/ 583894 w 2644048"/>
              <a:gd name="connsiteY45" fmla="*/ 947450 h 1916966"/>
              <a:gd name="connsiteX46" fmla="*/ 539827 w 2644048"/>
              <a:gd name="connsiteY46" fmla="*/ 958467 h 1916966"/>
              <a:gd name="connsiteX47" fmla="*/ 363557 w 2644048"/>
              <a:gd name="connsiteY47" fmla="*/ 1057619 h 1916966"/>
              <a:gd name="connsiteX48" fmla="*/ 297455 w 2644048"/>
              <a:gd name="connsiteY48" fmla="*/ 1101687 h 1916966"/>
              <a:gd name="connsiteX49" fmla="*/ 231354 w 2644048"/>
              <a:gd name="connsiteY49" fmla="*/ 1167788 h 1916966"/>
              <a:gd name="connsiteX50" fmla="*/ 176270 w 2644048"/>
              <a:gd name="connsiteY50" fmla="*/ 1233889 h 1916966"/>
              <a:gd name="connsiteX51" fmla="*/ 143219 w 2644048"/>
              <a:gd name="connsiteY51" fmla="*/ 1266940 h 1916966"/>
              <a:gd name="connsiteX52" fmla="*/ 121186 w 2644048"/>
              <a:gd name="connsiteY52" fmla="*/ 1299990 h 1916966"/>
              <a:gd name="connsiteX53" fmla="*/ 55084 w 2644048"/>
              <a:gd name="connsiteY53" fmla="*/ 1454226 h 1916966"/>
              <a:gd name="connsiteX54" fmla="*/ 22034 w 2644048"/>
              <a:gd name="connsiteY54" fmla="*/ 1553378 h 1916966"/>
              <a:gd name="connsiteX55" fmla="*/ 11017 w 2644048"/>
              <a:gd name="connsiteY55" fmla="*/ 1586429 h 1916966"/>
              <a:gd name="connsiteX56" fmla="*/ 0 w 2644048"/>
              <a:gd name="connsiteY56" fmla="*/ 1652530 h 1916966"/>
              <a:gd name="connsiteX57" fmla="*/ 22034 w 2644048"/>
              <a:gd name="connsiteY57" fmla="*/ 1751682 h 1916966"/>
              <a:gd name="connsiteX58" fmla="*/ 55084 w 2644048"/>
              <a:gd name="connsiteY58" fmla="*/ 1773715 h 1916966"/>
              <a:gd name="connsiteX59" fmla="*/ 154236 w 2644048"/>
              <a:gd name="connsiteY59" fmla="*/ 1828800 h 1916966"/>
              <a:gd name="connsiteX60" fmla="*/ 253388 w 2644048"/>
              <a:gd name="connsiteY60" fmla="*/ 1861850 h 1916966"/>
              <a:gd name="connsiteX61" fmla="*/ 286439 w 2644048"/>
              <a:gd name="connsiteY61" fmla="*/ 1872867 h 1916966"/>
              <a:gd name="connsiteX62" fmla="*/ 352540 w 2644048"/>
              <a:gd name="connsiteY62" fmla="*/ 1883884 h 1916966"/>
              <a:gd name="connsiteX63" fmla="*/ 396607 w 2644048"/>
              <a:gd name="connsiteY63" fmla="*/ 1894901 h 1916966"/>
              <a:gd name="connsiteX64" fmla="*/ 561860 w 2644048"/>
              <a:gd name="connsiteY64" fmla="*/ 1916935 h 1916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644048" h="1916966">
                <a:moveTo>
                  <a:pt x="1839817" y="738130"/>
                </a:moveTo>
                <a:cubicBezTo>
                  <a:pt x="1861851" y="763836"/>
                  <a:pt x="1881978" y="791308"/>
                  <a:pt x="1905918" y="815248"/>
                </a:cubicBezTo>
                <a:cubicBezTo>
                  <a:pt x="1937490" y="846820"/>
                  <a:pt x="1936179" y="830379"/>
                  <a:pt x="1972019" y="848299"/>
                </a:cubicBezTo>
                <a:cubicBezTo>
                  <a:pt x="1983862" y="854220"/>
                  <a:pt x="1993227" y="864411"/>
                  <a:pt x="2005070" y="870332"/>
                </a:cubicBezTo>
                <a:cubicBezTo>
                  <a:pt x="2027655" y="881624"/>
                  <a:pt x="2072252" y="888175"/>
                  <a:pt x="2093205" y="892366"/>
                </a:cubicBezTo>
                <a:cubicBezTo>
                  <a:pt x="2185012" y="888694"/>
                  <a:pt x="2277174" y="890199"/>
                  <a:pt x="2368627" y="881349"/>
                </a:cubicBezTo>
                <a:cubicBezTo>
                  <a:pt x="2391745" y="879112"/>
                  <a:pt x="2415403" y="872198"/>
                  <a:pt x="2434728" y="859315"/>
                </a:cubicBezTo>
                <a:lnTo>
                  <a:pt x="2467778" y="837282"/>
                </a:lnTo>
                <a:cubicBezTo>
                  <a:pt x="2475123" y="826265"/>
                  <a:pt x="2480449" y="813594"/>
                  <a:pt x="2489812" y="804231"/>
                </a:cubicBezTo>
                <a:cubicBezTo>
                  <a:pt x="2499175" y="794868"/>
                  <a:pt x="2514591" y="792536"/>
                  <a:pt x="2522863" y="782197"/>
                </a:cubicBezTo>
                <a:cubicBezTo>
                  <a:pt x="2530117" y="773129"/>
                  <a:pt x="2527439" y="758809"/>
                  <a:pt x="2533880" y="749147"/>
                </a:cubicBezTo>
                <a:cubicBezTo>
                  <a:pt x="2542522" y="736183"/>
                  <a:pt x="2555913" y="727113"/>
                  <a:pt x="2566930" y="716096"/>
                </a:cubicBezTo>
                <a:cubicBezTo>
                  <a:pt x="2607113" y="595550"/>
                  <a:pt x="2543024" y="778149"/>
                  <a:pt x="2599981" y="649995"/>
                </a:cubicBezTo>
                <a:cubicBezTo>
                  <a:pt x="2607816" y="632365"/>
                  <a:pt x="2628758" y="565461"/>
                  <a:pt x="2633031" y="539826"/>
                </a:cubicBezTo>
                <a:cubicBezTo>
                  <a:pt x="2637898" y="510622"/>
                  <a:pt x="2640376" y="481069"/>
                  <a:pt x="2644048" y="451691"/>
                </a:cubicBezTo>
                <a:cubicBezTo>
                  <a:pt x="2640376" y="418641"/>
                  <a:pt x="2637734" y="385460"/>
                  <a:pt x="2633031" y="352540"/>
                </a:cubicBezTo>
                <a:cubicBezTo>
                  <a:pt x="2630173" y="332534"/>
                  <a:pt x="2617557" y="275252"/>
                  <a:pt x="2610998" y="253388"/>
                </a:cubicBezTo>
                <a:cubicBezTo>
                  <a:pt x="2604324" y="231142"/>
                  <a:pt x="2601847" y="206612"/>
                  <a:pt x="2588964" y="187287"/>
                </a:cubicBezTo>
                <a:cubicBezTo>
                  <a:pt x="2562472" y="147549"/>
                  <a:pt x="2546107" y="118320"/>
                  <a:pt x="2500829" y="88135"/>
                </a:cubicBezTo>
                <a:cubicBezTo>
                  <a:pt x="2489812" y="80790"/>
                  <a:pt x="2479878" y="71479"/>
                  <a:pt x="2467778" y="66101"/>
                </a:cubicBezTo>
                <a:cubicBezTo>
                  <a:pt x="2446554" y="56668"/>
                  <a:pt x="2423711" y="51412"/>
                  <a:pt x="2401677" y="44067"/>
                </a:cubicBezTo>
                <a:lnTo>
                  <a:pt x="2335576" y="22034"/>
                </a:lnTo>
                <a:cubicBezTo>
                  <a:pt x="2324559" y="18362"/>
                  <a:pt x="2313980" y="12926"/>
                  <a:pt x="2302525" y="11017"/>
                </a:cubicBezTo>
                <a:lnTo>
                  <a:pt x="2236424" y="0"/>
                </a:lnTo>
                <a:cubicBezTo>
                  <a:pt x="2137272" y="3672"/>
                  <a:pt x="2038007" y="5015"/>
                  <a:pt x="1938969" y="11017"/>
                </a:cubicBezTo>
                <a:cubicBezTo>
                  <a:pt x="1916672" y="12368"/>
                  <a:pt x="1894771" y="17653"/>
                  <a:pt x="1872867" y="22034"/>
                </a:cubicBezTo>
                <a:cubicBezTo>
                  <a:pt x="1838279" y="28951"/>
                  <a:pt x="1827253" y="33566"/>
                  <a:pt x="1795749" y="44067"/>
                </a:cubicBezTo>
                <a:cubicBezTo>
                  <a:pt x="1784732" y="51412"/>
                  <a:pt x="1771418" y="56136"/>
                  <a:pt x="1762699" y="66101"/>
                </a:cubicBezTo>
                <a:cubicBezTo>
                  <a:pt x="1745261" y="86030"/>
                  <a:pt x="1718631" y="132202"/>
                  <a:pt x="1718631" y="132202"/>
                </a:cubicBezTo>
                <a:cubicBezTo>
                  <a:pt x="1695730" y="200906"/>
                  <a:pt x="1703271" y="163562"/>
                  <a:pt x="1718631" y="286438"/>
                </a:cubicBezTo>
                <a:cubicBezTo>
                  <a:pt x="1720954" y="305019"/>
                  <a:pt x="1725586" y="323244"/>
                  <a:pt x="1729648" y="341523"/>
                </a:cubicBezTo>
                <a:cubicBezTo>
                  <a:pt x="1740748" y="391471"/>
                  <a:pt x="1744391" y="396767"/>
                  <a:pt x="1762699" y="451691"/>
                </a:cubicBezTo>
                <a:lnTo>
                  <a:pt x="1795749" y="550843"/>
                </a:lnTo>
                <a:lnTo>
                  <a:pt x="1806766" y="583894"/>
                </a:lnTo>
                <a:lnTo>
                  <a:pt x="1817783" y="616944"/>
                </a:lnTo>
                <a:cubicBezTo>
                  <a:pt x="1824465" y="657037"/>
                  <a:pt x="1843767" y="734061"/>
                  <a:pt x="1817783" y="771181"/>
                </a:cubicBezTo>
                <a:cubicBezTo>
                  <a:pt x="1804464" y="790208"/>
                  <a:pt x="1773716" y="785870"/>
                  <a:pt x="1751682" y="793214"/>
                </a:cubicBezTo>
                <a:lnTo>
                  <a:pt x="1718631" y="804231"/>
                </a:lnTo>
                <a:cubicBezTo>
                  <a:pt x="1707614" y="807903"/>
                  <a:pt x="1696968" y="812971"/>
                  <a:pt x="1685581" y="815248"/>
                </a:cubicBezTo>
                <a:cubicBezTo>
                  <a:pt x="1624744" y="827415"/>
                  <a:pt x="1621699" y="829084"/>
                  <a:pt x="1553378" y="837282"/>
                </a:cubicBezTo>
                <a:cubicBezTo>
                  <a:pt x="1487344" y="845206"/>
                  <a:pt x="1421474" y="855521"/>
                  <a:pt x="1355075" y="859315"/>
                </a:cubicBezTo>
                <a:lnTo>
                  <a:pt x="969484" y="881349"/>
                </a:lnTo>
                <a:lnTo>
                  <a:pt x="881349" y="892366"/>
                </a:lnTo>
                <a:cubicBezTo>
                  <a:pt x="764438" y="905356"/>
                  <a:pt x="798213" y="897467"/>
                  <a:pt x="705080" y="914400"/>
                </a:cubicBezTo>
                <a:cubicBezTo>
                  <a:pt x="686657" y="917750"/>
                  <a:pt x="668061" y="920490"/>
                  <a:pt x="649995" y="925417"/>
                </a:cubicBezTo>
                <a:cubicBezTo>
                  <a:pt x="627588" y="931528"/>
                  <a:pt x="606426" y="941817"/>
                  <a:pt x="583894" y="947450"/>
                </a:cubicBezTo>
                <a:cubicBezTo>
                  <a:pt x="569205" y="951122"/>
                  <a:pt x="553803" y="952643"/>
                  <a:pt x="539827" y="958467"/>
                </a:cubicBezTo>
                <a:cubicBezTo>
                  <a:pt x="508418" y="971554"/>
                  <a:pt x="387031" y="1034145"/>
                  <a:pt x="363557" y="1057619"/>
                </a:cubicBezTo>
                <a:cubicBezTo>
                  <a:pt x="322294" y="1098882"/>
                  <a:pt x="345287" y="1085743"/>
                  <a:pt x="297455" y="1101687"/>
                </a:cubicBezTo>
                <a:cubicBezTo>
                  <a:pt x="234122" y="1186131"/>
                  <a:pt x="295791" y="1114090"/>
                  <a:pt x="231354" y="1167788"/>
                </a:cubicBezTo>
                <a:cubicBezTo>
                  <a:pt x="178688" y="1211677"/>
                  <a:pt x="215661" y="1186620"/>
                  <a:pt x="176270" y="1233889"/>
                </a:cubicBezTo>
                <a:cubicBezTo>
                  <a:pt x="166296" y="1245858"/>
                  <a:pt x="153193" y="1254971"/>
                  <a:pt x="143219" y="1266940"/>
                </a:cubicBezTo>
                <a:cubicBezTo>
                  <a:pt x="134743" y="1277112"/>
                  <a:pt x="127526" y="1288366"/>
                  <a:pt x="121186" y="1299990"/>
                </a:cubicBezTo>
                <a:cubicBezTo>
                  <a:pt x="74510" y="1385562"/>
                  <a:pt x="82004" y="1373466"/>
                  <a:pt x="55084" y="1454226"/>
                </a:cubicBezTo>
                <a:lnTo>
                  <a:pt x="22034" y="1553378"/>
                </a:lnTo>
                <a:cubicBezTo>
                  <a:pt x="18362" y="1564395"/>
                  <a:pt x="12926" y="1574974"/>
                  <a:pt x="11017" y="1586429"/>
                </a:cubicBezTo>
                <a:lnTo>
                  <a:pt x="0" y="1652530"/>
                </a:lnTo>
                <a:cubicBezTo>
                  <a:pt x="113" y="1653207"/>
                  <a:pt x="10615" y="1737408"/>
                  <a:pt x="22034" y="1751682"/>
                </a:cubicBezTo>
                <a:cubicBezTo>
                  <a:pt x="30305" y="1762021"/>
                  <a:pt x="44912" y="1765239"/>
                  <a:pt x="55084" y="1773715"/>
                </a:cubicBezTo>
                <a:cubicBezTo>
                  <a:pt x="121050" y="1828686"/>
                  <a:pt x="48770" y="1793644"/>
                  <a:pt x="154236" y="1828800"/>
                </a:cubicBezTo>
                <a:lnTo>
                  <a:pt x="253388" y="1861850"/>
                </a:lnTo>
                <a:cubicBezTo>
                  <a:pt x="264405" y="1865522"/>
                  <a:pt x="274984" y="1870958"/>
                  <a:pt x="286439" y="1872867"/>
                </a:cubicBezTo>
                <a:cubicBezTo>
                  <a:pt x="308473" y="1876539"/>
                  <a:pt x="330636" y="1879503"/>
                  <a:pt x="352540" y="1883884"/>
                </a:cubicBezTo>
                <a:cubicBezTo>
                  <a:pt x="367387" y="1886853"/>
                  <a:pt x="381725" y="1892111"/>
                  <a:pt x="396607" y="1894901"/>
                </a:cubicBezTo>
                <a:cubicBezTo>
                  <a:pt x="523780" y="1918746"/>
                  <a:pt x="488055" y="1916935"/>
                  <a:pt x="561860" y="1916935"/>
                </a:cubicBezTo>
              </a:path>
            </a:pathLst>
          </a:custGeom>
          <a:noFill/>
          <a:ln w="38100">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asellaDiTesto 12">
            <a:extLst>
              <a:ext uri="{FF2B5EF4-FFF2-40B4-BE49-F238E27FC236}">
                <a16:creationId xmlns:a16="http://schemas.microsoft.com/office/drawing/2014/main" id="{FC97030B-39D1-DA4B-A19D-C482CE7597BC}"/>
              </a:ext>
            </a:extLst>
          </p:cNvPr>
          <p:cNvSpPr txBox="1"/>
          <p:nvPr/>
        </p:nvSpPr>
        <p:spPr>
          <a:xfrm>
            <a:off x="2901234" y="6397734"/>
            <a:ext cx="6581692" cy="369332"/>
          </a:xfrm>
          <a:prstGeom prst="rect">
            <a:avLst/>
          </a:prstGeom>
          <a:noFill/>
        </p:spPr>
        <p:txBody>
          <a:bodyPr wrap="square">
            <a:spAutoFit/>
          </a:bodyPr>
          <a:lstStyle/>
          <a:p>
            <a:r>
              <a:rPr lang="it-IT" b="0" i="0" dirty="0" err="1">
                <a:solidFill>
                  <a:srgbClr val="444444"/>
                </a:solidFill>
                <a:effectLst/>
              </a:rPr>
              <a:t>how</a:t>
            </a:r>
            <a:r>
              <a:rPr lang="it-IT" b="0" i="0" dirty="0">
                <a:solidFill>
                  <a:srgbClr val="444444"/>
                </a:solidFill>
                <a:effectLst/>
              </a:rPr>
              <a:t> </a:t>
            </a:r>
            <a:r>
              <a:rPr lang="it-IT" b="0" i="0" dirty="0" err="1">
                <a:solidFill>
                  <a:srgbClr val="444444"/>
                </a:solidFill>
                <a:effectLst/>
              </a:rPr>
              <a:t>much</a:t>
            </a:r>
            <a:r>
              <a:rPr lang="it-IT" b="0" i="0" dirty="0">
                <a:solidFill>
                  <a:srgbClr val="444444"/>
                </a:solidFill>
                <a:effectLst/>
              </a:rPr>
              <a:t> </a:t>
            </a:r>
            <a:r>
              <a:rPr lang="it-IT" b="0" i="0" dirty="0" err="1">
                <a:solidFill>
                  <a:srgbClr val="444444"/>
                </a:solidFill>
                <a:effectLst/>
              </a:rPr>
              <a:t>does</a:t>
            </a:r>
            <a:r>
              <a:rPr lang="it-IT" b="0" i="0" dirty="0">
                <a:solidFill>
                  <a:srgbClr val="444444"/>
                </a:solidFill>
                <a:effectLst/>
              </a:rPr>
              <a:t> the </a:t>
            </a:r>
            <a:r>
              <a:rPr lang="it-IT" b="0" i="0" dirty="0" err="1">
                <a:solidFill>
                  <a:srgbClr val="444444"/>
                </a:solidFill>
                <a:effectLst/>
              </a:rPr>
              <a:t>total</a:t>
            </a:r>
            <a:r>
              <a:rPr lang="it-IT" b="0" i="0" dirty="0">
                <a:solidFill>
                  <a:srgbClr val="444444"/>
                </a:solidFill>
                <a:effectLst/>
              </a:rPr>
              <a:t> </a:t>
            </a:r>
            <a:r>
              <a:rPr lang="it-IT" b="0" i="0" dirty="0" err="1">
                <a:solidFill>
                  <a:srgbClr val="444444"/>
                </a:solidFill>
                <a:effectLst/>
              </a:rPr>
              <a:t>error</a:t>
            </a:r>
            <a:r>
              <a:rPr lang="it-IT" b="0" i="0" dirty="0">
                <a:solidFill>
                  <a:srgbClr val="444444"/>
                </a:solidFill>
                <a:effectLst/>
              </a:rPr>
              <a:t> </a:t>
            </a:r>
            <a:r>
              <a:rPr lang="it-IT" b="0" i="0" dirty="0" err="1">
                <a:solidFill>
                  <a:srgbClr val="444444"/>
                </a:solidFill>
                <a:effectLst/>
              </a:rPr>
              <a:t>change</a:t>
            </a:r>
            <a:r>
              <a:rPr lang="it-IT" b="0" i="0" dirty="0">
                <a:solidFill>
                  <a:srgbClr val="444444"/>
                </a:solidFill>
                <a:effectLst/>
              </a:rPr>
              <a:t> with </a:t>
            </a:r>
            <a:r>
              <a:rPr lang="it-IT" b="0" i="0" dirty="0" err="1">
                <a:solidFill>
                  <a:srgbClr val="444444"/>
                </a:solidFill>
                <a:effectLst/>
              </a:rPr>
              <a:t>respect</a:t>
            </a:r>
            <a:r>
              <a:rPr lang="it-IT" b="0" i="0" dirty="0">
                <a:solidFill>
                  <a:srgbClr val="444444"/>
                </a:solidFill>
                <a:effectLst/>
              </a:rPr>
              <a:t> to the output?</a:t>
            </a:r>
            <a:endParaRPr lang="en-US" dirty="0"/>
          </a:p>
        </p:txBody>
      </p:sp>
      <p:pic>
        <p:nvPicPr>
          <p:cNvPr id="16" name="Immagine 15">
            <a:extLst>
              <a:ext uri="{FF2B5EF4-FFF2-40B4-BE49-F238E27FC236}">
                <a16:creationId xmlns:a16="http://schemas.microsoft.com/office/drawing/2014/main" id="{757D1732-9A53-B641-AAAC-C320B2EDF7CF}"/>
              </a:ext>
            </a:extLst>
          </p:cNvPr>
          <p:cNvPicPr>
            <a:picLocks noChangeAspect="1"/>
          </p:cNvPicPr>
          <p:nvPr/>
        </p:nvPicPr>
        <p:blipFill rotWithShape="1">
          <a:blip r:embed="rId8"/>
          <a:srcRect l="37508"/>
          <a:stretch/>
        </p:blipFill>
        <p:spPr>
          <a:xfrm>
            <a:off x="10891507" y="3454183"/>
            <a:ext cx="1300493" cy="462458"/>
          </a:xfrm>
          <a:prstGeom prst="rect">
            <a:avLst/>
          </a:prstGeom>
        </p:spPr>
      </p:pic>
      <p:pic>
        <p:nvPicPr>
          <p:cNvPr id="17" name="Immagine 16">
            <a:extLst>
              <a:ext uri="{FF2B5EF4-FFF2-40B4-BE49-F238E27FC236}">
                <a16:creationId xmlns:a16="http://schemas.microsoft.com/office/drawing/2014/main" id="{BE57FFAA-671E-314A-88CA-D27D80322654}"/>
              </a:ext>
            </a:extLst>
          </p:cNvPr>
          <p:cNvPicPr>
            <a:picLocks noChangeAspect="1"/>
          </p:cNvPicPr>
          <p:nvPr/>
        </p:nvPicPr>
        <p:blipFill rotWithShape="1">
          <a:blip r:embed="rId9"/>
          <a:srcRect l="47719" t="70430" r="35447" b="7602"/>
          <a:stretch/>
        </p:blipFill>
        <p:spPr>
          <a:xfrm>
            <a:off x="11008726" y="1930920"/>
            <a:ext cx="1045029" cy="347967"/>
          </a:xfrm>
          <a:prstGeom prst="rect">
            <a:avLst/>
          </a:prstGeom>
        </p:spPr>
      </p:pic>
    </p:spTree>
    <p:extLst>
      <p:ext uri="{BB962C8B-B14F-4D97-AF65-F5344CB8AC3E}">
        <p14:creationId xmlns:p14="http://schemas.microsoft.com/office/powerpoint/2010/main" val="397268932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alphaModFix amt="35000"/>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9471725" y="2039272"/>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8" name="Immagine 7">
            <a:extLst>
              <a:ext uri="{FF2B5EF4-FFF2-40B4-BE49-F238E27FC236}">
                <a16:creationId xmlns:a16="http://schemas.microsoft.com/office/drawing/2014/main" id="{06B63281-F2B6-AA4A-BC41-4E3B384B097E}"/>
              </a:ext>
            </a:extLst>
          </p:cNvPr>
          <p:cNvPicPr>
            <a:picLocks noChangeAspect="1"/>
          </p:cNvPicPr>
          <p:nvPr/>
        </p:nvPicPr>
        <p:blipFill>
          <a:blip r:embed="rId5"/>
          <a:stretch>
            <a:fillRect/>
          </a:stretch>
        </p:blipFill>
        <p:spPr>
          <a:xfrm>
            <a:off x="1105683" y="2039272"/>
            <a:ext cx="3568700" cy="444500"/>
          </a:xfrm>
          <a:prstGeom prst="rect">
            <a:avLst/>
          </a:prstGeom>
        </p:spPr>
      </p:pic>
      <p:pic>
        <p:nvPicPr>
          <p:cNvPr id="10" name="Immagine 9">
            <a:extLst>
              <a:ext uri="{FF2B5EF4-FFF2-40B4-BE49-F238E27FC236}">
                <a16:creationId xmlns:a16="http://schemas.microsoft.com/office/drawing/2014/main" id="{AE63E900-30D1-D740-BAFD-B30370406AA6}"/>
              </a:ext>
            </a:extLst>
          </p:cNvPr>
          <p:cNvPicPr>
            <a:picLocks noChangeAspect="1"/>
          </p:cNvPicPr>
          <p:nvPr/>
        </p:nvPicPr>
        <p:blipFill>
          <a:blip r:embed="rId6"/>
          <a:stretch>
            <a:fillRect/>
          </a:stretch>
        </p:blipFill>
        <p:spPr>
          <a:xfrm>
            <a:off x="1105683" y="2871542"/>
            <a:ext cx="6807200" cy="368300"/>
          </a:xfrm>
          <a:prstGeom prst="rect">
            <a:avLst/>
          </a:prstGeom>
        </p:spPr>
      </p:pic>
      <p:pic>
        <p:nvPicPr>
          <p:cNvPr id="12" name="Immagine 11">
            <a:extLst>
              <a:ext uri="{FF2B5EF4-FFF2-40B4-BE49-F238E27FC236}">
                <a16:creationId xmlns:a16="http://schemas.microsoft.com/office/drawing/2014/main" id="{BAAF7FE9-FADA-C44C-83C0-E34FAD3AF14E}"/>
              </a:ext>
            </a:extLst>
          </p:cNvPr>
          <p:cNvPicPr>
            <a:picLocks noChangeAspect="1"/>
          </p:cNvPicPr>
          <p:nvPr/>
        </p:nvPicPr>
        <p:blipFill>
          <a:blip r:embed="rId7"/>
          <a:stretch>
            <a:fillRect/>
          </a:stretch>
        </p:blipFill>
        <p:spPr>
          <a:xfrm>
            <a:off x="1105682" y="3503246"/>
            <a:ext cx="5932139" cy="427892"/>
          </a:xfrm>
          <a:prstGeom prst="rect">
            <a:avLst/>
          </a:prstGeom>
        </p:spPr>
      </p:pic>
      <p:pic>
        <p:nvPicPr>
          <p:cNvPr id="14" name="Immagine 13">
            <a:extLst>
              <a:ext uri="{FF2B5EF4-FFF2-40B4-BE49-F238E27FC236}">
                <a16:creationId xmlns:a16="http://schemas.microsoft.com/office/drawing/2014/main" id="{948CDCB7-5AFC-CC4F-9356-910EB0664A23}"/>
              </a:ext>
            </a:extLst>
          </p:cNvPr>
          <p:cNvPicPr>
            <a:picLocks noChangeAspect="1"/>
          </p:cNvPicPr>
          <p:nvPr/>
        </p:nvPicPr>
        <p:blipFill>
          <a:blip r:embed="rId8"/>
          <a:stretch>
            <a:fillRect/>
          </a:stretch>
        </p:blipFill>
        <p:spPr>
          <a:xfrm>
            <a:off x="1105682" y="4301020"/>
            <a:ext cx="8991600" cy="419100"/>
          </a:xfrm>
          <a:prstGeom prst="rect">
            <a:avLst/>
          </a:prstGeom>
        </p:spPr>
      </p:pic>
      <p:sp>
        <p:nvSpPr>
          <p:cNvPr id="15" name="Figura a mano libera 14">
            <a:extLst>
              <a:ext uri="{FF2B5EF4-FFF2-40B4-BE49-F238E27FC236}">
                <a16:creationId xmlns:a16="http://schemas.microsoft.com/office/drawing/2014/main" id="{E784CDC9-1F1E-E143-B9CE-C3D7C24FDFBF}"/>
              </a:ext>
            </a:extLst>
          </p:cNvPr>
          <p:cNvSpPr/>
          <p:nvPr/>
        </p:nvSpPr>
        <p:spPr>
          <a:xfrm>
            <a:off x="330506" y="1762699"/>
            <a:ext cx="2644048" cy="1916966"/>
          </a:xfrm>
          <a:custGeom>
            <a:avLst/>
            <a:gdLst>
              <a:gd name="connsiteX0" fmla="*/ 1839817 w 2644048"/>
              <a:gd name="connsiteY0" fmla="*/ 738130 h 1916966"/>
              <a:gd name="connsiteX1" fmla="*/ 1905918 w 2644048"/>
              <a:gd name="connsiteY1" fmla="*/ 815248 h 1916966"/>
              <a:gd name="connsiteX2" fmla="*/ 1972019 w 2644048"/>
              <a:gd name="connsiteY2" fmla="*/ 848299 h 1916966"/>
              <a:gd name="connsiteX3" fmla="*/ 2005070 w 2644048"/>
              <a:gd name="connsiteY3" fmla="*/ 870332 h 1916966"/>
              <a:gd name="connsiteX4" fmla="*/ 2093205 w 2644048"/>
              <a:gd name="connsiteY4" fmla="*/ 892366 h 1916966"/>
              <a:gd name="connsiteX5" fmla="*/ 2368627 w 2644048"/>
              <a:gd name="connsiteY5" fmla="*/ 881349 h 1916966"/>
              <a:gd name="connsiteX6" fmla="*/ 2434728 w 2644048"/>
              <a:gd name="connsiteY6" fmla="*/ 859315 h 1916966"/>
              <a:gd name="connsiteX7" fmla="*/ 2467778 w 2644048"/>
              <a:gd name="connsiteY7" fmla="*/ 837282 h 1916966"/>
              <a:gd name="connsiteX8" fmla="*/ 2489812 w 2644048"/>
              <a:gd name="connsiteY8" fmla="*/ 804231 h 1916966"/>
              <a:gd name="connsiteX9" fmla="*/ 2522863 w 2644048"/>
              <a:gd name="connsiteY9" fmla="*/ 782197 h 1916966"/>
              <a:gd name="connsiteX10" fmla="*/ 2533880 w 2644048"/>
              <a:gd name="connsiteY10" fmla="*/ 749147 h 1916966"/>
              <a:gd name="connsiteX11" fmla="*/ 2566930 w 2644048"/>
              <a:gd name="connsiteY11" fmla="*/ 716096 h 1916966"/>
              <a:gd name="connsiteX12" fmla="*/ 2599981 w 2644048"/>
              <a:gd name="connsiteY12" fmla="*/ 649995 h 1916966"/>
              <a:gd name="connsiteX13" fmla="*/ 2633031 w 2644048"/>
              <a:gd name="connsiteY13" fmla="*/ 539826 h 1916966"/>
              <a:gd name="connsiteX14" fmla="*/ 2644048 w 2644048"/>
              <a:gd name="connsiteY14" fmla="*/ 451691 h 1916966"/>
              <a:gd name="connsiteX15" fmla="*/ 2633031 w 2644048"/>
              <a:gd name="connsiteY15" fmla="*/ 352540 h 1916966"/>
              <a:gd name="connsiteX16" fmla="*/ 2610998 w 2644048"/>
              <a:gd name="connsiteY16" fmla="*/ 253388 h 1916966"/>
              <a:gd name="connsiteX17" fmla="*/ 2588964 w 2644048"/>
              <a:gd name="connsiteY17" fmla="*/ 187287 h 1916966"/>
              <a:gd name="connsiteX18" fmla="*/ 2500829 w 2644048"/>
              <a:gd name="connsiteY18" fmla="*/ 88135 h 1916966"/>
              <a:gd name="connsiteX19" fmla="*/ 2467778 w 2644048"/>
              <a:gd name="connsiteY19" fmla="*/ 66101 h 1916966"/>
              <a:gd name="connsiteX20" fmla="*/ 2401677 w 2644048"/>
              <a:gd name="connsiteY20" fmla="*/ 44067 h 1916966"/>
              <a:gd name="connsiteX21" fmla="*/ 2335576 w 2644048"/>
              <a:gd name="connsiteY21" fmla="*/ 22034 h 1916966"/>
              <a:gd name="connsiteX22" fmla="*/ 2302525 w 2644048"/>
              <a:gd name="connsiteY22" fmla="*/ 11017 h 1916966"/>
              <a:gd name="connsiteX23" fmla="*/ 2236424 w 2644048"/>
              <a:gd name="connsiteY23" fmla="*/ 0 h 1916966"/>
              <a:gd name="connsiteX24" fmla="*/ 1938969 w 2644048"/>
              <a:gd name="connsiteY24" fmla="*/ 11017 h 1916966"/>
              <a:gd name="connsiteX25" fmla="*/ 1872867 w 2644048"/>
              <a:gd name="connsiteY25" fmla="*/ 22034 h 1916966"/>
              <a:gd name="connsiteX26" fmla="*/ 1795749 w 2644048"/>
              <a:gd name="connsiteY26" fmla="*/ 44067 h 1916966"/>
              <a:gd name="connsiteX27" fmla="*/ 1762699 w 2644048"/>
              <a:gd name="connsiteY27" fmla="*/ 66101 h 1916966"/>
              <a:gd name="connsiteX28" fmla="*/ 1718631 w 2644048"/>
              <a:gd name="connsiteY28" fmla="*/ 132202 h 1916966"/>
              <a:gd name="connsiteX29" fmla="*/ 1718631 w 2644048"/>
              <a:gd name="connsiteY29" fmla="*/ 286438 h 1916966"/>
              <a:gd name="connsiteX30" fmla="*/ 1729648 w 2644048"/>
              <a:gd name="connsiteY30" fmla="*/ 341523 h 1916966"/>
              <a:gd name="connsiteX31" fmla="*/ 1762699 w 2644048"/>
              <a:gd name="connsiteY31" fmla="*/ 451691 h 1916966"/>
              <a:gd name="connsiteX32" fmla="*/ 1795749 w 2644048"/>
              <a:gd name="connsiteY32" fmla="*/ 550843 h 1916966"/>
              <a:gd name="connsiteX33" fmla="*/ 1806766 w 2644048"/>
              <a:gd name="connsiteY33" fmla="*/ 583894 h 1916966"/>
              <a:gd name="connsiteX34" fmla="*/ 1817783 w 2644048"/>
              <a:gd name="connsiteY34" fmla="*/ 616944 h 1916966"/>
              <a:gd name="connsiteX35" fmla="*/ 1817783 w 2644048"/>
              <a:gd name="connsiteY35" fmla="*/ 771181 h 1916966"/>
              <a:gd name="connsiteX36" fmla="*/ 1751682 w 2644048"/>
              <a:gd name="connsiteY36" fmla="*/ 793214 h 1916966"/>
              <a:gd name="connsiteX37" fmla="*/ 1718631 w 2644048"/>
              <a:gd name="connsiteY37" fmla="*/ 804231 h 1916966"/>
              <a:gd name="connsiteX38" fmla="*/ 1685581 w 2644048"/>
              <a:gd name="connsiteY38" fmla="*/ 815248 h 1916966"/>
              <a:gd name="connsiteX39" fmla="*/ 1553378 w 2644048"/>
              <a:gd name="connsiteY39" fmla="*/ 837282 h 1916966"/>
              <a:gd name="connsiteX40" fmla="*/ 1355075 w 2644048"/>
              <a:gd name="connsiteY40" fmla="*/ 859315 h 1916966"/>
              <a:gd name="connsiteX41" fmla="*/ 969484 w 2644048"/>
              <a:gd name="connsiteY41" fmla="*/ 881349 h 1916966"/>
              <a:gd name="connsiteX42" fmla="*/ 881349 w 2644048"/>
              <a:gd name="connsiteY42" fmla="*/ 892366 h 1916966"/>
              <a:gd name="connsiteX43" fmla="*/ 705080 w 2644048"/>
              <a:gd name="connsiteY43" fmla="*/ 914400 h 1916966"/>
              <a:gd name="connsiteX44" fmla="*/ 649995 w 2644048"/>
              <a:gd name="connsiteY44" fmla="*/ 925417 h 1916966"/>
              <a:gd name="connsiteX45" fmla="*/ 583894 w 2644048"/>
              <a:gd name="connsiteY45" fmla="*/ 947450 h 1916966"/>
              <a:gd name="connsiteX46" fmla="*/ 539827 w 2644048"/>
              <a:gd name="connsiteY46" fmla="*/ 958467 h 1916966"/>
              <a:gd name="connsiteX47" fmla="*/ 363557 w 2644048"/>
              <a:gd name="connsiteY47" fmla="*/ 1057619 h 1916966"/>
              <a:gd name="connsiteX48" fmla="*/ 297455 w 2644048"/>
              <a:gd name="connsiteY48" fmla="*/ 1101687 h 1916966"/>
              <a:gd name="connsiteX49" fmla="*/ 231354 w 2644048"/>
              <a:gd name="connsiteY49" fmla="*/ 1167788 h 1916966"/>
              <a:gd name="connsiteX50" fmla="*/ 176270 w 2644048"/>
              <a:gd name="connsiteY50" fmla="*/ 1233889 h 1916966"/>
              <a:gd name="connsiteX51" fmla="*/ 143219 w 2644048"/>
              <a:gd name="connsiteY51" fmla="*/ 1266940 h 1916966"/>
              <a:gd name="connsiteX52" fmla="*/ 121186 w 2644048"/>
              <a:gd name="connsiteY52" fmla="*/ 1299990 h 1916966"/>
              <a:gd name="connsiteX53" fmla="*/ 55084 w 2644048"/>
              <a:gd name="connsiteY53" fmla="*/ 1454226 h 1916966"/>
              <a:gd name="connsiteX54" fmla="*/ 22034 w 2644048"/>
              <a:gd name="connsiteY54" fmla="*/ 1553378 h 1916966"/>
              <a:gd name="connsiteX55" fmla="*/ 11017 w 2644048"/>
              <a:gd name="connsiteY55" fmla="*/ 1586429 h 1916966"/>
              <a:gd name="connsiteX56" fmla="*/ 0 w 2644048"/>
              <a:gd name="connsiteY56" fmla="*/ 1652530 h 1916966"/>
              <a:gd name="connsiteX57" fmla="*/ 22034 w 2644048"/>
              <a:gd name="connsiteY57" fmla="*/ 1751682 h 1916966"/>
              <a:gd name="connsiteX58" fmla="*/ 55084 w 2644048"/>
              <a:gd name="connsiteY58" fmla="*/ 1773715 h 1916966"/>
              <a:gd name="connsiteX59" fmla="*/ 154236 w 2644048"/>
              <a:gd name="connsiteY59" fmla="*/ 1828800 h 1916966"/>
              <a:gd name="connsiteX60" fmla="*/ 253388 w 2644048"/>
              <a:gd name="connsiteY60" fmla="*/ 1861850 h 1916966"/>
              <a:gd name="connsiteX61" fmla="*/ 286439 w 2644048"/>
              <a:gd name="connsiteY61" fmla="*/ 1872867 h 1916966"/>
              <a:gd name="connsiteX62" fmla="*/ 352540 w 2644048"/>
              <a:gd name="connsiteY62" fmla="*/ 1883884 h 1916966"/>
              <a:gd name="connsiteX63" fmla="*/ 396607 w 2644048"/>
              <a:gd name="connsiteY63" fmla="*/ 1894901 h 1916966"/>
              <a:gd name="connsiteX64" fmla="*/ 561860 w 2644048"/>
              <a:gd name="connsiteY64" fmla="*/ 1916935 h 1916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644048" h="1916966">
                <a:moveTo>
                  <a:pt x="1839817" y="738130"/>
                </a:moveTo>
                <a:cubicBezTo>
                  <a:pt x="1861851" y="763836"/>
                  <a:pt x="1881978" y="791308"/>
                  <a:pt x="1905918" y="815248"/>
                </a:cubicBezTo>
                <a:cubicBezTo>
                  <a:pt x="1937490" y="846820"/>
                  <a:pt x="1936179" y="830379"/>
                  <a:pt x="1972019" y="848299"/>
                </a:cubicBezTo>
                <a:cubicBezTo>
                  <a:pt x="1983862" y="854220"/>
                  <a:pt x="1993227" y="864411"/>
                  <a:pt x="2005070" y="870332"/>
                </a:cubicBezTo>
                <a:cubicBezTo>
                  <a:pt x="2027655" y="881624"/>
                  <a:pt x="2072252" y="888175"/>
                  <a:pt x="2093205" y="892366"/>
                </a:cubicBezTo>
                <a:cubicBezTo>
                  <a:pt x="2185012" y="888694"/>
                  <a:pt x="2277174" y="890199"/>
                  <a:pt x="2368627" y="881349"/>
                </a:cubicBezTo>
                <a:cubicBezTo>
                  <a:pt x="2391745" y="879112"/>
                  <a:pt x="2415403" y="872198"/>
                  <a:pt x="2434728" y="859315"/>
                </a:cubicBezTo>
                <a:lnTo>
                  <a:pt x="2467778" y="837282"/>
                </a:lnTo>
                <a:cubicBezTo>
                  <a:pt x="2475123" y="826265"/>
                  <a:pt x="2480449" y="813594"/>
                  <a:pt x="2489812" y="804231"/>
                </a:cubicBezTo>
                <a:cubicBezTo>
                  <a:pt x="2499175" y="794868"/>
                  <a:pt x="2514591" y="792536"/>
                  <a:pt x="2522863" y="782197"/>
                </a:cubicBezTo>
                <a:cubicBezTo>
                  <a:pt x="2530117" y="773129"/>
                  <a:pt x="2527439" y="758809"/>
                  <a:pt x="2533880" y="749147"/>
                </a:cubicBezTo>
                <a:cubicBezTo>
                  <a:pt x="2542522" y="736183"/>
                  <a:pt x="2555913" y="727113"/>
                  <a:pt x="2566930" y="716096"/>
                </a:cubicBezTo>
                <a:cubicBezTo>
                  <a:pt x="2607113" y="595550"/>
                  <a:pt x="2543024" y="778149"/>
                  <a:pt x="2599981" y="649995"/>
                </a:cubicBezTo>
                <a:cubicBezTo>
                  <a:pt x="2607816" y="632365"/>
                  <a:pt x="2628758" y="565461"/>
                  <a:pt x="2633031" y="539826"/>
                </a:cubicBezTo>
                <a:cubicBezTo>
                  <a:pt x="2637898" y="510622"/>
                  <a:pt x="2640376" y="481069"/>
                  <a:pt x="2644048" y="451691"/>
                </a:cubicBezTo>
                <a:cubicBezTo>
                  <a:pt x="2640376" y="418641"/>
                  <a:pt x="2637734" y="385460"/>
                  <a:pt x="2633031" y="352540"/>
                </a:cubicBezTo>
                <a:cubicBezTo>
                  <a:pt x="2630173" y="332534"/>
                  <a:pt x="2617557" y="275252"/>
                  <a:pt x="2610998" y="253388"/>
                </a:cubicBezTo>
                <a:cubicBezTo>
                  <a:pt x="2604324" y="231142"/>
                  <a:pt x="2601847" y="206612"/>
                  <a:pt x="2588964" y="187287"/>
                </a:cubicBezTo>
                <a:cubicBezTo>
                  <a:pt x="2562472" y="147549"/>
                  <a:pt x="2546107" y="118320"/>
                  <a:pt x="2500829" y="88135"/>
                </a:cubicBezTo>
                <a:cubicBezTo>
                  <a:pt x="2489812" y="80790"/>
                  <a:pt x="2479878" y="71479"/>
                  <a:pt x="2467778" y="66101"/>
                </a:cubicBezTo>
                <a:cubicBezTo>
                  <a:pt x="2446554" y="56668"/>
                  <a:pt x="2423711" y="51412"/>
                  <a:pt x="2401677" y="44067"/>
                </a:cubicBezTo>
                <a:lnTo>
                  <a:pt x="2335576" y="22034"/>
                </a:lnTo>
                <a:cubicBezTo>
                  <a:pt x="2324559" y="18362"/>
                  <a:pt x="2313980" y="12926"/>
                  <a:pt x="2302525" y="11017"/>
                </a:cubicBezTo>
                <a:lnTo>
                  <a:pt x="2236424" y="0"/>
                </a:lnTo>
                <a:cubicBezTo>
                  <a:pt x="2137272" y="3672"/>
                  <a:pt x="2038007" y="5015"/>
                  <a:pt x="1938969" y="11017"/>
                </a:cubicBezTo>
                <a:cubicBezTo>
                  <a:pt x="1916672" y="12368"/>
                  <a:pt x="1894771" y="17653"/>
                  <a:pt x="1872867" y="22034"/>
                </a:cubicBezTo>
                <a:cubicBezTo>
                  <a:pt x="1838279" y="28951"/>
                  <a:pt x="1827253" y="33566"/>
                  <a:pt x="1795749" y="44067"/>
                </a:cubicBezTo>
                <a:cubicBezTo>
                  <a:pt x="1784732" y="51412"/>
                  <a:pt x="1771418" y="56136"/>
                  <a:pt x="1762699" y="66101"/>
                </a:cubicBezTo>
                <a:cubicBezTo>
                  <a:pt x="1745261" y="86030"/>
                  <a:pt x="1718631" y="132202"/>
                  <a:pt x="1718631" y="132202"/>
                </a:cubicBezTo>
                <a:cubicBezTo>
                  <a:pt x="1695730" y="200906"/>
                  <a:pt x="1703271" y="163562"/>
                  <a:pt x="1718631" y="286438"/>
                </a:cubicBezTo>
                <a:cubicBezTo>
                  <a:pt x="1720954" y="305019"/>
                  <a:pt x="1725586" y="323244"/>
                  <a:pt x="1729648" y="341523"/>
                </a:cubicBezTo>
                <a:cubicBezTo>
                  <a:pt x="1740748" y="391471"/>
                  <a:pt x="1744391" y="396767"/>
                  <a:pt x="1762699" y="451691"/>
                </a:cubicBezTo>
                <a:lnTo>
                  <a:pt x="1795749" y="550843"/>
                </a:lnTo>
                <a:lnTo>
                  <a:pt x="1806766" y="583894"/>
                </a:lnTo>
                <a:lnTo>
                  <a:pt x="1817783" y="616944"/>
                </a:lnTo>
                <a:cubicBezTo>
                  <a:pt x="1824465" y="657037"/>
                  <a:pt x="1843767" y="734061"/>
                  <a:pt x="1817783" y="771181"/>
                </a:cubicBezTo>
                <a:cubicBezTo>
                  <a:pt x="1804464" y="790208"/>
                  <a:pt x="1773716" y="785870"/>
                  <a:pt x="1751682" y="793214"/>
                </a:cubicBezTo>
                <a:lnTo>
                  <a:pt x="1718631" y="804231"/>
                </a:lnTo>
                <a:cubicBezTo>
                  <a:pt x="1707614" y="807903"/>
                  <a:pt x="1696968" y="812971"/>
                  <a:pt x="1685581" y="815248"/>
                </a:cubicBezTo>
                <a:cubicBezTo>
                  <a:pt x="1624744" y="827415"/>
                  <a:pt x="1621699" y="829084"/>
                  <a:pt x="1553378" y="837282"/>
                </a:cubicBezTo>
                <a:cubicBezTo>
                  <a:pt x="1487344" y="845206"/>
                  <a:pt x="1421474" y="855521"/>
                  <a:pt x="1355075" y="859315"/>
                </a:cubicBezTo>
                <a:lnTo>
                  <a:pt x="969484" y="881349"/>
                </a:lnTo>
                <a:lnTo>
                  <a:pt x="881349" y="892366"/>
                </a:lnTo>
                <a:cubicBezTo>
                  <a:pt x="764438" y="905356"/>
                  <a:pt x="798213" y="897467"/>
                  <a:pt x="705080" y="914400"/>
                </a:cubicBezTo>
                <a:cubicBezTo>
                  <a:pt x="686657" y="917750"/>
                  <a:pt x="668061" y="920490"/>
                  <a:pt x="649995" y="925417"/>
                </a:cubicBezTo>
                <a:cubicBezTo>
                  <a:pt x="627588" y="931528"/>
                  <a:pt x="606426" y="941817"/>
                  <a:pt x="583894" y="947450"/>
                </a:cubicBezTo>
                <a:cubicBezTo>
                  <a:pt x="569205" y="951122"/>
                  <a:pt x="553803" y="952643"/>
                  <a:pt x="539827" y="958467"/>
                </a:cubicBezTo>
                <a:cubicBezTo>
                  <a:pt x="508418" y="971554"/>
                  <a:pt x="387031" y="1034145"/>
                  <a:pt x="363557" y="1057619"/>
                </a:cubicBezTo>
                <a:cubicBezTo>
                  <a:pt x="322294" y="1098882"/>
                  <a:pt x="345287" y="1085743"/>
                  <a:pt x="297455" y="1101687"/>
                </a:cubicBezTo>
                <a:cubicBezTo>
                  <a:pt x="234122" y="1186131"/>
                  <a:pt x="295791" y="1114090"/>
                  <a:pt x="231354" y="1167788"/>
                </a:cubicBezTo>
                <a:cubicBezTo>
                  <a:pt x="178688" y="1211677"/>
                  <a:pt x="215661" y="1186620"/>
                  <a:pt x="176270" y="1233889"/>
                </a:cubicBezTo>
                <a:cubicBezTo>
                  <a:pt x="166296" y="1245858"/>
                  <a:pt x="153193" y="1254971"/>
                  <a:pt x="143219" y="1266940"/>
                </a:cubicBezTo>
                <a:cubicBezTo>
                  <a:pt x="134743" y="1277112"/>
                  <a:pt x="127526" y="1288366"/>
                  <a:pt x="121186" y="1299990"/>
                </a:cubicBezTo>
                <a:cubicBezTo>
                  <a:pt x="74510" y="1385562"/>
                  <a:pt x="82004" y="1373466"/>
                  <a:pt x="55084" y="1454226"/>
                </a:cubicBezTo>
                <a:lnTo>
                  <a:pt x="22034" y="1553378"/>
                </a:lnTo>
                <a:cubicBezTo>
                  <a:pt x="18362" y="1564395"/>
                  <a:pt x="12926" y="1574974"/>
                  <a:pt x="11017" y="1586429"/>
                </a:cubicBezTo>
                <a:lnTo>
                  <a:pt x="0" y="1652530"/>
                </a:lnTo>
                <a:cubicBezTo>
                  <a:pt x="113" y="1653207"/>
                  <a:pt x="10615" y="1737408"/>
                  <a:pt x="22034" y="1751682"/>
                </a:cubicBezTo>
                <a:cubicBezTo>
                  <a:pt x="30305" y="1762021"/>
                  <a:pt x="44912" y="1765239"/>
                  <a:pt x="55084" y="1773715"/>
                </a:cubicBezTo>
                <a:cubicBezTo>
                  <a:pt x="121050" y="1828686"/>
                  <a:pt x="48770" y="1793644"/>
                  <a:pt x="154236" y="1828800"/>
                </a:cubicBezTo>
                <a:lnTo>
                  <a:pt x="253388" y="1861850"/>
                </a:lnTo>
                <a:cubicBezTo>
                  <a:pt x="264405" y="1865522"/>
                  <a:pt x="274984" y="1870958"/>
                  <a:pt x="286439" y="1872867"/>
                </a:cubicBezTo>
                <a:cubicBezTo>
                  <a:pt x="308473" y="1876539"/>
                  <a:pt x="330636" y="1879503"/>
                  <a:pt x="352540" y="1883884"/>
                </a:cubicBezTo>
                <a:cubicBezTo>
                  <a:pt x="367387" y="1886853"/>
                  <a:pt x="381725" y="1892111"/>
                  <a:pt x="396607" y="1894901"/>
                </a:cubicBezTo>
                <a:cubicBezTo>
                  <a:pt x="523780" y="1918746"/>
                  <a:pt x="488055" y="1916935"/>
                  <a:pt x="561860" y="1916935"/>
                </a:cubicBezTo>
              </a:path>
            </a:pathLst>
          </a:custGeom>
          <a:noFill/>
          <a:ln w="38100">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asellaDiTesto 12">
            <a:extLst>
              <a:ext uri="{FF2B5EF4-FFF2-40B4-BE49-F238E27FC236}">
                <a16:creationId xmlns:a16="http://schemas.microsoft.com/office/drawing/2014/main" id="{274EA0E4-687D-4B49-847A-F2664D8F986F}"/>
              </a:ext>
            </a:extLst>
          </p:cNvPr>
          <p:cNvSpPr txBox="1"/>
          <p:nvPr/>
        </p:nvSpPr>
        <p:spPr>
          <a:xfrm>
            <a:off x="2901234" y="6397734"/>
            <a:ext cx="6581692" cy="369332"/>
          </a:xfrm>
          <a:prstGeom prst="rect">
            <a:avLst/>
          </a:prstGeom>
          <a:noFill/>
        </p:spPr>
        <p:txBody>
          <a:bodyPr wrap="square">
            <a:spAutoFit/>
          </a:bodyPr>
          <a:lstStyle/>
          <a:p>
            <a:r>
              <a:rPr lang="it-IT" b="0" i="0" dirty="0" err="1">
                <a:solidFill>
                  <a:srgbClr val="444444"/>
                </a:solidFill>
                <a:effectLst/>
              </a:rPr>
              <a:t>how</a:t>
            </a:r>
            <a:r>
              <a:rPr lang="it-IT" b="0" i="0" dirty="0">
                <a:solidFill>
                  <a:srgbClr val="444444"/>
                </a:solidFill>
                <a:effectLst/>
              </a:rPr>
              <a:t> </a:t>
            </a:r>
            <a:r>
              <a:rPr lang="it-IT" b="0" i="0" dirty="0" err="1">
                <a:solidFill>
                  <a:srgbClr val="444444"/>
                </a:solidFill>
                <a:effectLst/>
              </a:rPr>
              <a:t>much</a:t>
            </a:r>
            <a:r>
              <a:rPr lang="it-IT" b="0" i="0" dirty="0">
                <a:solidFill>
                  <a:srgbClr val="444444"/>
                </a:solidFill>
                <a:effectLst/>
              </a:rPr>
              <a:t> </a:t>
            </a:r>
            <a:r>
              <a:rPr lang="it-IT" b="0" i="0" dirty="0" err="1">
                <a:solidFill>
                  <a:srgbClr val="444444"/>
                </a:solidFill>
                <a:effectLst/>
              </a:rPr>
              <a:t>does</a:t>
            </a:r>
            <a:r>
              <a:rPr lang="it-IT" b="0" i="0" dirty="0">
                <a:solidFill>
                  <a:srgbClr val="444444"/>
                </a:solidFill>
                <a:effectLst/>
              </a:rPr>
              <a:t> the </a:t>
            </a:r>
            <a:r>
              <a:rPr lang="it-IT" b="0" i="0" dirty="0" err="1">
                <a:solidFill>
                  <a:srgbClr val="444444"/>
                </a:solidFill>
                <a:effectLst/>
              </a:rPr>
              <a:t>total</a:t>
            </a:r>
            <a:r>
              <a:rPr lang="it-IT" b="0" i="0" dirty="0">
                <a:solidFill>
                  <a:srgbClr val="444444"/>
                </a:solidFill>
                <a:effectLst/>
              </a:rPr>
              <a:t> </a:t>
            </a:r>
            <a:r>
              <a:rPr lang="it-IT" b="0" i="0" dirty="0" err="1">
                <a:solidFill>
                  <a:srgbClr val="444444"/>
                </a:solidFill>
                <a:effectLst/>
              </a:rPr>
              <a:t>error</a:t>
            </a:r>
            <a:r>
              <a:rPr lang="it-IT" b="0" i="0" dirty="0">
                <a:solidFill>
                  <a:srgbClr val="444444"/>
                </a:solidFill>
                <a:effectLst/>
              </a:rPr>
              <a:t> </a:t>
            </a:r>
            <a:r>
              <a:rPr lang="it-IT" b="0" i="0" dirty="0" err="1">
                <a:solidFill>
                  <a:srgbClr val="444444"/>
                </a:solidFill>
                <a:effectLst/>
              </a:rPr>
              <a:t>change</a:t>
            </a:r>
            <a:r>
              <a:rPr lang="it-IT" b="0" i="0" dirty="0">
                <a:solidFill>
                  <a:srgbClr val="444444"/>
                </a:solidFill>
                <a:effectLst/>
              </a:rPr>
              <a:t> with </a:t>
            </a:r>
            <a:r>
              <a:rPr lang="it-IT" b="0" i="0" dirty="0" err="1">
                <a:solidFill>
                  <a:srgbClr val="444444"/>
                </a:solidFill>
                <a:effectLst/>
              </a:rPr>
              <a:t>respect</a:t>
            </a:r>
            <a:r>
              <a:rPr lang="it-IT" b="0" i="0" dirty="0">
                <a:solidFill>
                  <a:srgbClr val="444444"/>
                </a:solidFill>
                <a:effectLst/>
              </a:rPr>
              <a:t> to the output?</a:t>
            </a:r>
            <a:endParaRPr lang="en-US" dirty="0"/>
          </a:p>
        </p:txBody>
      </p:sp>
      <p:pic>
        <p:nvPicPr>
          <p:cNvPr id="16" name="Immagine 15">
            <a:extLst>
              <a:ext uri="{FF2B5EF4-FFF2-40B4-BE49-F238E27FC236}">
                <a16:creationId xmlns:a16="http://schemas.microsoft.com/office/drawing/2014/main" id="{67A3CE0D-5B7F-4743-9359-A3686A5F4984}"/>
              </a:ext>
            </a:extLst>
          </p:cNvPr>
          <p:cNvPicPr>
            <a:picLocks noChangeAspect="1"/>
          </p:cNvPicPr>
          <p:nvPr/>
        </p:nvPicPr>
        <p:blipFill rotWithShape="1">
          <a:blip r:embed="rId9"/>
          <a:srcRect l="37508"/>
          <a:stretch/>
        </p:blipFill>
        <p:spPr>
          <a:xfrm>
            <a:off x="10891507" y="3454183"/>
            <a:ext cx="1300493" cy="462458"/>
          </a:xfrm>
          <a:prstGeom prst="rect">
            <a:avLst/>
          </a:prstGeom>
        </p:spPr>
      </p:pic>
      <p:pic>
        <p:nvPicPr>
          <p:cNvPr id="17" name="Immagine 16">
            <a:extLst>
              <a:ext uri="{FF2B5EF4-FFF2-40B4-BE49-F238E27FC236}">
                <a16:creationId xmlns:a16="http://schemas.microsoft.com/office/drawing/2014/main" id="{B6E1BCBA-9F98-764E-99DC-3552A04762CE}"/>
              </a:ext>
            </a:extLst>
          </p:cNvPr>
          <p:cNvPicPr>
            <a:picLocks noChangeAspect="1"/>
          </p:cNvPicPr>
          <p:nvPr/>
        </p:nvPicPr>
        <p:blipFill rotWithShape="1">
          <a:blip r:embed="rId10"/>
          <a:srcRect l="47719" t="70430" r="35447" b="7602"/>
          <a:stretch/>
        </p:blipFill>
        <p:spPr>
          <a:xfrm>
            <a:off x="11008726" y="1930920"/>
            <a:ext cx="1045029" cy="347967"/>
          </a:xfrm>
          <a:prstGeom prst="rect">
            <a:avLst/>
          </a:prstGeom>
        </p:spPr>
      </p:pic>
    </p:spTree>
    <p:extLst>
      <p:ext uri="{BB962C8B-B14F-4D97-AF65-F5344CB8AC3E}">
        <p14:creationId xmlns:p14="http://schemas.microsoft.com/office/powerpoint/2010/main" val="415129769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alphaModFix amt="35000"/>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9471725" y="2039272"/>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8" name="Immagine 7">
            <a:extLst>
              <a:ext uri="{FF2B5EF4-FFF2-40B4-BE49-F238E27FC236}">
                <a16:creationId xmlns:a16="http://schemas.microsoft.com/office/drawing/2014/main" id="{06B63281-F2B6-AA4A-BC41-4E3B384B097E}"/>
              </a:ext>
            </a:extLst>
          </p:cNvPr>
          <p:cNvPicPr>
            <a:picLocks noChangeAspect="1"/>
          </p:cNvPicPr>
          <p:nvPr/>
        </p:nvPicPr>
        <p:blipFill>
          <a:blip r:embed="rId5"/>
          <a:stretch>
            <a:fillRect/>
          </a:stretch>
        </p:blipFill>
        <p:spPr>
          <a:xfrm>
            <a:off x="1105683" y="2039272"/>
            <a:ext cx="3568700" cy="444500"/>
          </a:xfrm>
          <a:prstGeom prst="rect">
            <a:avLst/>
          </a:prstGeom>
        </p:spPr>
      </p:pic>
      <p:sp>
        <p:nvSpPr>
          <p:cNvPr id="13" name="CasellaDiTesto 12">
            <a:extLst>
              <a:ext uri="{FF2B5EF4-FFF2-40B4-BE49-F238E27FC236}">
                <a16:creationId xmlns:a16="http://schemas.microsoft.com/office/drawing/2014/main" id="{14AA1055-CD77-9D47-9D47-66E2E9C8638C}"/>
              </a:ext>
            </a:extLst>
          </p:cNvPr>
          <p:cNvSpPr txBox="1"/>
          <p:nvPr/>
        </p:nvSpPr>
        <p:spPr>
          <a:xfrm>
            <a:off x="2901234" y="6397734"/>
            <a:ext cx="7046998" cy="369332"/>
          </a:xfrm>
          <a:prstGeom prst="rect">
            <a:avLst/>
          </a:prstGeom>
          <a:noFill/>
        </p:spPr>
        <p:txBody>
          <a:bodyPr wrap="square">
            <a:spAutoFit/>
          </a:bodyPr>
          <a:lstStyle/>
          <a:p>
            <a:r>
              <a:rPr lang="it-IT" b="0" i="0" dirty="0" err="1">
                <a:solidFill>
                  <a:srgbClr val="444444"/>
                </a:solidFill>
                <a:effectLst/>
              </a:rPr>
              <a:t>how</a:t>
            </a:r>
            <a:r>
              <a:rPr lang="it-IT" b="0" i="0" dirty="0">
                <a:solidFill>
                  <a:srgbClr val="444444"/>
                </a:solidFill>
                <a:effectLst/>
              </a:rPr>
              <a:t> </a:t>
            </a:r>
            <a:r>
              <a:rPr lang="it-IT" b="0" i="0" dirty="0" err="1">
                <a:solidFill>
                  <a:srgbClr val="444444"/>
                </a:solidFill>
                <a:effectLst/>
              </a:rPr>
              <a:t>much</a:t>
            </a:r>
            <a:r>
              <a:rPr lang="it-IT" b="0" i="0" dirty="0">
                <a:solidFill>
                  <a:srgbClr val="444444"/>
                </a:solidFill>
                <a:effectLst/>
              </a:rPr>
              <a:t> </a:t>
            </a:r>
            <a:r>
              <a:rPr lang="it-IT" b="0" i="0" dirty="0" err="1">
                <a:solidFill>
                  <a:srgbClr val="444444"/>
                </a:solidFill>
                <a:effectLst/>
              </a:rPr>
              <a:t>does</a:t>
            </a:r>
            <a:r>
              <a:rPr lang="it-IT" b="0" i="0" dirty="0">
                <a:solidFill>
                  <a:srgbClr val="444444"/>
                </a:solidFill>
                <a:effectLst/>
              </a:rPr>
              <a:t> the output o1 </a:t>
            </a:r>
            <a:r>
              <a:rPr lang="it-IT" b="0" i="0" dirty="0" err="1">
                <a:solidFill>
                  <a:srgbClr val="444444"/>
                </a:solidFill>
                <a:effectLst/>
              </a:rPr>
              <a:t>change</a:t>
            </a:r>
            <a:r>
              <a:rPr lang="it-IT" b="0" i="0" dirty="0">
                <a:solidFill>
                  <a:srgbClr val="444444"/>
                </a:solidFill>
                <a:effectLst/>
              </a:rPr>
              <a:t> with </a:t>
            </a:r>
            <a:r>
              <a:rPr lang="it-IT" b="0" i="0" dirty="0" err="1">
                <a:solidFill>
                  <a:srgbClr val="444444"/>
                </a:solidFill>
                <a:effectLst/>
              </a:rPr>
              <a:t>respect</a:t>
            </a:r>
            <a:r>
              <a:rPr lang="it-IT" b="0" i="0" dirty="0">
                <a:solidFill>
                  <a:srgbClr val="444444"/>
                </a:solidFill>
                <a:effectLst/>
              </a:rPr>
              <a:t> to </a:t>
            </a:r>
            <a:r>
              <a:rPr lang="it-IT" b="0" i="0" dirty="0" err="1">
                <a:solidFill>
                  <a:srgbClr val="444444"/>
                </a:solidFill>
                <a:effectLst/>
              </a:rPr>
              <a:t>its</a:t>
            </a:r>
            <a:r>
              <a:rPr lang="it-IT" b="0" i="0" dirty="0">
                <a:solidFill>
                  <a:srgbClr val="444444"/>
                </a:solidFill>
                <a:effectLst/>
              </a:rPr>
              <a:t> </a:t>
            </a:r>
            <a:r>
              <a:rPr lang="it-IT" b="0" i="0" dirty="0" err="1">
                <a:solidFill>
                  <a:srgbClr val="444444"/>
                </a:solidFill>
                <a:effectLst/>
              </a:rPr>
              <a:t>total</a:t>
            </a:r>
            <a:r>
              <a:rPr lang="it-IT" b="0" i="0" dirty="0">
                <a:solidFill>
                  <a:srgbClr val="444444"/>
                </a:solidFill>
                <a:effectLst/>
              </a:rPr>
              <a:t> net input?</a:t>
            </a:r>
            <a:endParaRPr lang="en-US" dirty="0"/>
          </a:p>
        </p:txBody>
      </p:sp>
      <p:pic>
        <p:nvPicPr>
          <p:cNvPr id="16" name="Immagine 15">
            <a:extLst>
              <a:ext uri="{FF2B5EF4-FFF2-40B4-BE49-F238E27FC236}">
                <a16:creationId xmlns:a16="http://schemas.microsoft.com/office/drawing/2014/main" id="{2E015F0F-4FE7-314F-A26F-B91075662DB3}"/>
              </a:ext>
            </a:extLst>
          </p:cNvPr>
          <p:cNvPicPr>
            <a:picLocks noChangeAspect="1"/>
          </p:cNvPicPr>
          <p:nvPr/>
        </p:nvPicPr>
        <p:blipFill rotWithShape="1">
          <a:blip r:embed="rId6"/>
          <a:srcRect l="37508"/>
          <a:stretch/>
        </p:blipFill>
        <p:spPr>
          <a:xfrm>
            <a:off x="10891507" y="3454183"/>
            <a:ext cx="1300493" cy="462458"/>
          </a:xfrm>
          <a:prstGeom prst="rect">
            <a:avLst/>
          </a:prstGeom>
        </p:spPr>
      </p:pic>
      <p:pic>
        <p:nvPicPr>
          <p:cNvPr id="17" name="Immagine 16">
            <a:extLst>
              <a:ext uri="{FF2B5EF4-FFF2-40B4-BE49-F238E27FC236}">
                <a16:creationId xmlns:a16="http://schemas.microsoft.com/office/drawing/2014/main" id="{F1D6CF3D-10CA-0D4B-9E66-6C569BB54130}"/>
              </a:ext>
            </a:extLst>
          </p:cNvPr>
          <p:cNvPicPr>
            <a:picLocks noChangeAspect="1"/>
          </p:cNvPicPr>
          <p:nvPr/>
        </p:nvPicPr>
        <p:blipFill rotWithShape="1">
          <a:blip r:embed="rId7"/>
          <a:srcRect l="47719" t="70430" r="35447" b="7602"/>
          <a:stretch/>
        </p:blipFill>
        <p:spPr>
          <a:xfrm>
            <a:off x="11008726" y="1930920"/>
            <a:ext cx="1045029" cy="347967"/>
          </a:xfrm>
          <a:prstGeom prst="rect">
            <a:avLst/>
          </a:prstGeom>
        </p:spPr>
      </p:pic>
    </p:spTree>
    <p:extLst>
      <p:ext uri="{BB962C8B-B14F-4D97-AF65-F5344CB8AC3E}">
        <p14:creationId xmlns:p14="http://schemas.microsoft.com/office/powerpoint/2010/main" val="161660028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alphaModFix amt="35000"/>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9471725" y="2039272"/>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8" name="Immagine 7">
            <a:extLst>
              <a:ext uri="{FF2B5EF4-FFF2-40B4-BE49-F238E27FC236}">
                <a16:creationId xmlns:a16="http://schemas.microsoft.com/office/drawing/2014/main" id="{06B63281-F2B6-AA4A-BC41-4E3B384B097E}"/>
              </a:ext>
            </a:extLst>
          </p:cNvPr>
          <p:cNvPicPr>
            <a:picLocks noChangeAspect="1"/>
          </p:cNvPicPr>
          <p:nvPr/>
        </p:nvPicPr>
        <p:blipFill>
          <a:blip r:embed="rId5"/>
          <a:stretch>
            <a:fillRect/>
          </a:stretch>
        </p:blipFill>
        <p:spPr>
          <a:xfrm>
            <a:off x="1105683" y="2039272"/>
            <a:ext cx="3568700" cy="444500"/>
          </a:xfrm>
          <a:prstGeom prst="rect">
            <a:avLst/>
          </a:prstGeom>
        </p:spPr>
      </p:pic>
      <p:sp>
        <p:nvSpPr>
          <p:cNvPr id="13" name="CasellaDiTesto 12">
            <a:extLst>
              <a:ext uri="{FF2B5EF4-FFF2-40B4-BE49-F238E27FC236}">
                <a16:creationId xmlns:a16="http://schemas.microsoft.com/office/drawing/2014/main" id="{14AA1055-CD77-9D47-9D47-66E2E9C8638C}"/>
              </a:ext>
            </a:extLst>
          </p:cNvPr>
          <p:cNvSpPr txBox="1"/>
          <p:nvPr/>
        </p:nvSpPr>
        <p:spPr>
          <a:xfrm>
            <a:off x="2901234" y="6397734"/>
            <a:ext cx="7046998" cy="369332"/>
          </a:xfrm>
          <a:prstGeom prst="rect">
            <a:avLst/>
          </a:prstGeom>
          <a:noFill/>
        </p:spPr>
        <p:txBody>
          <a:bodyPr wrap="square">
            <a:spAutoFit/>
          </a:bodyPr>
          <a:lstStyle/>
          <a:p>
            <a:r>
              <a:rPr lang="it-IT" b="0" i="0" dirty="0" err="1">
                <a:solidFill>
                  <a:srgbClr val="444444"/>
                </a:solidFill>
                <a:effectLst/>
              </a:rPr>
              <a:t>how</a:t>
            </a:r>
            <a:r>
              <a:rPr lang="it-IT" b="0" i="0" dirty="0">
                <a:solidFill>
                  <a:srgbClr val="444444"/>
                </a:solidFill>
                <a:effectLst/>
              </a:rPr>
              <a:t> </a:t>
            </a:r>
            <a:r>
              <a:rPr lang="it-IT" b="0" i="0" dirty="0" err="1">
                <a:solidFill>
                  <a:srgbClr val="444444"/>
                </a:solidFill>
                <a:effectLst/>
              </a:rPr>
              <a:t>much</a:t>
            </a:r>
            <a:r>
              <a:rPr lang="it-IT" b="0" i="0" dirty="0">
                <a:solidFill>
                  <a:srgbClr val="444444"/>
                </a:solidFill>
                <a:effectLst/>
              </a:rPr>
              <a:t> </a:t>
            </a:r>
            <a:r>
              <a:rPr lang="it-IT" b="0" i="0" dirty="0" err="1">
                <a:solidFill>
                  <a:srgbClr val="444444"/>
                </a:solidFill>
                <a:effectLst/>
              </a:rPr>
              <a:t>does</a:t>
            </a:r>
            <a:r>
              <a:rPr lang="it-IT" b="0" i="0" dirty="0">
                <a:solidFill>
                  <a:srgbClr val="444444"/>
                </a:solidFill>
                <a:effectLst/>
              </a:rPr>
              <a:t> the output o1 </a:t>
            </a:r>
            <a:r>
              <a:rPr lang="it-IT" b="0" i="0" dirty="0" err="1">
                <a:solidFill>
                  <a:srgbClr val="444444"/>
                </a:solidFill>
                <a:effectLst/>
              </a:rPr>
              <a:t>change</a:t>
            </a:r>
            <a:r>
              <a:rPr lang="it-IT" b="0" i="0" dirty="0">
                <a:solidFill>
                  <a:srgbClr val="444444"/>
                </a:solidFill>
                <a:effectLst/>
              </a:rPr>
              <a:t> with </a:t>
            </a:r>
            <a:r>
              <a:rPr lang="it-IT" b="0" i="0" dirty="0" err="1">
                <a:solidFill>
                  <a:srgbClr val="444444"/>
                </a:solidFill>
                <a:effectLst/>
              </a:rPr>
              <a:t>respect</a:t>
            </a:r>
            <a:r>
              <a:rPr lang="it-IT" b="0" i="0" dirty="0">
                <a:solidFill>
                  <a:srgbClr val="444444"/>
                </a:solidFill>
                <a:effectLst/>
              </a:rPr>
              <a:t> to </a:t>
            </a:r>
            <a:r>
              <a:rPr lang="it-IT" b="0" i="0" dirty="0" err="1">
                <a:solidFill>
                  <a:srgbClr val="444444"/>
                </a:solidFill>
                <a:effectLst/>
              </a:rPr>
              <a:t>its</a:t>
            </a:r>
            <a:r>
              <a:rPr lang="it-IT" b="0" i="0" dirty="0">
                <a:solidFill>
                  <a:srgbClr val="444444"/>
                </a:solidFill>
                <a:effectLst/>
              </a:rPr>
              <a:t> </a:t>
            </a:r>
            <a:r>
              <a:rPr lang="it-IT" b="0" i="0" dirty="0" err="1">
                <a:solidFill>
                  <a:srgbClr val="444444"/>
                </a:solidFill>
                <a:effectLst/>
              </a:rPr>
              <a:t>total</a:t>
            </a:r>
            <a:r>
              <a:rPr lang="it-IT" b="0" i="0" dirty="0">
                <a:solidFill>
                  <a:srgbClr val="444444"/>
                </a:solidFill>
                <a:effectLst/>
              </a:rPr>
              <a:t> net input?</a:t>
            </a:r>
            <a:endParaRPr lang="en-US" dirty="0"/>
          </a:p>
        </p:txBody>
      </p:sp>
      <p:pic>
        <p:nvPicPr>
          <p:cNvPr id="9" name="Immagine 8">
            <a:extLst>
              <a:ext uri="{FF2B5EF4-FFF2-40B4-BE49-F238E27FC236}">
                <a16:creationId xmlns:a16="http://schemas.microsoft.com/office/drawing/2014/main" id="{1E9E00B4-2858-F841-8BF7-B046A69928A5}"/>
              </a:ext>
            </a:extLst>
          </p:cNvPr>
          <p:cNvPicPr>
            <a:picLocks noChangeAspect="1"/>
          </p:cNvPicPr>
          <p:nvPr/>
        </p:nvPicPr>
        <p:blipFill>
          <a:blip r:embed="rId6"/>
          <a:stretch>
            <a:fillRect/>
          </a:stretch>
        </p:blipFill>
        <p:spPr>
          <a:xfrm>
            <a:off x="1105683" y="2845722"/>
            <a:ext cx="2086726" cy="369332"/>
          </a:xfrm>
          <a:prstGeom prst="rect">
            <a:avLst/>
          </a:prstGeom>
        </p:spPr>
      </p:pic>
      <p:pic>
        <p:nvPicPr>
          <p:cNvPr id="11" name="Immagine 10">
            <a:extLst>
              <a:ext uri="{FF2B5EF4-FFF2-40B4-BE49-F238E27FC236}">
                <a16:creationId xmlns:a16="http://schemas.microsoft.com/office/drawing/2014/main" id="{E7F9B273-856D-594C-A9F3-696E9451C633}"/>
              </a:ext>
            </a:extLst>
          </p:cNvPr>
          <p:cNvPicPr>
            <a:picLocks noChangeAspect="1"/>
          </p:cNvPicPr>
          <p:nvPr/>
        </p:nvPicPr>
        <p:blipFill rotWithShape="1">
          <a:blip r:embed="rId7"/>
          <a:srcRect l="37508"/>
          <a:stretch/>
        </p:blipFill>
        <p:spPr>
          <a:xfrm>
            <a:off x="10891507" y="3454183"/>
            <a:ext cx="1300493" cy="462458"/>
          </a:xfrm>
          <a:prstGeom prst="rect">
            <a:avLst/>
          </a:prstGeom>
        </p:spPr>
      </p:pic>
      <p:pic>
        <p:nvPicPr>
          <p:cNvPr id="12" name="Immagine 11">
            <a:extLst>
              <a:ext uri="{FF2B5EF4-FFF2-40B4-BE49-F238E27FC236}">
                <a16:creationId xmlns:a16="http://schemas.microsoft.com/office/drawing/2014/main" id="{B506A610-1986-F140-9204-42137AAB066B}"/>
              </a:ext>
            </a:extLst>
          </p:cNvPr>
          <p:cNvPicPr>
            <a:picLocks noChangeAspect="1"/>
          </p:cNvPicPr>
          <p:nvPr/>
        </p:nvPicPr>
        <p:blipFill rotWithShape="1">
          <a:blip r:embed="rId8"/>
          <a:srcRect l="47719" t="70430" r="35447" b="7602"/>
          <a:stretch/>
        </p:blipFill>
        <p:spPr>
          <a:xfrm>
            <a:off x="11008726" y="1930920"/>
            <a:ext cx="1045029" cy="347967"/>
          </a:xfrm>
          <a:prstGeom prst="rect">
            <a:avLst/>
          </a:prstGeom>
        </p:spPr>
      </p:pic>
    </p:spTree>
    <p:extLst>
      <p:ext uri="{BB962C8B-B14F-4D97-AF65-F5344CB8AC3E}">
        <p14:creationId xmlns:p14="http://schemas.microsoft.com/office/powerpoint/2010/main" val="83403731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alphaModFix amt="35000"/>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9471725" y="2039272"/>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8" name="Immagine 7">
            <a:extLst>
              <a:ext uri="{FF2B5EF4-FFF2-40B4-BE49-F238E27FC236}">
                <a16:creationId xmlns:a16="http://schemas.microsoft.com/office/drawing/2014/main" id="{06B63281-F2B6-AA4A-BC41-4E3B384B097E}"/>
              </a:ext>
            </a:extLst>
          </p:cNvPr>
          <p:cNvPicPr>
            <a:picLocks noChangeAspect="1"/>
          </p:cNvPicPr>
          <p:nvPr/>
        </p:nvPicPr>
        <p:blipFill>
          <a:blip r:embed="rId5"/>
          <a:stretch>
            <a:fillRect/>
          </a:stretch>
        </p:blipFill>
        <p:spPr>
          <a:xfrm>
            <a:off x="1105683" y="2039272"/>
            <a:ext cx="3568700" cy="444500"/>
          </a:xfrm>
          <a:prstGeom prst="rect">
            <a:avLst/>
          </a:prstGeom>
        </p:spPr>
      </p:pic>
      <p:sp>
        <p:nvSpPr>
          <p:cNvPr id="13" name="CasellaDiTesto 12">
            <a:extLst>
              <a:ext uri="{FF2B5EF4-FFF2-40B4-BE49-F238E27FC236}">
                <a16:creationId xmlns:a16="http://schemas.microsoft.com/office/drawing/2014/main" id="{14AA1055-CD77-9D47-9D47-66E2E9C8638C}"/>
              </a:ext>
            </a:extLst>
          </p:cNvPr>
          <p:cNvSpPr txBox="1"/>
          <p:nvPr/>
        </p:nvSpPr>
        <p:spPr>
          <a:xfrm>
            <a:off x="2901234" y="6397734"/>
            <a:ext cx="7046998" cy="369332"/>
          </a:xfrm>
          <a:prstGeom prst="rect">
            <a:avLst/>
          </a:prstGeom>
          <a:noFill/>
        </p:spPr>
        <p:txBody>
          <a:bodyPr wrap="square">
            <a:spAutoFit/>
          </a:bodyPr>
          <a:lstStyle/>
          <a:p>
            <a:r>
              <a:rPr lang="it-IT" b="0" i="0" dirty="0" err="1">
                <a:solidFill>
                  <a:srgbClr val="444444"/>
                </a:solidFill>
                <a:effectLst/>
              </a:rPr>
              <a:t>how</a:t>
            </a:r>
            <a:r>
              <a:rPr lang="it-IT" b="0" i="0" dirty="0">
                <a:solidFill>
                  <a:srgbClr val="444444"/>
                </a:solidFill>
                <a:effectLst/>
              </a:rPr>
              <a:t> </a:t>
            </a:r>
            <a:r>
              <a:rPr lang="it-IT" b="0" i="0" dirty="0" err="1">
                <a:solidFill>
                  <a:srgbClr val="444444"/>
                </a:solidFill>
                <a:effectLst/>
              </a:rPr>
              <a:t>much</a:t>
            </a:r>
            <a:r>
              <a:rPr lang="it-IT" b="0" i="0" dirty="0">
                <a:solidFill>
                  <a:srgbClr val="444444"/>
                </a:solidFill>
                <a:effectLst/>
              </a:rPr>
              <a:t> </a:t>
            </a:r>
            <a:r>
              <a:rPr lang="it-IT" b="0" i="0" dirty="0" err="1">
                <a:solidFill>
                  <a:srgbClr val="444444"/>
                </a:solidFill>
                <a:effectLst/>
              </a:rPr>
              <a:t>does</a:t>
            </a:r>
            <a:r>
              <a:rPr lang="it-IT" b="0" i="0" dirty="0">
                <a:solidFill>
                  <a:srgbClr val="444444"/>
                </a:solidFill>
                <a:effectLst/>
              </a:rPr>
              <a:t> the output o1 </a:t>
            </a:r>
            <a:r>
              <a:rPr lang="it-IT" b="0" i="0" dirty="0" err="1">
                <a:solidFill>
                  <a:srgbClr val="444444"/>
                </a:solidFill>
                <a:effectLst/>
              </a:rPr>
              <a:t>change</a:t>
            </a:r>
            <a:r>
              <a:rPr lang="it-IT" b="0" i="0" dirty="0">
                <a:solidFill>
                  <a:srgbClr val="444444"/>
                </a:solidFill>
                <a:effectLst/>
              </a:rPr>
              <a:t> with </a:t>
            </a:r>
            <a:r>
              <a:rPr lang="it-IT" b="0" i="0" dirty="0" err="1">
                <a:solidFill>
                  <a:srgbClr val="444444"/>
                </a:solidFill>
                <a:effectLst/>
              </a:rPr>
              <a:t>respect</a:t>
            </a:r>
            <a:r>
              <a:rPr lang="it-IT" b="0" i="0" dirty="0">
                <a:solidFill>
                  <a:srgbClr val="444444"/>
                </a:solidFill>
                <a:effectLst/>
              </a:rPr>
              <a:t> to </a:t>
            </a:r>
            <a:r>
              <a:rPr lang="it-IT" b="0" i="0" dirty="0" err="1">
                <a:solidFill>
                  <a:srgbClr val="444444"/>
                </a:solidFill>
                <a:effectLst/>
              </a:rPr>
              <a:t>its</a:t>
            </a:r>
            <a:r>
              <a:rPr lang="it-IT" b="0" i="0" dirty="0">
                <a:solidFill>
                  <a:srgbClr val="444444"/>
                </a:solidFill>
                <a:effectLst/>
              </a:rPr>
              <a:t> </a:t>
            </a:r>
            <a:r>
              <a:rPr lang="it-IT" b="0" i="0" dirty="0" err="1">
                <a:solidFill>
                  <a:srgbClr val="444444"/>
                </a:solidFill>
                <a:effectLst/>
              </a:rPr>
              <a:t>total</a:t>
            </a:r>
            <a:r>
              <a:rPr lang="it-IT" b="0" i="0" dirty="0">
                <a:solidFill>
                  <a:srgbClr val="444444"/>
                </a:solidFill>
                <a:effectLst/>
              </a:rPr>
              <a:t> net input?</a:t>
            </a:r>
            <a:endParaRPr lang="en-US" dirty="0"/>
          </a:p>
        </p:txBody>
      </p:sp>
      <p:pic>
        <p:nvPicPr>
          <p:cNvPr id="9" name="Immagine 8">
            <a:extLst>
              <a:ext uri="{FF2B5EF4-FFF2-40B4-BE49-F238E27FC236}">
                <a16:creationId xmlns:a16="http://schemas.microsoft.com/office/drawing/2014/main" id="{1E9E00B4-2858-F841-8BF7-B046A69928A5}"/>
              </a:ext>
            </a:extLst>
          </p:cNvPr>
          <p:cNvPicPr>
            <a:picLocks noChangeAspect="1"/>
          </p:cNvPicPr>
          <p:nvPr/>
        </p:nvPicPr>
        <p:blipFill>
          <a:blip r:embed="rId6"/>
          <a:stretch>
            <a:fillRect/>
          </a:stretch>
        </p:blipFill>
        <p:spPr>
          <a:xfrm>
            <a:off x="1105683" y="2845722"/>
            <a:ext cx="2086726" cy="369332"/>
          </a:xfrm>
          <a:prstGeom prst="rect">
            <a:avLst/>
          </a:prstGeom>
        </p:spPr>
      </p:pic>
      <p:pic>
        <p:nvPicPr>
          <p:cNvPr id="10" name="Immagine 9">
            <a:extLst>
              <a:ext uri="{FF2B5EF4-FFF2-40B4-BE49-F238E27FC236}">
                <a16:creationId xmlns:a16="http://schemas.microsoft.com/office/drawing/2014/main" id="{CA5F5E5F-A339-6F46-A3F3-D3FF470494E6}"/>
              </a:ext>
            </a:extLst>
          </p:cNvPr>
          <p:cNvPicPr>
            <a:picLocks noChangeAspect="1"/>
          </p:cNvPicPr>
          <p:nvPr/>
        </p:nvPicPr>
        <p:blipFill>
          <a:blip r:embed="rId7"/>
          <a:stretch>
            <a:fillRect/>
          </a:stretch>
        </p:blipFill>
        <p:spPr>
          <a:xfrm>
            <a:off x="1105683" y="3669635"/>
            <a:ext cx="8293182" cy="369332"/>
          </a:xfrm>
          <a:prstGeom prst="rect">
            <a:avLst/>
          </a:prstGeom>
        </p:spPr>
      </p:pic>
      <p:pic>
        <p:nvPicPr>
          <p:cNvPr id="12" name="Immagine 11">
            <a:extLst>
              <a:ext uri="{FF2B5EF4-FFF2-40B4-BE49-F238E27FC236}">
                <a16:creationId xmlns:a16="http://schemas.microsoft.com/office/drawing/2014/main" id="{E8A84895-A388-C049-B6D5-399B6F267820}"/>
              </a:ext>
            </a:extLst>
          </p:cNvPr>
          <p:cNvPicPr>
            <a:picLocks noChangeAspect="1"/>
          </p:cNvPicPr>
          <p:nvPr/>
        </p:nvPicPr>
        <p:blipFill rotWithShape="1">
          <a:blip r:embed="rId8"/>
          <a:srcRect l="37508"/>
          <a:stretch/>
        </p:blipFill>
        <p:spPr>
          <a:xfrm>
            <a:off x="10891507" y="3454183"/>
            <a:ext cx="1300493" cy="462458"/>
          </a:xfrm>
          <a:prstGeom prst="rect">
            <a:avLst/>
          </a:prstGeom>
        </p:spPr>
      </p:pic>
      <p:pic>
        <p:nvPicPr>
          <p:cNvPr id="14" name="Immagine 13">
            <a:extLst>
              <a:ext uri="{FF2B5EF4-FFF2-40B4-BE49-F238E27FC236}">
                <a16:creationId xmlns:a16="http://schemas.microsoft.com/office/drawing/2014/main" id="{6A2CCF90-1FA1-7D45-AF73-52E17EA4FB34}"/>
              </a:ext>
            </a:extLst>
          </p:cNvPr>
          <p:cNvPicPr>
            <a:picLocks noChangeAspect="1"/>
          </p:cNvPicPr>
          <p:nvPr/>
        </p:nvPicPr>
        <p:blipFill rotWithShape="1">
          <a:blip r:embed="rId9"/>
          <a:srcRect l="47719" t="70430" r="35447" b="7602"/>
          <a:stretch/>
        </p:blipFill>
        <p:spPr>
          <a:xfrm>
            <a:off x="11008726" y="1930920"/>
            <a:ext cx="1045029" cy="347967"/>
          </a:xfrm>
          <a:prstGeom prst="rect">
            <a:avLst/>
          </a:prstGeom>
        </p:spPr>
      </p:pic>
      <p:sp>
        <p:nvSpPr>
          <p:cNvPr id="11" name="Figura a mano libera 10">
            <a:extLst>
              <a:ext uri="{FF2B5EF4-FFF2-40B4-BE49-F238E27FC236}">
                <a16:creationId xmlns:a16="http://schemas.microsoft.com/office/drawing/2014/main" id="{005C6078-77B3-E148-A06E-CDA3025D2D5C}"/>
              </a:ext>
            </a:extLst>
          </p:cNvPr>
          <p:cNvSpPr/>
          <p:nvPr/>
        </p:nvSpPr>
        <p:spPr>
          <a:xfrm>
            <a:off x="588579" y="1902372"/>
            <a:ext cx="3279228" cy="1797269"/>
          </a:xfrm>
          <a:custGeom>
            <a:avLst/>
            <a:gdLst>
              <a:gd name="connsiteX0" fmla="*/ 2501462 w 3279228"/>
              <a:gd name="connsiteY0" fmla="*/ 557049 h 1797269"/>
              <a:gd name="connsiteX1" fmla="*/ 2522483 w 3279228"/>
              <a:gd name="connsiteY1" fmla="*/ 630621 h 1797269"/>
              <a:gd name="connsiteX2" fmla="*/ 2606566 w 3279228"/>
              <a:gd name="connsiteY2" fmla="*/ 704194 h 1797269"/>
              <a:gd name="connsiteX3" fmla="*/ 2669628 w 3279228"/>
              <a:gd name="connsiteY3" fmla="*/ 725214 h 1797269"/>
              <a:gd name="connsiteX4" fmla="*/ 2701159 w 3279228"/>
              <a:gd name="connsiteY4" fmla="*/ 746235 h 1797269"/>
              <a:gd name="connsiteX5" fmla="*/ 2806262 w 3279228"/>
              <a:gd name="connsiteY5" fmla="*/ 777766 h 1797269"/>
              <a:gd name="connsiteX6" fmla="*/ 3048000 w 3279228"/>
              <a:gd name="connsiteY6" fmla="*/ 767256 h 1797269"/>
              <a:gd name="connsiteX7" fmla="*/ 3090042 w 3279228"/>
              <a:gd name="connsiteY7" fmla="*/ 756745 h 1797269"/>
              <a:gd name="connsiteX8" fmla="*/ 3174124 w 3279228"/>
              <a:gd name="connsiteY8" fmla="*/ 735725 h 1797269"/>
              <a:gd name="connsiteX9" fmla="*/ 3258207 w 3279228"/>
              <a:gd name="connsiteY9" fmla="*/ 641131 h 1797269"/>
              <a:gd name="connsiteX10" fmla="*/ 3279228 w 3279228"/>
              <a:gd name="connsiteY10" fmla="*/ 578069 h 1797269"/>
              <a:gd name="connsiteX11" fmla="*/ 3268718 w 3279228"/>
              <a:gd name="connsiteY11" fmla="*/ 336331 h 1797269"/>
              <a:gd name="connsiteX12" fmla="*/ 3258207 w 3279228"/>
              <a:gd name="connsiteY12" fmla="*/ 283780 h 1797269"/>
              <a:gd name="connsiteX13" fmla="*/ 3237187 w 3279228"/>
              <a:gd name="connsiteY13" fmla="*/ 220718 h 1797269"/>
              <a:gd name="connsiteX14" fmla="*/ 3132083 w 3279228"/>
              <a:gd name="connsiteY14" fmla="*/ 94594 h 1797269"/>
              <a:gd name="connsiteX15" fmla="*/ 3058511 w 3279228"/>
              <a:gd name="connsiteY15" fmla="*/ 52552 h 1797269"/>
              <a:gd name="connsiteX16" fmla="*/ 3026980 w 3279228"/>
              <a:gd name="connsiteY16" fmla="*/ 31531 h 1797269"/>
              <a:gd name="connsiteX17" fmla="*/ 2995449 w 3279228"/>
              <a:gd name="connsiteY17" fmla="*/ 21021 h 1797269"/>
              <a:gd name="connsiteX18" fmla="*/ 2900855 w 3279228"/>
              <a:gd name="connsiteY18" fmla="*/ 0 h 1797269"/>
              <a:gd name="connsiteX19" fmla="*/ 2690649 w 3279228"/>
              <a:gd name="connsiteY19" fmla="*/ 10511 h 1797269"/>
              <a:gd name="connsiteX20" fmla="*/ 2617076 w 3279228"/>
              <a:gd name="connsiteY20" fmla="*/ 21021 h 1797269"/>
              <a:gd name="connsiteX21" fmla="*/ 2554014 w 3279228"/>
              <a:gd name="connsiteY21" fmla="*/ 42042 h 1797269"/>
              <a:gd name="connsiteX22" fmla="*/ 2480442 w 3279228"/>
              <a:gd name="connsiteY22" fmla="*/ 136635 h 1797269"/>
              <a:gd name="connsiteX23" fmla="*/ 2459421 w 3279228"/>
              <a:gd name="connsiteY23" fmla="*/ 199697 h 1797269"/>
              <a:gd name="connsiteX24" fmla="*/ 2448911 w 3279228"/>
              <a:gd name="connsiteY24" fmla="*/ 231228 h 1797269"/>
              <a:gd name="connsiteX25" fmla="*/ 2438400 w 3279228"/>
              <a:gd name="connsiteY25" fmla="*/ 262759 h 1797269"/>
              <a:gd name="connsiteX26" fmla="*/ 2459421 w 3279228"/>
              <a:gd name="connsiteY26" fmla="*/ 388883 h 1797269"/>
              <a:gd name="connsiteX27" fmla="*/ 2480442 w 3279228"/>
              <a:gd name="connsiteY27" fmla="*/ 451945 h 1797269"/>
              <a:gd name="connsiteX28" fmla="*/ 2469931 w 3279228"/>
              <a:gd name="connsiteY28" fmla="*/ 578069 h 1797269"/>
              <a:gd name="connsiteX29" fmla="*/ 2333297 w 3279228"/>
              <a:gd name="connsiteY29" fmla="*/ 609600 h 1797269"/>
              <a:gd name="connsiteX30" fmla="*/ 1954924 w 3279228"/>
              <a:gd name="connsiteY30" fmla="*/ 641131 h 1797269"/>
              <a:gd name="connsiteX31" fmla="*/ 1650124 w 3279228"/>
              <a:gd name="connsiteY31" fmla="*/ 662152 h 1797269"/>
              <a:gd name="connsiteX32" fmla="*/ 1429407 w 3279228"/>
              <a:gd name="connsiteY32" fmla="*/ 683173 h 1797269"/>
              <a:gd name="connsiteX33" fmla="*/ 1303283 w 3279228"/>
              <a:gd name="connsiteY33" fmla="*/ 704194 h 1797269"/>
              <a:gd name="connsiteX34" fmla="*/ 1156138 w 3279228"/>
              <a:gd name="connsiteY34" fmla="*/ 725214 h 1797269"/>
              <a:gd name="connsiteX35" fmla="*/ 1082566 w 3279228"/>
              <a:gd name="connsiteY35" fmla="*/ 735725 h 1797269"/>
              <a:gd name="connsiteX36" fmla="*/ 1030014 w 3279228"/>
              <a:gd name="connsiteY36" fmla="*/ 746235 h 1797269"/>
              <a:gd name="connsiteX37" fmla="*/ 966952 w 3279228"/>
              <a:gd name="connsiteY37" fmla="*/ 756745 h 1797269"/>
              <a:gd name="connsiteX38" fmla="*/ 872359 w 3279228"/>
              <a:gd name="connsiteY38" fmla="*/ 777766 h 1797269"/>
              <a:gd name="connsiteX39" fmla="*/ 809297 w 3279228"/>
              <a:gd name="connsiteY39" fmla="*/ 788276 h 1797269"/>
              <a:gd name="connsiteX40" fmla="*/ 735724 w 3279228"/>
              <a:gd name="connsiteY40" fmla="*/ 798787 h 1797269"/>
              <a:gd name="connsiteX41" fmla="*/ 609600 w 3279228"/>
              <a:gd name="connsiteY41" fmla="*/ 830318 h 1797269"/>
              <a:gd name="connsiteX42" fmla="*/ 567559 w 3279228"/>
              <a:gd name="connsiteY42" fmla="*/ 840828 h 1797269"/>
              <a:gd name="connsiteX43" fmla="*/ 525518 w 3279228"/>
              <a:gd name="connsiteY43" fmla="*/ 851338 h 1797269"/>
              <a:gd name="connsiteX44" fmla="*/ 472966 w 3279228"/>
              <a:gd name="connsiteY44" fmla="*/ 861849 h 1797269"/>
              <a:gd name="connsiteX45" fmla="*/ 441435 w 3279228"/>
              <a:gd name="connsiteY45" fmla="*/ 872359 h 1797269"/>
              <a:gd name="connsiteX46" fmla="*/ 399393 w 3279228"/>
              <a:gd name="connsiteY46" fmla="*/ 882869 h 1797269"/>
              <a:gd name="connsiteX47" fmla="*/ 325821 w 3279228"/>
              <a:gd name="connsiteY47" fmla="*/ 903890 h 1797269"/>
              <a:gd name="connsiteX48" fmla="*/ 231228 w 3279228"/>
              <a:gd name="connsiteY48" fmla="*/ 945931 h 1797269"/>
              <a:gd name="connsiteX49" fmla="*/ 168166 w 3279228"/>
              <a:gd name="connsiteY49" fmla="*/ 966952 h 1797269"/>
              <a:gd name="connsiteX50" fmla="*/ 136635 w 3279228"/>
              <a:gd name="connsiteY50" fmla="*/ 998483 h 1797269"/>
              <a:gd name="connsiteX51" fmla="*/ 105104 w 3279228"/>
              <a:gd name="connsiteY51" fmla="*/ 1019504 h 1797269"/>
              <a:gd name="connsiteX52" fmla="*/ 84083 w 3279228"/>
              <a:gd name="connsiteY52" fmla="*/ 1051035 h 1797269"/>
              <a:gd name="connsiteX53" fmla="*/ 52552 w 3279228"/>
              <a:gd name="connsiteY53" fmla="*/ 1114097 h 1797269"/>
              <a:gd name="connsiteX54" fmla="*/ 21021 w 3279228"/>
              <a:gd name="connsiteY54" fmla="*/ 1219200 h 1797269"/>
              <a:gd name="connsiteX55" fmla="*/ 0 w 3279228"/>
              <a:gd name="connsiteY55" fmla="*/ 1292773 h 1797269"/>
              <a:gd name="connsiteX56" fmla="*/ 31531 w 3279228"/>
              <a:gd name="connsiteY56" fmla="*/ 1450428 h 1797269"/>
              <a:gd name="connsiteX57" fmla="*/ 52552 w 3279228"/>
              <a:gd name="connsiteY57" fmla="*/ 1481959 h 1797269"/>
              <a:gd name="connsiteX58" fmla="*/ 63062 w 3279228"/>
              <a:gd name="connsiteY58" fmla="*/ 1513490 h 1797269"/>
              <a:gd name="connsiteX59" fmla="*/ 168166 w 3279228"/>
              <a:gd name="connsiteY59" fmla="*/ 1639614 h 1797269"/>
              <a:gd name="connsiteX60" fmla="*/ 199697 w 3279228"/>
              <a:gd name="connsiteY60" fmla="*/ 1660635 h 1797269"/>
              <a:gd name="connsiteX61" fmla="*/ 252249 w 3279228"/>
              <a:gd name="connsiteY61" fmla="*/ 1702676 h 1797269"/>
              <a:gd name="connsiteX62" fmla="*/ 283780 w 3279228"/>
              <a:gd name="connsiteY62" fmla="*/ 1734207 h 1797269"/>
              <a:gd name="connsiteX63" fmla="*/ 378373 w 3279228"/>
              <a:gd name="connsiteY63" fmla="*/ 1765738 h 1797269"/>
              <a:gd name="connsiteX64" fmla="*/ 409904 w 3279228"/>
              <a:gd name="connsiteY64" fmla="*/ 1776249 h 1797269"/>
              <a:gd name="connsiteX65" fmla="*/ 430924 w 3279228"/>
              <a:gd name="connsiteY65" fmla="*/ 1797269 h 1797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3279228" h="1797269">
                <a:moveTo>
                  <a:pt x="2501462" y="557049"/>
                </a:moveTo>
                <a:cubicBezTo>
                  <a:pt x="2508469" y="581573"/>
                  <a:pt x="2513010" y="606940"/>
                  <a:pt x="2522483" y="630621"/>
                </a:cubicBezTo>
                <a:cubicBezTo>
                  <a:pt x="2535688" y="663633"/>
                  <a:pt x="2576653" y="694223"/>
                  <a:pt x="2606566" y="704194"/>
                </a:cubicBezTo>
                <a:lnTo>
                  <a:pt x="2669628" y="725214"/>
                </a:lnTo>
                <a:cubicBezTo>
                  <a:pt x="2680138" y="732221"/>
                  <a:pt x="2689616" y="741105"/>
                  <a:pt x="2701159" y="746235"/>
                </a:cubicBezTo>
                <a:cubicBezTo>
                  <a:pt x="2734061" y="760858"/>
                  <a:pt x="2771320" y="769031"/>
                  <a:pt x="2806262" y="777766"/>
                </a:cubicBezTo>
                <a:cubicBezTo>
                  <a:pt x="2886841" y="774263"/>
                  <a:pt x="2967565" y="773214"/>
                  <a:pt x="3048000" y="767256"/>
                </a:cubicBezTo>
                <a:cubicBezTo>
                  <a:pt x="3062406" y="766189"/>
                  <a:pt x="3075941" y="759879"/>
                  <a:pt x="3090042" y="756745"/>
                </a:cubicBezTo>
                <a:cubicBezTo>
                  <a:pt x="3166145" y="739833"/>
                  <a:pt x="3117776" y="754507"/>
                  <a:pt x="3174124" y="735725"/>
                </a:cubicBezTo>
                <a:cubicBezTo>
                  <a:pt x="3193155" y="716694"/>
                  <a:pt x="3243202" y="674893"/>
                  <a:pt x="3258207" y="641131"/>
                </a:cubicBezTo>
                <a:cubicBezTo>
                  <a:pt x="3267206" y="620883"/>
                  <a:pt x="3279228" y="578069"/>
                  <a:pt x="3279228" y="578069"/>
                </a:cubicBezTo>
                <a:cubicBezTo>
                  <a:pt x="3275725" y="497490"/>
                  <a:pt x="3274465" y="416781"/>
                  <a:pt x="3268718" y="336331"/>
                </a:cubicBezTo>
                <a:cubicBezTo>
                  <a:pt x="3267445" y="318512"/>
                  <a:pt x="3262907" y="301014"/>
                  <a:pt x="3258207" y="283780"/>
                </a:cubicBezTo>
                <a:cubicBezTo>
                  <a:pt x="3252377" y="262403"/>
                  <a:pt x="3249478" y="239154"/>
                  <a:pt x="3237187" y="220718"/>
                </a:cubicBezTo>
                <a:cubicBezTo>
                  <a:pt x="3201579" y="167306"/>
                  <a:pt x="3186035" y="135060"/>
                  <a:pt x="3132083" y="94594"/>
                </a:cubicBezTo>
                <a:cubicBezTo>
                  <a:pt x="3081179" y="56415"/>
                  <a:pt x="3106660" y="68601"/>
                  <a:pt x="3058511" y="52552"/>
                </a:cubicBezTo>
                <a:cubicBezTo>
                  <a:pt x="3048001" y="45545"/>
                  <a:pt x="3038278" y="37180"/>
                  <a:pt x="3026980" y="31531"/>
                </a:cubicBezTo>
                <a:cubicBezTo>
                  <a:pt x="3017071" y="26576"/>
                  <a:pt x="3006102" y="24064"/>
                  <a:pt x="2995449" y="21021"/>
                </a:cubicBezTo>
                <a:cubicBezTo>
                  <a:pt x="2960822" y="11128"/>
                  <a:pt x="2936969" y="7223"/>
                  <a:pt x="2900855" y="0"/>
                </a:cubicBezTo>
                <a:cubicBezTo>
                  <a:pt x="2830786" y="3504"/>
                  <a:pt x="2760614" y="5328"/>
                  <a:pt x="2690649" y="10511"/>
                </a:cubicBezTo>
                <a:cubicBezTo>
                  <a:pt x="2665943" y="12341"/>
                  <a:pt x="2641215" y="15451"/>
                  <a:pt x="2617076" y="21021"/>
                </a:cubicBezTo>
                <a:cubicBezTo>
                  <a:pt x="2595486" y="26003"/>
                  <a:pt x="2554014" y="42042"/>
                  <a:pt x="2554014" y="42042"/>
                </a:cubicBezTo>
                <a:cubicBezTo>
                  <a:pt x="2526808" y="69248"/>
                  <a:pt x="2493014" y="98919"/>
                  <a:pt x="2480442" y="136635"/>
                </a:cubicBezTo>
                <a:lnTo>
                  <a:pt x="2459421" y="199697"/>
                </a:lnTo>
                <a:lnTo>
                  <a:pt x="2448911" y="231228"/>
                </a:lnTo>
                <a:lnTo>
                  <a:pt x="2438400" y="262759"/>
                </a:lnTo>
                <a:cubicBezTo>
                  <a:pt x="2442910" y="294330"/>
                  <a:pt x="2450202" y="355079"/>
                  <a:pt x="2459421" y="388883"/>
                </a:cubicBezTo>
                <a:cubicBezTo>
                  <a:pt x="2465251" y="410260"/>
                  <a:pt x="2480442" y="451945"/>
                  <a:pt x="2480442" y="451945"/>
                </a:cubicBezTo>
                <a:cubicBezTo>
                  <a:pt x="2476938" y="493986"/>
                  <a:pt x="2488798" y="540336"/>
                  <a:pt x="2469931" y="578069"/>
                </a:cubicBezTo>
                <a:cubicBezTo>
                  <a:pt x="2461126" y="595679"/>
                  <a:pt x="2341868" y="608529"/>
                  <a:pt x="2333297" y="609600"/>
                </a:cubicBezTo>
                <a:cubicBezTo>
                  <a:pt x="2207616" y="625310"/>
                  <a:pt x="2081239" y="632710"/>
                  <a:pt x="1954924" y="641131"/>
                </a:cubicBezTo>
                <a:cubicBezTo>
                  <a:pt x="1803635" y="666347"/>
                  <a:pt x="1945964" y="645247"/>
                  <a:pt x="1650124" y="662152"/>
                </a:cubicBezTo>
                <a:cubicBezTo>
                  <a:pt x="1607805" y="664570"/>
                  <a:pt x="1479131" y="676069"/>
                  <a:pt x="1429407" y="683173"/>
                </a:cubicBezTo>
                <a:cubicBezTo>
                  <a:pt x="1387214" y="689201"/>
                  <a:pt x="1345575" y="698908"/>
                  <a:pt x="1303283" y="704194"/>
                </a:cubicBezTo>
                <a:cubicBezTo>
                  <a:pt x="1144540" y="724036"/>
                  <a:pt x="1287436" y="705014"/>
                  <a:pt x="1156138" y="725214"/>
                </a:cubicBezTo>
                <a:cubicBezTo>
                  <a:pt x="1131653" y="728981"/>
                  <a:pt x="1107002" y="731652"/>
                  <a:pt x="1082566" y="735725"/>
                </a:cubicBezTo>
                <a:cubicBezTo>
                  <a:pt x="1064945" y="738662"/>
                  <a:pt x="1047590" y="743039"/>
                  <a:pt x="1030014" y="746235"/>
                </a:cubicBezTo>
                <a:cubicBezTo>
                  <a:pt x="1009047" y="750047"/>
                  <a:pt x="987849" y="752566"/>
                  <a:pt x="966952" y="756745"/>
                </a:cubicBezTo>
                <a:cubicBezTo>
                  <a:pt x="798266" y="790483"/>
                  <a:pt x="1074265" y="741057"/>
                  <a:pt x="872359" y="777766"/>
                </a:cubicBezTo>
                <a:cubicBezTo>
                  <a:pt x="851392" y="781578"/>
                  <a:pt x="830360" y="785036"/>
                  <a:pt x="809297" y="788276"/>
                </a:cubicBezTo>
                <a:cubicBezTo>
                  <a:pt x="784812" y="792043"/>
                  <a:pt x="760016" y="793929"/>
                  <a:pt x="735724" y="798787"/>
                </a:cubicBezTo>
                <a:cubicBezTo>
                  <a:pt x="735682" y="798795"/>
                  <a:pt x="630641" y="825058"/>
                  <a:pt x="609600" y="830318"/>
                </a:cubicBezTo>
                <a:lnTo>
                  <a:pt x="567559" y="840828"/>
                </a:lnTo>
                <a:cubicBezTo>
                  <a:pt x="553545" y="844331"/>
                  <a:pt x="539682" y="848505"/>
                  <a:pt x="525518" y="851338"/>
                </a:cubicBezTo>
                <a:cubicBezTo>
                  <a:pt x="508001" y="854842"/>
                  <a:pt x="490297" y="857516"/>
                  <a:pt x="472966" y="861849"/>
                </a:cubicBezTo>
                <a:cubicBezTo>
                  <a:pt x="462218" y="864536"/>
                  <a:pt x="452088" y="869316"/>
                  <a:pt x="441435" y="872359"/>
                </a:cubicBezTo>
                <a:cubicBezTo>
                  <a:pt x="427545" y="876327"/>
                  <a:pt x="413282" y="878901"/>
                  <a:pt x="399393" y="882869"/>
                </a:cubicBezTo>
                <a:cubicBezTo>
                  <a:pt x="293835" y="913029"/>
                  <a:pt x="457262" y="871031"/>
                  <a:pt x="325821" y="903890"/>
                </a:cubicBezTo>
                <a:cubicBezTo>
                  <a:pt x="281758" y="925922"/>
                  <a:pt x="280442" y="928035"/>
                  <a:pt x="231228" y="945931"/>
                </a:cubicBezTo>
                <a:cubicBezTo>
                  <a:pt x="210404" y="953503"/>
                  <a:pt x="168166" y="966952"/>
                  <a:pt x="168166" y="966952"/>
                </a:cubicBezTo>
                <a:cubicBezTo>
                  <a:pt x="157656" y="977462"/>
                  <a:pt x="148054" y="988967"/>
                  <a:pt x="136635" y="998483"/>
                </a:cubicBezTo>
                <a:cubicBezTo>
                  <a:pt x="126931" y="1006570"/>
                  <a:pt x="114036" y="1010572"/>
                  <a:pt x="105104" y="1019504"/>
                </a:cubicBezTo>
                <a:cubicBezTo>
                  <a:pt x="96172" y="1028436"/>
                  <a:pt x="91090" y="1040525"/>
                  <a:pt x="84083" y="1051035"/>
                </a:cubicBezTo>
                <a:cubicBezTo>
                  <a:pt x="45757" y="1166018"/>
                  <a:pt x="106880" y="991861"/>
                  <a:pt x="52552" y="1114097"/>
                </a:cubicBezTo>
                <a:cubicBezTo>
                  <a:pt x="32570" y="1159057"/>
                  <a:pt x="33250" y="1176397"/>
                  <a:pt x="21021" y="1219200"/>
                </a:cubicBezTo>
                <a:cubicBezTo>
                  <a:pt x="-9143" y="1324778"/>
                  <a:pt x="32869" y="1161303"/>
                  <a:pt x="0" y="1292773"/>
                </a:cubicBezTo>
                <a:cubicBezTo>
                  <a:pt x="4065" y="1329353"/>
                  <a:pt x="6690" y="1413168"/>
                  <a:pt x="31531" y="1450428"/>
                </a:cubicBezTo>
                <a:lnTo>
                  <a:pt x="52552" y="1481959"/>
                </a:lnTo>
                <a:cubicBezTo>
                  <a:pt x="56055" y="1492469"/>
                  <a:pt x="57682" y="1503805"/>
                  <a:pt x="63062" y="1513490"/>
                </a:cubicBezTo>
                <a:cubicBezTo>
                  <a:pt x="85872" y="1554548"/>
                  <a:pt x="129274" y="1613685"/>
                  <a:pt x="168166" y="1639614"/>
                </a:cubicBezTo>
                <a:lnTo>
                  <a:pt x="199697" y="1660635"/>
                </a:lnTo>
                <a:cubicBezTo>
                  <a:pt x="246710" y="1731154"/>
                  <a:pt x="191328" y="1662062"/>
                  <a:pt x="252249" y="1702676"/>
                </a:cubicBezTo>
                <a:cubicBezTo>
                  <a:pt x="264617" y="1710921"/>
                  <a:pt x="270787" y="1726988"/>
                  <a:pt x="283780" y="1734207"/>
                </a:cubicBezTo>
                <a:cubicBezTo>
                  <a:pt x="283788" y="1734211"/>
                  <a:pt x="362603" y="1760481"/>
                  <a:pt x="378373" y="1765738"/>
                </a:cubicBezTo>
                <a:cubicBezTo>
                  <a:pt x="388883" y="1769242"/>
                  <a:pt x="402070" y="1768415"/>
                  <a:pt x="409904" y="1776249"/>
                </a:cubicBezTo>
                <a:lnTo>
                  <a:pt x="430924" y="1797269"/>
                </a:lnTo>
              </a:path>
            </a:pathLst>
          </a:custGeom>
          <a:noFill/>
          <a:ln w="38100">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483236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alphaModFix amt="35000"/>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9471725" y="2039272"/>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8" name="Immagine 7">
            <a:extLst>
              <a:ext uri="{FF2B5EF4-FFF2-40B4-BE49-F238E27FC236}">
                <a16:creationId xmlns:a16="http://schemas.microsoft.com/office/drawing/2014/main" id="{06B63281-F2B6-AA4A-BC41-4E3B384B097E}"/>
              </a:ext>
            </a:extLst>
          </p:cNvPr>
          <p:cNvPicPr>
            <a:picLocks noChangeAspect="1"/>
          </p:cNvPicPr>
          <p:nvPr/>
        </p:nvPicPr>
        <p:blipFill>
          <a:blip r:embed="rId5"/>
          <a:stretch>
            <a:fillRect/>
          </a:stretch>
        </p:blipFill>
        <p:spPr>
          <a:xfrm>
            <a:off x="1105683" y="2039272"/>
            <a:ext cx="3568700" cy="444500"/>
          </a:xfrm>
          <a:prstGeom prst="rect">
            <a:avLst/>
          </a:prstGeom>
        </p:spPr>
      </p:pic>
      <p:sp>
        <p:nvSpPr>
          <p:cNvPr id="13" name="CasellaDiTesto 12">
            <a:extLst>
              <a:ext uri="{FF2B5EF4-FFF2-40B4-BE49-F238E27FC236}">
                <a16:creationId xmlns:a16="http://schemas.microsoft.com/office/drawing/2014/main" id="{14AA1055-CD77-9D47-9D47-66E2E9C8638C}"/>
              </a:ext>
            </a:extLst>
          </p:cNvPr>
          <p:cNvSpPr txBox="1"/>
          <p:nvPr/>
        </p:nvSpPr>
        <p:spPr>
          <a:xfrm>
            <a:off x="2901234" y="6397734"/>
            <a:ext cx="7046998" cy="369332"/>
          </a:xfrm>
          <a:prstGeom prst="rect">
            <a:avLst/>
          </a:prstGeom>
          <a:noFill/>
        </p:spPr>
        <p:txBody>
          <a:bodyPr wrap="square">
            <a:spAutoFit/>
          </a:bodyPr>
          <a:lstStyle/>
          <a:p>
            <a:r>
              <a:rPr lang="it-IT" b="0" i="0" dirty="0" err="1">
                <a:solidFill>
                  <a:srgbClr val="444444"/>
                </a:solidFill>
                <a:effectLst/>
              </a:rPr>
              <a:t>how</a:t>
            </a:r>
            <a:r>
              <a:rPr lang="it-IT" b="0" i="0" dirty="0">
                <a:solidFill>
                  <a:srgbClr val="444444"/>
                </a:solidFill>
                <a:effectLst/>
              </a:rPr>
              <a:t> </a:t>
            </a:r>
            <a:r>
              <a:rPr lang="it-IT" b="0" i="0" dirty="0" err="1">
                <a:solidFill>
                  <a:srgbClr val="444444"/>
                </a:solidFill>
                <a:effectLst/>
              </a:rPr>
              <a:t>much</a:t>
            </a:r>
            <a:r>
              <a:rPr lang="it-IT" b="0" i="0" dirty="0">
                <a:solidFill>
                  <a:srgbClr val="444444"/>
                </a:solidFill>
                <a:effectLst/>
              </a:rPr>
              <a:t> </a:t>
            </a:r>
            <a:r>
              <a:rPr lang="it-IT" b="0" i="0" dirty="0" err="1">
                <a:solidFill>
                  <a:srgbClr val="444444"/>
                </a:solidFill>
                <a:effectLst/>
              </a:rPr>
              <a:t>does</a:t>
            </a:r>
            <a:r>
              <a:rPr lang="it-IT" b="0" i="0" dirty="0">
                <a:solidFill>
                  <a:srgbClr val="444444"/>
                </a:solidFill>
                <a:effectLst/>
              </a:rPr>
              <a:t> the </a:t>
            </a:r>
            <a:r>
              <a:rPr lang="it-IT" b="0" i="0" dirty="0" err="1">
                <a:solidFill>
                  <a:srgbClr val="444444"/>
                </a:solidFill>
                <a:effectLst/>
              </a:rPr>
              <a:t>total</a:t>
            </a:r>
            <a:r>
              <a:rPr lang="it-IT" b="0" i="0" dirty="0">
                <a:solidFill>
                  <a:srgbClr val="444444"/>
                </a:solidFill>
                <a:effectLst/>
              </a:rPr>
              <a:t> net input of o1 </a:t>
            </a:r>
            <a:r>
              <a:rPr lang="it-IT" b="0" i="0" dirty="0" err="1">
                <a:solidFill>
                  <a:srgbClr val="444444"/>
                </a:solidFill>
                <a:effectLst/>
              </a:rPr>
              <a:t>change</a:t>
            </a:r>
            <a:r>
              <a:rPr lang="it-IT" b="0" i="0" dirty="0">
                <a:solidFill>
                  <a:srgbClr val="444444"/>
                </a:solidFill>
                <a:effectLst/>
              </a:rPr>
              <a:t> with </a:t>
            </a:r>
            <a:r>
              <a:rPr lang="it-IT" b="0" i="0" dirty="0" err="1">
                <a:solidFill>
                  <a:srgbClr val="444444"/>
                </a:solidFill>
                <a:effectLst/>
              </a:rPr>
              <a:t>respect</a:t>
            </a:r>
            <a:r>
              <a:rPr lang="it-IT" b="0" i="0" dirty="0">
                <a:solidFill>
                  <a:srgbClr val="444444"/>
                </a:solidFill>
                <a:effectLst/>
              </a:rPr>
              <a:t> to w5?</a:t>
            </a:r>
            <a:endParaRPr lang="en-US" dirty="0"/>
          </a:p>
        </p:txBody>
      </p:sp>
      <p:pic>
        <p:nvPicPr>
          <p:cNvPr id="12" name="Immagine 11">
            <a:extLst>
              <a:ext uri="{FF2B5EF4-FFF2-40B4-BE49-F238E27FC236}">
                <a16:creationId xmlns:a16="http://schemas.microsoft.com/office/drawing/2014/main" id="{E8A84895-A388-C049-B6D5-399B6F267820}"/>
              </a:ext>
            </a:extLst>
          </p:cNvPr>
          <p:cNvPicPr>
            <a:picLocks noChangeAspect="1"/>
          </p:cNvPicPr>
          <p:nvPr/>
        </p:nvPicPr>
        <p:blipFill rotWithShape="1">
          <a:blip r:embed="rId6"/>
          <a:srcRect l="37508"/>
          <a:stretch/>
        </p:blipFill>
        <p:spPr>
          <a:xfrm>
            <a:off x="10891507" y="3454183"/>
            <a:ext cx="1300493" cy="462458"/>
          </a:xfrm>
          <a:prstGeom prst="rect">
            <a:avLst/>
          </a:prstGeom>
        </p:spPr>
      </p:pic>
      <p:pic>
        <p:nvPicPr>
          <p:cNvPr id="14" name="Immagine 13">
            <a:extLst>
              <a:ext uri="{FF2B5EF4-FFF2-40B4-BE49-F238E27FC236}">
                <a16:creationId xmlns:a16="http://schemas.microsoft.com/office/drawing/2014/main" id="{6A2CCF90-1FA1-7D45-AF73-52E17EA4FB34}"/>
              </a:ext>
            </a:extLst>
          </p:cNvPr>
          <p:cNvPicPr>
            <a:picLocks noChangeAspect="1"/>
          </p:cNvPicPr>
          <p:nvPr/>
        </p:nvPicPr>
        <p:blipFill rotWithShape="1">
          <a:blip r:embed="rId7"/>
          <a:srcRect l="47719" t="70430" r="35447" b="7602"/>
          <a:stretch/>
        </p:blipFill>
        <p:spPr>
          <a:xfrm>
            <a:off x="11008726" y="1930920"/>
            <a:ext cx="1045029" cy="347967"/>
          </a:xfrm>
          <a:prstGeom prst="rect">
            <a:avLst/>
          </a:prstGeom>
        </p:spPr>
      </p:pic>
    </p:spTree>
    <p:extLst>
      <p:ext uri="{BB962C8B-B14F-4D97-AF65-F5344CB8AC3E}">
        <p14:creationId xmlns:p14="http://schemas.microsoft.com/office/powerpoint/2010/main" val="47911976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alphaModFix amt="35000"/>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9471725" y="2039272"/>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8" name="Immagine 7">
            <a:extLst>
              <a:ext uri="{FF2B5EF4-FFF2-40B4-BE49-F238E27FC236}">
                <a16:creationId xmlns:a16="http://schemas.microsoft.com/office/drawing/2014/main" id="{06B63281-F2B6-AA4A-BC41-4E3B384B097E}"/>
              </a:ext>
            </a:extLst>
          </p:cNvPr>
          <p:cNvPicPr>
            <a:picLocks noChangeAspect="1"/>
          </p:cNvPicPr>
          <p:nvPr/>
        </p:nvPicPr>
        <p:blipFill>
          <a:blip r:embed="rId5"/>
          <a:stretch>
            <a:fillRect/>
          </a:stretch>
        </p:blipFill>
        <p:spPr>
          <a:xfrm>
            <a:off x="1105683" y="2039272"/>
            <a:ext cx="3568700" cy="444500"/>
          </a:xfrm>
          <a:prstGeom prst="rect">
            <a:avLst/>
          </a:prstGeom>
        </p:spPr>
      </p:pic>
      <p:sp>
        <p:nvSpPr>
          <p:cNvPr id="13" name="CasellaDiTesto 12">
            <a:extLst>
              <a:ext uri="{FF2B5EF4-FFF2-40B4-BE49-F238E27FC236}">
                <a16:creationId xmlns:a16="http://schemas.microsoft.com/office/drawing/2014/main" id="{14AA1055-CD77-9D47-9D47-66E2E9C8638C}"/>
              </a:ext>
            </a:extLst>
          </p:cNvPr>
          <p:cNvSpPr txBox="1"/>
          <p:nvPr/>
        </p:nvSpPr>
        <p:spPr>
          <a:xfrm>
            <a:off x="2901234" y="6397734"/>
            <a:ext cx="7046998" cy="369332"/>
          </a:xfrm>
          <a:prstGeom prst="rect">
            <a:avLst/>
          </a:prstGeom>
          <a:noFill/>
        </p:spPr>
        <p:txBody>
          <a:bodyPr wrap="square">
            <a:spAutoFit/>
          </a:bodyPr>
          <a:lstStyle/>
          <a:p>
            <a:r>
              <a:rPr lang="it-IT" b="0" i="0" dirty="0" err="1">
                <a:solidFill>
                  <a:srgbClr val="444444"/>
                </a:solidFill>
                <a:effectLst/>
              </a:rPr>
              <a:t>how</a:t>
            </a:r>
            <a:r>
              <a:rPr lang="it-IT" b="0" i="0" dirty="0">
                <a:solidFill>
                  <a:srgbClr val="444444"/>
                </a:solidFill>
                <a:effectLst/>
              </a:rPr>
              <a:t> </a:t>
            </a:r>
            <a:r>
              <a:rPr lang="it-IT" b="0" i="0" dirty="0" err="1">
                <a:solidFill>
                  <a:srgbClr val="444444"/>
                </a:solidFill>
                <a:effectLst/>
              </a:rPr>
              <a:t>much</a:t>
            </a:r>
            <a:r>
              <a:rPr lang="it-IT" b="0" i="0" dirty="0">
                <a:solidFill>
                  <a:srgbClr val="444444"/>
                </a:solidFill>
                <a:effectLst/>
              </a:rPr>
              <a:t> </a:t>
            </a:r>
            <a:r>
              <a:rPr lang="it-IT" b="0" i="0" dirty="0" err="1">
                <a:solidFill>
                  <a:srgbClr val="444444"/>
                </a:solidFill>
                <a:effectLst/>
              </a:rPr>
              <a:t>does</a:t>
            </a:r>
            <a:r>
              <a:rPr lang="it-IT" b="0" i="0" dirty="0">
                <a:solidFill>
                  <a:srgbClr val="444444"/>
                </a:solidFill>
                <a:effectLst/>
              </a:rPr>
              <a:t> the </a:t>
            </a:r>
            <a:r>
              <a:rPr lang="it-IT" b="0" i="0" dirty="0" err="1">
                <a:solidFill>
                  <a:srgbClr val="444444"/>
                </a:solidFill>
                <a:effectLst/>
              </a:rPr>
              <a:t>total</a:t>
            </a:r>
            <a:r>
              <a:rPr lang="it-IT" b="0" i="0" dirty="0">
                <a:solidFill>
                  <a:srgbClr val="444444"/>
                </a:solidFill>
                <a:effectLst/>
              </a:rPr>
              <a:t> net input of o1 </a:t>
            </a:r>
            <a:r>
              <a:rPr lang="it-IT" b="0" i="0" dirty="0" err="1">
                <a:solidFill>
                  <a:srgbClr val="444444"/>
                </a:solidFill>
                <a:effectLst/>
              </a:rPr>
              <a:t>change</a:t>
            </a:r>
            <a:r>
              <a:rPr lang="it-IT" b="0" i="0" dirty="0">
                <a:solidFill>
                  <a:srgbClr val="444444"/>
                </a:solidFill>
                <a:effectLst/>
              </a:rPr>
              <a:t> with </a:t>
            </a:r>
            <a:r>
              <a:rPr lang="it-IT" b="0" i="0" dirty="0" err="1">
                <a:solidFill>
                  <a:srgbClr val="444444"/>
                </a:solidFill>
                <a:effectLst/>
              </a:rPr>
              <a:t>respect</a:t>
            </a:r>
            <a:r>
              <a:rPr lang="it-IT" b="0" i="0" dirty="0">
                <a:solidFill>
                  <a:srgbClr val="444444"/>
                </a:solidFill>
                <a:effectLst/>
              </a:rPr>
              <a:t> to w5?</a:t>
            </a:r>
            <a:endParaRPr lang="en-US" dirty="0"/>
          </a:p>
        </p:txBody>
      </p:sp>
      <p:pic>
        <p:nvPicPr>
          <p:cNvPr id="12" name="Immagine 11">
            <a:extLst>
              <a:ext uri="{FF2B5EF4-FFF2-40B4-BE49-F238E27FC236}">
                <a16:creationId xmlns:a16="http://schemas.microsoft.com/office/drawing/2014/main" id="{E8A84895-A388-C049-B6D5-399B6F267820}"/>
              </a:ext>
            </a:extLst>
          </p:cNvPr>
          <p:cNvPicPr>
            <a:picLocks noChangeAspect="1"/>
          </p:cNvPicPr>
          <p:nvPr/>
        </p:nvPicPr>
        <p:blipFill rotWithShape="1">
          <a:blip r:embed="rId6"/>
          <a:srcRect l="37508"/>
          <a:stretch/>
        </p:blipFill>
        <p:spPr>
          <a:xfrm>
            <a:off x="10891507" y="3454183"/>
            <a:ext cx="1300493" cy="462458"/>
          </a:xfrm>
          <a:prstGeom prst="rect">
            <a:avLst/>
          </a:prstGeom>
        </p:spPr>
      </p:pic>
      <p:pic>
        <p:nvPicPr>
          <p:cNvPr id="14" name="Immagine 13">
            <a:extLst>
              <a:ext uri="{FF2B5EF4-FFF2-40B4-BE49-F238E27FC236}">
                <a16:creationId xmlns:a16="http://schemas.microsoft.com/office/drawing/2014/main" id="{6A2CCF90-1FA1-7D45-AF73-52E17EA4FB34}"/>
              </a:ext>
            </a:extLst>
          </p:cNvPr>
          <p:cNvPicPr>
            <a:picLocks noChangeAspect="1"/>
          </p:cNvPicPr>
          <p:nvPr/>
        </p:nvPicPr>
        <p:blipFill rotWithShape="1">
          <a:blip r:embed="rId7"/>
          <a:srcRect l="47719" t="70430" r="35447" b="7602"/>
          <a:stretch/>
        </p:blipFill>
        <p:spPr>
          <a:xfrm>
            <a:off x="11008726" y="1930920"/>
            <a:ext cx="1045029" cy="347967"/>
          </a:xfrm>
          <a:prstGeom prst="rect">
            <a:avLst/>
          </a:prstGeom>
        </p:spPr>
      </p:pic>
      <p:pic>
        <p:nvPicPr>
          <p:cNvPr id="9" name="Immagine 8">
            <a:extLst>
              <a:ext uri="{FF2B5EF4-FFF2-40B4-BE49-F238E27FC236}">
                <a16:creationId xmlns:a16="http://schemas.microsoft.com/office/drawing/2014/main" id="{D43D7714-CD15-DA4E-BA88-68451A89C0C0}"/>
              </a:ext>
            </a:extLst>
          </p:cNvPr>
          <p:cNvPicPr>
            <a:picLocks noChangeAspect="1"/>
          </p:cNvPicPr>
          <p:nvPr/>
        </p:nvPicPr>
        <p:blipFill>
          <a:blip r:embed="rId8"/>
          <a:stretch>
            <a:fillRect/>
          </a:stretch>
        </p:blipFill>
        <p:spPr>
          <a:xfrm>
            <a:off x="560664" y="2848952"/>
            <a:ext cx="5795166" cy="317254"/>
          </a:xfrm>
          <a:prstGeom prst="rect">
            <a:avLst/>
          </a:prstGeom>
        </p:spPr>
      </p:pic>
    </p:spTree>
    <p:extLst>
      <p:ext uri="{BB962C8B-B14F-4D97-AF65-F5344CB8AC3E}">
        <p14:creationId xmlns:p14="http://schemas.microsoft.com/office/powerpoint/2010/main" val="343238782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alphaModFix amt="35000"/>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9471725" y="2039272"/>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8" name="Immagine 7">
            <a:extLst>
              <a:ext uri="{FF2B5EF4-FFF2-40B4-BE49-F238E27FC236}">
                <a16:creationId xmlns:a16="http://schemas.microsoft.com/office/drawing/2014/main" id="{06B63281-F2B6-AA4A-BC41-4E3B384B097E}"/>
              </a:ext>
            </a:extLst>
          </p:cNvPr>
          <p:cNvPicPr>
            <a:picLocks noChangeAspect="1"/>
          </p:cNvPicPr>
          <p:nvPr/>
        </p:nvPicPr>
        <p:blipFill>
          <a:blip r:embed="rId5"/>
          <a:stretch>
            <a:fillRect/>
          </a:stretch>
        </p:blipFill>
        <p:spPr>
          <a:xfrm>
            <a:off x="1105683" y="2039272"/>
            <a:ext cx="3568700" cy="444500"/>
          </a:xfrm>
          <a:prstGeom prst="rect">
            <a:avLst/>
          </a:prstGeom>
        </p:spPr>
      </p:pic>
      <p:sp>
        <p:nvSpPr>
          <p:cNvPr id="13" name="CasellaDiTesto 12">
            <a:extLst>
              <a:ext uri="{FF2B5EF4-FFF2-40B4-BE49-F238E27FC236}">
                <a16:creationId xmlns:a16="http://schemas.microsoft.com/office/drawing/2014/main" id="{14AA1055-CD77-9D47-9D47-66E2E9C8638C}"/>
              </a:ext>
            </a:extLst>
          </p:cNvPr>
          <p:cNvSpPr txBox="1"/>
          <p:nvPr/>
        </p:nvSpPr>
        <p:spPr>
          <a:xfrm>
            <a:off x="2901234" y="6397734"/>
            <a:ext cx="7046998" cy="369332"/>
          </a:xfrm>
          <a:prstGeom prst="rect">
            <a:avLst/>
          </a:prstGeom>
          <a:noFill/>
        </p:spPr>
        <p:txBody>
          <a:bodyPr wrap="square">
            <a:spAutoFit/>
          </a:bodyPr>
          <a:lstStyle/>
          <a:p>
            <a:r>
              <a:rPr lang="it-IT" b="0" i="0" dirty="0" err="1">
                <a:solidFill>
                  <a:srgbClr val="444444"/>
                </a:solidFill>
                <a:effectLst/>
              </a:rPr>
              <a:t>how</a:t>
            </a:r>
            <a:r>
              <a:rPr lang="it-IT" b="0" i="0" dirty="0">
                <a:solidFill>
                  <a:srgbClr val="444444"/>
                </a:solidFill>
                <a:effectLst/>
              </a:rPr>
              <a:t> </a:t>
            </a:r>
            <a:r>
              <a:rPr lang="it-IT" b="0" i="0" dirty="0" err="1">
                <a:solidFill>
                  <a:srgbClr val="444444"/>
                </a:solidFill>
                <a:effectLst/>
              </a:rPr>
              <a:t>much</a:t>
            </a:r>
            <a:r>
              <a:rPr lang="it-IT" b="0" i="0" dirty="0">
                <a:solidFill>
                  <a:srgbClr val="444444"/>
                </a:solidFill>
                <a:effectLst/>
              </a:rPr>
              <a:t> </a:t>
            </a:r>
            <a:r>
              <a:rPr lang="it-IT" b="0" i="0" dirty="0" err="1">
                <a:solidFill>
                  <a:srgbClr val="444444"/>
                </a:solidFill>
                <a:effectLst/>
              </a:rPr>
              <a:t>does</a:t>
            </a:r>
            <a:r>
              <a:rPr lang="it-IT" b="0" i="0" dirty="0">
                <a:solidFill>
                  <a:srgbClr val="444444"/>
                </a:solidFill>
                <a:effectLst/>
              </a:rPr>
              <a:t> the </a:t>
            </a:r>
            <a:r>
              <a:rPr lang="it-IT" b="0" i="0" dirty="0" err="1">
                <a:solidFill>
                  <a:srgbClr val="444444"/>
                </a:solidFill>
                <a:effectLst/>
              </a:rPr>
              <a:t>total</a:t>
            </a:r>
            <a:r>
              <a:rPr lang="it-IT" b="0" i="0" dirty="0">
                <a:solidFill>
                  <a:srgbClr val="444444"/>
                </a:solidFill>
                <a:effectLst/>
              </a:rPr>
              <a:t> net input of o1 </a:t>
            </a:r>
            <a:r>
              <a:rPr lang="it-IT" b="0" i="0" dirty="0" err="1">
                <a:solidFill>
                  <a:srgbClr val="444444"/>
                </a:solidFill>
                <a:effectLst/>
              </a:rPr>
              <a:t>change</a:t>
            </a:r>
            <a:r>
              <a:rPr lang="it-IT" b="0" i="0" dirty="0">
                <a:solidFill>
                  <a:srgbClr val="444444"/>
                </a:solidFill>
                <a:effectLst/>
              </a:rPr>
              <a:t> with </a:t>
            </a:r>
            <a:r>
              <a:rPr lang="it-IT" b="0" i="0" dirty="0" err="1">
                <a:solidFill>
                  <a:srgbClr val="444444"/>
                </a:solidFill>
                <a:effectLst/>
              </a:rPr>
              <a:t>respect</a:t>
            </a:r>
            <a:r>
              <a:rPr lang="it-IT" b="0" i="0" dirty="0">
                <a:solidFill>
                  <a:srgbClr val="444444"/>
                </a:solidFill>
                <a:effectLst/>
              </a:rPr>
              <a:t> to w5?</a:t>
            </a:r>
            <a:endParaRPr lang="en-US" dirty="0"/>
          </a:p>
        </p:txBody>
      </p:sp>
      <p:pic>
        <p:nvPicPr>
          <p:cNvPr id="12" name="Immagine 11">
            <a:extLst>
              <a:ext uri="{FF2B5EF4-FFF2-40B4-BE49-F238E27FC236}">
                <a16:creationId xmlns:a16="http://schemas.microsoft.com/office/drawing/2014/main" id="{E8A84895-A388-C049-B6D5-399B6F267820}"/>
              </a:ext>
            </a:extLst>
          </p:cNvPr>
          <p:cNvPicPr>
            <a:picLocks noChangeAspect="1"/>
          </p:cNvPicPr>
          <p:nvPr/>
        </p:nvPicPr>
        <p:blipFill rotWithShape="1">
          <a:blip r:embed="rId6"/>
          <a:srcRect l="37508"/>
          <a:stretch/>
        </p:blipFill>
        <p:spPr>
          <a:xfrm>
            <a:off x="10891507" y="3454183"/>
            <a:ext cx="1300493" cy="462458"/>
          </a:xfrm>
          <a:prstGeom prst="rect">
            <a:avLst/>
          </a:prstGeom>
        </p:spPr>
      </p:pic>
      <p:pic>
        <p:nvPicPr>
          <p:cNvPr id="14" name="Immagine 13">
            <a:extLst>
              <a:ext uri="{FF2B5EF4-FFF2-40B4-BE49-F238E27FC236}">
                <a16:creationId xmlns:a16="http://schemas.microsoft.com/office/drawing/2014/main" id="{6A2CCF90-1FA1-7D45-AF73-52E17EA4FB34}"/>
              </a:ext>
            </a:extLst>
          </p:cNvPr>
          <p:cNvPicPr>
            <a:picLocks noChangeAspect="1"/>
          </p:cNvPicPr>
          <p:nvPr/>
        </p:nvPicPr>
        <p:blipFill rotWithShape="1">
          <a:blip r:embed="rId7"/>
          <a:srcRect l="47719" t="70430" r="35447" b="7602"/>
          <a:stretch/>
        </p:blipFill>
        <p:spPr>
          <a:xfrm>
            <a:off x="11008726" y="1930920"/>
            <a:ext cx="1045029" cy="347967"/>
          </a:xfrm>
          <a:prstGeom prst="rect">
            <a:avLst/>
          </a:prstGeom>
        </p:spPr>
      </p:pic>
      <p:pic>
        <p:nvPicPr>
          <p:cNvPr id="9" name="Immagine 8">
            <a:extLst>
              <a:ext uri="{FF2B5EF4-FFF2-40B4-BE49-F238E27FC236}">
                <a16:creationId xmlns:a16="http://schemas.microsoft.com/office/drawing/2014/main" id="{D43D7714-CD15-DA4E-BA88-68451A89C0C0}"/>
              </a:ext>
            </a:extLst>
          </p:cNvPr>
          <p:cNvPicPr>
            <a:picLocks noChangeAspect="1"/>
          </p:cNvPicPr>
          <p:nvPr/>
        </p:nvPicPr>
        <p:blipFill>
          <a:blip r:embed="rId8"/>
          <a:stretch>
            <a:fillRect/>
          </a:stretch>
        </p:blipFill>
        <p:spPr>
          <a:xfrm>
            <a:off x="560664" y="2848952"/>
            <a:ext cx="5795166" cy="317254"/>
          </a:xfrm>
          <a:prstGeom prst="rect">
            <a:avLst/>
          </a:prstGeom>
        </p:spPr>
      </p:pic>
      <p:pic>
        <p:nvPicPr>
          <p:cNvPr id="11" name="Immagine 10">
            <a:extLst>
              <a:ext uri="{FF2B5EF4-FFF2-40B4-BE49-F238E27FC236}">
                <a16:creationId xmlns:a16="http://schemas.microsoft.com/office/drawing/2014/main" id="{72C2AFFD-E955-AC48-85F6-6CF93D449F06}"/>
              </a:ext>
            </a:extLst>
          </p:cNvPr>
          <p:cNvPicPr>
            <a:picLocks noChangeAspect="1"/>
          </p:cNvPicPr>
          <p:nvPr/>
        </p:nvPicPr>
        <p:blipFill>
          <a:blip r:embed="rId9"/>
          <a:stretch>
            <a:fillRect/>
          </a:stretch>
        </p:blipFill>
        <p:spPr>
          <a:xfrm>
            <a:off x="560664" y="3375660"/>
            <a:ext cx="7581900" cy="457200"/>
          </a:xfrm>
          <a:prstGeom prst="rect">
            <a:avLst/>
          </a:prstGeom>
        </p:spPr>
      </p:pic>
      <p:sp>
        <p:nvSpPr>
          <p:cNvPr id="15" name="Figura a mano libera 14">
            <a:extLst>
              <a:ext uri="{FF2B5EF4-FFF2-40B4-BE49-F238E27FC236}">
                <a16:creationId xmlns:a16="http://schemas.microsoft.com/office/drawing/2014/main" id="{A0640D65-BC65-1249-A363-DB8DDB8F861F}"/>
              </a:ext>
            </a:extLst>
          </p:cNvPr>
          <p:cNvSpPr/>
          <p:nvPr/>
        </p:nvSpPr>
        <p:spPr>
          <a:xfrm>
            <a:off x="224852" y="1828800"/>
            <a:ext cx="4586991" cy="1603948"/>
          </a:xfrm>
          <a:custGeom>
            <a:avLst/>
            <a:gdLst>
              <a:gd name="connsiteX0" fmla="*/ 3822492 w 4586991"/>
              <a:gd name="connsiteY0" fmla="*/ 539646 h 1603948"/>
              <a:gd name="connsiteX1" fmla="*/ 3852473 w 4586991"/>
              <a:gd name="connsiteY1" fmla="*/ 644577 h 1603948"/>
              <a:gd name="connsiteX2" fmla="*/ 3882453 w 4586991"/>
              <a:gd name="connsiteY2" fmla="*/ 689548 h 1603948"/>
              <a:gd name="connsiteX3" fmla="*/ 4002374 w 4586991"/>
              <a:gd name="connsiteY3" fmla="*/ 794479 h 1603948"/>
              <a:gd name="connsiteX4" fmla="*/ 4092315 w 4586991"/>
              <a:gd name="connsiteY4" fmla="*/ 824459 h 1603948"/>
              <a:gd name="connsiteX5" fmla="*/ 4137286 w 4586991"/>
              <a:gd name="connsiteY5" fmla="*/ 839449 h 1603948"/>
              <a:gd name="connsiteX6" fmla="*/ 4317168 w 4586991"/>
              <a:gd name="connsiteY6" fmla="*/ 809469 h 1603948"/>
              <a:gd name="connsiteX7" fmla="*/ 4362138 w 4586991"/>
              <a:gd name="connsiteY7" fmla="*/ 764498 h 1603948"/>
              <a:gd name="connsiteX8" fmla="*/ 4452079 w 4586991"/>
              <a:gd name="connsiteY8" fmla="*/ 689548 h 1603948"/>
              <a:gd name="connsiteX9" fmla="*/ 4512040 w 4586991"/>
              <a:gd name="connsiteY9" fmla="*/ 614597 h 1603948"/>
              <a:gd name="connsiteX10" fmla="*/ 4527030 w 4586991"/>
              <a:gd name="connsiteY10" fmla="*/ 569626 h 1603948"/>
              <a:gd name="connsiteX11" fmla="*/ 4557010 w 4586991"/>
              <a:gd name="connsiteY11" fmla="*/ 524656 h 1603948"/>
              <a:gd name="connsiteX12" fmla="*/ 4586991 w 4586991"/>
              <a:gd name="connsiteY12" fmla="*/ 434715 h 1603948"/>
              <a:gd name="connsiteX13" fmla="*/ 4572000 w 4586991"/>
              <a:gd name="connsiteY13" fmla="*/ 329784 h 1603948"/>
              <a:gd name="connsiteX14" fmla="*/ 4557010 w 4586991"/>
              <a:gd name="connsiteY14" fmla="*/ 284813 h 1603948"/>
              <a:gd name="connsiteX15" fmla="*/ 4512040 w 4586991"/>
              <a:gd name="connsiteY15" fmla="*/ 254833 h 1603948"/>
              <a:gd name="connsiteX16" fmla="*/ 4482059 w 4586991"/>
              <a:gd name="connsiteY16" fmla="*/ 224852 h 1603948"/>
              <a:gd name="connsiteX17" fmla="*/ 4392118 w 4586991"/>
              <a:gd name="connsiteY17" fmla="*/ 164892 h 1603948"/>
              <a:gd name="connsiteX18" fmla="*/ 4362138 w 4586991"/>
              <a:gd name="connsiteY18" fmla="*/ 134911 h 1603948"/>
              <a:gd name="connsiteX19" fmla="*/ 4317168 w 4586991"/>
              <a:gd name="connsiteY19" fmla="*/ 119921 h 1603948"/>
              <a:gd name="connsiteX20" fmla="*/ 4182256 w 4586991"/>
              <a:gd name="connsiteY20" fmla="*/ 59961 h 1603948"/>
              <a:gd name="connsiteX21" fmla="*/ 4077325 w 4586991"/>
              <a:gd name="connsiteY21" fmla="*/ 29980 h 1603948"/>
              <a:gd name="connsiteX22" fmla="*/ 3927423 w 4586991"/>
              <a:gd name="connsiteY22" fmla="*/ 0 h 1603948"/>
              <a:gd name="connsiteX23" fmla="*/ 3777522 w 4586991"/>
              <a:gd name="connsiteY23" fmla="*/ 14990 h 1603948"/>
              <a:gd name="connsiteX24" fmla="*/ 3717561 w 4586991"/>
              <a:gd name="connsiteY24" fmla="*/ 74951 h 1603948"/>
              <a:gd name="connsiteX25" fmla="*/ 3747541 w 4586991"/>
              <a:gd name="connsiteY25" fmla="*/ 419725 h 1603948"/>
              <a:gd name="connsiteX26" fmla="*/ 3777522 w 4586991"/>
              <a:gd name="connsiteY26" fmla="*/ 509666 h 1603948"/>
              <a:gd name="connsiteX27" fmla="*/ 3807502 w 4586991"/>
              <a:gd name="connsiteY27" fmla="*/ 554636 h 1603948"/>
              <a:gd name="connsiteX28" fmla="*/ 3822492 w 4586991"/>
              <a:gd name="connsiteY28" fmla="*/ 599607 h 1603948"/>
              <a:gd name="connsiteX29" fmla="*/ 3777522 w 4586991"/>
              <a:gd name="connsiteY29" fmla="*/ 629587 h 1603948"/>
              <a:gd name="connsiteX30" fmla="*/ 3702571 w 4586991"/>
              <a:gd name="connsiteY30" fmla="*/ 674557 h 1603948"/>
              <a:gd name="connsiteX31" fmla="*/ 3657600 w 4586991"/>
              <a:gd name="connsiteY31" fmla="*/ 704538 h 1603948"/>
              <a:gd name="connsiteX32" fmla="*/ 3567659 w 4586991"/>
              <a:gd name="connsiteY32" fmla="*/ 734518 h 1603948"/>
              <a:gd name="connsiteX33" fmla="*/ 3342807 w 4586991"/>
              <a:gd name="connsiteY33" fmla="*/ 779489 h 1603948"/>
              <a:gd name="connsiteX34" fmla="*/ 2998033 w 4586991"/>
              <a:gd name="connsiteY34" fmla="*/ 809469 h 1603948"/>
              <a:gd name="connsiteX35" fmla="*/ 1978702 w 4586991"/>
              <a:gd name="connsiteY35" fmla="*/ 794479 h 1603948"/>
              <a:gd name="connsiteX36" fmla="*/ 1499017 w 4586991"/>
              <a:gd name="connsiteY36" fmla="*/ 779489 h 1603948"/>
              <a:gd name="connsiteX37" fmla="*/ 494676 w 4586991"/>
              <a:gd name="connsiteY37" fmla="*/ 794479 h 1603948"/>
              <a:gd name="connsiteX38" fmla="*/ 344774 w 4586991"/>
              <a:gd name="connsiteY38" fmla="*/ 824459 h 1603948"/>
              <a:gd name="connsiteX39" fmla="*/ 254833 w 4586991"/>
              <a:gd name="connsiteY39" fmla="*/ 884420 h 1603948"/>
              <a:gd name="connsiteX40" fmla="*/ 149902 w 4586991"/>
              <a:gd name="connsiteY40" fmla="*/ 974361 h 1603948"/>
              <a:gd name="connsiteX41" fmla="*/ 119922 w 4586991"/>
              <a:gd name="connsiteY41" fmla="*/ 1019331 h 1603948"/>
              <a:gd name="connsiteX42" fmla="*/ 89941 w 4586991"/>
              <a:gd name="connsiteY42" fmla="*/ 1049311 h 1603948"/>
              <a:gd name="connsiteX43" fmla="*/ 29981 w 4586991"/>
              <a:gd name="connsiteY43" fmla="*/ 1154243 h 1603948"/>
              <a:gd name="connsiteX44" fmla="*/ 0 w 4586991"/>
              <a:gd name="connsiteY44" fmla="*/ 1259174 h 1603948"/>
              <a:gd name="connsiteX45" fmla="*/ 29981 w 4586991"/>
              <a:gd name="connsiteY45" fmla="*/ 1409075 h 1603948"/>
              <a:gd name="connsiteX46" fmla="*/ 104932 w 4586991"/>
              <a:gd name="connsiteY46" fmla="*/ 1484026 h 1603948"/>
              <a:gd name="connsiteX47" fmla="*/ 134912 w 4586991"/>
              <a:gd name="connsiteY47" fmla="*/ 1514007 h 1603948"/>
              <a:gd name="connsiteX48" fmla="*/ 179882 w 4586991"/>
              <a:gd name="connsiteY48" fmla="*/ 1528997 h 1603948"/>
              <a:gd name="connsiteX49" fmla="*/ 209863 w 4586991"/>
              <a:gd name="connsiteY49" fmla="*/ 1558977 h 1603948"/>
              <a:gd name="connsiteX50" fmla="*/ 269823 w 4586991"/>
              <a:gd name="connsiteY50" fmla="*/ 1603948 h 1603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4586991" h="1603948">
                <a:moveTo>
                  <a:pt x="3822492" y="539646"/>
                </a:moveTo>
                <a:cubicBezTo>
                  <a:pt x="3832486" y="574623"/>
                  <a:pt x="3838963" y="610802"/>
                  <a:pt x="3852473" y="644577"/>
                </a:cubicBezTo>
                <a:cubicBezTo>
                  <a:pt x="3859164" y="661304"/>
                  <a:pt x="3870589" y="675990"/>
                  <a:pt x="3882453" y="689548"/>
                </a:cubicBezTo>
                <a:cubicBezTo>
                  <a:pt x="3905795" y="716225"/>
                  <a:pt x="3960818" y="776009"/>
                  <a:pt x="4002374" y="794479"/>
                </a:cubicBezTo>
                <a:cubicBezTo>
                  <a:pt x="4031252" y="807314"/>
                  <a:pt x="4062335" y="814466"/>
                  <a:pt x="4092315" y="824459"/>
                </a:cubicBezTo>
                <a:lnTo>
                  <a:pt x="4137286" y="839449"/>
                </a:lnTo>
                <a:cubicBezTo>
                  <a:pt x="4138209" y="839334"/>
                  <a:pt x="4289437" y="825315"/>
                  <a:pt x="4317168" y="809469"/>
                </a:cubicBezTo>
                <a:cubicBezTo>
                  <a:pt x="4335574" y="798951"/>
                  <a:pt x="4345852" y="778069"/>
                  <a:pt x="4362138" y="764498"/>
                </a:cubicBezTo>
                <a:cubicBezTo>
                  <a:pt x="4426456" y="710899"/>
                  <a:pt x="4392359" y="761213"/>
                  <a:pt x="4452079" y="689548"/>
                </a:cubicBezTo>
                <a:cubicBezTo>
                  <a:pt x="4546618" y="576100"/>
                  <a:pt x="4424825" y="701809"/>
                  <a:pt x="4512040" y="614597"/>
                </a:cubicBezTo>
                <a:cubicBezTo>
                  <a:pt x="4517037" y="599607"/>
                  <a:pt x="4519964" y="583759"/>
                  <a:pt x="4527030" y="569626"/>
                </a:cubicBezTo>
                <a:cubicBezTo>
                  <a:pt x="4535087" y="553512"/>
                  <a:pt x="4549693" y="541119"/>
                  <a:pt x="4557010" y="524656"/>
                </a:cubicBezTo>
                <a:cubicBezTo>
                  <a:pt x="4569845" y="495778"/>
                  <a:pt x="4586991" y="434715"/>
                  <a:pt x="4586991" y="434715"/>
                </a:cubicBezTo>
                <a:cubicBezTo>
                  <a:pt x="4581994" y="399738"/>
                  <a:pt x="4578929" y="364430"/>
                  <a:pt x="4572000" y="329784"/>
                </a:cubicBezTo>
                <a:cubicBezTo>
                  <a:pt x="4568901" y="314290"/>
                  <a:pt x="4566881" y="297152"/>
                  <a:pt x="4557010" y="284813"/>
                </a:cubicBezTo>
                <a:cubicBezTo>
                  <a:pt x="4545756" y="270745"/>
                  <a:pt x="4526108" y="266087"/>
                  <a:pt x="4512040" y="254833"/>
                </a:cubicBezTo>
                <a:cubicBezTo>
                  <a:pt x="4501004" y="246004"/>
                  <a:pt x="4493366" y="233332"/>
                  <a:pt x="4482059" y="224852"/>
                </a:cubicBezTo>
                <a:cubicBezTo>
                  <a:pt x="4453234" y="203233"/>
                  <a:pt x="4417596" y="190371"/>
                  <a:pt x="4392118" y="164892"/>
                </a:cubicBezTo>
                <a:cubicBezTo>
                  <a:pt x="4382125" y="154898"/>
                  <a:pt x="4374257" y="142182"/>
                  <a:pt x="4362138" y="134911"/>
                </a:cubicBezTo>
                <a:cubicBezTo>
                  <a:pt x="4348589" y="126781"/>
                  <a:pt x="4331301" y="126987"/>
                  <a:pt x="4317168" y="119921"/>
                </a:cubicBezTo>
                <a:cubicBezTo>
                  <a:pt x="4174633" y="48654"/>
                  <a:pt x="4414303" y="137311"/>
                  <a:pt x="4182256" y="59961"/>
                </a:cubicBezTo>
                <a:cubicBezTo>
                  <a:pt x="4135054" y="44227"/>
                  <a:pt x="4130043" y="41276"/>
                  <a:pt x="4077325" y="29980"/>
                </a:cubicBezTo>
                <a:cubicBezTo>
                  <a:pt x="4027499" y="19303"/>
                  <a:pt x="3927423" y="0"/>
                  <a:pt x="3927423" y="0"/>
                </a:cubicBezTo>
                <a:cubicBezTo>
                  <a:pt x="3877456" y="4997"/>
                  <a:pt x="3824813" y="-1900"/>
                  <a:pt x="3777522" y="14990"/>
                </a:cubicBezTo>
                <a:cubicBezTo>
                  <a:pt x="3750903" y="24497"/>
                  <a:pt x="3717561" y="74951"/>
                  <a:pt x="3717561" y="74951"/>
                </a:cubicBezTo>
                <a:cubicBezTo>
                  <a:pt x="3726162" y="238367"/>
                  <a:pt x="3711113" y="298299"/>
                  <a:pt x="3747541" y="419725"/>
                </a:cubicBezTo>
                <a:cubicBezTo>
                  <a:pt x="3756622" y="449994"/>
                  <a:pt x="3759992" y="483371"/>
                  <a:pt x="3777522" y="509666"/>
                </a:cubicBezTo>
                <a:lnTo>
                  <a:pt x="3807502" y="554636"/>
                </a:lnTo>
                <a:cubicBezTo>
                  <a:pt x="3812499" y="569626"/>
                  <a:pt x="3828360" y="584936"/>
                  <a:pt x="3822492" y="599607"/>
                </a:cubicBezTo>
                <a:cubicBezTo>
                  <a:pt x="3815801" y="616334"/>
                  <a:pt x="3791590" y="618333"/>
                  <a:pt x="3777522" y="629587"/>
                </a:cubicBezTo>
                <a:cubicBezTo>
                  <a:pt x="3718732" y="676618"/>
                  <a:pt x="3780666" y="648525"/>
                  <a:pt x="3702571" y="674557"/>
                </a:cubicBezTo>
                <a:cubicBezTo>
                  <a:pt x="3687581" y="684551"/>
                  <a:pt x="3674063" y="697221"/>
                  <a:pt x="3657600" y="704538"/>
                </a:cubicBezTo>
                <a:cubicBezTo>
                  <a:pt x="3628722" y="717373"/>
                  <a:pt x="3597639" y="724525"/>
                  <a:pt x="3567659" y="734518"/>
                </a:cubicBezTo>
                <a:cubicBezTo>
                  <a:pt x="3477723" y="764496"/>
                  <a:pt x="3489408" y="763200"/>
                  <a:pt x="3342807" y="779489"/>
                </a:cubicBezTo>
                <a:cubicBezTo>
                  <a:pt x="3138192" y="802224"/>
                  <a:pt x="3253028" y="791255"/>
                  <a:pt x="2998033" y="809469"/>
                </a:cubicBezTo>
                <a:lnTo>
                  <a:pt x="1978702" y="794479"/>
                </a:lnTo>
                <a:cubicBezTo>
                  <a:pt x="1818761" y="791280"/>
                  <a:pt x="1658990" y="779489"/>
                  <a:pt x="1499017" y="779489"/>
                </a:cubicBezTo>
                <a:cubicBezTo>
                  <a:pt x="1164199" y="779489"/>
                  <a:pt x="829456" y="789482"/>
                  <a:pt x="494676" y="794479"/>
                </a:cubicBezTo>
                <a:cubicBezTo>
                  <a:pt x="468609" y="798203"/>
                  <a:pt x="380999" y="804334"/>
                  <a:pt x="344774" y="824459"/>
                </a:cubicBezTo>
                <a:cubicBezTo>
                  <a:pt x="313276" y="841958"/>
                  <a:pt x="284813" y="864433"/>
                  <a:pt x="254833" y="884420"/>
                </a:cubicBezTo>
                <a:cubicBezTo>
                  <a:pt x="214146" y="911545"/>
                  <a:pt x="178982" y="930741"/>
                  <a:pt x="149902" y="974361"/>
                </a:cubicBezTo>
                <a:cubicBezTo>
                  <a:pt x="139909" y="989351"/>
                  <a:pt x="131176" y="1005263"/>
                  <a:pt x="119922" y="1019331"/>
                </a:cubicBezTo>
                <a:cubicBezTo>
                  <a:pt x="111093" y="1030367"/>
                  <a:pt x="98770" y="1038275"/>
                  <a:pt x="89941" y="1049311"/>
                </a:cubicBezTo>
                <a:cubicBezTo>
                  <a:pt x="66781" y="1078261"/>
                  <a:pt x="44184" y="1121102"/>
                  <a:pt x="29981" y="1154243"/>
                </a:cubicBezTo>
                <a:cubicBezTo>
                  <a:pt x="17079" y="1184348"/>
                  <a:pt x="7606" y="1228750"/>
                  <a:pt x="0" y="1259174"/>
                </a:cubicBezTo>
                <a:cubicBezTo>
                  <a:pt x="18" y="1259298"/>
                  <a:pt x="11514" y="1384452"/>
                  <a:pt x="29981" y="1409075"/>
                </a:cubicBezTo>
                <a:cubicBezTo>
                  <a:pt x="51180" y="1437341"/>
                  <a:pt x="79948" y="1459042"/>
                  <a:pt x="104932" y="1484026"/>
                </a:cubicBezTo>
                <a:cubicBezTo>
                  <a:pt x="114925" y="1494020"/>
                  <a:pt x="121504" y="1509538"/>
                  <a:pt x="134912" y="1514007"/>
                </a:cubicBezTo>
                <a:lnTo>
                  <a:pt x="179882" y="1528997"/>
                </a:lnTo>
                <a:cubicBezTo>
                  <a:pt x="189876" y="1538990"/>
                  <a:pt x="197744" y="1551706"/>
                  <a:pt x="209863" y="1558977"/>
                </a:cubicBezTo>
                <a:cubicBezTo>
                  <a:pt x="276017" y="1598669"/>
                  <a:pt x="240283" y="1544865"/>
                  <a:pt x="269823" y="1603948"/>
                </a:cubicBezTo>
              </a:path>
            </a:pathLst>
          </a:custGeom>
          <a:noFill/>
          <a:ln w="38100">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380927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alphaModFix amt="35000"/>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9471725" y="2039272"/>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8" name="Immagine 7">
            <a:extLst>
              <a:ext uri="{FF2B5EF4-FFF2-40B4-BE49-F238E27FC236}">
                <a16:creationId xmlns:a16="http://schemas.microsoft.com/office/drawing/2014/main" id="{06B63281-F2B6-AA4A-BC41-4E3B384B097E}"/>
              </a:ext>
            </a:extLst>
          </p:cNvPr>
          <p:cNvPicPr>
            <a:picLocks noChangeAspect="1"/>
          </p:cNvPicPr>
          <p:nvPr/>
        </p:nvPicPr>
        <p:blipFill>
          <a:blip r:embed="rId5"/>
          <a:stretch>
            <a:fillRect/>
          </a:stretch>
        </p:blipFill>
        <p:spPr>
          <a:xfrm>
            <a:off x="1105683" y="2039272"/>
            <a:ext cx="3568700" cy="444500"/>
          </a:xfrm>
          <a:prstGeom prst="rect">
            <a:avLst/>
          </a:prstGeom>
        </p:spPr>
      </p:pic>
      <p:sp>
        <p:nvSpPr>
          <p:cNvPr id="13" name="CasellaDiTesto 12">
            <a:extLst>
              <a:ext uri="{FF2B5EF4-FFF2-40B4-BE49-F238E27FC236}">
                <a16:creationId xmlns:a16="http://schemas.microsoft.com/office/drawing/2014/main" id="{14AA1055-CD77-9D47-9D47-66E2E9C8638C}"/>
              </a:ext>
            </a:extLst>
          </p:cNvPr>
          <p:cNvSpPr txBox="1"/>
          <p:nvPr/>
        </p:nvSpPr>
        <p:spPr>
          <a:xfrm>
            <a:off x="2901234" y="6397734"/>
            <a:ext cx="7046998" cy="369332"/>
          </a:xfrm>
          <a:prstGeom prst="rect">
            <a:avLst/>
          </a:prstGeom>
          <a:noFill/>
        </p:spPr>
        <p:txBody>
          <a:bodyPr wrap="square">
            <a:spAutoFit/>
          </a:bodyPr>
          <a:lstStyle/>
          <a:p>
            <a:r>
              <a:rPr lang="it-IT" b="0" i="0" dirty="0">
                <a:solidFill>
                  <a:srgbClr val="444444"/>
                </a:solidFill>
                <a:effectLst/>
              </a:rPr>
              <a:t>Put </a:t>
            </a:r>
            <a:r>
              <a:rPr lang="it-IT" b="0" i="0" dirty="0" err="1">
                <a:solidFill>
                  <a:srgbClr val="444444"/>
                </a:solidFill>
                <a:effectLst/>
              </a:rPr>
              <a:t>everything</a:t>
            </a:r>
            <a:r>
              <a:rPr lang="it-IT" b="0" i="0" dirty="0">
                <a:solidFill>
                  <a:srgbClr val="444444"/>
                </a:solidFill>
                <a:effectLst/>
              </a:rPr>
              <a:t> </a:t>
            </a:r>
            <a:r>
              <a:rPr lang="it-IT" b="0" i="0" dirty="0" err="1">
                <a:solidFill>
                  <a:srgbClr val="444444"/>
                </a:solidFill>
                <a:effectLst/>
              </a:rPr>
              <a:t>together</a:t>
            </a:r>
            <a:endParaRPr lang="en-US" dirty="0"/>
          </a:p>
        </p:txBody>
      </p:sp>
      <p:pic>
        <p:nvPicPr>
          <p:cNvPr id="12" name="Immagine 11">
            <a:extLst>
              <a:ext uri="{FF2B5EF4-FFF2-40B4-BE49-F238E27FC236}">
                <a16:creationId xmlns:a16="http://schemas.microsoft.com/office/drawing/2014/main" id="{E8A84895-A388-C049-B6D5-399B6F267820}"/>
              </a:ext>
            </a:extLst>
          </p:cNvPr>
          <p:cNvPicPr>
            <a:picLocks noChangeAspect="1"/>
          </p:cNvPicPr>
          <p:nvPr/>
        </p:nvPicPr>
        <p:blipFill rotWithShape="1">
          <a:blip r:embed="rId6"/>
          <a:srcRect l="37508"/>
          <a:stretch/>
        </p:blipFill>
        <p:spPr>
          <a:xfrm>
            <a:off x="10891507" y="3454183"/>
            <a:ext cx="1300493" cy="462458"/>
          </a:xfrm>
          <a:prstGeom prst="rect">
            <a:avLst/>
          </a:prstGeom>
        </p:spPr>
      </p:pic>
      <p:pic>
        <p:nvPicPr>
          <p:cNvPr id="14" name="Immagine 13">
            <a:extLst>
              <a:ext uri="{FF2B5EF4-FFF2-40B4-BE49-F238E27FC236}">
                <a16:creationId xmlns:a16="http://schemas.microsoft.com/office/drawing/2014/main" id="{6A2CCF90-1FA1-7D45-AF73-52E17EA4FB34}"/>
              </a:ext>
            </a:extLst>
          </p:cNvPr>
          <p:cNvPicPr>
            <a:picLocks noChangeAspect="1"/>
          </p:cNvPicPr>
          <p:nvPr/>
        </p:nvPicPr>
        <p:blipFill rotWithShape="1">
          <a:blip r:embed="rId7"/>
          <a:srcRect l="47719" t="70430" r="35447" b="7602"/>
          <a:stretch/>
        </p:blipFill>
        <p:spPr>
          <a:xfrm>
            <a:off x="11008726" y="1930920"/>
            <a:ext cx="1045029" cy="347967"/>
          </a:xfrm>
          <a:prstGeom prst="rect">
            <a:avLst/>
          </a:prstGeom>
        </p:spPr>
      </p:pic>
      <p:pic>
        <p:nvPicPr>
          <p:cNvPr id="10" name="Immagine 9">
            <a:extLst>
              <a:ext uri="{FF2B5EF4-FFF2-40B4-BE49-F238E27FC236}">
                <a16:creationId xmlns:a16="http://schemas.microsoft.com/office/drawing/2014/main" id="{2DFAEFCB-834C-184A-8381-3E5004205EE3}"/>
              </a:ext>
            </a:extLst>
          </p:cNvPr>
          <p:cNvPicPr>
            <a:picLocks noChangeAspect="1"/>
          </p:cNvPicPr>
          <p:nvPr/>
        </p:nvPicPr>
        <p:blipFill>
          <a:blip r:embed="rId8"/>
          <a:stretch>
            <a:fillRect/>
          </a:stretch>
        </p:blipFill>
        <p:spPr>
          <a:xfrm>
            <a:off x="1105683" y="2866470"/>
            <a:ext cx="8534400" cy="419100"/>
          </a:xfrm>
          <a:prstGeom prst="rect">
            <a:avLst/>
          </a:prstGeom>
        </p:spPr>
      </p:pic>
    </p:spTree>
    <p:extLst>
      <p:ext uri="{BB962C8B-B14F-4D97-AF65-F5344CB8AC3E}">
        <p14:creationId xmlns:p14="http://schemas.microsoft.com/office/powerpoint/2010/main" val="214781641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alphaModFix amt="35000"/>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9471725" y="2039272"/>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8" name="Immagine 7">
            <a:extLst>
              <a:ext uri="{FF2B5EF4-FFF2-40B4-BE49-F238E27FC236}">
                <a16:creationId xmlns:a16="http://schemas.microsoft.com/office/drawing/2014/main" id="{06B63281-F2B6-AA4A-BC41-4E3B384B097E}"/>
              </a:ext>
            </a:extLst>
          </p:cNvPr>
          <p:cNvPicPr>
            <a:picLocks noChangeAspect="1"/>
          </p:cNvPicPr>
          <p:nvPr/>
        </p:nvPicPr>
        <p:blipFill>
          <a:blip r:embed="rId5"/>
          <a:stretch>
            <a:fillRect/>
          </a:stretch>
        </p:blipFill>
        <p:spPr>
          <a:xfrm>
            <a:off x="1105683" y="2039272"/>
            <a:ext cx="3568700" cy="444500"/>
          </a:xfrm>
          <a:prstGeom prst="rect">
            <a:avLst/>
          </a:prstGeom>
        </p:spPr>
      </p:pic>
      <p:sp>
        <p:nvSpPr>
          <p:cNvPr id="13" name="CasellaDiTesto 12">
            <a:extLst>
              <a:ext uri="{FF2B5EF4-FFF2-40B4-BE49-F238E27FC236}">
                <a16:creationId xmlns:a16="http://schemas.microsoft.com/office/drawing/2014/main" id="{14AA1055-CD77-9D47-9D47-66E2E9C8638C}"/>
              </a:ext>
            </a:extLst>
          </p:cNvPr>
          <p:cNvSpPr txBox="1"/>
          <p:nvPr/>
        </p:nvSpPr>
        <p:spPr>
          <a:xfrm>
            <a:off x="2901234" y="6397734"/>
            <a:ext cx="7046998" cy="369332"/>
          </a:xfrm>
          <a:prstGeom prst="rect">
            <a:avLst/>
          </a:prstGeom>
          <a:noFill/>
        </p:spPr>
        <p:txBody>
          <a:bodyPr wrap="square">
            <a:spAutoFit/>
          </a:bodyPr>
          <a:lstStyle/>
          <a:p>
            <a:r>
              <a:rPr lang="it-IT" b="0" i="0" dirty="0" err="1">
                <a:solidFill>
                  <a:srgbClr val="444444"/>
                </a:solidFill>
                <a:effectLst/>
              </a:rPr>
              <a:t>Rewriting</a:t>
            </a:r>
            <a:r>
              <a:rPr lang="it-IT" b="0" i="0" dirty="0">
                <a:solidFill>
                  <a:srgbClr val="444444"/>
                </a:solidFill>
                <a:effectLst/>
              </a:rPr>
              <a:t> </a:t>
            </a:r>
            <a:r>
              <a:rPr lang="it-IT" b="0" i="0" dirty="0" err="1">
                <a:solidFill>
                  <a:srgbClr val="444444"/>
                </a:solidFill>
                <a:effectLst/>
              </a:rPr>
              <a:t>as</a:t>
            </a:r>
            <a:r>
              <a:rPr lang="it-IT" b="0" i="0" dirty="0">
                <a:solidFill>
                  <a:srgbClr val="444444"/>
                </a:solidFill>
                <a:effectLst/>
              </a:rPr>
              <a:t> delta </a:t>
            </a:r>
            <a:r>
              <a:rPr lang="it-IT" b="0" i="0" dirty="0" err="1">
                <a:solidFill>
                  <a:srgbClr val="444444"/>
                </a:solidFill>
                <a:effectLst/>
              </a:rPr>
              <a:t>rule</a:t>
            </a:r>
            <a:endParaRPr lang="en-US" dirty="0"/>
          </a:p>
        </p:txBody>
      </p:sp>
      <p:pic>
        <p:nvPicPr>
          <p:cNvPr id="12" name="Immagine 11">
            <a:extLst>
              <a:ext uri="{FF2B5EF4-FFF2-40B4-BE49-F238E27FC236}">
                <a16:creationId xmlns:a16="http://schemas.microsoft.com/office/drawing/2014/main" id="{E8A84895-A388-C049-B6D5-399B6F267820}"/>
              </a:ext>
            </a:extLst>
          </p:cNvPr>
          <p:cNvPicPr>
            <a:picLocks noChangeAspect="1"/>
          </p:cNvPicPr>
          <p:nvPr/>
        </p:nvPicPr>
        <p:blipFill rotWithShape="1">
          <a:blip r:embed="rId6"/>
          <a:srcRect l="37508"/>
          <a:stretch/>
        </p:blipFill>
        <p:spPr>
          <a:xfrm>
            <a:off x="10891507" y="3454183"/>
            <a:ext cx="1300493" cy="462458"/>
          </a:xfrm>
          <a:prstGeom prst="rect">
            <a:avLst/>
          </a:prstGeom>
        </p:spPr>
      </p:pic>
      <p:pic>
        <p:nvPicPr>
          <p:cNvPr id="14" name="Immagine 13">
            <a:extLst>
              <a:ext uri="{FF2B5EF4-FFF2-40B4-BE49-F238E27FC236}">
                <a16:creationId xmlns:a16="http://schemas.microsoft.com/office/drawing/2014/main" id="{6A2CCF90-1FA1-7D45-AF73-52E17EA4FB34}"/>
              </a:ext>
            </a:extLst>
          </p:cNvPr>
          <p:cNvPicPr>
            <a:picLocks noChangeAspect="1"/>
          </p:cNvPicPr>
          <p:nvPr/>
        </p:nvPicPr>
        <p:blipFill rotWithShape="1">
          <a:blip r:embed="rId7"/>
          <a:srcRect l="47719" t="70430" r="35447" b="7602"/>
          <a:stretch/>
        </p:blipFill>
        <p:spPr>
          <a:xfrm>
            <a:off x="11008726" y="1930920"/>
            <a:ext cx="1045029" cy="347967"/>
          </a:xfrm>
          <a:prstGeom prst="rect">
            <a:avLst/>
          </a:prstGeom>
        </p:spPr>
      </p:pic>
      <p:pic>
        <p:nvPicPr>
          <p:cNvPr id="9" name="Immagine 8">
            <a:extLst>
              <a:ext uri="{FF2B5EF4-FFF2-40B4-BE49-F238E27FC236}">
                <a16:creationId xmlns:a16="http://schemas.microsoft.com/office/drawing/2014/main" id="{8C205183-2CD6-5344-A54C-9608E835FD2F}"/>
              </a:ext>
            </a:extLst>
          </p:cNvPr>
          <p:cNvPicPr>
            <a:picLocks noChangeAspect="1"/>
          </p:cNvPicPr>
          <p:nvPr/>
        </p:nvPicPr>
        <p:blipFill>
          <a:blip r:embed="rId8"/>
          <a:stretch>
            <a:fillRect/>
          </a:stretch>
        </p:blipFill>
        <p:spPr>
          <a:xfrm>
            <a:off x="1039602" y="2842340"/>
            <a:ext cx="7617097" cy="444499"/>
          </a:xfrm>
          <a:prstGeom prst="rect">
            <a:avLst/>
          </a:prstGeom>
        </p:spPr>
      </p:pic>
      <p:sp>
        <p:nvSpPr>
          <p:cNvPr id="15" name="CasellaDiTesto 14">
            <a:extLst>
              <a:ext uri="{FF2B5EF4-FFF2-40B4-BE49-F238E27FC236}">
                <a16:creationId xmlns:a16="http://schemas.microsoft.com/office/drawing/2014/main" id="{4847E3D7-C772-A349-9884-D606804A2CAD}"/>
              </a:ext>
            </a:extLst>
          </p:cNvPr>
          <p:cNvSpPr txBox="1"/>
          <p:nvPr/>
        </p:nvSpPr>
        <p:spPr>
          <a:xfrm>
            <a:off x="64170" y="1472250"/>
            <a:ext cx="7524758" cy="338554"/>
          </a:xfrm>
          <a:prstGeom prst="rect">
            <a:avLst/>
          </a:prstGeom>
          <a:noFill/>
        </p:spPr>
        <p:txBody>
          <a:bodyPr wrap="square" rtlCol="0">
            <a:spAutoFit/>
          </a:bodyPr>
          <a:lstStyle/>
          <a:p>
            <a:r>
              <a:rPr lang="en-US" sz="1600" dirty="0"/>
              <a:t>Slope of the Activation Function obtained as partial derivative by the Gradient Descent</a:t>
            </a:r>
          </a:p>
        </p:txBody>
      </p:sp>
    </p:spTree>
    <p:extLst>
      <p:ext uri="{BB962C8B-B14F-4D97-AF65-F5344CB8AC3E}">
        <p14:creationId xmlns:p14="http://schemas.microsoft.com/office/powerpoint/2010/main" val="130755216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alphaModFix amt="35000"/>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9471725" y="2039272"/>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8" name="Immagine 7">
            <a:extLst>
              <a:ext uri="{FF2B5EF4-FFF2-40B4-BE49-F238E27FC236}">
                <a16:creationId xmlns:a16="http://schemas.microsoft.com/office/drawing/2014/main" id="{06B63281-F2B6-AA4A-BC41-4E3B384B097E}"/>
              </a:ext>
            </a:extLst>
          </p:cNvPr>
          <p:cNvPicPr>
            <a:picLocks noChangeAspect="1"/>
          </p:cNvPicPr>
          <p:nvPr/>
        </p:nvPicPr>
        <p:blipFill>
          <a:blip r:embed="rId5"/>
          <a:stretch>
            <a:fillRect/>
          </a:stretch>
        </p:blipFill>
        <p:spPr>
          <a:xfrm>
            <a:off x="1105683" y="2039272"/>
            <a:ext cx="3568700" cy="444500"/>
          </a:xfrm>
          <a:prstGeom prst="rect">
            <a:avLst/>
          </a:prstGeom>
        </p:spPr>
      </p:pic>
      <p:sp>
        <p:nvSpPr>
          <p:cNvPr id="13" name="CasellaDiTesto 12">
            <a:extLst>
              <a:ext uri="{FF2B5EF4-FFF2-40B4-BE49-F238E27FC236}">
                <a16:creationId xmlns:a16="http://schemas.microsoft.com/office/drawing/2014/main" id="{14AA1055-CD77-9D47-9D47-66E2E9C8638C}"/>
              </a:ext>
            </a:extLst>
          </p:cNvPr>
          <p:cNvSpPr txBox="1"/>
          <p:nvPr/>
        </p:nvSpPr>
        <p:spPr>
          <a:xfrm>
            <a:off x="2901234" y="6397734"/>
            <a:ext cx="7046998" cy="369332"/>
          </a:xfrm>
          <a:prstGeom prst="rect">
            <a:avLst/>
          </a:prstGeom>
          <a:noFill/>
        </p:spPr>
        <p:txBody>
          <a:bodyPr wrap="square">
            <a:spAutoFit/>
          </a:bodyPr>
          <a:lstStyle/>
          <a:p>
            <a:r>
              <a:rPr lang="it-IT" b="0" i="0" dirty="0" err="1">
                <a:solidFill>
                  <a:srgbClr val="444444"/>
                </a:solidFill>
                <a:effectLst/>
              </a:rPr>
              <a:t>Rewriting</a:t>
            </a:r>
            <a:r>
              <a:rPr lang="it-IT" b="0" i="0" dirty="0">
                <a:solidFill>
                  <a:srgbClr val="444444"/>
                </a:solidFill>
                <a:effectLst/>
              </a:rPr>
              <a:t> </a:t>
            </a:r>
            <a:r>
              <a:rPr lang="it-IT" b="0" i="0" dirty="0" err="1">
                <a:solidFill>
                  <a:srgbClr val="444444"/>
                </a:solidFill>
                <a:effectLst/>
              </a:rPr>
              <a:t>as</a:t>
            </a:r>
            <a:r>
              <a:rPr lang="it-IT" b="0" i="0" dirty="0">
                <a:solidFill>
                  <a:srgbClr val="444444"/>
                </a:solidFill>
                <a:effectLst/>
              </a:rPr>
              <a:t> delta </a:t>
            </a:r>
            <a:r>
              <a:rPr lang="it-IT" b="0" i="0" dirty="0" err="1">
                <a:solidFill>
                  <a:srgbClr val="444444"/>
                </a:solidFill>
                <a:effectLst/>
              </a:rPr>
              <a:t>rule</a:t>
            </a:r>
            <a:endParaRPr lang="en-US" dirty="0"/>
          </a:p>
        </p:txBody>
      </p:sp>
      <p:pic>
        <p:nvPicPr>
          <p:cNvPr id="12" name="Immagine 11">
            <a:extLst>
              <a:ext uri="{FF2B5EF4-FFF2-40B4-BE49-F238E27FC236}">
                <a16:creationId xmlns:a16="http://schemas.microsoft.com/office/drawing/2014/main" id="{E8A84895-A388-C049-B6D5-399B6F267820}"/>
              </a:ext>
            </a:extLst>
          </p:cNvPr>
          <p:cNvPicPr>
            <a:picLocks noChangeAspect="1"/>
          </p:cNvPicPr>
          <p:nvPr/>
        </p:nvPicPr>
        <p:blipFill rotWithShape="1">
          <a:blip r:embed="rId6"/>
          <a:srcRect l="37508"/>
          <a:stretch/>
        </p:blipFill>
        <p:spPr>
          <a:xfrm>
            <a:off x="10891507" y="3454183"/>
            <a:ext cx="1300493" cy="462458"/>
          </a:xfrm>
          <a:prstGeom prst="rect">
            <a:avLst/>
          </a:prstGeom>
        </p:spPr>
      </p:pic>
      <p:pic>
        <p:nvPicPr>
          <p:cNvPr id="14" name="Immagine 13">
            <a:extLst>
              <a:ext uri="{FF2B5EF4-FFF2-40B4-BE49-F238E27FC236}">
                <a16:creationId xmlns:a16="http://schemas.microsoft.com/office/drawing/2014/main" id="{6A2CCF90-1FA1-7D45-AF73-52E17EA4FB34}"/>
              </a:ext>
            </a:extLst>
          </p:cNvPr>
          <p:cNvPicPr>
            <a:picLocks noChangeAspect="1"/>
          </p:cNvPicPr>
          <p:nvPr/>
        </p:nvPicPr>
        <p:blipFill rotWithShape="1">
          <a:blip r:embed="rId7"/>
          <a:srcRect l="47719" t="70430" r="35447" b="7602"/>
          <a:stretch/>
        </p:blipFill>
        <p:spPr>
          <a:xfrm>
            <a:off x="11008726" y="1930920"/>
            <a:ext cx="1045029" cy="347967"/>
          </a:xfrm>
          <a:prstGeom prst="rect">
            <a:avLst/>
          </a:prstGeom>
        </p:spPr>
      </p:pic>
      <p:pic>
        <p:nvPicPr>
          <p:cNvPr id="9" name="Immagine 8">
            <a:extLst>
              <a:ext uri="{FF2B5EF4-FFF2-40B4-BE49-F238E27FC236}">
                <a16:creationId xmlns:a16="http://schemas.microsoft.com/office/drawing/2014/main" id="{8C205183-2CD6-5344-A54C-9608E835FD2F}"/>
              </a:ext>
            </a:extLst>
          </p:cNvPr>
          <p:cNvPicPr>
            <a:picLocks noChangeAspect="1"/>
          </p:cNvPicPr>
          <p:nvPr/>
        </p:nvPicPr>
        <p:blipFill>
          <a:blip r:embed="rId8"/>
          <a:stretch>
            <a:fillRect/>
          </a:stretch>
        </p:blipFill>
        <p:spPr>
          <a:xfrm>
            <a:off x="1039602" y="2842340"/>
            <a:ext cx="7617097" cy="444499"/>
          </a:xfrm>
          <a:prstGeom prst="rect">
            <a:avLst/>
          </a:prstGeom>
        </p:spPr>
      </p:pic>
      <p:pic>
        <p:nvPicPr>
          <p:cNvPr id="15" name="Immagine 14">
            <a:extLst>
              <a:ext uri="{FF2B5EF4-FFF2-40B4-BE49-F238E27FC236}">
                <a16:creationId xmlns:a16="http://schemas.microsoft.com/office/drawing/2014/main" id="{27DB8049-826B-A049-B4CC-C59F68859B34}"/>
              </a:ext>
            </a:extLst>
          </p:cNvPr>
          <p:cNvPicPr>
            <a:picLocks noChangeAspect="1"/>
          </p:cNvPicPr>
          <p:nvPr/>
        </p:nvPicPr>
        <p:blipFill>
          <a:blip r:embed="rId9"/>
          <a:stretch>
            <a:fillRect/>
          </a:stretch>
        </p:blipFill>
        <p:spPr>
          <a:xfrm>
            <a:off x="1039602" y="3645408"/>
            <a:ext cx="4000491" cy="444499"/>
          </a:xfrm>
          <a:prstGeom prst="rect">
            <a:avLst/>
          </a:prstGeom>
        </p:spPr>
      </p:pic>
    </p:spTree>
    <p:extLst>
      <p:ext uri="{BB962C8B-B14F-4D97-AF65-F5344CB8AC3E}">
        <p14:creationId xmlns:p14="http://schemas.microsoft.com/office/powerpoint/2010/main" val="298060874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alphaModFix amt="35000"/>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9471725" y="2039272"/>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8" name="Immagine 7">
            <a:extLst>
              <a:ext uri="{FF2B5EF4-FFF2-40B4-BE49-F238E27FC236}">
                <a16:creationId xmlns:a16="http://schemas.microsoft.com/office/drawing/2014/main" id="{06B63281-F2B6-AA4A-BC41-4E3B384B097E}"/>
              </a:ext>
            </a:extLst>
          </p:cNvPr>
          <p:cNvPicPr>
            <a:picLocks noChangeAspect="1"/>
          </p:cNvPicPr>
          <p:nvPr/>
        </p:nvPicPr>
        <p:blipFill>
          <a:blip r:embed="rId5"/>
          <a:stretch>
            <a:fillRect/>
          </a:stretch>
        </p:blipFill>
        <p:spPr>
          <a:xfrm>
            <a:off x="1105683" y="2039272"/>
            <a:ext cx="3568700" cy="444500"/>
          </a:xfrm>
          <a:prstGeom prst="rect">
            <a:avLst/>
          </a:prstGeom>
        </p:spPr>
      </p:pic>
      <p:sp>
        <p:nvSpPr>
          <p:cNvPr id="13" name="CasellaDiTesto 12">
            <a:extLst>
              <a:ext uri="{FF2B5EF4-FFF2-40B4-BE49-F238E27FC236}">
                <a16:creationId xmlns:a16="http://schemas.microsoft.com/office/drawing/2014/main" id="{14AA1055-CD77-9D47-9D47-66E2E9C8638C}"/>
              </a:ext>
            </a:extLst>
          </p:cNvPr>
          <p:cNvSpPr txBox="1"/>
          <p:nvPr/>
        </p:nvSpPr>
        <p:spPr>
          <a:xfrm>
            <a:off x="2901234" y="6397734"/>
            <a:ext cx="7046998" cy="369332"/>
          </a:xfrm>
          <a:prstGeom prst="rect">
            <a:avLst/>
          </a:prstGeom>
          <a:noFill/>
        </p:spPr>
        <p:txBody>
          <a:bodyPr wrap="square">
            <a:spAutoFit/>
          </a:bodyPr>
          <a:lstStyle/>
          <a:p>
            <a:r>
              <a:rPr lang="it-IT" b="0" i="0" dirty="0" err="1">
                <a:solidFill>
                  <a:srgbClr val="444444"/>
                </a:solidFill>
                <a:effectLst/>
              </a:rPr>
              <a:t>Rewriting</a:t>
            </a:r>
            <a:r>
              <a:rPr lang="it-IT" b="0" i="0" dirty="0">
                <a:solidFill>
                  <a:srgbClr val="444444"/>
                </a:solidFill>
                <a:effectLst/>
              </a:rPr>
              <a:t> </a:t>
            </a:r>
            <a:r>
              <a:rPr lang="it-IT" b="0" i="0" dirty="0" err="1">
                <a:solidFill>
                  <a:srgbClr val="444444"/>
                </a:solidFill>
                <a:effectLst/>
              </a:rPr>
              <a:t>as</a:t>
            </a:r>
            <a:r>
              <a:rPr lang="it-IT" b="0" i="0" dirty="0">
                <a:solidFill>
                  <a:srgbClr val="444444"/>
                </a:solidFill>
                <a:effectLst/>
              </a:rPr>
              <a:t> delta </a:t>
            </a:r>
            <a:r>
              <a:rPr lang="it-IT" b="0" i="0" dirty="0" err="1">
                <a:solidFill>
                  <a:srgbClr val="444444"/>
                </a:solidFill>
                <a:effectLst/>
              </a:rPr>
              <a:t>rule</a:t>
            </a:r>
            <a:endParaRPr lang="en-US" dirty="0"/>
          </a:p>
        </p:txBody>
      </p:sp>
      <p:pic>
        <p:nvPicPr>
          <p:cNvPr id="12" name="Immagine 11">
            <a:extLst>
              <a:ext uri="{FF2B5EF4-FFF2-40B4-BE49-F238E27FC236}">
                <a16:creationId xmlns:a16="http://schemas.microsoft.com/office/drawing/2014/main" id="{E8A84895-A388-C049-B6D5-399B6F267820}"/>
              </a:ext>
            </a:extLst>
          </p:cNvPr>
          <p:cNvPicPr>
            <a:picLocks noChangeAspect="1"/>
          </p:cNvPicPr>
          <p:nvPr/>
        </p:nvPicPr>
        <p:blipFill rotWithShape="1">
          <a:blip r:embed="rId6"/>
          <a:srcRect l="37508"/>
          <a:stretch/>
        </p:blipFill>
        <p:spPr>
          <a:xfrm>
            <a:off x="10891507" y="3454183"/>
            <a:ext cx="1300493" cy="462458"/>
          </a:xfrm>
          <a:prstGeom prst="rect">
            <a:avLst/>
          </a:prstGeom>
        </p:spPr>
      </p:pic>
      <p:pic>
        <p:nvPicPr>
          <p:cNvPr id="14" name="Immagine 13">
            <a:extLst>
              <a:ext uri="{FF2B5EF4-FFF2-40B4-BE49-F238E27FC236}">
                <a16:creationId xmlns:a16="http://schemas.microsoft.com/office/drawing/2014/main" id="{6A2CCF90-1FA1-7D45-AF73-52E17EA4FB34}"/>
              </a:ext>
            </a:extLst>
          </p:cNvPr>
          <p:cNvPicPr>
            <a:picLocks noChangeAspect="1"/>
          </p:cNvPicPr>
          <p:nvPr/>
        </p:nvPicPr>
        <p:blipFill rotWithShape="1">
          <a:blip r:embed="rId7"/>
          <a:srcRect l="47719" t="70430" r="35447" b="7602"/>
          <a:stretch/>
        </p:blipFill>
        <p:spPr>
          <a:xfrm>
            <a:off x="11008726" y="1930920"/>
            <a:ext cx="1045029" cy="347967"/>
          </a:xfrm>
          <a:prstGeom prst="rect">
            <a:avLst/>
          </a:prstGeom>
        </p:spPr>
      </p:pic>
      <p:pic>
        <p:nvPicPr>
          <p:cNvPr id="9" name="Immagine 8">
            <a:extLst>
              <a:ext uri="{FF2B5EF4-FFF2-40B4-BE49-F238E27FC236}">
                <a16:creationId xmlns:a16="http://schemas.microsoft.com/office/drawing/2014/main" id="{8C205183-2CD6-5344-A54C-9608E835FD2F}"/>
              </a:ext>
            </a:extLst>
          </p:cNvPr>
          <p:cNvPicPr>
            <a:picLocks noChangeAspect="1"/>
          </p:cNvPicPr>
          <p:nvPr/>
        </p:nvPicPr>
        <p:blipFill>
          <a:blip r:embed="rId8"/>
          <a:stretch>
            <a:fillRect/>
          </a:stretch>
        </p:blipFill>
        <p:spPr>
          <a:xfrm>
            <a:off x="1039602" y="2842340"/>
            <a:ext cx="7617097" cy="444499"/>
          </a:xfrm>
          <a:prstGeom prst="rect">
            <a:avLst/>
          </a:prstGeom>
        </p:spPr>
      </p:pic>
      <p:pic>
        <p:nvPicPr>
          <p:cNvPr id="15" name="Immagine 14">
            <a:extLst>
              <a:ext uri="{FF2B5EF4-FFF2-40B4-BE49-F238E27FC236}">
                <a16:creationId xmlns:a16="http://schemas.microsoft.com/office/drawing/2014/main" id="{27DB8049-826B-A049-B4CC-C59F68859B34}"/>
              </a:ext>
            </a:extLst>
          </p:cNvPr>
          <p:cNvPicPr>
            <a:picLocks noChangeAspect="1"/>
          </p:cNvPicPr>
          <p:nvPr/>
        </p:nvPicPr>
        <p:blipFill>
          <a:blip r:embed="rId9"/>
          <a:stretch>
            <a:fillRect/>
          </a:stretch>
        </p:blipFill>
        <p:spPr>
          <a:xfrm>
            <a:off x="1039602" y="3645408"/>
            <a:ext cx="4000491" cy="444499"/>
          </a:xfrm>
          <a:prstGeom prst="rect">
            <a:avLst/>
          </a:prstGeom>
        </p:spPr>
      </p:pic>
      <p:pic>
        <p:nvPicPr>
          <p:cNvPr id="17" name="Immagine 16">
            <a:extLst>
              <a:ext uri="{FF2B5EF4-FFF2-40B4-BE49-F238E27FC236}">
                <a16:creationId xmlns:a16="http://schemas.microsoft.com/office/drawing/2014/main" id="{C2CFD92D-CBC9-3F48-B44F-65C4C6F78577}"/>
              </a:ext>
            </a:extLst>
          </p:cNvPr>
          <p:cNvPicPr>
            <a:picLocks noChangeAspect="1"/>
          </p:cNvPicPr>
          <p:nvPr/>
        </p:nvPicPr>
        <p:blipFill>
          <a:blip r:embed="rId10"/>
          <a:stretch>
            <a:fillRect/>
          </a:stretch>
        </p:blipFill>
        <p:spPr>
          <a:xfrm>
            <a:off x="1039602" y="4428660"/>
            <a:ext cx="7356253" cy="387171"/>
          </a:xfrm>
          <a:prstGeom prst="rect">
            <a:avLst/>
          </a:prstGeom>
        </p:spPr>
      </p:pic>
    </p:spTree>
    <p:extLst>
      <p:ext uri="{BB962C8B-B14F-4D97-AF65-F5344CB8AC3E}">
        <p14:creationId xmlns:p14="http://schemas.microsoft.com/office/powerpoint/2010/main" val="348249203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alphaModFix amt="35000"/>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9471725" y="2039272"/>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8" name="Immagine 7">
            <a:extLst>
              <a:ext uri="{FF2B5EF4-FFF2-40B4-BE49-F238E27FC236}">
                <a16:creationId xmlns:a16="http://schemas.microsoft.com/office/drawing/2014/main" id="{06B63281-F2B6-AA4A-BC41-4E3B384B097E}"/>
              </a:ext>
            </a:extLst>
          </p:cNvPr>
          <p:cNvPicPr>
            <a:picLocks noChangeAspect="1"/>
          </p:cNvPicPr>
          <p:nvPr/>
        </p:nvPicPr>
        <p:blipFill>
          <a:blip r:embed="rId5"/>
          <a:stretch>
            <a:fillRect/>
          </a:stretch>
        </p:blipFill>
        <p:spPr>
          <a:xfrm>
            <a:off x="1105683" y="2039272"/>
            <a:ext cx="3568700" cy="444500"/>
          </a:xfrm>
          <a:prstGeom prst="rect">
            <a:avLst/>
          </a:prstGeom>
        </p:spPr>
      </p:pic>
      <p:sp>
        <p:nvSpPr>
          <p:cNvPr id="13" name="CasellaDiTesto 12">
            <a:extLst>
              <a:ext uri="{FF2B5EF4-FFF2-40B4-BE49-F238E27FC236}">
                <a16:creationId xmlns:a16="http://schemas.microsoft.com/office/drawing/2014/main" id="{14AA1055-CD77-9D47-9D47-66E2E9C8638C}"/>
              </a:ext>
            </a:extLst>
          </p:cNvPr>
          <p:cNvSpPr txBox="1"/>
          <p:nvPr/>
        </p:nvSpPr>
        <p:spPr>
          <a:xfrm>
            <a:off x="2901234" y="6397734"/>
            <a:ext cx="7046998" cy="369332"/>
          </a:xfrm>
          <a:prstGeom prst="rect">
            <a:avLst/>
          </a:prstGeom>
          <a:noFill/>
        </p:spPr>
        <p:txBody>
          <a:bodyPr wrap="square">
            <a:spAutoFit/>
          </a:bodyPr>
          <a:lstStyle/>
          <a:p>
            <a:r>
              <a:rPr lang="it-IT" b="0" i="0" dirty="0" err="1">
                <a:solidFill>
                  <a:srgbClr val="444444"/>
                </a:solidFill>
                <a:effectLst/>
              </a:rPr>
              <a:t>Rewriting</a:t>
            </a:r>
            <a:r>
              <a:rPr lang="it-IT" b="0" i="0" dirty="0">
                <a:solidFill>
                  <a:srgbClr val="444444"/>
                </a:solidFill>
                <a:effectLst/>
              </a:rPr>
              <a:t> </a:t>
            </a:r>
            <a:r>
              <a:rPr lang="it-IT" b="0" i="0" dirty="0" err="1">
                <a:solidFill>
                  <a:srgbClr val="444444"/>
                </a:solidFill>
                <a:effectLst/>
              </a:rPr>
              <a:t>as</a:t>
            </a:r>
            <a:r>
              <a:rPr lang="it-IT" b="0" i="0" dirty="0">
                <a:solidFill>
                  <a:srgbClr val="444444"/>
                </a:solidFill>
                <a:effectLst/>
              </a:rPr>
              <a:t> delta </a:t>
            </a:r>
            <a:r>
              <a:rPr lang="it-IT" b="0" i="0" dirty="0" err="1">
                <a:solidFill>
                  <a:srgbClr val="444444"/>
                </a:solidFill>
                <a:effectLst/>
              </a:rPr>
              <a:t>rule</a:t>
            </a:r>
            <a:endParaRPr lang="en-US" dirty="0"/>
          </a:p>
        </p:txBody>
      </p:sp>
      <p:pic>
        <p:nvPicPr>
          <p:cNvPr id="12" name="Immagine 11">
            <a:extLst>
              <a:ext uri="{FF2B5EF4-FFF2-40B4-BE49-F238E27FC236}">
                <a16:creationId xmlns:a16="http://schemas.microsoft.com/office/drawing/2014/main" id="{E8A84895-A388-C049-B6D5-399B6F267820}"/>
              </a:ext>
            </a:extLst>
          </p:cNvPr>
          <p:cNvPicPr>
            <a:picLocks noChangeAspect="1"/>
          </p:cNvPicPr>
          <p:nvPr/>
        </p:nvPicPr>
        <p:blipFill rotWithShape="1">
          <a:blip r:embed="rId6"/>
          <a:srcRect l="37508"/>
          <a:stretch/>
        </p:blipFill>
        <p:spPr>
          <a:xfrm>
            <a:off x="10891507" y="3454183"/>
            <a:ext cx="1300493" cy="462458"/>
          </a:xfrm>
          <a:prstGeom prst="rect">
            <a:avLst/>
          </a:prstGeom>
        </p:spPr>
      </p:pic>
      <p:pic>
        <p:nvPicPr>
          <p:cNvPr id="14" name="Immagine 13">
            <a:extLst>
              <a:ext uri="{FF2B5EF4-FFF2-40B4-BE49-F238E27FC236}">
                <a16:creationId xmlns:a16="http://schemas.microsoft.com/office/drawing/2014/main" id="{6A2CCF90-1FA1-7D45-AF73-52E17EA4FB34}"/>
              </a:ext>
            </a:extLst>
          </p:cNvPr>
          <p:cNvPicPr>
            <a:picLocks noChangeAspect="1"/>
          </p:cNvPicPr>
          <p:nvPr/>
        </p:nvPicPr>
        <p:blipFill rotWithShape="1">
          <a:blip r:embed="rId7"/>
          <a:srcRect l="47719" t="70430" r="35447" b="7602"/>
          <a:stretch/>
        </p:blipFill>
        <p:spPr>
          <a:xfrm>
            <a:off x="11008726" y="1930920"/>
            <a:ext cx="1045029" cy="347967"/>
          </a:xfrm>
          <a:prstGeom prst="rect">
            <a:avLst/>
          </a:prstGeom>
        </p:spPr>
      </p:pic>
      <p:pic>
        <p:nvPicPr>
          <p:cNvPr id="9" name="Immagine 8">
            <a:extLst>
              <a:ext uri="{FF2B5EF4-FFF2-40B4-BE49-F238E27FC236}">
                <a16:creationId xmlns:a16="http://schemas.microsoft.com/office/drawing/2014/main" id="{8C205183-2CD6-5344-A54C-9608E835FD2F}"/>
              </a:ext>
            </a:extLst>
          </p:cNvPr>
          <p:cNvPicPr>
            <a:picLocks noChangeAspect="1"/>
          </p:cNvPicPr>
          <p:nvPr/>
        </p:nvPicPr>
        <p:blipFill>
          <a:blip r:embed="rId8"/>
          <a:stretch>
            <a:fillRect/>
          </a:stretch>
        </p:blipFill>
        <p:spPr>
          <a:xfrm>
            <a:off x="1039602" y="2842340"/>
            <a:ext cx="7617097" cy="444499"/>
          </a:xfrm>
          <a:prstGeom prst="rect">
            <a:avLst/>
          </a:prstGeom>
        </p:spPr>
      </p:pic>
      <p:pic>
        <p:nvPicPr>
          <p:cNvPr id="15" name="Immagine 14">
            <a:extLst>
              <a:ext uri="{FF2B5EF4-FFF2-40B4-BE49-F238E27FC236}">
                <a16:creationId xmlns:a16="http://schemas.microsoft.com/office/drawing/2014/main" id="{27DB8049-826B-A049-B4CC-C59F68859B34}"/>
              </a:ext>
            </a:extLst>
          </p:cNvPr>
          <p:cNvPicPr>
            <a:picLocks noChangeAspect="1"/>
          </p:cNvPicPr>
          <p:nvPr/>
        </p:nvPicPr>
        <p:blipFill>
          <a:blip r:embed="rId9"/>
          <a:stretch>
            <a:fillRect/>
          </a:stretch>
        </p:blipFill>
        <p:spPr>
          <a:xfrm>
            <a:off x="1039602" y="3645408"/>
            <a:ext cx="4000491" cy="444499"/>
          </a:xfrm>
          <a:prstGeom prst="rect">
            <a:avLst/>
          </a:prstGeom>
        </p:spPr>
      </p:pic>
      <p:pic>
        <p:nvPicPr>
          <p:cNvPr id="17" name="Immagine 16">
            <a:extLst>
              <a:ext uri="{FF2B5EF4-FFF2-40B4-BE49-F238E27FC236}">
                <a16:creationId xmlns:a16="http://schemas.microsoft.com/office/drawing/2014/main" id="{C2CFD92D-CBC9-3F48-B44F-65C4C6F78577}"/>
              </a:ext>
            </a:extLst>
          </p:cNvPr>
          <p:cNvPicPr>
            <a:picLocks noChangeAspect="1"/>
          </p:cNvPicPr>
          <p:nvPr/>
        </p:nvPicPr>
        <p:blipFill>
          <a:blip r:embed="rId10"/>
          <a:stretch>
            <a:fillRect/>
          </a:stretch>
        </p:blipFill>
        <p:spPr>
          <a:xfrm>
            <a:off x="1039602" y="4428660"/>
            <a:ext cx="7356253" cy="387171"/>
          </a:xfrm>
          <a:prstGeom prst="rect">
            <a:avLst/>
          </a:prstGeom>
        </p:spPr>
      </p:pic>
      <p:pic>
        <p:nvPicPr>
          <p:cNvPr id="19" name="Immagine 18">
            <a:extLst>
              <a:ext uri="{FF2B5EF4-FFF2-40B4-BE49-F238E27FC236}">
                <a16:creationId xmlns:a16="http://schemas.microsoft.com/office/drawing/2014/main" id="{F9322172-9977-7D4C-9430-6A56E9E23042}"/>
              </a:ext>
            </a:extLst>
          </p:cNvPr>
          <p:cNvPicPr>
            <a:picLocks noChangeAspect="1"/>
          </p:cNvPicPr>
          <p:nvPr/>
        </p:nvPicPr>
        <p:blipFill>
          <a:blip r:embed="rId11"/>
          <a:stretch>
            <a:fillRect/>
          </a:stretch>
        </p:blipFill>
        <p:spPr>
          <a:xfrm>
            <a:off x="1039602" y="5246781"/>
            <a:ext cx="2493307" cy="472869"/>
          </a:xfrm>
          <a:prstGeom prst="rect">
            <a:avLst/>
          </a:prstGeom>
        </p:spPr>
      </p:pic>
    </p:spTree>
    <p:extLst>
      <p:ext uri="{BB962C8B-B14F-4D97-AF65-F5344CB8AC3E}">
        <p14:creationId xmlns:p14="http://schemas.microsoft.com/office/powerpoint/2010/main" val="283176170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alphaModFix amt="35000"/>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9471725" y="2039272"/>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8" name="Immagine 7">
            <a:extLst>
              <a:ext uri="{FF2B5EF4-FFF2-40B4-BE49-F238E27FC236}">
                <a16:creationId xmlns:a16="http://schemas.microsoft.com/office/drawing/2014/main" id="{06B63281-F2B6-AA4A-BC41-4E3B384B097E}"/>
              </a:ext>
            </a:extLst>
          </p:cNvPr>
          <p:cNvPicPr>
            <a:picLocks noChangeAspect="1"/>
          </p:cNvPicPr>
          <p:nvPr/>
        </p:nvPicPr>
        <p:blipFill>
          <a:blip r:embed="rId5"/>
          <a:stretch>
            <a:fillRect/>
          </a:stretch>
        </p:blipFill>
        <p:spPr>
          <a:xfrm>
            <a:off x="1105683" y="2039272"/>
            <a:ext cx="3568700" cy="444500"/>
          </a:xfrm>
          <a:prstGeom prst="rect">
            <a:avLst/>
          </a:prstGeom>
        </p:spPr>
      </p:pic>
      <p:sp>
        <p:nvSpPr>
          <p:cNvPr id="13" name="CasellaDiTesto 12">
            <a:extLst>
              <a:ext uri="{FF2B5EF4-FFF2-40B4-BE49-F238E27FC236}">
                <a16:creationId xmlns:a16="http://schemas.microsoft.com/office/drawing/2014/main" id="{14AA1055-CD77-9D47-9D47-66E2E9C8638C}"/>
              </a:ext>
            </a:extLst>
          </p:cNvPr>
          <p:cNvSpPr txBox="1"/>
          <p:nvPr/>
        </p:nvSpPr>
        <p:spPr>
          <a:xfrm>
            <a:off x="2901234" y="6397734"/>
            <a:ext cx="7046998" cy="369332"/>
          </a:xfrm>
          <a:prstGeom prst="rect">
            <a:avLst/>
          </a:prstGeom>
          <a:noFill/>
        </p:spPr>
        <p:txBody>
          <a:bodyPr wrap="square">
            <a:spAutoFit/>
          </a:bodyPr>
          <a:lstStyle/>
          <a:p>
            <a:r>
              <a:rPr lang="it-IT" b="0" i="0" dirty="0" err="1">
                <a:solidFill>
                  <a:srgbClr val="444444"/>
                </a:solidFill>
                <a:effectLst/>
              </a:rPr>
              <a:t>Apply</a:t>
            </a:r>
            <a:r>
              <a:rPr lang="it-IT" b="0" i="0" dirty="0">
                <a:solidFill>
                  <a:srgbClr val="444444"/>
                </a:solidFill>
                <a:effectLst/>
              </a:rPr>
              <a:t> the </a:t>
            </a:r>
            <a:r>
              <a:rPr lang="it-IT" b="0" i="0" dirty="0" err="1">
                <a:solidFill>
                  <a:srgbClr val="444444"/>
                </a:solidFill>
                <a:effectLst/>
              </a:rPr>
              <a:t>step</a:t>
            </a:r>
            <a:r>
              <a:rPr lang="it-IT" b="0" i="0" dirty="0">
                <a:solidFill>
                  <a:srgbClr val="444444"/>
                </a:solidFill>
                <a:effectLst/>
              </a:rPr>
              <a:t> </a:t>
            </a:r>
            <a:r>
              <a:rPr lang="it-IT" b="0" i="0" dirty="0" err="1">
                <a:solidFill>
                  <a:srgbClr val="444444"/>
                </a:solidFill>
                <a:effectLst/>
              </a:rPr>
              <a:t>size</a:t>
            </a:r>
            <a:r>
              <a:rPr lang="it-IT" b="0" i="0" dirty="0">
                <a:solidFill>
                  <a:srgbClr val="444444"/>
                </a:solidFill>
                <a:effectLst/>
              </a:rPr>
              <a:t> to update w5.</a:t>
            </a:r>
            <a:endParaRPr lang="en-US" dirty="0"/>
          </a:p>
        </p:txBody>
      </p:sp>
      <p:pic>
        <p:nvPicPr>
          <p:cNvPr id="12" name="Immagine 11">
            <a:extLst>
              <a:ext uri="{FF2B5EF4-FFF2-40B4-BE49-F238E27FC236}">
                <a16:creationId xmlns:a16="http://schemas.microsoft.com/office/drawing/2014/main" id="{E8A84895-A388-C049-B6D5-399B6F267820}"/>
              </a:ext>
            </a:extLst>
          </p:cNvPr>
          <p:cNvPicPr>
            <a:picLocks noChangeAspect="1"/>
          </p:cNvPicPr>
          <p:nvPr/>
        </p:nvPicPr>
        <p:blipFill rotWithShape="1">
          <a:blip r:embed="rId6"/>
          <a:srcRect l="37508"/>
          <a:stretch/>
        </p:blipFill>
        <p:spPr>
          <a:xfrm>
            <a:off x="10891507" y="3454183"/>
            <a:ext cx="1300493" cy="462458"/>
          </a:xfrm>
          <a:prstGeom prst="rect">
            <a:avLst/>
          </a:prstGeom>
        </p:spPr>
      </p:pic>
      <p:pic>
        <p:nvPicPr>
          <p:cNvPr id="14" name="Immagine 13">
            <a:extLst>
              <a:ext uri="{FF2B5EF4-FFF2-40B4-BE49-F238E27FC236}">
                <a16:creationId xmlns:a16="http://schemas.microsoft.com/office/drawing/2014/main" id="{6A2CCF90-1FA1-7D45-AF73-52E17EA4FB34}"/>
              </a:ext>
            </a:extLst>
          </p:cNvPr>
          <p:cNvPicPr>
            <a:picLocks noChangeAspect="1"/>
          </p:cNvPicPr>
          <p:nvPr/>
        </p:nvPicPr>
        <p:blipFill rotWithShape="1">
          <a:blip r:embed="rId7"/>
          <a:srcRect l="47719" t="70430" r="35447" b="7602"/>
          <a:stretch/>
        </p:blipFill>
        <p:spPr>
          <a:xfrm>
            <a:off x="11008726" y="1930920"/>
            <a:ext cx="1045029" cy="347967"/>
          </a:xfrm>
          <a:prstGeom prst="rect">
            <a:avLst/>
          </a:prstGeom>
        </p:spPr>
      </p:pic>
      <p:pic>
        <p:nvPicPr>
          <p:cNvPr id="16" name="Immagine 15">
            <a:extLst>
              <a:ext uri="{FF2B5EF4-FFF2-40B4-BE49-F238E27FC236}">
                <a16:creationId xmlns:a16="http://schemas.microsoft.com/office/drawing/2014/main" id="{E7AA4FF1-EEF4-4947-B7B8-D016376ADDE0}"/>
              </a:ext>
            </a:extLst>
          </p:cNvPr>
          <p:cNvPicPr>
            <a:picLocks noChangeAspect="1"/>
          </p:cNvPicPr>
          <p:nvPr/>
        </p:nvPicPr>
        <p:blipFill>
          <a:blip r:embed="rId8"/>
          <a:stretch>
            <a:fillRect/>
          </a:stretch>
        </p:blipFill>
        <p:spPr>
          <a:xfrm>
            <a:off x="1105683" y="2866470"/>
            <a:ext cx="8534400" cy="419100"/>
          </a:xfrm>
          <a:prstGeom prst="rect">
            <a:avLst/>
          </a:prstGeom>
        </p:spPr>
      </p:pic>
      <p:pic>
        <p:nvPicPr>
          <p:cNvPr id="10" name="Immagine 9">
            <a:extLst>
              <a:ext uri="{FF2B5EF4-FFF2-40B4-BE49-F238E27FC236}">
                <a16:creationId xmlns:a16="http://schemas.microsoft.com/office/drawing/2014/main" id="{A658E02A-3B65-1447-A7A3-284DFB3B5ECB}"/>
              </a:ext>
            </a:extLst>
          </p:cNvPr>
          <p:cNvPicPr>
            <a:picLocks noChangeAspect="1"/>
          </p:cNvPicPr>
          <p:nvPr/>
        </p:nvPicPr>
        <p:blipFill>
          <a:blip r:embed="rId9"/>
          <a:stretch>
            <a:fillRect/>
          </a:stretch>
        </p:blipFill>
        <p:spPr>
          <a:xfrm>
            <a:off x="1105683" y="3553485"/>
            <a:ext cx="8216900" cy="419100"/>
          </a:xfrm>
          <a:prstGeom prst="rect">
            <a:avLst/>
          </a:prstGeom>
        </p:spPr>
      </p:pic>
    </p:spTree>
    <p:extLst>
      <p:ext uri="{BB962C8B-B14F-4D97-AF65-F5344CB8AC3E}">
        <p14:creationId xmlns:p14="http://schemas.microsoft.com/office/powerpoint/2010/main" val="22093720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alphaModFix amt="35000"/>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9471725" y="2039272"/>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8" name="Immagine 7">
            <a:extLst>
              <a:ext uri="{FF2B5EF4-FFF2-40B4-BE49-F238E27FC236}">
                <a16:creationId xmlns:a16="http://schemas.microsoft.com/office/drawing/2014/main" id="{06B63281-F2B6-AA4A-BC41-4E3B384B097E}"/>
              </a:ext>
            </a:extLst>
          </p:cNvPr>
          <p:cNvPicPr>
            <a:picLocks noChangeAspect="1"/>
          </p:cNvPicPr>
          <p:nvPr/>
        </p:nvPicPr>
        <p:blipFill>
          <a:blip r:embed="rId5"/>
          <a:stretch>
            <a:fillRect/>
          </a:stretch>
        </p:blipFill>
        <p:spPr>
          <a:xfrm>
            <a:off x="1105683" y="2039272"/>
            <a:ext cx="3568700" cy="444500"/>
          </a:xfrm>
          <a:prstGeom prst="rect">
            <a:avLst/>
          </a:prstGeom>
        </p:spPr>
      </p:pic>
      <p:sp>
        <p:nvSpPr>
          <p:cNvPr id="13" name="CasellaDiTesto 12">
            <a:extLst>
              <a:ext uri="{FF2B5EF4-FFF2-40B4-BE49-F238E27FC236}">
                <a16:creationId xmlns:a16="http://schemas.microsoft.com/office/drawing/2014/main" id="{14AA1055-CD77-9D47-9D47-66E2E9C8638C}"/>
              </a:ext>
            </a:extLst>
          </p:cNvPr>
          <p:cNvSpPr txBox="1"/>
          <p:nvPr/>
        </p:nvSpPr>
        <p:spPr>
          <a:xfrm>
            <a:off x="2901234" y="6397734"/>
            <a:ext cx="7046998" cy="369332"/>
          </a:xfrm>
          <a:prstGeom prst="rect">
            <a:avLst/>
          </a:prstGeom>
          <a:noFill/>
        </p:spPr>
        <p:txBody>
          <a:bodyPr wrap="square">
            <a:spAutoFit/>
          </a:bodyPr>
          <a:lstStyle/>
          <a:p>
            <a:r>
              <a:rPr lang="it-IT" b="0" i="0" dirty="0" err="1">
                <a:solidFill>
                  <a:srgbClr val="444444"/>
                </a:solidFill>
                <a:effectLst/>
              </a:rPr>
              <a:t>Apply</a:t>
            </a:r>
            <a:r>
              <a:rPr lang="it-IT" b="0" i="0" dirty="0">
                <a:solidFill>
                  <a:srgbClr val="444444"/>
                </a:solidFill>
                <a:effectLst/>
              </a:rPr>
              <a:t> the </a:t>
            </a:r>
            <a:r>
              <a:rPr lang="it-IT" b="0" i="0" dirty="0" err="1">
                <a:solidFill>
                  <a:srgbClr val="444444"/>
                </a:solidFill>
                <a:effectLst/>
              </a:rPr>
              <a:t>step</a:t>
            </a:r>
            <a:r>
              <a:rPr lang="it-IT" b="0" i="0" dirty="0">
                <a:solidFill>
                  <a:srgbClr val="444444"/>
                </a:solidFill>
                <a:effectLst/>
              </a:rPr>
              <a:t> </a:t>
            </a:r>
            <a:r>
              <a:rPr lang="it-IT" b="0" i="0" dirty="0" err="1">
                <a:solidFill>
                  <a:srgbClr val="444444"/>
                </a:solidFill>
                <a:effectLst/>
              </a:rPr>
              <a:t>size</a:t>
            </a:r>
            <a:r>
              <a:rPr lang="it-IT" b="0" i="0" dirty="0">
                <a:solidFill>
                  <a:srgbClr val="444444"/>
                </a:solidFill>
                <a:effectLst/>
              </a:rPr>
              <a:t> to update w5.</a:t>
            </a:r>
            <a:endParaRPr lang="en-US" dirty="0"/>
          </a:p>
        </p:txBody>
      </p:sp>
      <p:pic>
        <p:nvPicPr>
          <p:cNvPr id="12" name="Immagine 11">
            <a:extLst>
              <a:ext uri="{FF2B5EF4-FFF2-40B4-BE49-F238E27FC236}">
                <a16:creationId xmlns:a16="http://schemas.microsoft.com/office/drawing/2014/main" id="{E8A84895-A388-C049-B6D5-399B6F267820}"/>
              </a:ext>
            </a:extLst>
          </p:cNvPr>
          <p:cNvPicPr>
            <a:picLocks noChangeAspect="1"/>
          </p:cNvPicPr>
          <p:nvPr/>
        </p:nvPicPr>
        <p:blipFill rotWithShape="1">
          <a:blip r:embed="rId6"/>
          <a:srcRect l="37508"/>
          <a:stretch/>
        </p:blipFill>
        <p:spPr>
          <a:xfrm>
            <a:off x="10891507" y="3454183"/>
            <a:ext cx="1300493" cy="462458"/>
          </a:xfrm>
          <a:prstGeom prst="rect">
            <a:avLst/>
          </a:prstGeom>
        </p:spPr>
      </p:pic>
      <p:pic>
        <p:nvPicPr>
          <p:cNvPr id="14" name="Immagine 13">
            <a:extLst>
              <a:ext uri="{FF2B5EF4-FFF2-40B4-BE49-F238E27FC236}">
                <a16:creationId xmlns:a16="http://schemas.microsoft.com/office/drawing/2014/main" id="{6A2CCF90-1FA1-7D45-AF73-52E17EA4FB34}"/>
              </a:ext>
            </a:extLst>
          </p:cNvPr>
          <p:cNvPicPr>
            <a:picLocks noChangeAspect="1"/>
          </p:cNvPicPr>
          <p:nvPr/>
        </p:nvPicPr>
        <p:blipFill rotWithShape="1">
          <a:blip r:embed="rId7"/>
          <a:srcRect l="47719" t="70430" r="35447" b="7602"/>
          <a:stretch/>
        </p:blipFill>
        <p:spPr>
          <a:xfrm>
            <a:off x="11008726" y="1930920"/>
            <a:ext cx="1045029" cy="347967"/>
          </a:xfrm>
          <a:prstGeom prst="rect">
            <a:avLst/>
          </a:prstGeom>
        </p:spPr>
      </p:pic>
      <p:pic>
        <p:nvPicPr>
          <p:cNvPr id="16" name="Immagine 15">
            <a:extLst>
              <a:ext uri="{FF2B5EF4-FFF2-40B4-BE49-F238E27FC236}">
                <a16:creationId xmlns:a16="http://schemas.microsoft.com/office/drawing/2014/main" id="{E7AA4FF1-EEF4-4947-B7B8-D016376ADDE0}"/>
              </a:ext>
            </a:extLst>
          </p:cNvPr>
          <p:cNvPicPr>
            <a:picLocks noChangeAspect="1"/>
          </p:cNvPicPr>
          <p:nvPr/>
        </p:nvPicPr>
        <p:blipFill>
          <a:blip r:embed="rId8"/>
          <a:stretch>
            <a:fillRect/>
          </a:stretch>
        </p:blipFill>
        <p:spPr>
          <a:xfrm>
            <a:off x="1105683" y="2866470"/>
            <a:ext cx="8534400" cy="419100"/>
          </a:xfrm>
          <a:prstGeom prst="rect">
            <a:avLst/>
          </a:prstGeom>
        </p:spPr>
      </p:pic>
      <p:pic>
        <p:nvPicPr>
          <p:cNvPr id="10" name="Immagine 9">
            <a:extLst>
              <a:ext uri="{FF2B5EF4-FFF2-40B4-BE49-F238E27FC236}">
                <a16:creationId xmlns:a16="http://schemas.microsoft.com/office/drawing/2014/main" id="{A658E02A-3B65-1447-A7A3-284DFB3B5ECB}"/>
              </a:ext>
            </a:extLst>
          </p:cNvPr>
          <p:cNvPicPr>
            <a:picLocks noChangeAspect="1"/>
          </p:cNvPicPr>
          <p:nvPr/>
        </p:nvPicPr>
        <p:blipFill>
          <a:blip r:embed="rId9"/>
          <a:stretch>
            <a:fillRect/>
          </a:stretch>
        </p:blipFill>
        <p:spPr>
          <a:xfrm>
            <a:off x="1105683" y="3553485"/>
            <a:ext cx="8216900" cy="419100"/>
          </a:xfrm>
          <a:prstGeom prst="rect">
            <a:avLst/>
          </a:prstGeom>
        </p:spPr>
      </p:pic>
      <p:sp>
        <p:nvSpPr>
          <p:cNvPr id="9" name="Figura a mano libera 8">
            <a:extLst>
              <a:ext uri="{FF2B5EF4-FFF2-40B4-BE49-F238E27FC236}">
                <a16:creationId xmlns:a16="http://schemas.microsoft.com/office/drawing/2014/main" id="{B833ABE9-4082-BF4A-8B85-8216AB0DA927}"/>
              </a:ext>
            </a:extLst>
          </p:cNvPr>
          <p:cNvSpPr/>
          <p:nvPr/>
        </p:nvSpPr>
        <p:spPr>
          <a:xfrm>
            <a:off x="7702465" y="2424545"/>
            <a:ext cx="2300517" cy="1510146"/>
          </a:xfrm>
          <a:custGeom>
            <a:avLst/>
            <a:gdLst>
              <a:gd name="connsiteX0" fmla="*/ 1746335 w 2300517"/>
              <a:gd name="connsiteY0" fmla="*/ 1302328 h 1510146"/>
              <a:gd name="connsiteX1" fmla="*/ 1566226 w 2300517"/>
              <a:gd name="connsiteY1" fmla="*/ 1233055 h 1510146"/>
              <a:gd name="connsiteX2" fmla="*/ 1483099 w 2300517"/>
              <a:gd name="connsiteY2" fmla="*/ 1205346 h 1510146"/>
              <a:gd name="connsiteX3" fmla="*/ 1233717 w 2300517"/>
              <a:gd name="connsiteY3" fmla="*/ 1149928 h 1510146"/>
              <a:gd name="connsiteX4" fmla="*/ 1081317 w 2300517"/>
              <a:gd name="connsiteY4" fmla="*/ 1122219 h 1510146"/>
              <a:gd name="connsiteX5" fmla="*/ 956626 w 2300517"/>
              <a:gd name="connsiteY5" fmla="*/ 1108364 h 1510146"/>
              <a:gd name="connsiteX6" fmla="*/ 859644 w 2300517"/>
              <a:gd name="connsiteY6" fmla="*/ 1094510 h 1510146"/>
              <a:gd name="connsiteX7" fmla="*/ 305462 w 2300517"/>
              <a:gd name="connsiteY7" fmla="*/ 1108364 h 1510146"/>
              <a:gd name="connsiteX8" fmla="*/ 139208 w 2300517"/>
              <a:gd name="connsiteY8" fmla="*/ 1136073 h 1510146"/>
              <a:gd name="connsiteX9" fmla="*/ 97644 w 2300517"/>
              <a:gd name="connsiteY9" fmla="*/ 1149928 h 1510146"/>
              <a:gd name="connsiteX10" fmla="*/ 56080 w 2300517"/>
              <a:gd name="connsiteY10" fmla="*/ 1177637 h 1510146"/>
              <a:gd name="connsiteX11" fmla="*/ 662 w 2300517"/>
              <a:gd name="connsiteY11" fmla="*/ 1260764 h 1510146"/>
              <a:gd name="connsiteX12" fmla="*/ 42226 w 2300517"/>
              <a:gd name="connsiteY12" fmla="*/ 1413164 h 1510146"/>
              <a:gd name="connsiteX13" fmla="*/ 83790 w 2300517"/>
              <a:gd name="connsiteY13" fmla="*/ 1440873 h 1510146"/>
              <a:gd name="connsiteX14" fmla="*/ 166917 w 2300517"/>
              <a:gd name="connsiteY14" fmla="*/ 1468582 h 1510146"/>
              <a:gd name="connsiteX15" fmla="*/ 360880 w 2300517"/>
              <a:gd name="connsiteY15" fmla="*/ 1496291 h 1510146"/>
              <a:gd name="connsiteX16" fmla="*/ 984335 w 2300517"/>
              <a:gd name="connsiteY16" fmla="*/ 1510146 h 1510146"/>
              <a:gd name="connsiteX17" fmla="*/ 1178299 w 2300517"/>
              <a:gd name="connsiteY17" fmla="*/ 1496291 h 1510146"/>
              <a:gd name="connsiteX18" fmla="*/ 1621644 w 2300517"/>
              <a:gd name="connsiteY18" fmla="*/ 1468582 h 1510146"/>
              <a:gd name="connsiteX19" fmla="*/ 1690917 w 2300517"/>
              <a:gd name="connsiteY19" fmla="*/ 1454728 h 1510146"/>
              <a:gd name="connsiteX20" fmla="*/ 1829462 w 2300517"/>
              <a:gd name="connsiteY20" fmla="*/ 1427019 h 1510146"/>
              <a:gd name="connsiteX21" fmla="*/ 1912590 w 2300517"/>
              <a:gd name="connsiteY21" fmla="*/ 1399310 h 1510146"/>
              <a:gd name="connsiteX22" fmla="*/ 1954153 w 2300517"/>
              <a:gd name="connsiteY22" fmla="*/ 1385455 h 1510146"/>
              <a:gd name="connsiteX23" fmla="*/ 1995717 w 2300517"/>
              <a:gd name="connsiteY23" fmla="*/ 1343891 h 1510146"/>
              <a:gd name="connsiteX24" fmla="*/ 2078844 w 2300517"/>
              <a:gd name="connsiteY24" fmla="*/ 1288473 h 1510146"/>
              <a:gd name="connsiteX25" fmla="*/ 2120408 w 2300517"/>
              <a:gd name="connsiteY25" fmla="*/ 1246910 h 1510146"/>
              <a:gd name="connsiteX26" fmla="*/ 2189680 w 2300517"/>
              <a:gd name="connsiteY26" fmla="*/ 1163782 h 1510146"/>
              <a:gd name="connsiteX27" fmla="*/ 2231244 w 2300517"/>
              <a:gd name="connsiteY27" fmla="*/ 1066800 h 1510146"/>
              <a:gd name="connsiteX28" fmla="*/ 2258953 w 2300517"/>
              <a:gd name="connsiteY28" fmla="*/ 983673 h 1510146"/>
              <a:gd name="connsiteX29" fmla="*/ 2286662 w 2300517"/>
              <a:gd name="connsiteY29" fmla="*/ 900546 h 1510146"/>
              <a:gd name="connsiteX30" fmla="*/ 2300517 w 2300517"/>
              <a:gd name="connsiteY30" fmla="*/ 845128 h 1510146"/>
              <a:gd name="connsiteX31" fmla="*/ 2272808 w 2300517"/>
              <a:gd name="connsiteY31" fmla="*/ 554182 h 1510146"/>
              <a:gd name="connsiteX32" fmla="*/ 2245099 w 2300517"/>
              <a:gd name="connsiteY32" fmla="*/ 471055 h 1510146"/>
              <a:gd name="connsiteX33" fmla="*/ 2120408 w 2300517"/>
              <a:gd name="connsiteY33" fmla="*/ 360219 h 1510146"/>
              <a:gd name="connsiteX34" fmla="*/ 2023426 w 2300517"/>
              <a:gd name="connsiteY34" fmla="*/ 318655 h 1510146"/>
              <a:gd name="connsiteX35" fmla="*/ 1981862 w 2300517"/>
              <a:gd name="connsiteY35" fmla="*/ 290946 h 1510146"/>
              <a:gd name="connsiteX36" fmla="*/ 1940299 w 2300517"/>
              <a:gd name="connsiteY36" fmla="*/ 277091 h 1510146"/>
              <a:gd name="connsiteX37" fmla="*/ 1857171 w 2300517"/>
              <a:gd name="connsiteY37" fmla="*/ 235528 h 1510146"/>
              <a:gd name="connsiteX38" fmla="*/ 1815608 w 2300517"/>
              <a:gd name="connsiteY38" fmla="*/ 207819 h 1510146"/>
              <a:gd name="connsiteX39" fmla="*/ 1774044 w 2300517"/>
              <a:gd name="connsiteY39" fmla="*/ 193964 h 1510146"/>
              <a:gd name="connsiteX40" fmla="*/ 1704771 w 2300517"/>
              <a:gd name="connsiteY40" fmla="*/ 69273 h 1510146"/>
              <a:gd name="connsiteX41" fmla="*/ 1704771 w 2300517"/>
              <a:gd name="connsiteY41" fmla="*/ 0 h 1510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300517" h="1510146">
                <a:moveTo>
                  <a:pt x="1746335" y="1302328"/>
                </a:moveTo>
                <a:cubicBezTo>
                  <a:pt x="1622503" y="1249257"/>
                  <a:pt x="1682723" y="1271887"/>
                  <a:pt x="1566226" y="1233055"/>
                </a:cubicBezTo>
                <a:cubicBezTo>
                  <a:pt x="1566216" y="1233052"/>
                  <a:pt x="1483110" y="1205349"/>
                  <a:pt x="1483099" y="1205346"/>
                </a:cubicBezTo>
                <a:cubicBezTo>
                  <a:pt x="1326566" y="1166213"/>
                  <a:pt x="1409612" y="1185107"/>
                  <a:pt x="1233717" y="1149928"/>
                </a:cubicBezTo>
                <a:cubicBezTo>
                  <a:pt x="1181461" y="1139477"/>
                  <a:pt x="1134512" y="1129312"/>
                  <a:pt x="1081317" y="1122219"/>
                </a:cubicBezTo>
                <a:cubicBezTo>
                  <a:pt x="1039864" y="1116692"/>
                  <a:pt x="998123" y="1113551"/>
                  <a:pt x="956626" y="1108364"/>
                </a:cubicBezTo>
                <a:cubicBezTo>
                  <a:pt x="924223" y="1104314"/>
                  <a:pt x="891971" y="1099128"/>
                  <a:pt x="859644" y="1094510"/>
                </a:cubicBezTo>
                <a:lnTo>
                  <a:pt x="305462" y="1108364"/>
                </a:lnTo>
                <a:cubicBezTo>
                  <a:pt x="246233" y="1110832"/>
                  <a:pt x="194693" y="1120220"/>
                  <a:pt x="139208" y="1136073"/>
                </a:cubicBezTo>
                <a:cubicBezTo>
                  <a:pt x="125166" y="1140085"/>
                  <a:pt x="110706" y="1143397"/>
                  <a:pt x="97644" y="1149928"/>
                </a:cubicBezTo>
                <a:cubicBezTo>
                  <a:pt x="82751" y="1157375"/>
                  <a:pt x="69935" y="1168401"/>
                  <a:pt x="56080" y="1177637"/>
                </a:cubicBezTo>
                <a:cubicBezTo>
                  <a:pt x="37607" y="1205346"/>
                  <a:pt x="-5869" y="1228109"/>
                  <a:pt x="662" y="1260764"/>
                </a:cubicBezTo>
                <a:cubicBezTo>
                  <a:pt x="4983" y="1282367"/>
                  <a:pt x="26001" y="1402347"/>
                  <a:pt x="42226" y="1413164"/>
                </a:cubicBezTo>
                <a:cubicBezTo>
                  <a:pt x="56081" y="1422400"/>
                  <a:pt x="68574" y="1434110"/>
                  <a:pt x="83790" y="1440873"/>
                </a:cubicBezTo>
                <a:cubicBezTo>
                  <a:pt x="110480" y="1452735"/>
                  <a:pt x="139208" y="1459346"/>
                  <a:pt x="166917" y="1468582"/>
                </a:cubicBezTo>
                <a:cubicBezTo>
                  <a:pt x="248012" y="1495614"/>
                  <a:pt x="224883" y="1491434"/>
                  <a:pt x="360880" y="1496291"/>
                </a:cubicBezTo>
                <a:cubicBezTo>
                  <a:pt x="568617" y="1503710"/>
                  <a:pt x="776517" y="1505528"/>
                  <a:pt x="984335" y="1510146"/>
                </a:cubicBezTo>
                <a:cubicBezTo>
                  <a:pt x="1048990" y="1505528"/>
                  <a:pt x="1113565" y="1499611"/>
                  <a:pt x="1178299" y="1496291"/>
                </a:cubicBezTo>
                <a:cubicBezTo>
                  <a:pt x="1440061" y="1482867"/>
                  <a:pt x="1443408" y="1498288"/>
                  <a:pt x="1621644" y="1468582"/>
                </a:cubicBezTo>
                <a:cubicBezTo>
                  <a:pt x="1644872" y="1464711"/>
                  <a:pt x="1667749" y="1458940"/>
                  <a:pt x="1690917" y="1454728"/>
                </a:cubicBezTo>
                <a:cubicBezTo>
                  <a:pt x="1754281" y="1443207"/>
                  <a:pt x="1772919" y="1443982"/>
                  <a:pt x="1829462" y="1427019"/>
                </a:cubicBezTo>
                <a:cubicBezTo>
                  <a:pt x="1857438" y="1418626"/>
                  <a:pt x="1884881" y="1408547"/>
                  <a:pt x="1912590" y="1399310"/>
                </a:cubicBezTo>
                <a:lnTo>
                  <a:pt x="1954153" y="1385455"/>
                </a:lnTo>
                <a:cubicBezTo>
                  <a:pt x="1968008" y="1371600"/>
                  <a:pt x="1980251" y="1355920"/>
                  <a:pt x="1995717" y="1343891"/>
                </a:cubicBezTo>
                <a:cubicBezTo>
                  <a:pt x="2022004" y="1323445"/>
                  <a:pt x="2055296" y="1312021"/>
                  <a:pt x="2078844" y="1288473"/>
                </a:cubicBezTo>
                <a:cubicBezTo>
                  <a:pt x="2092699" y="1274619"/>
                  <a:pt x="2107865" y="1261962"/>
                  <a:pt x="2120408" y="1246910"/>
                </a:cubicBezTo>
                <a:cubicBezTo>
                  <a:pt x="2216866" y="1131161"/>
                  <a:pt x="2068236" y="1285229"/>
                  <a:pt x="2189680" y="1163782"/>
                </a:cubicBezTo>
                <a:cubicBezTo>
                  <a:pt x="2226331" y="1017182"/>
                  <a:pt x="2176570" y="1189817"/>
                  <a:pt x="2231244" y="1066800"/>
                </a:cubicBezTo>
                <a:cubicBezTo>
                  <a:pt x="2243106" y="1040110"/>
                  <a:pt x="2249717" y="1011382"/>
                  <a:pt x="2258953" y="983673"/>
                </a:cubicBezTo>
                <a:lnTo>
                  <a:pt x="2286662" y="900546"/>
                </a:lnTo>
                <a:lnTo>
                  <a:pt x="2300517" y="845128"/>
                </a:lnTo>
                <a:cubicBezTo>
                  <a:pt x="2294838" y="754272"/>
                  <a:pt x="2298113" y="646969"/>
                  <a:pt x="2272808" y="554182"/>
                </a:cubicBezTo>
                <a:cubicBezTo>
                  <a:pt x="2265123" y="526003"/>
                  <a:pt x="2265752" y="491708"/>
                  <a:pt x="2245099" y="471055"/>
                </a:cubicBezTo>
                <a:cubicBezTo>
                  <a:pt x="2188989" y="414946"/>
                  <a:pt x="2178093" y="393182"/>
                  <a:pt x="2120408" y="360219"/>
                </a:cubicBezTo>
                <a:cubicBezTo>
                  <a:pt x="1918621" y="244911"/>
                  <a:pt x="2178847" y="396365"/>
                  <a:pt x="2023426" y="318655"/>
                </a:cubicBezTo>
                <a:cubicBezTo>
                  <a:pt x="2008533" y="311208"/>
                  <a:pt x="1996755" y="298393"/>
                  <a:pt x="1981862" y="290946"/>
                </a:cubicBezTo>
                <a:cubicBezTo>
                  <a:pt x="1968800" y="284415"/>
                  <a:pt x="1953361" y="283622"/>
                  <a:pt x="1940299" y="277091"/>
                </a:cubicBezTo>
                <a:cubicBezTo>
                  <a:pt x="1832880" y="223381"/>
                  <a:pt x="1961633" y="270347"/>
                  <a:pt x="1857171" y="235528"/>
                </a:cubicBezTo>
                <a:cubicBezTo>
                  <a:pt x="1843317" y="226292"/>
                  <a:pt x="1830501" y="215266"/>
                  <a:pt x="1815608" y="207819"/>
                </a:cubicBezTo>
                <a:cubicBezTo>
                  <a:pt x="1802546" y="201288"/>
                  <a:pt x="1784371" y="204291"/>
                  <a:pt x="1774044" y="193964"/>
                </a:cubicBezTo>
                <a:cubicBezTo>
                  <a:pt x="1754783" y="174703"/>
                  <a:pt x="1709749" y="109094"/>
                  <a:pt x="1704771" y="69273"/>
                </a:cubicBezTo>
                <a:cubicBezTo>
                  <a:pt x="1701907" y="46360"/>
                  <a:pt x="1704771" y="23091"/>
                  <a:pt x="1704771" y="0"/>
                </a:cubicBezTo>
              </a:path>
            </a:pathLst>
          </a:custGeom>
          <a:noFill/>
          <a:ln w="38100">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088378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alphaModFix amt="35000"/>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9471725" y="2039272"/>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8" name="Immagine 7">
            <a:extLst>
              <a:ext uri="{FF2B5EF4-FFF2-40B4-BE49-F238E27FC236}">
                <a16:creationId xmlns:a16="http://schemas.microsoft.com/office/drawing/2014/main" id="{06B63281-F2B6-AA4A-BC41-4E3B384B097E}"/>
              </a:ext>
            </a:extLst>
          </p:cNvPr>
          <p:cNvPicPr>
            <a:picLocks noChangeAspect="1"/>
          </p:cNvPicPr>
          <p:nvPr/>
        </p:nvPicPr>
        <p:blipFill>
          <a:blip r:embed="rId5"/>
          <a:stretch>
            <a:fillRect/>
          </a:stretch>
        </p:blipFill>
        <p:spPr>
          <a:xfrm>
            <a:off x="1105683" y="2039272"/>
            <a:ext cx="3568700" cy="444500"/>
          </a:xfrm>
          <a:prstGeom prst="rect">
            <a:avLst/>
          </a:prstGeom>
        </p:spPr>
      </p:pic>
      <p:sp>
        <p:nvSpPr>
          <p:cNvPr id="13" name="CasellaDiTesto 12">
            <a:extLst>
              <a:ext uri="{FF2B5EF4-FFF2-40B4-BE49-F238E27FC236}">
                <a16:creationId xmlns:a16="http://schemas.microsoft.com/office/drawing/2014/main" id="{14AA1055-CD77-9D47-9D47-66E2E9C8638C}"/>
              </a:ext>
            </a:extLst>
          </p:cNvPr>
          <p:cNvSpPr txBox="1"/>
          <p:nvPr/>
        </p:nvSpPr>
        <p:spPr>
          <a:xfrm>
            <a:off x="838200" y="4751128"/>
            <a:ext cx="7046998" cy="369332"/>
          </a:xfrm>
          <a:prstGeom prst="rect">
            <a:avLst/>
          </a:prstGeom>
          <a:noFill/>
        </p:spPr>
        <p:txBody>
          <a:bodyPr wrap="square">
            <a:spAutoFit/>
          </a:bodyPr>
          <a:lstStyle/>
          <a:p>
            <a:r>
              <a:rPr lang="it-IT" b="0" i="0" dirty="0">
                <a:solidFill>
                  <a:srgbClr val="444444"/>
                </a:solidFill>
                <a:effectLst/>
              </a:rPr>
              <a:t>The </a:t>
            </a:r>
            <a:r>
              <a:rPr lang="it-IT" b="0" i="0" dirty="0" err="1">
                <a:solidFill>
                  <a:srgbClr val="444444"/>
                </a:solidFill>
                <a:effectLst/>
              </a:rPr>
              <a:t>same</a:t>
            </a:r>
            <a:r>
              <a:rPr lang="it-IT" b="0" i="0" dirty="0">
                <a:solidFill>
                  <a:srgbClr val="444444"/>
                </a:solidFill>
                <a:effectLst/>
              </a:rPr>
              <a:t> </a:t>
            </a:r>
            <a:r>
              <a:rPr lang="it-IT" b="0" i="0" dirty="0" err="1">
                <a:solidFill>
                  <a:srgbClr val="444444"/>
                </a:solidFill>
                <a:effectLst/>
              </a:rPr>
              <a:t>calculus</a:t>
            </a:r>
            <a:r>
              <a:rPr lang="it-IT" b="0" i="0" dirty="0">
                <a:solidFill>
                  <a:srgbClr val="444444"/>
                </a:solidFill>
                <a:effectLst/>
              </a:rPr>
              <a:t> </a:t>
            </a:r>
            <a:r>
              <a:rPr lang="it-IT" b="0" i="0" dirty="0" err="1">
                <a:solidFill>
                  <a:srgbClr val="444444"/>
                </a:solidFill>
                <a:effectLst/>
              </a:rPr>
              <a:t>is</a:t>
            </a:r>
            <a:r>
              <a:rPr lang="it-IT" b="0" i="0" dirty="0">
                <a:solidFill>
                  <a:srgbClr val="444444"/>
                </a:solidFill>
                <a:effectLst/>
              </a:rPr>
              <a:t> </a:t>
            </a:r>
            <a:r>
              <a:rPr lang="it-IT" b="0" i="0" dirty="0" err="1">
                <a:solidFill>
                  <a:srgbClr val="444444"/>
                </a:solidFill>
                <a:effectLst/>
              </a:rPr>
              <a:t>applied</a:t>
            </a:r>
            <a:r>
              <a:rPr lang="it-IT" b="0" i="0" dirty="0">
                <a:solidFill>
                  <a:srgbClr val="444444"/>
                </a:solidFill>
                <a:effectLst/>
              </a:rPr>
              <a:t> to update w6, w7 and w8</a:t>
            </a:r>
            <a:endParaRPr lang="en-US" dirty="0"/>
          </a:p>
        </p:txBody>
      </p:sp>
      <p:pic>
        <p:nvPicPr>
          <p:cNvPr id="12" name="Immagine 11">
            <a:extLst>
              <a:ext uri="{FF2B5EF4-FFF2-40B4-BE49-F238E27FC236}">
                <a16:creationId xmlns:a16="http://schemas.microsoft.com/office/drawing/2014/main" id="{E8A84895-A388-C049-B6D5-399B6F267820}"/>
              </a:ext>
            </a:extLst>
          </p:cNvPr>
          <p:cNvPicPr>
            <a:picLocks noChangeAspect="1"/>
          </p:cNvPicPr>
          <p:nvPr/>
        </p:nvPicPr>
        <p:blipFill rotWithShape="1">
          <a:blip r:embed="rId6"/>
          <a:srcRect l="37508"/>
          <a:stretch/>
        </p:blipFill>
        <p:spPr>
          <a:xfrm>
            <a:off x="10891507" y="3454183"/>
            <a:ext cx="1300493" cy="462458"/>
          </a:xfrm>
          <a:prstGeom prst="rect">
            <a:avLst/>
          </a:prstGeom>
        </p:spPr>
      </p:pic>
      <p:pic>
        <p:nvPicPr>
          <p:cNvPr id="14" name="Immagine 13">
            <a:extLst>
              <a:ext uri="{FF2B5EF4-FFF2-40B4-BE49-F238E27FC236}">
                <a16:creationId xmlns:a16="http://schemas.microsoft.com/office/drawing/2014/main" id="{6A2CCF90-1FA1-7D45-AF73-52E17EA4FB34}"/>
              </a:ext>
            </a:extLst>
          </p:cNvPr>
          <p:cNvPicPr>
            <a:picLocks noChangeAspect="1"/>
          </p:cNvPicPr>
          <p:nvPr/>
        </p:nvPicPr>
        <p:blipFill rotWithShape="1">
          <a:blip r:embed="rId7"/>
          <a:srcRect l="47719" t="70430" r="35447" b="7602"/>
          <a:stretch/>
        </p:blipFill>
        <p:spPr>
          <a:xfrm>
            <a:off x="11008726" y="1930920"/>
            <a:ext cx="1045029" cy="347967"/>
          </a:xfrm>
          <a:prstGeom prst="rect">
            <a:avLst/>
          </a:prstGeom>
        </p:spPr>
      </p:pic>
      <p:pic>
        <p:nvPicPr>
          <p:cNvPr id="16" name="Immagine 15">
            <a:extLst>
              <a:ext uri="{FF2B5EF4-FFF2-40B4-BE49-F238E27FC236}">
                <a16:creationId xmlns:a16="http://schemas.microsoft.com/office/drawing/2014/main" id="{E7AA4FF1-EEF4-4947-B7B8-D016376ADDE0}"/>
              </a:ext>
            </a:extLst>
          </p:cNvPr>
          <p:cNvPicPr>
            <a:picLocks noChangeAspect="1"/>
          </p:cNvPicPr>
          <p:nvPr/>
        </p:nvPicPr>
        <p:blipFill>
          <a:blip r:embed="rId8"/>
          <a:stretch>
            <a:fillRect/>
          </a:stretch>
        </p:blipFill>
        <p:spPr>
          <a:xfrm>
            <a:off x="1105683" y="2866470"/>
            <a:ext cx="8534400" cy="419100"/>
          </a:xfrm>
          <a:prstGeom prst="rect">
            <a:avLst/>
          </a:prstGeom>
        </p:spPr>
      </p:pic>
      <p:pic>
        <p:nvPicPr>
          <p:cNvPr id="10" name="Immagine 9">
            <a:extLst>
              <a:ext uri="{FF2B5EF4-FFF2-40B4-BE49-F238E27FC236}">
                <a16:creationId xmlns:a16="http://schemas.microsoft.com/office/drawing/2014/main" id="{A658E02A-3B65-1447-A7A3-284DFB3B5ECB}"/>
              </a:ext>
            </a:extLst>
          </p:cNvPr>
          <p:cNvPicPr>
            <a:picLocks noChangeAspect="1"/>
          </p:cNvPicPr>
          <p:nvPr/>
        </p:nvPicPr>
        <p:blipFill>
          <a:blip r:embed="rId9"/>
          <a:stretch>
            <a:fillRect/>
          </a:stretch>
        </p:blipFill>
        <p:spPr>
          <a:xfrm>
            <a:off x="1105683" y="3553485"/>
            <a:ext cx="8216900" cy="419100"/>
          </a:xfrm>
          <a:prstGeom prst="rect">
            <a:avLst/>
          </a:prstGeom>
        </p:spPr>
      </p:pic>
      <p:sp>
        <p:nvSpPr>
          <p:cNvPr id="9" name="Figura a mano libera 8">
            <a:extLst>
              <a:ext uri="{FF2B5EF4-FFF2-40B4-BE49-F238E27FC236}">
                <a16:creationId xmlns:a16="http://schemas.microsoft.com/office/drawing/2014/main" id="{B833ABE9-4082-BF4A-8B85-8216AB0DA927}"/>
              </a:ext>
            </a:extLst>
          </p:cNvPr>
          <p:cNvSpPr/>
          <p:nvPr/>
        </p:nvSpPr>
        <p:spPr>
          <a:xfrm>
            <a:off x="7702465" y="2424545"/>
            <a:ext cx="2300517" cy="1510146"/>
          </a:xfrm>
          <a:custGeom>
            <a:avLst/>
            <a:gdLst>
              <a:gd name="connsiteX0" fmla="*/ 1746335 w 2300517"/>
              <a:gd name="connsiteY0" fmla="*/ 1302328 h 1510146"/>
              <a:gd name="connsiteX1" fmla="*/ 1566226 w 2300517"/>
              <a:gd name="connsiteY1" fmla="*/ 1233055 h 1510146"/>
              <a:gd name="connsiteX2" fmla="*/ 1483099 w 2300517"/>
              <a:gd name="connsiteY2" fmla="*/ 1205346 h 1510146"/>
              <a:gd name="connsiteX3" fmla="*/ 1233717 w 2300517"/>
              <a:gd name="connsiteY3" fmla="*/ 1149928 h 1510146"/>
              <a:gd name="connsiteX4" fmla="*/ 1081317 w 2300517"/>
              <a:gd name="connsiteY4" fmla="*/ 1122219 h 1510146"/>
              <a:gd name="connsiteX5" fmla="*/ 956626 w 2300517"/>
              <a:gd name="connsiteY5" fmla="*/ 1108364 h 1510146"/>
              <a:gd name="connsiteX6" fmla="*/ 859644 w 2300517"/>
              <a:gd name="connsiteY6" fmla="*/ 1094510 h 1510146"/>
              <a:gd name="connsiteX7" fmla="*/ 305462 w 2300517"/>
              <a:gd name="connsiteY7" fmla="*/ 1108364 h 1510146"/>
              <a:gd name="connsiteX8" fmla="*/ 139208 w 2300517"/>
              <a:gd name="connsiteY8" fmla="*/ 1136073 h 1510146"/>
              <a:gd name="connsiteX9" fmla="*/ 97644 w 2300517"/>
              <a:gd name="connsiteY9" fmla="*/ 1149928 h 1510146"/>
              <a:gd name="connsiteX10" fmla="*/ 56080 w 2300517"/>
              <a:gd name="connsiteY10" fmla="*/ 1177637 h 1510146"/>
              <a:gd name="connsiteX11" fmla="*/ 662 w 2300517"/>
              <a:gd name="connsiteY11" fmla="*/ 1260764 h 1510146"/>
              <a:gd name="connsiteX12" fmla="*/ 42226 w 2300517"/>
              <a:gd name="connsiteY12" fmla="*/ 1413164 h 1510146"/>
              <a:gd name="connsiteX13" fmla="*/ 83790 w 2300517"/>
              <a:gd name="connsiteY13" fmla="*/ 1440873 h 1510146"/>
              <a:gd name="connsiteX14" fmla="*/ 166917 w 2300517"/>
              <a:gd name="connsiteY14" fmla="*/ 1468582 h 1510146"/>
              <a:gd name="connsiteX15" fmla="*/ 360880 w 2300517"/>
              <a:gd name="connsiteY15" fmla="*/ 1496291 h 1510146"/>
              <a:gd name="connsiteX16" fmla="*/ 984335 w 2300517"/>
              <a:gd name="connsiteY16" fmla="*/ 1510146 h 1510146"/>
              <a:gd name="connsiteX17" fmla="*/ 1178299 w 2300517"/>
              <a:gd name="connsiteY17" fmla="*/ 1496291 h 1510146"/>
              <a:gd name="connsiteX18" fmla="*/ 1621644 w 2300517"/>
              <a:gd name="connsiteY18" fmla="*/ 1468582 h 1510146"/>
              <a:gd name="connsiteX19" fmla="*/ 1690917 w 2300517"/>
              <a:gd name="connsiteY19" fmla="*/ 1454728 h 1510146"/>
              <a:gd name="connsiteX20" fmla="*/ 1829462 w 2300517"/>
              <a:gd name="connsiteY20" fmla="*/ 1427019 h 1510146"/>
              <a:gd name="connsiteX21" fmla="*/ 1912590 w 2300517"/>
              <a:gd name="connsiteY21" fmla="*/ 1399310 h 1510146"/>
              <a:gd name="connsiteX22" fmla="*/ 1954153 w 2300517"/>
              <a:gd name="connsiteY22" fmla="*/ 1385455 h 1510146"/>
              <a:gd name="connsiteX23" fmla="*/ 1995717 w 2300517"/>
              <a:gd name="connsiteY23" fmla="*/ 1343891 h 1510146"/>
              <a:gd name="connsiteX24" fmla="*/ 2078844 w 2300517"/>
              <a:gd name="connsiteY24" fmla="*/ 1288473 h 1510146"/>
              <a:gd name="connsiteX25" fmla="*/ 2120408 w 2300517"/>
              <a:gd name="connsiteY25" fmla="*/ 1246910 h 1510146"/>
              <a:gd name="connsiteX26" fmla="*/ 2189680 w 2300517"/>
              <a:gd name="connsiteY26" fmla="*/ 1163782 h 1510146"/>
              <a:gd name="connsiteX27" fmla="*/ 2231244 w 2300517"/>
              <a:gd name="connsiteY27" fmla="*/ 1066800 h 1510146"/>
              <a:gd name="connsiteX28" fmla="*/ 2258953 w 2300517"/>
              <a:gd name="connsiteY28" fmla="*/ 983673 h 1510146"/>
              <a:gd name="connsiteX29" fmla="*/ 2286662 w 2300517"/>
              <a:gd name="connsiteY29" fmla="*/ 900546 h 1510146"/>
              <a:gd name="connsiteX30" fmla="*/ 2300517 w 2300517"/>
              <a:gd name="connsiteY30" fmla="*/ 845128 h 1510146"/>
              <a:gd name="connsiteX31" fmla="*/ 2272808 w 2300517"/>
              <a:gd name="connsiteY31" fmla="*/ 554182 h 1510146"/>
              <a:gd name="connsiteX32" fmla="*/ 2245099 w 2300517"/>
              <a:gd name="connsiteY32" fmla="*/ 471055 h 1510146"/>
              <a:gd name="connsiteX33" fmla="*/ 2120408 w 2300517"/>
              <a:gd name="connsiteY33" fmla="*/ 360219 h 1510146"/>
              <a:gd name="connsiteX34" fmla="*/ 2023426 w 2300517"/>
              <a:gd name="connsiteY34" fmla="*/ 318655 h 1510146"/>
              <a:gd name="connsiteX35" fmla="*/ 1981862 w 2300517"/>
              <a:gd name="connsiteY35" fmla="*/ 290946 h 1510146"/>
              <a:gd name="connsiteX36" fmla="*/ 1940299 w 2300517"/>
              <a:gd name="connsiteY36" fmla="*/ 277091 h 1510146"/>
              <a:gd name="connsiteX37" fmla="*/ 1857171 w 2300517"/>
              <a:gd name="connsiteY37" fmla="*/ 235528 h 1510146"/>
              <a:gd name="connsiteX38" fmla="*/ 1815608 w 2300517"/>
              <a:gd name="connsiteY38" fmla="*/ 207819 h 1510146"/>
              <a:gd name="connsiteX39" fmla="*/ 1774044 w 2300517"/>
              <a:gd name="connsiteY39" fmla="*/ 193964 h 1510146"/>
              <a:gd name="connsiteX40" fmla="*/ 1704771 w 2300517"/>
              <a:gd name="connsiteY40" fmla="*/ 69273 h 1510146"/>
              <a:gd name="connsiteX41" fmla="*/ 1704771 w 2300517"/>
              <a:gd name="connsiteY41" fmla="*/ 0 h 1510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300517" h="1510146">
                <a:moveTo>
                  <a:pt x="1746335" y="1302328"/>
                </a:moveTo>
                <a:cubicBezTo>
                  <a:pt x="1622503" y="1249257"/>
                  <a:pt x="1682723" y="1271887"/>
                  <a:pt x="1566226" y="1233055"/>
                </a:cubicBezTo>
                <a:cubicBezTo>
                  <a:pt x="1566216" y="1233052"/>
                  <a:pt x="1483110" y="1205349"/>
                  <a:pt x="1483099" y="1205346"/>
                </a:cubicBezTo>
                <a:cubicBezTo>
                  <a:pt x="1326566" y="1166213"/>
                  <a:pt x="1409612" y="1185107"/>
                  <a:pt x="1233717" y="1149928"/>
                </a:cubicBezTo>
                <a:cubicBezTo>
                  <a:pt x="1181461" y="1139477"/>
                  <a:pt x="1134512" y="1129312"/>
                  <a:pt x="1081317" y="1122219"/>
                </a:cubicBezTo>
                <a:cubicBezTo>
                  <a:pt x="1039864" y="1116692"/>
                  <a:pt x="998123" y="1113551"/>
                  <a:pt x="956626" y="1108364"/>
                </a:cubicBezTo>
                <a:cubicBezTo>
                  <a:pt x="924223" y="1104314"/>
                  <a:pt x="891971" y="1099128"/>
                  <a:pt x="859644" y="1094510"/>
                </a:cubicBezTo>
                <a:lnTo>
                  <a:pt x="305462" y="1108364"/>
                </a:lnTo>
                <a:cubicBezTo>
                  <a:pt x="246233" y="1110832"/>
                  <a:pt x="194693" y="1120220"/>
                  <a:pt x="139208" y="1136073"/>
                </a:cubicBezTo>
                <a:cubicBezTo>
                  <a:pt x="125166" y="1140085"/>
                  <a:pt x="110706" y="1143397"/>
                  <a:pt x="97644" y="1149928"/>
                </a:cubicBezTo>
                <a:cubicBezTo>
                  <a:pt x="82751" y="1157375"/>
                  <a:pt x="69935" y="1168401"/>
                  <a:pt x="56080" y="1177637"/>
                </a:cubicBezTo>
                <a:cubicBezTo>
                  <a:pt x="37607" y="1205346"/>
                  <a:pt x="-5869" y="1228109"/>
                  <a:pt x="662" y="1260764"/>
                </a:cubicBezTo>
                <a:cubicBezTo>
                  <a:pt x="4983" y="1282367"/>
                  <a:pt x="26001" y="1402347"/>
                  <a:pt x="42226" y="1413164"/>
                </a:cubicBezTo>
                <a:cubicBezTo>
                  <a:pt x="56081" y="1422400"/>
                  <a:pt x="68574" y="1434110"/>
                  <a:pt x="83790" y="1440873"/>
                </a:cubicBezTo>
                <a:cubicBezTo>
                  <a:pt x="110480" y="1452735"/>
                  <a:pt x="139208" y="1459346"/>
                  <a:pt x="166917" y="1468582"/>
                </a:cubicBezTo>
                <a:cubicBezTo>
                  <a:pt x="248012" y="1495614"/>
                  <a:pt x="224883" y="1491434"/>
                  <a:pt x="360880" y="1496291"/>
                </a:cubicBezTo>
                <a:cubicBezTo>
                  <a:pt x="568617" y="1503710"/>
                  <a:pt x="776517" y="1505528"/>
                  <a:pt x="984335" y="1510146"/>
                </a:cubicBezTo>
                <a:cubicBezTo>
                  <a:pt x="1048990" y="1505528"/>
                  <a:pt x="1113565" y="1499611"/>
                  <a:pt x="1178299" y="1496291"/>
                </a:cubicBezTo>
                <a:cubicBezTo>
                  <a:pt x="1440061" y="1482867"/>
                  <a:pt x="1443408" y="1498288"/>
                  <a:pt x="1621644" y="1468582"/>
                </a:cubicBezTo>
                <a:cubicBezTo>
                  <a:pt x="1644872" y="1464711"/>
                  <a:pt x="1667749" y="1458940"/>
                  <a:pt x="1690917" y="1454728"/>
                </a:cubicBezTo>
                <a:cubicBezTo>
                  <a:pt x="1754281" y="1443207"/>
                  <a:pt x="1772919" y="1443982"/>
                  <a:pt x="1829462" y="1427019"/>
                </a:cubicBezTo>
                <a:cubicBezTo>
                  <a:pt x="1857438" y="1418626"/>
                  <a:pt x="1884881" y="1408547"/>
                  <a:pt x="1912590" y="1399310"/>
                </a:cubicBezTo>
                <a:lnTo>
                  <a:pt x="1954153" y="1385455"/>
                </a:lnTo>
                <a:cubicBezTo>
                  <a:pt x="1968008" y="1371600"/>
                  <a:pt x="1980251" y="1355920"/>
                  <a:pt x="1995717" y="1343891"/>
                </a:cubicBezTo>
                <a:cubicBezTo>
                  <a:pt x="2022004" y="1323445"/>
                  <a:pt x="2055296" y="1312021"/>
                  <a:pt x="2078844" y="1288473"/>
                </a:cubicBezTo>
                <a:cubicBezTo>
                  <a:pt x="2092699" y="1274619"/>
                  <a:pt x="2107865" y="1261962"/>
                  <a:pt x="2120408" y="1246910"/>
                </a:cubicBezTo>
                <a:cubicBezTo>
                  <a:pt x="2216866" y="1131161"/>
                  <a:pt x="2068236" y="1285229"/>
                  <a:pt x="2189680" y="1163782"/>
                </a:cubicBezTo>
                <a:cubicBezTo>
                  <a:pt x="2226331" y="1017182"/>
                  <a:pt x="2176570" y="1189817"/>
                  <a:pt x="2231244" y="1066800"/>
                </a:cubicBezTo>
                <a:cubicBezTo>
                  <a:pt x="2243106" y="1040110"/>
                  <a:pt x="2249717" y="1011382"/>
                  <a:pt x="2258953" y="983673"/>
                </a:cubicBezTo>
                <a:lnTo>
                  <a:pt x="2286662" y="900546"/>
                </a:lnTo>
                <a:lnTo>
                  <a:pt x="2300517" y="845128"/>
                </a:lnTo>
                <a:cubicBezTo>
                  <a:pt x="2294838" y="754272"/>
                  <a:pt x="2298113" y="646969"/>
                  <a:pt x="2272808" y="554182"/>
                </a:cubicBezTo>
                <a:cubicBezTo>
                  <a:pt x="2265123" y="526003"/>
                  <a:pt x="2265752" y="491708"/>
                  <a:pt x="2245099" y="471055"/>
                </a:cubicBezTo>
                <a:cubicBezTo>
                  <a:pt x="2188989" y="414946"/>
                  <a:pt x="2178093" y="393182"/>
                  <a:pt x="2120408" y="360219"/>
                </a:cubicBezTo>
                <a:cubicBezTo>
                  <a:pt x="1918621" y="244911"/>
                  <a:pt x="2178847" y="396365"/>
                  <a:pt x="2023426" y="318655"/>
                </a:cubicBezTo>
                <a:cubicBezTo>
                  <a:pt x="2008533" y="311208"/>
                  <a:pt x="1996755" y="298393"/>
                  <a:pt x="1981862" y="290946"/>
                </a:cubicBezTo>
                <a:cubicBezTo>
                  <a:pt x="1968800" y="284415"/>
                  <a:pt x="1953361" y="283622"/>
                  <a:pt x="1940299" y="277091"/>
                </a:cubicBezTo>
                <a:cubicBezTo>
                  <a:pt x="1832880" y="223381"/>
                  <a:pt x="1961633" y="270347"/>
                  <a:pt x="1857171" y="235528"/>
                </a:cubicBezTo>
                <a:cubicBezTo>
                  <a:pt x="1843317" y="226292"/>
                  <a:pt x="1830501" y="215266"/>
                  <a:pt x="1815608" y="207819"/>
                </a:cubicBezTo>
                <a:cubicBezTo>
                  <a:pt x="1802546" y="201288"/>
                  <a:pt x="1784371" y="204291"/>
                  <a:pt x="1774044" y="193964"/>
                </a:cubicBezTo>
                <a:cubicBezTo>
                  <a:pt x="1754783" y="174703"/>
                  <a:pt x="1709749" y="109094"/>
                  <a:pt x="1704771" y="69273"/>
                </a:cubicBezTo>
                <a:cubicBezTo>
                  <a:pt x="1701907" y="46360"/>
                  <a:pt x="1704771" y="23091"/>
                  <a:pt x="1704771" y="0"/>
                </a:cubicBezTo>
              </a:path>
            </a:pathLst>
          </a:custGeom>
          <a:noFill/>
          <a:ln w="38100">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006921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alphaModFix/>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9471725" y="2039272"/>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12" name="Immagine 11">
            <a:extLst>
              <a:ext uri="{FF2B5EF4-FFF2-40B4-BE49-F238E27FC236}">
                <a16:creationId xmlns:a16="http://schemas.microsoft.com/office/drawing/2014/main" id="{E8A84895-A388-C049-B6D5-399B6F267820}"/>
              </a:ext>
            </a:extLst>
          </p:cNvPr>
          <p:cNvPicPr>
            <a:picLocks noChangeAspect="1"/>
          </p:cNvPicPr>
          <p:nvPr/>
        </p:nvPicPr>
        <p:blipFill rotWithShape="1">
          <a:blip r:embed="rId5"/>
          <a:srcRect l="37508"/>
          <a:stretch/>
        </p:blipFill>
        <p:spPr>
          <a:xfrm>
            <a:off x="10891507" y="3454183"/>
            <a:ext cx="1300493" cy="462458"/>
          </a:xfrm>
          <a:prstGeom prst="rect">
            <a:avLst/>
          </a:prstGeom>
        </p:spPr>
      </p:pic>
      <p:pic>
        <p:nvPicPr>
          <p:cNvPr id="14" name="Immagine 13">
            <a:extLst>
              <a:ext uri="{FF2B5EF4-FFF2-40B4-BE49-F238E27FC236}">
                <a16:creationId xmlns:a16="http://schemas.microsoft.com/office/drawing/2014/main" id="{6A2CCF90-1FA1-7D45-AF73-52E17EA4FB34}"/>
              </a:ext>
            </a:extLst>
          </p:cNvPr>
          <p:cNvPicPr>
            <a:picLocks noChangeAspect="1"/>
          </p:cNvPicPr>
          <p:nvPr/>
        </p:nvPicPr>
        <p:blipFill rotWithShape="1">
          <a:blip r:embed="rId6"/>
          <a:srcRect l="47719" t="70430" r="35447" b="7602"/>
          <a:stretch/>
        </p:blipFill>
        <p:spPr>
          <a:xfrm>
            <a:off x="11008726" y="1930920"/>
            <a:ext cx="1045029" cy="347967"/>
          </a:xfrm>
          <a:prstGeom prst="rect">
            <a:avLst/>
          </a:prstGeom>
        </p:spPr>
      </p:pic>
      <p:sp>
        <p:nvSpPr>
          <p:cNvPr id="15" name="CasellaDiTesto 14">
            <a:extLst>
              <a:ext uri="{FF2B5EF4-FFF2-40B4-BE49-F238E27FC236}">
                <a16:creationId xmlns:a16="http://schemas.microsoft.com/office/drawing/2014/main" id="{6EAAD4BE-71B8-034E-B1AD-B5A86C5E2B35}"/>
              </a:ext>
            </a:extLst>
          </p:cNvPr>
          <p:cNvSpPr txBox="1"/>
          <p:nvPr/>
        </p:nvSpPr>
        <p:spPr>
          <a:xfrm>
            <a:off x="3350460" y="6169709"/>
            <a:ext cx="5218277" cy="646331"/>
          </a:xfrm>
          <a:prstGeom prst="rect">
            <a:avLst/>
          </a:prstGeom>
          <a:noFill/>
        </p:spPr>
        <p:txBody>
          <a:bodyPr wrap="square">
            <a:spAutoFit/>
          </a:bodyPr>
          <a:lstStyle/>
          <a:p>
            <a:r>
              <a:rPr lang="it-IT" b="0" i="0" dirty="0" err="1">
                <a:solidFill>
                  <a:srgbClr val="444444"/>
                </a:solidFill>
                <a:effectLst/>
              </a:rPr>
              <a:t>After</a:t>
            </a:r>
            <a:r>
              <a:rPr lang="it-IT" b="0" i="0" dirty="0">
                <a:solidFill>
                  <a:srgbClr val="444444"/>
                </a:solidFill>
                <a:effectLst/>
              </a:rPr>
              <a:t> </a:t>
            </a:r>
            <a:r>
              <a:rPr lang="it-IT" b="0" i="0" dirty="0" err="1">
                <a:solidFill>
                  <a:srgbClr val="444444"/>
                </a:solidFill>
                <a:effectLst/>
              </a:rPr>
              <a:t>that</a:t>
            </a:r>
            <a:r>
              <a:rPr lang="it-IT" b="0" i="0" dirty="0">
                <a:solidFill>
                  <a:srgbClr val="444444"/>
                </a:solidFill>
                <a:effectLst/>
              </a:rPr>
              <a:t> w5, w6, w7 and w8 </a:t>
            </a:r>
            <a:r>
              <a:rPr lang="it-IT" b="0" i="0" dirty="0" err="1">
                <a:solidFill>
                  <a:srgbClr val="444444"/>
                </a:solidFill>
                <a:effectLst/>
              </a:rPr>
              <a:t>have</a:t>
            </a:r>
            <a:r>
              <a:rPr lang="it-IT" b="0" i="0" dirty="0">
                <a:solidFill>
                  <a:srgbClr val="444444"/>
                </a:solidFill>
                <a:effectLst/>
              </a:rPr>
              <a:t> </a:t>
            </a:r>
            <a:r>
              <a:rPr lang="it-IT" b="0" i="0" dirty="0" err="1">
                <a:solidFill>
                  <a:srgbClr val="444444"/>
                </a:solidFill>
                <a:effectLst/>
              </a:rPr>
              <a:t>been</a:t>
            </a:r>
            <a:r>
              <a:rPr lang="it-IT" b="0" i="0" dirty="0">
                <a:solidFill>
                  <a:srgbClr val="444444"/>
                </a:solidFill>
                <a:effectLst/>
              </a:rPr>
              <a:t> </a:t>
            </a:r>
            <a:r>
              <a:rPr lang="it-IT" b="0" i="0" dirty="0" err="1">
                <a:solidFill>
                  <a:srgbClr val="444444"/>
                </a:solidFill>
                <a:effectLst/>
              </a:rPr>
              <a:t>updated</a:t>
            </a:r>
            <a:r>
              <a:rPr lang="it-IT" b="0" i="0" dirty="0">
                <a:solidFill>
                  <a:srgbClr val="444444"/>
                </a:solidFill>
                <a:effectLst/>
              </a:rPr>
              <a:t> </a:t>
            </a:r>
            <a:r>
              <a:rPr lang="it-IT" b="0" i="0" dirty="0" err="1">
                <a:solidFill>
                  <a:srgbClr val="444444"/>
                </a:solidFill>
                <a:effectLst/>
              </a:rPr>
              <a:t>we</a:t>
            </a:r>
            <a:r>
              <a:rPr lang="it-IT" b="0" i="0" dirty="0">
                <a:solidFill>
                  <a:srgbClr val="444444"/>
                </a:solidFill>
                <a:effectLst/>
              </a:rPr>
              <a:t> continue </a:t>
            </a:r>
            <a:r>
              <a:rPr lang="it-IT" b="0" i="0" dirty="0" err="1">
                <a:solidFill>
                  <a:srgbClr val="444444"/>
                </a:solidFill>
                <a:effectLst/>
              </a:rPr>
              <a:t>backwards</a:t>
            </a:r>
            <a:r>
              <a:rPr lang="it-IT" b="0" i="0" dirty="0">
                <a:solidFill>
                  <a:srgbClr val="444444"/>
                </a:solidFill>
                <a:effectLst/>
              </a:rPr>
              <a:t> to update w1, w2, w,3 and w4</a:t>
            </a:r>
            <a:endParaRPr lang="en-US" dirty="0"/>
          </a:p>
        </p:txBody>
      </p:sp>
    </p:spTree>
    <p:extLst>
      <p:ext uri="{BB962C8B-B14F-4D97-AF65-F5344CB8AC3E}">
        <p14:creationId xmlns:p14="http://schemas.microsoft.com/office/powerpoint/2010/main" val="285516326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alphaModFix/>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7383529" y="2017961"/>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12" name="Immagine 11">
            <a:extLst>
              <a:ext uri="{FF2B5EF4-FFF2-40B4-BE49-F238E27FC236}">
                <a16:creationId xmlns:a16="http://schemas.microsoft.com/office/drawing/2014/main" id="{E8A84895-A388-C049-B6D5-399B6F267820}"/>
              </a:ext>
            </a:extLst>
          </p:cNvPr>
          <p:cNvPicPr>
            <a:picLocks noChangeAspect="1"/>
          </p:cNvPicPr>
          <p:nvPr/>
        </p:nvPicPr>
        <p:blipFill rotWithShape="1">
          <a:blip r:embed="rId5"/>
          <a:srcRect l="37508"/>
          <a:stretch/>
        </p:blipFill>
        <p:spPr>
          <a:xfrm>
            <a:off x="10891507" y="3454183"/>
            <a:ext cx="1300493" cy="462458"/>
          </a:xfrm>
          <a:prstGeom prst="rect">
            <a:avLst/>
          </a:prstGeom>
        </p:spPr>
      </p:pic>
      <p:pic>
        <p:nvPicPr>
          <p:cNvPr id="14" name="Immagine 13">
            <a:extLst>
              <a:ext uri="{FF2B5EF4-FFF2-40B4-BE49-F238E27FC236}">
                <a16:creationId xmlns:a16="http://schemas.microsoft.com/office/drawing/2014/main" id="{6A2CCF90-1FA1-7D45-AF73-52E17EA4FB34}"/>
              </a:ext>
            </a:extLst>
          </p:cNvPr>
          <p:cNvPicPr>
            <a:picLocks noChangeAspect="1"/>
          </p:cNvPicPr>
          <p:nvPr/>
        </p:nvPicPr>
        <p:blipFill rotWithShape="1">
          <a:blip r:embed="rId6"/>
          <a:srcRect l="47719" t="70430" r="35447" b="7602"/>
          <a:stretch/>
        </p:blipFill>
        <p:spPr>
          <a:xfrm>
            <a:off x="11008726" y="1930920"/>
            <a:ext cx="1045029" cy="347967"/>
          </a:xfrm>
          <a:prstGeom prst="rect">
            <a:avLst/>
          </a:prstGeom>
        </p:spPr>
      </p:pic>
      <p:sp>
        <p:nvSpPr>
          <p:cNvPr id="15" name="CasellaDiTesto 14">
            <a:extLst>
              <a:ext uri="{FF2B5EF4-FFF2-40B4-BE49-F238E27FC236}">
                <a16:creationId xmlns:a16="http://schemas.microsoft.com/office/drawing/2014/main" id="{6EAAD4BE-71B8-034E-B1AD-B5A86C5E2B35}"/>
              </a:ext>
            </a:extLst>
          </p:cNvPr>
          <p:cNvSpPr txBox="1"/>
          <p:nvPr/>
        </p:nvSpPr>
        <p:spPr>
          <a:xfrm>
            <a:off x="3350460" y="6169709"/>
            <a:ext cx="5218277" cy="646331"/>
          </a:xfrm>
          <a:prstGeom prst="rect">
            <a:avLst/>
          </a:prstGeom>
          <a:noFill/>
        </p:spPr>
        <p:txBody>
          <a:bodyPr wrap="square">
            <a:spAutoFit/>
          </a:bodyPr>
          <a:lstStyle/>
          <a:p>
            <a:r>
              <a:rPr lang="it-IT" b="0" i="0" dirty="0" err="1">
                <a:solidFill>
                  <a:srgbClr val="444444"/>
                </a:solidFill>
                <a:effectLst/>
              </a:rPr>
              <a:t>After</a:t>
            </a:r>
            <a:r>
              <a:rPr lang="it-IT" b="0" i="0" dirty="0">
                <a:solidFill>
                  <a:srgbClr val="444444"/>
                </a:solidFill>
                <a:effectLst/>
              </a:rPr>
              <a:t> </a:t>
            </a:r>
            <a:r>
              <a:rPr lang="it-IT" b="0" i="0" dirty="0" err="1">
                <a:solidFill>
                  <a:srgbClr val="444444"/>
                </a:solidFill>
                <a:effectLst/>
              </a:rPr>
              <a:t>that</a:t>
            </a:r>
            <a:r>
              <a:rPr lang="it-IT" b="0" i="0" dirty="0">
                <a:solidFill>
                  <a:srgbClr val="444444"/>
                </a:solidFill>
                <a:effectLst/>
              </a:rPr>
              <a:t> w5, w6, w7 and w8 </a:t>
            </a:r>
            <a:r>
              <a:rPr lang="it-IT" b="0" i="0" dirty="0" err="1">
                <a:solidFill>
                  <a:srgbClr val="444444"/>
                </a:solidFill>
                <a:effectLst/>
              </a:rPr>
              <a:t>have</a:t>
            </a:r>
            <a:r>
              <a:rPr lang="it-IT" b="0" i="0" dirty="0">
                <a:solidFill>
                  <a:srgbClr val="444444"/>
                </a:solidFill>
                <a:effectLst/>
              </a:rPr>
              <a:t> </a:t>
            </a:r>
            <a:r>
              <a:rPr lang="it-IT" b="0" i="0" dirty="0" err="1">
                <a:solidFill>
                  <a:srgbClr val="444444"/>
                </a:solidFill>
                <a:effectLst/>
              </a:rPr>
              <a:t>been</a:t>
            </a:r>
            <a:r>
              <a:rPr lang="it-IT" b="0" i="0" dirty="0">
                <a:solidFill>
                  <a:srgbClr val="444444"/>
                </a:solidFill>
                <a:effectLst/>
              </a:rPr>
              <a:t> </a:t>
            </a:r>
            <a:r>
              <a:rPr lang="it-IT" b="0" i="0" dirty="0" err="1">
                <a:solidFill>
                  <a:srgbClr val="444444"/>
                </a:solidFill>
                <a:effectLst/>
              </a:rPr>
              <a:t>updated</a:t>
            </a:r>
            <a:r>
              <a:rPr lang="it-IT" b="0" i="0" dirty="0">
                <a:solidFill>
                  <a:srgbClr val="444444"/>
                </a:solidFill>
                <a:effectLst/>
              </a:rPr>
              <a:t> </a:t>
            </a:r>
            <a:r>
              <a:rPr lang="it-IT" b="0" i="0" dirty="0" err="1">
                <a:solidFill>
                  <a:srgbClr val="444444"/>
                </a:solidFill>
                <a:effectLst/>
              </a:rPr>
              <a:t>we</a:t>
            </a:r>
            <a:r>
              <a:rPr lang="it-IT" b="0" i="0" dirty="0">
                <a:solidFill>
                  <a:srgbClr val="444444"/>
                </a:solidFill>
                <a:effectLst/>
              </a:rPr>
              <a:t> continue </a:t>
            </a:r>
            <a:r>
              <a:rPr lang="it-IT" b="0" i="0" dirty="0" err="1">
                <a:solidFill>
                  <a:srgbClr val="444444"/>
                </a:solidFill>
                <a:effectLst/>
              </a:rPr>
              <a:t>backwards</a:t>
            </a:r>
            <a:r>
              <a:rPr lang="it-IT" b="0" i="0" dirty="0">
                <a:solidFill>
                  <a:srgbClr val="444444"/>
                </a:solidFill>
                <a:effectLst/>
              </a:rPr>
              <a:t> to update w1, w2, w,3 and w4</a:t>
            </a:r>
            <a:endParaRPr lang="en-US" dirty="0"/>
          </a:p>
        </p:txBody>
      </p:sp>
      <p:pic>
        <p:nvPicPr>
          <p:cNvPr id="8" name="Immagine 7">
            <a:extLst>
              <a:ext uri="{FF2B5EF4-FFF2-40B4-BE49-F238E27FC236}">
                <a16:creationId xmlns:a16="http://schemas.microsoft.com/office/drawing/2014/main" id="{E579F1E7-2935-F64E-99E7-12C4B418472B}"/>
              </a:ext>
            </a:extLst>
          </p:cNvPr>
          <p:cNvPicPr>
            <a:picLocks noChangeAspect="1"/>
          </p:cNvPicPr>
          <p:nvPr/>
        </p:nvPicPr>
        <p:blipFill>
          <a:blip r:embed="rId7"/>
          <a:stretch>
            <a:fillRect/>
          </a:stretch>
        </p:blipFill>
        <p:spPr>
          <a:xfrm>
            <a:off x="687657" y="2015210"/>
            <a:ext cx="5009359" cy="524790"/>
          </a:xfrm>
          <a:prstGeom prst="rect">
            <a:avLst/>
          </a:prstGeom>
        </p:spPr>
      </p:pic>
    </p:spTree>
    <p:extLst>
      <p:ext uri="{BB962C8B-B14F-4D97-AF65-F5344CB8AC3E}">
        <p14:creationId xmlns:p14="http://schemas.microsoft.com/office/powerpoint/2010/main" val="368828107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alphaModFix/>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7383529" y="2017961"/>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12" name="Immagine 11">
            <a:extLst>
              <a:ext uri="{FF2B5EF4-FFF2-40B4-BE49-F238E27FC236}">
                <a16:creationId xmlns:a16="http://schemas.microsoft.com/office/drawing/2014/main" id="{E8A84895-A388-C049-B6D5-399B6F267820}"/>
              </a:ext>
            </a:extLst>
          </p:cNvPr>
          <p:cNvPicPr>
            <a:picLocks noChangeAspect="1"/>
          </p:cNvPicPr>
          <p:nvPr/>
        </p:nvPicPr>
        <p:blipFill rotWithShape="1">
          <a:blip r:embed="rId5"/>
          <a:srcRect l="37508"/>
          <a:stretch/>
        </p:blipFill>
        <p:spPr>
          <a:xfrm>
            <a:off x="10891507" y="3454183"/>
            <a:ext cx="1300493" cy="462458"/>
          </a:xfrm>
          <a:prstGeom prst="rect">
            <a:avLst/>
          </a:prstGeom>
        </p:spPr>
      </p:pic>
      <p:pic>
        <p:nvPicPr>
          <p:cNvPr id="14" name="Immagine 13">
            <a:extLst>
              <a:ext uri="{FF2B5EF4-FFF2-40B4-BE49-F238E27FC236}">
                <a16:creationId xmlns:a16="http://schemas.microsoft.com/office/drawing/2014/main" id="{6A2CCF90-1FA1-7D45-AF73-52E17EA4FB34}"/>
              </a:ext>
            </a:extLst>
          </p:cNvPr>
          <p:cNvPicPr>
            <a:picLocks noChangeAspect="1"/>
          </p:cNvPicPr>
          <p:nvPr/>
        </p:nvPicPr>
        <p:blipFill rotWithShape="1">
          <a:blip r:embed="rId6"/>
          <a:srcRect l="47719" t="70430" r="35447" b="7602"/>
          <a:stretch/>
        </p:blipFill>
        <p:spPr>
          <a:xfrm>
            <a:off x="11008726" y="1930920"/>
            <a:ext cx="1045029" cy="347967"/>
          </a:xfrm>
          <a:prstGeom prst="rect">
            <a:avLst/>
          </a:prstGeom>
        </p:spPr>
      </p:pic>
      <p:pic>
        <p:nvPicPr>
          <p:cNvPr id="8" name="Immagine 7">
            <a:extLst>
              <a:ext uri="{FF2B5EF4-FFF2-40B4-BE49-F238E27FC236}">
                <a16:creationId xmlns:a16="http://schemas.microsoft.com/office/drawing/2014/main" id="{E579F1E7-2935-F64E-99E7-12C4B418472B}"/>
              </a:ext>
            </a:extLst>
          </p:cNvPr>
          <p:cNvPicPr>
            <a:picLocks noChangeAspect="1"/>
          </p:cNvPicPr>
          <p:nvPr/>
        </p:nvPicPr>
        <p:blipFill>
          <a:blip r:embed="rId7"/>
          <a:stretch>
            <a:fillRect/>
          </a:stretch>
        </p:blipFill>
        <p:spPr>
          <a:xfrm>
            <a:off x="687657" y="2015210"/>
            <a:ext cx="5009359" cy="524790"/>
          </a:xfrm>
          <a:prstGeom prst="rect">
            <a:avLst/>
          </a:prstGeom>
        </p:spPr>
      </p:pic>
      <p:pic>
        <p:nvPicPr>
          <p:cNvPr id="9" name="Immagine 8">
            <a:extLst>
              <a:ext uri="{FF2B5EF4-FFF2-40B4-BE49-F238E27FC236}">
                <a16:creationId xmlns:a16="http://schemas.microsoft.com/office/drawing/2014/main" id="{ADADDBDD-A52A-9D4B-8206-D45842031A65}"/>
              </a:ext>
            </a:extLst>
          </p:cNvPr>
          <p:cNvPicPr>
            <a:picLocks noChangeAspect="1"/>
          </p:cNvPicPr>
          <p:nvPr/>
        </p:nvPicPr>
        <p:blipFill>
          <a:blip r:embed="rId8"/>
          <a:stretch>
            <a:fillRect/>
          </a:stretch>
        </p:blipFill>
        <p:spPr>
          <a:xfrm>
            <a:off x="674131" y="2814498"/>
            <a:ext cx="5009359" cy="4043502"/>
          </a:xfrm>
          <a:prstGeom prst="rect">
            <a:avLst/>
          </a:prstGeom>
        </p:spPr>
      </p:pic>
    </p:spTree>
    <p:extLst>
      <p:ext uri="{BB962C8B-B14F-4D97-AF65-F5344CB8AC3E}">
        <p14:creationId xmlns:p14="http://schemas.microsoft.com/office/powerpoint/2010/main" val="355314876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alphaModFix amt="50000"/>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7383529" y="2017961"/>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12" name="Immagine 11">
            <a:extLst>
              <a:ext uri="{FF2B5EF4-FFF2-40B4-BE49-F238E27FC236}">
                <a16:creationId xmlns:a16="http://schemas.microsoft.com/office/drawing/2014/main" id="{E8A84895-A388-C049-B6D5-399B6F267820}"/>
              </a:ext>
            </a:extLst>
          </p:cNvPr>
          <p:cNvPicPr>
            <a:picLocks noChangeAspect="1"/>
          </p:cNvPicPr>
          <p:nvPr/>
        </p:nvPicPr>
        <p:blipFill rotWithShape="1">
          <a:blip r:embed="rId5"/>
          <a:srcRect l="37508"/>
          <a:stretch/>
        </p:blipFill>
        <p:spPr>
          <a:xfrm>
            <a:off x="10891507" y="3454183"/>
            <a:ext cx="1300493" cy="462458"/>
          </a:xfrm>
          <a:prstGeom prst="rect">
            <a:avLst/>
          </a:prstGeom>
        </p:spPr>
      </p:pic>
      <p:pic>
        <p:nvPicPr>
          <p:cNvPr id="14" name="Immagine 13">
            <a:extLst>
              <a:ext uri="{FF2B5EF4-FFF2-40B4-BE49-F238E27FC236}">
                <a16:creationId xmlns:a16="http://schemas.microsoft.com/office/drawing/2014/main" id="{6A2CCF90-1FA1-7D45-AF73-52E17EA4FB34}"/>
              </a:ext>
            </a:extLst>
          </p:cNvPr>
          <p:cNvPicPr>
            <a:picLocks noChangeAspect="1"/>
          </p:cNvPicPr>
          <p:nvPr/>
        </p:nvPicPr>
        <p:blipFill rotWithShape="1">
          <a:blip r:embed="rId6"/>
          <a:srcRect l="47719" t="70430" r="35447" b="7602"/>
          <a:stretch/>
        </p:blipFill>
        <p:spPr>
          <a:xfrm>
            <a:off x="11008726" y="1930920"/>
            <a:ext cx="1045029" cy="347967"/>
          </a:xfrm>
          <a:prstGeom prst="rect">
            <a:avLst/>
          </a:prstGeom>
        </p:spPr>
      </p:pic>
      <p:pic>
        <p:nvPicPr>
          <p:cNvPr id="8" name="Immagine 7">
            <a:extLst>
              <a:ext uri="{FF2B5EF4-FFF2-40B4-BE49-F238E27FC236}">
                <a16:creationId xmlns:a16="http://schemas.microsoft.com/office/drawing/2014/main" id="{E579F1E7-2935-F64E-99E7-12C4B418472B}"/>
              </a:ext>
            </a:extLst>
          </p:cNvPr>
          <p:cNvPicPr>
            <a:picLocks noChangeAspect="1"/>
          </p:cNvPicPr>
          <p:nvPr/>
        </p:nvPicPr>
        <p:blipFill>
          <a:blip r:embed="rId7"/>
          <a:stretch>
            <a:fillRect/>
          </a:stretch>
        </p:blipFill>
        <p:spPr>
          <a:xfrm>
            <a:off x="687657" y="2015210"/>
            <a:ext cx="5009359" cy="524790"/>
          </a:xfrm>
          <a:prstGeom prst="rect">
            <a:avLst/>
          </a:prstGeom>
        </p:spPr>
      </p:pic>
    </p:spTree>
    <p:extLst>
      <p:ext uri="{BB962C8B-B14F-4D97-AF65-F5344CB8AC3E}">
        <p14:creationId xmlns:p14="http://schemas.microsoft.com/office/powerpoint/2010/main" val="224833351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alphaModFix amt="50000"/>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7383529" y="2017961"/>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12" name="Immagine 11">
            <a:extLst>
              <a:ext uri="{FF2B5EF4-FFF2-40B4-BE49-F238E27FC236}">
                <a16:creationId xmlns:a16="http://schemas.microsoft.com/office/drawing/2014/main" id="{E8A84895-A388-C049-B6D5-399B6F267820}"/>
              </a:ext>
            </a:extLst>
          </p:cNvPr>
          <p:cNvPicPr>
            <a:picLocks noChangeAspect="1"/>
          </p:cNvPicPr>
          <p:nvPr/>
        </p:nvPicPr>
        <p:blipFill rotWithShape="1">
          <a:blip r:embed="rId5"/>
          <a:srcRect l="37508"/>
          <a:stretch/>
        </p:blipFill>
        <p:spPr>
          <a:xfrm>
            <a:off x="10891507" y="3454183"/>
            <a:ext cx="1300493" cy="462458"/>
          </a:xfrm>
          <a:prstGeom prst="rect">
            <a:avLst/>
          </a:prstGeom>
        </p:spPr>
      </p:pic>
      <p:pic>
        <p:nvPicPr>
          <p:cNvPr id="14" name="Immagine 13">
            <a:extLst>
              <a:ext uri="{FF2B5EF4-FFF2-40B4-BE49-F238E27FC236}">
                <a16:creationId xmlns:a16="http://schemas.microsoft.com/office/drawing/2014/main" id="{6A2CCF90-1FA1-7D45-AF73-52E17EA4FB34}"/>
              </a:ext>
            </a:extLst>
          </p:cNvPr>
          <p:cNvPicPr>
            <a:picLocks noChangeAspect="1"/>
          </p:cNvPicPr>
          <p:nvPr/>
        </p:nvPicPr>
        <p:blipFill rotWithShape="1">
          <a:blip r:embed="rId6"/>
          <a:srcRect l="47719" t="70430" r="35447" b="7602"/>
          <a:stretch/>
        </p:blipFill>
        <p:spPr>
          <a:xfrm>
            <a:off x="11008726" y="1930920"/>
            <a:ext cx="1045029" cy="347967"/>
          </a:xfrm>
          <a:prstGeom prst="rect">
            <a:avLst/>
          </a:prstGeom>
        </p:spPr>
      </p:pic>
      <p:pic>
        <p:nvPicPr>
          <p:cNvPr id="8" name="Immagine 7">
            <a:extLst>
              <a:ext uri="{FF2B5EF4-FFF2-40B4-BE49-F238E27FC236}">
                <a16:creationId xmlns:a16="http://schemas.microsoft.com/office/drawing/2014/main" id="{E579F1E7-2935-F64E-99E7-12C4B418472B}"/>
              </a:ext>
            </a:extLst>
          </p:cNvPr>
          <p:cNvPicPr>
            <a:picLocks noChangeAspect="1"/>
          </p:cNvPicPr>
          <p:nvPr/>
        </p:nvPicPr>
        <p:blipFill>
          <a:blip r:embed="rId7"/>
          <a:stretch>
            <a:fillRect/>
          </a:stretch>
        </p:blipFill>
        <p:spPr>
          <a:xfrm>
            <a:off x="687657" y="2015210"/>
            <a:ext cx="5009359" cy="524790"/>
          </a:xfrm>
          <a:prstGeom prst="rect">
            <a:avLst/>
          </a:prstGeom>
        </p:spPr>
      </p:pic>
      <p:pic>
        <p:nvPicPr>
          <p:cNvPr id="10" name="Immagine 9" descr="Immagine che contiene testo&#10;&#10;Descrizione generata automaticamente">
            <a:extLst>
              <a:ext uri="{FF2B5EF4-FFF2-40B4-BE49-F238E27FC236}">
                <a16:creationId xmlns:a16="http://schemas.microsoft.com/office/drawing/2014/main" id="{C7D721FE-EEEC-B948-BF5C-F1447B3730F7}"/>
              </a:ext>
            </a:extLst>
          </p:cNvPr>
          <p:cNvPicPr>
            <a:picLocks noChangeAspect="1"/>
          </p:cNvPicPr>
          <p:nvPr/>
        </p:nvPicPr>
        <p:blipFill>
          <a:blip r:embed="rId8"/>
          <a:stretch>
            <a:fillRect/>
          </a:stretch>
        </p:blipFill>
        <p:spPr>
          <a:xfrm>
            <a:off x="574842" y="2864522"/>
            <a:ext cx="3302000" cy="787400"/>
          </a:xfrm>
          <a:prstGeom prst="rect">
            <a:avLst/>
          </a:prstGeom>
        </p:spPr>
      </p:pic>
      <p:cxnSp>
        <p:nvCxnSpPr>
          <p:cNvPr id="9" name="Connettore 2 8">
            <a:extLst>
              <a:ext uri="{FF2B5EF4-FFF2-40B4-BE49-F238E27FC236}">
                <a16:creationId xmlns:a16="http://schemas.microsoft.com/office/drawing/2014/main" id="{1893EAA3-D2E7-B448-A017-DF932CDC51A3}"/>
              </a:ext>
            </a:extLst>
          </p:cNvPr>
          <p:cNvCxnSpPr/>
          <p:nvPr/>
        </p:nvCxnSpPr>
        <p:spPr>
          <a:xfrm flipH="1">
            <a:off x="1503947" y="2540000"/>
            <a:ext cx="721895" cy="370254"/>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669622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alphaModFix amt="50000"/>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7383529" y="2017961"/>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12" name="Immagine 11">
            <a:extLst>
              <a:ext uri="{FF2B5EF4-FFF2-40B4-BE49-F238E27FC236}">
                <a16:creationId xmlns:a16="http://schemas.microsoft.com/office/drawing/2014/main" id="{E8A84895-A388-C049-B6D5-399B6F267820}"/>
              </a:ext>
            </a:extLst>
          </p:cNvPr>
          <p:cNvPicPr>
            <a:picLocks noChangeAspect="1"/>
          </p:cNvPicPr>
          <p:nvPr/>
        </p:nvPicPr>
        <p:blipFill rotWithShape="1">
          <a:blip r:embed="rId5"/>
          <a:srcRect l="37508"/>
          <a:stretch/>
        </p:blipFill>
        <p:spPr>
          <a:xfrm>
            <a:off x="10891507" y="3454183"/>
            <a:ext cx="1300493" cy="462458"/>
          </a:xfrm>
          <a:prstGeom prst="rect">
            <a:avLst/>
          </a:prstGeom>
        </p:spPr>
      </p:pic>
      <p:pic>
        <p:nvPicPr>
          <p:cNvPr id="14" name="Immagine 13">
            <a:extLst>
              <a:ext uri="{FF2B5EF4-FFF2-40B4-BE49-F238E27FC236}">
                <a16:creationId xmlns:a16="http://schemas.microsoft.com/office/drawing/2014/main" id="{6A2CCF90-1FA1-7D45-AF73-52E17EA4FB34}"/>
              </a:ext>
            </a:extLst>
          </p:cNvPr>
          <p:cNvPicPr>
            <a:picLocks noChangeAspect="1"/>
          </p:cNvPicPr>
          <p:nvPr/>
        </p:nvPicPr>
        <p:blipFill rotWithShape="1">
          <a:blip r:embed="rId6"/>
          <a:srcRect l="47719" t="70430" r="35447" b="7602"/>
          <a:stretch/>
        </p:blipFill>
        <p:spPr>
          <a:xfrm>
            <a:off x="11008726" y="1930920"/>
            <a:ext cx="1045029" cy="347967"/>
          </a:xfrm>
          <a:prstGeom prst="rect">
            <a:avLst/>
          </a:prstGeom>
        </p:spPr>
      </p:pic>
      <p:pic>
        <p:nvPicPr>
          <p:cNvPr id="8" name="Immagine 7">
            <a:extLst>
              <a:ext uri="{FF2B5EF4-FFF2-40B4-BE49-F238E27FC236}">
                <a16:creationId xmlns:a16="http://schemas.microsoft.com/office/drawing/2014/main" id="{E579F1E7-2935-F64E-99E7-12C4B418472B}"/>
              </a:ext>
            </a:extLst>
          </p:cNvPr>
          <p:cNvPicPr>
            <a:picLocks noChangeAspect="1"/>
          </p:cNvPicPr>
          <p:nvPr/>
        </p:nvPicPr>
        <p:blipFill>
          <a:blip r:embed="rId7"/>
          <a:stretch>
            <a:fillRect/>
          </a:stretch>
        </p:blipFill>
        <p:spPr>
          <a:xfrm>
            <a:off x="687657" y="2015210"/>
            <a:ext cx="5009359" cy="524790"/>
          </a:xfrm>
          <a:prstGeom prst="rect">
            <a:avLst/>
          </a:prstGeom>
        </p:spPr>
      </p:pic>
      <p:pic>
        <p:nvPicPr>
          <p:cNvPr id="16" name="Immagine 15" descr="Immagine che contiene testo&#10;&#10;Descrizione generata automaticamente">
            <a:extLst>
              <a:ext uri="{FF2B5EF4-FFF2-40B4-BE49-F238E27FC236}">
                <a16:creationId xmlns:a16="http://schemas.microsoft.com/office/drawing/2014/main" id="{FA280963-87A6-044D-A9F6-B35092B1E1C1}"/>
              </a:ext>
            </a:extLst>
          </p:cNvPr>
          <p:cNvPicPr>
            <a:picLocks noChangeAspect="1"/>
          </p:cNvPicPr>
          <p:nvPr/>
        </p:nvPicPr>
        <p:blipFill>
          <a:blip r:embed="rId8"/>
          <a:stretch>
            <a:fillRect/>
          </a:stretch>
        </p:blipFill>
        <p:spPr>
          <a:xfrm>
            <a:off x="574842" y="2864522"/>
            <a:ext cx="3302000" cy="787400"/>
          </a:xfrm>
          <a:prstGeom prst="rect">
            <a:avLst/>
          </a:prstGeom>
        </p:spPr>
      </p:pic>
      <p:cxnSp>
        <p:nvCxnSpPr>
          <p:cNvPr id="13" name="Connettore 2 12">
            <a:extLst>
              <a:ext uri="{FF2B5EF4-FFF2-40B4-BE49-F238E27FC236}">
                <a16:creationId xmlns:a16="http://schemas.microsoft.com/office/drawing/2014/main" id="{91326E1B-E651-EE40-96D4-CF1CB11A8662}"/>
              </a:ext>
            </a:extLst>
          </p:cNvPr>
          <p:cNvCxnSpPr/>
          <p:nvPr/>
        </p:nvCxnSpPr>
        <p:spPr>
          <a:xfrm flipH="1">
            <a:off x="1503947" y="2540000"/>
            <a:ext cx="721895" cy="370254"/>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pic>
        <p:nvPicPr>
          <p:cNvPr id="11" name="Immagine 10">
            <a:extLst>
              <a:ext uri="{FF2B5EF4-FFF2-40B4-BE49-F238E27FC236}">
                <a16:creationId xmlns:a16="http://schemas.microsoft.com/office/drawing/2014/main" id="{3F476CEE-319B-7C47-96BD-4936422E23E9}"/>
              </a:ext>
            </a:extLst>
          </p:cNvPr>
          <p:cNvPicPr>
            <a:picLocks noChangeAspect="1"/>
          </p:cNvPicPr>
          <p:nvPr/>
        </p:nvPicPr>
        <p:blipFill rotWithShape="1">
          <a:blip r:embed="rId9"/>
          <a:srcRect r="60824"/>
          <a:stretch/>
        </p:blipFill>
        <p:spPr>
          <a:xfrm>
            <a:off x="687657" y="3675061"/>
            <a:ext cx="3189185" cy="749300"/>
          </a:xfrm>
          <a:prstGeom prst="rect">
            <a:avLst/>
          </a:prstGeom>
        </p:spPr>
      </p:pic>
      <p:cxnSp>
        <p:nvCxnSpPr>
          <p:cNvPr id="15" name="Connettore 2 14">
            <a:extLst>
              <a:ext uri="{FF2B5EF4-FFF2-40B4-BE49-F238E27FC236}">
                <a16:creationId xmlns:a16="http://schemas.microsoft.com/office/drawing/2014/main" id="{4D456EAF-CB67-364E-A8D2-37D1654EACF6}"/>
              </a:ext>
            </a:extLst>
          </p:cNvPr>
          <p:cNvCxnSpPr/>
          <p:nvPr/>
        </p:nvCxnSpPr>
        <p:spPr>
          <a:xfrm flipH="1">
            <a:off x="1403684" y="3429000"/>
            <a:ext cx="721895" cy="370254"/>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935239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Immagine 19">
            <a:extLst>
              <a:ext uri="{FF2B5EF4-FFF2-40B4-BE49-F238E27FC236}">
                <a16:creationId xmlns:a16="http://schemas.microsoft.com/office/drawing/2014/main" id="{B4925D6C-7068-FD41-8C06-9A9E4C2B4C31}"/>
              </a:ext>
            </a:extLst>
          </p:cNvPr>
          <p:cNvPicPr>
            <a:picLocks noChangeAspect="1"/>
          </p:cNvPicPr>
          <p:nvPr/>
        </p:nvPicPr>
        <p:blipFill rotWithShape="1">
          <a:blip r:embed="rId2"/>
          <a:srcRect r="62178"/>
          <a:stretch/>
        </p:blipFill>
        <p:spPr>
          <a:xfrm>
            <a:off x="797831" y="3604728"/>
            <a:ext cx="3079011" cy="749300"/>
          </a:xfrm>
          <a:prstGeom prst="rect">
            <a:avLst/>
          </a:prstGeom>
        </p:spPr>
      </p:pic>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3">
            <a:alphaModFix amt="50000"/>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4"/>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5"/>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7383529" y="2017961"/>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12" name="Immagine 11">
            <a:extLst>
              <a:ext uri="{FF2B5EF4-FFF2-40B4-BE49-F238E27FC236}">
                <a16:creationId xmlns:a16="http://schemas.microsoft.com/office/drawing/2014/main" id="{E8A84895-A388-C049-B6D5-399B6F267820}"/>
              </a:ext>
            </a:extLst>
          </p:cNvPr>
          <p:cNvPicPr>
            <a:picLocks noChangeAspect="1"/>
          </p:cNvPicPr>
          <p:nvPr/>
        </p:nvPicPr>
        <p:blipFill rotWithShape="1">
          <a:blip r:embed="rId6"/>
          <a:srcRect l="37508"/>
          <a:stretch/>
        </p:blipFill>
        <p:spPr>
          <a:xfrm>
            <a:off x="10891507" y="3454183"/>
            <a:ext cx="1300493" cy="462458"/>
          </a:xfrm>
          <a:prstGeom prst="rect">
            <a:avLst/>
          </a:prstGeom>
        </p:spPr>
      </p:pic>
      <p:pic>
        <p:nvPicPr>
          <p:cNvPr id="14" name="Immagine 13">
            <a:extLst>
              <a:ext uri="{FF2B5EF4-FFF2-40B4-BE49-F238E27FC236}">
                <a16:creationId xmlns:a16="http://schemas.microsoft.com/office/drawing/2014/main" id="{6A2CCF90-1FA1-7D45-AF73-52E17EA4FB34}"/>
              </a:ext>
            </a:extLst>
          </p:cNvPr>
          <p:cNvPicPr>
            <a:picLocks noChangeAspect="1"/>
          </p:cNvPicPr>
          <p:nvPr/>
        </p:nvPicPr>
        <p:blipFill rotWithShape="1">
          <a:blip r:embed="rId7"/>
          <a:srcRect l="47719" t="70430" r="35447" b="7602"/>
          <a:stretch/>
        </p:blipFill>
        <p:spPr>
          <a:xfrm>
            <a:off x="11008726" y="1930920"/>
            <a:ext cx="1045029" cy="347967"/>
          </a:xfrm>
          <a:prstGeom prst="rect">
            <a:avLst/>
          </a:prstGeom>
        </p:spPr>
      </p:pic>
      <p:pic>
        <p:nvPicPr>
          <p:cNvPr id="8" name="Immagine 7">
            <a:extLst>
              <a:ext uri="{FF2B5EF4-FFF2-40B4-BE49-F238E27FC236}">
                <a16:creationId xmlns:a16="http://schemas.microsoft.com/office/drawing/2014/main" id="{E579F1E7-2935-F64E-99E7-12C4B418472B}"/>
              </a:ext>
            </a:extLst>
          </p:cNvPr>
          <p:cNvPicPr>
            <a:picLocks noChangeAspect="1"/>
          </p:cNvPicPr>
          <p:nvPr/>
        </p:nvPicPr>
        <p:blipFill>
          <a:blip r:embed="rId8"/>
          <a:stretch>
            <a:fillRect/>
          </a:stretch>
        </p:blipFill>
        <p:spPr>
          <a:xfrm>
            <a:off x="687657" y="2015210"/>
            <a:ext cx="5009359" cy="524790"/>
          </a:xfrm>
          <a:prstGeom prst="rect">
            <a:avLst/>
          </a:prstGeom>
        </p:spPr>
      </p:pic>
      <p:sp>
        <p:nvSpPr>
          <p:cNvPr id="15" name="Figura a mano libera 14">
            <a:extLst>
              <a:ext uri="{FF2B5EF4-FFF2-40B4-BE49-F238E27FC236}">
                <a16:creationId xmlns:a16="http://schemas.microsoft.com/office/drawing/2014/main" id="{785A00D3-7835-5449-879B-7DA9DBB418E1}"/>
              </a:ext>
            </a:extLst>
          </p:cNvPr>
          <p:cNvSpPr/>
          <p:nvPr/>
        </p:nvSpPr>
        <p:spPr>
          <a:xfrm>
            <a:off x="123181" y="3753798"/>
            <a:ext cx="2908777" cy="1310436"/>
          </a:xfrm>
          <a:custGeom>
            <a:avLst/>
            <a:gdLst>
              <a:gd name="connsiteX0" fmla="*/ 1814285 w 2917371"/>
              <a:gd name="connsiteY0" fmla="*/ 638628 h 2206171"/>
              <a:gd name="connsiteX1" fmla="*/ 1901371 w 2917371"/>
              <a:gd name="connsiteY1" fmla="*/ 740228 h 2206171"/>
              <a:gd name="connsiteX2" fmla="*/ 1944914 w 2917371"/>
              <a:gd name="connsiteY2" fmla="*/ 769257 h 2206171"/>
              <a:gd name="connsiteX3" fmla="*/ 1988457 w 2917371"/>
              <a:gd name="connsiteY3" fmla="*/ 812800 h 2206171"/>
              <a:gd name="connsiteX4" fmla="*/ 2075543 w 2917371"/>
              <a:gd name="connsiteY4" fmla="*/ 870857 h 2206171"/>
              <a:gd name="connsiteX5" fmla="*/ 2119085 w 2917371"/>
              <a:gd name="connsiteY5" fmla="*/ 899885 h 2206171"/>
              <a:gd name="connsiteX6" fmla="*/ 2249714 w 2917371"/>
              <a:gd name="connsiteY6" fmla="*/ 957942 h 2206171"/>
              <a:gd name="connsiteX7" fmla="*/ 2293257 w 2917371"/>
              <a:gd name="connsiteY7" fmla="*/ 972457 h 2206171"/>
              <a:gd name="connsiteX8" fmla="*/ 2656114 w 2917371"/>
              <a:gd name="connsiteY8" fmla="*/ 943428 h 2206171"/>
              <a:gd name="connsiteX9" fmla="*/ 2757714 w 2917371"/>
              <a:gd name="connsiteY9" fmla="*/ 914400 h 2206171"/>
              <a:gd name="connsiteX10" fmla="*/ 2873828 w 2917371"/>
              <a:gd name="connsiteY10" fmla="*/ 812800 h 2206171"/>
              <a:gd name="connsiteX11" fmla="*/ 2902857 w 2917371"/>
              <a:gd name="connsiteY11" fmla="*/ 725714 h 2206171"/>
              <a:gd name="connsiteX12" fmla="*/ 2917371 w 2917371"/>
              <a:gd name="connsiteY12" fmla="*/ 682171 h 2206171"/>
              <a:gd name="connsiteX13" fmla="*/ 2888343 w 2917371"/>
              <a:gd name="connsiteY13" fmla="*/ 377371 h 2206171"/>
              <a:gd name="connsiteX14" fmla="*/ 2873828 w 2917371"/>
              <a:gd name="connsiteY14" fmla="*/ 333828 h 2206171"/>
              <a:gd name="connsiteX15" fmla="*/ 2844800 w 2917371"/>
              <a:gd name="connsiteY15" fmla="*/ 290285 h 2206171"/>
              <a:gd name="connsiteX16" fmla="*/ 2830285 w 2917371"/>
              <a:gd name="connsiteY16" fmla="*/ 246742 h 2206171"/>
              <a:gd name="connsiteX17" fmla="*/ 2743200 w 2917371"/>
              <a:gd name="connsiteY17" fmla="*/ 159657 h 2206171"/>
              <a:gd name="connsiteX18" fmla="*/ 2699657 w 2917371"/>
              <a:gd name="connsiteY18" fmla="*/ 116114 h 2206171"/>
              <a:gd name="connsiteX19" fmla="*/ 2612571 w 2917371"/>
              <a:gd name="connsiteY19" fmla="*/ 72571 h 2206171"/>
              <a:gd name="connsiteX20" fmla="*/ 2554514 w 2917371"/>
              <a:gd name="connsiteY20" fmla="*/ 43542 h 2206171"/>
              <a:gd name="connsiteX21" fmla="*/ 2496457 w 2917371"/>
              <a:gd name="connsiteY21" fmla="*/ 29028 h 2206171"/>
              <a:gd name="connsiteX22" fmla="*/ 2409371 w 2917371"/>
              <a:gd name="connsiteY22" fmla="*/ 0 h 2206171"/>
              <a:gd name="connsiteX23" fmla="*/ 2104571 w 2917371"/>
              <a:gd name="connsiteY23" fmla="*/ 14514 h 2206171"/>
              <a:gd name="connsiteX24" fmla="*/ 2002971 w 2917371"/>
              <a:gd name="connsiteY24" fmla="*/ 43542 h 2206171"/>
              <a:gd name="connsiteX25" fmla="*/ 1915885 w 2917371"/>
              <a:gd name="connsiteY25" fmla="*/ 101600 h 2206171"/>
              <a:gd name="connsiteX26" fmla="*/ 1828800 w 2917371"/>
              <a:gd name="connsiteY26" fmla="*/ 174171 h 2206171"/>
              <a:gd name="connsiteX27" fmla="*/ 1814285 w 2917371"/>
              <a:gd name="connsiteY27" fmla="*/ 217714 h 2206171"/>
              <a:gd name="connsiteX28" fmla="*/ 1843314 w 2917371"/>
              <a:gd name="connsiteY28" fmla="*/ 464457 h 2206171"/>
              <a:gd name="connsiteX29" fmla="*/ 1857828 w 2917371"/>
              <a:gd name="connsiteY29" fmla="*/ 508000 h 2206171"/>
              <a:gd name="connsiteX30" fmla="*/ 1828800 w 2917371"/>
              <a:gd name="connsiteY30" fmla="*/ 653142 h 2206171"/>
              <a:gd name="connsiteX31" fmla="*/ 1799771 w 2917371"/>
              <a:gd name="connsiteY31" fmla="*/ 696685 h 2206171"/>
              <a:gd name="connsiteX32" fmla="*/ 1669143 w 2917371"/>
              <a:gd name="connsiteY32" fmla="*/ 769257 h 2206171"/>
              <a:gd name="connsiteX33" fmla="*/ 1625600 w 2917371"/>
              <a:gd name="connsiteY33" fmla="*/ 798285 h 2206171"/>
              <a:gd name="connsiteX34" fmla="*/ 1567543 w 2917371"/>
              <a:gd name="connsiteY34" fmla="*/ 812800 h 2206171"/>
              <a:gd name="connsiteX35" fmla="*/ 1422400 w 2917371"/>
              <a:gd name="connsiteY35" fmla="*/ 841828 h 2206171"/>
              <a:gd name="connsiteX36" fmla="*/ 1306285 w 2917371"/>
              <a:gd name="connsiteY36" fmla="*/ 856342 h 2206171"/>
              <a:gd name="connsiteX37" fmla="*/ 986971 w 2917371"/>
              <a:gd name="connsiteY37" fmla="*/ 885371 h 2206171"/>
              <a:gd name="connsiteX38" fmla="*/ 783771 w 2917371"/>
              <a:gd name="connsiteY38" fmla="*/ 914400 h 2206171"/>
              <a:gd name="connsiteX39" fmla="*/ 667657 w 2917371"/>
              <a:gd name="connsiteY39" fmla="*/ 943428 h 2206171"/>
              <a:gd name="connsiteX40" fmla="*/ 624114 w 2917371"/>
              <a:gd name="connsiteY40" fmla="*/ 957942 h 2206171"/>
              <a:gd name="connsiteX41" fmla="*/ 522514 w 2917371"/>
              <a:gd name="connsiteY41" fmla="*/ 986971 h 2206171"/>
              <a:gd name="connsiteX42" fmla="*/ 420914 w 2917371"/>
              <a:gd name="connsiteY42" fmla="*/ 1045028 h 2206171"/>
              <a:gd name="connsiteX43" fmla="*/ 377371 w 2917371"/>
              <a:gd name="connsiteY43" fmla="*/ 1059542 h 2206171"/>
              <a:gd name="connsiteX44" fmla="*/ 290285 w 2917371"/>
              <a:gd name="connsiteY44" fmla="*/ 1117600 h 2206171"/>
              <a:gd name="connsiteX45" fmla="*/ 246743 w 2917371"/>
              <a:gd name="connsiteY45" fmla="*/ 1146628 h 2206171"/>
              <a:gd name="connsiteX46" fmla="*/ 116114 w 2917371"/>
              <a:gd name="connsiteY46" fmla="*/ 1262742 h 2206171"/>
              <a:gd name="connsiteX47" fmla="*/ 87085 w 2917371"/>
              <a:gd name="connsiteY47" fmla="*/ 1306285 h 2206171"/>
              <a:gd name="connsiteX48" fmla="*/ 58057 w 2917371"/>
              <a:gd name="connsiteY48" fmla="*/ 1364342 h 2206171"/>
              <a:gd name="connsiteX49" fmla="*/ 14514 w 2917371"/>
              <a:gd name="connsiteY49" fmla="*/ 1422400 h 2206171"/>
              <a:gd name="connsiteX50" fmla="*/ 0 w 2917371"/>
              <a:gd name="connsiteY50" fmla="*/ 1465942 h 2206171"/>
              <a:gd name="connsiteX51" fmla="*/ 14514 w 2917371"/>
              <a:gd name="connsiteY51" fmla="*/ 1553028 h 2206171"/>
              <a:gd name="connsiteX52" fmla="*/ 101600 w 2917371"/>
              <a:gd name="connsiteY52" fmla="*/ 1698171 h 2206171"/>
              <a:gd name="connsiteX53" fmla="*/ 145143 w 2917371"/>
              <a:gd name="connsiteY53" fmla="*/ 1756228 h 2206171"/>
              <a:gd name="connsiteX54" fmla="*/ 203200 w 2917371"/>
              <a:gd name="connsiteY54" fmla="*/ 1843314 h 2206171"/>
              <a:gd name="connsiteX55" fmla="*/ 261257 w 2917371"/>
              <a:gd name="connsiteY55" fmla="*/ 1930400 h 2206171"/>
              <a:gd name="connsiteX56" fmla="*/ 319314 w 2917371"/>
              <a:gd name="connsiteY56" fmla="*/ 2017485 h 2206171"/>
              <a:gd name="connsiteX57" fmla="*/ 362857 w 2917371"/>
              <a:gd name="connsiteY57" fmla="*/ 2061028 h 2206171"/>
              <a:gd name="connsiteX58" fmla="*/ 420914 w 2917371"/>
              <a:gd name="connsiteY58" fmla="*/ 2148114 h 2206171"/>
              <a:gd name="connsiteX59" fmla="*/ 493485 w 2917371"/>
              <a:gd name="connsiteY59" fmla="*/ 2206171 h 2206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2917371" h="2206171">
                <a:moveTo>
                  <a:pt x="1814285" y="638628"/>
                </a:moveTo>
                <a:cubicBezTo>
                  <a:pt x="1843314" y="672495"/>
                  <a:pt x="1869830" y="708687"/>
                  <a:pt x="1901371" y="740228"/>
                </a:cubicBezTo>
                <a:cubicBezTo>
                  <a:pt x="1913706" y="752563"/>
                  <a:pt x="1931513" y="758090"/>
                  <a:pt x="1944914" y="769257"/>
                </a:cubicBezTo>
                <a:cubicBezTo>
                  <a:pt x="1960683" y="782398"/>
                  <a:pt x="1972254" y="800198"/>
                  <a:pt x="1988457" y="812800"/>
                </a:cubicBezTo>
                <a:cubicBezTo>
                  <a:pt x="2015996" y="834219"/>
                  <a:pt x="2046514" y="851505"/>
                  <a:pt x="2075543" y="870857"/>
                </a:cubicBezTo>
                <a:lnTo>
                  <a:pt x="2119085" y="899885"/>
                </a:lnTo>
                <a:cubicBezTo>
                  <a:pt x="2188090" y="945888"/>
                  <a:pt x="2146075" y="923396"/>
                  <a:pt x="2249714" y="957942"/>
                </a:cubicBezTo>
                <a:lnTo>
                  <a:pt x="2293257" y="972457"/>
                </a:lnTo>
                <a:cubicBezTo>
                  <a:pt x="2417454" y="965151"/>
                  <a:pt x="2534698" y="963664"/>
                  <a:pt x="2656114" y="943428"/>
                </a:cubicBezTo>
                <a:cubicBezTo>
                  <a:pt x="2692563" y="937353"/>
                  <a:pt x="2723203" y="925903"/>
                  <a:pt x="2757714" y="914400"/>
                </a:cubicBezTo>
                <a:cubicBezTo>
                  <a:pt x="2813478" y="877223"/>
                  <a:pt x="2848365" y="870093"/>
                  <a:pt x="2873828" y="812800"/>
                </a:cubicBezTo>
                <a:cubicBezTo>
                  <a:pt x="2886255" y="784838"/>
                  <a:pt x="2893181" y="754743"/>
                  <a:pt x="2902857" y="725714"/>
                </a:cubicBezTo>
                <a:lnTo>
                  <a:pt x="2917371" y="682171"/>
                </a:lnTo>
                <a:cubicBezTo>
                  <a:pt x="2906964" y="505244"/>
                  <a:pt x="2921561" y="493633"/>
                  <a:pt x="2888343" y="377371"/>
                </a:cubicBezTo>
                <a:cubicBezTo>
                  <a:pt x="2884140" y="362660"/>
                  <a:pt x="2880670" y="347512"/>
                  <a:pt x="2873828" y="333828"/>
                </a:cubicBezTo>
                <a:cubicBezTo>
                  <a:pt x="2866027" y="318226"/>
                  <a:pt x="2852601" y="305887"/>
                  <a:pt x="2844800" y="290285"/>
                </a:cubicBezTo>
                <a:cubicBezTo>
                  <a:pt x="2837958" y="276601"/>
                  <a:pt x="2839678" y="258819"/>
                  <a:pt x="2830285" y="246742"/>
                </a:cubicBezTo>
                <a:cubicBezTo>
                  <a:pt x="2805081" y="214337"/>
                  <a:pt x="2772228" y="188685"/>
                  <a:pt x="2743200" y="159657"/>
                </a:cubicBezTo>
                <a:cubicBezTo>
                  <a:pt x="2728686" y="145143"/>
                  <a:pt x="2716736" y="127500"/>
                  <a:pt x="2699657" y="116114"/>
                </a:cubicBezTo>
                <a:cubicBezTo>
                  <a:pt x="2615976" y="60326"/>
                  <a:pt x="2696701" y="108627"/>
                  <a:pt x="2612571" y="72571"/>
                </a:cubicBezTo>
                <a:cubicBezTo>
                  <a:pt x="2592684" y="64048"/>
                  <a:pt x="2574773" y="51139"/>
                  <a:pt x="2554514" y="43542"/>
                </a:cubicBezTo>
                <a:cubicBezTo>
                  <a:pt x="2535836" y="36538"/>
                  <a:pt x="2515564" y="34760"/>
                  <a:pt x="2496457" y="29028"/>
                </a:cubicBezTo>
                <a:cubicBezTo>
                  <a:pt x="2467149" y="20236"/>
                  <a:pt x="2409371" y="0"/>
                  <a:pt x="2409371" y="0"/>
                </a:cubicBezTo>
                <a:cubicBezTo>
                  <a:pt x="2307771" y="4838"/>
                  <a:pt x="2205962" y="6403"/>
                  <a:pt x="2104571" y="14514"/>
                </a:cubicBezTo>
                <a:cubicBezTo>
                  <a:pt x="2080591" y="16432"/>
                  <a:pt x="2027918" y="35226"/>
                  <a:pt x="2002971" y="43542"/>
                </a:cubicBezTo>
                <a:cubicBezTo>
                  <a:pt x="1973942" y="62895"/>
                  <a:pt x="1940555" y="76930"/>
                  <a:pt x="1915885" y="101600"/>
                </a:cubicBezTo>
                <a:cubicBezTo>
                  <a:pt x="1860008" y="157477"/>
                  <a:pt x="1889422" y="133756"/>
                  <a:pt x="1828800" y="174171"/>
                </a:cubicBezTo>
                <a:cubicBezTo>
                  <a:pt x="1823962" y="188685"/>
                  <a:pt x="1814285" y="202414"/>
                  <a:pt x="1814285" y="217714"/>
                </a:cubicBezTo>
                <a:cubicBezTo>
                  <a:pt x="1814285" y="288954"/>
                  <a:pt x="1824389" y="388755"/>
                  <a:pt x="1843314" y="464457"/>
                </a:cubicBezTo>
                <a:cubicBezTo>
                  <a:pt x="1847025" y="479300"/>
                  <a:pt x="1852990" y="493486"/>
                  <a:pt x="1857828" y="508000"/>
                </a:cubicBezTo>
                <a:cubicBezTo>
                  <a:pt x="1852479" y="545440"/>
                  <a:pt x="1849066" y="612611"/>
                  <a:pt x="1828800" y="653142"/>
                </a:cubicBezTo>
                <a:cubicBezTo>
                  <a:pt x="1820999" y="668744"/>
                  <a:pt x="1812899" y="685198"/>
                  <a:pt x="1799771" y="696685"/>
                </a:cubicBezTo>
                <a:cubicBezTo>
                  <a:pt x="1677741" y="803461"/>
                  <a:pt x="1755524" y="726066"/>
                  <a:pt x="1669143" y="769257"/>
                </a:cubicBezTo>
                <a:cubicBezTo>
                  <a:pt x="1653541" y="777058"/>
                  <a:pt x="1641633" y="791413"/>
                  <a:pt x="1625600" y="798285"/>
                </a:cubicBezTo>
                <a:cubicBezTo>
                  <a:pt x="1607265" y="806143"/>
                  <a:pt x="1587048" y="808620"/>
                  <a:pt x="1567543" y="812800"/>
                </a:cubicBezTo>
                <a:cubicBezTo>
                  <a:pt x="1519299" y="823138"/>
                  <a:pt x="1471358" y="835708"/>
                  <a:pt x="1422400" y="841828"/>
                </a:cubicBezTo>
                <a:cubicBezTo>
                  <a:pt x="1383695" y="846666"/>
                  <a:pt x="1345098" y="852461"/>
                  <a:pt x="1306285" y="856342"/>
                </a:cubicBezTo>
                <a:cubicBezTo>
                  <a:pt x="1178661" y="869105"/>
                  <a:pt x="1110795" y="869893"/>
                  <a:pt x="986971" y="885371"/>
                </a:cubicBezTo>
                <a:cubicBezTo>
                  <a:pt x="919078" y="893858"/>
                  <a:pt x="850149" y="897806"/>
                  <a:pt x="783771" y="914400"/>
                </a:cubicBezTo>
                <a:cubicBezTo>
                  <a:pt x="745066" y="924076"/>
                  <a:pt x="705506" y="930812"/>
                  <a:pt x="667657" y="943428"/>
                </a:cubicBezTo>
                <a:cubicBezTo>
                  <a:pt x="653143" y="948266"/>
                  <a:pt x="638825" y="953739"/>
                  <a:pt x="624114" y="957942"/>
                </a:cubicBezTo>
                <a:cubicBezTo>
                  <a:pt x="587298" y="968461"/>
                  <a:pt x="557306" y="972060"/>
                  <a:pt x="522514" y="986971"/>
                </a:cubicBezTo>
                <a:cubicBezTo>
                  <a:pt x="344383" y="1063313"/>
                  <a:pt x="566687" y="972143"/>
                  <a:pt x="420914" y="1045028"/>
                </a:cubicBezTo>
                <a:cubicBezTo>
                  <a:pt x="407230" y="1051870"/>
                  <a:pt x="391885" y="1054704"/>
                  <a:pt x="377371" y="1059542"/>
                </a:cubicBezTo>
                <a:lnTo>
                  <a:pt x="290285" y="1117600"/>
                </a:lnTo>
                <a:lnTo>
                  <a:pt x="246743" y="1146628"/>
                </a:lnTo>
                <a:cubicBezTo>
                  <a:pt x="194391" y="1181530"/>
                  <a:pt x="155881" y="1203093"/>
                  <a:pt x="116114" y="1262742"/>
                </a:cubicBezTo>
                <a:cubicBezTo>
                  <a:pt x="106438" y="1277256"/>
                  <a:pt x="95740" y="1291139"/>
                  <a:pt x="87085" y="1306285"/>
                </a:cubicBezTo>
                <a:cubicBezTo>
                  <a:pt x="76350" y="1325071"/>
                  <a:pt x="69524" y="1345994"/>
                  <a:pt x="58057" y="1364342"/>
                </a:cubicBezTo>
                <a:cubicBezTo>
                  <a:pt x="45236" y="1384856"/>
                  <a:pt x="29028" y="1403047"/>
                  <a:pt x="14514" y="1422400"/>
                </a:cubicBezTo>
                <a:cubicBezTo>
                  <a:pt x="9676" y="1436914"/>
                  <a:pt x="0" y="1450643"/>
                  <a:pt x="0" y="1465942"/>
                </a:cubicBezTo>
                <a:cubicBezTo>
                  <a:pt x="0" y="1495371"/>
                  <a:pt x="6058" y="1524840"/>
                  <a:pt x="14514" y="1553028"/>
                </a:cubicBezTo>
                <a:cubicBezTo>
                  <a:pt x="25770" y="1590546"/>
                  <a:pt x="85359" y="1676516"/>
                  <a:pt x="101600" y="1698171"/>
                </a:cubicBezTo>
                <a:cubicBezTo>
                  <a:pt x="116114" y="1717523"/>
                  <a:pt x="131271" y="1736410"/>
                  <a:pt x="145143" y="1756228"/>
                </a:cubicBezTo>
                <a:cubicBezTo>
                  <a:pt x="165150" y="1784809"/>
                  <a:pt x="183848" y="1814285"/>
                  <a:pt x="203200" y="1843314"/>
                </a:cubicBezTo>
                <a:lnTo>
                  <a:pt x="261257" y="1930400"/>
                </a:lnTo>
                <a:cubicBezTo>
                  <a:pt x="261259" y="1930402"/>
                  <a:pt x="319313" y="2017484"/>
                  <a:pt x="319314" y="2017485"/>
                </a:cubicBezTo>
                <a:cubicBezTo>
                  <a:pt x="333828" y="2031999"/>
                  <a:pt x="350255" y="2044825"/>
                  <a:pt x="362857" y="2061028"/>
                </a:cubicBezTo>
                <a:cubicBezTo>
                  <a:pt x="384276" y="2088567"/>
                  <a:pt x="391885" y="2128762"/>
                  <a:pt x="420914" y="2148114"/>
                </a:cubicBezTo>
                <a:cubicBezTo>
                  <a:pt x="475843" y="2184732"/>
                  <a:pt x="452122" y="2164807"/>
                  <a:pt x="493485" y="2206171"/>
                </a:cubicBezTo>
              </a:path>
            </a:pathLst>
          </a:custGeom>
          <a:noFill/>
          <a:ln w="38100">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Immagine 17" descr="Immagine che contiene testo&#10;&#10;Descrizione generata automaticamente">
            <a:extLst>
              <a:ext uri="{FF2B5EF4-FFF2-40B4-BE49-F238E27FC236}">
                <a16:creationId xmlns:a16="http://schemas.microsoft.com/office/drawing/2014/main" id="{169A8097-D310-A747-977C-64A2AB929024}"/>
              </a:ext>
            </a:extLst>
          </p:cNvPr>
          <p:cNvPicPr>
            <a:picLocks noChangeAspect="1"/>
          </p:cNvPicPr>
          <p:nvPr/>
        </p:nvPicPr>
        <p:blipFill>
          <a:blip r:embed="rId9"/>
          <a:stretch>
            <a:fillRect/>
          </a:stretch>
        </p:blipFill>
        <p:spPr>
          <a:xfrm>
            <a:off x="574842" y="2864522"/>
            <a:ext cx="3302000" cy="787400"/>
          </a:xfrm>
          <a:prstGeom prst="rect">
            <a:avLst/>
          </a:prstGeom>
        </p:spPr>
      </p:pic>
      <p:cxnSp>
        <p:nvCxnSpPr>
          <p:cNvPr id="16" name="Connettore 2 15">
            <a:extLst>
              <a:ext uri="{FF2B5EF4-FFF2-40B4-BE49-F238E27FC236}">
                <a16:creationId xmlns:a16="http://schemas.microsoft.com/office/drawing/2014/main" id="{0B8D7AA4-F16E-D34E-B30C-AFC29FAF08D6}"/>
              </a:ext>
            </a:extLst>
          </p:cNvPr>
          <p:cNvCxnSpPr/>
          <p:nvPr/>
        </p:nvCxnSpPr>
        <p:spPr>
          <a:xfrm flipH="1">
            <a:off x="1503947" y="2540000"/>
            <a:ext cx="721895" cy="370254"/>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nettore 2 16">
            <a:extLst>
              <a:ext uri="{FF2B5EF4-FFF2-40B4-BE49-F238E27FC236}">
                <a16:creationId xmlns:a16="http://schemas.microsoft.com/office/drawing/2014/main" id="{FA045D70-AB9E-B849-B734-28C65B29AA17}"/>
              </a:ext>
            </a:extLst>
          </p:cNvPr>
          <p:cNvCxnSpPr/>
          <p:nvPr/>
        </p:nvCxnSpPr>
        <p:spPr>
          <a:xfrm flipH="1">
            <a:off x="1403684" y="3429000"/>
            <a:ext cx="721895" cy="370254"/>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pic>
        <p:nvPicPr>
          <p:cNvPr id="9" name="Immagine 8">
            <a:extLst>
              <a:ext uri="{FF2B5EF4-FFF2-40B4-BE49-F238E27FC236}">
                <a16:creationId xmlns:a16="http://schemas.microsoft.com/office/drawing/2014/main" id="{2FA59A64-1554-A341-B408-3BD9ED293D36}"/>
              </a:ext>
            </a:extLst>
          </p:cNvPr>
          <p:cNvPicPr>
            <a:picLocks noChangeAspect="1"/>
          </p:cNvPicPr>
          <p:nvPr/>
        </p:nvPicPr>
        <p:blipFill>
          <a:blip r:embed="rId10"/>
          <a:stretch>
            <a:fillRect/>
          </a:stretch>
        </p:blipFill>
        <p:spPr>
          <a:xfrm>
            <a:off x="612899" y="4706424"/>
            <a:ext cx="9017000" cy="635000"/>
          </a:xfrm>
          <a:prstGeom prst="rect">
            <a:avLst/>
          </a:prstGeom>
        </p:spPr>
      </p:pic>
    </p:spTree>
    <p:extLst>
      <p:ext uri="{BB962C8B-B14F-4D97-AF65-F5344CB8AC3E}">
        <p14:creationId xmlns:p14="http://schemas.microsoft.com/office/powerpoint/2010/main" val="83708717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magine 21">
            <a:extLst>
              <a:ext uri="{FF2B5EF4-FFF2-40B4-BE49-F238E27FC236}">
                <a16:creationId xmlns:a16="http://schemas.microsoft.com/office/drawing/2014/main" id="{1BC9D661-86FC-5C49-A0C4-FE8D492E6D06}"/>
              </a:ext>
            </a:extLst>
          </p:cNvPr>
          <p:cNvPicPr>
            <a:picLocks noChangeAspect="1"/>
          </p:cNvPicPr>
          <p:nvPr/>
        </p:nvPicPr>
        <p:blipFill rotWithShape="1">
          <a:blip r:embed="rId2"/>
          <a:srcRect r="60824"/>
          <a:stretch/>
        </p:blipFill>
        <p:spPr>
          <a:xfrm>
            <a:off x="662170" y="3623400"/>
            <a:ext cx="3461206" cy="813211"/>
          </a:xfrm>
          <a:prstGeom prst="rect">
            <a:avLst/>
          </a:prstGeom>
        </p:spPr>
      </p:pic>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3">
            <a:alphaModFix amt="50000"/>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4"/>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5"/>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7383529" y="2017961"/>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12" name="Immagine 11">
            <a:extLst>
              <a:ext uri="{FF2B5EF4-FFF2-40B4-BE49-F238E27FC236}">
                <a16:creationId xmlns:a16="http://schemas.microsoft.com/office/drawing/2014/main" id="{E8A84895-A388-C049-B6D5-399B6F267820}"/>
              </a:ext>
            </a:extLst>
          </p:cNvPr>
          <p:cNvPicPr>
            <a:picLocks noChangeAspect="1"/>
          </p:cNvPicPr>
          <p:nvPr/>
        </p:nvPicPr>
        <p:blipFill rotWithShape="1">
          <a:blip r:embed="rId6"/>
          <a:srcRect l="37508"/>
          <a:stretch/>
        </p:blipFill>
        <p:spPr>
          <a:xfrm>
            <a:off x="10891507" y="3454183"/>
            <a:ext cx="1300493" cy="462458"/>
          </a:xfrm>
          <a:prstGeom prst="rect">
            <a:avLst/>
          </a:prstGeom>
        </p:spPr>
      </p:pic>
      <p:pic>
        <p:nvPicPr>
          <p:cNvPr id="14" name="Immagine 13">
            <a:extLst>
              <a:ext uri="{FF2B5EF4-FFF2-40B4-BE49-F238E27FC236}">
                <a16:creationId xmlns:a16="http://schemas.microsoft.com/office/drawing/2014/main" id="{6A2CCF90-1FA1-7D45-AF73-52E17EA4FB34}"/>
              </a:ext>
            </a:extLst>
          </p:cNvPr>
          <p:cNvPicPr>
            <a:picLocks noChangeAspect="1"/>
          </p:cNvPicPr>
          <p:nvPr/>
        </p:nvPicPr>
        <p:blipFill rotWithShape="1">
          <a:blip r:embed="rId7"/>
          <a:srcRect l="47719" t="70430" r="35447" b="7602"/>
          <a:stretch/>
        </p:blipFill>
        <p:spPr>
          <a:xfrm>
            <a:off x="11008726" y="1930920"/>
            <a:ext cx="1045029" cy="347967"/>
          </a:xfrm>
          <a:prstGeom prst="rect">
            <a:avLst/>
          </a:prstGeom>
        </p:spPr>
      </p:pic>
      <p:pic>
        <p:nvPicPr>
          <p:cNvPr id="8" name="Immagine 7">
            <a:extLst>
              <a:ext uri="{FF2B5EF4-FFF2-40B4-BE49-F238E27FC236}">
                <a16:creationId xmlns:a16="http://schemas.microsoft.com/office/drawing/2014/main" id="{E579F1E7-2935-F64E-99E7-12C4B418472B}"/>
              </a:ext>
            </a:extLst>
          </p:cNvPr>
          <p:cNvPicPr>
            <a:picLocks noChangeAspect="1"/>
          </p:cNvPicPr>
          <p:nvPr/>
        </p:nvPicPr>
        <p:blipFill>
          <a:blip r:embed="rId8"/>
          <a:stretch>
            <a:fillRect/>
          </a:stretch>
        </p:blipFill>
        <p:spPr>
          <a:xfrm>
            <a:off x="687657" y="2015210"/>
            <a:ext cx="5009359" cy="524790"/>
          </a:xfrm>
          <a:prstGeom prst="rect">
            <a:avLst/>
          </a:prstGeom>
        </p:spPr>
      </p:pic>
      <p:pic>
        <p:nvPicPr>
          <p:cNvPr id="20" name="Immagine 19" descr="Immagine che contiene testo&#10;&#10;Descrizione generata automaticamente">
            <a:extLst>
              <a:ext uri="{FF2B5EF4-FFF2-40B4-BE49-F238E27FC236}">
                <a16:creationId xmlns:a16="http://schemas.microsoft.com/office/drawing/2014/main" id="{02B5827B-F008-3C48-8A0F-1CD336DD4117}"/>
              </a:ext>
            </a:extLst>
          </p:cNvPr>
          <p:cNvPicPr>
            <a:picLocks noChangeAspect="1"/>
          </p:cNvPicPr>
          <p:nvPr/>
        </p:nvPicPr>
        <p:blipFill>
          <a:blip r:embed="rId9"/>
          <a:stretch>
            <a:fillRect/>
          </a:stretch>
        </p:blipFill>
        <p:spPr>
          <a:xfrm>
            <a:off x="574842" y="2864522"/>
            <a:ext cx="3302000" cy="787400"/>
          </a:xfrm>
          <a:prstGeom prst="rect">
            <a:avLst/>
          </a:prstGeom>
        </p:spPr>
      </p:pic>
      <p:cxnSp>
        <p:nvCxnSpPr>
          <p:cNvPr id="17" name="Connettore 2 16">
            <a:extLst>
              <a:ext uri="{FF2B5EF4-FFF2-40B4-BE49-F238E27FC236}">
                <a16:creationId xmlns:a16="http://schemas.microsoft.com/office/drawing/2014/main" id="{10D15BFF-79D3-894B-A3E0-0E389F292C45}"/>
              </a:ext>
            </a:extLst>
          </p:cNvPr>
          <p:cNvCxnSpPr/>
          <p:nvPr/>
        </p:nvCxnSpPr>
        <p:spPr>
          <a:xfrm flipH="1">
            <a:off x="1503947" y="2540000"/>
            <a:ext cx="721895" cy="370254"/>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nettore 2 17">
            <a:extLst>
              <a:ext uri="{FF2B5EF4-FFF2-40B4-BE49-F238E27FC236}">
                <a16:creationId xmlns:a16="http://schemas.microsoft.com/office/drawing/2014/main" id="{9FA0F694-19E5-B242-AE8B-62AFDB1C8B11}"/>
              </a:ext>
            </a:extLst>
          </p:cNvPr>
          <p:cNvCxnSpPr/>
          <p:nvPr/>
        </p:nvCxnSpPr>
        <p:spPr>
          <a:xfrm flipH="1">
            <a:off x="1403684" y="3429000"/>
            <a:ext cx="721895" cy="370254"/>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9" name="Figura a mano libera 18">
            <a:extLst>
              <a:ext uri="{FF2B5EF4-FFF2-40B4-BE49-F238E27FC236}">
                <a16:creationId xmlns:a16="http://schemas.microsoft.com/office/drawing/2014/main" id="{330D11B4-C0FF-E84A-BF0B-A2711D106DA7}"/>
              </a:ext>
            </a:extLst>
          </p:cNvPr>
          <p:cNvSpPr/>
          <p:nvPr/>
        </p:nvSpPr>
        <p:spPr>
          <a:xfrm>
            <a:off x="123181" y="3753798"/>
            <a:ext cx="2908777" cy="1310436"/>
          </a:xfrm>
          <a:custGeom>
            <a:avLst/>
            <a:gdLst>
              <a:gd name="connsiteX0" fmla="*/ 1814285 w 2917371"/>
              <a:gd name="connsiteY0" fmla="*/ 638628 h 2206171"/>
              <a:gd name="connsiteX1" fmla="*/ 1901371 w 2917371"/>
              <a:gd name="connsiteY1" fmla="*/ 740228 h 2206171"/>
              <a:gd name="connsiteX2" fmla="*/ 1944914 w 2917371"/>
              <a:gd name="connsiteY2" fmla="*/ 769257 h 2206171"/>
              <a:gd name="connsiteX3" fmla="*/ 1988457 w 2917371"/>
              <a:gd name="connsiteY3" fmla="*/ 812800 h 2206171"/>
              <a:gd name="connsiteX4" fmla="*/ 2075543 w 2917371"/>
              <a:gd name="connsiteY4" fmla="*/ 870857 h 2206171"/>
              <a:gd name="connsiteX5" fmla="*/ 2119085 w 2917371"/>
              <a:gd name="connsiteY5" fmla="*/ 899885 h 2206171"/>
              <a:gd name="connsiteX6" fmla="*/ 2249714 w 2917371"/>
              <a:gd name="connsiteY6" fmla="*/ 957942 h 2206171"/>
              <a:gd name="connsiteX7" fmla="*/ 2293257 w 2917371"/>
              <a:gd name="connsiteY7" fmla="*/ 972457 h 2206171"/>
              <a:gd name="connsiteX8" fmla="*/ 2656114 w 2917371"/>
              <a:gd name="connsiteY8" fmla="*/ 943428 h 2206171"/>
              <a:gd name="connsiteX9" fmla="*/ 2757714 w 2917371"/>
              <a:gd name="connsiteY9" fmla="*/ 914400 h 2206171"/>
              <a:gd name="connsiteX10" fmla="*/ 2873828 w 2917371"/>
              <a:gd name="connsiteY10" fmla="*/ 812800 h 2206171"/>
              <a:gd name="connsiteX11" fmla="*/ 2902857 w 2917371"/>
              <a:gd name="connsiteY11" fmla="*/ 725714 h 2206171"/>
              <a:gd name="connsiteX12" fmla="*/ 2917371 w 2917371"/>
              <a:gd name="connsiteY12" fmla="*/ 682171 h 2206171"/>
              <a:gd name="connsiteX13" fmla="*/ 2888343 w 2917371"/>
              <a:gd name="connsiteY13" fmla="*/ 377371 h 2206171"/>
              <a:gd name="connsiteX14" fmla="*/ 2873828 w 2917371"/>
              <a:gd name="connsiteY14" fmla="*/ 333828 h 2206171"/>
              <a:gd name="connsiteX15" fmla="*/ 2844800 w 2917371"/>
              <a:gd name="connsiteY15" fmla="*/ 290285 h 2206171"/>
              <a:gd name="connsiteX16" fmla="*/ 2830285 w 2917371"/>
              <a:gd name="connsiteY16" fmla="*/ 246742 h 2206171"/>
              <a:gd name="connsiteX17" fmla="*/ 2743200 w 2917371"/>
              <a:gd name="connsiteY17" fmla="*/ 159657 h 2206171"/>
              <a:gd name="connsiteX18" fmla="*/ 2699657 w 2917371"/>
              <a:gd name="connsiteY18" fmla="*/ 116114 h 2206171"/>
              <a:gd name="connsiteX19" fmla="*/ 2612571 w 2917371"/>
              <a:gd name="connsiteY19" fmla="*/ 72571 h 2206171"/>
              <a:gd name="connsiteX20" fmla="*/ 2554514 w 2917371"/>
              <a:gd name="connsiteY20" fmla="*/ 43542 h 2206171"/>
              <a:gd name="connsiteX21" fmla="*/ 2496457 w 2917371"/>
              <a:gd name="connsiteY21" fmla="*/ 29028 h 2206171"/>
              <a:gd name="connsiteX22" fmla="*/ 2409371 w 2917371"/>
              <a:gd name="connsiteY22" fmla="*/ 0 h 2206171"/>
              <a:gd name="connsiteX23" fmla="*/ 2104571 w 2917371"/>
              <a:gd name="connsiteY23" fmla="*/ 14514 h 2206171"/>
              <a:gd name="connsiteX24" fmla="*/ 2002971 w 2917371"/>
              <a:gd name="connsiteY24" fmla="*/ 43542 h 2206171"/>
              <a:gd name="connsiteX25" fmla="*/ 1915885 w 2917371"/>
              <a:gd name="connsiteY25" fmla="*/ 101600 h 2206171"/>
              <a:gd name="connsiteX26" fmla="*/ 1828800 w 2917371"/>
              <a:gd name="connsiteY26" fmla="*/ 174171 h 2206171"/>
              <a:gd name="connsiteX27" fmla="*/ 1814285 w 2917371"/>
              <a:gd name="connsiteY27" fmla="*/ 217714 h 2206171"/>
              <a:gd name="connsiteX28" fmla="*/ 1843314 w 2917371"/>
              <a:gd name="connsiteY28" fmla="*/ 464457 h 2206171"/>
              <a:gd name="connsiteX29" fmla="*/ 1857828 w 2917371"/>
              <a:gd name="connsiteY29" fmla="*/ 508000 h 2206171"/>
              <a:gd name="connsiteX30" fmla="*/ 1828800 w 2917371"/>
              <a:gd name="connsiteY30" fmla="*/ 653142 h 2206171"/>
              <a:gd name="connsiteX31" fmla="*/ 1799771 w 2917371"/>
              <a:gd name="connsiteY31" fmla="*/ 696685 h 2206171"/>
              <a:gd name="connsiteX32" fmla="*/ 1669143 w 2917371"/>
              <a:gd name="connsiteY32" fmla="*/ 769257 h 2206171"/>
              <a:gd name="connsiteX33" fmla="*/ 1625600 w 2917371"/>
              <a:gd name="connsiteY33" fmla="*/ 798285 h 2206171"/>
              <a:gd name="connsiteX34" fmla="*/ 1567543 w 2917371"/>
              <a:gd name="connsiteY34" fmla="*/ 812800 h 2206171"/>
              <a:gd name="connsiteX35" fmla="*/ 1422400 w 2917371"/>
              <a:gd name="connsiteY35" fmla="*/ 841828 h 2206171"/>
              <a:gd name="connsiteX36" fmla="*/ 1306285 w 2917371"/>
              <a:gd name="connsiteY36" fmla="*/ 856342 h 2206171"/>
              <a:gd name="connsiteX37" fmla="*/ 986971 w 2917371"/>
              <a:gd name="connsiteY37" fmla="*/ 885371 h 2206171"/>
              <a:gd name="connsiteX38" fmla="*/ 783771 w 2917371"/>
              <a:gd name="connsiteY38" fmla="*/ 914400 h 2206171"/>
              <a:gd name="connsiteX39" fmla="*/ 667657 w 2917371"/>
              <a:gd name="connsiteY39" fmla="*/ 943428 h 2206171"/>
              <a:gd name="connsiteX40" fmla="*/ 624114 w 2917371"/>
              <a:gd name="connsiteY40" fmla="*/ 957942 h 2206171"/>
              <a:gd name="connsiteX41" fmla="*/ 522514 w 2917371"/>
              <a:gd name="connsiteY41" fmla="*/ 986971 h 2206171"/>
              <a:gd name="connsiteX42" fmla="*/ 420914 w 2917371"/>
              <a:gd name="connsiteY42" fmla="*/ 1045028 h 2206171"/>
              <a:gd name="connsiteX43" fmla="*/ 377371 w 2917371"/>
              <a:gd name="connsiteY43" fmla="*/ 1059542 h 2206171"/>
              <a:gd name="connsiteX44" fmla="*/ 290285 w 2917371"/>
              <a:gd name="connsiteY44" fmla="*/ 1117600 h 2206171"/>
              <a:gd name="connsiteX45" fmla="*/ 246743 w 2917371"/>
              <a:gd name="connsiteY45" fmla="*/ 1146628 h 2206171"/>
              <a:gd name="connsiteX46" fmla="*/ 116114 w 2917371"/>
              <a:gd name="connsiteY46" fmla="*/ 1262742 h 2206171"/>
              <a:gd name="connsiteX47" fmla="*/ 87085 w 2917371"/>
              <a:gd name="connsiteY47" fmla="*/ 1306285 h 2206171"/>
              <a:gd name="connsiteX48" fmla="*/ 58057 w 2917371"/>
              <a:gd name="connsiteY48" fmla="*/ 1364342 h 2206171"/>
              <a:gd name="connsiteX49" fmla="*/ 14514 w 2917371"/>
              <a:gd name="connsiteY49" fmla="*/ 1422400 h 2206171"/>
              <a:gd name="connsiteX50" fmla="*/ 0 w 2917371"/>
              <a:gd name="connsiteY50" fmla="*/ 1465942 h 2206171"/>
              <a:gd name="connsiteX51" fmla="*/ 14514 w 2917371"/>
              <a:gd name="connsiteY51" fmla="*/ 1553028 h 2206171"/>
              <a:gd name="connsiteX52" fmla="*/ 101600 w 2917371"/>
              <a:gd name="connsiteY52" fmla="*/ 1698171 h 2206171"/>
              <a:gd name="connsiteX53" fmla="*/ 145143 w 2917371"/>
              <a:gd name="connsiteY53" fmla="*/ 1756228 h 2206171"/>
              <a:gd name="connsiteX54" fmla="*/ 203200 w 2917371"/>
              <a:gd name="connsiteY54" fmla="*/ 1843314 h 2206171"/>
              <a:gd name="connsiteX55" fmla="*/ 261257 w 2917371"/>
              <a:gd name="connsiteY55" fmla="*/ 1930400 h 2206171"/>
              <a:gd name="connsiteX56" fmla="*/ 319314 w 2917371"/>
              <a:gd name="connsiteY56" fmla="*/ 2017485 h 2206171"/>
              <a:gd name="connsiteX57" fmla="*/ 362857 w 2917371"/>
              <a:gd name="connsiteY57" fmla="*/ 2061028 h 2206171"/>
              <a:gd name="connsiteX58" fmla="*/ 420914 w 2917371"/>
              <a:gd name="connsiteY58" fmla="*/ 2148114 h 2206171"/>
              <a:gd name="connsiteX59" fmla="*/ 493485 w 2917371"/>
              <a:gd name="connsiteY59" fmla="*/ 2206171 h 2206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2917371" h="2206171">
                <a:moveTo>
                  <a:pt x="1814285" y="638628"/>
                </a:moveTo>
                <a:cubicBezTo>
                  <a:pt x="1843314" y="672495"/>
                  <a:pt x="1869830" y="708687"/>
                  <a:pt x="1901371" y="740228"/>
                </a:cubicBezTo>
                <a:cubicBezTo>
                  <a:pt x="1913706" y="752563"/>
                  <a:pt x="1931513" y="758090"/>
                  <a:pt x="1944914" y="769257"/>
                </a:cubicBezTo>
                <a:cubicBezTo>
                  <a:pt x="1960683" y="782398"/>
                  <a:pt x="1972254" y="800198"/>
                  <a:pt x="1988457" y="812800"/>
                </a:cubicBezTo>
                <a:cubicBezTo>
                  <a:pt x="2015996" y="834219"/>
                  <a:pt x="2046514" y="851505"/>
                  <a:pt x="2075543" y="870857"/>
                </a:cubicBezTo>
                <a:lnTo>
                  <a:pt x="2119085" y="899885"/>
                </a:lnTo>
                <a:cubicBezTo>
                  <a:pt x="2188090" y="945888"/>
                  <a:pt x="2146075" y="923396"/>
                  <a:pt x="2249714" y="957942"/>
                </a:cubicBezTo>
                <a:lnTo>
                  <a:pt x="2293257" y="972457"/>
                </a:lnTo>
                <a:cubicBezTo>
                  <a:pt x="2417454" y="965151"/>
                  <a:pt x="2534698" y="963664"/>
                  <a:pt x="2656114" y="943428"/>
                </a:cubicBezTo>
                <a:cubicBezTo>
                  <a:pt x="2692563" y="937353"/>
                  <a:pt x="2723203" y="925903"/>
                  <a:pt x="2757714" y="914400"/>
                </a:cubicBezTo>
                <a:cubicBezTo>
                  <a:pt x="2813478" y="877223"/>
                  <a:pt x="2848365" y="870093"/>
                  <a:pt x="2873828" y="812800"/>
                </a:cubicBezTo>
                <a:cubicBezTo>
                  <a:pt x="2886255" y="784838"/>
                  <a:pt x="2893181" y="754743"/>
                  <a:pt x="2902857" y="725714"/>
                </a:cubicBezTo>
                <a:lnTo>
                  <a:pt x="2917371" y="682171"/>
                </a:lnTo>
                <a:cubicBezTo>
                  <a:pt x="2906964" y="505244"/>
                  <a:pt x="2921561" y="493633"/>
                  <a:pt x="2888343" y="377371"/>
                </a:cubicBezTo>
                <a:cubicBezTo>
                  <a:pt x="2884140" y="362660"/>
                  <a:pt x="2880670" y="347512"/>
                  <a:pt x="2873828" y="333828"/>
                </a:cubicBezTo>
                <a:cubicBezTo>
                  <a:pt x="2866027" y="318226"/>
                  <a:pt x="2852601" y="305887"/>
                  <a:pt x="2844800" y="290285"/>
                </a:cubicBezTo>
                <a:cubicBezTo>
                  <a:pt x="2837958" y="276601"/>
                  <a:pt x="2839678" y="258819"/>
                  <a:pt x="2830285" y="246742"/>
                </a:cubicBezTo>
                <a:cubicBezTo>
                  <a:pt x="2805081" y="214337"/>
                  <a:pt x="2772228" y="188685"/>
                  <a:pt x="2743200" y="159657"/>
                </a:cubicBezTo>
                <a:cubicBezTo>
                  <a:pt x="2728686" y="145143"/>
                  <a:pt x="2716736" y="127500"/>
                  <a:pt x="2699657" y="116114"/>
                </a:cubicBezTo>
                <a:cubicBezTo>
                  <a:pt x="2615976" y="60326"/>
                  <a:pt x="2696701" y="108627"/>
                  <a:pt x="2612571" y="72571"/>
                </a:cubicBezTo>
                <a:cubicBezTo>
                  <a:pt x="2592684" y="64048"/>
                  <a:pt x="2574773" y="51139"/>
                  <a:pt x="2554514" y="43542"/>
                </a:cubicBezTo>
                <a:cubicBezTo>
                  <a:pt x="2535836" y="36538"/>
                  <a:pt x="2515564" y="34760"/>
                  <a:pt x="2496457" y="29028"/>
                </a:cubicBezTo>
                <a:cubicBezTo>
                  <a:pt x="2467149" y="20236"/>
                  <a:pt x="2409371" y="0"/>
                  <a:pt x="2409371" y="0"/>
                </a:cubicBezTo>
                <a:cubicBezTo>
                  <a:pt x="2307771" y="4838"/>
                  <a:pt x="2205962" y="6403"/>
                  <a:pt x="2104571" y="14514"/>
                </a:cubicBezTo>
                <a:cubicBezTo>
                  <a:pt x="2080591" y="16432"/>
                  <a:pt x="2027918" y="35226"/>
                  <a:pt x="2002971" y="43542"/>
                </a:cubicBezTo>
                <a:cubicBezTo>
                  <a:pt x="1973942" y="62895"/>
                  <a:pt x="1940555" y="76930"/>
                  <a:pt x="1915885" y="101600"/>
                </a:cubicBezTo>
                <a:cubicBezTo>
                  <a:pt x="1860008" y="157477"/>
                  <a:pt x="1889422" y="133756"/>
                  <a:pt x="1828800" y="174171"/>
                </a:cubicBezTo>
                <a:cubicBezTo>
                  <a:pt x="1823962" y="188685"/>
                  <a:pt x="1814285" y="202414"/>
                  <a:pt x="1814285" y="217714"/>
                </a:cubicBezTo>
                <a:cubicBezTo>
                  <a:pt x="1814285" y="288954"/>
                  <a:pt x="1824389" y="388755"/>
                  <a:pt x="1843314" y="464457"/>
                </a:cubicBezTo>
                <a:cubicBezTo>
                  <a:pt x="1847025" y="479300"/>
                  <a:pt x="1852990" y="493486"/>
                  <a:pt x="1857828" y="508000"/>
                </a:cubicBezTo>
                <a:cubicBezTo>
                  <a:pt x="1852479" y="545440"/>
                  <a:pt x="1849066" y="612611"/>
                  <a:pt x="1828800" y="653142"/>
                </a:cubicBezTo>
                <a:cubicBezTo>
                  <a:pt x="1820999" y="668744"/>
                  <a:pt x="1812899" y="685198"/>
                  <a:pt x="1799771" y="696685"/>
                </a:cubicBezTo>
                <a:cubicBezTo>
                  <a:pt x="1677741" y="803461"/>
                  <a:pt x="1755524" y="726066"/>
                  <a:pt x="1669143" y="769257"/>
                </a:cubicBezTo>
                <a:cubicBezTo>
                  <a:pt x="1653541" y="777058"/>
                  <a:pt x="1641633" y="791413"/>
                  <a:pt x="1625600" y="798285"/>
                </a:cubicBezTo>
                <a:cubicBezTo>
                  <a:pt x="1607265" y="806143"/>
                  <a:pt x="1587048" y="808620"/>
                  <a:pt x="1567543" y="812800"/>
                </a:cubicBezTo>
                <a:cubicBezTo>
                  <a:pt x="1519299" y="823138"/>
                  <a:pt x="1471358" y="835708"/>
                  <a:pt x="1422400" y="841828"/>
                </a:cubicBezTo>
                <a:cubicBezTo>
                  <a:pt x="1383695" y="846666"/>
                  <a:pt x="1345098" y="852461"/>
                  <a:pt x="1306285" y="856342"/>
                </a:cubicBezTo>
                <a:cubicBezTo>
                  <a:pt x="1178661" y="869105"/>
                  <a:pt x="1110795" y="869893"/>
                  <a:pt x="986971" y="885371"/>
                </a:cubicBezTo>
                <a:cubicBezTo>
                  <a:pt x="919078" y="893858"/>
                  <a:pt x="850149" y="897806"/>
                  <a:pt x="783771" y="914400"/>
                </a:cubicBezTo>
                <a:cubicBezTo>
                  <a:pt x="745066" y="924076"/>
                  <a:pt x="705506" y="930812"/>
                  <a:pt x="667657" y="943428"/>
                </a:cubicBezTo>
                <a:cubicBezTo>
                  <a:pt x="653143" y="948266"/>
                  <a:pt x="638825" y="953739"/>
                  <a:pt x="624114" y="957942"/>
                </a:cubicBezTo>
                <a:cubicBezTo>
                  <a:pt x="587298" y="968461"/>
                  <a:pt x="557306" y="972060"/>
                  <a:pt x="522514" y="986971"/>
                </a:cubicBezTo>
                <a:cubicBezTo>
                  <a:pt x="344383" y="1063313"/>
                  <a:pt x="566687" y="972143"/>
                  <a:pt x="420914" y="1045028"/>
                </a:cubicBezTo>
                <a:cubicBezTo>
                  <a:pt x="407230" y="1051870"/>
                  <a:pt x="391885" y="1054704"/>
                  <a:pt x="377371" y="1059542"/>
                </a:cubicBezTo>
                <a:lnTo>
                  <a:pt x="290285" y="1117600"/>
                </a:lnTo>
                <a:lnTo>
                  <a:pt x="246743" y="1146628"/>
                </a:lnTo>
                <a:cubicBezTo>
                  <a:pt x="194391" y="1181530"/>
                  <a:pt x="155881" y="1203093"/>
                  <a:pt x="116114" y="1262742"/>
                </a:cubicBezTo>
                <a:cubicBezTo>
                  <a:pt x="106438" y="1277256"/>
                  <a:pt x="95740" y="1291139"/>
                  <a:pt x="87085" y="1306285"/>
                </a:cubicBezTo>
                <a:cubicBezTo>
                  <a:pt x="76350" y="1325071"/>
                  <a:pt x="69524" y="1345994"/>
                  <a:pt x="58057" y="1364342"/>
                </a:cubicBezTo>
                <a:cubicBezTo>
                  <a:pt x="45236" y="1384856"/>
                  <a:pt x="29028" y="1403047"/>
                  <a:pt x="14514" y="1422400"/>
                </a:cubicBezTo>
                <a:cubicBezTo>
                  <a:pt x="9676" y="1436914"/>
                  <a:pt x="0" y="1450643"/>
                  <a:pt x="0" y="1465942"/>
                </a:cubicBezTo>
                <a:cubicBezTo>
                  <a:pt x="0" y="1495371"/>
                  <a:pt x="6058" y="1524840"/>
                  <a:pt x="14514" y="1553028"/>
                </a:cubicBezTo>
                <a:cubicBezTo>
                  <a:pt x="25770" y="1590546"/>
                  <a:pt x="85359" y="1676516"/>
                  <a:pt x="101600" y="1698171"/>
                </a:cubicBezTo>
                <a:cubicBezTo>
                  <a:pt x="116114" y="1717523"/>
                  <a:pt x="131271" y="1736410"/>
                  <a:pt x="145143" y="1756228"/>
                </a:cubicBezTo>
                <a:cubicBezTo>
                  <a:pt x="165150" y="1784809"/>
                  <a:pt x="183848" y="1814285"/>
                  <a:pt x="203200" y="1843314"/>
                </a:cubicBezTo>
                <a:lnTo>
                  <a:pt x="261257" y="1930400"/>
                </a:lnTo>
                <a:cubicBezTo>
                  <a:pt x="261259" y="1930402"/>
                  <a:pt x="319313" y="2017484"/>
                  <a:pt x="319314" y="2017485"/>
                </a:cubicBezTo>
                <a:cubicBezTo>
                  <a:pt x="333828" y="2031999"/>
                  <a:pt x="350255" y="2044825"/>
                  <a:pt x="362857" y="2061028"/>
                </a:cubicBezTo>
                <a:cubicBezTo>
                  <a:pt x="384276" y="2088567"/>
                  <a:pt x="391885" y="2128762"/>
                  <a:pt x="420914" y="2148114"/>
                </a:cubicBezTo>
                <a:cubicBezTo>
                  <a:pt x="475843" y="2184732"/>
                  <a:pt x="452122" y="2164807"/>
                  <a:pt x="493485" y="2206171"/>
                </a:cubicBezTo>
              </a:path>
            </a:pathLst>
          </a:custGeom>
          <a:noFill/>
          <a:ln w="38100">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Immagine 23">
            <a:extLst>
              <a:ext uri="{FF2B5EF4-FFF2-40B4-BE49-F238E27FC236}">
                <a16:creationId xmlns:a16="http://schemas.microsoft.com/office/drawing/2014/main" id="{6BB02057-E6BB-AC43-BC1B-A81D4F8AF461}"/>
              </a:ext>
            </a:extLst>
          </p:cNvPr>
          <p:cNvPicPr>
            <a:picLocks noChangeAspect="1"/>
          </p:cNvPicPr>
          <p:nvPr/>
        </p:nvPicPr>
        <p:blipFill>
          <a:blip r:embed="rId10"/>
          <a:stretch>
            <a:fillRect/>
          </a:stretch>
        </p:blipFill>
        <p:spPr>
          <a:xfrm>
            <a:off x="687657" y="4599564"/>
            <a:ext cx="9017000" cy="635000"/>
          </a:xfrm>
          <a:prstGeom prst="rect">
            <a:avLst/>
          </a:prstGeom>
        </p:spPr>
      </p:pic>
      <p:pic>
        <p:nvPicPr>
          <p:cNvPr id="9" name="Immagine 8">
            <a:extLst>
              <a:ext uri="{FF2B5EF4-FFF2-40B4-BE49-F238E27FC236}">
                <a16:creationId xmlns:a16="http://schemas.microsoft.com/office/drawing/2014/main" id="{1805F2EF-C2F5-014F-BB20-5647E5A2FDC9}"/>
              </a:ext>
            </a:extLst>
          </p:cNvPr>
          <p:cNvPicPr>
            <a:picLocks noChangeAspect="1"/>
          </p:cNvPicPr>
          <p:nvPr/>
        </p:nvPicPr>
        <p:blipFill>
          <a:blip r:embed="rId11"/>
          <a:stretch>
            <a:fillRect/>
          </a:stretch>
        </p:blipFill>
        <p:spPr>
          <a:xfrm>
            <a:off x="711200" y="5323817"/>
            <a:ext cx="5384800" cy="457200"/>
          </a:xfrm>
          <a:prstGeom prst="rect">
            <a:avLst/>
          </a:prstGeom>
        </p:spPr>
      </p:pic>
    </p:spTree>
    <p:extLst>
      <p:ext uri="{BB962C8B-B14F-4D97-AF65-F5344CB8AC3E}">
        <p14:creationId xmlns:p14="http://schemas.microsoft.com/office/powerpoint/2010/main" val="140484477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magine 21">
            <a:extLst>
              <a:ext uri="{FF2B5EF4-FFF2-40B4-BE49-F238E27FC236}">
                <a16:creationId xmlns:a16="http://schemas.microsoft.com/office/drawing/2014/main" id="{8A1DAE3F-03A7-E640-8EEE-89AF503144D1}"/>
              </a:ext>
            </a:extLst>
          </p:cNvPr>
          <p:cNvPicPr>
            <a:picLocks noChangeAspect="1"/>
          </p:cNvPicPr>
          <p:nvPr/>
        </p:nvPicPr>
        <p:blipFill rotWithShape="1">
          <a:blip r:embed="rId2"/>
          <a:srcRect r="61313"/>
          <a:stretch/>
        </p:blipFill>
        <p:spPr>
          <a:xfrm>
            <a:off x="861434" y="3611234"/>
            <a:ext cx="3296145" cy="784206"/>
          </a:xfrm>
          <a:prstGeom prst="rect">
            <a:avLst/>
          </a:prstGeom>
        </p:spPr>
      </p:pic>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3">
            <a:alphaModFix amt="50000"/>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4"/>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5"/>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7383529" y="2017961"/>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12" name="Immagine 11">
            <a:extLst>
              <a:ext uri="{FF2B5EF4-FFF2-40B4-BE49-F238E27FC236}">
                <a16:creationId xmlns:a16="http://schemas.microsoft.com/office/drawing/2014/main" id="{E8A84895-A388-C049-B6D5-399B6F267820}"/>
              </a:ext>
            </a:extLst>
          </p:cNvPr>
          <p:cNvPicPr>
            <a:picLocks noChangeAspect="1"/>
          </p:cNvPicPr>
          <p:nvPr/>
        </p:nvPicPr>
        <p:blipFill rotWithShape="1">
          <a:blip r:embed="rId6"/>
          <a:srcRect l="37508"/>
          <a:stretch/>
        </p:blipFill>
        <p:spPr>
          <a:xfrm>
            <a:off x="10891507" y="3454183"/>
            <a:ext cx="1300493" cy="462458"/>
          </a:xfrm>
          <a:prstGeom prst="rect">
            <a:avLst/>
          </a:prstGeom>
        </p:spPr>
      </p:pic>
      <p:pic>
        <p:nvPicPr>
          <p:cNvPr id="14" name="Immagine 13">
            <a:extLst>
              <a:ext uri="{FF2B5EF4-FFF2-40B4-BE49-F238E27FC236}">
                <a16:creationId xmlns:a16="http://schemas.microsoft.com/office/drawing/2014/main" id="{6A2CCF90-1FA1-7D45-AF73-52E17EA4FB34}"/>
              </a:ext>
            </a:extLst>
          </p:cNvPr>
          <p:cNvPicPr>
            <a:picLocks noChangeAspect="1"/>
          </p:cNvPicPr>
          <p:nvPr/>
        </p:nvPicPr>
        <p:blipFill rotWithShape="1">
          <a:blip r:embed="rId7"/>
          <a:srcRect l="47719" t="70430" r="35447" b="7602"/>
          <a:stretch/>
        </p:blipFill>
        <p:spPr>
          <a:xfrm>
            <a:off x="11008726" y="1930920"/>
            <a:ext cx="1045029" cy="347967"/>
          </a:xfrm>
          <a:prstGeom prst="rect">
            <a:avLst/>
          </a:prstGeom>
        </p:spPr>
      </p:pic>
      <p:pic>
        <p:nvPicPr>
          <p:cNvPr id="8" name="Immagine 7">
            <a:extLst>
              <a:ext uri="{FF2B5EF4-FFF2-40B4-BE49-F238E27FC236}">
                <a16:creationId xmlns:a16="http://schemas.microsoft.com/office/drawing/2014/main" id="{E579F1E7-2935-F64E-99E7-12C4B418472B}"/>
              </a:ext>
            </a:extLst>
          </p:cNvPr>
          <p:cNvPicPr>
            <a:picLocks noChangeAspect="1"/>
          </p:cNvPicPr>
          <p:nvPr/>
        </p:nvPicPr>
        <p:blipFill>
          <a:blip r:embed="rId8"/>
          <a:stretch>
            <a:fillRect/>
          </a:stretch>
        </p:blipFill>
        <p:spPr>
          <a:xfrm>
            <a:off x="687657" y="2015210"/>
            <a:ext cx="5009359" cy="524790"/>
          </a:xfrm>
          <a:prstGeom prst="rect">
            <a:avLst/>
          </a:prstGeom>
        </p:spPr>
      </p:pic>
      <p:sp>
        <p:nvSpPr>
          <p:cNvPr id="17" name="Figura a mano libera 16">
            <a:extLst>
              <a:ext uri="{FF2B5EF4-FFF2-40B4-BE49-F238E27FC236}">
                <a16:creationId xmlns:a16="http://schemas.microsoft.com/office/drawing/2014/main" id="{43A69EF2-1B80-9B42-8344-ED809EEB03A3}"/>
              </a:ext>
            </a:extLst>
          </p:cNvPr>
          <p:cNvSpPr/>
          <p:nvPr/>
        </p:nvSpPr>
        <p:spPr>
          <a:xfrm>
            <a:off x="123181" y="3753798"/>
            <a:ext cx="2908777" cy="1310436"/>
          </a:xfrm>
          <a:custGeom>
            <a:avLst/>
            <a:gdLst>
              <a:gd name="connsiteX0" fmla="*/ 1814285 w 2917371"/>
              <a:gd name="connsiteY0" fmla="*/ 638628 h 2206171"/>
              <a:gd name="connsiteX1" fmla="*/ 1901371 w 2917371"/>
              <a:gd name="connsiteY1" fmla="*/ 740228 h 2206171"/>
              <a:gd name="connsiteX2" fmla="*/ 1944914 w 2917371"/>
              <a:gd name="connsiteY2" fmla="*/ 769257 h 2206171"/>
              <a:gd name="connsiteX3" fmla="*/ 1988457 w 2917371"/>
              <a:gd name="connsiteY3" fmla="*/ 812800 h 2206171"/>
              <a:gd name="connsiteX4" fmla="*/ 2075543 w 2917371"/>
              <a:gd name="connsiteY4" fmla="*/ 870857 h 2206171"/>
              <a:gd name="connsiteX5" fmla="*/ 2119085 w 2917371"/>
              <a:gd name="connsiteY5" fmla="*/ 899885 h 2206171"/>
              <a:gd name="connsiteX6" fmla="*/ 2249714 w 2917371"/>
              <a:gd name="connsiteY6" fmla="*/ 957942 h 2206171"/>
              <a:gd name="connsiteX7" fmla="*/ 2293257 w 2917371"/>
              <a:gd name="connsiteY7" fmla="*/ 972457 h 2206171"/>
              <a:gd name="connsiteX8" fmla="*/ 2656114 w 2917371"/>
              <a:gd name="connsiteY8" fmla="*/ 943428 h 2206171"/>
              <a:gd name="connsiteX9" fmla="*/ 2757714 w 2917371"/>
              <a:gd name="connsiteY9" fmla="*/ 914400 h 2206171"/>
              <a:gd name="connsiteX10" fmla="*/ 2873828 w 2917371"/>
              <a:gd name="connsiteY10" fmla="*/ 812800 h 2206171"/>
              <a:gd name="connsiteX11" fmla="*/ 2902857 w 2917371"/>
              <a:gd name="connsiteY11" fmla="*/ 725714 h 2206171"/>
              <a:gd name="connsiteX12" fmla="*/ 2917371 w 2917371"/>
              <a:gd name="connsiteY12" fmla="*/ 682171 h 2206171"/>
              <a:gd name="connsiteX13" fmla="*/ 2888343 w 2917371"/>
              <a:gd name="connsiteY13" fmla="*/ 377371 h 2206171"/>
              <a:gd name="connsiteX14" fmla="*/ 2873828 w 2917371"/>
              <a:gd name="connsiteY14" fmla="*/ 333828 h 2206171"/>
              <a:gd name="connsiteX15" fmla="*/ 2844800 w 2917371"/>
              <a:gd name="connsiteY15" fmla="*/ 290285 h 2206171"/>
              <a:gd name="connsiteX16" fmla="*/ 2830285 w 2917371"/>
              <a:gd name="connsiteY16" fmla="*/ 246742 h 2206171"/>
              <a:gd name="connsiteX17" fmla="*/ 2743200 w 2917371"/>
              <a:gd name="connsiteY17" fmla="*/ 159657 h 2206171"/>
              <a:gd name="connsiteX18" fmla="*/ 2699657 w 2917371"/>
              <a:gd name="connsiteY18" fmla="*/ 116114 h 2206171"/>
              <a:gd name="connsiteX19" fmla="*/ 2612571 w 2917371"/>
              <a:gd name="connsiteY19" fmla="*/ 72571 h 2206171"/>
              <a:gd name="connsiteX20" fmla="*/ 2554514 w 2917371"/>
              <a:gd name="connsiteY20" fmla="*/ 43542 h 2206171"/>
              <a:gd name="connsiteX21" fmla="*/ 2496457 w 2917371"/>
              <a:gd name="connsiteY21" fmla="*/ 29028 h 2206171"/>
              <a:gd name="connsiteX22" fmla="*/ 2409371 w 2917371"/>
              <a:gd name="connsiteY22" fmla="*/ 0 h 2206171"/>
              <a:gd name="connsiteX23" fmla="*/ 2104571 w 2917371"/>
              <a:gd name="connsiteY23" fmla="*/ 14514 h 2206171"/>
              <a:gd name="connsiteX24" fmla="*/ 2002971 w 2917371"/>
              <a:gd name="connsiteY24" fmla="*/ 43542 h 2206171"/>
              <a:gd name="connsiteX25" fmla="*/ 1915885 w 2917371"/>
              <a:gd name="connsiteY25" fmla="*/ 101600 h 2206171"/>
              <a:gd name="connsiteX26" fmla="*/ 1828800 w 2917371"/>
              <a:gd name="connsiteY26" fmla="*/ 174171 h 2206171"/>
              <a:gd name="connsiteX27" fmla="*/ 1814285 w 2917371"/>
              <a:gd name="connsiteY27" fmla="*/ 217714 h 2206171"/>
              <a:gd name="connsiteX28" fmla="*/ 1843314 w 2917371"/>
              <a:gd name="connsiteY28" fmla="*/ 464457 h 2206171"/>
              <a:gd name="connsiteX29" fmla="*/ 1857828 w 2917371"/>
              <a:gd name="connsiteY29" fmla="*/ 508000 h 2206171"/>
              <a:gd name="connsiteX30" fmla="*/ 1828800 w 2917371"/>
              <a:gd name="connsiteY30" fmla="*/ 653142 h 2206171"/>
              <a:gd name="connsiteX31" fmla="*/ 1799771 w 2917371"/>
              <a:gd name="connsiteY31" fmla="*/ 696685 h 2206171"/>
              <a:gd name="connsiteX32" fmla="*/ 1669143 w 2917371"/>
              <a:gd name="connsiteY32" fmla="*/ 769257 h 2206171"/>
              <a:gd name="connsiteX33" fmla="*/ 1625600 w 2917371"/>
              <a:gd name="connsiteY33" fmla="*/ 798285 h 2206171"/>
              <a:gd name="connsiteX34" fmla="*/ 1567543 w 2917371"/>
              <a:gd name="connsiteY34" fmla="*/ 812800 h 2206171"/>
              <a:gd name="connsiteX35" fmla="*/ 1422400 w 2917371"/>
              <a:gd name="connsiteY35" fmla="*/ 841828 h 2206171"/>
              <a:gd name="connsiteX36" fmla="*/ 1306285 w 2917371"/>
              <a:gd name="connsiteY36" fmla="*/ 856342 h 2206171"/>
              <a:gd name="connsiteX37" fmla="*/ 986971 w 2917371"/>
              <a:gd name="connsiteY37" fmla="*/ 885371 h 2206171"/>
              <a:gd name="connsiteX38" fmla="*/ 783771 w 2917371"/>
              <a:gd name="connsiteY38" fmla="*/ 914400 h 2206171"/>
              <a:gd name="connsiteX39" fmla="*/ 667657 w 2917371"/>
              <a:gd name="connsiteY39" fmla="*/ 943428 h 2206171"/>
              <a:gd name="connsiteX40" fmla="*/ 624114 w 2917371"/>
              <a:gd name="connsiteY40" fmla="*/ 957942 h 2206171"/>
              <a:gd name="connsiteX41" fmla="*/ 522514 w 2917371"/>
              <a:gd name="connsiteY41" fmla="*/ 986971 h 2206171"/>
              <a:gd name="connsiteX42" fmla="*/ 420914 w 2917371"/>
              <a:gd name="connsiteY42" fmla="*/ 1045028 h 2206171"/>
              <a:gd name="connsiteX43" fmla="*/ 377371 w 2917371"/>
              <a:gd name="connsiteY43" fmla="*/ 1059542 h 2206171"/>
              <a:gd name="connsiteX44" fmla="*/ 290285 w 2917371"/>
              <a:gd name="connsiteY44" fmla="*/ 1117600 h 2206171"/>
              <a:gd name="connsiteX45" fmla="*/ 246743 w 2917371"/>
              <a:gd name="connsiteY45" fmla="*/ 1146628 h 2206171"/>
              <a:gd name="connsiteX46" fmla="*/ 116114 w 2917371"/>
              <a:gd name="connsiteY46" fmla="*/ 1262742 h 2206171"/>
              <a:gd name="connsiteX47" fmla="*/ 87085 w 2917371"/>
              <a:gd name="connsiteY47" fmla="*/ 1306285 h 2206171"/>
              <a:gd name="connsiteX48" fmla="*/ 58057 w 2917371"/>
              <a:gd name="connsiteY48" fmla="*/ 1364342 h 2206171"/>
              <a:gd name="connsiteX49" fmla="*/ 14514 w 2917371"/>
              <a:gd name="connsiteY49" fmla="*/ 1422400 h 2206171"/>
              <a:gd name="connsiteX50" fmla="*/ 0 w 2917371"/>
              <a:gd name="connsiteY50" fmla="*/ 1465942 h 2206171"/>
              <a:gd name="connsiteX51" fmla="*/ 14514 w 2917371"/>
              <a:gd name="connsiteY51" fmla="*/ 1553028 h 2206171"/>
              <a:gd name="connsiteX52" fmla="*/ 101600 w 2917371"/>
              <a:gd name="connsiteY52" fmla="*/ 1698171 h 2206171"/>
              <a:gd name="connsiteX53" fmla="*/ 145143 w 2917371"/>
              <a:gd name="connsiteY53" fmla="*/ 1756228 h 2206171"/>
              <a:gd name="connsiteX54" fmla="*/ 203200 w 2917371"/>
              <a:gd name="connsiteY54" fmla="*/ 1843314 h 2206171"/>
              <a:gd name="connsiteX55" fmla="*/ 261257 w 2917371"/>
              <a:gd name="connsiteY55" fmla="*/ 1930400 h 2206171"/>
              <a:gd name="connsiteX56" fmla="*/ 319314 w 2917371"/>
              <a:gd name="connsiteY56" fmla="*/ 2017485 h 2206171"/>
              <a:gd name="connsiteX57" fmla="*/ 362857 w 2917371"/>
              <a:gd name="connsiteY57" fmla="*/ 2061028 h 2206171"/>
              <a:gd name="connsiteX58" fmla="*/ 420914 w 2917371"/>
              <a:gd name="connsiteY58" fmla="*/ 2148114 h 2206171"/>
              <a:gd name="connsiteX59" fmla="*/ 493485 w 2917371"/>
              <a:gd name="connsiteY59" fmla="*/ 2206171 h 2206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2917371" h="2206171">
                <a:moveTo>
                  <a:pt x="1814285" y="638628"/>
                </a:moveTo>
                <a:cubicBezTo>
                  <a:pt x="1843314" y="672495"/>
                  <a:pt x="1869830" y="708687"/>
                  <a:pt x="1901371" y="740228"/>
                </a:cubicBezTo>
                <a:cubicBezTo>
                  <a:pt x="1913706" y="752563"/>
                  <a:pt x="1931513" y="758090"/>
                  <a:pt x="1944914" y="769257"/>
                </a:cubicBezTo>
                <a:cubicBezTo>
                  <a:pt x="1960683" y="782398"/>
                  <a:pt x="1972254" y="800198"/>
                  <a:pt x="1988457" y="812800"/>
                </a:cubicBezTo>
                <a:cubicBezTo>
                  <a:pt x="2015996" y="834219"/>
                  <a:pt x="2046514" y="851505"/>
                  <a:pt x="2075543" y="870857"/>
                </a:cubicBezTo>
                <a:lnTo>
                  <a:pt x="2119085" y="899885"/>
                </a:lnTo>
                <a:cubicBezTo>
                  <a:pt x="2188090" y="945888"/>
                  <a:pt x="2146075" y="923396"/>
                  <a:pt x="2249714" y="957942"/>
                </a:cubicBezTo>
                <a:lnTo>
                  <a:pt x="2293257" y="972457"/>
                </a:lnTo>
                <a:cubicBezTo>
                  <a:pt x="2417454" y="965151"/>
                  <a:pt x="2534698" y="963664"/>
                  <a:pt x="2656114" y="943428"/>
                </a:cubicBezTo>
                <a:cubicBezTo>
                  <a:pt x="2692563" y="937353"/>
                  <a:pt x="2723203" y="925903"/>
                  <a:pt x="2757714" y="914400"/>
                </a:cubicBezTo>
                <a:cubicBezTo>
                  <a:pt x="2813478" y="877223"/>
                  <a:pt x="2848365" y="870093"/>
                  <a:pt x="2873828" y="812800"/>
                </a:cubicBezTo>
                <a:cubicBezTo>
                  <a:pt x="2886255" y="784838"/>
                  <a:pt x="2893181" y="754743"/>
                  <a:pt x="2902857" y="725714"/>
                </a:cubicBezTo>
                <a:lnTo>
                  <a:pt x="2917371" y="682171"/>
                </a:lnTo>
                <a:cubicBezTo>
                  <a:pt x="2906964" y="505244"/>
                  <a:pt x="2921561" y="493633"/>
                  <a:pt x="2888343" y="377371"/>
                </a:cubicBezTo>
                <a:cubicBezTo>
                  <a:pt x="2884140" y="362660"/>
                  <a:pt x="2880670" y="347512"/>
                  <a:pt x="2873828" y="333828"/>
                </a:cubicBezTo>
                <a:cubicBezTo>
                  <a:pt x="2866027" y="318226"/>
                  <a:pt x="2852601" y="305887"/>
                  <a:pt x="2844800" y="290285"/>
                </a:cubicBezTo>
                <a:cubicBezTo>
                  <a:pt x="2837958" y="276601"/>
                  <a:pt x="2839678" y="258819"/>
                  <a:pt x="2830285" y="246742"/>
                </a:cubicBezTo>
                <a:cubicBezTo>
                  <a:pt x="2805081" y="214337"/>
                  <a:pt x="2772228" y="188685"/>
                  <a:pt x="2743200" y="159657"/>
                </a:cubicBezTo>
                <a:cubicBezTo>
                  <a:pt x="2728686" y="145143"/>
                  <a:pt x="2716736" y="127500"/>
                  <a:pt x="2699657" y="116114"/>
                </a:cubicBezTo>
                <a:cubicBezTo>
                  <a:pt x="2615976" y="60326"/>
                  <a:pt x="2696701" y="108627"/>
                  <a:pt x="2612571" y="72571"/>
                </a:cubicBezTo>
                <a:cubicBezTo>
                  <a:pt x="2592684" y="64048"/>
                  <a:pt x="2574773" y="51139"/>
                  <a:pt x="2554514" y="43542"/>
                </a:cubicBezTo>
                <a:cubicBezTo>
                  <a:pt x="2535836" y="36538"/>
                  <a:pt x="2515564" y="34760"/>
                  <a:pt x="2496457" y="29028"/>
                </a:cubicBezTo>
                <a:cubicBezTo>
                  <a:pt x="2467149" y="20236"/>
                  <a:pt x="2409371" y="0"/>
                  <a:pt x="2409371" y="0"/>
                </a:cubicBezTo>
                <a:cubicBezTo>
                  <a:pt x="2307771" y="4838"/>
                  <a:pt x="2205962" y="6403"/>
                  <a:pt x="2104571" y="14514"/>
                </a:cubicBezTo>
                <a:cubicBezTo>
                  <a:pt x="2080591" y="16432"/>
                  <a:pt x="2027918" y="35226"/>
                  <a:pt x="2002971" y="43542"/>
                </a:cubicBezTo>
                <a:cubicBezTo>
                  <a:pt x="1973942" y="62895"/>
                  <a:pt x="1940555" y="76930"/>
                  <a:pt x="1915885" y="101600"/>
                </a:cubicBezTo>
                <a:cubicBezTo>
                  <a:pt x="1860008" y="157477"/>
                  <a:pt x="1889422" y="133756"/>
                  <a:pt x="1828800" y="174171"/>
                </a:cubicBezTo>
                <a:cubicBezTo>
                  <a:pt x="1823962" y="188685"/>
                  <a:pt x="1814285" y="202414"/>
                  <a:pt x="1814285" y="217714"/>
                </a:cubicBezTo>
                <a:cubicBezTo>
                  <a:pt x="1814285" y="288954"/>
                  <a:pt x="1824389" y="388755"/>
                  <a:pt x="1843314" y="464457"/>
                </a:cubicBezTo>
                <a:cubicBezTo>
                  <a:pt x="1847025" y="479300"/>
                  <a:pt x="1852990" y="493486"/>
                  <a:pt x="1857828" y="508000"/>
                </a:cubicBezTo>
                <a:cubicBezTo>
                  <a:pt x="1852479" y="545440"/>
                  <a:pt x="1849066" y="612611"/>
                  <a:pt x="1828800" y="653142"/>
                </a:cubicBezTo>
                <a:cubicBezTo>
                  <a:pt x="1820999" y="668744"/>
                  <a:pt x="1812899" y="685198"/>
                  <a:pt x="1799771" y="696685"/>
                </a:cubicBezTo>
                <a:cubicBezTo>
                  <a:pt x="1677741" y="803461"/>
                  <a:pt x="1755524" y="726066"/>
                  <a:pt x="1669143" y="769257"/>
                </a:cubicBezTo>
                <a:cubicBezTo>
                  <a:pt x="1653541" y="777058"/>
                  <a:pt x="1641633" y="791413"/>
                  <a:pt x="1625600" y="798285"/>
                </a:cubicBezTo>
                <a:cubicBezTo>
                  <a:pt x="1607265" y="806143"/>
                  <a:pt x="1587048" y="808620"/>
                  <a:pt x="1567543" y="812800"/>
                </a:cubicBezTo>
                <a:cubicBezTo>
                  <a:pt x="1519299" y="823138"/>
                  <a:pt x="1471358" y="835708"/>
                  <a:pt x="1422400" y="841828"/>
                </a:cubicBezTo>
                <a:cubicBezTo>
                  <a:pt x="1383695" y="846666"/>
                  <a:pt x="1345098" y="852461"/>
                  <a:pt x="1306285" y="856342"/>
                </a:cubicBezTo>
                <a:cubicBezTo>
                  <a:pt x="1178661" y="869105"/>
                  <a:pt x="1110795" y="869893"/>
                  <a:pt x="986971" y="885371"/>
                </a:cubicBezTo>
                <a:cubicBezTo>
                  <a:pt x="919078" y="893858"/>
                  <a:pt x="850149" y="897806"/>
                  <a:pt x="783771" y="914400"/>
                </a:cubicBezTo>
                <a:cubicBezTo>
                  <a:pt x="745066" y="924076"/>
                  <a:pt x="705506" y="930812"/>
                  <a:pt x="667657" y="943428"/>
                </a:cubicBezTo>
                <a:cubicBezTo>
                  <a:pt x="653143" y="948266"/>
                  <a:pt x="638825" y="953739"/>
                  <a:pt x="624114" y="957942"/>
                </a:cubicBezTo>
                <a:cubicBezTo>
                  <a:pt x="587298" y="968461"/>
                  <a:pt x="557306" y="972060"/>
                  <a:pt x="522514" y="986971"/>
                </a:cubicBezTo>
                <a:cubicBezTo>
                  <a:pt x="344383" y="1063313"/>
                  <a:pt x="566687" y="972143"/>
                  <a:pt x="420914" y="1045028"/>
                </a:cubicBezTo>
                <a:cubicBezTo>
                  <a:pt x="407230" y="1051870"/>
                  <a:pt x="391885" y="1054704"/>
                  <a:pt x="377371" y="1059542"/>
                </a:cubicBezTo>
                <a:lnTo>
                  <a:pt x="290285" y="1117600"/>
                </a:lnTo>
                <a:lnTo>
                  <a:pt x="246743" y="1146628"/>
                </a:lnTo>
                <a:cubicBezTo>
                  <a:pt x="194391" y="1181530"/>
                  <a:pt x="155881" y="1203093"/>
                  <a:pt x="116114" y="1262742"/>
                </a:cubicBezTo>
                <a:cubicBezTo>
                  <a:pt x="106438" y="1277256"/>
                  <a:pt x="95740" y="1291139"/>
                  <a:pt x="87085" y="1306285"/>
                </a:cubicBezTo>
                <a:cubicBezTo>
                  <a:pt x="76350" y="1325071"/>
                  <a:pt x="69524" y="1345994"/>
                  <a:pt x="58057" y="1364342"/>
                </a:cubicBezTo>
                <a:cubicBezTo>
                  <a:pt x="45236" y="1384856"/>
                  <a:pt x="29028" y="1403047"/>
                  <a:pt x="14514" y="1422400"/>
                </a:cubicBezTo>
                <a:cubicBezTo>
                  <a:pt x="9676" y="1436914"/>
                  <a:pt x="0" y="1450643"/>
                  <a:pt x="0" y="1465942"/>
                </a:cubicBezTo>
                <a:cubicBezTo>
                  <a:pt x="0" y="1495371"/>
                  <a:pt x="6058" y="1524840"/>
                  <a:pt x="14514" y="1553028"/>
                </a:cubicBezTo>
                <a:cubicBezTo>
                  <a:pt x="25770" y="1590546"/>
                  <a:pt x="85359" y="1676516"/>
                  <a:pt x="101600" y="1698171"/>
                </a:cubicBezTo>
                <a:cubicBezTo>
                  <a:pt x="116114" y="1717523"/>
                  <a:pt x="131271" y="1736410"/>
                  <a:pt x="145143" y="1756228"/>
                </a:cubicBezTo>
                <a:cubicBezTo>
                  <a:pt x="165150" y="1784809"/>
                  <a:pt x="183848" y="1814285"/>
                  <a:pt x="203200" y="1843314"/>
                </a:cubicBezTo>
                <a:lnTo>
                  <a:pt x="261257" y="1930400"/>
                </a:lnTo>
                <a:cubicBezTo>
                  <a:pt x="261259" y="1930402"/>
                  <a:pt x="319313" y="2017484"/>
                  <a:pt x="319314" y="2017485"/>
                </a:cubicBezTo>
                <a:cubicBezTo>
                  <a:pt x="333828" y="2031999"/>
                  <a:pt x="350255" y="2044825"/>
                  <a:pt x="362857" y="2061028"/>
                </a:cubicBezTo>
                <a:cubicBezTo>
                  <a:pt x="384276" y="2088567"/>
                  <a:pt x="391885" y="2128762"/>
                  <a:pt x="420914" y="2148114"/>
                </a:cubicBezTo>
                <a:cubicBezTo>
                  <a:pt x="475843" y="2184732"/>
                  <a:pt x="452122" y="2164807"/>
                  <a:pt x="493485" y="2206171"/>
                </a:cubicBezTo>
              </a:path>
            </a:pathLst>
          </a:custGeom>
          <a:noFill/>
          <a:ln w="38100">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magine 19" descr="Immagine che contiene testo&#10;&#10;Descrizione generata automaticamente">
            <a:extLst>
              <a:ext uri="{FF2B5EF4-FFF2-40B4-BE49-F238E27FC236}">
                <a16:creationId xmlns:a16="http://schemas.microsoft.com/office/drawing/2014/main" id="{0C474277-5609-874B-B7B7-06FE6FB55365}"/>
              </a:ext>
            </a:extLst>
          </p:cNvPr>
          <p:cNvPicPr>
            <a:picLocks noChangeAspect="1"/>
          </p:cNvPicPr>
          <p:nvPr/>
        </p:nvPicPr>
        <p:blipFill>
          <a:blip r:embed="rId9"/>
          <a:stretch>
            <a:fillRect/>
          </a:stretch>
        </p:blipFill>
        <p:spPr>
          <a:xfrm>
            <a:off x="574842" y="2864522"/>
            <a:ext cx="3302000" cy="787400"/>
          </a:xfrm>
          <a:prstGeom prst="rect">
            <a:avLst/>
          </a:prstGeom>
        </p:spPr>
      </p:pic>
      <p:cxnSp>
        <p:nvCxnSpPr>
          <p:cNvPr id="18" name="Connettore 2 17">
            <a:extLst>
              <a:ext uri="{FF2B5EF4-FFF2-40B4-BE49-F238E27FC236}">
                <a16:creationId xmlns:a16="http://schemas.microsoft.com/office/drawing/2014/main" id="{83B92F5F-FBAD-9244-9C99-9A7665FF9FC2}"/>
              </a:ext>
            </a:extLst>
          </p:cNvPr>
          <p:cNvCxnSpPr/>
          <p:nvPr/>
        </p:nvCxnSpPr>
        <p:spPr>
          <a:xfrm flipH="1">
            <a:off x="1503947" y="2540000"/>
            <a:ext cx="721895" cy="370254"/>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ttore 2 18">
            <a:extLst>
              <a:ext uri="{FF2B5EF4-FFF2-40B4-BE49-F238E27FC236}">
                <a16:creationId xmlns:a16="http://schemas.microsoft.com/office/drawing/2014/main" id="{02844A97-C5CD-624B-8E54-44C35D3BDDA9}"/>
              </a:ext>
            </a:extLst>
          </p:cNvPr>
          <p:cNvCxnSpPr/>
          <p:nvPr/>
        </p:nvCxnSpPr>
        <p:spPr>
          <a:xfrm flipH="1">
            <a:off x="1403684" y="3429000"/>
            <a:ext cx="721895" cy="370254"/>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pic>
        <p:nvPicPr>
          <p:cNvPr id="23" name="Immagine 22">
            <a:extLst>
              <a:ext uri="{FF2B5EF4-FFF2-40B4-BE49-F238E27FC236}">
                <a16:creationId xmlns:a16="http://schemas.microsoft.com/office/drawing/2014/main" id="{9C6C196D-764E-354D-A3CF-E9CEC1E5FB99}"/>
              </a:ext>
            </a:extLst>
          </p:cNvPr>
          <p:cNvPicPr>
            <a:picLocks noChangeAspect="1"/>
          </p:cNvPicPr>
          <p:nvPr/>
        </p:nvPicPr>
        <p:blipFill>
          <a:blip r:embed="rId10"/>
          <a:stretch>
            <a:fillRect/>
          </a:stretch>
        </p:blipFill>
        <p:spPr>
          <a:xfrm>
            <a:off x="711200" y="5323817"/>
            <a:ext cx="5384800" cy="457200"/>
          </a:xfrm>
          <a:prstGeom prst="rect">
            <a:avLst/>
          </a:prstGeom>
        </p:spPr>
      </p:pic>
      <p:pic>
        <p:nvPicPr>
          <p:cNvPr id="24" name="Immagine 23">
            <a:extLst>
              <a:ext uri="{FF2B5EF4-FFF2-40B4-BE49-F238E27FC236}">
                <a16:creationId xmlns:a16="http://schemas.microsoft.com/office/drawing/2014/main" id="{AE4B9502-D7B8-A844-8BAE-878150451250}"/>
              </a:ext>
            </a:extLst>
          </p:cNvPr>
          <p:cNvPicPr>
            <a:picLocks noChangeAspect="1"/>
          </p:cNvPicPr>
          <p:nvPr/>
        </p:nvPicPr>
        <p:blipFill>
          <a:blip r:embed="rId11"/>
          <a:stretch>
            <a:fillRect/>
          </a:stretch>
        </p:blipFill>
        <p:spPr>
          <a:xfrm>
            <a:off x="612921" y="4668363"/>
            <a:ext cx="9017000" cy="635000"/>
          </a:xfrm>
          <a:prstGeom prst="rect">
            <a:avLst/>
          </a:prstGeom>
        </p:spPr>
      </p:pic>
      <p:pic>
        <p:nvPicPr>
          <p:cNvPr id="10" name="Immagine 9" descr="Immagine che contiene testo&#10;&#10;Descrizione generata automaticamente">
            <a:extLst>
              <a:ext uri="{FF2B5EF4-FFF2-40B4-BE49-F238E27FC236}">
                <a16:creationId xmlns:a16="http://schemas.microsoft.com/office/drawing/2014/main" id="{B6347850-1A23-FC4B-9CFC-AE9A4ACBBD81}"/>
              </a:ext>
            </a:extLst>
          </p:cNvPr>
          <p:cNvPicPr>
            <a:picLocks noChangeAspect="1"/>
          </p:cNvPicPr>
          <p:nvPr/>
        </p:nvPicPr>
        <p:blipFill>
          <a:blip r:embed="rId12"/>
          <a:stretch>
            <a:fillRect/>
          </a:stretch>
        </p:blipFill>
        <p:spPr>
          <a:xfrm>
            <a:off x="670484" y="5866715"/>
            <a:ext cx="2641600" cy="723900"/>
          </a:xfrm>
          <a:prstGeom prst="rect">
            <a:avLst/>
          </a:prstGeom>
        </p:spPr>
      </p:pic>
      <p:sp>
        <p:nvSpPr>
          <p:cNvPr id="5" name="Figura a mano libera 4">
            <a:extLst>
              <a:ext uri="{FF2B5EF4-FFF2-40B4-BE49-F238E27FC236}">
                <a16:creationId xmlns:a16="http://schemas.microsoft.com/office/drawing/2014/main" id="{EBB95A83-5927-C54E-BD3D-4C8EA4449FBD}"/>
              </a:ext>
            </a:extLst>
          </p:cNvPr>
          <p:cNvSpPr/>
          <p:nvPr/>
        </p:nvSpPr>
        <p:spPr>
          <a:xfrm>
            <a:off x="1684421" y="3652142"/>
            <a:ext cx="2598821" cy="2977258"/>
          </a:xfrm>
          <a:custGeom>
            <a:avLst/>
            <a:gdLst>
              <a:gd name="connsiteX0" fmla="*/ 1660358 w 2598821"/>
              <a:gd name="connsiteY0" fmla="*/ 727353 h 2977258"/>
              <a:gd name="connsiteX1" fmla="*/ 1624263 w 2598821"/>
              <a:gd name="connsiteY1" fmla="*/ 631100 h 2977258"/>
              <a:gd name="connsiteX2" fmla="*/ 1612232 w 2598821"/>
              <a:gd name="connsiteY2" fmla="*/ 595005 h 2977258"/>
              <a:gd name="connsiteX3" fmla="*/ 1588168 w 2598821"/>
              <a:gd name="connsiteY3" fmla="*/ 450626 h 2977258"/>
              <a:gd name="connsiteX4" fmla="*/ 1612232 w 2598821"/>
              <a:gd name="connsiteY4" fmla="*/ 282184 h 2977258"/>
              <a:gd name="connsiteX5" fmla="*/ 1636295 w 2598821"/>
              <a:gd name="connsiteY5" fmla="*/ 209995 h 2977258"/>
              <a:gd name="connsiteX6" fmla="*/ 1660358 w 2598821"/>
              <a:gd name="connsiteY6" fmla="*/ 173900 h 2977258"/>
              <a:gd name="connsiteX7" fmla="*/ 1672390 w 2598821"/>
              <a:gd name="connsiteY7" fmla="*/ 137805 h 2977258"/>
              <a:gd name="connsiteX8" fmla="*/ 1768642 w 2598821"/>
              <a:gd name="connsiteY8" fmla="*/ 53584 h 2977258"/>
              <a:gd name="connsiteX9" fmla="*/ 1816768 w 2598821"/>
              <a:gd name="connsiteY9" fmla="*/ 41553 h 2977258"/>
              <a:gd name="connsiteX10" fmla="*/ 1864895 w 2598821"/>
              <a:gd name="connsiteY10" fmla="*/ 17490 h 2977258"/>
              <a:gd name="connsiteX11" fmla="*/ 2117558 w 2598821"/>
              <a:gd name="connsiteY11" fmla="*/ 17490 h 2977258"/>
              <a:gd name="connsiteX12" fmla="*/ 2237874 w 2598821"/>
              <a:gd name="connsiteY12" fmla="*/ 41553 h 2977258"/>
              <a:gd name="connsiteX13" fmla="*/ 2346158 w 2598821"/>
              <a:gd name="connsiteY13" fmla="*/ 65616 h 2977258"/>
              <a:gd name="connsiteX14" fmla="*/ 2418347 w 2598821"/>
              <a:gd name="connsiteY14" fmla="*/ 89679 h 2977258"/>
              <a:gd name="connsiteX15" fmla="*/ 2454442 w 2598821"/>
              <a:gd name="connsiteY15" fmla="*/ 101711 h 2977258"/>
              <a:gd name="connsiteX16" fmla="*/ 2514600 w 2598821"/>
              <a:gd name="connsiteY16" fmla="*/ 161869 h 2977258"/>
              <a:gd name="connsiteX17" fmla="*/ 2550695 w 2598821"/>
              <a:gd name="connsiteY17" fmla="*/ 234058 h 2977258"/>
              <a:gd name="connsiteX18" fmla="*/ 2574758 w 2598821"/>
              <a:gd name="connsiteY18" fmla="*/ 270153 h 2977258"/>
              <a:gd name="connsiteX19" fmla="*/ 2598821 w 2598821"/>
              <a:gd name="connsiteY19" fmla="*/ 354374 h 2977258"/>
              <a:gd name="connsiteX20" fmla="*/ 2562726 w 2598821"/>
              <a:gd name="connsiteY20" fmla="*/ 546879 h 2977258"/>
              <a:gd name="connsiteX21" fmla="*/ 2502568 w 2598821"/>
              <a:gd name="connsiteY21" fmla="*/ 619069 h 2977258"/>
              <a:gd name="connsiteX22" fmla="*/ 2454442 w 2598821"/>
              <a:gd name="connsiteY22" fmla="*/ 679226 h 2977258"/>
              <a:gd name="connsiteX23" fmla="*/ 2346158 w 2598821"/>
              <a:gd name="connsiteY23" fmla="*/ 763447 h 2977258"/>
              <a:gd name="connsiteX24" fmla="*/ 2310063 w 2598821"/>
              <a:gd name="connsiteY24" fmla="*/ 787511 h 2977258"/>
              <a:gd name="connsiteX25" fmla="*/ 2165684 w 2598821"/>
              <a:gd name="connsiteY25" fmla="*/ 811574 h 2977258"/>
              <a:gd name="connsiteX26" fmla="*/ 1864895 w 2598821"/>
              <a:gd name="connsiteY26" fmla="*/ 799542 h 2977258"/>
              <a:gd name="connsiteX27" fmla="*/ 1744579 w 2598821"/>
              <a:gd name="connsiteY27" fmla="*/ 775479 h 2977258"/>
              <a:gd name="connsiteX28" fmla="*/ 1732547 w 2598821"/>
              <a:gd name="connsiteY28" fmla="*/ 811574 h 2977258"/>
              <a:gd name="connsiteX29" fmla="*/ 1792705 w 2598821"/>
              <a:gd name="connsiteY29" fmla="*/ 847669 h 2977258"/>
              <a:gd name="connsiteX30" fmla="*/ 1864895 w 2598821"/>
              <a:gd name="connsiteY30" fmla="*/ 907826 h 2977258"/>
              <a:gd name="connsiteX31" fmla="*/ 1888958 w 2598821"/>
              <a:gd name="connsiteY31" fmla="*/ 931890 h 2977258"/>
              <a:gd name="connsiteX32" fmla="*/ 1961147 w 2598821"/>
              <a:gd name="connsiteY32" fmla="*/ 980016 h 2977258"/>
              <a:gd name="connsiteX33" fmla="*/ 2021305 w 2598821"/>
              <a:gd name="connsiteY33" fmla="*/ 1028142 h 2977258"/>
              <a:gd name="connsiteX34" fmla="*/ 2033337 w 2598821"/>
              <a:gd name="connsiteY34" fmla="*/ 1064237 h 2977258"/>
              <a:gd name="connsiteX35" fmla="*/ 2069432 w 2598821"/>
              <a:gd name="connsiteY35" fmla="*/ 1088300 h 2977258"/>
              <a:gd name="connsiteX36" fmla="*/ 2093495 w 2598821"/>
              <a:gd name="connsiteY36" fmla="*/ 1124395 h 2977258"/>
              <a:gd name="connsiteX37" fmla="*/ 2117558 w 2598821"/>
              <a:gd name="connsiteY37" fmla="*/ 1196584 h 2977258"/>
              <a:gd name="connsiteX38" fmla="*/ 2129590 w 2598821"/>
              <a:gd name="connsiteY38" fmla="*/ 1232679 h 2977258"/>
              <a:gd name="connsiteX39" fmla="*/ 2153653 w 2598821"/>
              <a:gd name="connsiteY39" fmla="*/ 1449247 h 2977258"/>
              <a:gd name="connsiteX40" fmla="*/ 2201779 w 2598821"/>
              <a:gd name="connsiteY40" fmla="*/ 1557532 h 2977258"/>
              <a:gd name="connsiteX41" fmla="*/ 2213811 w 2598821"/>
              <a:gd name="connsiteY41" fmla="*/ 1593626 h 2977258"/>
              <a:gd name="connsiteX42" fmla="*/ 2298032 w 2598821"/>
              <a:gd name="connsiteY42" fmla="*/ 1701911 h 2977258"/>
              <a:gd name="connsiteX43" fmla="*/ 2310063 w 2598821"/>
              <a:gd name="connsiteY43" fmla="*/ 1738005 h 2977258"/>
              <a:gd name="connsiteX44" fmla="*/ 2334126 w 2598821"/>
              <a:gd name="connsiteY44" fmla="*/ 1762069 h 2977258"/>
              <a:gd name="connsiteX45" fmla="*/ 2358190 w 2598821"/>
              <a:gd name="connsiteY45" fmla="*/ 1798163 h 2977258"/>
              <a:gd name="connsiteX46" fmla="*/ 2382253 w 2598821"/>
              <a:gd name="connsiteY46" fmla="*/ 1870353 h 2977258"/>
              <a:gd name="connsiteX47" fmla="*/ 2454442 w 2598821"/>
              <a:gd name="connsiteY47" fmla="*/ 2038795 h 2977258"/>
              <a:gd name="connsiteX48" fmla="*/ 2466474 w 2598821"/>
              <a:gd name="connsiteY48" fmla="*/ 2074890 h 2977258"/>
              <a:gd name="connsiteX49" fmla="*/ 2490537 w 2598821"/>
              <a:gd name="connsiteY49" fmla="*/ 2171142 h 2977258"/>
              <a:gd name="connsiteX50" fmla="*/ 2526632 w 2598821"/>
              <a:gd name="connsiteY50" fmla="*/ 2267395 h 2977258"/>
              <a:gd name="connsiteX51" fmla="*/ 2514600 w 2598821"/>
              <a:gd name="connsiteY51" fmla="*/ 2495995 h 2977258"/>
              <a:gd name="connsiteX52" fmla="*/ 2490537 w 2598821"/>
              <a:gd name="connsiteY52" fmla="*/ 2580216 h 2977258"/>
              <a:gd name="connsiteX53" fmla="*/ 2454442 w 2598821"/>
              <a:gd name="connsiteY53" fmla="*/ 2604279 h 2977258"/>
              <a:gd name="connsiteX54" fmla="*/ 2382253 w 2598821"/>
              <a:gd name="connsiteY54" fmla="*/ 2700532 h 2977258"/>
              <a:gd name="connsiteX55" fmla="*/ 2358190 w 2598821"/>
              <a:gd name="connsiteY55" fmla="*/ 2736626 h 2977258"/>
              <a:gd name="connsiteX56" fmla="*/ 2322095 w 2598821"/>
              <a:gd name="connsiteY56" fmla="*/ 2760690 h 2977258"/>
              <a:gd name="connsiteX57" fmla="*/ 2249905 w 2598821"/>
              <a:gd name="connsiteY57" fmla="*/ 2808816 h 2977258"/>
              <a:gd name="connsiteX58" fmla="*/ 2213811 w 2598821"/>
              <a:gd name="connsiteY58" fmla="*/ 2844911 h 2977258"/>
              <a:gd name="connsiteX59" fmla="*/ 2129590 w 2598821"/>
              <a:gd name="connsiteY59" fmla="*/ 2868974 h 2977258"/>
              <a:gd name="connsiteX60" fmla="*/ 2093495 w 2598821"/>
              <a:gd name="connsiteY60" fmla="*/ 2881005 h 2977258"/>
              <a:gd name="connsiteX61" fmla="*/ 2045368 w 2598821"/>
              <a:gd name="connsiteY61" fmla="*/ 2893037 h 2977258"/>
              <a:gd name="connsiteX62" fmla="*/ 1961147 w 2598821"/>
              <a:gd name="connsiteY62" fmla="*/ 2917100 h 2977258"/>
              <a:gd name="connsiteX63" fmla="*/ 1828800 w 2598821"/>
              <a:gd name="connsiteY63" fmla="*/ 2941163 h 2977258"/>
              <a:gd name="connsiteX64" fmla="*/ 1732547 w 2598821"/>
              <a:gd name="connsiteY64" fmla="*/ 2953195 h 2977258"/>
              <a:gd name="connsiteX65" fmla="*/ 1672390 w 2598821"/>
              <a:gd name="connsiteY65" fmla="*/ 2965226 h 2977258"/>
              <a:gd name="connsiteX66" fmla="*/ 1576137 w 2598821"/>
              <a:gd name="connsiteY66" fmla="*/ 2977258 h 2977258"/>
              <a:gd name="connsiteX67" fmla="*/ 1407695 w 2598821"/>
              <a:gd name="connsiteY67" fmla="*/ 2965226 h 2977258"/>
              <a:gd name="connsiteX68" fmla="*/ 1323474 w 2598821"/>
              <a:gd name="connsiteY68" fmla="*/ 2953195 h 2977258"/>
              <a:gd name="connsiteX69" fmla="*/ 1179095 w 2598821"/>
              <a:gd name="connsiteY69" fmla="*/ 2941163 h 2977258"/>
              <a:gd name="connsiteX70" fmla="*/ 974558 w 2598821"/>
              <a:gd name="connsiteY70" fmla="*/ 2917100 h 2977258"/>
              <a:gd name="connsiteX71" fmla="*/ 842211 w 2598821"/>
              <a:gd name="connsiteY71" fmla="*/ 2893037 h 2977258"/>
              <a:gd name="connsiteX72" fmla="*/ 770021 w 2598821"/>
              <a:gd name="connsiteY72" fmla="*/ 2881005 h 2977258"/>
              <a:gd name="connsiteX73" fmla="*/ 685800 w 2598821"/>
              <a:gd name="connsiteY73" fmla="*/ 2868974 h 2977258"/>
              <a:gd name="connsiteX74" fmla="*/ 445168 w 2598821"/>
              <a:gd name="connsiteY74" fmla="*/ 2856942 h 2977258"/>
              <a:gd name="connsiteX75" fmla="*/ 216568 w 2598821"/>
              <a:gd name="connsiteY75" fmla="*/ 2832879 h 2977258"/>
              <a:gd name="connsiteX76" fmla="*/ 0 w 2598821"/>
              <a:gd name="connsiteY76" fmla="*/ 2820847 h 2977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598821" h="2977258">
                <a:moveTo>
                  <a:pt x="1660358" y="727353"/>
                </a:moveTo>
                <a:cubicBezTo>
                  <a:pt x="1648326" y="695269"/>
                  <a:pt x="1635973" y="663303"/>
                  <a:pt x="1624263" y="631100"/>
                </a:cubicBezTo>
                <a:cubicBezTo>
                  <a:pt x="1619929" y="619181"/>
                  <a:pt x="1615308" y="607309"/>
                  <a:pt x="1612232" y="595005"/>
                </a:cubicBezTo>
                <a:cubicBezTo>
                  <a:pt x="1600502" y="548085"/>
                  <a:pt x="1594960" y="498171"/>
                  <a:pt x="1588168" y="450626"/>
                </a:cubicBezTo>
                <a:cubicBezTo>
                  <a:pt x="1591729" y="422135"/>
                  <a:pt x="1603558" y="316879"/>
                  <a:pt x="1612232" y="282184"/>
                </a:cubicBezTo>
                <a:cubicBezTo>
                  <a:pt x="1618384" y="257577"/>
                  <a:pt x="1622225" y="231100"/>
                  <a:pt x="1636295" y="209995"/>
                </a:cubicBezTo>
                <a:cubicBezTo>
                  <a:pt x="1644316" y="197963"/>
                  <a:pt x="1653891" y="186834"/>
                  <a:pt x="1660358" y="173900"/>
                </a:cubicBezTo>
                <a:cubicBezTo>
                  <a:pt x="1666030" y="162556"/>
                  <a:pt x="1664781" y="147951"/>
                  <a:pt x="1672390" y="137805"/>
                </a:cubicBezTo>
                <a:cubicBezTo>
                  <a:pt x="1686038" y="119608"/>
                  <a:pt x="1737880" y="66767"/>
                  <a:pt x="1768642" y="53584"/>
                </a:cubicBezTo>
                <a:cubicBezTo>
                  <a:pt x="1783841" y="47070"/>
                  <a:pt x="1800726" y="45563"/>
                  <a:pt x="1816768" y="41553"/>
                </a:cubicBezTo>
                <a:cubicBezTo>
                  <a:pt x="1832810" y="33532"/>
                  <a:pt x="1848409" y="24555"/>
                  <a:pt x="1864895" y="17490"/>
                </a:cubicBezTo>
                <a:cubicBezTo>
                  <a:pt x="1948989" y="-18550"/>
                  <a:pt x="2005715" y="11276"/>
                  <a:pt x="2117558" y="17490"/>
                </a:cubicBezTo>
                <a:lnTo>
                  <a:pt x="2237874" y="41553"/>
                </a:lnTo>
                <a:cubicBezTo>
                  <a:pt x="2272234" y="48425"/>
                  <a:pt x="2312165" y="55418"/>
                  <a:pt x="2346158" y="65616"/>
                </a:cubicBezTo>
                <a:cubicBezTo>
                  <a:pt x="2370453" y="72905"/>
                  <a:pt x="2394284" y="81658"/>
                  <a:pt x="2418347" y="89679"/>
                </a:cubicBezTo>
                <a:lnTo>
                  <a:pt x="2454442" y="101711"/>
                </a:lnTo>
                <a:cubicBezTo>
                  <a:pt x="2474495" y="121764"/>
                  <a:pt x="2498869" y="138273"/>
                  <a:pt x="2514600" y="161869"/>
                </a:cubicBezTo>
                <a:cubicBezTo>
                  <a:pt x="2583557" y="265303"/>
                  <a:pt x="2500885" y="134438"/>
                  <a:pt x="2550695" y="234058"/>
                </a:cubicBezTo>
                <a:cubicBezTo>
                  <a:pt x="2557162" y="246992"/>
                  <a:pt x="2568291" y="257219"/>
                  <a:pt x="2574758" y="270153"/>
                </a:cubicBezTo>
                <a:cubicBezTo>
                  <a:pt x="2583391" y="287419"/>
                  <a:pt x="2594965" y="338947"/>
                  <a:pt x="2598821" y="354374"/>
                </a:cubicBezTo>
                <a:cubicBezTo>
                  <a:pt x="2597263" y="369956"/>
                  <a:pt x="2591357" y="518247"/>
                  <a:pt x="2562726" y="546879"/>
                </a:cubicBezTo>
                <a:cubicBezTo>
                  <a:pt x="2516407" y="593199"/>
                  <a:pt x="2536070" y="568817"/>
                  <a:pt x="2502568" y="619069"/>
                </a:cubicBezTo>
                <a:cubicBezTo>
                  <a:pt x="2481658" y="681801"/>
                  <a:pt x="2506000" y="633397"/>
                  <a:pt x="2454442" y="679226"/>
                </a:cubicBezTo>
                <a:cubicBezTo>
                  <a:pt x="2357053" y="765794"/>
                  <a:pt x="2420587" y="738639"/>
                  <a:pt x="2346158" y="763447"/>
                </a:cubicBezTo>
                <a:cubicBezTo>
                  <a:pt x="2334126" y="771468"/>
                  <a:pt x="2322997" y="781044"/>
                  <a:pt x="2310063" y="787511"/>
                </a:cubicBezTo>
                <a:cubicBezTo>
                  <a:pt x="2269753" y="807666"/>
                  <a:pt x="2199983" y="807763"/>
                  <a:pt x="2165684" y="811574"/>
                </a:cubicBezTo>
                <a:cubicBezTo>
                  <a:pt x="2065421" y="807563"/>
                  <a:pt x="1965030" y="806002"/>
                  <a:pt x="1864895" y="799542"/>
                </a:cubicBezTo>
                <a:cubicBezTo>
                  <a:pt x="1825127" y="796976"/>
                  <a:pt x="1783340" y="785170"/>
                  <a:pt x="1744579" y="775479"/>
                </a:cubicBezTo>
                <a:cubicBezTo>
                  <a:pt x="1740568" y="787511"/>
                  <a:pt x="1730060" y="799138"/>
                  <a:pt x="1732547" y="811574"/>
                </a:cubicBezTo>
                <a:cubicBezTo>
                  <a:pt x="1737266" y="835166"/>
                  <a:pt x="1777504" y="842602"/>
                  <a:pt x="1792705" y="847669"/>
                </a:cubicBezTo>
                <a:cubicBezTo>
                  <a:pt x="1878459" y="933421"/>
                  <a:pt x="1781130" y="840813"/>
                  <a:pt x="1864895" y="907826"/>
                </a:cubicBezTo>
                <a:cubicBezTo>
                  <a:pt x="1873753" y="914912"/>
                  <a:pt x="1879883" y="925084"/>
                  <a:pt x="1888958" y="931890"/>
                </a:cubicBezTo>
                <a:cubicBezTo>
                  <a:pt x="1912094" y="949242"/>
                  <a:pt x="1940697" y="959567"/>
                  <a:pt x="1961147" y="980016"/>
                </a:cubicBezTo>
                <a:cubicBezTo>
                  <a:pt x="1995436" y="1014303"/>
                  <a:pt x="1975773" y="997787"/>
                  <a:pt x="2021305" y="1028142"/>
                </a:cubicBezTo>
                <a:cubicBezTo>
                  <a:pt x="2025316" y="1040174"/>
                  <a:pt x="2025414" y="1054334"/>
                  <a:pt x="2033337" y="1064237"/>
                </a:cubicBezTo>
                <a:cubicBezTo>
                  <a:pt x="2042370" y="1075528"/>
                  <a:pt x="2059207" y="1078075"/>
                  <a:pt x="2069432" y="1088300"/>
                </a:cubicBezTo>
                <a:cubicBezTo>
                  <a:pt x="2079657" y="1098525"/>
                  <a:pt x="2085474" y="1112363"/>
                  <a:pt x="2093495" y="1124395"/>
                </a:cubicBezTo>
                <a:lnTo>
                  <a:pt x="2117558" y="1196584"/>
                </a:lnTo>
                <a:lnTo>
                  <a:pt x="2129590" y="1232679"/>
                </a:lnTo>
                <a:cubicBezTo>
                  <a:pt x="2133764" y="1282775"/>
                  <a:pt x="2138673" y="1389329"/>
                  <a:pt x="2153653" y="1449247"/>
                </a:cubicBezTo>
                <a:cubicBezTo>
                  <a:pt x="2184693" y="1573404"/>
                  <a:pt x="2162276" y="1478527"/>
                  <a:pt x="2201779" y="1557532"/>
                </a:cubicBezTo>
                <a:cubicBezTo>
                  <a:pt x="2207451" y="1568875"/>
                  <a:pt x="2207652" y="1582540"/>
                  <a:pt x="2213811" y="1593626"/>
                </a:cubicBezTo>
                <a:cubicBezTo>
                  <a:pt x="2249790" y="1658389"/>
                  <a:pt x="2254187" y="1658066"/>
                  <a:pt x="2298032" y="1701911"/>
                </a:cubicBezTo>
                <a:cubicBezTo>
                  <a:pt x="2302042" y="1713942"/>
                  <a:pt x="2303538" y="1727130"/>
                  <a:pt x="2310063" y="1738005"/>
                </a:cubicBezTo>
                <a:cubicBezTo>
                  <a:pt x="2315899" y="1747732"/>
                  <a:pt x="2327040" y="1753211"/>
                  <a:pt x="2334126" y="1762069"/>
                </a:cubicBezTo>
                <a:cubicBezTo>
                  <a:pt x="2343159" y="1773360"/>
                  <a:pt x="2350169" y="1786132"/>
                  <a:pt x="2358190" y="1798163"/>
                </a:cubicBezTo>
                <a:cubicBezTo>
                  <a:pt x="2366211" y="1822226"/>
                  <a:pt x="2370909" y="1847666"/>
                  <a:pt x="2382253" y="1870353"/>
                </a:cubicBezTo>
                <a:cubicBezTo>
                  <a:pt x="2414260" y="1934367"/>
                  <a:pt x="2427045" y="1956606"/>
                  <a:pt x="2454442" y="2038795"/>
                </a:cubicBezTo>
                <a:cubicBezTo>
                  <a:pt x="2458453" y="2050827"/>
                  <a:pt x="2463137" y="2062654"/>
                  <a:pt x="2466474" y="2074890"/>
                </a:cubicBezTo>
                <a:cubicBezTo>
                  <a:pt x="2475176" y="2106796"/>
                  <a:pt x="2475747" y="2141562"/>
                  <a:pt x="2490537" y="2171142"/>
                </a:cubicBezTo>
                <a:cubicBezTo>
                  <a:pt x="2521995" y="2234059"/>
                  <a:pt x="2510250" y="2201869"/>
                  <a:pt x="2526632" y="2267395"/>
                </a:cubicBezTo>
                <a:cubicBezTo>
                  <a:pt x="2522621" y="2343595"/>
                  <a:pt x="2521211" y="2419976"/>
                  <a:pt x="2514600" y="2495995"/>
                </a:cubicBezTo>
                <a:cubicBezTo>
                  <a:pt x="2514389" y="2498417"/>
                  <a:pt x="2496371" y="2572923"/>
                  <a:pt x="2490537" y="2580216"/>
                </a:cubicBezTo>
                <a:cubicBezTo>
                  <a:pt x="2481504" y="2591508"/>
                  <a:pt x="2466474" y="2596258"/>
                  <a:pt x="2454442" y="2604279"/>
                </a:cubicBezTo>
                <a:cubicBezTo>
                  <a:pt x="2378594" y="2730691"/>
                  <a:pt x="2457437" y="2610310"/>
                  <a:pt x="2382253" y="2700532"/>
                </a:cubicBezTo>
                <a:cubicBezTo>
                  <a:pt x="2372996" y="2711640"/>
                  <a:pt x="2368415" y="2726401"/>
                  <a:pt x="2358190" y="2736626"/>
                </a:cubicBezTo>
                <a:cubicBezTo>
                  <a:pt x="2347965" y="2746851"/>
                  <a:pt x="2333204" y="2751433"/>
                  <a:pt x="2322095" y="2760690"/>
                </a:cubicBezTo>
                <a:cubicBezTo>
                  <a:pt x="2262013" y="2810758"/>
                  <a:pt x="2313337" y="2787671"/>
                  <a:pt x="2249905" y="2808816"/>
                </a:cubicBezTo>
                <a:cubicBezTo>
                  <a:pt x="2237874" y="2820848"/>
                  <a:pt x="2227968" y="2835473"/>
                  <a:pt x="2213811" y="2844911"/>
                </a:cubicBezTo>
                <a:cubicBezTo>
                  <a:pt x="2202997" y="2852120"/>
                  <a:pt x="2136604" y="2866970"/>
                  <a:pt x="2129590" y="2868974"/>
                </a:cubicBezTo>
                <a:cubicBezTo>
                  <a:pt x="2117396" y="2872458"/>
                  <a:pt x="2105689" y="2877521"/>
                  <a:pt x="2093495" y="2881005"/>
                </a:cubicBezTo>
                <a:cubicBezTo>
                  <a:pt x="2077595" y="2885548"/>
                  <a:pt x="2061268" y="2888494"/>
                  <a:pt x="2045368" y="2893037"/>
                </a:cubicBezTo>
                <a:cubicBezTo>
                  <a:pt x="1975013" y="2913139"/>
                  <a:pt x="2045795" y="2898289"/>
                  <a:pt x="1961147" y="2917100"/>
                </a:cubicBezTo>
                <a:cubicBezTo>
                  <a:pt x="1923818" y="2925395"/>
                  <a:pt x="1865392" y="2935936"/>
                  <a:pt x="1828800" y="2941163"/>
                </a:cubicBezTo>
                <a:cubicBezTo>
                  <a:pt x="1796791" y="2945736"/>
                  <a:pt x="1764505" y="2948278"/>
                  <a:pt x="1732547" y="2953195"/>
                </a:cubicBezTo>
                <a:cubicBezTo>
                  <a:pt x="1712335" y="2956304"/>
                  <a:pt x="1692602" y="2962117"/>
                  <a:pt x="1672390" y="2965226"/>
                </a:cubicBezTo>
                <a:cubicBezTo>
                  <a:pt x="1640432" y="2970143"/>
                  <a:pt x="1608221" y="2973247"/>
                  <a:pt x="1576137" y="2977258"/>
                </a:cubicBezTo>
                <a:cubicBezTo>
                  <a:pt x="1519990" y="2973247"/>
                  <a:pt x="1463732" y="2970563"/>
                  <a:pt x="1407695" y="2965226"/>
                </a:cubicBezTo>
                <a:cubicBezTo>
                  <a:pt x="1379464" y="2962537"/>
                  <a:pt x="1351677" y="2956164"/>
                  <a:pt x="1323474" y="2953195"/>
                </a:cubicBezTo>
                <a:cubicBezTo>
                  <a:pt x="1275446" y="2948139"/>
                  <a:pt x="1227171" y="2945742"/>
                  <a:pt x="1179095" y="2941163"/>
                </a:cubicBezTo>
                <a:cubicBezTo>
                  <a:pt x="1141172" y="2937551"/>
                  <a:pt x="1015591" y="2922962"/>
                  <a:pt x="974558" y="2917100"/>
                </a:cubicBezTo>
                <a:cubicBezTo>
                  <a:pt x="891804" y="2905278"/>
                  <a:pt x="918236" y="2906860"/>
                  <a:pt x="842211" y="2893037"/>
                </a:cubicBezTo>
                <a:cubicBezTo>
                  <a:pt x="818209" y="2888673"/>
                  <a:pt x="794133" y="2884714"/>
                  <a:pt x="770021" y="2881005"/>
                </a:cubicBezTo>
                <a:cubicBezTo>
                  <a:pt x="741992" y="2876693"/>
                  <a:pt x="714081" y="2871069"/>
                  <a:pt x="685800" y="2868974"/>
                </a:cubicBezTo>
                <a:cubicBezTo>
                  <a:pt x="605709" y="2863041"/>
                  <a:pt x="525379" y="2860953"/>
                  <a:pt x="445168" y="2856942"/>
                </a:cubicBezTo>
                <a:cubicBezTo>
                  <a:pt x="326750" y="2833259"/>
                  <a:pt x="413840" y="2848054"/>
                  <a:pt x="216568" y="2832879"/>
                </a:cubicBezTo>
                <a:cubicBezTo>
                  <a:pt x="34179" y="2818849"/>
                  <a:pt x="127474" y="2820847"/>
                  <a:pt x="0" y="2820847"/>
                </a:cubicBezTo>
              </a:path>
            </a:pathLst>
          </a:custGeom>
          <a:noFill/>
          <a:ln w="38100">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452179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alphaModFix amt="50000"/>
          </a:blip>
          <a:stretch>
            <a:fillRect/>
          </a:stretch>
        </p:blipFill>
        <p:spPr>
          <a:xfrm>
            <a:off x="5959599" y="1690688"/>
            <a:ext cx="5394201" cy="4577648"/>
          </a:xfrm>
          <a:prstGeom prst="rect">
            <a:avLst/>
          </a:prstGeom>
        </p:spPr>
      </p:pic>
      <p:pic>
        <p:nvPicPr>
          <p:cNvPr id="21" name="Immagine 20">
            <a:extLst>
              <a:ext uri="{FF2B5EF4-FFF2-40B4-BE49-F238E27FC236}">
                <a16:creationId xmlns:a16="http://schemas.microsoft.com/office/drawing/2014/main" id="{D8F33B72-2A65-2A42-985D-6123077A7DFB}"/>
              </a:ext>
            </a:extLst>
          </p:cNvPr>
          <p:cNvPicPr>
            <a:picLocks noChangeAspect="1"/>
          </p:cNvPicPr>
          <p:nvPr/>
        </p:nvPicPr>
        <p:blipFill>
          <a:blip r:embed="rId3"/>
          <a:stretch>
            <a:fillRect/>
          </a:stretch>
        </p:blipFill>
        <p:spPr>
          <a:xfrm>
            <a:off x="687657" y="3600541"/>
            <a:ext cx="8825723" cy="812352"/>
          </a:xfrm>
          <a:prstGeom prst="rect">
            <a:avLst/>
          </a:prstGeom>
        </p:spPr>
      </p:pic>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4"/>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5"/>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7383529" y="2017961"/>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12" name="Immagine 11">
            <a:extLst>
              <a:ext uri="{FF2B5EF4-FFF2-40B4-BE49-F238E27FC236}">
                <a16:creationId xmlns:a16="http://schemas.microsoft.com/office/drawing/2014/main" id="{E8A84895-A388-C049-B6D5-399B6F267820}"/>
              </a:ext>
            </a:extLst>
          </p:cNvPr>
          <p:cNvPicPr>
            <a:picLocks noChangeAspect="1"/>
          </p:cNvPicPr>
          <p:nvPr/>
        </p:nvPicPr>
        <p:blipFill rotWithShape="1">
          <a:blip r:embed="rId6"/>
          <a:srcRect l="37508"/>
          <a:stretch/>
        </p:blipFill>
        <p:spPr>
          <a:xfrm>
            <a:off x="10891507" y="3454183"/>
            <a:ext cx="1300493" cy="462458"/>
          </a:xfrm>
          <a:prstGeom prst="rect">
            <a:avLst/>
          </a:prstGeom>
        </p:spPr>
      </p:pic>
      <p:pic>
        <p:nvPicPr>
          <p:cNvPr id="14" name="Immagine 13">
            <a:extLst>
              <a:ext uri="{FF2B5EF4-FFF2-40B4-BE49-F238E27FC236}">
                <a16:creationId xmlns:a16="http://schemas.microsoft.com/office/drawing/2014/main" id="{6A2CCF90-1FA1-7D45-AF73-52E17EA4FB34}"/>
              </a:ext>
            </a:extLst>
          </p:cNvPr>
          <p:cNvPicPr>
            <a:picLocks noChangeAspect="1"/>
          </p:cNvPicPr>
          <p:nvPr/>
        </p:nvPicPr>
        <p:blipFill rotWithShape="1">
          <a:blip r:embed="rId7"/>
          <a:srcRect l="47719" t="70430" r="35447" b="7602"/>
          <a:stretch/>
        </p:blipFill>
        <p:spPr>
          <a:xfrm>
            <a:off x="11008726" y="1930920"/>
            <a:ext cx="1045029" cy="347967"/>
          </a:xfrm>
          <a:prstGeom prst="rect">
            <a:avLst/>
          </a:prstGeom>
        </p:spPr>
      </p:pic>
      <p:pic>
        <p:nvPicPr>
          <p:cNvPr id="8" name="Immagine 7">
            <a:extLst>
              <a:ext uri="{FF2B5EF4-FFF2-40B4-BE49-F238E27FC236}">
                <a16:creationId xmlns:a16="http://schemas.microsoft.com/office/drawing/2014/main" id="{E579F1E7-2935-F64E-99E7-12C4B418472B}"/>
              </a:ext>
            </a:extLst>
          </p:cNvPr>
          <p:cNvPicPr>
            <a:picLocks noChangeAspect="1"/>
          </p:cNvPicPr>
          <p:nvPr/>
        </p:nvPicPr>
        <p:blipFill>
          <a:blip r:embed="rId8"/>
          <a:stretch>
            <a:fillRect/>
          </a:stretch>
        </p:blipFill>
        <p:spPr>
          <a:xfrm>
            <a:off x="687657" y="2015210"/>
            <a:ext cx="5009359" cy="524790"/>
          </a:xfrm>
          <a:prstGeom prst="rect">
            <a:avLst/>
          </a:prstGeom>
        </p:spPr>
      </p:pic>
      <p:sp>
        <p:nvSpPr>
          <p:cNvPr id="17" name="Figura a mano libera 16">
            <a:extLst>
              <a:ext uri="{FF2B5EF4-FFF2-40B4-BE49-F238E27FC236}">
                <a16:creationId xmlns:a16="http://schemas.microsoft.com/office/drawing/2014/main" id="{43A69EF2-1B80-9B42-8344-ED809EEB03A3}"/>
              </a:ext>
            </a:extLst>
          </p:cNvPr>
          <p:cNvSpPr/>
          <p:nvPr/>
        </p:nvSpPr>
        <p:spPr>
          <a:xfrm>
            <a:off x="123181" y="3753798"/>
            <a:ext cx="2908777" cy="1310436"/>
          </a:xfrm>
          <a:custGeom>
            <a:avLst/>
            <a:gdLst>
              <a:gd name="connsiteX0" fmla="*/ 1814285 w 2917371"/>
              <a:gd name="connsiteY0" fmla="*/ 638628 h 2206171"/>
              <a:gd name="connsiteX1" fmla="*/ 1901371 w 2917371"/>
              <a:gd name="connsiteY1" fmla="*/ 740228 h 2206171"/>
              <a:gd name="connsiteX2" fmla="*/ 1944914 w 2917371"/>
              <a:gd name="connsiteY2" fmla="*/ 769257 h 2206171"/>
              <a:gd name="connsiteX3" fmla="*/ 1988457 w 2917371"/>
              <a:gd name="connsiteY3" fmla="*/ 812800 h 2206171"/>
              <a:gd name="connsiteX4" fmla="*/ 2075543 w 2917371"/>
              <a:gd name="connsiteY4" fmla="*/ 870857 h 2206171"/>
              <a:gd name="connsiteX5" fmla="*/ 2119085 w 2917371"/>
              <a:gd name="connsiteY5" fmla="*/ 899885 h 2206171"/>
              <a:gd name="connsiteX6" fmla="*/ 2249714 w 2917371"/>
              <a:gd name="connsiteY6" fmla="*/ 957942 h 2206171"/>
              <a:gd name="connsiteX7" fmla="*/ 2293257 w 2917371"/>
              <a:gd name="connsiteY7" fmla="*/ 972457 h 2206171"/>
              <a:gd name="connsiteX8" fmla="*/ 2656114 w 2917371"/>
              <a:gd name="connsiteY8" fmla="*/ 943428 h 2206171"/>
              <a:gd name="connsiteX9" fmla="*/ 2757714 w 2917371"/>
              <a:gd name="connsiteY9" fmla="*/ 914400 h 2206171"/>
              <a:gd name="connsiteX10" fmla="*/ 2873828 w 2917371"/>
              <a:gd name="connsiteY10" fmla="*/ 812800 h 2206171"/>
              <a:gd name="connsiteX11" fmla="*/ 2902857 w 2917371"/>
              <a:gd name="connsiteY11" fmla="*/ 725714 h 2206171"/>
              <a:gd name="connsiteX12" fmla="*/ 2917371 w 2917371"/>
              <a:gd name="connsiteY12" fmla="*/ 682171 h 2206171"/>
              <a:gd name="connsiteX13" fmla="*/ 2888343 w 2917371"/>
              <a:gd name="connsiteY13" fmla="*/ 377371 h 2206171"/>
              <a:gd name="connsiteX14" fmla="*/ 2873828 w 2917371"/>
              <a:gd name="connsiteY14" fmla="*/ 333828 h 2206171"/>
              <a:gd name="connsiteX15" fmla="*/ 2844800 w 2917371"/>
              <a:gd name="connsiteY15" fmla="*/ 290285 h 2206171"/>
              <a:gd name="connsiteX16" fmla="*/ 2830285 w 2917371"/>
              <a:gd name="connsiteY16" fmla="*/ 246742 h 2206171"/>
              <a:gd name="connsiteX17" fmla="*/ 2743200 w 2917371"/>
              <a:gd name="connsiteY17" fmla="*/ 159657 h 2206171"/>
              <a:gd name="connsiteX18" fmla="*/ 2699657 w 2917371"/>
              <a:gd name="connsiteY18" fmla="*/ 116114 h 2206171"/>
              <a:gd name="connsiteX19" fmla="*/ 2612571 w 2917371"/>
              <a:gd name="connsiteY19" fmla="*/ 72571 h 2206171"/>
              <a:gd name="connsiteX20" fmla="*/ 2554514 w 2917371"/>
              <a:gd name="connsiteY20" fmla="*/ 43542 h 2206171"/>
              <a:gd name="connsiteX21" fmla="*/ 2496457 w 2917371"/>
              <a:gd name="connsiteY21" fmla="*/ 29028 h 2206171"/>
              <a:gd name="connsiteX22" fmla="*/ 2409371 w 2917371"/>
              <a:gd name="connsiteY22" fmla="*/ 0 h 2206171"/>
              <a:gd name="connsiteX23" fmla="*/ 2104571 w 2917371"/>
              <a:gd name="connsiteY23" fmla="*/ 14514 h 2206171"/>
              <a:gd name="connsiteX24" fmla="*/ 2002971 w 2917371"/>
              <a:gd name="connsiteY24" fmla="*/ 43542 h 2206171"/>
              <a:gd name="connsiteX25" fmla="*/ 1915885 w 2917371"/>
              <a:gd name="connsiteY25" fmla="*/ 101600 h 2206171"/>
              <a:gd name="connsiteX26" fmla="*/ 1828800 w 2917371"/>
              <a:gd name="connsiteY26" fmla="*/ 174171 h 2206171"/>
              <a:gd name="connsiteX27" fmla="*/ 1814285 w 2917371"/>
              <a:gd name="connsiteY27" fmla="*/ 217714 h 2206171"/>
              <a:gd name="connsiteX28" fmla="*/ 1843314 w 2917371"/>
              <a:gd name="connsiteY28" fmla="*/ 464457 h 2206171"/>
              <a:gd name="connsiteX29" fmla="*/ 1857828 w 2917371"/>
              <a:gd name="connsiteY29" fmla="*/ 508000 h 2206171"/>
              <a:gd name="connsiteX30" fmla="*/ 1828800 w 2917371"/>
              <a:gd name="connsiteY30" fmla="*/ 653142 h 2206171"/>
              <a:gd name="connsiteX31" fmla="*/ 1799771 w 2917371"/>
              <a:gd name="connsiteY31" fmla="*/ 696685 h 2206171"/>
              <a:gd name="connsiteX32" fmla="*/ 1669143 w 2917371"/>
              <a:gd name="connsiteY32" fmla="*/ 769257 h 2206171"/>
              <a:gd name="connsiteX33" fmla="*/ 1625600 w 2917371"/>
              <a:gd name="connsiteY33" fmla="*/ 798285 h 2206171"/>
              <a:gd name="connsiteX34" fmla="*/ 1567543 w 2917371"/>
              <a:gd name="connsiteY34" fmla="*/ 812800 h 2206171"/>
              <a:gd name="connsiteX35" fmla="*/ 1422400 w 2917371"/>
              <a:gd name="connsiteY35" fmla="*/ 841828 h 2206171"/>
              <a:gd name="connsiteX36" fmla="*/ 1306285 w 2917371"/>
              <a:gd name="connsiteY36" fmla="*/ 856342 h 2206171"/>
              <a:gd name="connsiteX37" fmla="*/ 986971 w 2917371"/>
              <a:gd name="connsiteY37" fmla="*/ 885371 h 2206171"/>
              <a:gd name="connsiteX38" fmla="*/ 783771 w 2917371"/>
              <a:gd name="connsiteY38" fmla="*/ 914400 h 2206171"/>
              <a:gd name="connsiteX39" fmla="*/ 667657 w 2917371"/>
              <a:gd name="connsiteY39" fmla="*/ 943428 h 2206171"/>
              <a:gd name="connsiteX40" fmla="*/ 624114 w 2917371"/>
              <a:gd name="connsiteY40" fmla="*/ 957942 h 2206171"/>
              <a:gd name="connsiteX41" fmla="*/ 522514 w 2917371"/>
              <a:gd name="connsiteY41" fmla="*/ 986971 h 2206171"/>
              <a:gd name="connsiteX42" fmla="*/ 420914 w 2917371"/>
              <a:gd name="connsiteY42" fmla="*/ 1045028 h 2206171"/>
              <a:gd name="connsiteX43" fmla="*/ 377371 w 2917371"/>
              <a:gd name="connsiteY43" fmla="*/ 1059542 h 2206171"/>
              <a:gd name="connsiteX44" fmla="*/ 290285 w 2917371"/>
              <a:gd name="connsiteY44" fmla="*/ 1117600 h 2206171"/>
              <a:gd name="connsiteX45" fmla="*/ 246743 w 2917371"/>
              <a:gd name="connsiteY45" fmla="*/ 1146628 h 2206171"/>
              <a:gd name="connsiteX46" fmla="*/ 116114 w 2917371"/>
              <a:gd name="connsiteY46" fmla="*/ 1262742 h 2206171"/>
              <a:gd name="connsiteX47" fmla="*/ 87085 w 2917371"/>
              <a:gd name="connsiteY47" fmla="*/ 1306285 h 2206171"/>
              <a:gd name="connsiteX48" fmla="*/ 58057 w 2917371"/>
              <a:gd name="connsiteY48" fmla="*/ 1364342 h 2206171"/>
              <a:gd name="connsiteX49" fmla="*/ 14514 w 2917371"/>
              <a:gd name="connsiteY49" fmla="*/ 1422400 h 2206171"/>
              <a:gd name="connsiteX50" fmla="*/ 0 w 2917371"/>
              <a:gd name="connsiteY50" fmla="*/ 1465942 h 2206171"/>
              <a:gd name="connsiteX51" fmla="*/ 14514 w 2917371"/>
              <a:gd name="connsiteY51" fmla="*/ 1553028 h 2206171"/>
              <a:gd name="connsiteX52" fmla="*/ 101600 w 2917371"/>
              <a:gd name="connsiteY52" fmla="*/ 1698171 h 2206171"/>
              <a:gd name="connsiteX53" fmla="*/ 145143 w 2917371"/>
              <a:gd name="connsiteY53" fmla="*/ 1756228 h 2206171"/>
              <a:gd name="connsiteX54" fmla="*/ 203200 w 2917371"/>
              <a:gd name="connsiteY54" fmla="*/ 1843314 h 2206171"/>
              <a:gd name="connsiteX55" fmla="*/ 261257 w 2917371"/>
              <a:gd name="connsiteY55" fmla="*/ 1930400 h 2206171"/>
              <a:gd name="connsiteX56" fmla="*/ 319314 w 2917371"/>
              <a:gd name="connsiteY56" fmla="*/ 2017485 h 2206171"/>
              <a:gd name="connsiteX57" fmla="*/ 362857 w 2917371"/>
              <a:gd name="connsiteY57" fmla="*/ 2061028 h 2206171"/>
              <a:gd name="connsiteX58" fmla="*/ 420914 w 2917371"/>
              <a:gd name="connsiteY58" fmla="*/ 2148114 h 2206171"/>
              <a:gd name="connsiteX59" fmla="*/ 493485 w 2917371"/>
              <a:gd name="connsiteY59" fmla="*/ 2206171 h 2206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2917371" h="2206171">
                <a:moveTo>
                  <a:pt x="1814285" y="638628"/>
                </a:moveTo>
                <a:cubicBezTo>
                  <a:pt x="1843314" y="672495"/>
                  <a:pt x="1869830" y="708687"/>
                  <a:pt x="1901371" y="740228"/>
                </a:cubicBezTo>
                <a:cubicBezTo>
                  <a:pt x="1913706" y="752563"/>
                  <a:pt x="1931513" y="758090"/>
                  <a:pt x="1944914" y="769257"/>
                </a:cubicBezTo>
                <a:cubicBezTo>
                  <a:pt x="1960683" y="782398"/>
                  <a:pt x="1972254" y="800198"/>
                  <a:pt x="1988457" y="812800"/>
                </a:cubicBezTo>
                <a:cubicBezTo>
                  <a:pt x="2015996" y="834219"/>
                  <a:pt x="2046514" y="851505"/>
                  <a:pt x="2075543" y="870857"/>
                </a:cubicBezTo>
                <a:lnTo>
                  <a:pt x="2119085" y="899885"/>
                </a:lnTo>
                <a:cubicBezTo>
                  <a:pt x="2188090" y="945888"/>
                  <a:pt x="2146075" y="923396"/>
                  <a:pt x="2249714" y="957942"/>
                </a:cubicBezTo>
                <a:lnTo>
                  <a:pt x="2293257" y="972457"/>
                </a:lnTo>
                <a:cubicBezTo>
                  <a:pt x="2417454" y="965151"/>
                  <a:pt x="2534698" y="963664"/>
                  <a:pt x="2656114" y="943428"/>
                </a:cubicBezTo>
                <a:cubicBezTo>
                  <a:pt x="2692563" y="937353"/>
                  <a:pt x="2723203" y="925903"/>
                  <a:pt x="2757714" y="914400"/>
                </a:cubicBezTo>
                <a:cubicBezTo>
                  <a:pt x="2813478" y="877223"/>
                  <a:pt x="2848365" y="870093"/>
                  <a:pt x="2873828" y="812800"/>
                </a:cubicBezTo>
                <a:cubicBezTo>
                  <a:pt x="2886255" y="784838"/>
                  <a:pt x="2893181" y="754743"/>
                  <a:pt x="2902857" y="725714"/>
                </a:cubicBezTo>
                <a:lnTo>
                  <a:pt x="2917371" y="682171"/>
                </a:lnTo>
                <a:cubicBezTo>
                  <a:pt x="2906964" y="505244"/>
                  <a:pt x="2921561" y="493633"/>
                  <a:pt x="2888343" y="377371"/>
                </a:cubicBezTo>
                <a:cubicBezTo>
                  <a:pt x="2884140" y="362660"/>
                  <a:pt x="2880670" y="347512"/>
                  <a:pt x="2873828" y="333828"/>
                </a:cubicBezTo>
                <a:cubicBezTo>
                  <a:pt x="2866027" y="318226"/>
                  <a:pt x="2852601" y="305887"/>
                  <a:pt x="2844800" y="290285"/>
                </a:cubicBezTo>
                <a:cubicBezTo>
                  <a:pt x="2837958" y="276601"/>
                  <a:pt x="2839678" y="258819"/>
                  <a:pt x="2830285" y="246742"/>
                </a:cubicBezTo>
                <a:cubicBezTo>
                  <a:pt x="2805081" y="214337"/>
                  <a:pt x="2772228" y="188685"/>
                  <a:pt x="2743200" y="159657"/>
                </a:cubicBezTo>
                <a:cubicBezTo>
                  <a:pt x="2728686" y="145143"/>
                  <a:pt x="2716736" y="127500"/>
                  <a:pt x="2699657" y="116114"/>
                </a:cubicBezTo>
                <a:cubicBezTo>
                  <a:pt x="2615976" y="60326"/>
                  <a:pt x="2696701" y="108627"/>
                  <a:pt x="2612571" y="72571"/>
                </a:cubicBezTo>
                <a:cubicBezTo>
                  <a:pt x="2592684" y="64048"/>
                  <a:pt x="2574773" y="51139"/>
                  <a:pt x="2554514" y="43542"/>
                </a:cubicBezTo>
                <a:cubicBezTo>
                  <a:pt x="2535836" y="36538"/>
                  <a:pt x="2515564" y="34760"/>
                  <a:pt x="2496457" y="29028"/>
                </a:cubicBezTo>
                <a:cubicBezTo>
                  <a:pt x="2467149" y="20236"/>
                  <a:pt x="2409371" y="0"/>
                  <a:pt x="2409371" y="0"/>
                </a:cubicBezTo>
                <a:cubicBezTo>
                  <a:pt x="2307771" y="4838"/>
                  <a:pt x="2205962" y="6403"/>
                  <a:pt x="2104571" y="14514"/>
                </a:cubicBezTo>
                <a:cubicBezTo>
                  <a:pt x="2080591" y="16432"/>
                  <a:pt x="2027918" y="35226"/>
                  <a:pt x="2002971" y="43542"/>
                </a:cubicBezTo>
                <a:cubicBezTo>
                  <a:pt x="1973942" y="62895"/>
                  <a:pt x="1940555" y="76930"/>
                  <a:pt x="1915885" y="101600"/>
                </a:cubicBezTo>
                <a:cubicBezTo>
                  <a:pt x="1860008" y="157477"/>
                  <a:pt x="1889422" y="133756"/>
                  <a:pt x="1828800" y="174171"/>
                </a:cubicBezTo>
                <a:cubicBezTo>
                  <a:pt x="1823962" y="188685"/>
                  <a:pt x="1814285" y="202414"/>
                  <a:pt x="1814285" y="217714"/>
                </a:cubicBezTo>
                <a:cubicBezTo>
                  <a:pt x="1814285" y="288954"/>
                  <a:pt x="1824389" y="388755"/>
                  <a:pt x="1843314" y="464457"/>
                </a:cubicBezTo>
                <a:cubicBezTo>
                  <a:pt x="1847025" y="479300"/>
                  <a:pt x="1852990" y="493486"/>
                  <a:pt x="1857828" y="508000"/>
                </a:cubicBezTo>
                <a:cubicBezTo>
                  <a:pt x="1852479" y="545440"/>
                  <a:pt x="1849066" y="612611"/>
                  <a:pt x="1828800" y="653142"/>
                </a:cubicBezTo>
                <a:cubicBezTo>
                  <a:pt x="1820999" y="668744"/>
                  <a:pt x="1812899" y="685198"/>
                  <a:pt x="1799771" y="696685"/>
                </a:cubicBezTo>
                <a:cubicBezTo>
                  <a:pt x="1677741" y="803461"/>
                  <a:pt x="1755524" y="726066"/>
                  <a:pt x="1669143" y="769257"/>
                </a:cubicBezTo>
                <a:cubicBezTo>
                  <a:pt x="1653541" y="777058"/>
                  <a:pt x="1641633" y="791413"/>
                  <a:pt x="1625600" y="798285"/>
                </a:cubicBezTo>
                <a:cubicBezTo>
                  <a:pt x="1607265" y="806143"/>
                  <a:pt x="1587048" y="808620"/>
                  <a:pt x="1567543" y="812800"/>
                </a:cubicBezTo>
                <a:cubicBezTo>
                  <a:pt x="1519299" y="823138"/>
                  <a:pt x="1471358" y="835708"/>
                  <a:pt x="1422400" y="841828"/>
                </a:cubicBezTo>
                <a:cubicBezTo>
                  <a:pt x="1383695" y="846666"/>
                  <a:pt x="1345098" y="852461"/>
                  <a:pt x="1306285" y="856342"/>
                </a:cubicBezTo>
                <a:cubicBezTo>
                  <a:pt x="1178661" y="869105"/>
                  <a:pt x="1110795" y="869893"/>
                  <a:pt x="986971" y="885371"/>
                </a:cubicBezTo>
                <a:cubicBezTo>
                  <a:pt x="919078" y="893858"/>
                  <a:pt x="850149" y="897806"/>
                  <a:pt x="783771" y="914400"/>
                </a:cubicBezTo>
                <a:cubicBezTo>
                  <a:pt x="745066" y="924076"/>
                  <a:pt x="705506" y="930812"/>
                  <a:pt x="667657" y="943428"/>
                </a:cubicBezTo>
                <a:cubicBezTo>
                  <a:pt x="653143" y="948266"/>
                  <a:pt x="638825" y="953739"/>
                  <a:pt x="624114" y="957942"/>
                </a:cubicBezTo>
                <a:cubicBezTo>
                  <a:pt x="587298" y="968461"/>
                  <a:pt x="557306" y="972060"/>
                  <a:pt x="522514" y="986971"/>
                </a:cubicBezTo>
                <a:cubicBezTo>
                  <a:pt x="344383" y="1063313"/>
                  <a:pt x="566687" y="972143"/>
                  <a:pt x="420914" y="1045028"/>
                </a:cubicBezTo>
                <a:cubicBezTo>
                  <a:pt x="407230" y="1051870"/>
                  <a:pt x="391885" y="1054704"/>
                  <a:pt x="377371" y="1059542"/>
                </a:cubicBezTo>
                <a:lnTo>
                  <a:pt x="290285" y="1117600"/>
                </a:lnTo>
                <a:lnTo>
                  <a:pt x="246743" y="1146628"/>
                </a:lnTo>
                <a:cubicBezTo>
                  <a:pt x="194391" y="1181530"/>
                  <a:pt x="155881" y="1203093"/>
                  <a:pt x="116114" y="1262742"/>
                </a:cubicBezTo>
                <a:cubicBezTo>
                  <a:pt x="106438" y="1277256"/>
                  <a:pt x="95740" y="1291139"/>
                  <a:pt x="87085" y="1306285"/>
                </a:cubicBezTo>
                <a:cubicBezTo>
                  <a:pt x="76350" y="1325071"/>
                  <a:pt x="69524" y="1345994"/>
                  <a:pt x="58057" y="1364342"/>
                </a:cubicBezTo>
                <a:cubicBezTo>
                  <a:pt x="45236" y="1384856"/>
                  <a:pt x="29028" y="1403047"/>
                  <a:pt x="14514" y="1422400"/>
                </a:cubicBezTo>
                <a:cubicBezTo>
                  <a:pt x="9676" y="1436914"/>
                  <a:pt x="0" y="1450643"/>
                  <a:pt x="0" y="1465942"/>
                </a:cubicBezTo>
                <a:cubicBezTo>
                  <a:pt x="0" y="1495371"/>
                  <a:pt x="6058" y="1524840"/>
                  <a:pt x="14514" y="1553028"/>
                </a:cubicBezTo>
                <a:cubicBezTo>
                  <a:pt x="25770" y="1590546"/>
                  <a:pt x="85359" y="1676516"/>
                  <a:pt x="101600" y="1698171"/>
                </a:cubicBezTo>
                <a:cubicBezTo>
                  <a:pt x="116114" y="1717523"/>
                  <a:pt x="131271" y="1736410"/>
                  <a:pt x="145143" y="1756228"/>
                </a:cubicBezTo>
                <a:cubicBezTo>
                  <a:pt x="165150" y="1784809"/>
                  <a:pt x="183848" y="1814285"/>
                  <a:pt x="203200" y="1843314"/>
                </a:cubicBezTo>
                <a:lnTo>
                  <a:pt x="261257" y="1930400"/>
                </a:lnTo>
                <a:cubicBezTo>
                  <a:pt x="261259" y="1930402"/>
                  <a:pt x="319313" y="2017484"/>
                  <a:pt x="319314" y="2017485"/>
                </a:cubicBezTo>
                <a:cubicBezTo>
                  <a:pt x="333828" y="2031999"/>
                  <a:pt x="350255" y="2044825"/>
                  <a:pt x="362857" y="2061028"/>
                </a:cubicBezTo>
                <a:cubicBezTo>
                  <a:pt x="384276" y="2088567"/>
                  <a:pt x="391885" y="2128762"/>
                  <a:pt x="420914" y="2148114"/>
                </a:cubicBezTo>
                <a:cubicBezTo>
                  <a:pt x="475843" y="2184732"/>
                  <a:pt x="452122" y="2164807"/>
                  <a:pt x="493485" y="2206171"/>
                </a:cubicBezTo>
              </a:path>
            </a:pathLst>
          </a:custGeom>
          <a:noFill/>
          <a:ln w="38100">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magine 19" descr="Immagine che contiene testo&#10;&#10;Descrizione generata automaticamente">
            <a:extLst>
              <a:ext uri="{FF2B5EF4-FFF2-40B4-BE49-F238E27FC236}">
                <a16:creationId xmlns:a16="http://schemas.microsoft.com/office/drawing/2014/main" id="{A76F5E46-054C-CF4A-8EF1-6B1CFC294B47}"/>
              </a:ext>
            </a:extLst>
          </p:cNvPr>
          <p:cNvPicPr>
            <a:picLocks noChangeAspect="1"/>
          </p:cNvPicPr>
          <p:nvPr/>
        </p:nvPicPr>
        <p:blipFill>
          <a:blip r:embed="rId9"/>
          <a:stretch>
            <a:fillRect/>
          </a:stretch>
        </p:blipFill>
        <p:spPr>
          <a:xfrm>
            <a:off x="574842" y="2864522"/>
            <a:ext cx="3302000" cy="787400"/>
          </a:xfrm>
          <a:prstGeom prst="rect">
            <a:avLst/>
          </a:prstGeom>
        </p:spPr>
      </p:pic>
      <p:cxnSp>
        <p:nvCxnSpPr>
          <p:cNvPr id="18" name="Connettore 2 17">
            <a:extLst>
              <a:ext uri="{FF2B5EF4-FFF2-40B4-BE49-F238E27FC236}">
                <a16:creationId xmlns:a16="http://schemas.microsoft.com/office/drawing/2014/main" id="{876FDE4C-1E3F-7540-A9D9-8978C7A2DD00}"/>
              </a:ext>
            </a:extLst>
          </p:cNvPr>
          <p:cNvCxnSpPr/>
          <p:nvPr/>
        </p:nvCxnSpPr>
        <p:spPr>
          <a:xfrm flipH="1">
            <a:off x="1503947" y="2540000"/>
            <a:ext cx="721895" cy="370254"/>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ttore 2 18">
            <a:extLst>
              <a:ext uri="{FF2B5EF4-FFF2-40B4-BE49-F238E27FC236}">
                <a16:creationId xmlns:a16="http://schemas.microsoft.com/office/drawing/2014/main" id="{03B5C2D5-6686-A248-BF26-1E0065B8E919}"/>
              </a:ext>
            </a:extLst>
          </p:cNvPr>
          <p:cNvCxnSpPr/>
          <p:nvPr/>
        </p:nvCxnSpPr>
        <p:spPr>
          <a:xfrm flipH="1">
            <a:off x="1403684" y="3429000"/>
            <a:ext cx="721895" cy="370254"/>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pic>
        <p:nvPicPr>
          <p:cNvPr id="22" name="Immagine 21">
            <a:extLst>
              <a:ext uri="{FF2B5EF4-FFF2-40B4-BE49-F238E27FC236}">
                <a16:creationId xmlns:a16="http://schemas.microsoft.com/office/drawing/2014/main" id="{DD6431EC-596F-6E49-A8F0-9221A9E01CC5}"/>
              </a:ext>
            </a:extLst>
          </p:cNvPr>
          <p:cNvPicPr>
            <a:picLocks noChangeAspect="1"/>
          </p:cNvPicPr>
          <p:nvPr/>
        </p:nvPicPr>
        <p:blipFill>
          <a:blip r:embed="rId10"/>
          <a:stretch>
            <a:fillRect/>
          </a:stretch>
        </p:blipFill>
        <p:spPr>
          <a:xfrm>
            <a:off x="612921" y="4668363"/>
            <a:ext cx="9017000" cy="635000"/>
          </a:xfrm>
          <a:prstGeom prst="rect">
            <a:avLst/>
          </a:prstGeom>
        </p:spPr>
      </p:pic>
      <p:pic>
        <p:nvPicPr>
          <p:cNvPr id="23" name="Immagine 22">
            <a:extLst>
              <a:ext uri="{FF2B5EF4-FFF2-40B4-BE49-F238E27FC236}">
                <a16:creationId xmlns:a16="http://schemas.microsoft.com/office/drawing/2014/main" id="{15466BA6-2E53-F24D-B675-BA8A4EA901DA}"/>
              </a:ext>
            </a:extLst>
          </p:cNvPr>
          <p:cNvPicPr>
            <a:picLocks noChangeAspect="1"/>
          </p:cNvPicPr>
          <p:nvPr/>
        </p:nvPicPr>
        <p:blipFill>
          <a:blip r:embed="rId11"/>
          <a:stretch>
            <a:fillRect/>
          </a:stretch>
        </p:blipFill>
        <p:spPr>
          <a:xfrm>
            <a:off x="711200" y="5323817"/>
            <a:ext cx="5384800" cy="457200"/>
          </a:xfrm>
          <a:prstGeom prst="rect">
            <a:avLst/>
          </a:prstGeom>
        </p:spPr>
      </p:pic>
      <p:pic>
        <p:nvPicPr>
          <p:cNvPr id="25" name="Immagine 24" descr="Immagine che contiene testo&#10;&#10;Descrizione generata automaticamente">
            <a:extLst>
              <a:ext uri="{FF2B5EF4-FFF2-40B4-BE49-F238E27FC236}">
                <a16:creationId xmlns:a16="http://schemas.microsoft.com/office/drawing/2014/main" id="{5A88811E-0719-5542-93D1-1273D725E373}"/>
              </a:ext>
            </a:extLst>
          </p:cNvPr>
          <p:cNvPicPr>
            <a:picLocks noChangeAspect="1"/>
          </p:cNvPicPr>
          <p:nvPr/>
        </p:nvPicPr>
        <p:blipFill>
          <a:blip r:embed="rId12"/>
          <a:stretch>
            <a:fillRect/>
          </a:stretch>
        </p:blipFill>
        <p:spPr>
          <a:xfrm>
            <a:off x="670484" y="5866715"/>
            <a:ext cx="2641600" cy="723900"/>
          </a:xfrm>
          <a:prstGeom prst="rect">
            <a:avLst/>
          </a:prstGeom>
        </p:spPr>
      </p:pic>
      <p:sp>
        <p:nvSpPr>
          <p:cNvPr id="5" name="Figura a mano libera 4">
            <a:extLst>
              <a:ext uri="{FF2B5EF4-FFF2-40B4-BE49-F238E27FC236}">
                <a16:creationId xmlns:a16="http://schemas.microsoft.com/office/drawing/2014/main" id="{EBB95A83-5927-C54E-BD3D-4C8EA4449FBD}"/>
              </a:ext>
            </a:extLst>
          </p:cNvPr>
          <p:cNvSpPr/>
          <p:nvPr/>
        </p:nvSpPr>
        <p:spPr>
          <a:xfrm>
            <a:off x="1684421" y="3652142"/>
            <a:ext cx="2598821" cy="2977258"/>
          </a:xfrm>
          <a:custGeom>
            <a:avLst/>
            <a:gdLst>
              <a:gd name="connsiteX0" fmla="*/ 1660358 w 2598821"/>
              <a:gd name="connsiteY0" fmla="*/ 727353 h 2977258"/>
              <a:gd name="connsiteX1" fmla="*/ 1624263 w 2598821"/>
              <a:gd name="connsiteY1" fmla="*/ 631100 h 2977258"/>
              <a:gd name="connsiteX2" fmla="*/ 1612232 w 2598821"/>
              <a:gd name="connsiteY2" fmla="*/ 595005 h 2977258"/>
              <a:gd name="connsiteX3" fmla="*/ 1588168 w 2598821"/>
              <a:gd name="connsiteY3" fmla="*/ 450626 h 2977258"/>
              <a:gd name="connsiteX4" fmla="*/ 1612232 w 2598821"/>
              <a:gd name="connsiteY4" fmla="*/ 282184 h 2977258"/>
              <a:gd name="connsiteX5" fmla="*/ 1636295 w 2598821"/>
              <a:gd name="connsiteY5" fmla="*/ 209995 h 2977258"/>
              <a:gd name="connsiteX6" fmla="*/ 1660358 w 2598821"/>
              <a:gd name="connsiteY6" fmla="*/ 173900 h 2977258"/>
              <a:gd name="connsiteX7" fmla="*/ 1672390 w 2598821"/>
              <a:gd name="connsiteY7" fmla="*/ 137805 h 2977258"/>
              <a:gd name="connsiteX8" fmla="*/ 1768642 w 2598821"/>
              <a:gd name="connsiteY8" fmla="*/ 53584 h 2977258"/>
              <a:gd name="connsiteX9" fmla="*/ 1816768 w 2598821"/>
              <a:gd name="connsiteY9" fmla="*/ 41553 h 2977258"/>
              <a:gd name="connsiteX10" fmla="*/ 1864895 w 2598821"/>
              <a:gd name="connsiteY10" fmla="*/ 17490 h 2977258"/>
              <a:gd name="connsiteX11" fmla="*/ 2117558 w 2598821"/>
              <a:gd name="connsiteY11" fmla="*/ 17490 h 2977258"/>
              <a:gd name="connsiteX12" fmla="*/ 2237874 w 2598821"/>
              <a:gd name="connsiteY12" fmla="*/ 41553 h 2977258"/>
              <a:gd name="connsiteX13" fmla="*/ 2346158 w 2598821"/>
              <a:gd name="connsiteY13" fmla="*/ 65616 h 2977258"/>
              <a:gd name="connsiteX14" fmla="*/ 2418347 w 2598821"/>
              <a:gd name="connsiteY14" fmla="*/ 89679 h 2977258"/>
              <a:gd name="connsiteX15" fmla="*/ 2454442 w 2598821"/>
              <a:gd name="connsiteY15" fmla="*/ 101711 h 2977258"/>
              <a:gd name="connsiteX16" fmla="*/ 2514600 w 2598821"/>
              <a:gd name="connsiteY16" fmla="*/ 161869 h 2977258"/>
              <a:gd name="connsiteX17" fmla="*/ 2550695 w 2598821"/>
              <a:gd name="connsiteY17" fmla="*/ 234058 h 2977258"/>
              <a:gd name="connsiteX18" fmla="*/ 2574758 w 2598821"/>
              <a:gd name="connsiteY18" fmla="*/ 270153 h 2977258"/>
              <a:gd name="connsiteX19" fmla="*/ 2598821 w 2598821"/>
              <a:gd name="connsiteY19" fmla="*/ 354374 h 2977258"/>
              <a:gd name="connsiteX20" fmla="*/ 2562726 w 2598821"/>
              <a:gd name="connsiteY20" fmla="*/ 546879 h 2977258"/>
              <a:gd name="connsiteX21" fmla="*/ 2502568 w 2598821"/>
              <a:gd name="connsiteY21" fmla="*/ 619069 h 2977258"/>
              <a:gd name="connsiteX22" fmla="*/ 2454442 w 2598821"/>
              <a:gd name="connsiteY22" fmla="*/ 679226 h 2977258"/>
              <a:gd name="connsiteX23" fmla="*/ 2346158 w 2598821"/>
              <a:gd name="connsiteY23" fmla="*/ 763447 h 2977258"/>
              <a:gd name="connsiteX24" fmla="*/ 2310063 w 2598821"/>
              <a:gd name="connsiteY24" fmla="*/ 787511 h 2977258"/>
              <a:gd name="connsiteX25" fmla="*/ 2165684 w 2598821"/>
              <a:gd name="connsiteY25" fmla="*/ 811574 h 2977258"/>
              <a:gd name="connsiteX26" fmla="*/ 1864895 w 2598821"/>
              <a:gd name="connsiteY26" fmla="*/ 799542 h 2977258"/>
              <a:gd name="connsiteX27" fmla="*/ 1744579 w 2598821"/>
              <a:gd name="connsiteY27" fmla="*/ 775479 h 2977258"/>
              <a:gd name="connsiteX28" fmla="*/ 1732547 w 2598821"/>
              <a:gd name="connsiteY28" fmla="*/ 811574 h 2977258"/>
              <a:gd name="connsiteX29" fmla="*/ 1792705 w 2598821"/>
              <a:gd name="connsiteY29" fmla="*/ 847669 h 2977258"/>
              <a:gd name="connsiteX30" fmla="*/ 1864895 w 2598821"/>
              <a:gd name="connsiteY30" fmla="*/ 907826 h 2977258"/>
              <a:gd name="connsiteX31" fmla="*/ 1888958 w 2598821"/>
              <a:gd name="connsiteY31" fmla="*/ 931890 h 2977258"/>
              <a:gd name="connsiteX32" fmla="*/ 1961147 w 2598821"/>
              <a:gd name="connsiteY32" fmla="*/ 980016 h 2977258"/>
              <a:gd name="connsiteX33" fmla="*/ 2021305 w 2598821"/>
              <a:gd name="connsiteY33" fmla="*/ 1028142 h 2977258"/>
              <a:gd name="connsiteX34" fmla="*/ 2033337 w 2598821"/>
              <a:gd name="connsiteY34" fmla="*/ 1064237 h 2977258"/>
              <a:gd name="connsiteX35" fmla="*/ 2069432 w 2598821"/>
              <a:gd name="connsiteY35" fmla="*/ 1088300 h 2977258"/>
              <a:gd name="connsiteX36" fmla="*/ 2093495 w 2598821"/>
              <a:gd name="connsiteY36" fmla="*/ 1124395 h 2977258"/>
              <a:gd name="connsiteX37" fmla="*/ 2117558 w 2598821"/>
              <a:gd name="connsiteY37" fmla="*/ 1196584 h 2977258"/>
              <a:gd name="connsiteX38" fmla="*/ 2129590 w 2598821"/>
              <a:gd name="connsiteY38" fmla="*/ 1232679 h 2977258"/>
              <a:gd name="connsiteX39" fmla="*/ 2153653 w 2598821"/>
              <a:gd name="connsiteY39" fmla="*/ 1449247 h 2977258"/>
              <a:gd name="connsiteX40" fmla="*/ 2201779 w 2598821"/>
              <a:gd name="connsiteY40" fmla="*/ 1557532 h 2977258"/>
              <a:gd name="connsiteX41" fmla="*/ 2213811 w 2598821"/>
              <a:gd name="connsiteY41" fmla="*/ 1593626 h 2977258"/>
              <a:gd name="connsiteX42" fmla="*/ 2298032 w 2598821"/>
              <a:gd name="connsiteY42" fmla="*/ 1701911 h 2977258"/>
              <a:gd name="connsiteX43" fmla="*/ 2310063 w 2598821"/>
              <a:gd name="connsiteY43" fmla="*/ 1738005 h 2977258"/>
              <a:gd name="connsiteX44" fmla="*/ 2334126 w 2598821"/>
              <a:gd name="connsiteY44" fmla="*/ 1762069 h 2977258"/>
              <a:gd name="connsiteX45" fmla="*/ 2358190 w 2598821"/>
              <a:gd name="connsiteY45" fmla="*/ 1798163 h 2977258"/>
              <a:gd name="connsiteX46" fmla="*/ 2382253 w 2598821"/>
              <a:gd name="connsiteY46" fmla="*/ 1870353 h 2977258"/>
              <a:gd name="connsiteX47" fmla="*/ 2454442 w 2598821"/>
              <a:gd name="connsiteY47" fmla="*/ 2038795 h 2977258"/>
              <a:gd name="connsiteX48" fmla="*/ 2466474 w 2598821"/>
              <a:gd name="connsiteY48" fmla="*/ 2074890 h 2977258"/>
              <a:gd name="connsiteX49" fmla="*/ 2490537 w 2598821"/>
              <a:gd name="connsiteY49" fmla="*/ 2171142 h 2977258"/>
              <a:gd name="connsiteX50" fmla="*/ 2526632 w 2598821"/>
              <a:gd name="connsiteY50" fmla="*/ 2267395 h 2977258"/>
              <a:gd name="connsiteX51" fmla="*/ 2514600 w 2598821"/>
              <a:gd name="connsiteY51" fmla="*/ 2495995 h 2977258"/>
              <a:gd name="connsiteX52" fmla="*/ 2490537 w 2598821"/>
              <a:gd name="connsiteY52" fmla="*/ 2580216 h 2977258"/>
              <a:gd name="connsiteX53" fmla="*/ 2454442 w 2598821"/>
              <a:gd name="connsiteY53" fmla="*/ 2604279 h 2977258"/>
              <a:gd name="connsiteX54" fmla="*/ 2382253 w 2598821"/>
              <a:gd name="connsiteY54" fmla="*/ 2700532 h 2977258"/>
              <a:gd name="connsiteX55" fmla="*/ 2358190 w 2598821"/>
              <a:gd name="connsiteY55" fmla="*/ 2736626 h 2977258"/>
              <a:gd name="connsiteX56" fmla="*/ 2322095 w 2598821"/>
              <a:gd name="connsiteY56" fmla="*/ 2760690 h 2977258"/>
              <a:gd name="connsiteX57" fmla="*/ 2249905 w 2598821"/>
              <a:gd name="connsiteY57" fmla="*/ 2808816 h 2977258"/>
              <a:gd name="connsiteX58" fmla="*/ 2213811 w 2598821"/>
              <a:gd name="connsiteY58" fmla="*/ 2844911 h 2977258"/>
              <a:gd name="connsiteX59" fmla="*/ 2129590 w 2598821"/>
              <a:gd name="connsiteY59" fmla="*/ 2868974 h 2977258"/>
              <a:gd name="connsiteX60" fmla="*/ 2093495 w 2598821"/>
              <a:gd name="connsiteY60" fmla="*/ 2881005 h 2977258"/>
              <a:gd name="connsiteX61" fmla="*/ 2045368 w 2598821"/>
              <a:gd name="connsiteY61" fmla="*/ 2893037 h 2977258"/>
              <a:gd name="connsiteX62" fmla="*/ 1961147 w 2598821"/>
              <a:gd name="connsiteY62" fmla="*/ 2917100 h 2977258"/>
              <a:gd name="connsiteX63" fmla="*/ 1828800 w 2598821"/>
              <a:gd name="connsiteY63" fmla="*/ 2941163 h 2977258"/>
              <a:gd name="connsiteX64" fmla="*/ 1732547 w 2598821"/>
              <a:gd name="connsiteY64" fmla="*/ 2953195 h 2977258"/>
              <a:gd name="connsiteX65" fmla="*/ 1672390 w 2598821"/>
              <a:gd name="connsiteY65" fmla="*/ 2965226 h 2977258"/>
              <a:gd name="connsiteX66" fmla="*/ 1576137 w 2598821"/>
              <a:gd name="connsiteY66" fmla="*/ 2977258 h 2977258"/>
              <a:gd name="connsiteX67" fmla="*/ 1407695 w 2598821"/>
              <a:gd name="connsiteY67" fmla="*/ 2965226 h 2977258"/>
              <a:gd name="connsiteX68" fmla="*/ 1323474 w 2598821"/>
              <a:gd name="connsiteY68" fmla="*/ 2953195 h 2977258"/>
              <a:gd name="connsiteX69" fmla="*/ 1179095 w 2598821"/>
              <a:gd name="connsiteY69" fmla="*/ 2941163 h 2977258"/>
              <a:gd name="connsiteX70" fmla="*/ 974558 w 2598821"/>
              <a:gd name="connsiteY70" fmla="*/ 2917100 h 2977258"/>
              <a:gd name="connsiteX71" fmla="*/ 842211 w 2598821"/>
              <a:gd name="connsiteY71" fmla="*/ 2893037 h 2977258"/>
              <a:gd name="connsiteX72" fmla="*/ 770021 w 2598821"/>
              <a:gd name="connsiteY72" fmla="*/ 2881005 h 2977258"/>
              <a:gd name="connsiteX73" fmla="*/ 685800 w 2598821"/>
              <a:gd name="connsiteY73" fmla="*/ 2868974 h 2977258"/>
              <a:gd name="connsiteX74" fmla="*/ 445168 w 2598821"/>
              <a:gd name="connsiteY74" fmla="*/ 2856942 h 2977258"/>
              <a:gd name="connsiteX75" fmla="*/ 216568 w 2598821"/>
              <a:gd name="connsiteY75" fmla="*/ 2832879 h 2977258"/>
              <a:gd name="connsiteX76" fmla="*/ 0 w 2598821"/>
              <a:gd name="connsiteY76" fmla="*/ 2820847 h 2977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598821" h="2977258">
                <a:moveTo>
                  <a:pt x="1660358" y="727353"/>
                </a:moveTo>
                <a:cubicBezTo>
                  <a:pt x="1648326" y="695269"/>
                  <a:pt x="1635973" y="663303"/>
                  <a:pt x="1624263" y="631100"/>
                </a:cubicBezTo>
                <a:cubicBezTo>
                  <a:pt x="1619929" y="619181"/>
                  <a:pt x="1615308" y="607309"/>
                  <a:pt x="1612232" y="595005"/>
                </a:cubicBezTo>
                <a:cubicBezTo>
                  <a:pt x="1600502" y="548085"/>
                  <a:pt x="1594960" y="498171"/>
                  <a:pt x="1588168" y="450626"/>
                </a:cubicBezTo>
                <a:cubicBezTo>
                  <a:pt x="1591729" y="422135"/>
                  <a:pt x="1603558" y="316879"/>
                  <a:pt x="1612232" y="282184"/>
                </a:cubicBezTo>
                <a:cubicBezTo>
                  <a:pt x="1618384" y="257577"/>
                  <a:pt x="1622225" y="231100"/>
                  <a:pt x="1636295" y="209995"/>
                </a:cubicBezTo>
                <a:cubicBezTo>
                  <a:pt x="1644316" y="197963"/>
                  <a:pt x="1653891" y="186834"/>
                  <a:pt x="1660358" y="173900"/>
                </a:cubicBezTo>
                <a:cubicBezTo>
                  <a:pt x="1666030" y="162556"/>
                  <a:pt x="1664781" y="147951"/>
                  <a:pt x="1672390" y="137805"/>
                </a:cubicBezTo>
                <a:cubicBezTo>
                  <a:pt x="1686038" y="119608"/>
                  <a:pt x="1737880" y="66767"/>
                  <a:pt x="1768642" y="53584"/>
                </a:cubicBezTo>
                <a:cubicBezTo>
                  <a:pt x="1783841" y="47070"/>
                  <a:pt x="1800726" y="45563"/>
                  <a:pt x="1816768" y="41553"/>
                </a:cubicBezTo>
                <a:cubicBezTo>
                  <a:pt x="1832810" y="33532"/>
                  <a:pt x="1848409" y="24555"/>
                  <a:pt x="1864895" y="17490"/>
                </a:cubicBezTo>
                <a:cubicBezTo>
                  <a:pt x="1948989" y="-18550"/>
                  <a:pt x="2005715" y="11276"/>
                  <a:pt x="2117558" y="17490"/>
                </a:cubicBezTo>
                <a:lnTo>
                  <a:pt x="2237874" y="41553"/>
                </a:lnTo>
                <a:cubicBezTo>
                  <a:pt x="2272234" y="48425"/>
                  <a:pt x="2312165" y="55418"/>
                  <a:pt x="2346158" y="65616"/>
                </a:cubicBezTo>
                <a:cubicBezTo>
                  <a:pt x="2370453" y="72905"/>
                  <a:pt x="2394284" y="81658"/>
                  <a:pt x="2418347" y="89679"/>
                </a:cubicBezTo>
                <a:lnTo>
                  <a:pt x="2454442" y="101711"/>
                </a:lnTo>
                <a:cubicBezTo>
                  <a:pt x="2474495" y="121764"/>
                  <a:pt x="2498869" y="138273"/>
                  <a:pt x="2514600" y="161869"/>
                </a:cubicBezTo>
                <a:cubicBezTo>
                  <a:pt x="2583557" y="265303"/>
                  <a:pt x="2500885" y="134438"/>
                  <a:pt x="2550695" y="234058"/>
                </a:cubicBezTo>
                <a:cubicBezTo>
                  <a:pt x="2557162" y="246992"/>
                  <a:pt x="2568291" y="257219"/>
                  <a:pt x="2574758" y="270153"/>
                </a:cubicBezTo>
                <a:cubicBezTo>
                  <a:pt x="2583391" y="287419"/>
                  <a:pt x="2594965" y="338947"/>
                  <a:pt x="2598821" y="354374"/>
                </a:cubicBezTo>
                <a:cubicBezTo>
                  <a:pt x="2597263" y="369956"/>
                  <a:pt x="2591357" y="518247"/>
                  <a:pt x="2562726" y="546879"/>
                </a:cubicBezTo>
                <a:cubicBezTo>
                  <a:pt x="2516407" y="593199"/>
                  <a:pt x="2536070" y="568817"/>
                  <a:pt x="2502568" y="619069"/>
                </a:cubicBezTo>
                <a:cubicBezTo>
                  <a:pt x="2481658" y="681801"/>
                  <a:pt x="2506000" y="633397"/>
                  <a:pt x="2454442" y="679226"/>
                </a:cubicBezTo>
                <a:cubicBezTo>
                  <a:pt x="2357053" y="765794"/>
                  <a:pt x="2420587" y="738639"/>
                  <a:pt x="2346158" y="763447"/>
                </a:cubicBezTo>
                <a:cubicBezTo>
                  <a:pt x="2334126" y="771468"/>
                  <a:pt x="2322997" y="781044"/>
                  <a:pt x="2310063" y="787511"/>
                </a:cubicBezTo>
                <a:cubicBezTo>
                  <a:pt x="2269753" y="807666"/>
                  <a:pt x="2199983" y="807763"/>
                  <a:pt x="2165684" y="811574"/>
                </a:cubicBezTo>
                <a:cubicBezTo>
                  <a:pt x="2065421" y="807563"/>
                  <a:pt x="1965030" y="806002"/>
                  <a:pt x="1864895" y="799542"/>
                </a:cubicBezTo>
                <a:cubicBezTo>
                  <a:pt x="1825127" y="796976"/>
                  <a:pt x="1783340" y="785170"/>
                  <a:pt x="1744579" y="775479"/>
                </a:cubicBezTo>
                <a:cubicBezTo>
                  <a:pt x="1740568" y="787511"/>
                  <a:pt x="1730060" y="799138"/>
                  <a:pt x="1732547" y="811574"/>
                </a:cubicBezTo>
                <a:cubicBezTo>
                  <a:pt x="1737266" y="835166"/>
                  <a:pt x="1777504" y="842602"/>
                  <a:pt x="1792705" y="847669"/>
                </a:cubicBezTo>
                <a:cubicBezTo>
                  <a:pt x="1878459" y="933421"/>
                  <a:pt x="1781130" y="840813"/>
                  <a:pt x="1864895" y="907826"/>
                </a:cubicBezTo>
                <a:cubicBezTo>
                  <a:pt x="1873753" y="914912"/>
                  <a:pt x="1879883" y="925084"/>
                  <a:pt x="1888958" y="931890"/>
                </a:cubicBezTo>
                <a:cubicBezTo>
                  <a:pt x="1912094" y="949242"/>
                  <a:pt x="1940697" y="959567"/>
                  <a:pt x="1961147" y="980016"/>
                </a:cubicBezTo>
                <a:cubicBezTo>
                  <a:pt x="1995436" y="1014303"/>
                  <a:pt x="1975773" y="997787"/>
                  <a:pt x="2021305" y="1028142"/>
                </a:cubicBezTo>
                <a:cubicBezTo>
                  <a:pt x="2025316" y="1040174"/>
                  <a:pt x="2025414" y="1054334"/>
                  <a:pt x="2033337" y="1064237"/>
                </a:cubicBezTo>
                <a:cubicBezTo>
                  <a:pt x="2042370" y="1075528"/>
                  <a:pt x="2059207" y="1078075"/>
                  <a:pt x="2069432" y="1088300"/>
                </a:cubicBezTo>
                <a:cubicBezTo>
                  <a:pt x="2079657" y="1098525"/>
                  <a:pt x="2085474" y="1112363"/>
                  <a:pt x="2093495" y="1124395"/>
                </a:cubicBezTo>
                <a:lnTo>
                  <a:pt x="2117558" y="1196584"/>
                </a:lnTo>
                <a:lnTo>
                  <a:pt x="2129590" y="1232679"/>
                </a:lnTo>
                <a:cubicBezTo>
                  <a:pt x="2133764" y="1282775"/>
                  <a:pt x="2138673" y="1389329"/>
                  <a:pt x="2153653" y="1449247"/>
                </a:cubicBezTo>
                <a:cubicBezTo>
                  <a:pt x="2184693" y="1573404"/>
                  <a:pt x="2162276" y="1478527"/>
                  <a:pt x="2201779" y="1557532"/>
                </a:cubicBezTo>
                <a:cubicBezTo>
                  <a:pt x="2207451" y="1568875"/>
                  <a:pt x="2207652" y="1582540"/>
                  <a:pt x="2213811" y="1593626"/>
                </a:cubicBezTo>
                <a:cubicBezTo>
                  <a:pt x="2249790" y="1658389"/>
                  <a:pt x="2254187" y="1658066"/>
                  <a:pt x="2298032" y="1701911"/>
                </a:cubicBezTo>
                <a:cubicBezTo>
                  <a:pt x="2302042" y="1713942"/>
                  <a:pt x="2303538" y="1727130"/>
                  <a:pt x="2310063" y="1738005"/>
                </a:cubicBezTo>
                <a:cubicBezTo>
                  <a:pt x="2315899" y="1747732"/>
                  <a:pt x="2327040" y="1753211"/>
                  <a:pt x="2334126" y="1762069"/>
                </a:cubicBezTo>
                <a:cubicBezTo>
                  <a:pt x="2343159" y="1773360"/>
                  <a:pt x="2350169" y="1786132"/>
                  <a:pt x="2358190" y="1798163"/>
                </a:cubicBezTo>
                <a:cubicBezTo>
                  <a:pt x="2366211" y="1822226"/>
                  <a:pt x="2370909" y="1847666"/>
                  <a:pt x="2382253" y="1870353"/>
                </a:cubicBezTo>
                <a:cubicBezTo>
                  <a:pt x="2414260" y="1934367"/>
                  <a:pt x="2427045" y="1956606"/>
                  <a:pt x="2454442" y="2038795"/>
                </a:cubicBezTo>
                <a:cubicBezTo>
                  <a:pt x="2458453" y="2050827"/>
                  <a:pt x="2463137" y="2062654"/>
                  <a:pt x="2466474" y="2074890"/>
                </a:cubicBezTo>
                <a:cubicBezTo>
                  <a:pt x="2475176" y="2106796"/>
                  <a:pt x="2475747" y="2141562"/>
                  <a:pt x="2490537" y="2171142"/>
                </a:cubicBezTo>
                <a:cubicBezTo>
                  <a:pt x="2521995" y="2234059"/>
                  <a:pt x="2510250" y="2201869"/>
                  <a:pt x="2526632" y="2267395"/>
                </a:cubicBezTo>
                <a:cubicBezTo>
                  <a:pt x="2522621" y="2343595"/>
                  <a:pt x="2521211" y="2419976"/>
                  <a:pt x="2514600" y="2495995"/>
                </a:cubicBezTo>
                <a:cubicBezTo>
                  <a:pt x="2514389" y="2498417"/>
                  <a:pt x="2496371" y="2572923"/>
                  <a:pt x="2490537" y="2580216"/>
                </a:cubicBezTo>
                <a:cubicBezTo>
                  <a:pt x="2481504" y="2591508"/>
                  <a:pt x="2466474" y="2596258"/>
                  <a:pt x="2454442" y="2604279"/>
                </a:cubicBezTo>
                <a:cubicBezTo>
                  <a:pt x="2378594" y="2730691"/>
                  <a:pt x="2457437" y="2610310"/>
                  <a:pt x="2382253" y="2700532"/>
                </a:cubicBezTo>
                <a:cubicBezTo>
                  <a:pt x="2372996" y="2711640"/>
                  <a:pt x="2368415" y="2726401"/>
                  <a:pt x="2358190" y="2736626"/>
                </a:cubicBezTo>
                <a:cubicBezTo>
                  <a:pt x="2347965" y="2746851"/>
                  <a:pt x="2333204" y="2751433"/>
                  <a:pt x="2322095" y="2760690"/>
                </a:cubicBezTo>
                <a:cubicBezTo>
                  <a:pt x="2262013" y="2810758"/>
                  <a:pt x="2313337" y="2787671"/>
                  <a:pt x="2249905" y="2808816"/>
                </a:cubicBezTo>
                <a:cubicBezTo>
                  <a:pt x="2237874" y="2820848"/>
                  <a:pt x="2227968" y="2835473"/>
                  <a:pt x="2213811" y="2844911"/>
                </a:cubicBezTo>
                <a:cubicBezTo>
                  <a:pt x="2202997" y="2852120"/>
                  <a:pt x="2136604" y="2866970"/>
                  <a:pt x="2129590" y="2868974"/>
                </a:cubicBezTo>
                <a:cubicBezTo>
                  <a:pt x="2117396" y="2872458"/>
                  <a:pt x="2105689" y="2877521"/>
                  <a:pt x="2093495" y="2881005"/>
                </a:cubicBezTo>
                <a:cubicBezTo>
                  <a:pt x="2077595" y="2885548"/>
                  <a:pt x="2061268" y="2888494"/>
                  <a:pt x="2045368" y="2893037"/>
                </a:cubicBezTo>
                <a:cubicBezTo>
                  <a:pt x="1975013" y="2913139"/>
                  <a:pt x="2045795" y="2898289"/>
                  <a:pt x="1961147" y="2917100"/>
                </a:cubicBezTo>
                <a:cubicBezTo>
                  <a:pt x="1923818" y="2925395"/>
                  <a:pt x="1865392" y="2935936"/>
                  <a:pt x="1828800" y="2941163"/>
                </a:cubicBezTo>
                <a:cubicBezTo>
                  <a:pt x="1796791" y="2945736"/>
                  <a:pt x="1764505" y="2948278"/>
                  <a:pt x="1732547" y="2953195"/>
                </a:cubicBezTo>
                <a:cubicBezTo>
                  <a:pt x="1712335" y="2956304"/>
                  <a:pt x="1692602" y="2962117"/>
                  <a:pt x="1672390" y="2965226"/>
                </a:cubicBezTo>
                <a:cubicBezTo>
                  <a:pt x="1640432" y="2970143"/>
                  <a:pt x="1608221" y="2973247"/>
                  <a:pt x="1576137" y="2977258"/>
                </a:cubicBezTo>
                <a:cubicBezTo>
                  <a:pt x="1519990" y="2973247"/>
                  <a:pt x="1463732" y="2970563"/>
                  <a:pt x="1407695" y="2965226"/>
                </a:cubicBezTo>
                <a:cubicBezTo>
                  <a:pt x="1379464" y="2962537"/>
                  <a:pt x="1351677" y="2956164"/>
                  <a:pt x="1323474" y="2953195"/>
                </a:cubicBezTo>
                <a:cubicBezTo>
                  <a:pt x="1275446" y="2948139"/>
                  <a:pt x="1227171" y="2945742"/>
                  <a:pt x="1179095" y="2941163"/>
                </a:cubicBezTo>
                <a:cubicBezTo>
                  <a:pt x="1141172" y="2937551"/>
                  <a:pt x="1015591" y="2922962"/>
                  <a:pt x="974558" y="2917100"/>
                </a:cubicBezTo>
                <a:cubicBezTo>
                  <a:pt x="891804" y="2905278"/>
                  <a:pt x="918236" y="2906860"/>
                  <a:pt x="842211" y="2893037"/>
                </a:cubicBezTo>
                <a:cubicBezTo>
                  <a:pt x="818209" y="2888673"/>
                  <a:pt x="794133" y="2884714"/>
                  <a:pt x="770021" y="2881005"/>
                </a:cubicBezTo>
                <a:cubicBezTo>
                  <a:pt x="741992" y="2876693"/>
                  <a:pt x="714081" y="2871069"/>
                  <a:pt x="685800" y="2868974"/>
                </a:cubicBezTo>
                <a:cubicBezTo>
                  <a:pt x="605709" y="2863041"/>
                  <a:pt x="525379" y="2860953"/>
                  <a:pt x="445168" y="2856942"/>
                </a:cubicBezTo>
                <a:cubicBezTo>
                  <a:pt x="326750" y="2833259"/>
                  <a:pt x="413840" y="2848054"/>
                  <a:pt x="216568" y="2832879"/>
                </a:cubicBezTo>
                <a:cubicBezTo>
                  <a:pt x="34179" y="2818849"/>
                  <a:pt x="127474" y="2820847"/>
                  <a:pt x="0" y="2820847"/>
                </a:cubicBezTo>
              </a:path>
            </a:pathLst>
          </a:custGeom>
          <a:noFill/>
          <a:ln w="38100">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37722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alphaModFix amt="50000"/>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7383529" y="2017961"/>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12" name="Immagine 11">
            <a:extLst>
              <a:ext uri="{FF2B5EF4-FFF2-40B4-BE49-F238E27FC236}">
                <a16:creationId xmlns:a16="http://schemas.microsoft.com/office/drawing/2014/main" id="{E8A84895-A388-C049-B6D5-399B6F267820}"/>
              </a:ext>
            </a:extLst>
          </p:cNvPr>
          <p:cNvPicPr>
            <a:picLocks noChangeAspect="1"/>
          </p:cNvPicPr>
          <p:nvPr/>
        </p:nvPicPr>
        <p:blipFill rotWithShape="1">
          <a:blip r:embed="rId5"/>
          <a:srcRect l="37508"/>
          <a:stretch/>
        </p:blipFill>
        <p:spPr>
          <a:xfrm>
            <a:off x="10891507" y="3454183"/>
            <a:ext cx="1300493" cy="462458"/>
          </a:xfrm>
          <a:prstGeom prst="rect">
            <a:avLst/>
          </a:prstGeom>
        </p:spPr>
      </p:pic>
      <p:pic>
        <p:nvPicPr>
          <p:cNvPr id="14" name="Immagine 13">
            <a:extLst>
              <a:ext uri="{FF2B5EF4-FFF2-40B4-BE49-F238E27FC236}">
                <a16:creationId xmlns:a16="http://schemas.microsoft.com/office/drawing/2014/main" id="{6A2CCF90-1FA1-7D45-AF73-52E17EA4FB34}"/>
              </a:ext>
            </a:extLst>
          </p:cNvPr>
          <p:cNvPicPr>
            <a:picLocks noChangeAspect="1"/>
          </p:cNvPicPr>
          <p:nvPr/>
        </p:nvPicPr>
        <p:blipFill rotWithShape="1">
          <a:blip r:embed="rId6"/>
          <a:srcRect l="47719" t="70430" r="35447" b="7602"/>
          <a:stretch/>
        </p:blipFill>
        <p:spPr>
          <a:xfrm>
            <a:off x="11008726" y="1930920"/>
            <a:ext cx="1045029" cy="347967"/>
          </a:xfrm>
          <a:prstGeom prst="rect">
            <a:avLst/>
          </a:prstGeom>
        </p:spPr>
      </p:pic>
      <p:pic>
        <p:nvPicPr>
          <p:cNvPr id="8" name="Immagine 7">
            <a:extLst>
              <a:ext uri="{FF2B5EF4-FFF2-40B4-BE49-F238E27FC236}">
                <a16:creationId xmlns:a16="http://schemas.microsoft.com/office/drawing/2014/main" id="{E579F1E7-2935-F64E-99E7-12C4B418472B}"/>
              </a:ext>
            </a:extLst>
          </p:cNvPr>
          <p:cNvPicPr>
            <a:picLocks noChangeAspect="1"/>
          </p:cNvPicPr>
          <p:nvPr/>
        </p:nvPicPr>
        <p:blipFill>
          <a:blip r:embed="rId7"/>
          <a:stretch>
            <a:fillRect/>
          </a:stretch>
        </p:blipFill>
        <p:spPr>
          <a:xfrm>
            <a:off x="687657" y="2015210"/>
            <a:ext cx="5009359" cy="524790"/>
          </a:xfrm>
          <a:prstGeom prst="rect">
            <a:avLst/>
          </a:prstGeom>
        </p:spPr>
      </p:pic>
      <p:pic>
        <p:nvPicPr>
          <p:cNvPr id="26626" name="Picture 2" descr="\frac{\partial E_{o1}}{\partial out_{h1}} = \frac{\partial E_{o1}}{\partial net_{o1}} * \frac{\partial net_{o1}}{\partial out_{h1}}">
            <a:extLst>
              <a:ext uri="{FF2B5EF4-FFF2-40B4-BE49-F238E27FC236}">
                <a16:creationId xmlns:a16="http://schemas.microsoft.com/office/drawing/2014/main" id="{50524280-6FEA-C446-818D-46F0F740FBC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7657" y="3799256"/>
            <a:ext cx="3536898" cy="518745"/>
          </a:xfrm>
          <a:prstGeom prst="rect">
            <a:avLst/>
          </a:prstGeom>
          <a:noFill/>
          <a:extLst>
            <a:ext uri="{909E8E84-426E-40DD-AFC4-6F175D3DCCD1}">
              <a14:hiddenFill xmlns:a14="http://schemas.microsoft.com/office/drawing/2010/main">
                <a:solidFill>
                  <a:srgbClr val="FFFFFF"/>
                </a:solidFill>
              </a14:hiddenFill>
            </a:ext>
          </a:extLst>
        </p:spPr>
      </p:pic>
      <p:sp>
        <p:nvSpPr>
          <p:cNvPr id="9" name="CasellaDiTesto 8">
            <a:extLst>
              <a:ext uri="{FF2B5EF4-FFF2-40B4-BE49-F238E27FC236}">
                <a16:creationId xmlns:a16="http://schemas.microsoft.com/office/drawing/2014/main" id="{F6342051-7602-3F41-AD1A-431C78E79B5A}"/>
              </a:ext>
            </a:extLst>
          </p:cNvPr>
          <p:cNvSpPr txBox="1"/>
          <p:nvPr/>
        </p:nvSpPr>
        <p:spPr>
          <a:xfrm>
            <a:off x="4365318" y="2934317"/>
            <a:ext cx="2902974" cy="369332"/>
          </a:xfrm>
          <a:prstGeom prst="rect">
            <a:avLst/>
          </a:prstGeom>
          <a:noFill/>
        </p:spPr>
        <p:txBody>
          <a:bodyPr wrap="none" rtlCol="0">
            <a:spAutoFit/>
          </a:bodyPr>
          <a:lstStyle/>
          <a:p>
            <a:r>
              <a:rPr lang="en-US" dirty="0"/>
              <a:t>Same process is followed for </a:t>
            </a:r>
          </a:p>
        </p:txBody>
      </p:sp>
      <p:sp>
        <p:nvSpPr>
          <p:cNvPr id="10" name="Figura a mano libera 9">
            <a:extLst>
              <a:ext uri="{FF2B5EF4-FFF2-40B4-BE49-F238E27FC236}">
                <a16:creationId xmlns:a16="http://schemas.microsoft.com/office/drawing/2014/main" id="{D676A0D1-0AE9-B24D-9527-D6428E64016A}"/>
              </a:ext>
            </a:extLst>
          </p:cNvPr>
          <p:cNvSpPr/>
          <p:nvPr/>
        </p:nvSpPr>
        <p:spPr>
          <a:xfrm>
            <a:off x="4295274" y="3188368"/>
            <a:ext cx="3020416" cy="409074"/>
          </a:xfrm>
          <a:custGeom>
            <a:avLst/>
            <a:gdLst>
              <a:gd name="connsiteX0" fmla="*/ 3007894 w 3020416"/>
              <a:gd name="connsiteY0" fmla="*/ 0 h 409074"/>
              <a:gd name="connsiteX1" fmla="*/ 3019926 w 3020416"/>
              <a:gd name="connsiteY1" fmla="*/ 96253 h 409074"/>
              <a:gd name="connsiteX2" fmla="*/ 2995863 w 3020416"/>
              <a:gd name="connsiteY2" fmla="*/ 132348 h 409074"/>
              <a:gd name="connsiteX3" fmla="*/ 2923673 w 3020416"/>
              <a:gd name="connsiteY3" fmla="*/ 204537 h 409074"/>
              <a:gd name="connsiteX4" fmla="*/ 2887579 w 3020416"/>
              <a:gd name="connsiteY4" fmla="*/ 240632 h 409074"/>
              <a:gd name="connsiteX5" fmla="*/ 2839452 w 3020416"/>
              <a:gd name="connsiteY5" fmla="*/ 252664 h 409074"/>
              <a:gd name="connsiteX6" fmla="*/ 2791326 w 3020416"/>
              <a:gd name="connsiteY6" fmla="*/ 276727 h 409074"/>
              <a:gd name="connsiteX7" fmla="*/ 2695073 w 3020416"/>
              <a:gd name="connsiteY7" fmla="*/ 300790 h 409074"/>
              <a:gd name="connsiteX8" fmla="*/ 2658979 w 3020416"/>
              <a:gd name="connsiteY8" fmla="*/ 312821 h 409074"/>
              <a:gd name="connsiteX9" fmla="*/ 2502568 w 3020416"/>
              <a:gd name="connsiteY9" fmla="*/ 336885 h 409074"/>
              <a:gd name="connsiteX10" fmla="*/ 2358189 w 3020416"/>
              <a:gd name="connsiteY10" fmla="*/ 372979 h 409074"/>
              <a:gd name="connsiteX11" fmla="*/ 2177715 w 3020416"/>
              <a:gd name="connsiteY11" fmla="*/ 385011 h 409074"/>
              <a:gd name="connsiteX12" fmla="*/ 2081463 w 3020416"/>
              <a:gd name="connsiteY12" fmla="*/ 397043 h 409074"/>
              <a:gd name="connsiteX13" fmla="*/ 1913021 w 3020416"/>
              <a:gd name="connsiteY13" fmla="*/ 409074 h 409074"/>
              <a:gd name="connsiteX14" fmla="*/ 1143000 w 3020416"/>
              <a:gd name="connsiteY14" fmla="*/ 397043 h 409074"/>
              <a:gd name="connsiteX15" fmla="*/ 854242 w 3020416"/>
              <a:gd name="connsiteY15" fmla="*/ 360948 h 409074"/>
              <a:gd name="connsiteX16" fmla="*/ 782052 w 3020416"/>
              <a:gd name="connsiteY16" fmla="*/ 348916 h 409074"/>
              <a:gd name="connsiteX17" fmla="*/ 637673 w 3020416"/>
              <a:gd name="connsiteY17" fmla="*/ 312821 h 409074"/>
              <a:gd name="connsiteX18" fmla="*/ 541421 w 3020416"/>
              <a:gd name="connsiteY18" fmla="*/ 288758 h 409074"/>
              <a:gd name="connsiteX19" fmla="*/ 505326 w 3020416"/>
              <a:gd name="connsiteY19" fmla="*/ 276727 h 409074"/>
              <a:gd name="connsiteX20" fmla="*/ 457200 w 3020416"/>
              <a:gd name="connsiteY20" fmla="*/ 264695 h 409074"/>
              <a:gd name="connsiteX21" fmla="*/ 409073 w 3020416"/>
              <a:gd name="connsiteY21" fmla="*/ 240632 h 409074"/>
              <a:gd name="connsiteX22" fmla="*/ 312821 w 3020416"/>
              <a:gd name="connsiteY22" fmla="*/ 216569 h 409074"/>
              <a:gd name="connsiteX23" fmla="*/ 216568 w 3020416"/>
              <a:gd name="connsiteY23" fmla="*/ 180474 h 409074"/>
              <a:gd name="connsiteX24" fmla="*/ 168442 w 3020416"/>
              <a:gd name="connsiteY24" fmla="*/ 156411 h 409074"/>
              <a:gd name="connsiteX25" fmla="*/ 48126 w 3020416"/>
              <a:gd name="connsiteY25" fmla="*/ 120316 h 409074"/>
              <a:gd name="connsiteX26" fmla="*/ 0 w 3020416"/>
              <a:gd name="connsiteY26" fmla="*/ 120316 h 409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20416" h="409074">
                <a:moveTo>
                  <a:pt x="3007894" y="0"/>
                </a:moveTo>
                <a:cubicBezTo>
                  <a:pt x="3011905" y="32084"/>
                  <a:pt x="3022853" y="64052"/>
                  <a:pt x="3019926" y="96253"/>
                </a:cubicBezTo>
                <a:cubicBezTo>
                  <a:pt x="3018617" y="110654"/>
                  <a:pt x="3004268" y="120581"/>
                  <a:pt x="2995863" y="132348"/>
                </a:cubicBezTo>
                <a:cubicBezTo>
                  <a:pt x="2934831" y="217793"/>
                  <a:pt x="2988179" y="150782"/>
                  <a:pt x="2923673" y="204537"/>
                </a:cubicBezTo>
                <a:cubicBezTo>
                  <a:pt x="2910602" y="215430"/>
                  <a:pt x="2902352" y="232190"/>
                  <a:pt x="2887579" y="240632"/>
                </a:cubicBezTo>
                <a:cubicBezTo>
                  <a:pt x="2873222" y="248836"/>
                  <a:pt x="2854935" y="246858"/>
                  <a:pt x="2839452" y="252664"/>
                </a:cubicBezTo>
                <a:cubicBezTo>
                  <a:pt x="2822658" y="258962"/>
                  <a:pt x="2808341" y="271055"/>
                  <a:pt x="2791326" y="276727"/>
                </a:cubicBezTo>
                <a:cubicBezTo>
                  <a:pt x="2759951" y="287185"/>
                  <a:pt x="2726448" y="290332"/>
                  <a:pt x="2695073" y="300790"/>
                </a:cubicBezTo>
                <a:cubicBezTo>
                  <a:pt x="2683042" y="304800"/>
                  <a:pt x="2671282" y="309745"/>
                  <a:pt x="2658979" y="312821"/>
                </a:cubicBezTo>
                <a:cubicBezTo>
                  <a:pt x="2603857" y="326602"/>
                  <a:pt x="2561019" y="329578"/>
                  <a:pt x="2502568" y="336885"/>
                </a:cubicBezTo>
                <a:cubicBezTo>
                  <a:pt x="2466937" y="347065"/>
                  <a:pt x="2399172" y="368881"/>
                  <a:pt x="2358189" y="372979"/>
                </a:cubicBezTo>
                <a:cubicBezTo>
                  <a:pt x="2298197" y="378978"/>
                  <a:pt x="2237780" y="379788"/>
                  <a:pt x="2177715" y="385011"/>
                </a:cubicBezTo>
                <a:cubicBezTo>
                  <a:pt x="2145503" y="387812"/>
                  <a:pt x="2113664" y="394116"/>
                  <a:pt x="2081463" y="397043"/>
                </a:cubicBezTo>
                <a:cubicBezTo>
                  <a:pt x="2025404" y="402139"/>
                  <a:pt x="1969168" y="405064"/>
                  <a:pt x="1913021" y="409074"/>
                </a:cubicBezTo>
                <a:lnTo>
                  <a:pt x="1143000" y="397043"/>
                </a:lnTo>
                <a:cubicBezTo>
                  <a:pt x="1083866" y="395445"/>
                  <a:pt x="897074" y="368087"/>
                  <a:pt x="854242" y="360948"/>
                </a:cubicBezTo>
                <a:cubicBezTo>
                  <a:pt x="830179" y="356937"/>
                  <a:pt x="805906" y="354028"/>
                  <a:pt x="782052" y="348916"/>
                </a:cubicBezTo>
                <a:cubicBezTo>
                  <a:pt x="782025" y="348910"/>
                  <a:pt x="661749" y="318840"/>
                  <a:pt x="637673" y="312821"/>
                </a:cubicBezTo>
                <a:lnTo>
                  <a:pt x="541421" y="288758"/>
                </a:lnTo>
                <a:cubicBezTo>
                  <a:pt x="529389" y="284748"/>
                  <a:pt x="517520" y="280211"/>
                  <a:pt x="505326" y="276727"/>
                </a:cubicBezTo>
                <a:cubicBezTo>
                  <a:pt x="489426" y="272184"/>
                  <a:pt x="472683" y="270501"/>
                  <a:pt x="457200" y="264695"/>
                </a:cubicBezTo>
                <a:cubicBezTo>
                  <a:pt x="440406" y="258397"/>
                  <a:pt x="426088" y="246304"/>
                  <a:pt x="409073" y="240632"/>
                </a:cubicBezTo>
                <a:cubicBezTo>
                  <a:pt x="377699" y="230174"/>
                  <a:pt x="312821" y="216569"/>
                  <a:pt x="312821" y="216569"/>
                </a:cubicBezTo>
                <a:cubicBezTo>
                  <a:pt x="178824" y="149572"/>
                  <a:pt x="347626" y="229621"/>
                  <a:pt x="216568" y="180474"/>
                </a:cubicBezTo>
                <a:cubicBezTo>
                  <a:pt x="199774" y="174176"/>
                  <a:pt x="185095" y="163072"/>
                  <a:pt x="168442" y="156411"/>
                </a:cubicBezTo>
                <a:cubicBezTo>
                  <a:pt x="152586" y="150069"/>
                  <a:pt x="73908" y="123539"/>
                  <a:pt x="48126" y="120316"/>
                </a:cubicBezTo>
                <a:cubicBezTo>
                  <a:pt x="32208" y="118326"/>
                  <a:pt x="16042" y="120316"/>
                  <a:pt x="0" y="120316"/>
                </a:cubicBezTo>
              </a:path>
            </a:pathLst>
          </a:custGeom>
          <a:noFill/>
          <a:ln w="38100">
            <a:solidFill>
              <a:schemeClr val="accent6"/>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Immagine 22" descr="Immagine che contiene testo&#10;&#10;Descrizione generata automaticamente">
            <a:extLst>
              <a:ext uri="{FF2B5EF4-FFF2-40B4-BE49-F238E27FC236}">
                <a16:creationId xmlns:a16="http://schemas.microsoft.com/office/drawing/2014/main" id="{71A5589B-02BD-E548-A4B8-63011AF6F792}"/>
              </a:ext>
            </a:extLst>
          </p:cNvPr>
          <p:cNvPicPr>
            <a:picLocks noChangeAspect="1"/>
          </p:cNvPicPr>
          <p:nvPr/>
        </p:nvPicPr>
        <p:blipFill>
          <a:blip r:embed="rId9"/>
          <a:stretch>
            <a:fillRect/>
          </a:stretch>
        </p:blipFill>
        <p:spPr>
          <a:xfrm>
            <a:off x="574842" y="2864522"/>
            <a:ext cx="3302000" cy="787400"/>
          </a:xfrm>
          <a:prstGeom prst="rect">
            <a:avLst/>
          </a:prstGeom>
        </p:spPr>
      </p:pic>
      <p:cxnSp>
        <p:nvCxnSpPr>
          <p:cNvPr id="20" name="Connettore 2 19">
            <a:extLst>
              <a:ext uri="{FF2B5EF4-FFF2-40B4-BE49-F238E27FC236}">
                <a16:creationId xmlns:a16="http://schemas.microsoft.com/office/drawing/2014/main" id="{551B742A-7ED4-D54D-82A5-A8BC471D8AFA}"/>
              </a:ext>
            </a:extLst>
          </p:cNvPr>
          <p:cNvCxnSpPr/>
          <p:nvPr/>
        </p:nvCxnSpPr>
        <p:spPr>
          <a:xfrm flipH="1">
            <a:off x="1503947" y="2540000"/>
            <a:ext cx="721895" cy="370254"/>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nettore 2 20">
            <a:extLst>
              <a:ext uri="{FF2B5EF4-FFF2-40B4-BE49-F238E27FC236}">
                <a16:creationId xmlns:a16="http://schemas.microsoft.com/office/drawing/2014/main" id="{7B47CED0-5EB4-E348-B729-CBD8589FE278}"/>
              </a:ext>
            </a:extLst>
          </p:cNvPr>
          <p:cNvCxnSpPr/>
          <p:nvPr/>
        </p:nvCxnSpPr>
        <p:spPr>
          <a:xfrm flipH="1">
            <a:off x="1403684" y="3429000"/>
            <a:ext cx="721895" cy="370254"/>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pic>
        <p:nvPicPr>
          <p:cNvPr id="24" name="Immagine 23">
            <a:extLst>
              <a:ext uri="{FF2B5EF4-FFF2-40B4-BE49-F238E27FC236}">
                <a16:creationId xmlns:a16="http://schemas.microsoft.com/office/drawing/2014/main" id="{D8E9E391-9136-A241-8F7B-63249330D51B}"/>
              </a:ext>
            </a:extLst>
          </p:cNvPr>
          <p:cNvPicPr>
            <a:picLocks noChangeAspect="1"/>
          </p:cNvPicPr>
          <p:nvPr/>
        </p:nvPicPr>
        <p:blipFill>
          <a:blip r:embed="rId10"/>
          <a:stretch>
            <a:fillRect/>
          </a:stretch>
        </p:blipFill>
        <p:spPr>
          <a:xfrm>
            <a:off x="711200" y="5323817"/>
            <a:ext cx="5384800" cy="457200"/>
          </a:xfrm>
          <a:prstGeom prst="rect">
            <a:avLst/>
          </a:prstGeom>
        </p:spPr>
      </p:pic>
      <p:pic>
        <p:nvPicPr>
          <p:cNvPr id="25" name="Immagine 24">
            <a:extLst>
              <a:ext uri="{FF2B5EF4-FFF2-40B4-BE49-F238E27FC236}">
                <a16:creationId xmlns:a16="http://schemas.microsoft.com/office/drawing/2014/main" id="{EC99C7B2-51F8-2F48-905D-EE39F00B55CD}"/>
              </a:ext>
            </a:extLst>
          </p:cNvPr>
          <p:cNvPicPr>
            <a:picLocks noChangeAspect="1"/>
          </p:cNvPicPr>
          <p:nvPr/>
        </p:nvPicPr>
        <p:blipFill>
          <a:blip r:embed="rId11"/>
          <a:stretch>
            <a:fillRect/>
          </a:stretch>
        </p:blipFill>
        <p:spPr>
          <a:xfrm>
            <a:off x="687657" y="4681337"/>
            <a:ext cx="9017000" cy="635000"/>
          </a:xfrm>
          <a:prstGeom prst="rect">
            <a:avLst/>
          </a:prstGeom>
        </p:spPr>
      </p:pic>
      <p:pic>
        <p:nvPicPr>
          <p:cNvPr id="26" name="Immagine 25">
            <a:extLst>
              <a:ext uri="{FF2B5EF4-FFF2-40B4-BE49-F238E27FC236}">
                <a16:creationId xmlns:a16="http://schemas.microsoft.com/office/drawing/2014/main" id="{0006403C-F69B-944C-8BB1-AC374390E086}"/>
              </a:ext>
            </a:extLst>
          </p:cNvPr>
          <p:cNvPicPr>
            <a:picLocks noChangeAspect="1"/>
          </p:cNvPicPr>
          <p:nvPr/>
        </p:nvPicPr>
        <p:blipFill>
          <a:blip r:embed="rId12"/>
          <a:stretch>
            <a:fillRect/>
          </a:stretch>
        </p:blipFill>
        <p:spPr>
          <a:xfrm>
            <a:off x="687657" y="3600541"/>
            <a:ext cx="8825723" cy="812352"/>
          </a:xfrm>
          <a:prstGeom prst="rect">
            <a:avLst/>
          </a:prstGeom>
        </p:spPr>
      </p:pic>
      <p:sp>
        <p:nvSpPr>
          <p:cNvPr id="17" name="Figura a mano libera 16">
            <a:extLst>
              <a:ext uri="{FF2B5EF4-FFF2-40B4-BE49-F238E27FC236}">
                <a16:creationId xmlns:a16="http://schemas.microsoft.com/office/drawing/2014/main" id="{43A69EF2-1B80-9B42-8344-ED809EEB03A3}"/>
              </a:ext>
            </a:extLst>
          </p:cNvPr>
          <p:cNvSpPr/>
          <p:nvPr/>
        </p:nvSpPr>
        <p:spPr>
          <a:xfrm>
            <a:off x="123181" y="3753798"/>
            <a:ext cx="2908777" cy="1310436"/>
          </a:xfrm>
          <a:custGeom>
            <a:avLst/>
            <a:gdLst>
              <a:gd name="connsiteX0" fmla="*/ 1814285 w 2917371"/>
              <a:gd name="connsiteY0" fmla="*/ 638628 h 2206171"/>
              <a:gd name="connsiteX1" fmla="*/ 1901371 w 2917371"/>
              <a:gd name="connsiteY1" fmla="*/ 740228 h 2206171"/>
              <a:gd name="connsiteX2" fmla="*/ 1944914 w 2917371"/>
              <a:gd name="connsiteY2" fmla="*/ 769257 h 2206171"/>
              <a:gd name="connsiteX3" fmla="*/ 1988457 w 2917371"/>
              <a:gd name="connsiteY3" fmla="*/ 812800 h 2206171"/>
              <a:gd name="connsiteX4" fmla="*/ 2075543 w 2917371"/>
              <a:gd name="connsiteY4" fmla="*/ 870857 h 2206171"/>
              <a:gd name="connsiteX5" fmla="*/ 2119085 w 2917371"/>
              <a:gd name="connsiteY5" fmla="*/ 899885 h 2206171"/>
              <a:gd name="connsiteX6" fmla="*/ 2249714 w 2917371"/>
              <a:gd name="connsiteY6" fmla="*/ 957942 h 2206171"/>
              <a:gd name="connsiteX7" fmla="*/ 2293257 w 2917371"/>
              <a:gd name="connsiteY7" fmla="*/ 972457 h 2206171"/>
              <a:gd name="connsiteX8" fmla="*/ 2656114 w 2917371"/>
              <a:gd name="connsiteY8" fmla="*/ 943428 h 2206171"/>
              <a:gd name="connsiteX9" fmla="*/ 2757714 w 2917371"/>
              <a:gd name="connsiteY9" fmla="*/ 914400 h 2206171"/>
              <a:gd name="connsiteX10" fmla="*/ 2873828 w 2917371"/>
              <a:gd name="connsiteY10" fmla="*/ 812800 h 2206171"/>
              <a:gd name="connsiteX11" fmla="*/ 2902857 w 2917371"/>
              <a:gd name="connsiteY11" fmla="*/ 725714 h 2206171"/>
              <a:gd name="connsiteX12" fmla="*/ 2917371 w 2917371"/>
              <a:gd name="connsiteY12" fmla="*/ 682171 h 2206171"/>
              <a:gd name="connsiteX13" fmla="*/ 2888343 w 2917371"/>
              <a:gd name="connsiteY13" fmla="*/ 377371 h 2206171"/>
              <a:gd name="connsiteX14" fmla="*/ 2873828 w 2917371"/>
              <a:gd name="connsiteY14" fmla="*/ 333828 h 2206171"/>
              <a:gd name="connsiteX15" fmla="*/ 2844800 w 2917371"/>
              <a:gd name="connsiteY15" fmla="*/ 290285 h 2206171"/>
              <a:gd name="connsiteX16" fmla="*/ 2830285 w 2917371"/>
              <a:gd name="connsiteY16" fmla="*/ 246742 h 2206171"/>
              <a:gd name="connsiteX17" fmla="*/ 2743200 w 2917371"/>
              <a:gd name="connsiteY17" fmla="*/ 159657 h 2206171"/>
              <a:gd name="connsiteX18" fmla="*/ 2699657 w 2917371"/>
              <a:gd name="connsiteY18" fmla="*/ 116114 h 2206171"/>
              <a:gd name="connsiteX19" fmla="*/ 2612571 w 2917371"/>
              <a:gd name="connsiteY19" fmla="*/ 72571 h 2206171"/>
              <a:gd name="connsiteX20" fmla="*/ 2554514 w 2917371"/>
              <a:gd name="connsiteY20" fmla="*/ 43542 h 2206171"/>
              <a:gd name="connsiteX21" fmla="*/ 2496457 w 2917371"/>
              <a:gd name="connsiteY21" fmla="*/ 29028 h 2206171"/>
              <a:gd name="connsiteX22" fmla="*/ 2409371 w 2917371"/>
              <a:gd name="connsiteY22" fmla="*/ 0 h 2206171"/>
              <a:gd name="connsiteX23" fmla="*/ 2104571 w 2917371"/>
              <a:gd name="connsiteY23" fmla="*/ 14514 h 2206171"/>
              <a:gd name="connsiteX24" fmla="*/ 2002971 w 2917371"/>
              <a:gd name="connsiteY24" fmla="*/ 43542 h 2206171"/>
              <a:gd name="connsiteX25" fmla="*/ 1915885 w 2917371"/>
              <a:gd name="connsiteY25" fmla="*/ 101600 h 2206171"/>
              <a:gd name="connsiteX26" fmla="*/ 1828800 w 2917371"/>
              <a:gd name="connsiteY26" fmla="*/ 174171 h 2206171"/>
              <a:gd name="connsiteX27" fmla="*/ 1814285 w 2917371"/>
              <a:gd name="connsiteY27" fmla="*/ 217714 h 2206171"/>
              <a:gd name="connsiteX28" fmla="*/ 1843314 w 2917371"/>
              <a:gd name="connsiteY28" fmla="*/ 464457 h 2206171"/>
              <a:gd name="connsiteX29" fmla="*/ 1857828 w 2917371"/>
              <a:gd name="connsiteY29" fmla="*/ 508000 h 2206171"/>
              <a:gd name="connsiteX30" fmla="*/ 1828800 w 2917371"/>
              <a:gd name="connsiteY30" fmla="*/ 653142 h 2206171"/>
              <a:gd name="connsiteX31" fmla="*/ 1799771 w 2917371"/>
              <a:gd name="connsiteY31" fmla="*/ 696685 h 2206171"/>
              <a:gd name="connsiteX32" fmla="*/ 1669143 w 2917371"/>
              <a:gd name="connsiteY32" fmla="*/ 769257 h 2206171"/>
              <a:gd name="connsiteX33" fmla="*/ 1625600 w 2917371"/>
              <a:gd name="connsiteY33" fmla="*/ 798285 h 2206171"/>
              <a:gd name="connsiteX34" fmla="*/ 1567543 w 2917371"/>
              <a:gd name="connsiteY34" fmla="*/ 812800 h 2206171"/>
              <a:gd name="connsiteX35" fmla="*/ 1422400 w 2917371"/>
              <a:gd name="connsiteY35" fmla="*/ 841828 h 2206171"/>
              <a:gd name="connsiteX36" fmla="*/ 1306285 w 2917371"/>
              <a:gd name="connsiteY36" fmla="*/ 856342 h 2206171"/>
              <a:gd name="connsiteX37" fmla="*/ 986971 w 2917371"/>
              <a:gd name="connsiteY37" fmla="*/ 885371 h 2206171"/>
              <a:gd name="connsiteX38" fmla="*/ 783771 w 2917371"/>
              <a:gd name="connsiteY38" fmla="*/ 914400 h 2206171"/>
              <a:gd name="connsiteX39" fmla="*/ 667657 w 2917371"/>
              <a:gd name="connsiteY39" fmla="*/ 943428 h 2206171"/>
              <a:gd name="connsiteX40" fmla="*/ 624114 w 2917371"/>
              <a:gd name="connsiteY40" fmla="*/ 957942 h 2206171"/>
              <a:gd name="connsiteX41" fmla="*/ 522514 w 2917371"/>
              <a:gd name="connsiteY41" fmla="*/ 986971 h 2206171"/>
              <a:gd name="connsiteX42" fmla="*/ 420914 w 2917371"/>
              <a:gd name="connsiteY42" fmla="*/ 1045028 h 2206171"/>
              <a:gd name="connsiteX43" fmla="*/ 377371 w 2917371"/>
              <a:gd name="connsiteY43" fmla="*/ 1059542 h 2206171"/>
              <a:gd name="connsiteX44" fmla="*/ 290285 w 2917371"/>
              <a:gd name="connsiteY44" fmla="*/ 1117600 h 2206171"/>
              <a:gd name="connsiteX45" fmla="*/ 246743 w 2917371"/>
              <a:gd name="connsiteY45" fmla="*/ 1146628 h 2206171"/>
              <a:gd name="connsiteX46" fmla="*/ 116114 w 2917371"/>
              <a:gd name="connsiteY46" fmla="*/ 1262742 h 2206171"/>
              <a:gd name="connsiteX47" fmla="*/ 87085 w 2917371"/>
              <a:gd name="connsiteY47" fmla="*/ 1306285 h 2206171"/>
              <a:gd name="connsiteX48" fmla="*/ 58057 w 2917371"/>
              <a:gd name="connsiteY48" fmla="*/ 1364342 h 2206171"/>
              <a:gd name="connsiteX49" fmla="*/ 14514 w 2917371"/>
              <a:gd name="connsiteY49" fmla="*/ 1422400 h 2206171"/>
              <a:gd name="connsiteX50" fmla="*/ 0 w 2917371"/>
              <a:gd name="connsiteY50" fmla="*/ 1465942 h 2206171"/>
              <a:gd name="connsiteX51" fmla="*/ 14514 w 2917371"/>
              <a:gd name="connsiteY51" fmla="*/ 1553028 h 2206171"/>
              <a:gd name="connsiteX52" fmla="*/ 101600 w 2917371"/>
              <a:gd name="connsiteY52" fmla="*/ 1698171 h 2206171"/>
              <a:gd name="connsiteX53" fmla="*/ 145143 w 2917371"/>
              <a:gd name="connsiteY53" fmla="*/ 1756228 h 2206171"/>
              <a:gd name="connsiteX54" fmla="*/ 203200 w 2917371"/>
              <a:gd name="connsiteY54" fmla="*/ 1843314 h 2206171"/>
              <a:gd name="connsiteX55" fmla="*/ 261257 w 2917371"/>
              <a:gd name="connsiteY55" fmla="*/ 1930400 h 2206171"/>
              <a:gd name="connsiteX56" fmla="*/ 319314 w 2917371"/>
              <a:gd name="connsiteY56" fmla="*/ 2017485 h 2206171"/>
              <a:gd name="connsiteX57" fmla="*/ 362857 w 2917371"/>
              <a:gd name="connsiteY57" fmla="*/ 2061028 h 2206171"/>
              <a:gd name="connsiteX58" fmla="*/ 420914 w 2917371"/>
              <a:gd name="connsiteY58" fmla="*/ 2148114 h 2206171"/>
              <a:gd name="connsiteX59" fmla="*/ 493485 w 2917371"/>
              <a:gd name="connsiteY59" fmla="*/ 2206171 h 2206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2917371" h="2206171">
                <a:moveTo>
                  <a:pt x="1814285" y="638628"/>
                </a:moveTo>
                <a:cubicBezTo>
                  <a:pt x="1843314" y="672495"/>
                  <a:pt x="1869830" y="708687"/>
                  <a:pt x="1901371" y="740228"/>
                </a:cubicBezTo>
                <a:cubicBezTo>
                  <a:pt x="1913706" y="752563"/>
                  <a:pt x="1931513" y="758090"/>
                  <a:pt x="1944914" y="769257"/>
                </a:cubicBezTo>
                <a:cubicBezTo>
                  <a:pt x="1960683" y="782398"/>
                  <a:pt x="1972254" y="800198"/>
                  <a:pt x="1988457" y="812800"/>
                </a:cubicBezTo>
                <a:cubicBezTo>
                  <a:pt x="2015996" y="834219"/>
                  <a:pt x="2046514" y="851505"/>
                  <a:pt x="2075543" y="870857"/>
                </a:cubicBezTo>
                <a:lnTo>
                  <a:pt x="2119085" y="899885"/>
                </a:lnTo>
                <a:cubicBezTo>
                  <a:pt x="2188090" y="945888"/>
                  <a:pt x="2146075" y="923396"/>
                  <a:pt x="2249714" y="957942"/>
                </a:cubicBezTo>
                <a:lnTo>
                  <a:pt x="2293257" y="972457"/>
                </a:lnTo>
                <a:cubicBezTo>
                  <a:pt x="2417454" y="965151"/>
                  <a:pt x="2534698" y="963664"/>
                  <a:pt x="2656114" y="943428"/>
                </a:cubicBezTo>
                <a:cubicBezTo>
                  <a:pt x="2692563" y="937353"/>
                  <a:pt x="2723203" y="925903"/>
                  <a:pt x="2757714" y="914400"/>
                </a:cubicBezTo>
                <a:cubicBezTo>
                  <a:pt x="2813478" y="877223"/>
                  <a:pt x="2848365" y="870093"/>
                  <a:pt x="2873828" y="812800"/>
                </a:cubicBezTo>
                <a:cubicBezTo>
                  <a:pt x="2886255" y="784838"/>
                  <a:pt x="2893181" y="754743"/>
                  <a:pt x="2902857" y="725714"/>
                </a:cubicBezTo>
                <a:lnTo>
                  <a:pt x="2917371" y="682171"/>
                </a:lnTo>
                <a:cubicBezTo>
                  <a:pt x="2906964" y="505244"/>
                  <a:pt x="2921561" y="493633"/>
                  <a:pt x="2888343" y="377371"/>
                </a:cubicBezTo>
                <a:cubicBezTo>
                  <a:pt x="2884140" y="362660"/>
                  <a:pt x="2880670" y="347512"/>
                  <a:pt x="2873828" y="333828"/>
                </a:cubicBezTo>
                <a:cubicBezTo>
                  <a:pt x="2866027" y="318226"/>
                  <a:pt x="2852601" y="305887"/>
                  <a:pt x="2844800" y="290285"/>
                </a:cubicBezTo>
                <a:cubicBezTo>
                  <a:pt x="2837958" y="276601"/>
                  <a:pt x="2839678" y="258819"/>
                  <a:pt x="2830285" y="246742"/>
                </a:cubicBezTo>
                <a:cubicBezTo>
                  <a:pt x="2805081" y="214337"/>
                  <a:pt x="2772228" y="188685"/>
                  <a:pt x="2743200" y="159657"/>
                </a:cubicBezTo>
                <a:cubicBezTo>
                  <a:pt x="2728686" y="145143"/>
                  <a:pt x="2716736" y="127500"/>
                  <a:pt x="2699657" y="116114"/>
                </a:cubicBezTo>
                <a:cubicBezTo>
                  <a:pt x="2615976" y="60326"/>
                  <a:pt x="2696701" y="108627"/>
                  <a:pt x="2612571" y="72571"/>
                </a:cubicBezTo>
                <a:cubicBezTo>
                  <a:pt x="2592684" y="64048"/>
                  <a:pt x="2574773" y="51139"/>
                  <a:pt x="2554514" y="43542"/>
                </a:cubicBezTo>
                <a:cubicBezTo>
                  <a:pt x="2535836" y="36538"/>
                  <a:pt x="2515564" y="34760"/>
                  <a:pt x="2496457" y="29028"/>
                </a:cubicBezTo>
                <a:cubicBezTo>
                  <a:pt x="2467149" y="20236"/>
                  <a:pt x="2409371" y="0"/>
                  <a:pt x="2409371" y="0"/>
                </a:cubicBezTo>
                <a:cubicBezTo>
                  <a:pt x="2307771" y="4838"/>
                  <a:pt x="2205962" y="6403"/>
                  <a:pt x="2104571" y="14514"/>
                </a:cubicBezTo>
                <a:cubicBezTo>
                  <a:pt x="2080591" y="16432"/>
                  <a:pt x="2027918" y="35226"/>
                  <a:pt x="2002971" y="43542"/>
                </a:cubicBezTo>
                <a:cubicBezTo>
                  <a:pt x="1973942" y="62895"/>
                  <a:pt x="1940555" y="76930"/>
                  <a:pt x="1915885" y="101600"/>
                </a:cubicBezTo>
                <a:cubicBezTo>
                  <a:pt x="1860008" y="157477"/>
                  <a:pt x="1889422" y="133756"/>
                  <a:pt x="1828800" y="174171"/>
                </a:cubicBezTo>
                <a:cubicBezTo>
                  <a:pt x="1823962" y="188685"/>
                  <a:pt x="1814285" y="202414"/>
                  <a:pt x="1814285" y="217714"/>
                </a:cubicBezTo>
                <a:cubicBezTo>
                  <a:pt x="1814285" y="288954"/>
                  <a:pt x="1824389" y="388755"/>
                  <a:pt x="1843314" y="464457"/>
                </a:cubicBezTo>
                <a:cubicBezTo>
                  <a:pt x="1847025" y="479300"/>
                  <a:pt x="1852990" y="493486"/>
                  <a:pt x="1857828" y="508000"/>
                </a:cubicBezTo>
                <a:cubicBezTo>
                  <a:pt x="1852479" y="545440"/>
                  <a:pt x="1849066" y="612611"/>
                  <a:pt x="1828800" y="653142"/>
                </a:cubicBezTo>
                <a:cubicBezTo>
                  <a:pt x="1820999" y="668744"/>
                  <a:pt x="1812899" y="685198"/>
                  <a:pt x="1799771" y="696685"/>
                </a:cubicBezTo>
                <a:cubicBezTo>
                  <a:pt x="1677741" y="803461"/>
                  <a:pt x="1755524" y="726066"/>
                  <a:pt x="1669143" y="769257"/>
                </a:cubicBezTo>
                <a:cubicBezTo>
                  <a:pt x="1653541" y="777058"/>
                  <a:pt x="1641633" y="791413"/>
                  <a:pt x="1625600" y="798285"/>
                </a:cubicBezTo>
                <a:cubicBezTo>
                  <a:pt x="1607265" y="806143"/>
                  <a:pt x="1587048" y="808620"/>
                  <a:pt x="1567543" y="812800"/>
                </a:cubicBezTo>
                <a:cubicBezTo>
                  <a:pt x="1519299" y="823138"/>
                  <a:pt x="1471358" y="835708"/>
                  <a:pt x="1422400" y="841828"/>
                </a:cubicBezTo>
                <a:cubicBezTo>
                  <a:pt x="1383695" y="846666"/>
                  <a:pt x="1345098" y="852461"/>
                  <a:pt x="1306285" y="856342"/>
                </a:cubicBezTo>
                <a:cubicBezTo>
                  <a:pt x="1178661" y="869105"/>
                  <a:pt x="1110795" y="869893"/>
                  <a:pt x="986971" y="885371"/>
                </a:cubicBezTo>
                <a:cubicBezTo>
                  <a:pt x="919078" y="893858"/>
                  <a:pt x="850149" y="897806"/>
                  <a:pt x="783771" y="914400"/>
                </a:cubicBezTo>
                <a:cubicBezTo>
                  <a:pt x="745066" y="924076"/>
                  <a:pt x="705506" y="930812"/>
                  <a:pt x="667657" y="943428"/>
                </a:cubicBezTo>
                <a:cubicBezTo>
                  <a:pt x="653143" y="948266"/>
                  <a:pt x="638825" y="953739"/>
                  <a:pt x="624114" y="957942"/>
                </a:cubicBezTo>
                <a:cubicBezTo>
                  <a:pt x="587298" y="968461"/>
                  <a:pt x="557306" y="972060"/>
                  <a:pt x="522514" y="986971"/>
                </a:cubicBezTo>
                <a:cubicBezTo>
                  <a:pt x="344383" y="1063313"/>
                  <a:pt x="566687" y="972143"/>
                  <a:pt x="420914" y="1045028"/>
                </a:cubicBezTo>
                <a:cubicBezTo>
                  <a:pt x="407230" y="1051870"/>
                  <a:pt x="391885" y="1054704"/>
                  <a:pt x="377371" y="1059542"/>
                </a:cubicBezTo>
                <a:lnTo>
                  <a:pt x="290285" y="1117600"/>
                </a:lnTo>
                <a:lnTo>
                  <a:pt x="246743" y="1146628"/>
                </a:lnTo>
                <a:cubicBezTo>
                  <a:pt x="194391" y="1181530"/>
                  <a:pt x="155881" y="1203093"/>
                  <a:pt x="116114" y="1262742"/>
                </a:cubicBezTo>
                <a:cubicBezTo>
                  <a:pt x="106438" y="1277256"/>
                  <a:pt x="95740" y="1291139"/>
                  <a:pt x="87085" y="1306285"/>
                </a:cubicBezTo>
                <a:cubicBezTo>
                  <a:pt x="76350" y="1325071"/>
                  <a:pt x="69524" y="1345994"/>
                  <a:pt x="58057" y="1364342"/>
                </a:cubicBezTo>
                <a:cubicBezTo>
                  <a:pt x="45236" y="1384856"/>
                  <a:pt x="29028" y="1403047"/>
                  <a:pt x="14514" y="1422400"/>
                </a:cubicBezTo>
                <a:cubicBezTo>
                  <a:pt x="9676" y="1436914"/>
                  <a:pt x="0" y="1450643"/>
                  <a:pt x="0" y="1465942"/>
                </a:cubicBezTo>
                <a:cubicBezTo>
                  <a:pt x="0" y="1495371"/>
                  <a:pt x="6058" y="1524840"/>
                  <a:pt x="14514" y="1553028"/>
                </a:cubicBezTo>
                <a:cubicBezTo>
                  <a:pt x="25770" y="1590546"/>
                  <a:pt x="85359" y="1676516"/>
                  <a:pt x="101600" y="1698171"/>
                </a:cubicBezTo>
                <a:cubicBezTo>
                  <a:pt x="116114" y="1717523"/>
                  <a:pt x="131271" y="1736410"/>
                  <a:pt x="145143" y="1756228"/>
                </a:cubicBezTo>
                <a:cubicBezTo>
                  <a:pt x="165150" y="1784809"/>
                  <a:pt x="183848" y="1814285"/>
                  <a:pt x="203200" y="1843314"/>
                </a:cubicBezTo>
                <a:lnTo>
                  <a:pt x="261257" y="1930400"/>
                </a:lnTo>
                <a:cubicBezTo>
                  <a:pt x="261259" y="1930402"/>
                  <a:pt x="319313" y="2017484"/>
                  <a:pt x="319314" y="2017485"/>
                </a:cubicBezTo>
                <a:cubicBezTo>
                  <a:pt x="333828" y="2031999"/>
                  <a:pt x="350255" y="2044825"/>
                  <a:pt x="362857" y="2061028"/>
                </a:cubicBezTo>
                <a:cubicBezTo>
                  <a:pt x="384276" y="2088567"/>
                  <a:pt x="391885" y="2128762"/>
                  <a:pt x="420914" y="2148114"/>
                </a:cubicBezTo>
                <a:cubicBezTo>
                  <a:pt x="475843" y="2184732"/>
                  <a:pt x="452122" y="2164807"/>
                  <a:pt x="493485" y="2206171"/>
                </a:cubicBezTo>
              </a:path>
            </a:pathLst>
          </a:custGeom>
          <a:noFill/>
          <a:ln w="38100">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Immagine 26" descr="Immagine che contiene testo&#10;&#10;Descrizione generata automaticamente">
            <a:extLst>
              <a:ext uri="{FF2B5EF4-FFF2-40B4-BE49-F238E27FC236}">
                <a16:creationId xmlns:a16="http://schemas.microsoft.com/office/drawing/2014/main" id="{F3828CAA-C872-994C-B3D6-446B2C498771}"/>
              </a:ext>
            </a:extLst>
          </p:cNvPr>
          <p:cNvPicPr>
            <a:picLocks noChangeAspect="1"/>
          </p:cNvPicPr>
          <p:nvPr/>
        </p:nvPicPr>
        <p:blipFill>
          <a:blip r:embed="rId13"/>
          <a:stretch>
            <a:fillRect/>
          </a:stretch>
        </p:blipFill>
        <p:spPr>
          <a:xfrm>
            <a:off x="670484" y="5866715"/>
            <a:ext cx="2641600" cy="723900"/>
          </a:xfrm>
          <a:prstGeom prst="rect">
            <a:avLst/>
          </a:prstGeom>
        </p:spPr>
      </p:pic>
      <p:sp>
        <p:nvSpPr>
          <p:cNvPr id="5" name="Figura a mano libera 4">
            <a:extLst>
              <a:ext uri="{FF2B5EF4-FFF2-40B4-BE49-F238E27FC236}">
                <a16:creationId xmlns:a16="http://schemas.microsoft.com/office/drawing/2014/main" id="{EBB95A83-5927-C54E-BD3D-4C8EA4449FBD}"/>
              </a:ext>
            </a:extLst>
          </p:cNvPr>
          <p:cNvSpPr/>
          <p:nvPr/>
        </p:nvSpPr>
        <p:spPr>
          <a:xfrm>
            <a:off x="1684421" y="3652142"/>
            <a:ext cx="2598821" cy="2977258"/>
          </a:xfrm>
          <a:custGeom>
            <a:avLst/>
            <a:gdLst>
              <a:gd name="connsiteX0" fmla="*/ 1660358 w 2598821"/>
              <a:gd name="connsiteY0" fmla="*/ 727353 h 2977258"/>
              <a:gd name="connsiteX1" fmla="*/ 1624263 w 2598821"/>
              <a:gd name="connsiteY1" fmla="*/ 631100 h 2977258"/>
              <a:gd name="connsiteX2" fmla="*/ 1612232 w 2598821"/>
              <a:gd name="connsiteY2" fmla="*/ 595005 h 2977258"/>
              <a:gd name="connsiteX3" fmla="*/ 1588168 w 2598821"/>
              <a:gd name="connsiteY3" fmla="*/ 450626 h 2977258"/>
              <a:gd name="connsiteX4" fmla="*/ 1612232 w 2598821"/>
              <a:gd name="connsiteY4" fmla="*/ 282184 h 2977258"/>
              <a:gd name="connsiteX5" fmla="*/ 1636295 w 2598821"/>
              <a:gd name="connsiteY5" fmla="*/ 209995 h 2977258"/>
              <a:gd name="connsiteX6" fmla="*/ 1660358 w 2598821"/>
              <a:gd name="connsiteY6" fmla="*/ 173900 h 2977258"/>
              <a:gd name="connsiteX7" fmla="*/ 1672390 w 2598821"/>
              <a:gd name="connsiteY7" fmla="*/ 137805 h 2977258"/>
              <a:gd name="connsiteX8" fmla="*/ 1768642 w 2598821"/>
              <a:gd name="connsiteY8" fmla="*/ 53584 h 2977258"/>
              <a:gd name="connsiteX9" fmla="*/ 1816768 w 2598821"/>
              <a:gd name="connsiteY9" fmla="*/ 41553 h 2977258"/>
              <a:gd name="connsiteX10" fmla="*/ 1864895 w 2598821"/>
              <a:gd name="connsiteY10" fmla="*/ 17490 h 2977258"/>
              <a:gd name="connsiteX11" fmla="*/ 2117558 w 2598821"/>
              <a:gd name="connsiteY11" fmla="*/ 17490 h 2977258"/>
              <a:gd name="connsiteX12" fmla="*/ 2237874 w 2598821"/>
              <a:gd name="connsiteY12" fmla="*/ 41553 h 2977258"/>
              <a:gd name="connsiteX13" fmla="*/ 2346158 w 2598821"/>
              <a:gd name="connsiteY13" fmla="*/ 65616 h 2977258"/>
              <a:gd name="connsiteX14" fmla="*/ 2418347 w 2598821"/>
              <a:gd name="connsiteY14" fmla="*/ 89679 h 2977258"/>
              <a:gd name="connsiteX15" fmla="*/ 2454442 w 2598821"/>
              <a:gd name="connsiteY15" fmla="*/ 101711 h 2977258"/>
              <a:gd name="connsiteX16" fmla="*/ 2514600 w 2598821"/>
              <a:gd name="connsiteY16" fmla="*/ 161869 h 2977258"/>
              <a:gd name="connsiteX17" fmla="*/ 2550695 w 2598821"/>
              <a:gd name="connsiteY17" fmla="*/ 234058 h 2977258"/>
              <a:gd name="connsiteX18" fmla="*/ 2574758 w 2598821"/>
              <a:gd name="connsiteY18" fmla="*/ 270153 h 2977258"/>
              <a:gd name="connsiteX19" fmla="*/ 2598821 w 2598821"/>
              <a:gd name="connsiteY19" fmla="*/ 354374 h 2977258"/>
              <a:gd name="connsiteX20" fmla="*/ 2562726 w 2598821"/>
              <a:gd name="connsiteY20" fmla="*/ 546879 h 2977258"/>
              <a:gd name="connsiteX21" fmla="*/ 2502568 w 2598821"/>
              <a:gd name="connsiteY21" fmla="*/ 619069 h 2977258"/>
              <a:gd name="connsiteX22" fmla="*/ 2454442 w 2598821"/>
              <a:gd name="connsiteY22" fmla="*/ 679226 h 2977258"/>
              <a:gd name="connsiteX23" fmla="*/ 2346158 w 2598821"/>
              <a:gd name="connsiteY23" fmla="*/ 763447 h 2977258"/>
              <a:gd name="connsiteX24" fmla="*/ 2310063 w 2598821"/>
              <a:gd name="connsiteY24" fmla="*/ 787511 h 2977258"/>
              <a:gd name="connsiteX25" fmla="*/ 2165684 w 2598821"/>
              <a:gd name="connsiteY25" fmla="*/ 811574 h 2977258"/>
              <a:gd name="connsiteX26" fmla="*/ 1864895 w 2598821"/>
              <a:gd name="connsiteY26" fmla="*/ 799542 h 2977258"/>
              <a:gd name="connsiteX27" fmla="*/ 1744579 w 2598821"/>
              <a:gd name="connsiteY27" fmla="*/ 775479 h 2977258"/>
              <a:gd name="connsiteX28" fmla="*/ 1732547 w 2598821"/>
              <a:gd name="connsiteY28" fmla="*/ 811574 h 2977258"/>
              <a:gd name="connsiteX29" fmla="*/ 1792705 w 2598821"/>
              <a:gd name="connsiteY29" fmla="*/ 847669 h 2977258"/>
              <a:gd name="connsiteX30" fmla="*/ 1864895 w 2598821"/>
              <a:gd name="connsiteY30" fmla="*/ 907826 h 2977258"/>
              <a:gd name="connsiteX31" fmla="*/ 1888958 w 2598821"/>
              <a:gd name="connsiteY31" fmla="*/ 931890 h 2977258"/>
              <a:gd name="connsiteX32" fmla="*/ 1961147 w 2598821"/>
              <a:gd name="connsiteY32" fmla="*/ 980016 h 2977258"/>
              <a:gd name="connsiteX33" fmla="*/ 2021305 w 2598821"/>
              <a:gd name="connsiteY33" fmla="*/ 1028142 h 2977258"/>
              <a:gd name="connsiteX34" fmla="*/ 2033337 w 2598821"/>
              <a:gd name="connsiteY34" fmla="*/ 1064237 h 2977258"/>
              <a:gd name="connsiteX35" fmla="*/ 2069432 w 2598821"/>
              <a:gd name="connsiteY35" fmla="*/ 1088300 h 2977258"/>
              <a:gd name="connsiteX36" fmla="*/ 2093495 w 2598821"/>
              <a:gd name="connsiteY36" fmla="*/ 1124395 h 2977258"/>
              <a:gd name="connsiteX37" fmla="*/ 2117558 w 2598821"/>
              <a:gd name="connsiteY37" fmla="*/ 1196584 h 2977258"/>
              <a:gd name="connsiteX38" fmla="*/ 2129590 w 2598821"/>
              <a:gd name="connsiteY38" fmla="*/ 1232679 h 2977258"/>
              <a:gd name="connsiteX39" fmla="*/ 2153653 w 2598821"/>
              <a:gd name="connsiteY39" fmla="*/ 1449247 h 2977258"/>
              <a:gd name="connsiteX40" fmla="*/ 2201779 w 2598821"/>
              <a:gd name="connsiteY40" fmla="*/ 1557532 h 2977258"/>
              <a:gd name="connsiteX41" fmla="*/ 2213811 w 2598821"/>
              <a:gd name="connsiteY41" fmla="*/ 1593626 h 2977258"/>
              <a:gd name="connsiteX42" fmla="*/ 2298032 w 2598821"/>
              <a:gd name="connsiteY42" fmla="*/ 1701911 h 2977258"/>
              <a:gd name="connsiteX43" fmla="*/ 2310063 w 2598821"/>
              <a:gd name="connsiteY43" fmla="*/ 1738005 h 2977258"/>
              <a:gd name="connsiteX44" fmla="*/ 2334126 w 2598821"/>
              <a:gd name="connsiteY44" fmla="*/ 1762069 h 2977258"/>
              <a:gd name="connsiteX45" fmla="*/ 2358190 w 2598821"/>
              <a:gd name="connsiteY45" fmla="*/ 1798163 h 2977258"/>
              <a:gd name="connsiteX46" fmla="*/ 2382253 w 2598821"/>
              <a:gd name="connsiteY46" fmla="*/ 1870353 h 2977258"/>
              <a:gd name="connsiteX47" fmla="*/ 2454442 w 2598821"/>
              <a:gd name="connsiteY47" fmla="*/ 2038795 h 2977258"/>
              <a:gd name="connsiteX48" fmla="*/ 2466474 w 2598821"/>
              <a:gd name="connsiteY48" fmla="*/ 2074890 h 2977258"/>
              <a:gd name="connsiteX49" fmla="*/ 2490537 w 2598821"/>
              <a:gd name="connsiteY49" fmla="*/ 2171142 h 2977258"/>
              <a:gd name="connsiteX50" fmla="*/ 2526632 w 2598821"/>
              <a:gd name="connsiteY50" fmla="*/ 2267395 h 2977258"/>
              <a:gd name="connsiteX51" fmla="*/ 2514600 w 2598821"/>
              <a:gd name="connsiteY51" fmla="*/ 2495995 h 2977258"/>
              <a:gd name="connsiteX52" fmla="*/ 2490537 w 2598821"/>
              <a:gd name="connsiteY52" fmla="*/ 2580216 h 2977258"/>
              <a:gd name="connsiteX53" fmla="*/ 2454442 w 2598821"/>
              <a:gd name="connsiteY53" fmla="*/ 2604279 h 2977258"/>
              <a:gd name="connsiteX54" fmla="*/ 2382253 w 2598821"/>
              <a:gd name="connsiteY54" fmla="*/ 2700532 h 2977258"/>
              <a:gd name="connsiteX55" fmla="*/ 2358190 w 2598821"/>
              <a:gd name="connsiteY55" fmla="*/ 2736626 h 2977258"/>
              <a:gd name="connsiteX56" fmla="*/ 2322095 w 2598821"/>
              <a:gd name="connsiteY56" fmla="*/ 2760690 h 2977258"/>
              <a:gd name="connsiteX57" fmla="*/ 2249905 w 2598821"/>
              <a:gd name="connsiteY57" fmla="*/ 2808816 h 2977258"/>
              <a:gd name="connsiteX58" fmla="*/ 2213811 w 2598821"/>
              <a:gd name="connsiteY58" fmla="*/ 2844911 h 2977258"/>
              <a:gd name="connsiteX59" fmla="*/ 2129590 w 2598821"/>
              <a:gd name="connsiteY59" fmla="*/ 2868974 h 2977258"/>
              <a:gd name="connsiteX60" fmla="*/ 2093495 w 2598821"/>
              <a:gd name="connsiteY60" fmla="*/ 2881005 h 2977258"/>
              <a:gd name="connsiteX61" fmla="*/ 2045368 w 2598821"/>
              <a:gd name="connsiteY61" fmla="*/ 2893037 h 2977258"/>
              <a:gd name="connsiteX62" fmla="*/ 1961147 w 2598821"/>
              <a:gd name="connsiteY62" fmla="*/ 2917100 h 2977258"/>
              <a:gd name="connsiteX63" fmla="*/ 1828800 w 2598821"/>
              <a:gd name="connsiteY63" fmla="*/ 2941163 h 2977258"/>
              <a:gd name="connsiteX64" fmla="*/ 1732547 w 2598821"/>
              <a:gd name="connsiteY64" fmla="*/ 2953195 h 2977258"/>
              <a:gd name="connsiteX65" fmla="*/ 1672390 w 2598821"/>
              <a:gd name="connsiteY65" fmla="*/ 2965226 h 2977258"/>
              <a:gd name="connsiteX66" fmla="*/ 1576137 w 2598821"/>
              <a:gd name="connsiteY66" fmla="*/ 2977258 h 2977258"/>
              <a:gd name="connsiteX67" fmla="*/ 1407695 w 2598821"/>
              <a:gd name="connsiteY67" fmla="*/ 2965226 h 2977258"/>
              <a:gd name="connsiteX68" fmla="*/ 1323474 w 2598821"/>
              <a:gd name="connsiteY68" fmla="*/ 2953195 h 2977258"/>
              <a:gd name="connsiteX69" fmla="*/ 1179095 w 2598821"/>
              <a:gd name="connsiteY69" fmla="*/ 2941163 h 2977258"/>
              <a:gd name="connsiteX70" fmla="*/ 974558 w 2598821"/>
              <a:gd name="connsiteY70" fmla="*/ 2917100 h 2977258"/>
              <a:gd name="connsiteX71" fmla="*/ 842211 w 2598821"/>
              <a:gd name="connsiteY71" fmla="*/ 2893037 h 2977258"/>
              <a:gd name="connsiteX72" fmla="*/ 770021 w 2598821"/>
              <a:gd name="connsiteY72" fmla="*/ 2881005 h 2977258"/>
              <a:gd name="connsiteX73" fmla="*/ 685800 w 2598821"/>
              <a:gd name="connsiteY73" fmla="*/ 2868974 h 2977258"/>
              <a:gd name="connsiteX74" fmla="*/ 445168 w 2598821"/>
              <a:gd name="connsiteY74" fmla="*/ 2856942 h 2977258"/>
              <a:gd name="connsiteX75" fmla="*/ 216568 w 2598821"/>
              <a:gd name="connsiteY75" fmla="*/ 2832879 h 2977258"/>
              <a:gd name="connsiteX76" fmla="*/ 0 w 2598821"/>
              <a:gd name="connsiteY76" fmla="*/ 2820847 h 2977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598821" h="2977258">
                <a:moveTo>
                  <a:pt x="1660358" y="727353"/>
                </a:moveTo>
                <a:cubicBezTo>
                  <a:pt x="1648326" y="695269"/>
                  <a:pt x="1635973" y="663303"/>
                  <a:pt x="1624263" y="631100"/>
                </a:cubicBezTo>
                <a:cubicBezTo>
                  <a:pt x="1619929" y="619181"/>
                  <a:pt x="1615308" y="607309"/>
                  <a:pt x="1612232" y="595005"/>
                </a:cubicBezTo>
                <a:cubicBezTo>
                  <a:pt x="1600502" y="548085"/>
                  <a:pt x="1594960" y="498171"/>
                  <a:pt x="1588168" y="450626"/>
                </a:cubicBezTo>
                <a:cubicBezTo>
                  <a:pt x="1591729" y="422135"/>
                  <a:pt x="1603558" y="316879"/>
                  <a:pt x="1612232" y="282184"/>
                </a:cubicBezTo>
                <a:cubicBezTo>
                  <a:pt x="1618384" y="257577"/>
                  <a:pt x="1622225" y="231100"/>
                  <a:pt x="1636295" y="209995"/>
                </a:cubicBezTo>
                <a:cubicBezTo>
                  <a:pt x="1644316" y="197963"/>
                  <a:pt x="1653891" y="186834"/>
                  <a:pt x="1660358" y="173900"/>
                </a:cubicBezTo>
                <a:cubicBezTo>
                  <a:pt x="1666030" y="162556"/>
                  <a:pt x="1664781" y="147951"/>
                  <a:pt x="1672390" y="137805"/>
                </a:cubicBezTo>
                <a:cubicBezTo>
                  <a:pt x="1686038" y="119608"/>
                  <a:pt x="1737880" y="66767"/>
                  <a:pt x="1768642" y="53584"/>
                </a:cubicBezTo>
                <a:cubicBezTo>
                  <a:pt x="1783841" y="47070"/>
                  <a:pt x="1800726" y="45563"/>
                  <a:pt x="1816768" y="41553"/>
                </a:cubicBezTo>
                <a:cubicBezTo>
                  <a:pt x="1832810" y="33532"/>
                  <a:pt x="1848409" y="24555"/>
                  <a:pt x="1864895" y="17490"/>
                </a:cubicBezTo>
                <a:cubicBezTo>
                  <a:pt x="1948989" y="-18550"/>
                  <a:pt x="2005715" y="11276"/>
                  <a:pt x="2117558" y="17490"/>
                </a:cubicBezTo>
                <a:lnTo>
                  <a:pt x="2237874" y="41553"/>
                </a:lnTo>
                <a:cubicBezTo>
                  <a:pt x="2272234" y="48425"/>
                  <a:pt x="2312165" y="55418"/>
                  <a:pt x="2346158" y="65616"/>
                </a:cubicBezTo>
                <a:cubicBezTo>
                  <a:pt x="2370453" y="72905"/>
                  <a:pt x="2394284" y="81658"/>
                  <a:pt x="2418347" y="89679"/>
                </a:cubicBezTo>
                <a:lnTo>
                  <a:pt x="2454442" y="101711"/>
                </a:lnTo>
                <a:cubicBezTo>
                  <a:pt x="2474495" y="121764"/>
                  <a:pt x="2498869" y="138273"/>
                  <a:pt x="2514600" y="161869"/>
                </a:cubicBezTo>
                <a:cubicBezTo>
                  <a:pt x="2583557" y="265303"/>
                  <a:pt x="2500885" y="134438"/>
                  <a:pt x="2550695" y="234058"/>
                </a:cubicBezTo>
                <a:cubicBezTo>
                  <a:pt x="2557162" y="246992"/>
                  <a:pt x="2568291" y="257219"/>
                  <a:pt x="2574758" y="270153"/>
                </a:cubicBezTo>
                <a:cubicBezTo>
                  <a:pt x="2583391" y="287419"/>
                  <a:pt x="2594965" y="338947"/>
                  <a:pt x="2598821" y="354374"/>
                </a:cubicBezTo>
                <a:cubicBezTo>
                  <a:pt x="2597263" y="369956"/>
                  <a:pt x="2591357" y="518247"/>
                  <a:pt x="2562726" y="546879"/>
                </a:cubicBezTo>
                <a:cubicBezTo>
                  <a:pt x="2516407" y="593199"/>
                  <a:pt x="2536070" y="568817"/>
                  <a:pt x="2502568" y="619069"/>
                </a:cubicBezTo>
                <a:cubicBezTo>
                  <a:pt x="2481658" y="681801"/>
                  <a:pt x="2506000" y="633397"/>
                  <a:pt x="2454442" y="679226"/>
                </a:cubicBezTo>
                <a:cubicBezTo>
                  <a:pt x="2357053" y="765794"/>
                  <a:pt x="2420587" y="738639"/>
                  <a:pt x="2346158" y="763447"/>
                </a:cubicBezTo>
                <a:cubicBezTo>
                  <a:pt x="2334126" y="771468"/>
                  <a:pt x="2322997" y="781044"/>
                  <a:pt x="2310063" y="787511"/>
                </a:cubicBezTo>
                <a:cubicBezTo>
                  <a:pt x="2269753" y="807666"/>
                  <a:pt x="2199983" y="807763"/>
                  <a:pt x="2165684" y="811574"/>
                </a:cubicBezTo>
                <a:cubicBezTo>
                  <a:pt x="2065421" y="807563"/>
                  <a:pt x="1965030" y="806002"/>
                  <a:pt x="1864895" y="799542"/>
                </a:cubicBezTo>
                <a:cubicBezTo>
                  <a:pt x="1825127" y="796976"/>
                  <a:pt x="1783340" y="785170"/>
                  <a:pt x="1744579" y="775479"/>
                </a:cubicBezTo>
                <a:cubicBezTo>
                  <a:pt x="1740568" y="787511"/>
                  <a:pt x="1730060" y="799138"/>
                  <a:pt x="1732547" y="811574"/>
                </a:cubicBezTo>
                <a:cubicBezTo>
                  <a:pt x="1737266" y="835166"/>
                  <a:pt x="1777504" y="842602"/>
                  <a:pt x="1792705" y="847669"/>
                </a:cubicBezTo>
                <a:cubicBezTo>
                  <a:pt x="1878459" y="933421"/>
                  <a:pt x="1781130" y="840813"/>
                  <a:pt x="1864895" y="907826"/>
                </a:cubicBezTo>
                <a:cubicBezTo>
                  <a:pt x="1873753" y="914912"/>
                  <a:pt x="1879883" y="925084"/>
                  <a:pt x="1888958" y="931890"/>
                </a:cubicBezTo>
                <a:cubicBezTo>
                  <a:pt x="1912094" y="949242"/>
                  <a:pt x="1940697" y="959567"/>
                  <a:pt x="1961147" y="980016"/>
                </a:cubicBezTo>
                <a:cubicBezTo>
                  <a:pt x="1995436" y="1014303"/>
                  <a:pt x="1975773" y="997787"/>
                  <a:pt x="2021305" y="1028142"/>
                </a:cubicBezTo>
                <a:cubicBezTo>
                  <a:pt x="2025316" y="1040174"/>
                  <a:pt x="2025414" y="1054334"/>
                  <a:pt x="2033337" y="1064237"/>
                </a:cubicBezTo>
                <a:cubicBezTo>
                  <a:pt x="2042370" y="1075528"/>
                  <a:pt x="2059207" y="1078075"/>
                  <a:pt x="2069432" y="1088300"/>
                </a:cubicBezTo>
                <a:cubicBezTo>
                  <a:pt x="2079657" y="1098525"/>
                  <a:pt x="2085474" y="1112363"/>
                  <a:pt x="2093495" y="1124395"/>
                </a:cubicBezTo>
                <a:lnTo>
                  <a:pt x="2117558" y="1196584"/>
                </a:lnTo>
                <a:lnTo>
                  <a:pt x="2129590" y="1232679"/>
                </a:lnTo>
                <a:cubicBezTo>
                  <a:pt x="2133764" y="1282775"/>
                  <a:pt x="2138673" y="1389329"/>
                  <a:pt x="2153653" y="1449247"/>
                </a:cubicBezTo>
                <a:cubicBezTo>
                  <a:pt x="2184693" y="1573404"/>
                  <a:pt x="2162276" y="1478527"/>
                  <a:pt x="2201779" y="1557532"/>
                </a:cubicBezTo>
                <a:cubicBezTo>
                  <a:pt x="2207451" y="1568875"/>
                  <a:pt x="2207652" y="1582540"/>
                  <a:pt x="2213811" y="1593626"/>
                </a:cubicBezTo>
                <a:cubicBezTo>
                  <a:pt x="2249790" y="1658389"/>
                  <a:pt x="2254187" y="1658066"/>
                  <a:pt x="2298032" y="1701911"/>
                </a:cubicBezTo>
                <a:cubicBezTo>
                  <a:pt x="2302042" y="1713942"/>
                  <a:pt x="2303538" y="1727130"/>
                  <a:pt x="2310063" y="1738005"/>
                </a:cubicBezTo>
                <a:cubicBezTo>
                  <a:pt x="2315899" y="1747732"/>
                  <a:pt x="2327040" y="1753211"/>
                  <a:pt x="2334126" y="1762069"/>
                </a:cubicBezTo>
                <a:cubicBezTo>
                  <a:pt x="2343159" y="1773360"/>
                  <a:pt x="2350169" y="1786132"/>
                  <a:pt x="2358190" y="1798163"/>
                </a:cubicBezTo>
                <a:cubicBezTo>
                  <a:pt x="2366211" y="1822226"/>
                  <a:pt x="2370909" y="1847666"/>
                  <a:pt x="2382253" y="1870353"/>
                </a:cubicBezTo>
                <a:cubicBezTo>
                  <a:pt x="2414260" y="1934367"/>
                  <a:pt x="2427045" y="1956606"/>
                  <a:pt x="2454442" y="2038795"/>
                </a:cubicBezTo>
                <a:cubicBezTo>
                  <a:pt x="2458453" y="2050827"/>
                  <a:pt x="2463137" y="2062654"/>
                  <a:pt x="2466474" y="2074890"/>
                </a:cubicBezTo>
                <a:cubicBezTo>
                  <a:pt x="2475176" y="2106796"/>
                  <a:pt x="2475747" y="2141562"/>
                  <a:pt x="2490537" y="2171142"/>
                </a:cubicBezTo>
                <a:cubicBezTo>
                  <a:pt x="2521995" y="2234059"/>
                  <a:pt x="2510250" y="2201869"/>
                  <a:pt x="2526632" y="2267395"/>
                </a:cubicBezTo>
                <a:cubicBezTo>
                  <a:pt x="2522621" y="2343595"/>
                  <a:pt x="2521211" y="2419976"/>
                  <a:pt x="2514600" y="2495995"/>
                </a:cubicBezTo>
                <a:cubicBezTo>
                  <a:pt x="2514389" y="2498417"/>
                  <a:pt x="2496371" y="2572923"/>
                  <a:pt x="2490537" y="2580216"/>
                </a:cubicBezTo>
                <a:cubicBezTo>
                  <a:pt x="2481504" y="2591508"/>
                  <a:pt x="2466474" y="2596258"/>
                  <a:pt x="2454442" y="2604279"/>
                </a:cubicBezTo>
                <a:cubicBezTo>
                  <a:pt x="2378594" y="2730691"/>
                  <a:pt x="2457437" y="2610310"/>
                  <a:pt x="2382253" y="2700532"/>
                </a:cubicBezTo>
                <a:cubicBezTo>
                  <a:pt x="2372996" y="2711640"/>
                  <a:pt x="2368415" y="2726401"/>
                  <a:pt x="2358190" y="2736626"/>
                </a:cubicBezTo>
                <a:cubicBezTo>
                  <a:pt x="2347965" y="2746851"/>
                  <a:pt x="2333204" y="2751433"/>
                  <a:pt x="2322095" y="2760690"/>
                </a:cubicBezTo>
                <a:cubicBezTo>
                  <a:pt x="2262013" y="2810758"/>
                  <a:pt x="2313337" y="2787671"/>
                  <a:pt x="2249905" y="2808816"/>
                </a:cubicBezTo>
                <a:cubicBezTo>
                  <a:pt x="2237874" y="2820848"/>
                  <a:pt x="2227968" y="2835473"/>
                  <a:pt x="2213811" y="2844911"/>
                </a:cubicBezTo>
                <a:cubicBezTo>
                  <a:pt x="2202997" y="2852120"/>
                  <a:pt x="2136604" y="2866970"/>
                  <a:pt x="2129590" y="2868974"/>
                </a:cubicBezTo>
                <a:cubicBezTo>
                  <a:pt x="2117396" y="2872458"/>
                  <a:pt x="2105689" y="2877521"/>
                  <a:pt x="2093495" y="2881005"/>
                </a:cubicBezTo>
                <a:cubicBezTo>
                  <a:pt x="2077595" y="2885548"/>
                  <a:pt x="2061268" y="2888494"/>
                  <a:pt x="2045368" y="2893037"/>
                </a:cubicBezTo>
                <a:cubicBezTo>
                  <a:pt x="1975013" y="2913139"/>
                  <a:pt x="2045795" y="2898289"/>
                  <a:pt x="1961147" y="2917100"/>
                </a:cubicBezTo>
                <a:cubicBezTo>
                  <a:pt x="1923818" y="2925395"/>
                  <a:pt x="1865392" y="2935936"/>
                  <a:pt x="1828800" y="2941163"/>
                </a:cubicBezTo>
                <a:cubicBezTo>
                  <a:pt x="1796791" y="2945736"/>
                  <a:pt x="1764505" y="2948278"/>
                  <a:pt x="1732547" y="2953195"/>
                </a:cubicBezTo>
                <a:cubicBezTo>
                  <a:pt x="1712335" y="2956304"/>
                  <a:pt x="1692602" y="2962117"/>
                  <a:pt x="1672390" y="2965226"/>
                </a:cubicBezTo>
                <a:cubicBezTo>
                  <a:pt x="1640432" y="2970143"/>
                  <a:pt x="1608221" y="2973247"/>
                  <a:pt x="1576137" y="2977258"/>
                </a:cubicBezTo>
                <a:cubicBezTo>
                  <a:pt x="1519990" y="2973247"/>
                  <a:pt x="1463732" y="2970563"/>
                  <a:pt x="1407695" y="2965226"/>
                </a:cubicBezTo>
                <a:cubicBezTo>
                  <a:pt x="1379464" y="2962537"/>
                  <a:pt x="1351677" y="2956164"/>
                  <a:pt x="1323474" y="2953195"/>
                </a:cubicBezTo>
                <a:cubicBezTo>
                  <a:pt x="1275446" y="2948139"/>
                  <a:pt x="1227171" y="2945742"/>
                  <a:pt x="1179095" y="2941163"/>
                </a:cubicBezTo>
                <a:cubicBezTo>
                  <a:pt x="1141172" y="2937551"/>
                  <a:pt x="1015591" y="2922962"/>
                  <a:pt x="974558" y="2917100"/>
                </a:cubicBezTo>
                <a:cubicBezTo>
                  <a:pt x="891804" y="2905278"/>
                  <a:pt x="918236" y="2906860"/>
                  <a:pt x="842211" y="2893037"/>
                </a:cubicBezTo>
                <a:cubicBezTo>
                  <a:pt x="818209" y="2888673"/>
                  <a:pt x="794133" y="2884714"/>
                  <a:pt x="770021" y="2881005"/>
                </a:cubicBezTo>
                <a:cubicBezTo>
                  <a:pt x="741992" y="2876693"/>
                  <a:pt x="714081" y="2871069"/>
                  <a:pt x="685800" y="2868974"/>
                </a:cubicBezTo>
                <a:cubicBezTo>
                  <a:pt x="605709" y="2863041"/>
                  <a:pt x="525379" y="2860953"/>
                  <a:pt x="445168" y="2856942"/>
                </a:cubicBezTo>
                <a:cubicBezTo>
                  <a:pt x="326750" y="2833259"/>
                  <a:pt x="413840" y="2848054"/>
                  <a:pt x="216568" y="2832879"/>
                </a:cubicBezTo>
                <a:cubicBezTo>
                  <a:pt x="34179" y="2818849"/>
                  <a:pt x="127474" y="2820847"/>
                  <a:pt x="0" y="2820847"/>
                </a:cubicBezTo>
              </a:path>
            </a:pathLst>
          </a:custGeom>
          <a:noFill/>
          <a:ln w="38100">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Immagine 17">
            <a:extLst>
              <a:ext uri="{FF2B5EF4-FFF2-40B4-BE49-F238E27FC236}">
                <a16:creationId xmlns:a16="http://schemas.microsoft.com/office/drawing/2014/main" id="{76AE0749-9F03-7246-A381-BB8F8EBB5D0F}"/>
              </a:ext>
            </a:extLst>
          </p:cNvPr>
          <p:cNvPicPr>
            <a:picLocks noChangeAspect="1"/>
          </p:cNvPicPr>
          <p:nvPr/>
        </p:nvPicPr>
        <p:blipFill>
          <a:blip r:embed="rId14"/>
          <a:stretch>
            <a:fillRect/>
          </a:stretch>
        </p:blipFill>
        <p:spPr>
          <a:xfrm>
            <a:off x="7383529" y="2587112"/>
            <a:ext cx="3200400" cy="546100"/>
          </a:xfrm>
          <a:prstGeom prst="rect">
            <a:avLst/>
          </a:prstGeom>
          <a:ln w="38100">
            <a:solidFill>
              <a:schemeClr val="accent6"/>
            </a:solidFill>
          </a:ln>
        </p:spPr>
      </p:pic>
    </p:spTree>
    <p:extLst>
      <p:ext uri="{BB962C8B-B14F-4D97-AF65-F5344CB8AC3E}">
        <p14:creationId xmlns:p14="http://schemas.microsoft.com/office/powerpoint/2010/main" val="34484814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alphaModFix amt="50000"/>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7383529" y="2017961"/>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12" name="Immagine 11">
            <a:extLst>
              <a:ext uri="{FF2B5EF4-FFF2-40B4-BE49-F238E27FC236}">
                <a16:creationId xmlns:a16="http://schemas.microsoft.com/office/drawing/2014/main" id="{E8A84895-A388-C049-B6D5-399B6F267820}"/>
              </a:ext>
            </a:extLst>
          </p:cNvPr>
          <p:cNvPicPr>
            <a:picLocks noChangeAspect="1"/>
          </p:cNvPicPr>
          <p:nvPr/>
        </p:nvPicPr>
        <p:blipFill rotWithShape="1">
          <a:blip r:embed="rId5"/>
          <a:srcRect l="37508"/>
          <a:stretch/>
        </p:blipFill>
        <p:spPr>
          <a:xfrm>
            <a:off x="10891507" y="3454183"/>
            <a:ext cx="1300493" cy="462458"/>
          </a:xfrm>
          <a:prstGeom prst="rect">
            <a:avLst/>
          </a:prstGeom>
        </p:spPr>
      </p:pic>
      <p:pic>
        <p:nvPicPr>
          <p:cNvPr id="14" name="Immagine 13">
            <a:extLst>
              <a:ext uri="{FF2B5EF4-FFF2-40B4-BE49-F238E27FC236}">
                <a16:creationId xmlns:a16="http://schemas.microsoft.com/office/drawing/2014/main" id="{6A2CCF90-1FA1-7D45-AF73-52E17EA4FB34}"/>
              </a:ext>
            </a:extLst>
          </p:cNvPr>
          <p:cNvPicPr>
            <a:picLocks noChangeAspect="1"/>
          </p:cNvPicPr>
          <p:nvPr/>
        </p:nvPicPr>
        <p:blipFill rotWithShape="1">
          <a:blip r:embed="rId6"/>
          <a:srcRect l="47719" t="70430" r="35447" b="7602"/>
          <a:stretch/>
        </p:blipFill>
        <p:spPr>
          <a:xfrm>
            <a:off x="11008726" y="1930920"/>
            <a:ext cx="1045029" cy="347967"/>
          </a:xfrm>
          <a:prstGeom prst="rect">
            <a:avLst/>
          </a:prstGeom>
        </p:spPr>
      </p:pic>
      <p:pic>
        <p:nvPicPr>
          <p:cNvPr id="8" name="Immagine 7">
            <a:extLst>
              <a:ext uri="{FF2B5EF4-FFF2-40B4-BE49-F238E27FC236}">
                <a16:creationId xmlns:a16="http://schemas.microsoft.com/office/drawing/2014/main" id="{E579F1E7-2935-F64E-99E7-12C4B418472B}"/>
              </a:ext>
            </a:extLst>
          </p:cNvPr>
          <p:cNvPicPr>
            <a:picLocks noChangeAspect="1"/>
          </p:cNvPicPr>
          <p:nvPr/>
        </p:nvPicPr>
        <p:blipFill>
          <a:blip r:embed="rId7"/>
          <a:stretch>
            <a:fillRect/>
          </a:stretch>
        </p:blipFill>
        <p:spPr>
          <a:xfrm>
            <a:off x="687657" y="2015210"/>
            <a:ext cx="5009359" cy="524790"/>
          </a:xfrm>
          <a:prstGeom prst="rect">
            <a:avLst/>
          </a:prstGeom>
        </p:spPr>
      </p:pic>
      <p:pic>
        <p:nvPicPr>
          <p:cNvPr id="9" name="Immagine 8">
            <a:extLst>
              <a:ext uri="{FF2B5EF4-FFF2-40B4-BE49-F238E27FC236}">
                <a16:creationId xmlns:a16="http://schemas.microsoft.com/office/drawing/2014/main" id="{CEAE99EA-6AD0-4341-91EF-A24491D875D2}"/>
              </a:ext>
            </a:extLst>
          </p:cNvPr>
          <p:cNvPicPr>
            <a:picLocks noChangeAspect="1"/>
          </p:cNvPicPr>
          <p:nvPr/>
        </p:nvPicPr>
        <p:blipFill>
          <a:blip r:embed="rId8"/>
          <a:stretch>
            <a:fillRect/>
          </a:stretch>
        </p:blipFill>
        <p:spPr>
          <a:xfrm>
            <a:off x="615752" y="2864522"/>
            <a:ext cx="9575800" cy="647700"/>
          </a:xfrm>
          <a:prstGeom prst="rect">
            <a:avLst/>
          </a:prstGeom>
        </p:spPr>
      </p:pic>
      <p:cxnSp>
        <p:nvCxnSpPr>
          <p:cNvPr id="20" name="Connettore 2 19">
            <a:extLst>
              <a:ext uri="{FF2B5EF4-FFF2-40B4-BE49-F238E27FC236}">
                <a16:creationId xmlns:a16="http://schemas.microsoft.com/office/drawing/2014/main" id="{551B742A-7ED4-D54D-82A5-A8BC471D8AFA}"/>
              </a:ext>
            </a:extLst>
          </p:cNvPr>
          <p:cNvCxnSpPr/>
          <p:nvPr/>
        </p:nvCxnSpPr>
        <p:spPr>
          <a:xfrm flipH="1">
            <a:off x="1503947" y="2540000"/>
            <a:ext cx="721895" cy="370254"/>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131664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alphaModFix amt="50000"/>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7383529" y="2017961"/>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12" name="Immagine 11">
            <a:extLst>
              <a:ext uri="{FF2B5EF4-FFF2-40B4-BE49-F238E27FC236}">
                <a16:creationId xmlns:a16="http://schemas.microsoft.com/office/drawing/2014/main" id="{E8A84895-A388-C049-B6D5-399B6F267820}"/>
              </a:ext>
            </a:extLst>
          </p:cNvPr>
          <p:cNvPicPr>
            <a:picLocks noChangeAspect="1"/>
          </p:cNvPicPr>
          <p:nvPr/>
        </p:nvPicPr>
        <p:blipFill rotWithShape="1">
          <a:blip r:embed="rId5"/>
          <a:srcRect l="37508"/>
          <a:stretch/>
        </p:blipFill>
        <p:spPr>
          <a:xfrm>
            <a:off x="10891507" y="3454183"/>
            <a:ext cx="1300493" cy="462458"/>
          </a:xfrm>
          <a:prstGeom prst="rect">
            <a:avLst/>
          </a:prstGeom>
        </p:spPr>
      </p:pic>
      <p:pic>
        <p:nvPicPr>
          <p:cNvPr id="14" name="Immagine 13">
            <a:extLst>
              <a:ext uri="{FF2B5EF4-FFF2-40B4-BE49-F238E27FC236}">
                <a16:creationId xmlns:a16="http://schemas.microsoft.com/office/drawing/2014/main" id="{6A2CCF90-1FA1-7D45-AF73-52E17EA4FB34}"/>
              </a:ext>
            </a:extLst>
          </p:cNvPr>
          <p:cNvPicPr>
            <a:picLocks noChangeAspect="1"/>
          </p:cNvPicPr>
          <p:nvPr/>
        </p:nvPicPr>
        <p:blipFill rotWithShape="1">
          <a:blip r:embed="rId6"/>
          <a:srcRect l="47719" t="70430" r="35447" b="7602"/>
          <a:stretch/>
        </p:blipFill>
        <p:spPr>
          <a:xfrm>
            <a:off x="11008726" y="1930920"/>
            <a:ext cx="1045029" cy="347967"/>
          </a:xfrm>
          <a:prstGeom prst="rect">
            <a:avLst/>
          </a:prstGeom>
        </p:spPr>
      </p:pic>
      <p:pic>
        <p:nvPicPr>
          <p:cNvPr id="8" name="Immagine 7">
            <a:extLst>
              <a:ext uri="{FF2B5EF4-FFF2-40B4-BE49-F238E27FC236}">
                <a16:creationId xmlns:a16="http://schemas.microsoft.com/office/drawing/2014/main" id="{E579F1E7-2935-F64E-99E7-12C4B418472B}"/>
              </a:ext>
            </a:extLst>
          </p:cNvPr>
          <p:cNvPicPr>
            <a:picLocks noChangeAspect="1"/>
          </p:cNvPicPr>
          <p:nvPr/>
        </p:nvPicPr>
        <p:blipFill>
          <a:blip r:embed="rId7"/>
          <a:stretch>
            <a:fillRect/>
          </a:stretch>
        </p:blipFill>
        <p:spPr>
          <a:xfrm>
            <a:off x="687657" y="2015210"/>
            <a:ext cx="5009359" cy="524790"/>
          </a:xfrm>
          <a:prstGeom prst="rect">
            <a:avLst/>
          </a:prstGeom>
        </p:spPr>
      </p:pic>
      <p:pic>
        <p:nvPicPr>
          <p:cNvPr id="9" name="Immagine 8" descr="Immagine che contiene testo, orologio&#10;&#10;Descrizione generata automaticamente">
            <a:extLst>
              <a:ext uri="{FF2B5EF4-FFF2-40B4-BE49-F238E27FC236}">
                <a16:creationId xmlns:a16="http://schemas.microsoft.com/office/drawing/2014/main" id="{A72709D8-8CEA-6E44-8EC9-A6908E01D8A0}"/>
              </a:ext>
            </a:extLst>
          </p:cNvPr>
          <p:cNvPicPr>
            <a:picLocks noChangeAspect="1"/>
          </p:cNvPicPr>
          <p:nvPr/>
        </p:nvPicPr>
        <p:blipFill>
          <a:blip r:embed="rId8"/>
          <a:stretch>
            <a:fillRect/>
          </a:stretch>
        </p:blipFill>
        <p:spPr>
          <a:xfrm>
            <a:off x="648945" y="2768600"/>
            <a:ext cx="2451100" cy="660400"/>
          </a:xfrm>
          <a:prstGeom prst="rect">
            <a:avLst/>
          </a:prstGeom>
        </p:spPr>
      </p:pic>
    </p:spTree>
    <p:extLst>
      <p:ext uri="{BB962C8B-B14F-4D97-AF65-F5344CB8AC3E}">
        <p14:creationId xmlns:p14="http://schemas.microsoft.com/office/powerpoint/2010/main" val="235736901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alphaModFix amt="50000"/>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7383529" y="2017961"/>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12" name="Immagine 11">
            <a:extLst>
              <a:ext uri="{FF2B5EF4-FFF2-40B4-BE49-F238E27FC236}">
                <a16:creationId xmlns:a16="http://schemas.microsoft.com/office/drawing/2014/main" id="{E8A84895-A388-C049-B6D5-399B6F267820}"/>
              </a:ext>
            </a:extLst>
          </p:cNvPr>
          <p:cNvPicPr>
            <a:picLocks noChangeAspect="1"/>
          </p:cNvPicPr>
          <p:nvPr/>
        </p:nvPicPr>
        <p:blipFill rotWithShape="1">
          <a:blip r:embed="rId5"/>
          <a:srcRect l="37508"/>
          <a:stretch/>
        </p:blipFill>
        <p:spPr>
          <a:xfrm>
            <a:off x="10891507" y="3454183"/>
            <a:ext cx="1300493" cy="462458"/>
          </a:xfrm>
          <a:prstGeom prst="rect">
            <a:avLst/>
          </a:prstGeom>
        </p:spPr>
      </p:pic>
      <p:pic>
        <p:nvPicPr>
          <p:cNvPr id="14" name="Immagine 13">
            <a:extLst>
              <a:ext uri="{FF2B5EF4-FFF2-40B4-BE49-F238E27FC236}">
                <a16:creationId xmlns:a16="http://schemas.microsoft.com/office/drawing/2014/main" id="{6A2CCF90-1FA1-7D45-AF73-52E17EA4FB34}"/>
              </a:ext>
            </a:extLst>
          </p:cNvPr>
          <p:cNvPicPr>
            <a:picLocks noChangeAspect="1"/>
          </p:cNvPicPr>
          <p:nvPr/>
        </p:nvPicPr>
        <p:blipFill rotWithShape="1">
          <a:blip r:embed="rId6"/>
          <a:srcRect l="47719" t="70430" r="35447" b="7602"/>
          <a:stretch/>
        </p:blipFill>
        <p:spPr>
          <a:xfrm>
            <a:off x="11008726" y="1930920"/>
            <a:ext cx="1045029" cy="347967"/>
          </a:xfrm>
          <a:prstGeom prst="rect">
            <a:avLst/>
          </a:prstGeom>
        </p:spPr>
      </p:pic>
      <p:pic>
        <p:nvPicPr>
          <p:cNvPr id="8" name="Immagine 7">
            <a:extLst>
              <a:ext uri="{FF2B5EF4-FFF2-40B4-BE49-F238E27FC236}">
                <a16:creationId xmlns:a16="http://schemas.microsoft.com/office/drawing/2014/main" id="{E579F1E7-2935-F64E-99E7-12C4B418472B}"/>
              </a:ext>
            </a:extLst>
          </p:cNvPr>
          <p:cNvPicPr>
            <a:picLocks noChangeAspect="1"/>
          </p:cNvPicPr>
          <p:nvPr/>
        </p:nvPicPr>
        <p:blipFill>
          <a:blip r:embed="rId7"/>
          <a:stretch>
            <a:fillRect/>
          </a:stretch>
        </p:blipFill>
        <p:spPr>
          <a:xfrm>
            <a:off x="687657" y="2015210"/>
            <a:ext cx="5009359" cy="524790"/>
          </a:xfrm>
          <a:prstGeom prst="rect">
            <a:avLst/>
          </a:prstGeom>
        </p:spPr>
      </p:pic>
      <p:sp>
        <p:nvSpPr>
          <p:cNvPr id="5" name="Figura a mano libera 4">
            <a:extLst>
              <a:ext uri="{FF2B5EF4-FFF2-40B4-BE49-F238E27FC236}">
                <a16:creationId xmlns:a16="http://schemas.microsoft.com/office/drawing/2014/main" id="{F531ACDD-CF0B-6649-B7F1-E69F1EBDA05A}"/>
              </a:ext>
            </a:extLst>
          </p:cNvPr>
          <p:cNvSpPr/>
          <p:nvPr/>
        </p:nvSpPr>
        <p:spPr>
          <a:xfrm>
            <a:off x="397042" y="1852863"/>
            <a:ext cx="4054642" cy="1744579"/>
          </a:xfrm>
          <a:custGeom>
            <a:avLst/>
            <a:gdLst>
              <a:gd name="connsiteX0" fmla="*/ 3164305 w 4054642"/>
              <a:gd name="connsiteY0" fmla="*/ 697832 h 1744579"/>
              <a:gd name="connsiteX1" fmla="*/ 3236495 w 4054642"/>
              <a:gd name="connsiteY1" fmla="*/ 782053 h 1744579"/>
              <a:gd name="connsiteX2" fmla="*/ 3272590 w 4054642"/>
              <a:gd name="connsiteY2" fmla="*/ 794084 h 1744579"/>
              <a:gd name="connsiteX3" fmla="*/ 3296653 w 4054642"/>
              <a:gd name="connsiteY3" fmla="*/ 818148 h 1744579"/>
              <a:gd name="connsiteX4" fmla="*/ 3368842 w 4054642"/>
              <a:gd name="connsiteY4" fmla="*/ 842211 h 1744579"/>
              <a:gd name="connsiteX5" fmla="*/ 3501190 w 4054642"/>
              <a:gd name="connsiteY5" fmla="*/ 878305 h 1744579"/>
              <a:gd name="connsiteX6" fmla="*/ 3753853 w 4054642"/>
              <a:gd name="connsiteY6" fmla="*/ 866274 h 1744579"/>
              <a:gd name="connsiteX7" fmla="*/ 3826042 w 4054642"/>
              <a:gd name="connsiteY7" fmla="*/ 854242 h 1744579"/>
              <a:gd name="connsiteX8" fmla="*/ 3934326 w 4054642"/>
              <a:gd name="connsiteY8" fmla="*/ 806116 h 1744579"/>
              <a:gd name="connsiteX9" fmla="*/ 3982453 w 4054642"/>
              <a:gd name="connsiteY9" fmla="*/ 745958 h 1744579"/>
              <a:gd name="connsiteX10" fmla="*/ 4006516 w 4054642"/>
              <a:gd name="connsiteY10" fmla="*/ 673769 h 1744579"/>
              <a:gd name="connsiteX11" fmla="*/ 4030579 w 4054642"/>
              <a:gd name="connsiteY11" fmla="*/ 577516 h 1744579"/>
              <a:gd name="connsiteX12" fmla="*/ 4054642 w 4054642"/>
              <a:gd name="connsiteY12" fmla="*/ 481263 h 1744579"/>
              <a:gd name="connsiteX13" fmla="*/ 4030579 w 4054642"/>
              <a:gd name="connsiteY13" fmla="*/ 288758 h 1744579"/>
              <a:gd name="connsiteX14" fmla="*/ 4006516 w 4054642"/>
              <a:gd name="connsiteY14" fmla="*/ 216569 h 1744579"/>
              <a:gd name="connsiteX15" fmla="*/ 3958390 w 4054642"/>
              <a:gd name="connsiteY15" fmla="*/ 144379 h 1744579"/>
              <a:gd name="connsiteX16" fmla="*/ 3838074 w 4054642"/>
              <a:gd name="connsiteY16" fmla="*/ 72190 h 1744579"/>
              <a:gd name="connsiteX17" fmla="*/ 3801979 w 4054642"/>
              <a:gd name="connsiteY17" fmla="*/ 60158 h 1744579"/>
              <a:gd name="connsiteX18" fmla="*/ 3765884 w 4054642"/>
              <a:gd name="connsiteY18" fmla="*/ 36095 h 1744579"/>
              <a:gd name="connsiteX19" fmla="*/ 3693695 w 4054642"/>
              <a:gd name="connsiteY19" fmla="*/ 12032 h 1744579"/>
              <a:gd name="connsiteX20" fmla="*/ 3657600 w 4054642"/>
              <a:gd name="connsiteY20" fmla="*/ 0 h 1744579"/>
              <a:gd name="connsiteX21" fmla="*/ 3320716 w 4054642"/>
              <a:gd name="connsiteY21" fmla="*/ 12032 h 1744579"/>
              <a:gd name="connsiteX22" fmla="*/ 3272590 w 4054642"/>
              <a:gd name="connsiteY22" fmla="*/ 24063 h 1744579"/>
              <a:gd name="connsiteX23" fmla="*/ 3200400 w 4054642"/>
              <a:gd name="connsiteY23" fmla="*/ 48126 h 1744579"/>
              <a:gd name="connsiteX24" fmla="*/ 3176337 w 4054642"/>
              <a:gd name="connsiteY24" fmla="*/ 72190 h 1744579"/>
              <a:gd name="connsiteX25" fmla="*/ 3140242 w 4054642"/>
              <a:gd name="connsiteY25" fmla="*/ 96253 h 1744579"/>
              <a:gd name="connsiteX26" fmla="*/ 3116179 w 4054642"/>
              <a:gd name="connsiteY26" fmla="*/ 132348 h 1744579"/>
              <a:gd name="connsiteX27" fmla="*/ 3080084 w 4054642"/>
              <a:gd name="connsiteY27" fmla="*/ 168442 h 1744579"/>
              <a:gd name="connsiteX28" fmla="*/ 3080084 w 4054642"/>
              <a:gd name="connsiteY28" fmla="*/ 324853 h 1744579"/>
              <a:gd name="connsiteX29" fmla="*/ 3092116 w 4054642"/>
              <a:gd name="connsiteY29" fmla="*/ 397042 h 1744579"/>
              <a:gd name="connsiteX30" fmla="*/ 3104147 w 4054642"/>
              <a:gd name="connsiteY30" fmla="*/ 493295 h 1744579"/>
              <a:gd name="connsiteX31" fmla="*/ 3092116 w 4054642"/>
              <a:gd name="connsiteY31" fmla="*/ 649705 h 1744579"/>
              <a:gd name="connsiteX32" fmla="*/ 2947737 w 4054642"/>
              <a:gd name="connsiteY32" fmla="*/ 685800 h 1744579"/>
              <a:gd name="connsiteX33" fmla="*/ 2863516 w 4054642"/>
              <a:gd name="connsiteY33" fmla="*/ 697832 h 1744579"/>
              <a:gd name="connsiteX34" fmla="*/ 1696453 w 4054642"/>
              <a:gd name="connsiteY34" fmla="*/ 709863 h 1744579"/>
              <a:gd name="connsiteX35" fmla="*/ 1540042 w 4054642"/>
              <a:gd name="connsiteY35" fmla="*/ 733926 h 1744579"/>
              <a:gd name="connsiteX36" fmla="*/ 1359569 w 4054642"/>
              <a:gd name="connsiteY36" fmla="*/ 757990 h 1744579"/>
              <a:gd name="connsiteX37" fmla="*/ 1299411 w 4054642"/>
              <a:gd name="connsiteY37" fmla="*/ 770021 h 1744579"/>
              <a:gd name="connsiteX38" fmla="*/ 1130969 w 4054642"/>
              <a:gd name="connsiteY38" fmla="*/ 794084 h 1744579"/>
              <a:gd name="connsiteX39" fmla="*/ 1022684 w 4054642"/>
              <a:gd name="connsiteY39" fmla="*/ 806116 h 1744579"/>
              <a:gd name="connsiteX40" fmla="*/ 962526 w 4054642"/>
              <a:gd name="connsiteY40" fmla="*/ 818148 h 1744579"/>
              <a:gd name="connsiteX41" fmla="*/ 878305 w 4054642"/>
              <a:gd name="connsiteY41" fmla="*/ 830179 h 1744579"/>
              <a:gd name="connsiteX42" fmla="*/ 697832 w 4054642"/>
              <a:gd name="connsiteY42" fmla="*/ 854242 h 1744579"/>
              <a:gd name="connsiteX43" fmla="*/ 649705 w 4054642"/>
              <a:gd name="connsiteY43" fmla="*/ 866274 h 1744579"/>
              <a:gd name="connsiteX44" fmla="*/ 589547 w 4054642"/>
              <a:gd name="connsiteY44" fmla="*/ 830179 h 1744579"/>
              <a:gd name="connsiteX45" fmla="*/ 553453 w 4054642"/>
              <a:gd name="connsiteY45" fmla="*/ 818148 h 1744579"/>
              <a:gd name="connsiteX46" fmla="*/ 517358 w 4054642"/>
              <a:gd name="connsiteY46" fmla="*/ 854242 h 1744579"/>
              <a:gd name="connsiteX47" fmla="*/ 481263 w 4054642"/>
              <a:gd name="connsiteY47" fmla="*/ 866274 h 1744579"/>
              <a:gd name="connsiteX48" fmla="*/ 348916 w 4054642"/>
              <a:gd name="connsiteY48" fmla="*/ 878305 h 1744579"/>
              <a:gd name="connsiteX49" fmla="*/ 264695 w 4054642"/>
              <a:gd name="connsiteY49" fmla="*/ 914400 h 1744579"/>
              <a:gd name="connsiteX50" fmla="*/ 192505 w 4054642"/>
              <a:gd name="connsiteY50" fmla="*/ 950495 h 1744579"/>
              <a:gd name="connsiteX51" fmla="*/ 132347 w 4054642"/>
              <a:gd name="connsiteY51" fmla="*/ 1022684 h 1744579"/>
              <a:gd name="connsiteX52" fmla="*/ 60158 w 4054642"/>
              <a:gd name="connsiteY52" fmla="*/ 1118937 h 1744579"/>
              <a:gd name="connsiteX53" fmla="*/ 36095 w 4054642"/>
              <a:gd name="connsiteY53" fmla="*/ 1191126 h 1744579"/>
              <a:gd name="connsiteX54" fmla="*/ 12032 w 4054642"/>
              <a:gd name="connsiteY54" fmla="*/ 1263316 h 1744579"/>
              <a:gd name="connsiteX55" fmla="*/ 0 w 4054642"/>
              <a:gd name="connsiteY55" fmla="*/ 1299411 h 1744579"/>
              <a:gd name="connsiteX56" fmla="*/ 24063 w 4054642"/>
              <a:gd name="connsiteY56" fmla="*/ 1455821 h 1744579"/>
              <a:gd name="connsiteX57" fmla="*/ 36095 w 4054642"/>
              <a:gd name="connsiteY57" fmla="*/ 1491916 h 1744579"/>
              <a:gd name="connsiteX58" fmla="*/ 48126 w 4054642"/>
              <a:gd name="connsiteY58" fmla="*/ 1540042 h 1744579"/>
              <a:gd name="connsiteX59" fmla="*/ 96253 w 4054642"/>
              <a:gd name="connsiteY59" fmla="*/ 1612232 h 1744579"/>
              <a:gd name="connsiteX60" fmla="*/ 156411 w 4054642"/>
              <a:gd name="connsiteY60" fmla="*/ 1672390 h 1744579"/>
              <a:gd name="connsiteX61" fmla="*/ 168442 w 4054642"/>
              <a:gd name="connsiteY61" fmla="*/ 1708484 h 1744579"/>
              <a:gd name="connsiteX62" fmla="*/ 192505 w 4054642"/>
              <a:gd name="connsiteY62" fmla="*/ 1744579 h 1744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054642" h="1744579">
                <a:moveTo>
                  <a:pt x="3164305" y="697832"/>
                </a:moveTo>
                <a:cubicBezTo>
                  <a:pt x="3188368" y="725906"/>
                  <a:pt x="3208859" y="757488"/>
                  <a:pt x="3236495" y="782053"/>
                </a:cubicBezTo>
                <a:cubicBezTo>
                  <a:pt x="3245974" y="790479"/>
                  <a:pt x="3261715" y="787559"/>
                  <a:pt x="3272590" y="794084"/>
                </a:cubicBezTo>
                <a:cubicBezTo>
                  <a:pt x="3282317" y="799920"/>
                  <a:pt x="3286507" y="813075"/>
                  <a:pt x="3296653" y="818148"/>
                </a:cubicBezTo>
                <a:cubicBezTo>
                  <a:pt x="3319340" y="829492"/>
                  <a:pt x="3344235" y="836059"/>
                  <a:pt x="3368842" y="842211"/>
                </a:cubicBezTo>
                <a:cubicBezTo>
                  <a:pt x="3477399" y="869350"/>
                  <a:pt x="3433720" y="855816"/>
                  <a:pt x="3501190" y="878305"/>
                </a:cubicBezTo>
                <a:cubicBezTo>
                  <a:pt x="3585411" y="874295"/>
                  <a:pt x="3669767" y="872503"/>
                  <a:pt x="3753853" y="866274"/>
                </a:cubicBezTo>
                <a:cubicBezTo>
                  <a:pt x="3778181" y="864472"/>
                  <a:pt x="3802375" y="860159"/>
                  <a:pt x="3826042" y="854242"/>
                </a:cubicBezTo>
                <a:cubicBezTo>
                  <a:pt x="3874613" y="842099"/>
                  <a:pt x="3898412" y="834847"/>
                  <a:pt x="3934326" y="806116"/>
                </a:cubicBezTo>
                <a:cubicBezTo>
                  <a:pt x="3958820" y="786521"/>
                  <a:pt x="3964584" y="772763"/>
                  <a:pt x="3982453" y="745958"/>
                </a:cubicBezTo>
                <a:cubicBezTo>
                  <a:pt x="3990474" y="721895"/>
                  <a:pt x="4000364" y="698376"/>
                  <a:pt x="4006516" y="673769"/>
                </a:cubicBezTo>
                <a:cubicBezTo>
                  <a:pt x="4014537" y="641685"/>
                  <a:pt x="4020121" y="608891"/>
                  <a:pt x="4030579" y="577516"/>
                </a:cubicBezTo>
                <a:cubicBezTo>
                  <a:pt x="4049078" y="522021"/>
                  <a:pt x="4040124" y="553857"/>
                  <a:pt x="4054642" y="481263"/>
                </a:cubicBezTo>
                <a:cubicBezTo>
                  <a:pt x="4046571" y="384406"/>
                  <a:pt x="4052498" y="361821"/>
                  <a:pt x="4030579" y="288758"/>
                </a:cubicBezTo>
                <a:cubicBezTo>
                  <a:pt x="4023290" y="264463"/>
                  <a:pt x="4020586" y="237674"/>
                  <a:pt x="4006516" y="216569"/>
                </a:cubicBezTo>
                <a:cubicBezTo>
                  <a:pt x="3990474" y="192506"/>
                  <a:pt x="3982453" y="160421"/>
                  <a:pt x="3958390" y="144379"/>
                </a:cubicBezTo>
                <a:cubicBezTo>
                  <a:pt x="3907070" y="110166"/>
                  <a:pt x="3889869" y="94388"/>
                  <a:pt x="3838074" y="72190"/>
                </a:cubicBezTo>
                <a:cubicBezTo>
                  <a:pt x="3826417" y="67194"/>
                  <a:pt x="3813323" y="65830"/>
                  <a:pt x="3801979" y="60158"/>
                </a:cubicBezTo>
                <a:cubicBezTo>
                  <a:pt x="3789045" y="53691"/>
                  <a:pt x="3779098" y="41968"/>
                  <a:pt x="3765884" y="36095"/>
                </a:cubicBezTo>
                <a:cubicBezTo>
                  <a:pt x="3742705" y="25793"/>
                  <a:pt x="3717758" y="20053"/>
                  <a:pt x="3693695" y="12032"/>
                </a:cubicBezTo>
                <a:lnTo>
                  <a:pt x="3657600" y="0"/>
                </a:lnTo>
                <a:cubicBezTo>
                  <a:pt x="3545305" y="4011"/>
                  <a:pt x="3432863" y="5023"/>
                  <a:pt x="3320716" y="12032"/>
                </a:cubicBezTo>
                <a:cubicBezTo>
                  <a:pt x="3304213" y="13063"/>
                  <a:pt x="3288428" y="19312"/>
                  <a:pt x="3272590" y="24063"/>
                </a:cubicBezTo>
                <a:cubicBezTo>
                  <a:pt x="3248295" y="31351"/>
                  <a:pt x="3200400" y="48126"/>
                  <a:pt x="3200400" y="48126"/>
                </a:cubicBezTo>
                <a:cubicBezTo>
                  <a:pt x="3192379" y="56147"/>
                  <a:pt x="3185195" y="65104"/>
                  <a:pt x="3176337" y="72190"/>
                </a:cubicBezTo>
                <a:cubicBezTo>
                  <a:pt x="3165046" y="81223"/>
                  <a:pt x="3150467" y="86028"/>
                  <a:pt x="3140242" y="96253"/>
                </a:cubicBezTo>
                <a:cubicBezTo>
                  <a:pt x="3130017" y="106478"/>
                  <a:pt x="3125436" y="121239"/>
                  <a:pt x="3116179" y="132348"/>
                </a:cubicBezTo>
                <a:cubicBezTo>
                  <a:pt x="3105286" y="145419"/>
                  <a:pt x="3092116" y="156411"/>
                  <a:pt x="3080084" y="168442"/>
                </a:cubicBezTo>
                <a:cubicBezTo>
                  <a:pt x="3056069" y="240492"/>
                  <a:pt x="3064374" y="199170"/>
                  <a:pt x="3080084" y="324853"/>
                </a:cubicBezTo>
                <a:cubicBezTo>
                  <a:pt x="3083110" y="349060"/>
                  <a:pt x="3088666" y="372892"/>
                  <a:pt x="3092116" y="397042"/>
                </a:cubicBezTo>
                <a:cubicBezTo>
                  <a:pt x="3096689" y="429051"/>
                  <a:pt x="3100137" y="461211"/>
                  <a:pt x="3104147" y="493295"/>
                </a:cubicBezTo>
                <a:cubicBezTo>
                  <a:pt x="3100137" y="545432"/>
                  <a:pt x="3114229" y="602320"/>
                  <a:pt x="3092116" y="649705"/>
                </a:cubicBezTo>
                <a:cubicBezTo>
                  <a:pt x="3084164" y="666745"/>
                  <a:pt x="2960907" y="683774"/>
                  <a:pt x="2947737" y="685800"/>
                </a:cubicBezTo>
                <a:cubicBezTo>
                  <a:pt x="2919708" y="690112"/>
                  <a:pt x="2891869" y="697287"/>
                  <a:pt x="2863516" y="697832"/>
                </a:cubicBezTo>
                <a:lnTo>
                  <a:pt x="1696453" y="709863"/>
                </a:lnTo>
                <a:cubicBezTo>
                  <a:pt x="1463724" y="738955"/>
                  <a:pt x="1705387" y="706369"/>
                  <a:pt x="1540042" y="733926"/>
                </a:cubicBezTo>
                <a:cubicBezTo>
                  <a:pt x="1394184" y="758235"/>
                  <a:pt x="1517742" y="733656"/>
                  <a:pt x="1359569" y="757990"/>
                </a:cubicBezTo>
                <a:cubicBezTo>
                  <a:pt x="1339357" y="761100"/>
                  <a:pt x="1319611" y="766832"/>
                  <a:pt x="1299411" y="770021"/>
                </a:cubicBezTo>
                <a:cubicBezTo>
                  <a:pt x="1243388" y="778867"/>
                  <a:pt x="1187339" y="787820"/>
                  <a:pt x="1130969" y="794084"/>
                </a:cubicBezTo>
                <a:cubicBezTo>
                  <a:pt x="1094874" y="798095"/>
                  <a:pt x="1058636" y="800980"/>
                  <a:pt x="1022684" y="806116"/>
                </a:cubicBezTo>
                <a:cubicBezTo>
                  <a:pt x="1002440" y="809008"/>
                  <a:pt x="982698" y="814786"/>
                  <a:pt x="962526" y="818148"/>
                </a:cubicBezTo>
                <a:cubicBezTo>
                  <a:pt x="934553" y="822810"/>
                  <a:pt x="906415" y="826431"/>
                  <a:pt x="878305" y="830179"/>
                </a:cubicBezTo>
                <a:cubicBezTo>
                  <a:pt x="839054" y="835412"/>
                  <a:pt x="739388" y="846686"/>
                  <a:pt x="697832" y="854242"/>
                </a:cubicBezTo>
                <a:cubicBezTo>
                  <a:pt x="681563" y="857200"/>
                  <a:pt x="665747" y="862263"/>
                  <a:pt x="649705" y="866274"/>
                </a:cubicBezTo>
                <a:cubicBezTo>
                  <a:pt x="547452" y="832188"/>
                  <a:pt x="672129" y="879727"/>
                  <a:pt x="589547" y="830179"/>
                </a:cubicBezTo>
                <a:cubicBezTo>
                  <a:pt x="578672" y="823654"/>
                  <a:pt x="565484" y="822158"/>
                  <a:pt x="553453" y="818148"/>
                </a:cubicBezTo>
                <a:cubicBezTo>
                  <a:pt x="541421" y="830179"/>
                  <a:pt x="531515" y="844804"/>
                  <a:pt x="517358" y="854242"/>
                </a:cubicBezTo>
                <a:cubicBezTo>
                  <a:pt x="506805" y="861277"/>
                  <a:pt x="493818" y="864480"/>
                  <a:pt x="481263" y="866274"/>
                </a:cubicBezTo>
                <a:cubicBezTo>
                  <a:pt x="437411" y="872539"/>
                  <a:pt x="393032" y="874295"/>
                  <a:pt x="348916" y="878305"/>
                </a:cubicBezTo>
                <a:cubicBezTo>
                  <a:pt x="308422" y="891803"/>
                  <a:pt x="306324" y="890612"/>
                  <a:pt x="264695" y="914400"/>
                </a:cubicBezTo>
                <a:cubicBezTo>
                  <a:pt x="199389" y="951718"/>
                  <a:pt x="258683" y="928435"/>
                  <a:pt x="192505" y="950495"/>
                </a:cubicBezTo>
                <a:cubicBezTo>
                  <a:pt x="106768" y="1036235"/>
                  <a:pt x="199349" y="938932"/>
                  <a:pt x="132347" y="1022684"/>
                </a:cubicBezTo>
                <a:cubicBezTo>
                  <a:pt x="99773" y="1063401"/>
                  <a:pt x="84140" y="1046990"/>
                  <a:pt x="60158" y="1118937"/>
                </a:cubicBezTo>
                <a:lnTo>
                  <a:pt x="36095" y="1191126"/>
                </a:lnTo>
                <a:lnTo>
                  <a:pt x="12032" y="1263316"/>
                </a:lnTo>
                <a:lnTo>
                  <a:pt x="0" y="1299411"/>
                </a:lnTo>
                <a:cubicBezTo>
                  <a:pt x="3836" y="1326261"/>
                  <a:pt x="17388" y="1425785"/>
                  <a:pt x="24063" y="1455821"/>
                </a:cubicBezTo>
                <a:cubicBezTo>
                  <a:pt x="26814" y="1468202"/>
                  <a:pt x="32611" y="1479721"/>
                  <a:pt x="36095" y="1491916"/>
                </a:cubicBezTo>
                <a:cubicBezTo>
                  <a:pt x="40638" y="1507815"/>
                  <a:pt x="40731" y="1525252"/>
                  <a:pt x="48126" y="1540042"/>
                </a:cubicBezTo>
                <a:cubicBezTo>
                  <a:pt x="61060" y="1565909"/>
                  <a:pt x="75803" y="1591782"/>
                  <a:pt x="96253" y="1612232"/>
                </a:cubicBezTo>
                <a:lnTo>
                  <a:pt x="156411" y="1672390"/>
                </a:lnTo>
                <a:cubicBezTo>
                  <a:pt x="160421" y="1684421"/>
                  <a:pt x="161917" y="1697609"/>
                  <a:pt x="168442" y="1708484"/>
                </a:cubicBezTo>
                <a:cubicBezTo>
                  <a:pt x="195341" y="1753316"/>
                  <a:pt x="192505" y="1714865"/>
                  <a:pt x="192505" y="1744579"/>
                </a:cubicBezTo>
              </a:path>
            </a:pathLst>
          </a:custGeom>
          <a:noFill/>
          <a:ln w="38100">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Immagine 14" descr="Immagine che contiene testo, orologio&#10;&#10;Descrizione generata automaticamente">
            <a:extLst>
              <a:ext uri="{FF2B5EF4-FFF2-40B4-BE49-F238E27FC236}">
                <a16:creationId xmlns:a16="http://schemas.microsoft.com/office/drawing/2014/main" id="{9723B692-3C4D-A54A-B204-6E0A86115DAD}"/>
              </a:ext>
            </a:extLst>
          </p:cNvPr>
          <p:cNvPicPr>
            <a:picLocks noChangeAspect="1"/>
          </p:cNvPicPr>
          <p:nvPr/>
        </p:nvPicPr>
        <p:blipFill>
          <a:blip r:embed="rId8"/>
          <a:stretch>
            <a:fillRect/>
          </a:stretch>
        </p:blipFill>
        <p:spPr>
          <a:xfrm>
            <a:off x="648945" y="2768600"/>
            <a:ext cx="2451100" cy="660400"/>
          </a:xfrm>
          <a:prstGeom prst="rect">
            <a:avLst/>
          </a:prstGeom>
        </p:spPr>
      </p:pic>
      <p:pic>
        <p:nvPicPr>
          <p:cNvPr id="10" name="Immagine 9">
            <a:extLst>
              <a:ext uri="{FF2B5EF4-FFF2-40B4-BE49-F238E27FC236}">
                <a16:creationId xmlns:a16="http://schemas.microsoft.com/office/drawing/2014/main" id="{C310FDAF-29E4-434E-9F6D-57E9EA86D95C}"/>
              </a:ext>
            </a:extLst>
          </p:cNvPr>
          <p:cNvPicPr>
            <a:picLocks noChangeAspect="1"/>
          </p:cNvPicPr>
          <p:nvPr/>
        </p:nvPicPr>
        <p:blipFill>
          <a:blip r:embed="rId9"/>
          <a:stretch>
            <a:fillRect/>
          </a:stretch>
        </p:blipFill>
        <p:spPr>
          <a:xfrm>
            <a:off x="552252" y="3586441"/>
            <a:ext cx="9639300" cy="660400"/>
          </a:xfrm>
          <a:prstGeom prst="rect">
            <a:avLst/>
          </a:prstGeom>
        </p:spPr>
      </p:pic>
    </p:spTree>
    <p:extLst>
      <p:ext uri="{BB962C8B-B14F-4D97-AF65-F5344CB8AC3E}">
        <p14:creationId xmlns:p14="http://schemas.microsoft.com/office/powerpoint/2010/main" val="155067500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alphaModFix amt="50000"/>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7383529" y="2017961"/>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12" name="Immagine 11">
            <a:extLst>
              <a:ext uri="{FF2B5EF4-FFF2-40B4-BE49-F238E27FC236}">
                <a16:creationId xmlns:a16="http://schemas.microsoft.com/office/drawing/2014/main" id="{E8A84895-A388-C049-B6D5-399B6F267820}"/>
              </a:ext>
            </a:extLst>
          </p:cNvPr>
          <p:cNvPicPr>
            <a:picLocks noChangeAspect="1"/>
          </p:cNvPicPr>
          <p:nvPr/>
        </p:nvPicPr>
        <p:blipFill rotWithShape="1">
          <a:blip r:embed="rId5"/>
          <a:srcRect l="37508"/>
          <a:stretch/>
        </p:blipFill>
        <p:spPr>
          <a:xfrm>
            <a:off x="10891507" y="3454183"/>
            <a:ext cx="1300493" cy="462458"/>
          </a:xfrm>
          <a:prstGeom prst="rect">
            <a:avLst/>
          </a:prstGeom>
        </p:spPr>
      </p:pic>
      <p:pic>
        <p:nvPicPr>
          <p:cNvPr id="14" name="Immagine 13">
            <a:extLst>
              <a:ext uri="{FF2B5EF4-FFF2-40B4-BE49-F238E27FC236}">
                <a16:creationId xmlns:a16="http://schemas.microsoft.com/office/drawing/2014/main" id="{6A2CCF90-1FA1-7D45-AF73-52E17EA4FB34}"/>
              </a:ext>
            </a:extLst>
          </p:cNvPr>
          <p:cNvPicPr>
            <a:picLocks noChangeAspect="1"/>
          </p:cNvPicPr>
          <p:nvPr/>
        </p:nvPicPr>
        <p:blipFill rotWithShape="1">
          <a:blip r:embed="rId6"/>
          <a:srcRect l="47719" t="70430" r="35447" b="7602"/>
          <a:stretch/>
        </p:blipFill>
        <p:spPr>
          <a:xfrm>
            <a:off x="11008726" y="1930920"/>
            <a:ext cx="1045029" cy="347967"/>
          </a:xfrm>
          <a:prstGeom prst="rect">
            <a:avLst/>
          </a:prstGeom>
        </p:spPr>
      </p:pic>
      <p:pic>
        <p:nvPicPr>
          <p:cNvPr id="8" name="Immagine 7">
            <a:extLst>
              <a:ext uri="{FF2B5EF4-FFF2-40B4-BE49-F238E27FC236}">
                <a16:creationId xmlns:a16="http://schemas.microsoft.com/office/drawing/2014/main" id="{E579F1E7-2935-F64E-99E7-12C4B418472B}"/>
              </a:ext>
            </a:extLst>
          </p:cNvPr>
          <p:cNvPicPr>
            <a:picLocks noChangeAspect="1"/>
          </p:cNvPicPr>
          <p:nvPr/>
        </p:nvPicPr>
        <p:blipFill>
          <a:blip r:embed="rId7"/>
          <a:stretch>
            <a:fillRect/>
          </a:stretch>
        </p:blipFill>
        <p:spPr>
          <a:xfrm>
            <a:off x="687657" y="2015210"/>
            <a:ext cx="5009359" cy="524790"/>
          </a:xfrm>
          <a:prstGeom prst="rect">
            <a:avLst/>
          </a:prstGeom>
        </p:spPr>
      </p:pic>
      <p:pic>
        <p:nvPicPr>
          <p:cNvPr id="9" name="Immagine 8">
            <a:extLst>
              <a:ext uri="{FF2B5EF4-FFF2-40B4-BE49-F238E27FC236}">
                <a16:creationId xmlns:a16="http://schemas.microsoft.com/office/drawing/2014/main" id="{FEFF6D61-8E63-B24A-B391-C8BC822CCEBD}"/>
              </a:ext>
            </a:extLst>
          </p:cNvPr>
          <p:cNvPicPr>
            <a:picLocks noChangeAspect="1"/>
          </p:cNvPicPr>
          <p:nvPr/>
        </p:nvPicPr>
        <p:blipFill>
          <a:blip r:embed="rId8"/>
          <a:stretch>
            <a:fillRect/>
          </a:stretch>
        </p:blipFill>
        <p:spPr>
          <a:xfrm>
            <a:off x="676399" y="2851110"/>
            <a:ext cx="4445000" cy="495300"/>
          </a:xfrm>
          <a:prstGeom prst="rect">
            <a:avLst/>
          </a:prstGeom>
        </p:spPr>
      </p:pic>
    </p:spTree>
    <p:extLst>
      <p:ext uri="{BB962C8B-B14F-4D97-AF65-F5344CB8AC3E}">
        <p14:creationId xmlns:p14="http://schemas.microsoft.com/office/powerpoint/2010/main" val="149671279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alphaModFix amt="50000"/>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7383529" y="2017961"/>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12" name="Immagine 11">
            <a:extLst>
              <a:ext uri="{FF2B5EF4-FFF2-40B4-BE49-F238E27FC236}">
                <a16:creationId xmlns:a16="http://schemas.microsoft.com/office/drawing/2014/main" id="{E8A84895-A388-C049-B6D5-399B6F267820}"/>
              </a:ext>
            </a:extLst>
          </p:cNvPr>
          <p:cNvPicPr>
            <a:picLocks noChangeAspect="1"/>
          </p:cNvPicPr>
          <p:nvPr/>
        </p:nvPicPr>
        <p:blipFill rotWithShape="1">
          <a:blip r:embed="rId5"/>
          <a:srcRect l="37508"/>
          <a:stretch/>
        </p:blipFill>
        <p:spPr>
          <a:xfrm>
            <a:off x="10891507" y="3454183"/>
            <a:ext cx="1300493" cy="462458"/>
          </a:xfrm>
          <a:prstGeom prst="rect">
            <a:avLst/>
          </a:prstGeom>
        </p:spPr>
      </p:pic>
      <p:pic>
        <p:nvPicPr>
          <p:cNvPr id="14" name="Immagine 13">
            <a:extLst>
              <a:ext uri="{FF2B5EF4-FFF2-40B4-BE49-F238E27FC236}">
                <a16:creationId xmlns:a16="http://schemas.microsoft.com/office/drawing/2014/main" id="{6A2CCF90-1FA1-7D45-AF73-52E17EA4FB34}"/>
              </a:ext>
            </a:extLst>
          </p:cNvPr>
          <p:cNvPicPr>
            <a:picLocks noChangeAspect="1"/>
          </p:cNvPicPr>
          <p:nvPr/>
        </p:nvPicPr>
        <p:blipFill rotWithShape="1">
          <a:blip r:embed="rId6"/>
          <a:srcRect l="47719" t="70430" r="35447" b="7602"/>
          <a:stretch/>
        </p:blipFill>
        <p:spPr>
          <a:xfrm>
            <a:off x="11008726" y="1930920"/>
            <a:ext cx="1045029" cy="347967"/>
          </a:xfrm>
          <a:prstGeom prst="rect">
            <a:avLst/>
          </a:prstGeom>
        </p:spPr>
      </p:pic>
      <p:pic>
        <p:nvPicPr>
          <p:cNvPr id="8" name="Immagine 7">
            <a:extLst>
              <a:ext uri="{FF2B5EF4-FFF2-40B4-BE49-F238E27FC236}">
                <a16:creationId xmlns:a16="http://schemas.microsoft.com/office/drawing/2014/main" id="{E579F1E7-2935-F64E-99E7-12C4B418472B}"/>
              </a:ext>
            </a:extLst>
          </p:cNvPr>
          <p:cNvPicPr>
            <a:picLocks noChangeAspect="1"/>
          </p:cNvPicPr>
          <p:nvPr/>
        </p:nvPicPr>
        <p:blipFill>
          <a:blip r:embed="rId7"/>
          <a:stretch>
            <a:fillRect/>
          </a:stretch>
        </p:blipFill>
        <p:spPr>
          <a:xfrm>
            <a:off x="687657" y="2015210"/>
            <a:ext cx="5009359" cy="524790"/>
          </a:xfrm>
          <a:prstGeom prst="rect">
            <a:avLst/>
          </a:prstGeom>
        </p:spPr>
      </p:pic>
      <p:sp>
        <p:nvSpPr>
          <p:cNvPr id="13" name="Figura a mano libera 12">
            <a:extLst>
              <a:ext uri="{FF2B5EF4-FFF2-40B4-BE49-F238E27FC236}">
                <a16:creationId xmlns:a16="http://schemas.microsoft.com/office/drawing/2014/main" id="{7BB2E2DA-B576-5C43-8B74-6C06AC224250}"/>
              </a:ext>
            </a:extLst>
          </p:cNvPr>
          <p:cNvSpPr/>
          <p:nvPr/>
        </p:nvSpPr>
        <p:spPr>
          <a:xfrm>
            <a:off x="397042" y="1852863"/>
            <a:ext cx="5562556" cy="1744579"/>
          </a:xfrm>
          <a:custGeom>
            <a:avLst/>
            <a:gdLst>
              <a:gd name="connsiteX0" fmla="*/ 3164305 w 4054642"/>
              <a:gd name="connsiteY0" fmla="*/ 697832 h 1744579"/>
              <a:gd name="connsiteX1" fmla="*/ 3236495 w 4054642"/>
              <a:gd name="connsiteY1" fmla="*/ 782053 h 1744579"/>
              <a:gd name="connsiteX2" fmla="*/ 3272590 w 4054642"/>
              <a:gd name="connsiteY2" fmla="*/ 794084 h 1744579"/>
              <a:gd name="connsiteX3" fmla="*/ 3296653 w 4054642"/>
              <a:gd name="connsiteY3" fmla="*/ 818148 h 1744579"/>
              <a:gd name="connsiteX4" fmla="*/ 3368842 w 4054642"/>
              <a:gd name="connsiteY4" fmla="*/ 842211 h 1744579"/>
              <a:gd name="connsiteX5" fmla="*/ 3501190 w 4054642"/>
              <a:gd name="connsiteY5" fmla="*/ 878305 h 1744579"/>
              <a:gd name="connsiteX6" fmla="*/ 3753853 w 4054642"/>
              <a:gd name="connsiteY6" fmla="*/ 866274 h 1744579"/>
              <a:gd name="connsiteX7" fmla="*/ 3826042 w 4054642"/>
              <a:gd name="connsiteY7" fmla="*/ 854242 h 1744579"/>
              <a:gd name="connsiteX8" fmla="*/ 3934326 w 4054642"/>
              <a:gd name="connsiteY8" fmla="*/ 806116 h 1744579"/>
              <a:gd name="connsiteX9" fmla="*/ 3982453 w 4054642"/>
              <a:gd name="connsiteY9" fmla="*/ 745958 h 1744579"/>
              <a:gd name="connsiteX10" fmla="*/ 4006516 w 4054642"/>
              <a:gd name="connsiteY10" fmla="*/ 673769 h 1744579"/>
              <a:gd name="connsiteX11" fmla="*/ 4030579 w 4054642"/>
              <a:gd name="connsiteY11" fmla="*/ 577516 h 1744579"/>
              <a:gd name="connsiteX12" fmla="*/ 4054642 w 4054642"/>
              <a:gd name="connsiteY12" fmla="*/ 481263 h 1744579"/>
              <a:gd name="connsiteX13" fmla="*/ 4030579 w 4054642"/>
              <a:gd name="connsiteY13" fmla="*/ 288758 h 1744579"/>
              <a:gd name="connsiteX14" fmla="*/ 4006516 w 4054642"/>
              <a:gd name="connsiteY14" fmla="*/ 216569 h 1744579"/>
              <a:gd name="connsiteX15" fmla="*/ 3958390 w 4054642"/>
              <a:gd name="connsiteY15" fmla="*/ 144379 h 1744579"/>
              <a:gd name="connsiteX16" fmla="*/ 3838074 w 4054642"/>
              <a:gd name="connsiteY16" fmla="*/ 72190 h 1744579"/>
              <a:gd name="connsiteX17" fmla="*/ 3801979 w 4054642"/>
              <a:gd name="connsiteY17" fmla="*/ 60158 h 1744579"/>
              <a:gd name="connsiteX18" fmla="*/ 3765884 w 4054642"/>
              <a:gd name="connsiteY18" fmla="*/ 36095 h 1744579"/>
              <a:gd name="connsiteX19" fmla="*/ 3693695 w 4054642"/>
              <a:gd name="connsiteY19" fmla="*/ 12032 h 1744579"/>
              <a:gd name="connsiteX20" fmla="*/ 3657600 w 4054642"/>
              <a:gd name="connsiteY20" fmla="*/ 0 h 1744579"/>
              <a:gd name="connsiteX21" fmla="*/ 3320716 w 4054642"/>
              <a:gd name="connsiteY21" fmla="*/ 12032 h 1744579"/>
              <a:gd name="connsiteX22" fmla="*/ 3272590 w 4054642"/>
              <a:gd name="connsiteY22" fmla="*/ 24063 h 1744579"/>
              <a:gd name="connsiteX23" fmla="*/ 3200400 w 4054642"/>
              <a:gd name="connsiteY23" fmla="*/ 48126 h 1744579"/>
              <a:gd name="connsiteX24" fmla="*/ 3176337 w 4054642"/>
              <a:gd name="connsiteY24" fmla="*/ 72190 h 1744579"/>
              <a:gd name="connsiteX25" fmla="*/ 3140242 w 4054642"/>
              <a:gd name="connsiteY25" fmla="*/ 96253 h 1744579"/>
              <a:gd name="connsiteX26" fmla="*/ 3116179 w 4054642"/>
              <a:gd name="connsiteY26" fmla="*/ 132348 h 1744579"/>
              <a:gd name="connsiteX27" fmla="*/ 3080084 w 4054642"/>
              <a:gd name="connsiteY27" fmla="*/ 168442 h 1744579"/>
              <a:gd name="connsiteX28" fmla="*/ 3080084 w 4054642"/>
              <a:gd name="connsiteY28" fmla="*/ 324853 h 1744579"/>
              <a:gd name="connsiteX29" fmla="*/ 3092116 w 4054642"/>
              <a:gd name="connsiteY29" fmla="*/ 397042 h 1744579"/>
              <a:gd name="connsiteX30" fmla="*/ 3104147 w 4054642"/>
              <a:gd name="connsiteY30" fmla="*/ 493295 h 1744579"/>
              <a:gd name="connsiteX31" fmla="*/ 3092116 w 4054642"/>
              <a:gd name="connsiteY31" fmla="*/ 649705 h 1744579"/>
              <a:gd name="connsiteX32" fmla="*/ 2947737 w 4054642"/>
              <a:gd name="connsiteY32" fmla="*/ 685800 h 1744579"/>
              <a:gd name="connsiteX33" fmla="*/ 2863516 w 4054642"/>
              <a:gd name="connsiteY33" fmla="*/ 697832 h 1744579"/>
              <a:gd name="connsiteX34" fmla="*/ 1696453 w 4054642"/>
              <a:gd name="connsiteY34" fmla="*/ 709863 h 1744579"/>
              <a:gd name="connsiteX35" fmla="*/ 1540042 w 4054642"/>
              <a:gd name="connsiteY35" fmla="*/ 733926 h 1744579"/>
              <a:gd name="connsiteX36" fmla="*/ 1359569 w 4054642"/>
              <a:gd name="connsiteY36" fmla="*/ 757990 h 1744579"/>
              <a:gd name="connsiteX37" fmla="*/ 1299411 w 4054642"/>
              <a:gd name="connsiteY37" fmla="*/ 770021 h 1744579"/>
              <a:gd name="connsiteX38" fmla="*/ 1130969 w 4054642"/>
              <a:gd name="connsiteY38" fmla="*/ 794084 h 1744579"/>
              <a:gd name="connsiteX39" fmla="*/ 1022684 w 4054642"/>
              <a:gd name="connsiteY39" fmla="*/ 806116 h 1744579"/>
              <a:gd name="connsiteX40" fmla="*/ 962526 w 4054642"/>
              <a:gd name="connsiteY40" fmla="*/ 818148 h 1744579"/>
              <a:gd name="connsiteX41" fmla="*/ 878305 w 4054642"/>
              <a:gd name="connsiteY41" fmla="*/ 830179 h 1744579"/>
              <a:gd name="connsiteX42" fmla="*/ 697832 w 4054642"/>
              <a:gd name="connsiteY42" fmla="*/ 854242 h 1744579"/>
              <a:gd name="connsiteX43" fmla="*/ 649705 w 4054642"/>
              <a:gd name="connsiteY43" fmla="*/ 866274 h 1744579"/>
              <a:gd name="connsiteX44" fmla="*/ 589547 w 4054642"/>
              <a:gd name="connsiteY44" fmla="*/ 830179 h 1744579"/>
              <a:gd name="connsiteX45" fmla="*/ 553453 w 4054642"/>
              <a:gd name="connsiteY45" fmla="*/ 818148 h 1744579"/>
              <a:gd name="connsiteX46" fmla="*/ 517358 w 4054642"/>
              <a:gd name="connsiteY46" fmla="*/ 854242 h 1744579"/>
              <a:gd name="connsiteX47" fmla="*/ 481263 w 4054642"/>
              <a:gd name="connsiteY47" fmla="*/ 866274 h 1744579"/>
              <a:gd name="connsiteX48" fmla="*/ 348916 w 4054642"/>
              <a:gd name="connsiteY48" fmla="*/ 878305 h 1744579"/>
              <a:gd name="connsiteX49" fmla="*/ 264695 w 4054642"/>
              <a:gd name="connsiteY49" fmla="*/ 914400 h 1744579"/>
              <a:gd name="connsiteX50" fmla="*/ 192505 w 4054642"/>
              <a:gd name="connsiteY50" fmla="*/ 950495 h 1744579"/>
              <a:gd name="connsiteX51" fmla="*/ 132347 w 4054642"/>
              <a:gd name="connsiteY51" fmla="*/ 1022684 h 1744579"/>
              <a:gd name="connsiteX52" fmla="*/ 60158 w 4054642"/>
              <a:gd name="connsiteY52" fmla="*/ 1118937 h 1744579"/>
              <a:gd name="connsiteX53" fmla="*/ 36095 w 4054642"/>
              <a:gd name="connsiteY53" fmla="*/ 1191126 h 1744579"/>
              <a:gd name="connsiteX54" fmla="*/ 12032 w 4054642"/>
              <a:gd name="connsiteY54" fmla="*/ 1263316 h 1744579"/>
              <a:gd name="connsiteX55" fmla="*/ 0 w 4054642"/>
              <a:gd name="connsiteY55" fmla="*/ 1299411 h 1744579"/>
              <a:gd name="connsiteX56" fmla="*/ 24063 w 4054642"/>
              <a:gd name="connsiteY56" fmla="*/ 1455821 h 1744579"/>
              <a:gd name="connsiteX57" fmla="*/ 36095 w 4054642"/>
              <a:gd name="connsiteY57" fmla="*/ 1491916 h 1744579"/>
              <a:gd name="connsiteX58" fmla="*/ 48126 w 4054642"/>
              <a:gd name="connsiteY58" fmla="*/ 1540042 h 1744579"/>
              <a:gd name="connsiteX59" fmla="*/ 96253 w 4054642"/>
              <a:gd name="connsiteY59" fmla="*/ 1612232 h 1744579"/>
              <a:gd name="connsiteX60" fmla="*/ 156411 w 4054642"/>
              <a:gd name="connsiteY60" fmla="*/ 1672390 h 1744579"/>
              <a:gd name="connsiteX61" fmla="*/ 168442 w 4054642"/>
              <a:gd name="connsiteY61" fmla="*/ 1708484 h 1744579"/>
              <a:gd name="connsiteX62" fmla="*/ 192505 w 4054642"/>
              <a:gd name="connsiteY62" fmla="*/ 1744579 h 1744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054642" h="1744579">
                <a:moveTo>
                  <a:pt x="3164305" y="697832"/>
                </a:moveTo>
                <a:cubicBezTo>
                  <a:pt x="3188368" y="725906"/>
                  <a:pt x="3208859" y="757488"/>
                  <a:pt x="3236495" y="782053"/>
                </a:cubicBezTo>
                <a:cubicBezTo>
                  <a:pt x="3245974" y="790479"/>
                  <a:pt x="3261715" y="787559"/>
                  <a:pt x="3272590" y="794084"/>
                </a:cubicBezTo>
                <a:cubicBezTo>
                  <a:pt x="3282317" y="799920"/>
                  <a:pt x="3286507" y="813075"/>
                  <a:pt x="3296653" y="818148"/>
                </a:cubicBezTo>
                <a:cubicBezTo>
                  <a:pt x="3319340" y="829492"/>
                  <a:pt x="3344235" y="836059"/>
                  <a:pt x="3368842" y="842211"/>
                </a:cubicBezTo>
                <a:cubicBezTo>
                  <a:pt x="3477399" y="869350"/>
                  <a:pt x="3433720" y="855816"/>
                  <a:pt x="3501190" y="878305"/>
                </a:cubicBezTo>
                <a:cubicBezTo>
                  <a:pt x="3585411" y="874295"/>
                  <a:pt x="3669767" y="872503"/>
                  <a:pt x="3753853" y="866274"/>
                </a:cubicBezTo>
                <a:cubicBezTo>
                  <a:pt x="3778181" y="864472"/>
                  <a:pt x="3802375" y="860159"/>
                  <a:pt x="3826042" y="854242"/>
                </a:cubicBezTo>
                <a:cubicBezTo>
                  <a:pt x="3874613" y="842099"/>
                  <a:pt x="3898412" y="834847"/>
                  <a:pt x="3934326" y="806116"/>
                </a:cubicBezTo>
                <a:cubicBezTo>
                  <a:pt x="3958820" y="786521"/>
                  <a:pt x="3964584" y="772763"/>
                  <a:pt x="3982453" y="745958"/>
                </a:cubicBezTo>
                <a:cubicBezTo>
                  <a:pt x="3990474" y="721895"/>
                  <a:pt x="4000364" y="698376"/>
                  <a:pt x="4006516" y="673769"/>
                </a:cubicBezTo>
                <a:cubicBezTo>
                  <a:pt x="4014537" y="641685"/>
                  <a:pt x="4020121" y="608891"/>
                  <a:pt x="4030579" y="577516"/>
                </a:cubicBezTo>
                <a:cubicBezTo>
                  <a:pt x="4049078" y="522021"/>
                  <a:pt x="4040124" y="553857"/>
                  <a:pt x="4054642" y="481263"/>
                </a:cubicBezTo>
                <a:cubicBezTo>
                  <a:pt x="4046571" y="384406"/>
                  <a:pt x="4052498" y="361821"/>
                  <a:pt x="4030579" y="288758"/>
                </a:cubicBezTo>
                <a:cubicBezTo>
                  <a:pt x="4023290" y="264463"/>
                  <a:pt x="4020586" y="237674"/>
                  <a:pt x="4006516" y="216569"/>
                </a:cubicBezTo>
                <a:cubicBezTo>
                  <a:pt x="3990474" y="192506"/>
                  <a:pt x="3982453" y="160421"/>
                  <a:pt x="3958390" y="144379"/>
                </a:cubicBezTo>
                <a:cubicBezTo>
                  <a:pt x="3907070" y="110166"/>
                  <a:pt x="3889869" y="94388"/>
                  <a:pt x="3838074" y="72190"/>
                </a:cubicBezTo>
                <a:cubicBezTo>
                  <a:pt x="3826417" y="67194"/>
                  <a:pt x="3813323" y="65830"/>
                  <a:pt x="3801979" y="60158"/>
                </a:cubicBezTo>
                <a:cubicBezTo>
                  <a:pt x="3789045" y="53691"/>
                  <a:pt x="3779098" y="41968"/>
                  <a:pt x="3765884" y="36095"/>
                </a:cubicBezTo>
                <a:cubicBezTo>
                  <a:pt x="3742705" y="25793"/>
                  <a:pt x="3717758" y="20053"/>
                  <a:pt x="3693695" y="12032"/>
                </a:cubicBezTo>
                <a:lnTo>
                  <a:pt x="3657600" y="0"/>
                </a:lnTo>
                <a:cubicBezTo>
                  <a:pt x="3545305" y="4011"/>
                  <a:pt x="3432863" y="5023"/>
                  <a:pt x="3320716" y="12032"/>
                </a:cubicBezTo>
                <a:cubicBezTo>
                  <a:pt x="3304213" y="13063"/>
                  <a:pt x="3288428" y="19312"/>
                  <a:pt x="3272590" y="24063"/>
                </a:cubicBezTo>
                <a:cubicBezTo>
                  <a:pt x="3248295" y="31351"/>
                  <a:pt x="3200400" y="48126"/>
                  <a:pt x="3200400" y="48126"/>
                </a:cubicBezTo>
                <a:cubicBezTo>
                  <a:pt x="3192379" y="56147"/>
                  <a:pt x="3185195" y="65104"/>
                  <a:pt x="3176337" y="72190"/>
                </a:cubicBezTo>
                <a:cubicBezTo>
                  <a:pt x="3165046" y="81223"/>
                  <a:pt x="3150467" y="86028"/>
                  <a:pt x="3140242" y="96253"/>
                </a:cubicBezTo>
                <a:cubicBezTo>
                  <a:pt x="3130017" y="106478"/>
                  <a:pt x="3125436" y="121239"/>
                  <a:pt x="3116179" y="132348"/>
                </a:cubicBezTo>
                <a:cubicBezTo>
                  <a:pt x="3105286" y="145419"/>
                  <a:pt x="3092116" y="156411"/>
                  <a:pt x="3080084" y="168442"/>
                </a:cubicBezTo>
                <a:cubicBezTo>
                  <a:pt x="3056069" y="240492"/>
                  <a:pt x="3064374" y="199170"/>
                  <a:pt x="3080084" y="324853"/>
                </a:cubicBezTo>
                <a:cubicBezTo>
                  <a:pt x="3083110" y="349060"/>
                  <a:pt x="3088666" y="372892"/>
                  <a:pt x="3092116" y="397042"/>
                </a:cubicBezTo>
                <a:cubicBezTo>
                  <a:pt x="3096689" y="429051"/>
                  <a:pt x="3100137" y="461211"/>
                  <a:pt x="3104147" y="493295"/>
                </a:cubicBezTo>
                <a:cubicBezTo>
                  <a:pt x="3100137" y="545432"/>
                  <a:pt x="3114229" y="602320"/>
                  <a:pt x="3092116" y="649705"/>
                </a:cubicBezTo>
                <a:cubicBezTo>
                  <a:pt x="3084164" y="666745"/>
                  <a:pt x="2960907" y="683774"/>
                  <a:pt x="2947737" y="685800"/>
                </a:cubicBezTo>
                <a:cubicBezTo>
                  <a:pt x="2919708" y="690112"/>
                  <a:pt x="2891869" y="697287"/>
                  <a:pt x="2863516" y="697832"/>
                </a:cubicBezTo>
                <a:lnTo>
                  <a:pt x="1696453" y="709863"/>
                </a:lnTo>
                <a:cubicBezTo>
                  <a:pt x="1463724" y="738955"/>
                  <a:pt x="1705387" y="706369"/>
                  <a:pt x="1540042" y="733926"/>
                </a:cubicBezTo>
                <a:cubicBezTo>
                  <a:pt x="1394184" y="758235"/>
                  <a:pt x="1517742" y="733656"/>
                  <a:pt x="1359569" y="757990"/>
                </a:cubicBezTo>
                <a:cubicBezTo>
                  <a:pt x="1339357" y="761100"/>
                  <a:pt x="1319611" y="766832"/>
                  <a:pt x="1299411" y="770021"/>
                </a:cubicBezTo>
                <a:cubicBezTo>
                  <a:pt x="1243388" y="778867"/>
                  <a:pt x="1187339" y="787820"/>
                  <a:pt x="1130969" y="794084"/>
                </a:cubicBezTo>
                <a:cubicBezTo>
                  <a:pt x="1094874" y="798095"/>
                  <a:pt x="1058636" y="800980"/>
                  <a:pt x="1022684" y="806116"/>
                </a:cubicBezTo>
                <a:cubicBezTo>
                  <a:pt x="1002440" y="809008"/>
                  <a:pt x="982698" y="814786"/>
                  <a:pt x="962526" y="818148"/>
                </a:cubicBezTo>
                <a:cubicBezTo>
                  <a:pt x="934553" y="822810"/>
                  <a:pt x="906415" y="826431"/>
                  <a:pt x="878305" y="830179"/>
                </a:cubicBezTo>
                <a:cubicBezTo>
                  <a:pt x="839054" y="835412"/>
                  <a:pt x="739388" y="846686"/>
                  <a:pt x="697832" y="854242"/>
                </a:cubicBezTo>
                <a:cubicBezTo>
                  <a:pt x="681563" y="857200"/>
                  <a:pt x="665747" y="862263"/>
                  <a:pt x="649705" y="866274"/>
                </a:cubicBezTo>
                <a:cubicBezTo>
                  <a:pt x="547452" y="832188"/>
                  <a:pt x="672129" y="879727"/>
                  <a:pt x="589547" y="830179"/>
                </a:cubicBezTo>
                <a:cubicBezTo>
                  <a:pt x="578672" y="823654"/>
                  <a:pt x="565484" y="822158"/>
                  <a:pt x="553453" y="818148"/>
                </a:cubicBezTo>
                <a:cubicBezTo>
                  <a:pt x="541421" y="830179"/>
                  <a:pt x="531515" y="844804"/>
                  <a:pt x="517358" y="854242"/>
                </a:cubicBezTo>
                <a:cubicBezTo>
                  <a:pt x="506805" y="861277"/>
                  <a:pt x="493818" y="864480"/>
                  <a:pt x="481263" y="866274"/>
                </a:cubicBezTo>
                <a:cubicBezTo>
                  <a:pt x="437411" y="872539"/>
                  <a:pt x="393032" y="874295"/>
                  <a:pt x="348916" y="878305"/>
                </a:cubicBezTo>
                <a:cubicBezTo>
                  <a:pt x="308422" y="891803"/>
                  <a:pt x="306324" y="890612"/>
                  <a:pt x="264695" y="914400"/>
                </a:cubicBezTo>
                <a:cubicBezTo>
                  <a:pt x="199389" y="951718"/>
                  <a:pt x="258683" y="928435"/>
                  <a:pt x="192505" y="950495"/>
                </a:cubicBezTo>
                <a:cubicBezTo>
                  <a:pt x="106768" y="1036235"/>
                  <a:pt x="199349" y="938932"/>
                  <a:pt x="132347" y="1022684"/>
                </a:cubicBezTo>
                <a:cubicBezTo>
                  <a:pt x="99773" y="1063401"/>
                  <a:pt x="84140" y="1046990"/>
                  <a:pt x="60158" y="1118937"/>
                </a:cubicBezTo>
                <a:lnTo>
                  <a:pt x="36095" y="1191126"/>
                </a:lnTo>
                <a:lnTo>
                  <a:pt x="12032" y="1263316"/>
                </a:lnTo>
                <a:lnTo>
                  <a:pt x="0" y="1299411"/>
                </a:lnTo>
                <a:cubicBezTo>
                  <a:pt x="3836" y="1326261"/>
                  <a:pt x="17388" y="1425785"/>
                  <a:pt x="24063" y="1455821"/>
                </a:cubicBezTo>
                <a:cubicBezTo>
                  <a:pt x="26814" y="1468202"/>
                  <a:pt x="32611" y="1479721"/>
                  <a:pt x="36095" y="1491916"/>
                </a:cubicBezTo>
                <a:cubicBezTo>
                  <a:pt x="40638" y="1507815"/>
                  <a:pt x="40731" y="1525252"/>
                  <a:pt x="48126" y="1540042"/>
                </a:cubicBezTo>
                <a:cubicBezTo>
                  <a:pt x="61060" y="1565909"/>
                  <a:pt x="75803" y="1591782"/>
                  <a:pt x="96253" y="1612232"/>
                </a:cubicBezTo>
                <a:lnTo>
                  <a:pt x="156411" y="1672390"/>
                </a:lnTo>
                <a:cubicBezTo>
                  <a:pt x="160421" y="1684421"/>
                  <a:pt x="161917" y="1697609"/>
                  <a:pt x="168442" y="1708484"/>
                </a:cubicBezTo>
                <a:cubicBezTo>
                  <a:pt x="195341" y="1753316"/>
                  <a:pt x="192505" y="1714865"/>
                  <a:pt x="192505" y="1744579"/>
                </a:cubicBezTo>
              </a:path>
            </a:pathLst>
          </a:custGeom>
          <a:noFill/>
          <a:ln w="38100">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Immagine 14">
            <a:extLst>
              <a:ext uri="{FF2B5EF4-FFF2-40B4-BE49-F238E27FC236}">
                <a16:creationId xmlns:a16="http://schemas.microsoft.com/office/drawing/2014/main" id="{66428949-1447-E14F-8A2D-336D738701AB}"/>
              </a:ext>
            </a:extLst>
          </p:cNvPr>
          <p:cNvPicPr>
            <a:picLocks noChangeAspect="1"/>
          </p:cNvPicPr>
          <p:nvPr/>
        </p:nvPicPr>
        <p:blipFill>
          <a:blip r:embed="rId8"/>
          <a:stretch>
            <a:fillRect/>
          </a:stretch>
        </p:blipFill>
        <p:spPr>
          <a:xfrm>
            <a:off x="676399" y="2851110"/>
            <a:ext cx="4445000" cy="495300"/>
          </a:xfrm>
          <a:prstGeom prst="rect">
            <a:avLst/>
          </a:prstGeom>
        </p:spPr>
      </p:pic>
      <p:pic>
        <p:nvPicPr>
          <p:cNvPr id="9" name="Immagine 8">
            <a:extLst>
              <a:ext uri="{FF2B5EF4-FFF2-40B4-BE49-F238E27FC236}">
                <a16:creationId xmlns:a16="http://schemas.microsoft.com/office/drawing/2014/main" id="{6586CC0E-D7ED-B34E-BC58-737249EF7C3F}"/>
              </a:ext>
            </a:extLst>
          </p:cNvPr>
          <p:cNvPicPr>
            <a:picLocks noChangeAspect="1"/>
          </p:cNvPicPr>
          <p:nvPr/>
        </p:nvPicPr>
        <p:blipFill>
          <a:blip r:embed="rId9"/>
          <a:stretch>
            <a:fillRect/>
          </a:stretch>
        </p:blipFill>
        <p:spPr>
          <a:xfrm>
            <a:off x="666301" y="3389050"/>
            <a:ext cx="2994782" cy="741133"/>
          </a:xfrm>
          <a:prstGeom prst="rect">
            <a:avLst/>
          </a:prstGeom>
        </p:spPr>
      </p:pic>
    </p:spTree>
    <p:extLst>
      <p:ext uri="{BB962C8B-B14F-4D97-AF65-F5344CB8AC3E}">
        <p14:creationId xmlns:p14="http://schemas.microsoft.com/office/powerpoint/2010/main" val="188907620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alphaModFix amt="50000"/>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7383529" y="2017961"/>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12" name="Immagine 11">
            <a:extLst>
              <a:ext uri="{FF2B5EF4-FFF2-40B4-BE49-F238E27FC236}">
                <a16:creationId xmlns:a16="http://schemas.microsoft.com/office/drawing/2014/main" id="{E8A84895-A388-C049-B6D5-399B6F267820}"/>
              </a:ext>
            </a:extLst>
          </p:cNvPr>
          <p:cNvPicPr>
            <a:picLocks noChangeAspect="1"/>
          </p:cNvPicPr>
          <p:nvPr/>
        </p:nvPicPr>
        <p:blipFill rotWithShape="1">
          <a:blip r:embed="rId5"/>
          <a:srcRect l="37508"/>
          <a:stretch/>
        </p:blipFill>
        <p:spPr>
          <a:xfrm>
            <a:off x="10891507" y="3454183"/>
            <a:ext cx="1300493" cy="462458"/>
          </a:xfrm>
          <a:prstGeom prst="rect">
            <a:avLst/>
          </a:prstGeom>
        </p:spPr>
      </p:pic>
      <p:pic>
        <p:nvPicPr>
          <p:cNvPr id="14" name="Immagine 13">
            <a:extLst>
              <a:ext uri="{FF2B5EF4-FFF2-40B4-BE49-F238E27FC236}">
                <a16:creationId xmlns:a16="http://schemas.microsoft.com/office/drawing/2014/main" id="{6A2CCF90-1FA1-7D45-AF73-52E17EA4FB34}"/>
              </a:ext>
            </a:extLst>
          </p:cNvPr>
          <p:cNvPicPr>
            <a:picLocks noChangeAspect="1"/>
          </p:cNvPicPr>
          <p:nvPr/>
        </p:nvPicPr>
        <p:blipFill rotWithShape="1">
          <a:blip r:embed="rId6"/>
          <a:srcRect l="47719" t="70430" r="35447" b="7602"/>
          <a:stretch/>
        </p:blipFill>
        <p:spPr>
          <a:xfrm>
            <a:off x="11008726" y="1930920"/>
            <a:ext cx="1045029" cy="347967"/>
          </a:xfrm>
          <a:prstGeom prst="rect">
            <a:avLst/>
          </a:prstGeom>
        </p:spPr>
      </p:pic>
      <p:pic>
        <p:nvPicPr>
          <p:cNvPr id="8" name="Immagine 7">
            <a:extLst>
              <a:ext uri="{FF2B5EF4-FFF2-40B4-BE49-F238E27FC236}">
                <a16:creationId xmlns:a16="http://schemas.microsoft.com/office/drawing/2014/main" id="{E579F1E7-2935-F64E-99E7-12C4B418472B}"/>
              </a:ext>
            </a:extLst>
          </p:cNvPr>
          <p:cNvPicPr>
            <a:picLocks noChangeAspect="1"/>
          </p:cNvPicPr>
          <p:nvPr/>
        </p:nvPicPr>
        <p:blipFill>
          <a:blip r:embed="rId7"/>
          <a:stretch>
            <a:fillRect/>
          </a:stretch>
        </p:blipFill>
        <p:spPr>
          <a:xfrm>
            <a:off x="687657" y="2015210"/>
            <a:ext cx="5009359" cy="524790"/>
          </a:xfrm>
          <a:prstGeom prst="rect">
            <a:avLst/>
          </a:prstGeom>
        </p:spPr>
      </p:pic>
      <p:pic>
        <p:nvPicPr>
          <p:cNvPr id="9" name="Immagine 8">
            <a:extLst>
              <a:ext uri="{FF2B5EF4-FFF2-40B4-BE49-F238E27FC236}">
                <a16:creationId xmlns:a16="http://schemas.microsoft.com/office/drawing/2014/main" id="{BC5DD128-FD1C-5B4B-9622-9BD0195547C1}"/>
              </a:ext>
            </a:extLst>
          </p:cNvPr>
          <p:cNvPicPr>
            <a:picLocks noChangeAspect="1"/>
          </p:cNvPicPr>
          <p:nvPr/>
        </p:nvPicPr>
        <p:blipFill>
          <a:blip r:embed="rId8"/>
          <a:stretch>
            <a:fillRect/>
          </a:stretch>
        </p:blipFill>
        <p:spPr>
          <a:xfrm>
            <a:off x="687657" y="2694675"/>
            <a:ext cx="8530566" cy="670159"/>
          </a:xfrm>
          <a:prstGeom prst="rect">
            <a:avLst/>
          </a:prstGeom>
        </p:spPr>
      </p:pic>
    </p:spTree>
    <p:extLst>
      <p:ext uri="{BB962C8B-B14F-4D97-AF65-F5344CB8AC3E}">
        <p14:creationId xmlns:p14="http://schemas.microsoft.com/office/powerpoint/2010/main" val="204762061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89A7C3-0A8C-B249-AF4B-98A3F5EC6DCC}"/>
              </a:ext>
            </a:extLst>
          </p:cNvPr>
          <p:cNvSpPr>
            <a:spLocks noGrp="1"/>
          </p:cNvSpPr>
          <p:nvPr>
            <p:ph type="title"/>
          </p:nvPr>
        </p:nvSpPr>
        <p:spPr/>
        <p:txBody>
          <a:bodyPr/>
          <a:lstStyle/>
          <a:p>
            <a:r>
              <a:rPr lang="it-IT" dirty="0" err="1"/>
              <a:t>Example</a:t>
            </a:r>
            <a:r>
              <a:rPr lang="it-IT" dirty="0"/>
              <a:t> - The </a:t>
            </a:r>
            <a:r>
              <a:rPr lang="it-IT" dirty="0" err="1"/>
              <a:t>Backward</a:t>
            </a:r>
            <a:r>
              <a:rPr lang="it-IT" dirty="0"/>
              <a:t> Pass </a:t>
            </a:r>
            <a:r>
              <a:rPr lang="it-IT" dirty="0">
                <a:sym typeface="Wingdings" pitchFamily="2" charset="2"/>
              </a:rPr>
              <a:t></a:t>
            </a:r>
            <a:endParaRPr lang="en-US" dirty="0"/>
          </a:p>
        </p:txBody>
      </p:sp>
      <p:pic>
        <p:nvPicPr>
          <p:cNvPr id="3" name="Immagine 2">
            <a:extLst>
              <a:ext uri="{FF2B5EF4-FFF2-40B4-BE49-F238E27FC236}">
                <a16:creationId xmlns:a16="http://schemas.microsoft.com/office/drawing/2014/main" id="{808A466E-40AC-2042-953D-C716E3D7E360}"/>
              </a:ext>
            </a:extLst>
          </p:cNvPr>
          <p:cNvPicPr>
            <a:picLocks noChangeAspect="1"/>
          </p:cNvPicPr>
          <p:nvPr/>
        </p:nvPicPr>
        <p:blipFill>
          <a:blip r:embed="rId2">
            <a:alphaModFix amt="50000"/>
          </a:blip>
          <a:stretch>
            <a:fillRect/>
          </a:stretch>
        </p:blipFill>
        <p:spPr>
          <a:xfrm>
            <a:off x="5959599" y="1690688"/>
            <a:ext cx="5394201" cy="4577648"/>
          </a:xfrm>
          <a:prstGeom prst="rect">
            <a:avLst/>
          </a:prstGeom>
        </p:spPr>
      </p:pic>
      <p:pic>
        <p:nvPicPr>
          <p:cNvPr id="6" name="Immagine 5">
            <a:extLst>
              <a:ext uri="{FF2B5EF4-FFF2-40B4-BE49-F238E27FC236}">
                <a16:creationId xmlns:a16="http://schemas.microsoft.com/office/drawing/2014/main" id="{5BB7613E-5E8C-EA43-876E-73F1A725F050}"/>
              </a:ext>
            </a:extLst>
          </p:cNvPr>
          <p:cNvPicPr>
            <a:picLocks noChangeAspect="1"/>
          </p:cNvPicPr>
          <p:nvPr/>
        </p:nvPicPr>
        <p:blipFill rotWithShape="1">
          <a:blip r:embed="rId3"/>
          <a:srcRect l="69387" t="16826" r="16300" b="25260"/>
          <a:stretch/>
        </p:blipFill>
        <p:spPr>
          <a:xfrm>
            <a:off x="8510565" y="1561290"/>
            <a:ext cx="720595" cy="477982"/>
          </a:xfrm>
          <a:prstGeom prst="rect">
            <a:avLst/>
          </a:prstGeom>
        </p:spPr>
      </p:pic>
      <p:pic>
        <p:nvPicPr>
          <p:cNvPr id="7" name="Immagine 6">
            <a:extLst>
              <a:ext uri="{FF2B5EF4-FFF2-40B4-BE49-F238E27FC236}">
                <a16:creationId xmlns:a16="http://schemas.microsoft.com/office/drawing/2014/main" id="{E4FFC80C-461D-D04B-BEF9-9307C9015DB7}"/>
              </a:ext>
            </a:extLst>
          </p:cNvPr>
          <p:cNvPicPr>
            <a:picLocks noChangeAspect="1"/>
          </p:cNvPicPr>
          <p:nvPr/>
        </p:nvPicPr>
        <p:blipFill rotWithShape="1">
          <a:blip r:embed="rId4"/>
          <a:srcRect l="37346" t="21416" r="33105" b="22137"/>
          <a:stretch/>
        </p:blipFill>
        <p:spPr>
          <a:xfrm>
            <a:off x="8258114" y="3215054"/>
            <a:ext cx="797170" cy="427892"/>
          </a:xfrm>
          <a:prstGeom prst="rect">
            <a:avLst/>
          </a:prstGeom>
        </p:spPr>
      </p:pic>
      <p:sp>
        <p:nvSpPr>
          <p:cNvPr id="4" name="Anello 3">
            <a:extLst>
              <a:ext uri="{FF2B5EF4-FFF2-40B4-BE49-F238E27FC236}">
                <a16:creationId xmlns:a16="http://schemas.microsoft.com/office/drawing/2014/main" id="{BC500709-7E69-904E-B577-AC72DD975EE9}"/>
              </a:ext>
            </a:extLst>
          </p:cNvPr>
          <p:cNvSpPr/>
          <p:nvPr/>
        </p:nvSpPr>
        <p:spPr>
          <a:xfrm>
            <a:off x="7383529" y="2017961"/>
            <a:ext cx="476507" cy="413599"/>
          </a:xfrm>
          <a:prstGeom prst="donut">
            <a:avLst>
              <a:gd name="adj" fmla="val 974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pic>
        <p:nvPicPr>
          <p:cNvPr id="12" name="Immagine 11">
            <a:extLst>
              <a:ext uri="{FF2B5EF4-FFF2-40B4-BE49-F238E27FC236}">
                <a16:creationId xmlns:a16="http://schemas.microsoft.com/office/drawing/2014/main" id="{E8A84895-A388-C049-B6D5-399B6F267820}"/>
              </a:ext>
            </a:extLst>
          </p:cNvPr>
          <p:cNvPicPr>
            <a:picLocks noChangeAspect="1"/>
          </p:cNvPicPr>
          <p:nvPr/>
        </p:nvPicPr>
        <p:blipFill rotWithShape="1">
          <a:blip r:embed="rId5"/>
          <a:srcRect l="37508"/>
          <a:stretch/>
        </p:blipFill>
        <p:spPr>
          <a:xfrm>
            <a:off x="10891507" y="3454183"/>
            <a:ext cx="1300493" cy="462458"/>
          </a:xfrm>
          <a:prstGeom prst="rect">
            <a:avLst/>
          </a:prstGeom>
        </p:spPr>
      </p:pic>
      <p:pic>
        <p:nvPicPr>
          <p:cNvPr id="14" name="Immagine 13">
            <a:extLst>
              <a:ext uri="{FF2B5EF4-FFF2-40B4-BE49-F238E27FC236}">
                <a16:creationId xmlns:a16="http://schemas.microsoft.com/office/drawing/2014/main" id="{6A2CCF90-1FA1-7D45-AF73-52E17EA4FB34}"/>
              </a:ext>
            </a:extLst>
          </p:cNvPr>
          <p:cNvPicPr>
            <a:picLocks noChangeAspect="1"/>
          </p:cNvPicPr>
          <p:nvPr/>
        </p:nvPicPr>
        <p:blipFill rotWithShape="1">
          <a:blip r:embed="rId6"/>
          <a:srcRect l="47719" t="70430" r="35447" b="7602"/>
          <a:stretch/>
        </p:blipFill>
        <p:spPr>
          <a:xfrm>
            <a:off x="11008726" y="1930920"/>
            <a:ext cx="1045029" cy="347967"/>
          </a:xfrm>
          <a:prstGeom prst="rect">
            <a:avLst/>
          </a:prstGeom>
        </p:spPr>
      </p:pic>
      <p:pic>
        <p:nvPicPr>
          <p:cNvPr id="8" name="Immagine 7">
            <a:extLst>
              <a:ext uri="{FF2B5EF4-FFF2-40B4-BE49-F238E27FC236}">
                <a16:creationId xmlns:a16="http://schemas.microsoft.com/office/drawing/2014/main" id="{E579F1E7-2935-F64E-99E7-12C4B418472B}"/>
              </a:ext>
            </a:extLst>
          </p:cNvPr>
          <p:cNvPicPr>
            <a:picLocks noChangeAspect="1"/>
          </p:cNvPicPr>
          <p:nvPr/>
        </p:nvPicPr>
        <p:blipFill>
          <a:blip r:embed="rId7"/>
          <a:stretch>
            <a:fillRect/>
          </a:stretch>
        </p:blipFill>
        <p:spPr>
          <a:xfrm>
            <a:off x="687657" y="2015210"/>
            <a:ext cx="5009359" cy="524790"/>
          </a:xfrm>
          <a:prstGeom prst="rect">
            <a:avLst/>
          </a:prstGeom>
        </p:spPr>
      </p:pic>
      <p:pic>
        <p:nvPicPr>
          <p:cNvPr id="13" name="Immagine 12">
            <a:extLst>
              <a:ext uri="{FF2B5EF4-FFF2-40B4-BE49-F238E27FC236}">
                <a16:creationId xmlns:a16="http://schemas.microsoft.com/office/drawing/2014/main" id="{25E470D0-1CF0-5143-85A0-563BA1F394D5}"/>
              </a:ext>
            </a:extLst>
          </p:cNvPr>
          <p:cNvPicPr>
            <a:picLocks noChangeAspect="1"/>
          </p:cNvPicPr>
          <p:nvPr/>
        </p:nvPicPr>
        <p:blipFill>
          <a:blip r:embed="rId8"/>
          <a:stretch>
            <a:fillRect/>
          </a:stretch>
        </p:blipFill>
        <p:spPr>
          <a:xfrm>
            <a:off x="687657" y="2694675"/>
            <a:ext cx="8530566" cy="670159"/>
          </a:xfrm>
          <a:prstGeom prst="rect">
            <a:avLst/>
          </a:prstGeom>
        </p:spPr>
      </p:pic>
      <p:pic>
        <p:nvPicPr>
          <p:cNvPr id="9" name="Immagine 8">
            <a:extLst>
              <a:ext uri="{FF2B5EF4-FFF2-40B4-BE49-F238E27FC236}">
                <a16:creationId xmlns:a16="http://schemas.microsoft.com/office/drawing/2014/main" id="{B08A1307-3BC1-B949-BAD2-5D7BBAA8C301}"/>
              </a:ext>
            </a:extLst>
          </p:cNvPr>
          <p:cNvPicPr>
            <a:picLocks noChangeAspect="1"/>
          </p:cNvPicPr>
          <p:nvPr/>
        </p:nvPicPr>
        <p:blipFill>
          <a:blip r:embed="rId9"/>
          <a:stretch>
            <a:fillRect/>
          </a:stretch>
        </p:blipFill>
        <p:spPr>
          <a:xfrm>
            <a:off x="687657" y="3503040"/>
            <a:ext cx="8712200" cy="584200"/>
          </a:xfrm>
          <a:prstGeom prst="rect">
            <a:avLst/>
          </a:prstGeom>
        </p:spPr>
      </p:pic>
    </p:spTree>
    <p:extLst>
      <p:ext uri="{BB962C8B-B14F-4D97-AF65-F5344CB8AC3E}">
        <p14:creationId xmlns:p14="http://schemas.microsoft.com/office/powerpoint/2010/main" val="257830580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20C7648-8204-4287-B844-AFAD1EF3CB4C}"/>
              </a:ext>
            </a:extLst>
          </p:cNvPr>
          <p:cNvSpPr>
            <a:spLocks noGrp="1"/>
          </p:cNvSpPr>
          <p:nvPr>
            <p:ph type="title"/>
          </p:nvPr>
        </p:nvSpPr>
        <p:spPr/>
        <p:txBody>
          <a:bodyPr/>
          <a:lstStyle/>
          <a:p>
            <a:r>
              <a:rPr lang="en-US" dirty="0"/>
              <a:t>On the Key Importance of Error Functions</a:t>
            </a:r>
          </a:p>
        </p:txBody>
      </p:sp>
      <p:sp>
        <p:nvSpPr>
          <p:cNvPr id="3" name="Segnaposto contenuto 2">
            <a:extLst>
              <a:ext uri="{FF2B5EF4-FFF2-40B4-BE49-F238E27FC236}">
                <a16:creationId xmlns:a16="http://schemas.microsoft.com/office/drawing/2014/main" id="{19F093AA-FA97-4893-9320-12FC51C8F9FD}"/>
              </a:ext>
            </a:extLst>
          </p:cNvPr>
          <p:cNvSpPr>
            <a:spLocks noGrp="1"/>
          </p:cNvSpPr>
          <p:nvPr>
            <p:ph idx="1"/>
          </p:nvPr>
        </p:nvSpPr>
        <p:spPr/>
        <p:txBody>
          <a:bodyPr/>
          <a:lstStyle/>
          <a:p>
            <a:r>
              <a:rPr lang="en-US" dirty="0"/>
              <a:t>The error/loss/cost function reduces all the various good and bad aspects of a possibly complex system down to a single number, a scalar value, which allows candidate solutions to be compared.</a:t>
            </a:r>
          </a:p>
          <a:p>
            <a:r>
              <a:rPr lang="en-US" dirty="0"/>
              <a:t>It is important, therefore, that </a:t>
            </a:r>
            <a:r>
              <a:rPr lang="en-US" b="1" dirty="0"/>
              <a:t>the function faithfully represent our design goals</a:t>
            </a:r>
            <a:r>
              <a:rPr lang="en-US" dirty="0"/>
              <a:t>. </a:t>
            </a:r>
          </a:p>
          <a:p>
            <a:r>
              <a:rPr lang="en-US" dirty="0"/>
              <a:t>If we choose a poor error function and obtain unsatisfactory results, the fault is ours for badly specifying the goal of the search.</a:t>
            </a:r>
          </a:p>
        </p:txBody>
      </p:sp>
    </p:spTree>
    <p:extLst>
      <p:ext uri="{BB962C8B-B14F-4D97-AF65-F5344CB8AC3E}">
        <p14:creationId xmlns:p14="http://schemas.microsoft.com/office/powerpoint/2010/main" val="309979647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Objective Functions for NN</a:t>
            </a:r>
          </a:p>
        </p:txBody>
      </p:sp>
      <p:sp>
        <p:nvSpPr>
          <p:cNvPr id="3" name="Content Placeholder 2"/>
          <p:cNvSpPr>
            <a:spLocks noGrp="1"/>
          </p:cNvSpPr>
          <p:nvPr>
            <p:ph idx="1"/>
          </p:nvPr>
        </p:nvSpPr>
        <p:spPr>
          <a:xfrm>
            <a:off x="838200" y="1825625"/>
            <a:ext cx="10515600" cy="2807114"/>
          </a:xfrm>
        </p:spPr>
        <p:txBody>
          <a:bodyPr>
            <a:normAutofit/>
          </a:bodyPr>
          <a:lstStyle/>
          <a:p>
            <a:r>
              <a:rPr lang="en-US" sz="2400" dirty="0">
                <a:solidFill>
                  <a:schemeClr val="accent2"/>
                </a:solidFill>
              </a:rPr>
              <a:t>Regression</a:t>
            </a:r>
            <a:r>
              <a:rPr lang="en-US" sz="2400" dirty="0"/>
              <a:t>: A problem where you predict a real-value quantity.</a:t>
            </a:r>
            <a:endParaRPr lang="en-US" sz="2000" dirty="0"/>
          </a:p>
          <a:p>
            <a:pPr lvl="1"/>
            <a:r>
              <a:rPr lang="en-US" sz="2000" dirty="0"/>
              <a:t>Output Layer: One node with a linear activation unit.</a:t>
            </a:r>
          </a:p>
          <a:p>
            <a:pPr lvl="1"/>
            <a:r>
              <a:rPr lang="en-US" sz="2000" dirty="0"/>
              <a:t>Loss Function: Quadratic Loss (Mean Squared Error (MSE))</a:t>
            </a:r>
          </a:p>
          <a:p>
            <a:r>
              <a:rPr lang="en-US" sz="2400" dirty="0">
                <a:solidFill>
                  <a:schemeClr val="accent2"/>
                </a:solidFill>
              </a:rPr>
              <a:t>Classification</a:t>
            </a:r>
            <a:r>
              <a:rPr lang="en-US" sz="2400" dirty="0"/>
              <a:t>: Classify an example as belonging to one of K classes</a:t>
            </a:r>
          </a:p>
          <a:p>
            <a:pPr lvl="1"/>
            <a:r>
              <a:rPr lang="en-US" sz="2000" dirty="0"/>
              <a:t>Output Layer: </a:t>
            </a:r>
          </a:p>
          <a:p>
            <a:pPr lvl="2"/>
            <a:r>
              <a:rPr lang="en-US" sz="1600" b="1" dirty="0"/>
              <a:t>One node with a sigmoid activation unit</a:t>
            </a:r>
            <a:r>
              <a:rPr lang="en-US" sz="1600" dirty="0"/>
              <a:t> (K=2)</a:t>
            </a:r>
          </a:p>
          <a:p>
            <a:pPr lvl="2"/>
            <a:r>
              <a:rPr lang="en-US" sz="1600" b="1" dirty="0"/>
              <a:t>K output nodes in a </a:t>
            </a:r>
            <a:r>
              <a:rPr lang="en-US" sz="1600" b="1" dirty="0" err="1"/>
              <a:t>softmax</a:t>
            </a:r>
            <a:r>
              <a:rPr lang="en-US" sz="1600" b="1" dirty="0"/>
              <a:t> layer </a:t>
            </a:r>
            <a:r>
              <a:rPr lang="en-US" sz="1600" dirty="0"/>
              <a:t>(K&gt;2)</a:t>
            </a:r>
          </a:p>
          <a:p>
            <a:pPr lvl="1"/>
            <a:r>
              <a:rPr lang="en-US" sz="2000" dirty="0"/>
              <a:t>Loss function: Cross-entropy (i.e. negative log likelihood)</a:t>
            </a:r>
          </a:p>
        </p:txBody>
      </p:sp>
      <p:sp>
        <p:nvSpPr>
          <p:cNvPr id="4" name="Slide Number Placeholder 3"/>
          <p:cNvSpPr>
            <a:spLocks noGrp="1"/>
          </p:cNvSpPr>
          <p:nvPr>
            <p:ph type="sldNum" sz="quarter" idx="4294967295"/>
          </p:nvPr>
        </p:nvSpPr>
        <p:spPr>
          <a:xfrm>
            <a:off x="10134600" y="6356350"/>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D5CD1A5-E6E0-42A5-84CC-9AA958E63032}" type="slidenum">
              <a:rPr lang="en-GB" smtClean="0"/>
              <a:pPr/>
              <a:t>133</a:t>
            </a:fld>
            <a:endParaRPr lang="en-US"/>
          </a:p>
        </p:txBody>
      </p:sp>
      <p:pic>
        <p:nvPicPr>
          <p:cNvPr id="6" name="Picture 5" descr="latex-image-1.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9007" y="4890435"/>
            <a:ext cx="8613986" cy="1602440"/>
          </a:xfrm>
          <a:prstGeom prst="rect">
            <a:avLst/>
          </a:prstGeom>
        </p:spPr>
      </p:pic>
      <p:grpSp>
        <p:nvGrpSpPr>
          <p:cNvPr id="10" name="Group 9"/>
          <p:cNvGrpSpPr/>
          <p:nvPr/>
        </p:nvGrpSpPr>
        <p:grpSpPr>
          <a:xfrm>
            <a:off x="1679004" y="4786864"/>
            <a:ext cx="8950246" cy="1860136"/>
            <a:chOff x="210000" y="1743969"/>
            <a:chExt cx="8770240" cy="4476485"/>
          </a:xfrm>
        </p:grpSpPr>
        <p:sp>
          <p:nvSpPr>
            <p:cNvPr id="7" name="Rectangle 6"/>
            <p:cNvSpPr/>
            <p:nvPr/>
          </p:nvSpPr>
          <p:spPr>
            <a:xfrm>
              <a:off x="210000" y="1743969"/>
              <a:ext cx="8770240" cy="4476485"/>
            </a:xfrm>
            <a:prstGeom prst="rect">
              <a:avLst/>
            </a:prstGeom>
            <a:noFill/>
            <a:ln w="38100" cmpd="sng">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 name="Straight Connector 7"/>
            <p:cNvCxnSpPr/>
            <p:nvPr/>
          </p:nvCxnSpPr>
          <p:spPr>
            <a:xfrm>
              <a:off x="5772244" y="1878251"/>
              <a:ext cx="0" cy="4172188"/>
            </a:xfrm>
            <a:prstGeom prst="line">
              <a:avLst/>
            </a:prstGeom>
            <a:ln w="38100" cmpd="sng">
              <a:solidFill>
                <a:schemeClr val="accent3">
                  <a:lumMod val="75000"/>
                </a:schemeClr>
              </a:solidFill>
            </a:ln>
            <a:effectLst/>
          </p:spPr>
          <p:style>
            <a:lnRef idx="2">
              <a:schemeClr val="dk1"/>
            </a:lnRef>
            <a:fillRef idx="0">
              <a:schemeClr val="dk1"/>
            </a:fillRef>
            <a:effectRef idx="1">
              <a:schemeClr val="dk1"/>
            </a:effectRef>
            <a:fontRef idx="minor">
              <a:schemeClr val="tx1"/>
            </a:fontRef>
          </p:style>
        </p:cxnSp>
      </p:grpSp>
      <p:sp>
        <p:nvSpPr>
          <p:cNvPr id="5" name="CasellaDiTesto 4">
            <a:extLst>
              <a:ext uri="{FF2B5EF4-FFF2-40B4-BE49-F238E27FC236}">
                <a16:creationId xmlns:a16="http://schemas.microsoft.com/office/drawing/2014/main" id="{BEBB9B97-EEA0-4B43-80CF-13EE6846AD78}"/>
              </a:ext>
            </a:extLst>
          </p:cNvPr>
          <p:cNvSpPr txBox="1"/>
          <p:nvPr/>
        </p:nvSpPr>
        <p:spPr>
          <a:xfrm>
            <a:off x="1679004" y="4815960"/>
            <a:ext cx="724878" cy="461665"/>
          </a:xfrm>
          <a:prstGeom prst="rect">
            <a:avLst/>
          </a:prstGeom>
          <a:noFill/>
        </p:spPr>
        <p:txBody>
          <a:bodyPr wrap="none" rtlCol="0">
            <a:spAutoFit/>
          </a:bodyPr>
          <a:lstStyle/>
          <a:p>
            <a:r>
              <a:rPr lang="it-IT" sz="2400" i="1" dirty="0" err="1"/>
              <a:t>J</a:t>
            </a:r>
            <a:r>
              <a:rPr lang="it-IT" sz="2400" i="1" dirty="0"/>
              <a:t> = E</a:t>
            </a:r>
          </a:p>
        </p:txBody>
      </p:sp>
    </p:spTree>
    <p:extLst>
      <p:ext uri="{BB962C8B-B14F-4D97-AF65-F5344CB8AC3E}">
        <p14:creationId xmlns:p14="http://schemas.microsoft.com/office/powerpoint/2010/main" val="417025843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en-US" dirty="0"/>
              <a:t>Design Issues in ANN</a:t>
            </a:r>
          </a:p>
        </p:txBody>
      </p:sp>
      <p:sp>
        <p:nvSpPr>
          <p:cNvPr id="19459" name="Rectangle 3"/>
          <p:cNvSpPr>
            <a:spLocks noGrp="1" noChangeArrowheads="1"/>
          </p:cNvSpPr>
          <p:nvPr>
            <p:ph type="body" idx="1"/>
          </p:nvPr>
        </p:nvSpPr>
        <p:spPr/>
        <p:txBody>
          <a:bodyPr/>
          <a:lstStyle/>
          <a:p>
            <a:r>
              <a:rPr lang="en-US" altLang="en-US" dirty="0"/>
              <a:t>Number of nodes in input layer </a:t>
            </a:r>
          </a:p>
          <a:p>
            <a:pPr lvl="1"/>
            <a:r>
              <a:rPr lang="en-US" altLang="en-US" dirty="0"/>
              <a:t>One input node per binary/continuous attribute</a:t>
            </a:r>
          </a:p>
          <a:p>
            <a:pPr lvl="1"/>
            <a:r>
              <a:rPr lang="en-US" altLang="en-US" i="1" dirty="0"/>
              <a:t>k</a:t>
            </a:r>
            <a:r>
              <a:rPr lang="en-US" altLang="en-US" dirty="0"/>
              <a:t> or </a:t>
            </a:r>
            <a:r>
              <a:rPr lang="en-US" altLang="en-US" i="1" dirty="0"/>
              <a:t>log</a:t>
            </a:r>
            <a:r>
              <a:rPr lang="en-US" altLang="en-US" i="1" baseline="-25000" dirty="0"/>
              <a:t>2</a:t>
            </a:r>
            <a:r>
              <a:rPr lang="en-US" altLang="en-US" i="1" dirty="0"/>
              <a:t>k</a:t>
            </a:r>
            <a:r>
              <a:rPr lang="en-US" altLang="en-US" dirty="0"/>
              <a:t> nodes for each categorical attribute with k values</a:t>
            </a:r>
          </a:p>
          <a:p>
            <a:r>
              <a:rPr lang="en-US" altLang="en-US" dirty="0"/>
              <a:t>Number of nodes in output layer</a:t>
            </a:r>
          </a:p>
          <a:p>
            <a:pPr lvl="1"/>
            <a:r>
              <a:rPr lang="en-US" altLang="en-US" dirty="0"/>
              <a:t>One output for binary class problem</a:t>
            </a:r>
          </a:p>
          <a:p>
            <a:pPr lvl="1"/>
            <a:r>
              <a:rPr lang="en-US" altLang="en-US" i="1" dirty="0"/>
              <a:t>k</a:t>
            </a:r>
            <a:r>
              <a:rPr lang="en-US" altLang="en-US" dirty="0"/>
              <a:t> or </a:t>
            </a:r>
            <a:r>
              <a:rPr lang="en-US" altLang="en-US" i="1" dirty="0"/>
              <a:t>log</a:t>
            </a:r>
            <a:r>
              <a:rPr lang="en-US" altLang="en-US" i="1" baseline="-25000" dirty="0"/>
              <a:t>2</a:t>
            </a:r>
            <a:r>
              <a:rPr lang="en-US" altLang="en-US" i="1" dirty="0"/>
              <a:t>k</a:t>
            </a:r>
            <a:r>
              <a:rPr lang="en-US" altLang="en-US" dirty="0"/>
              <a:t> nodes for k-class problem</a:t>
            </a:r>
          </a:p>
          <a:p>
            <a:r>
              <a:rPr lang="en-US" altLang="en-US" dirty="0"/>
              <a:t>Number of nodes in hidden layer</a:t>
            </a:r>
          </a:p>
          <a:p>
            <a:r>
              <a:rPr lang="en-US" altLang="en-US" dirty="0"/>
              <a:t>Initial weights and biases</a:t>
            </a:r>
          </a:p>
        </p:txBody>
      </p:sp>
    </p:spTree>
    <p:extLst>
      <p:ext uri="{BB962C8B-B14F-4D97-AF65-F5344CB8AC3E}">
        <p14:creationId xmlns:p14="http://schemas.microsoft.com/office/powerpoint/2010/main" val="292319765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tLang="en-US" dirty="0"/>
              <a:t>Characteristics of ANN</a:t>
            </a:r>
          </a:p>
        </p:txBody>
      </p:sp>
      <p:sp>
        <p:nvSpPr>
          <p:cNvPr id="20483" name="Rectangle 3"/>
          <p:cNvSpPr>
            <a:spLocks noGrp="1" noChangeArrowheads="1"/>
          </p:cNvSpPr>
          <p:nvPr>
            <p:ph type="body" idx="1"/>
          </p:nvPr>
        </p:nvSpPr>
        <p:spPr/>
        <p:txBody>
          <a:bodyPr/>
          <a:lstStyle/>
          <a:p>
            <a:r>
              <a:rPr lang="en-US" altLang="en-US" sz="2400" dirty="0"/>
              <a:t>Multilayer ANN are universal approximators but could suffer from </a:t>
            </a:r>
            <a:r>
              <a:rPr lang="en-US" altLang="en-US" sz="2400" b="1" i="1" dirty="0"/>
              <a:t>overfitting</a:t>
            </a:r>
            <a:r>
              <a:rPr lang="en-US" altLang="en-US" sz="2400" dirty="0"/>
              <a:t> if the network is too large.</a:t>
            </a:r>
          </a:p>
          <a:p>
            <a:r>
              <a:rPr lang="en-US" altLang="en-US" sz="2400" dirty="0"/>
              <a:t>Gradient descent may converge to </a:t>
            </a:r>
            <a:r>
              <a:rPr lang="en-US" altLang="en-US" sz="2400" b="1" i="1" dirty="0"/>
              <a:t>local minimum</a:t>
            </a:r>
            <a:r>
              <a:rPr lang="en-US" altLang="en-US" sz="2400" dirty="0"/>
              <a:t>.</a:t>
            </a:r>
          </a:p>
          <a:p>
            <a:r>
              <a:rPr lang="en-US" altLang="en-US" sz="2400" dirty="0"/>
              <a:t>Model building can be very time consuming, but testing can be very fast. </a:t>
            </a:r>
          </a:p>
          <a:p>
            <a:r>
              <a:rPr lang="en-US" altLang="en-US" sz="2400" dirty="0"/>
              <a:t>Can handle redundant attributes because weights are automatically learnt.</a:t>
            </a:r>
          </a:p>
          <a:p>
            <a:r>
              <a:rPr lang="en-US" altLang="en-US" sz="2400" dirty="0"/>
              <a:t>Sensitive to noise in training data.</a:t>
            </a:r>
          </a:p>
          <a:p>
            <a:r>
              <a:rPr lang="en-US" altLang="en-US" sz="2400" dirty="0"/>
              <a:t>Difficult to handle missing attributes.</a:t>
            </a:r>
          </a:p>
        </p:txBody>
      </p:sp>
    </p:spTree>
    <p:extLst>
      <p:ext uri="{BB962C8B-B14F-4D97-AF65-F5344CB8AC3E}">
        <p14:creationId xmlns:p14="http://schemas.microsoft.com/office/powerpoint/2010/main" val="299276529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Tips and Tricks of NN Training</a:t>
            </a:r>
          </a:p>
        </p:txBody>
      </p:sp>
    </p:spTree>
    <p:extLst>
      <p:ext uri="{BB962C8B-B14F-4D97-AF65-F5344CB8AC3E}">
        <p14:creationId xmlns:p14="http://schemas.microsoft.com/office/powerpoint/2010/main" val="224063053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84E0591-9EE9-477F-9F80-A12D1E141598}"/>
              </a:ext>
            </a:extLst>
          </p:cNvPr>
          <p:cNvSpPr>
            <a:spLocks noGrp="1"/>
          </p:cNvSpPr>
          <p:nvPr>
            <p:ph type="title"/>
          </p:nvPr>
        </p:nvSpPr>
        <p:spPr/>
        <p:txBody>
          <a:bodyPr>
            <a:normAutofit/>
          </a:bodyPr>
          <a:lstStyle/>
          <a:p>
            <a:r>
              <a:rPr lang="en-US" dirty="0"/>
              <a:t>Dataset Should Normally be Split Into</a:t>
            </a:r>
          </a:p>
        </p:txBody>
      </p:sp>
      <p:sp>
        <p:nvSpPr>
          <p:cNvPr id="3" name="Segnaposto contenuto 2">
            <a:extLst>
              <a:ext uri="{FF2B5EF4-FFF2-40B4-BE49-F238E27FC236}">
                <a16:creationId xmlns:a16="http://schemas.microsoft.com/office/drawing/2014/main" id="{5D28FA9D-57B8-CA4A-A7C2-6A797EA7C8EA}"/>
              </a:ext>
            </a:extLst>
          </p:cNvPr>
          <p:cNvSpPr>
            <a:spLocks noGrp="1"/>
          </p:cNvSpPr>
          <p:nvPr>
            <p:ph idx="1"/>
          </p:nvPr>
        </p:nvSpPr>
        <p:spPr/>
        <p:txBody>
          <a:bodyPr>
            <a:normAutofit lnSpcReduction="10000"/>
          </a:bodyPr>
          <a:lstStyle/>
          <a:p>
            <a:r>
              <a:rPr lang="en-US" b="1" i="1" dirty="0"/>
              <a:t>Training set: </a:t>
            </a:r>
            <a:r>
              <a:rPr lang="en-US" dirty="0"/>
              <a:t>use to update the weights. Records in this set are repeatedly in random order. The weight update equation are applied after a certain number of records.</a:t>
            </a:r>
          </a:p>
          <a:p>
            <a:endParaRPr lang="en-US" dirty="0"/>
          </a:p>
          <a:p>
            <a:r>
              <a:rPr lang="en-US" b="1" i="1" dirty="0"/>
              <a:t>Validation set: </a:t>
            </a:r>
            <a:r>
              <a:rPr lang="en-US" dirty="0"/>
              <a:t>use to decide when to stop training only by monitoring the error and to select the best model configuration</a:t>
            </a:r>
          </a:p>
          <a:p>
            <a:endParaRPr lang="en-US" dirty="0"/>
          </a:p>
          <a:p>
            <a:r>
              <a:rPr lang="en-US" b="1" i="1" dirty="0"/>
              <a:t>Test set:</a:t>
            </a:r>
            <a:r>
              <a:rPr lang="en-US" dirty="0"/>
              <a:t> use to test the performance of the neural network. It should not be used as part of the neural network development and model selection cycle</a:t>
            </a:r>
          </a:p>
          <a:p>
            <a:endParaRPr lang="en-US" dirty="0"/>
          </a:p>
          <a:p>
            <a:endParaRPr lang="en-US" dirty="0"/>
          </a:p>
        </p:txBody>
      </p:sp>
      <p:sp>
        <p:nvSpPr>
          <p:cNvPr id="4" name="Rectangle 3">
            <a:extLst>
              <a:ext uri="{FF2B5EF4-FFF2-40B4-BE49-F238E27FC236}">
                <a16:creationId xmlns:a16="http://schemas.microsoft.com/office/drawing/2014/main" id="{9C712EBA-4899-4596-BEE4-3881375FB5AD}"/>
              </a:ext>
            </a:extLst>
          </p:cNvPr>
          <p:cNvSpPr txBox="1">
            <a:spLocks noChangeArrowheads="1"/>
          </p:cNvSpPr>
          <p:nvPr/>
        </p:nvSpPr>
        <p:spPr>
          <a:xfrm>
            <a:off x="2112335" y="2580167"/>
            <a:ext cx="7772400" cy="411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762000"/>
            <a:endParaRPr lang="en-US" altLang="en-US" dirty="0"/>
          </a:p>
        </p:txBody>
      </p:sp>
    </p:spTree>
    <p:extLst>
      <p:ext uri="{BB962C8B-B14F-4D97-AF65-F5344CB8AC3E}">
        <p14:creationId xmlns:p14="http://schemas.microsoft.com/office/powerpoint/2010/main" val="4219488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283C4FA-82A9-4163-AE2E-2008396EE1D9}"/>
              </a:ext>
            </a:extLst>
          </p:cNvPr>
          <p:cNvSpPr>
            <a:spLocks noGrp="1"/>
          </p:cNvSpPr>
          <p:nvPr>
            <p:ph type="title"/>
          </p:nvPr>
        </p:nvSpPr>
        <p:spPr/>
        <p:txBody>
          <a:bodyPr>
            <a:normAutofit/>
          </a:bodyPr>
          <a:lstStyle/>
          <a:p>
            <a:r>
              <a:rPr lang="en-US" sz="4000" dirty="0"/>
              <a:t>Before Starting: Weight Initialization</a:t>
            </a:r>
          </a:p>
        </p:txBody>
      </p:sp>
      <p:sp>
        <p:nvSpPr>
          <p:cNvPr id="3" name="Segnaposto contenuto 2">
            <a:extLst>
              <a:ext uri="{FF2B5EF4-FFF2-40B4-BE49-F238E27FC236}">
                <a16:creationId xmlns:a16="http://schemas.microsoft.com/office/drawing/2014/main" id="{AE998E31-1F99-D447-AE33-44CAEE5A23AA}"/>
              </a:ext>
            </a:extLst>
          </p:cNvPr>
          <p:cNvSpPr>
            <a:spLocks noGrp="1"/>
          </p:cNvSpPr>
          <p:nvPr>
            <p:ph idx="1"/>
          </p:nvPr>
        </p:nvSpPr>
        <p:spPr/>
        <p:txBody>
          <a:bodyPr>
            <a:normAutofit/>
          </a:bodyPr>
          <a:lstStyle/>
          <a:p>
            <a:r>
              <a:rPr lang="en-US" dirty="0"/>
              <a:t>Choice of </a:t>
            </a:r>
            <a:r>
              <a:rPr lang="en-US" b="1" i="1" dirty="0"/>
              <a:t>initial weight values is important as this decides starting position in weight space. </a:t>
            </a:r>
            <a:r>
              <a:rPr lang="en-US" dirty="0"/>
              <a:t>That is, how far away from global minimum</a:t>
            </a:r>
          </a:p>
          <a:p>
            <a:pPr lvl="1"/>
            <a:r>
              <a:rPr lang="en-US" dirty="0"/>
              <a:t>Aim is to select weight values which produce midrange function signals </a:t>
            </a:r>
          </a:p>
          <a:p>
            <a:pPr lvl="1"/>
            <a:r>
              <a:rPr lang="en-US" dirty="0"/>
              <a:t>Select weight values randomly from uniform probability distribution</a:t>
            </a:r>
          </a:p>
          <a:p>
            <a:pPr lvl="1"/>
            <a:r>
              <a:rPr lang="en-US" dirty="0"/>
              <a:t>Normalize weight values so number of weighted connections per unit produces midrange function signal</a:t>
            </a:r>
          </a:p>
          <a:p>
            <a:endParaRPr lang="en-US" dirty="0"/>
          </a:p>
          <a:p>
            <a:r>
              <a:rPr lang="en-US" dirty="0"/>
              <a:t>Try different random initialization to</a:t>
            </a:r>
          </a:p>
          <a:p>
            <a:pPr lvl="1"/>
            <a:r>
              <a:rPr lang="en-US" dirty="0"/>
              <a:t>Assess robustness</a:t>
            </a:r>
          </a:p>
          <a:p>
            <a:pPr lvl="1"/>
            <a:r>
              <a:rPr lang="en-US" dirty="0"/>
              <a:t>Have more opportunities to find optimal results</a:t>
            </a:r>
          </a:p>
          <a:p>
            <a:endParaRPr lang="en-US" dirty="0"/>
          </a:p>
          <a:p>
            <a:endParaRPr lang="en-US" dirty="0"/>
          </a:p>
          <a:p>
            <a:endParaRPr lang="en-US" dirty="0"/>
          </a:p>
        </p:txBody>
      </p:sp>
    </p:spTree>
    <p:extLst>
      <p:ext uri="{BB962C8B-B14F-4D97-AF65-F5344CB8AC3E}">
        <p14:creationId xmlns:p14="http://schemas.microsoft.com/office/powerpoint/2010/main" val="146652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880389D-49B0-4CA3-8B41-9D71611EBC7F}"/>
              </a:ext>
            </a:extLst>
          </p:cNvPr>
          <p:cNvSpPr>
            <a:spLocks noGrp="1"/>
          </p:cNvSpPr>
          <p:nvPr>
            <p:ph type="title"/>
          </p:nvPr>
        </p:nvSpPr>
        <p:spPr/>
        <p:txBody>
          <a:bodyPr/>
          <a:lstStyle/>
          <a:p>
            <a:r>
              <a:rPr lang="en-US" dirty="0"/>
              <a:t>Two learning fashion (plus one)</a:t>
            </a:r>
          </a:p>
        </p:txBody>
      </p:sp>
      <p:sp>
        <p:nvSpPr>
          <p:cNvPr id="7" name="Segnaposto contenuto 6">
            <a:extLst>
              <a:ext uri="{FF2B5EF4-FFF2-40B4-BE49-F238E27FC236}">
                <a16:creationId xmlns:a16="http://schemas.microsoft.com/office/drawing/2014/main" id="{3369DEA1-E9EA-B34E-9DC5-DFC42D6321DA}"/>
              </a:ext>
            </a:extLst>
          </p:cNvPr>
          <p:cNvSpPr>
            <a:spLocks noGrp="1"/>
          </p:cNvSpPr>
          <p:nvPr>
            <p:ph idx="1"/>
          </p:nvPr>
        </p:nvSpPr>
        <p:spPr/>
        <p:txBody>
          <a:bodyPr/>
          <a:lstStyle/>
          <a:p>
            <a:r>
              <a:rPr lang="en-US" altLang="en-US" sz="2600" b="1" dirty="0"/>
              <a:t>Sequential mode  </a:t>
            </a:r>
            <a:r>
              <a:rPr lang="en-US" altLang="en-US" sz="2600" dirty="0"/>
              <a:t>(on-line, stochastic, or per-pattern) </a:t>
            </a:r>
          </a:p>
          <a:p>
            <a:pPr lvl="1"/>
            <a:r>
              <a:rPr lang="en-US" altLang="en-US" sz="2200" dirty="0"/>
              <a:t>Weights updated after each records is presented</a:t>
            </a:r>
          </a:p>
          <a:p>
            <a:pPr lvl="1"/>
            <a:r>
              <a:rPr lang="en-US" altLang="en-US" sz="2200" dirty="0"/>
              <a:t>Many weight updates, can quicker convergence but also make learning less stable</a:t>
            </a:r>
          </a:p>
          <a:p>
            <a:pPr lvl="1"/>
            <a:endParaRPr lang="en-US" altLang="en-US" sz="2200" dirty="0"/>
          </a:p>
          <a:p>
            <a:r>
              <a:rPr lang="en-US" altLang="en-US" sz="2600" b="1" dirty="0"/>
              <a:t>Batch mode </a:t>
            </a:r>
            <a:r>
              <a:rPr lang="en-US" altLang="en-US" sz="2600" dirty="0"/>
              <a:t>(off-line or per-epoch) </a:t>
            </a:r>
          </a:p>
          <a:p>
            <a:pPr lvl="1"/>
            <a:r>
              <a:rPr lang="en-US" altLang="en-US" sz="2200" dirty="0"/>
              <a:t>Weights updated after all records are presented</a:t>
            </a:r>
          </a:p>
          <a:p>
            <a:pPr lvl="1"/>
            <a:r>
              <a:rPr lang="en-US" altLang="en-US" sz="2200" dirty="0"/>
              <a:t>Can be very slow and lead to trapping in early local minima</a:t>
            </a:r>
          </a:p>
          <a:p>
            <a:pPr lvl="1"/>
            <a:endParaRPr lang="en-US" altLang="en-US" sz="2200" dirty="0"/>
          </a:p>
          <a:p>
            <a:r>
              <a:rPr lang="en-US" altLang="en-US" sz="2600" b="1" dirty="0"/>
              <a:t>Minibatch mode </a:t>
            </a:r>
            <a:r>
              <a:rPr lang="en-US" altLang="en-US" sz="2600" dirty="0"/>
              <a:t>(a blend of the two above) </a:t>
            </a:r>
          </a:p>
          <a:p>
            <a:pPr lvl="1"/>
            <a:r>
              <a:rPr lang="en-US" altLang="en-US" sz="2200" dirty="0"/>
              <a:t>Weights updated after a few records (from tens to thousands) are presented </a:t>
            </a:r>
          </a:p>
          <a:p>
            <a:pPr lvl="1"/>
            <a:r>
              <a:rPr lang="en-US" altLang="en-US" sz="2200" dirty="0"/>
              <a:t>Best of both (and good for GPU)</a:t>
            </a:r>
          </a:p>
        </p:txBody>
      </p:sp>
    </p:spTree>
    <p:extLst>
      <p:ext uri="{BB962C8B-B14F-4D97-AF65-F5344CB8AC3E}">
        <p14:creationId xmlns:p14="http://schemas.microsoft.com/office/powerpoint/2010/main" val="4288345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Minibatch</a:t>
            </a:r>
          </a:p>
        </p:txBody>
      </p:sp>
      <p:sp>
        <p:nvSpPr>
          <p:cNvPr id="7" name="Disco magnetico 6"/>
          <p:cNvSpPr/>
          <p:nvPr/>
        </p:nvSpPr>
        <p:spPr>
          <a:xfrm>
            <a:off x="2322171" y="2424884"/>
            <a:ext cx="1168852" cy="1637414"/>
          </a:xfrm>
          <a:prstGeom prst="flowChartMagneticDisk">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Training Data</a:t>
            </a:r>
          </a:p>
        </p:txBody>
      </p:sp>
      <p:sp>
        <p:nvSpPr>
          <p:cNvPr id="8" name="CasellaDiTesto 7"/>
          <p:cNvSpPr txBox="1"/>
          <p:nvPr/>
        </p:nvSpPr>
        <p:spPr>
          <a:xfrm>
            <a:off x="7473731" y="1487011"/>
            <a:ext cx="2462854" cy="523220"/>
          </a:xfrm>
          <a:prstGeom prst="rect">
            <a:avLst/>
          </a:prstGeom>
          <a:noFill/>
        </p:spPr>
        <p:txBody>
          <a:bodyPr wrap="none" rtlCol="0">
            <a:spAutoFit/>
          </a:bodyPr>
          <a:lstStyle/>
          <a:p>
            <a:r>
              <a:rPr lang="en-US" sz="2800" dirty="0" err="1">
                <a:solidFill>
                  <a:schemeClr val="accent2"/>
                </a:solidFill>
              </a:rPr>
              <a:t>Minibatch</a:t>
            </a:r>
            <a:r>
              <a:rPr lang="en-US" sz="2800" dirty="0">
                <a:solidFill>
                  <a:schemeClr val="accent2"/>
                </a:solidFill>
              </a:rPr>
              <a:t> </a:t>
            </a:r>
            <a:r>
              <a:rPr lang="en-US" sz="2800" dirty="0"/>
              <a:t>(MB)</a:t>
            </a:r>
          </a:p>
        </p:txBody>
      </p:sp>
      <p:sp>
        <p:nvSpPr>
          <p:cNvPr id="12" name="Freccia a destra 11"/>
          <p:cNvSpPr/>
          <p:nvPr/>
        </p:nvSpPr>
        <p:spPr>
          <a:xfrm>
            <a:off x="3735572" y="2552476"/>
            <a:ext cx="425302" cy="393404"/>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CasellaDiTesto 12"/>
          <p:cNvSpPr txBox="1"/>
          <p:nvPr/>
        </p:nvSpPr>
        <p:spPr>
          <a:xfrm>
            <a:off x="4256568" y="2434882"/>
            <a:ext cx="2407726" cy="646331"/>
          </a:xfrm>
          <a:prstGeom prst="rect">
            <a:avLst/>
          </a:prstGeom>
          <a:noFill/>
        </p:spPr>
        <p:txBody>
          <a:bodyPr wrap="square" rtlCol="0">
            <a:spAutoFit/>
          </a:bodyPr>
          <a:lstStyle/>
          <a:p>
            <a:r>
              <a:rPr lang="en-US" dirty="0"/>
              <a:t>Average gradient on full data</a:t>
            </a:r>
          </a:p>
        </p:txBody>
      </p:sp>
      <p:sp>
        <p:nvSpPr>
          <p:cNvPr id="14" name="Freccia a destra 13"/>
          <p:cNvSpPr/>
          <p:nvPr/>
        </p:nvSpPr>
        <p:spPr>
          <a:xfrm>
            <a:off x="3735572" y="3059294"/>
            <a:ext cx="3019646" cy="386316"/>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CasellaDiTesto 14"/>
          <p:cNvSpPr txBox="1"/>
          <p:nvPr/>
        </p:nvSpPr>
        <p:spPr>
          <a:xfrm>
            <a:off x="4245235" y="3510980"/>
            <a:ext cx="2656067" cy="646331"/>
          </a:xfrm>
          <a:prstGeom prst="rect">
            <a:avLst/>
          </a:prstGeom>
          <a:noFill/>
        </p:spPr>
        <p:txBody>
          <a:bodyPr wrap="square" rtlCol="0">
            <a:spAutoFit/>
          </a:bodyPr>
          <a:lstStyle/>
          <a:p>
            <a:r>
              <a:rPr lang="en-US" dirty="0"/>
              <a:t>Stochastic GD sequence-by-sequence</a:t>
            </a:r>
          </a:p>
        </p:txBody>
      </p:sp>
      <p:sp>
        <p:nvSpPr>
          <p:cNvPr id="16" name="Freccia a destra 15"/>
          <p:cNvSpPr/>
          <p:nvPr/>
        </p:nvSpPr>
        <p:spPr>
          <a:xfrm>
            <a:off x="3735572" y="3566112"/>
            <a:ext cx="425302" cy="393404"/>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Parentesi graffa aperta 16"/>
          <p:cNvSpPr/>
          <p:nvPr/>
        </p:nvSpPr>
        <p:spPr>
          <a:xfrm>
            <a:off x="6909390" y="2249731"/>
            <a:ext cx="244340" cy="1993872"/>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Disco magnetico 17"/>
          <p:cNvSpPr/>
          <p:nvPr/>
        </p:nvSpPr>
        <p:spPr>
          <a:xfrm>
            <a:off x="7198351" y="2275193"/>
            <a:ext cx="662654" cy="526933"/>
          </a:xfrm>
          <a:prstGeom prst="flowChartMagneticDisk">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MB1</a:t>
            </a:r>
          </a:p>
        </p:txBody>
      </p:sp>
      <p:sp>
        <p:nvSpPr>
          <p:cNvPr id="19" name="Disco magnetico 18"/>
          <p:cNvSpPr/>
          <p:nvPr/>
        </p:nvSpPr>
        <p:spPr>
          <a:xfrm>
            <a:off x="7206001" y="2915568"/>
            <a:ext cx="662654" cy="526933"/>
          </a:xfrm>
          <a:prstGeom prst="flowChartMagneticDisk">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MB2</a:t>
            </a:r>
          </a:p>
        </p:txBody>
      </p:sp>
      <p:sp>
        <p:nvSpPr>
          <p:cNvPr id="20" name="Disco magnetico 19"/>
          <p:cNvSpPr/>
          <p:nvPr/>
        </p:nvSpPr>
        <p:spPr>
          <a:xfrm>
            <a:off x="7198351" y="3716671"/>
            <a:ext cx="662654" cy="526933"/>
          </a:xfrm>
          <a:prstGeom prst="flowChartMagneticDisk">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err="1"/>
              <a:t>MBn</a:t>
            </a:r>
            <a:endParaRPr lang="en-US" dirty="0"/>
          </a:p>
        </p:txBody>
      </p:sp>
      <mc:AlternateContent xmlns:mc="http://schemas.openxmlformats.org/markup-compatibility/2006" xmlns:a14="http://schemas.microsoft.com/office/drawing/2010/main">
        <mc:Choice Requires="a14">
          <p:sp>
            <p:nvSpPr>
              <p:cNvPr id="21" name="CasellaDiTesto 20"/>
              <p:cNvSpPr txBox="1"/>
              <p:nvPr/>
            </p:nvSpPr>
            <p:spPr>
              <a:xfrm>
                <a:off x="8078542" y="2246253"/>
                <a:ext cx="753220" cy="5850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000" i="1">
                              <a:latin typeface="Cambria Math" panose="02040503050406030204" pitchFamily="18" charset="0"/>
                            </a:rPr>
                          </m:ctrlPr>
                        </m:fPr>
                        <m:num>
                          <m:r>
                            <a:rPr lang="el-GR" sz="2000" i="1">
                              <a:latin typeface="Cambria Math" panose="02040503050406030204" pitchFamily="18" charset="0"/>
                            </a:rPr>
                            <m:t>𝛿</m:t>
                          </m:r>
                          <m:sSub>
                            <m:sSubPr>
                              <m:ctrlPr>
                                <a:rPr lang="it-IT" sz="2000" i="1">
                                  <a:latin typeface="Cambria Math" panose="02040503050406030204" pitchFamily="18" charset="0"/>
                                </a:rPr>
                              </m:ctrlPr>
                            </m:sSubPr>
                            <m:e>
                              <m:r>
                                <a:rPr lang="it-IT" sz="2000" i="1">
                                  <a:latin typeface="Cambria Math" panose="02040503050406030204" pitchFamily="18" charset="0"/>
                                </a:rPr>
                                <m:t>𝐿</m:t>
                              </m:r>
                            </m:e>
                            <m:sub>
                              <m:r>
                                <a:rPr lang="it-IT" sz="2000" i="1">
                                  <a:latin typeface="Cambria Math" panose="02040503050406030204" pitchFamily="18" charset="0"/>
                                </a:rPr>
                                <m:t>𝑀𝐵</m:t>
                              </m:r>
                              <m:r>
                                <a:rPr lang="it-IT" sz="2000" i="1">
                                  <a:latin typeface="Cambria Math" panose="02040503050406030204" pitchFamily="18" charset="0"/>
                                </a:rPr>
                                <m:t>1</m:t>
                              </m:r>
                            </m:sub>
                          </m:sSub>
                        </m:num>
                        <m:den>
                          <m:r>
                            <a:rPr lang="el-GR" sz="2000" i="1">
                              <a:latin typeface="Cambria Math" panose="02040503050406030204" pitchFamily="18" charset="0"/>
                            </a:rPr>
                            <m:t>𝛿</m:t>
                          </m:r>
                          <m:r>
                            <a:rPr lang="it-IT" sz="2000" i="1">
                              <a:latin typeface="Cambria Math" panose="02040503050406030204" pitchFamily="18" charset="0"/>
                            </a:rPr>
                            <m:t>𝑤</m:t>
                          </m:r>
                        </m:den>
                      </m:f>
                    </m:oMath>
                  </m:oMathPara>
                </a14:m>
                <a:endParaRPr lang="en-US" sz="2000" dirty="0"/>
              </a:p>
            </p:txBody>
          </p:sp>
        </mc:Choice>
        <mc:Fallback xmlns="">
          <p:sp>
            <p:nvSpPr>
              <p:cNvPr id="21" name="CasellaDiTesto 20"/>
              <p:cNvSpPr txBox="1">
                <a:spLocks noRot="1" noChangeAspect="1" noMove="1" noResize="1" noEditPoints="1" noAdjustHandles="1" noChangeArrowheads="1" noChangeShapeType="1" noTextEdit="1"/>
              </p:cNvSpPr>
              <p:nvPr/>
            </p:nvSpPr>
            <p:spPr>
              <a:xfrm>
                <a:off x="8078542" y="2246253"/>
                <a:ext cx="753220" cy="585097"/>
              </a:xfrm>
              <a:prstGeom prst="rect">
                <a:avLst/>
              </a:prstGeom>
              <a:blipFill>
                <a:blip r:embed="rId3"/>
                <a:stretch>
                  <a:fillRect l="-8475" r="-1695" b="-12766"/>
                </a:stretch>
              </a:blipFill>
            </p:spPr>
            <p:txBody>
              <a:bodyPr/>
              <a:lstStyle/>
              <a:p>
                <a:r>
                  <a:rPr lang="it-IT">
                    <a:noFill/>
                  </a:rPr>
                  <a:t> </a:t>
                </a:r>
              </a:p>
            </p:txBody>
          </p:sp>
        </mc:Fallback>
      </mc:AlternateContent>
      <p:sp>
        <p:nvSpPr>
          <p:cNvPr id="22" name="CasellaDiTesto 21"/>
          <p:cNvSpPr txBox="1"/>
          <p:nvPr/>
        </p:nvSpPr>
        <p:spPr>
          <a:xfrm>
            <a:off x="7330745" y="3280148"/>
            <a:ext cx="397866" cy="461665"/>
          </a:xfrm>
          <a:prstGeom prst="rect">
            <a:avLst/>
          </a:prstGeom>
          <a:noFill/>
        </p:spPr>
        <p:txBody>
          <a:bodyPr wrap="none" rtlCol="0">
            <a:spAutoFit/>
          </a:bodyPr>
          <a:lstStyle/>
          <a:p>
            <a:r>
              <a:rPr lang="en-US" sz="2400" dirty="0"/>
              <a:t>…</a:t>
            </a:r>
          </a:p>
        </p:txBody>
      </p:sp>
      <mc:AlternateContent xmlns:mc="http://schemas.openxmlformats.org/markup-compatibility/2006" xmlns:a14="http://schemas.microsoft.com/office/drawing/2010/main">
        <mc:Choice Requires="a14">
          <p:sp>
            <p:nvSpPr>
              <p:cNvPr id="23" name="CasellaDiTesto 22"/>
              <p:cNvSpPr txBox="1"/>
              <p:nvPr/>
            </p:nvSpPr>
            <p:spPr>
              <a:xfrm>
                <a:off x="8705158" y="2888117"/>
                <a:ext cx="753220" cy="5850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000" i="1">
                              <a:latin typeface="Cambria Math" panose="02040503050406030204" pitchFamily="18" charset="0"/>
                            </a:rPr>
                          </m:ctrlPr>
                        </m:fPr>
                        <m:num>
                          <m:r>
                            <a:rPr lang="el-GR" sz="2000" i="1">
                              <a:latin typeface="Cambria Math" panose="02040503050406030204" pitchFamily="18" charset="0"/>
                            </a:rPr>
                            <m:t>𝛿</m:t>
                          </m:r>
                          <m:sSub>
                            <m:sSubPr>
                              <m:ctrlPr>
                                <a:rPr lang="it-IT" sz="2000" i="1">
                                  <a:latin typeface="Cambria Math" panose="02040503050406030204" pitchFamily="18" charset="0"/>
                                </a:rPr>
                              </m:ctrlPr>
                            </m:sSubPr>
                            <m:e>
                              <m:r>
                                <a:rPr lang="it-IT" sz="2000" i="1">
                                  <a:latin typeface="Cambria Math" panose="02040503050406030204" pitchFamily="18" charset="0"/>
                                </a:rPr>
                                <m:t>𝐿</m:t>
                              </m:r>
                            </m:e>
                            <m:sub>
                              <m:r>
                                <a:rPr lang="it-IT" sz="2000" i="1">
                                  <a:latin typeface="Cambria Math" panose="02040503050406030204" pitchFamily="18" charset="0"/>
                                </a:rPr>
                                <m:t>𝑀𝐵</m:t>
                              </m:r>
                              <m:r>
                                <a:rPr lang="it-IT" sz="2000" i="1">
                                  <a:latin typeface="Cambria Math" panose="02040503050406030204" pitchFamily="18" charset="0"/>
                                </a:rPr>
                                <m:t>2</m:t>
                              </m:r>
                            </m:sub>
                          </m:sSub>
                        </m:num>
                        <m:den>
                          <m:r>
                            <a:rPr lang="el-GR" sz="2000" i="1">
                              <a:latin typeface="Cambria Math" panose="02040503050406030204" pitchFamily="18" charset="0"/>
                            </a:rPr>
                            <m:t>𝛿</m:t>
                          </m:r>
                          <m:r>
                            <a:rPr lang="it-IT" sz="2000" i="1">
                              <a:latin typeface="Cambria Math" panose="02040503050406030204" pitchFamily="18" charset="0"/>
                            </a:rPr>
                            <m:t>𝑤</m:t>
                          </m:r>
                        </m:den>
                      </m:f>
                    </m:oMath>
                  </m:oMathPara>
                </a14:m>
                <a:endParaRPr lang="en-US" sz="2000" dirty="0"/>
              </a:p>
            </p:txBody>
          </p:sp>
        </mc:Choice>
        <mc:Fallback xmlns="">
          <p:sp>
            <p:nvSpPr>
              <p:cNvPr id="23" name="CasellaDiTesto 22"/>
              <p:cNvSpPr txBox="1">
                <a:spLocks noRot="1" noChangeAspect="1" noMove="1" noResize="1" noEditPoints="1" noAdjustHandles="1" noChangeArrowheads="1" noChangeShapeType="1" noTextEdit="1"/>
              </p:cNvSpPr>
              <p:nvPr/>
            </p:nvSpPr>
            <p:spPr>
              <a:xfrm>
                <a:off x="8705158" y="2888117"/>
                <a:ext cx="753220" cy="585097"/>
              </a:xfrm>
              <a:prstGeom prst="rect">
                <a:avLst/>
              </a:prstGeom>
              <a:blipFill>
                <a:blip r:embed="rId4"/>
                <a:stretch>
                  <a:fillRect l="-6557" b="-1276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4" name="CasellaDiTesto 23"/>
              <p:cNvSpPr txBox="1"/>
              <p:nvPr/>
            </p:nvSpPr>
            <p:spPr>
              <a:xfrm>
                <a:off x="9673855" y="3694365"/>
                <a:ext cx="769250" cy="5850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000" i="1">
                              <a:latin typeface="Cambria Math" panose="02040503050406030204" pitchFamily="18" charset="0"/>
                            </a:rPr>
                          </m:ctrlPr>
                        </m:fPr>
                        <m:num>
                          <m:r>
                            <a:rPr lang="el-GR" sz="2000" i="1">
                              <a:latin typeface="Cambria Math" panose="02040503050406030204" pitchFamily="18" charset="0"/>
                            </a:rPr>
                            <m:t>𝛿</m:t>
                          </m:r>
                          <m:sSub>
                            <m:sSubPr>
                              <m:ctrlPr>
                                <a:rPr lang="it-IT" sz="2000" i="1">
                                  <a:latin typeface="Cambria Math" panose="02040503050406030204" pitchFamily="18" charset="0"/>
                                </a:rPr>
                              </m:ctrlPr>
                            </m:sSubPr>
                            <m:e>
                              <m:r>
                                <a:rPr lang="it-IT" sz="2000" i="1">
                                  <a:latin typeface="Cambria Math" panose="02040503050406030204" pitchFamily="18" charset="0"/>
                                </a:rPr>
                                <m:t>𝐿</m:t>
                              </m:r>
                            </m:e>
                            <m:sub>
                              <m:r>
                                <a:rPr lang="it-IT" sz="2000" i="1">
                                  <a:latin typeface="Cambria Math" panose="02040503050406030204" pitchFamily="18" charset="0"/>
                                </a:rPr>
                                <m:t>𝑀𝐵𝑛</m:t>
                              </m:r>
                            </m:sub>
                          </m:sSub>
                        </m:num>
                        <m:den>
                          <m:r>
                            <a:rPr lang="el-GR" sz="2000" i="1">
                              <a:latin typeface="Cambria Math" panose="02040503050406030204" pitchFamily="18" charset="0"/>
                            </a:rPr>
                            <m:t>𝛿</m:t>
                          </m:r>
                          <m:r>
                            <a:rPr lang="it-IT" sz="2000" i="1">
                              <a:latin typeface="Cambria Math" panose="02040503050406030204" pitchFamily="18" charset="0"/>
                            </a:rPr>
                            <m:t>𝑤</m:t>
                          </m:r>
                        </m:den>
                      </m:f>
                    </m:oMath>
                  </m:oMathPara>
                </a14:m>
                <a:endParaRPr lang="en-US" sz="2000" dirty="0"/>
              </a:p>
            </p:txBody>
          </p:sp>
        </mc:Choice>
        <mc:Fallback xmlns="">
          <p:sp>
            <p:nvSpPr>
              <p:cNvPr id="24" name="CasellaDiTesto 23"/>
              <p:cNvSpPr txBox="1">
                <a:spLocks noRot="1" noChangeAspect="1" noMove="1" noResize="1" noEditPoints="1" noAdjustHandles="1" noChangeArrowheads="1" noChangeShapeType="1" noTextEdit="1"/>
              </p:cNvSpPr>
              <p:nvPr/>
            </p:nvSpPr>
            <p:spPr>
              <a:xfrm>
                <a:off x="9673855" y="3694365"/>
                <a:ext cx="769250" cy="585097"/>
              </a:xfrm>
              <a:prstGeom prst="rect">
                <a:avLst/>
              </a:prstGeom>
              <a:blipFill>
                <a:blip r:embed="rId5"/>
                <a:stretch>
                  <a:fillRect l="-8197" t="-2128" r="-1639" b="-12766"/>
                </a:stretch>
              </a:blipFill>
            </p:spPr>
            <p:txBody>
              <a:bodyPr/>
              <a:lstStyle/>
              <a:p>
                <a:r>
                  <a:rPr lang="it-IT">
                    <a:noFill/>
                  </a:rPr>
                  <a:t> </a:t>
                </a:r>
              </a:p>
            </p:txBody>
          </p:sp>
        </mc:Fallback>
      </mc:AlternateContent>
      <p:cxnSp>
        <p:nvCxnSpPr>
          <p:cNvPr id="26" name="Connettore 2 25"/>
          <p:cNvCxnSpPr>
            <a:stCxn id="18" idx="4"/>
            <a:endCxn id="21" idx="1"/>
          </p:cNvCxnSpPr>
          <p:nvPr/>
        </p:nvCxnSpPr>
        <p:spPr>
          <a:xfrm>
            <a:off x="7861006" y="2538659"/>
            <a:ext cx="217537" cy="142"/>
          </a:xfrm>
          <a:prstGeom prst="straightConnector1">
            <a:avLst/>
          </a:prstGeom>
          <a:ln>
            <a:solidFill>
              <a:schemeClr val="bg1">
                <a:lumMod val="6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8" name="Connettore 2 27"/>
          <p:cNvCxnSpPr>
            <a:stCxn id="19" idx="4"/>
            <a:endCxn id="23" idx="1"/>
          </p:cNvCxnSpPr>
          <p:nvPr/>
        </p:nvCxnSpPr>
        <p:spPr>
          <a:xfrm>
            <a:off x="7868656" y="3179035"/>
            <a:ext cx="836503" cy="1631"/>
          </a:xfrm>
          <a:prstGeom prst="straightConnector1">
            <a:avLst/>
          </a:prstGeom>
          <a:ln>
            <a:solidFill>
              <a:schemeClr val="bg1">
                <a:lumMod val="6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0" name="Connettore 2 29"/>
          <p:cNvCxnSpPr>
            <a:stCxn id="20" idx="4"/>
            <a:endCxn id="24" idx="1"/>
          </p:cNvCxnSpPr>
          <p:nvPr/>
        </p:nvCxnSpPr>
        <p:spPr>
          <a:xfrm>
            <a:off x="7861005" y="3980137"/>
            <a:ext cx="1812850" cy="6776"/>
          </a:xfrm>
          <a:prstGeom prst="straightConnector1">
            <a:avLst/>
          </a:prstGeom>
          <a:ln>
            <a:solidFill>
              <a:schemeClr val="bg1">
                <a:lumMod val="6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6190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500"/>
                                        <p:tgtEl>
                                          <p:spTgt spid="2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fade">
                                      <p:cBhvr>
                                        <p:cTn id="46" dur="500"/>
                                        <p:tgtEl>
                                          <p:spTgt spid="2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childTnLst>
                                </p:cTn>
                              </p:par>
                              <p:par>
                                <p:cTn id="50" presetID="10" presetClass="entr" presetSubtype="0" fill="hold" nodeType="with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fade">
                                      <p:cBhvr>
                                        <p:cTn id="52" dur="500"/>
                                        <p:tgtEl>
                                          <p:spTgt spid="2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500"/>
                                        <p:tgtEl>
                                          <p:spTgt spid="23"/>
                                        </p:tgtEl>
                                      </p:cBhvr>
                                    </p:animEffect>
                                  </p:childTnLst>
                                </p:cTn>
                              </p:par>
                              <p:par>
                                <p:cTn id="56" presetID="10" presetClass="entr" presetSubtype="0" fill="hold" nodeType="withEffect">
                                  <p:stCondLst>
                                    <p:cond delay="0"/>
                                  </p:stCondLst>
                                  <p:childTnLst>
                                    <p:set>
                                      <p:cBhvr>
                                        <p:cTn id="57" dur="1" fill="hold">
                                          <p:stCondLst>
                                            <p:cond delay="0"/>
                                          </p:stCondLst>
                                        </p:cTn>
                                        <p:tgtEl>
                                          <p:spTgt spid="30"/>
                                        </p:tgtEl>
                                        <p:attrNameLst>
                                          <p:attrName>style.visibility</p:attrName>
                                        </p:attrNameLst>
                                      </p:cBhvr>
                                      <p:to>
                                        <p:strVal val="visible"/>
                                      </p:to>
                                    </p:set>
                                    <p:animEffect transition="in" filter="fade">
                                      <p:cBhvr>
                                        <p:cTn id="58" dur="500"/>
                                        <p:tgtEl>
                                          <p:spTgt spid="3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animBg="1"/>
      <p:bldP spid="13" grpId="0"/>
      <p:bldP spid="14" grpId="0" animBg="1"/>
      <p:bldP spid="15" grpId="0"/>
      <p:bldP spid="16" grpId="0" animBg="1"/>
      <p:bldP spid="17" grpId="0" animBg="1"/>
      <p:bldP spid="18" grpId="0" animBg="1"/>
      <p:bldP spid="19" grpId="0" animBg="1"/>
      <p:bldP spid="20" grpId="0" animBg="1"/>
      <p:bldP spid="21" grpId="0"/>
      <p:bldP spid="22" grpId="0"/>
      <p:bldP spid="23" grpId="0"/>
      <p:bldP spid="24" grpId="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880389D-49B0-4CA3-8B41-9D71611EBC7F}"/>
              </a:ext>
            </a:extLst>
          </p:cNvPr>
          <p:cNvSpPr>
            <a:spLocks noGrp="1"/>
          </p:cNvSpPr>
          <p:nvPr>
            <p:ph type="title"/>
          </p:nvPr>
        </p:nvSpPr>
        <p:spPr/>
        <p:txBody>
          <a:bodyPr/>
          <a:lstStyle/>
          <a:p>
            <a:r>
              <a:rPr lang="en-US" dirty="0"/>
              <a:t>Convergence Criteria</a:t>
            </a:r>
          </a:p>
        </p:txBody>
      </p:sp>
      <p:sp>
        <p:nvSpPr>
          <p:cNvPr id="5" name="Segnaposto contenuto 4">
            <a:extLst>
              <a:ext uri="{FF2B5EF4-FFF2-40B4-BE49-F238E27FC236}">
                <a16:creationId xmlns:a16="http://schemas.microsoft.com/office/drawing/2014/main" id="{7A12E7FF-14B8-4C37-A979-8946C4ED11D2}"/>
              </a:ext>
            </a:extLst>
          </p:cNvPr>
          <p:cNvSpPr>
            <a:spLocks noGrp="1"/>
          </p:cNvSpPr>
          <p:nvPr>
            <p:ph idx="1"/>
          </p:nvPr>
        </p:nvSpPr>
        <p:spPr>
          <a:xfrm>
            <a:off x="838200" y="1825625"/>
            <a:ext cx="9728200" cy="4351338"/>
          </a:xfrm>
        </p:spPr>
        <p:txBody>
          <a:bodyPr>
            <a:normAutofit/>
          </a:bodyPr>
          <a:lstStyle/>
          <a:p>
            <a:r>
              <a:rPr lang="en-US" dirty="0"/>
              <a:t>Learning is obtained by repeatedly supplying training data and adjusting by backpropagation</a:t>
            </a:r>
          </a:p>
          <a:p>
            <a:pPr lvl="1"/>
            <a:r>
              <a:rPr lang="en-US" dirty="0"/>
              <a:t>Typically 1 training set presentation = </a:t>
            </a:r>
            <a:r>
              <a:rPr lang="en-US" b="1" dirty="0"/>
              <a:t>1 epoch</a:t>
            </a:r>
          </a:p>
          <a:p>
            <a:r>
              <a:rPr lang="en-US" dirty="0"/>
              <a:t>We need a stopping criteria to define convergence</a:t>
            </a:r>
          </a:p>
          <a:p>
            <a:pPr lvl="1"/>
            <a:r>
              <a:rPr lang="en-US" dirty="0"/>
              <a:t>Euclidean norm of the gradient vector reaches a sufficiently small value</a:t>
            </a:r>
          </a:p>
          <a:p>
            <a:pPr lvl="1"/>
            <a:r>
              <a:rPr lang="en-US" dirty="0"/>
              <a:t>Absolute rate of change in the average squared error per epoch is sufficiently small </a:t>
            </a:r>
          </a:p>
          <a:p>
            <a:pPr lvl="1"/>
            <a:r>
              <a:rPr lang="en-US" b="1" dirty="0"/>
              <a:t>Validation for generalization performance: stop when generalization performance reaches a peak</a:t>
            </a:r>
          </a:p>
        </p:txBody>
      </p:sp>
    </p:spTree>
    <p:extLst>
      <p:ext uri="{BB962C8B-B14F-4D97-AF65-F5344CB8AC3E}">
        <p14:creationId xmlns:p14="http://schemas.microsoft.com/office/powerpoint/2010/main" val="814597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2">
            <a:extLst>
              <a:ext uri="{FF2B5EF4-FFF2-40B4-BE49-F238E27FC236}">
                <a16:creationId xmlns:a16="http://schemas.microsoft.com/office/drawing/2014/main" id="{1EDA7279-0F35-46D3-A8B8-C08D68C4F06C}"/>
              </a:ext>
            </a:extLst>
          </p:cNvPr>
          <p:cNvSpPr>
            <a:spLocks noGrp="1"/>
          </p:cNvSpPr>
          <p:nvPr>
            <p:ph type="title"/>
          </p:nvPr>
        </p:nvSpPr>
        <p:spPr/>
        <p:txBody>
          <a:bodyPr/>
          <a:lstStyle/>
          <a:p>
            <a:r>
              <a:rPr lang="en-US" dirty="0"/>
              <a:t>Early Stopping</a:t>
            </a:r>
          </a:p>
        </p:txBody>
      </p:sp>
      <p:sp>
        <p:nvSpPr>
          <p:cNvPr id="187395" name="Rectangle 3">
            <a:extLst>
              <a:ext uri="{FF2B5EF4-FFF2-40B4-BE49-F238E27FC236}">
                <a16:creationId xmlns:a16="http://schemas.microsoft.com/office/drawing/2014/main" id="{86F11C11-C273-44E4-8A03-18B4E0392CB8}"/>
              </a:ext>
            </a:extLst>
          </p:cNvPr>
          <p:cNvSpPr>
            <a:spLocks noGrp="1" noChangeArrowheads="1"/>
          </p:cNvSpPr>
          <p:nvPr>
            <p:ph idx="1"/>
          </p:nvPr>
        </p:nvSpPr>
        <p:spPr>
          <a:xfrm>
            <a:off x="838200" y="1825625"/>
            <a:ext cx="10515600" cy="3077607"/>
          </a:xfrm>
        </p:spPr>
        <p:txBody>
          <a:bodyPr>
            <a:normAutofit/>
          </a:bodyPr>
          <a:lstStyle/>
          <a:p>
            <a:r>
              <a:rPr lang="en-US" altLang="en-US" dirty="0"/>
              <a:t>Running too many epochs may </a:t>
            </a:r>
            <a:r>
              <a:rPr lang="en-US" altLang="en-US" b="1" dirty="0" err="1"/>
              <a:t>overtrain</a:t>
            </a:r>
            <a:r>
              <a:rPr lang="en-US" altLang="en-US" dirty="0"/>
              <a:t> the network and result in </a:t>
            </a:r>
            <a:r>
              <a:rPr lang="en-US" altLang="en-US" b="1" dirty="0"/>
              <a:t>overfitting</a:t>
            </a:r>
            <a:r>
              <a:rPr lang="en-US" altLang="en-US" dirty="0"/>
              <a:t> and perform poorly in generalization</a:t>
            </a:r>
          </a:p>
          <a:p>
            <a:r>
              <a:rPr lang="en-US" altLang="en-US" dirty="0"/>
              <a:t>Keep a hold-out validation set and test accuracy after every epoch. Maintain weights for best performing network on the validation set and stop training when error increases beyond this</a:t>
            </a:r>
          </a:p>
          <a:p>
            <a:r>
              <a:rPr lang="en-US" altLang="en-US" dirty="0"/>
              <a:t>Always let the network run for some epochs before deciding to stop (</a:t>
            </a:r>
            <a:r>
              <a:rPr lang="en-US" altLang="en-US" b="1" dirty="0"/>
              <a:t>patience parameter</a:t>
            </a:r>
            <a:r>
              <a:rPr lang="en-US" altLang="en-US" dirty="0"/>
              <a:t>), then backtrack to best result</a:t>
            </a:r>
          </a:p>
        </p:txBody>
      </p:sp>
      <p:sp>
        <p:nvSpPr>
          <p:cNvPr id="12" name="Segnaposto numero diapositiva 5">
            <a:extLst>
              <a:ext uri="{FF2B5EF4-FFF2-40B4-BE49-F238E27FC236}">
                <a16:creationId xmlns:a16="http://schemas.microsoft.com/office/drawing/2014/main" id="{E9943346-9C22-432D-B5B2-C8E2C8D33F83}"/>
              </a:ext>
            </a:extLst>
          </p:cNvPr>
          <p:cNvSpPr>
            <a:spLocks noGrp="1"/>
          </p:cNvSpPr>
          <p:nvPr>
            <p:ph type="sldNum" sz="quarter" idx="4294967295"/>
          </p:nvPr>
        </p:nvSpPr>
        <p:spPr>
          <a:xfrm>
            <a:off x="10134600" y="6356350"/>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D5CD1A5-E6E0-42A5-84CC-9AA958E63032}" type="slidenum">
              <a:rPr lang="en-GB" smtClean="0"/>
              <a:pPr/>
              <a:t>142</a:t>
            </a:fld>
            <a:endParaRPr lang="en-US" altLang="en-US"/>
          </a:p>
        </p:txBody>
      </p:sp>
      <p:sp>
        <p:nvSpPr>
          <p:cNvPr id="187396" name="Line 4">
            <a:extLst>
              <a:ext uri="{FF2B5EF4-FFF2-40B4-BE49-F238E27FC236}">
                <a16:creationId xmlns:a16="http://schemas.microsoft.com/office/drawing/2014/main" id="{FF07F1F2-7A51-4552-975C-8EC2C6575729}"/>
              </a:ext>
            </a:extLst>
          </p:cNvPr>
          <p:cNvSpPr>
            <a:spLocks noChangeShapeType="1"/>
          </p:cNvSpPr>
          <p:nvPr/>
        </p:nvSpPr>
        <p:spPr bwMode="auto">
          <a:xfrm flipV="1">
            <a:off x="3136900" y="4885769"/>
            <a:ext cx="0" cy="1371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sp>
        <p:nvSpPr>
          <p:cNvPr id="187397" name="Line 5">
            <a:extLst>
              <a:ext uri="{FF2B5EF4-FFF2-40B4-BE49-F238E27FC236}">
                <a16:creationId xmlns:a16="http://schemas.microsoft.com/office/drawing/2014/main" id="{43E698F9-D1FE-42F8-AF03-2A6219663716}"/>
              </a:ext>
            </a:extLst>
          </p:cNvPr>
          <p:cNvSpPr>
            <a:spLocks noChangeShapeType="1"/>
          </p:cNvSpPr>
          <p:nvPr/>
        </p:nvSpPr>
        <p:spPr bwMode="auto">
          <a:xfrm>
            <a:off x="3136900" y="6257369"/>
            <a:ext cx="58674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sp>
        <p:nvSpPr>
          <p:cNvPr id="187398" name="Freeform 6">
            <a:extLst>
              <a:ext uri="{FF2B5EF4-FFF2-40B4-BE49-F238E27FC236}">
                <a16:creationId xmlns:a16="http://schemas.microsoft.com/office/drawing/2014/main" id="{822F97B1-A581-461F-BEAA-8AE40CE63EBB}"/>
              </a:ext>
            </a:extLst>
          </p:cNvPr>
          <p:cNvSpPr>
            <a:spLocks/>
          </p:cNvSpPr>
          <p:nvPr/>
        </p:nvSpPr>
        <p:spPr bwMode="auto">
          <a:xfrm>
            <a:off x="3136900" y="5266769"/>
            <a:ext cx="4114800" cy="990600"/>
          </a:xfrm>
          <a:custGeom>
            <a:avLst/>
            <a:gdLst>
              <a:gd name="T0" fmla="*/ 0 w 2592"/>
              <a:gd name="T1" fmla="*/ 0 h 624"/>
              <a:gd name="T2" fmla="*/ 144 w 2592"/>
              <a:gd name="T3" fmla="*/ 192 h 624"/>
              <a:gd name="T4" fmla="*/ 576 w 2592"/>
              <a:gd name="T5" fmla="*/ 384 h 624"/>
              <a:gd name="T6" fmla="*/ 1344 w 2592"/>
              <a:gd name="T7" fmla="*/ 528 h 624"/>
              <a:gd name="T8" fmla="*/ 2592 w 2592"/>
              <a:gd name="T9" fmla="*/ 624 h 624"/>
            </a:gdLst>
            <a:ahLst/>
            <a:cxnLst>
              <a:cxn ang="0">
                <a:pos x="T0" y="T1"/>
              </a:cxn>
              <a:cxn ang="0">
                <a:pos x="T2" y="T3"/>
              </a:cxn>
              <a:cxn ang="0">
                <a:pos x="T4" y="T5"/>
              </a:cxn>
              <a:cxn ang="0">
                <a:pos x="T6" y="T7"/>
              </a:cxn>
              <a:cxn ang="0">
                <a:pos x="T8" y="T9"/>
              </a:cxn>
            </a:cxnLst>
            <a:rect l="0" t="0" r="r" b="b"/>
            <a:pathLst>
              <a:path w="2592" h="624">
                <a:moveTo>
                  <a:pt x="0" y="0"/>
                </a:moveTo>
                <a:cubicBezTo>
                  <a:pt x="24" y="64"/>
                  <a:pt x="48" y="128"/>
                  <a:pt x="144" y="192"/>
                </a:cubicBezTo>
                <a:cubicBezTo>
                  <a:pt x="240" y="256"/>
                  <a:pt x="376" y="328"/>
                  <a:pt x="576" y="384"/>
                </a:cubicBezTo>
                <a:cubicBezTo>
                  <a:pt x="776" y="440"/>
                  <a:pt x="1008" y="488"/>
                  <a:pt x="1344" y="528"/>
                </a:cubicBezTo>
                <a:cubicBezTo>
                  <a:pt x="1680" y="568"/>
                  <a:pt x="2136" y="596"/>
                  <a:pt x="2592" y="624"/>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sp>
        <p:nvSpPr>
          <p:cNvPr id="187399" name="Text Box 7">
            <a:extLst>
              <a:ext uri="{FF2B5EF4-FFF2-40B4-BE49-F238E27FC236}">
                <a16:creationId xmlns:a16="http://schemas.microsoft.com/office/drawing/2014/main" id="{BB749436-1681-4997-81DC-593240810B96}"/>
              </a:ext>
            </a:extLst>
          </p:cNvPr>
          <p:cNvSpPr txBox="1">
            <a:spLocks noChangeArrowheads="1"/>
          </p:cNvSpPr>
          <p:nvPr/>
        </p:nvSpPr>
        <p:spPr bwMode="auto">
          <a:xfrm>
            <a:off x="4965700" y="6181169"/>
            <a:ext cx="2438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latin typeface="Tahoma" panose="020B0604030504040204" pitchFamily="34" charset="0"/>
              </a:rPr>
              <a:t>No. of epochs</a:t>
            </a:r>
          </a:p>
        </p:txBody>
      </p:sp>
      <p:sp>
        <p:nvSpPr>
          <p:cNvPr id="187400" name="Text Box 8">
            <a:extLst>
              <a:ext uri="{FF2B5EF4-FFF2-40B4-BE49-F238E27FC236}">
                <a16:creationId xmlns:a16="http://schemas.microsoft.com/office/drawing/2014/main" id="{57BC485C-19BD-4D78-B6EF-264A15900CCB}"/>
              </a:ext>
            </a:extLst>
          </p:cNvPr>
          <p:cNvSpPr txBox="1">
            <a:spLocks noChangeArrowheads="1"/>
          </p:cNvSpPr>
          <p:nvPr/>
        </p:nvSpPr>
        <p:spPr bwMode="auto">
          <a:xfrm>
            <a:off x="2298700" y="5495369"/>
            <a:ext cx="914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latin typeface="Tahoma" panose="020B0604030504040204" pitchFamily="34" charset="0"/>
              </a:rPr>
              <a:t>error</a:t>
            </a:r>
          </a:p>
        </p:txBody>
      </p:sp>
      <p:sp>
        <p:nvSpPr>
          <p:cNvPr id="187401" name="Freeform 9">
            <a:extLst>
              <a:ext uri="{FF2B5EF4-FFF2-40B4-BE49-F238E27FC236}">
                <a16:creationId xmlns:a16="http://schemas.microsoft.com/office/drawing/2014/main" id="{8FB29F0E-332E-4978-98AD-ABDBA8C2F5B7}"/>
              </a:ext>
            </a:extLst>
          </p:cNvPr>
          <p:cNvSpPr>
            <a:spLocks/>
          </p:cNvSpPr>
          <p:nvPr/>
        </p:nvSpPr>
        <p:spPr bwMode="auto">
          <a:xfrm>
            <a:off x="3136900" y="5266769"/>
            <a:ext cx="4191000" cy="723900"/>
          </a:xfrm>
          <a:custGeom>
            <a:avLst/>
            <a:gdLst>
              <a:gd name="T0" fmla="*/ 0 w 2640"/>
              <a:gd name="T1" fmla="*/ 0 h 456"/>
              <a:gd name="T2" fmla="*/ 576 w 2640"/>
              <a:gd name="T3" fmla="*/ 288 h 456"/>
              <a:gd name="T4" fmla="*/ 1344 w 2640"/>
              <a:gd name="T5" fmla="*/ 432 h 456"/>
              <a:gd name="T6" fmla="*/ 1920 w 2640"/>
              <a:gd name="T7" fmla="*/ 384 h 456"/>
              <a:gd name="T8" fmla="*/ 2640 w 2640"/>
              <a:gd name="T9" fmla="*/ 0 h 456"/>
            </a:gdLst>
            <a:ahLst/>
            <a:cxnLst>
              <a:cxn ang="0">
                <a:pos x="T0" y="T1"/>
              </a:cxn>
              <a:cxn ang="0">
                <a:pos x="T2" y="T3"/>
              </a:cxn>
              <a:cxn ang="0">
                <a:pos x="T4" y="T5"/>
              </a:cxn>
              <a:cxn ang="0">
                <a:pos x="T6" y="T7"/>
              </a:cxn>
              <a:cxn ang="0">
                <a:pos x="T8" y="T9"/>
              </a:cxn>
            </a:cxnLst>
            <a:rect l="0" t="0" r="r" b="b"/>
            <a:pathLst>
              <a:path w="2640" h="456">
                <a:moveTo>
                  <a:pt x="0" y="0"/>
                </a:moveTo>
                <a:cubicBezTo>
                  <a:pt x="176" y="108"/>
                  <a:pt x="352" y="216"/>
                  <a:pt x="576" y="288"/>
                </a:cubicBezTo>
                <a:cubicBezTo>
                  <a:pt x="800" y="360"/>
                  <a:pt x="1120" y="416"/>
                  <a:pt x="1344" y="432"/>
                </a:cubicBezTo>
                <a:cubicBezTo>
                  <a:pt x="1568" y="448"/>
                  <a:pt x="1704" y="456"/>
                  <a:pt x="1920" y="384"/>
                </a:cubicBezTo>
                <a:cubicBezTo>
                  <a:pt x="2136" y="312"/>
                  <a:pt x="2520" y="64"/>
                  <a:pt x="2640" y="0"/>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sp>
        <p:nvSpPr>
          <p:cNvPr id="187402" name="Text Box 10">
            <a:extLst>
              <a:ext uri="{FF2B5EF4-FFF2-40B4-BE49-F238E27FC236}">
                <a16:creationId xmlns:a16="http://schemas.microsoft.com/office/drawing/2014/main" id="{7533A717-887D-426E-BEFA-36FFF37426E8}"/>
              </a:ext>
            </a:extLst>
          </p:cNvPr>
          <p:cNvSpPr txBox="1">
            <a:spLocks noChangeArrowheads="1"/>
          </p:cNvSpPr>
          <p:nvPr/>
        </p:nvSpPr>
        <p:spPr bwMode="auto">
          <a:xfrm>
            <a:off x="7099300" y="5800169"/>
            <a:ext cx="2057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latin typeface="Tahoma" panose="020B0604030504040204" pitchFamily="34" charset="0"/>
              </a:rPr>
              <a:t>Training set</a:t>
            </a:r>
          </a:p>
        </p:txBody>
      </p:sp>
      <p:sp>
        <p:nvSpPr>
          <p:cNvPr id="187403" name="Text Box 11">
            <a:extLst>
              <a:ext uri="{FF2B5EF4-FFF2-40B4-BE49-F238E27FC236}">
                <a16:creationId xmlns:a16="http://schemas.microsoft.com/office/drawing/2014/main" id="{328172F8-936C-4BF9-8495-80FB40BE5FA6}"/>
              </a:ext>
            </a:extLst>
          </p:cNvPr>
          <p:cNvSpPr txBox="1">
            <a:spLocks noChangeArrowheads="1"/>
          </p:cNvSpPr>
          <p:nvPr/>
        </p:nvSpPr>
        <p:spPr bwMode="auto">
          <a:xfrm>
            <a:off x="7404100" y="5038169"/>
            <a:ext cx="2133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latin typeface="Tahoma" panose="020B0604030504040204" pitchFamily="34" charset="0"/>
              </a:rPr>
              <a:t>Validation set</a:t>
            </a:r>
          </a:p>
        </p:txBody>
      </p:sp>
    </p:spTree>
    <p:extLst>
      <p:ext uri="{BB962C8B-B14F-4D97-AF65-F5344CB8AC3E}">
        <p14:creationId xmlns:p14="http://schemas.microsoft.com/office/powerpoint/2010/main" val="3888832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73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73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73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5" grpId="0" build="p"/>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2">
            <a:extLst>
              <a:ext uri="{FF2B5EF4-FFF2-40B4-BE49-F238E27FC236}">
                <a16:creationId xmlns:a16="http://schemas.microsoft.com/office/drawing/2014/main" id="{0CBFF377-59CF-4CB2-917E-EB2D4991BDF3}"/>
              </a:ext>
            </a:extLst>
          </p:cNvPr>
          <p:cNvSpPr>
            <a:spLocks noGrp="1"/>
          </p:cNvSpPr>
          <p:nvPr>
            <p:ph type="title"/>
          </p:nvPr>
        </p:nvSpPr>
        <p:spPr/>
        <p:txBody>
          <a:bodyPr/>
          <a:lstStyle/>
          <a:p>
            <a:r>
              <a:rPr lang="en-US" dirty="0"/>
              <a:t>Model Selection</a:t>
            </a:r>
          </a:p>
        </p:txBody>
      </p:sp>
      <p:sp>
        <p:nvSpPr>
          <p:cNvPr id="188419" name="Rectangle 3">
            <a:extLst>
              <a:ext uri="{FF2B5EF4-FFF2-40B4-BE49-F238E27FC236}">
                <a16:creationId xmlns:a16="http://schemas.microsoft.com/office/drawing/2014/main" id="{440D5591-7DF0-4002-A42D-69D29C7269B9}"/>
              </a:ext>
            </a:extLst>
          </p:cNvPr>
          <p:cNvSpPr>
            <a:spLocks noGrp="1" noChangeArrowheads="1"/>
          </p:cNvSpPr>
          <p:nvPr>
            <p:ph idx="1"/>
          </p:nvPr>
        </p:nvSpPr>
        <p:spPr/>
        <p:txBody>
          <a:bodyPr>
            <a:normAutofit/>
          </a:bodyPr>
          <a:lstStyle/>
          <a:p>
            <a:r>
              <a:rPr lang="en-US" altLang="en-US" sz="2400" b="1" dirty="0"/>
              <a:t>Too few hidden units </a:t>
            </a:r>
            <a:r>
              <a:rPr lang="en-US" altLang="en-US" sz="2400" dirty="0"/>
              <a:t>prevent the network from learning adequately fitting the data and learning the concept. </a:t>
            </a:r>
          </a:p>
          <a:p>
            <a:r>
              <a:rPr lang="en-US" altLang="en-US" sz="2400" b="1" dirty="0"/>
              <a:t>Too many hidden units </a:t>
            </a:r>
            <a:r>
              <a:rPr lang="en-US" altLang="en-US" sz="2400" dirty="0"/>
              <a:t>leads to overfitting, unless you regularize heavily (e.g. dropout, weight decay, weight penalties)</a:t>
            </a:r>
          </a:p>
          <a:p>
            <a:r>
              <a:rPr lang="en-US" altLang="en-US" sz="2400" dirty="0"/>
              <a:t>Cross validation should be used to determine an appropriate number of hidden units by using the optimal validation error to select the model with optimal number of hidden layers and nodes.</a:t>
            </a:r>
          </a:p>
          <a:p>
            <a:pPr>
              <a:buFont typeface="Wingdings" panose="05000000000000000000" pitchFamily="2" charset="2"/>
              <a:buNone/>
            </a:pPr>
            <a:endParaRPr lang="en-US" altLang="en-US" sz="2400" dirty="0"/>
          </a:p>
          <a:p>
            <a:pPr>
              <a:buFont typeface="Wingdings" panose="05000000000000000000" pitchFamily="2" charset="2"/>
              <a:buNone/>
            </a:pPr>
            <a:endParaRPr lang="en-US" altLang="en-US" sz="2400" dirty="0"/>
          </a:p>
          <a:p>
            <a:pPr>
              <a:buFont typeface="Wingdings" panose="05000000000000000000" pitchFamily="2" charset="2"/>
              <a:buNone/>
            </a:pPr>
            <a:endParaRPr lang="en-US" altLang="en-US" sz="2400" dirty="0"/>
          </a:p>
          <a:p>
            <a:pPr>
              <a:buFont typeface="Wingdings" panose="05000000000000000000" pitchFamily="2" charset="2"/>
              <a:buNone/>
            </a:pPr>
            <a:endParaRPr lang="en-US" altLang="en-US" sz="2400" dirty="0"/>
          </a:p>
          <a:p>
            <a:pPr>
              <a:buFont typeface="Wingdings" panose="05000000000000000000" pitchFamily="2" charset="2"/>
              <a:buNone/>
            </a:pPr>
            <a:endParaRPr lang="en-US" altLang="en-US" sz="2400" dirty="0"/>
          </a:p>
          <a:p>
            <a:endParaRPr lang="en-US" altLang="en-US" sz="2400" dirty="0"/>
          </a:p>
          <a:p>
            <a:pPr>
              <a:buFont typeface="Wingdings" panose="05000000000000000000" pitchFamily="2" charset="2"/>
              <a:buNone/>
            </a:pPr>
            <a:endParaRPr lang="en-US" altLang="en-US" sz="2400" dirty="0"/>
          </a:p>
        </p:txBody>
      </p:sp>
      <p:sp>
        <p:nvSpPr>
          <p:cNvPr id="12" name="Segnaposto numero diapositiva 5">
            <a:extLst>
              <a:ext uri="{FF2B5EF4-FFF2-40B4-BE49-F238E27FC236}">
                <a16:creationId xmlns:a16="http://schemas.microsoft.com/office/drawing/2014/main" id="{2EA5C6B3-D39E-486A-9F55-F1367106DF78}"/>
              </a:ext>
            </a:extLst>
          </p:cNvPr>
          <p:cNvSpPr>
            <a:spLocks noGrp="1"/>
          </p:cNvSpPr>
          <p:nvPr>
            <p:ph type="sldNum" sz="quarter" idx="4294967295"/>
          </p:nvPr>
        </p:nvSpPr>
        <p:spPr>
          <a:xfrm>
            <a:off x="10134600" y="6356350"/>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D5CD1A5-E6E0-42A5-84CC-9AA958E63032}" type="slidenum">
              <a:rPr lang="en-GB" smtClean="0"/>
              <a:pPr/>
              <a:t>143</a:t>
            </a:fld>
            <a:endParaRPr lang="en-US" altLang="en-US"/>
          </a:p>
        </p:txBody>
      </p:sp>
      <p:sp>
        <p:nvSpPr>
          <p:cNvPr id="188420" name="Line 4">
            <a:extLst>
              <a:ext uri="{FF2B5EF4-FFF2-40B4-BE49-F238E27FC236}">
                <a16:creationId xmlns:a16="http://schemas.microsoft.com/office/drawing/2014/main" id="{E42C831E-7F60-4E0E-AAB1-C956B643A0E8}"/>
              </a:ext>
            </a:extLst>
          </p:cNvPr>
          <p:cNvSpPr>
            <a:spLocks noChangeShapeType="1"/>
          </p:cNvSpPr>
          <p:nvPr/>
        </p:nvSpPr>
        <p:spPr bwMode="auto">
          <a:xfrm flipV="1">
            <a:off x="3124200" y="4648200"/>
            <a:ext cx="0" cy="1371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sp>
        <p:nvSpPr>
          <p:cNvPr id="188421" name="Line 5">
            <a:extLst>
              <a:ext uri="{FF2B5EF4-FFF2-40B4-BE49-F238E27FC236}">
                <a16:creationId xmlns:a16="http://schemas.microsoft.com/office/drawing/2014/main" id="{C954E220-6A35-4F9B-88FC-1A692C27AB67}"/>
              </a:ext>
            </a:extLst>
          </p:cNvPr>
          <p:cNvSpPr>
            <a:spLocks noChangeShapeType="1"/>
          </p:cNvSpPr>
          <p:nvPr/>
        </p:nvSpPr>
        <p:spPr bwMode="auto">
          <a:xfrm>
            <a:off x="3124200" y="6019800"/>
            <a:ext cx="58674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sp>
        <p:nvSpPr>
          <p:cNvPr id="188422" name="Freeform 6">
            <a:extLst>
              <a:ext uri="{FF2B5EF4-FFF2-40B4-BE49-F238E27FC236}">
                <a16:creationId xmlns:a16="http://schemas.microsoft.com/office/drawing/2014/main" id="{9979C007-1BFF-4CF8-BC15-58C6631D1E99}"/>
              </a:ext>
            </a:extLst>
          </p:cNvPr>
          <p:cNvSpPr>
            <a:spLocks/>
          </p:cNvSpPr>
          <p:nvPr/>
        </p:nvSpPr>
        <p:spPr bwMode="auto">
          <a:xfrm>
            <a:off x="3124200" y="5029200"/>
            <a:ext cx="4114800" cy="990600"/>
          </a:xfrm>
          <a:custGeom>
            <a:avLst/>
            <a:gdLst>
              <a:gd name="T0" fmla="*/ 0 w 2592"/>
              <a:gd name="T1" fmla="*/ 0 h 624"/>
              <a:gd name="T2" fmla="*/ 144 w 2592"/>
              <a:gd name="T3" fmla="*/ 192 h 624"/>
              <a:gd name="T4" fmla="*/ 576 w 2592"/>
              <a:gd name="T5" fmla="*/ 384 h 624"/>
              <a:gd name="T6" fmla="*/ 1344 w 2592"/>
              <a:gd name="T7" fmla="*/ 528 h 624"/>
              <a:gd name="T8" fmla="*/ 2592 w 2592"/>
              <a:gd name="T9" fmla="*/ 624 h 624"/>
            </a:gdLst>
            <a:ahLst/>
            <a:cxnLst>
              <a:cxn ang="0">
                <a:pos x="T0" y="T1"/>
              </a:cxn>
              <a:cxn ang="0">
                <a:pos x="T2" y="T3"/>
              </a:cxn>
              <a:cxn ang="0">
                <a:pos x="T4" y="T5"/>
              </a:cxn>
              <a:cxn ang="0">
                <a:pos x="T6" y="T7"/>
              </a:cxn>
              <a:cxn ang="0">
                <a:pos x="T8" y="T9"/>
              </a:cxn>
            </a:cxnLst>
            <a:rect l="0" t="0" r="r" b="b"/>
            <a:pathLst>
              <a:path w="2592" h="624">
                <a:moveTo>
                  <a:pt x="0" y="0"/>
                </a:moveTo>
                <a:cubicBezTo>
                  <a:pt x="24" y="64"/>
                  <a:pt x="48" y="128"/>
                  <a:pt x="144" y="192"/>
                </a:cubicBezTo>
                <a:cubicBezTo>
                  <a:pt x="240" y="256"/>
                  <a:pt x="376" y="328"/>
                  <a:pt x="576" y="384"/>
                </a:cubicBezTo>
                <a:cubicBezTo>
                  <a:pt x="776" y="440"/>
                  <a:pt x="1008" y="488"/>
                  <a:pt x="1344" y="528"/>
                </a:cubicBezTo>
                <a:cubicBezTo>
                  <a:pt x="1680" y="568"/>
                  <a:pt x="2136" y="596"/>
                  <a:pt x="2592" y="624"/>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sp>
        <p:nvSpPr>
          <p:cNvPr id="188423" name="Text Box 7">
            <a:extLst>
              <a:ext uri="{FF2B5EF4-FFF2-40B4-BE49-F238E27FC236}">
                <a16:creationId xmlns:a16="http://schemas.microsoft.com/office/drawing/2014/main" id="{E6DA718A-7FB9-4172-9D42-0E7768ECCC1A}"/>
              </a:ext>
            </a:extLst>
          </p:cNvPr>
          <p:cNvSpPr txBox="1">
            <a:spLocks noChangeArrowheads="1"/>
          </p:cNvSpPr>
          <p:nvPr/>
        </p:nvSpPr>
        <p:spPr bwMode="auto">
          <a:xfrm>
            <a:off x="4953000" y="5943600"/>
            <a:ext cx="2438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latin typeface="Tahoma" panose="020B0604030504040204" pitchFamily="34" charset="0"/>
              </a:rPr>
              <a:t>No. of epochs</a:t>
            </a:r>
          </a:p>
        </p:txBody>
      </p:sp>
      <p:sp>
        <p:nvSpPr>
          <p:cNvPr id="188424" name="Text Box 8">
            <a:extLst>
              <a:ext uri="{FF2B5EF4-FFF2-40B4-BE49-F238E27FC236}">
                <a16:creationId xmlns:a16="http://schemas.microsoft.com/office/drawing/2014/main" id="{3EE38ECD-06A4-4FB4-BE95-1BC88FBE92CF}"/>
              </a:ext>
            </a:extLst>
          </p:cNvPr>
          <p:cNvSpPr txBox="1">
            <a:spLocks noChangeArrowheads="1"/>
          </p:cNvSpPr>
          <p:nvPr/>
        </p:nvSpPr>
        <p:spPr bwMode="auto">
          <a:xfrm>
            <a:off x="2286000" y="5257800"/>
            <a:ext cx="914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latin typeface="Tahoma" panose="020B0604030504040204" pitchFamily="34" charset="0"/>
              </a:rPr>
              <a:t>error</a:t>
            </a:r>
          </a:p>
        </p:txBody>
      </p:sp>
      <p:sp>
        <p:nvSpPr>
          <p:cNvPr id="188425" name="Freeform 9">
            <a:extLst>
              <a:ext uri="{FF2B5EF4-FFF2-40B4-BE49-F238E27FC236}">
                <a16:creationId xmlns:a16="http://schemas.microsoft.com/office/drawing/2014/main" id="{CED2048B-0EF6-41D9-8464-3A8CEF66CB14}"/>
              </a:ext>
            </a:extLst>
          </p:cNvPr>
          <p:cNvSpPr>
            <a:spLocks/>
          </p:cNvSpPr>
          <p:nvPr/>
        </p:nvSpPr>
        <p:spPr bwMode="auto">
          <a:xfrm>
            <a:off x="3124200" y="5029200"/>
            <a:ext cx="4191000" cy="723900"/>
          </a:xfrm>
          <a:custGeom>
            <a:avLst/>
            <a:gdLst>
              <a:gd name="T0" fmla="*/ 0 w 2640"/>
              <a:gd name="T1" fmla="*/ 0 h 456"/>
              <a:gd name="T2" fmla="*/ 576 w 2640"/>
              <a:gd name="T3" fmla="*/ 288 h 456"/>
              <a:gd name="T4" fmla="*/ 1344 w 2640"/>
              <a:gd name="T5" fmla="*/ 432 h 456"/>
              <a:gd name="T6" fmla="*/ 1920 w 2640"/>
              <a:gd name="T7" fmla="*/ 384 h 456"/>
              <a:gd name="T8" fmla="*/ 2640 w 2640"/>
              <a:gd name="T9" fmla="*/ 0 h 456"/>
            </a:gdLst>
            <a:ahLst/>
            <a:cxnLst>
              <a:cxn ang="0">
                <a:pos x="T0" y="T1"/>
              </a:cxn>
              <a:cxn ang="0">
                <a:pos x="T2" y="T3"/>
              </a:cxn>
              <a:cxn ang="0">
                <a:pos x="T4" y="T5"/>
              </a:cxn>
              <a:cxn ang="0">
                <a:pos x="T6" y="T7"/>
              </a:cxn>
              <a:cxn ang="0">
                <a:pos x="T8" y="T9"/>
              </a:cxn>
            </a:cxnLst>
            <a:rect l="0" t="0" r="r" b="b"/>
            <a:pathLst>
              <a:path w="2640" h="456">
                <a:moveTo>
                  <a:pt x="0" y="0"/>
                </a:moveTo>
                <a:cubicBezTo>
                  <a:pt x="176" y="108"/>
                  <a:pt x="352" y="216"/>
                  <a:pt x="576" y="288"/>
                </a:cubicBezTo>
                <a:cubicBezTo>
                  <a:pt x="800" y="360"/>
                  <a:pt x="1120" y="416"/>
                  <a:pt x="1344" y="432"/>
                </a:cubicBezTo>
                <a:cubicBezTo>
                  <a:pt x="1568" y="448"/>
                  <a:pt x="1704" y="456"/>
                  <a:pt x="1920" y="384"/>
                </a:cubicBezTo>
                <a:cubicBezTo>
                  <a:pt x="2136" y="312"/>
                  <a:pt x="2520" y="64"/>
                  <a:pt x="2640" y="0"/>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GB"/>
          </a:p>
        </p:txBody>
      </p:sp>
      <p:sp>
        <p:nvSpPr>
          <p:cNvPr id="188426" name="Text Box 10">
            <a:extLst>
              <a:ext uri="{FF2B5EF4-FFF2-40B4-BE49-F238E27FC236}">
                <a16:creationId xmlns:a16="http://schemas.microsoft.com/office/drawing/2014/main" id="{3C822E9C-4E25-45C6-B02E-7A2A162C7BEB}"/>
              </a:ext>
            </a:extLst>
          </p:cNvPr>
          <p:cNvSpPr txBox="1">
            <a:spLocks noChangeArrowheads="1"/>
          </p:cNvSpPr>
          <p:nvPr/>
        </p:nvSpPr>
        <p:spPr bwMode="auto">
          <a:xfrm>
            <a:off x="7086600" y="5562600"/>
            <a:ext cx="2057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latin typeface="Tahoma" panose="020B0604030504040204" pitchFamily="34" charset="0"/>
              </a:rPr>
              <a:t>Training set</a:t>
            </a:r>
          </a:p>
        </p:txBody>
      </p:sp>
      <p:sp>
        <p:nvSpPr>
          <p:cNvPr id="188427" name="Text Box 11">
            <a:extLst>
              <a:ext uri="{FF2B5EF4-FFF2-40B4-BE49-F238E27FC236}">
                <a16:creationId xmlns:a16="http://schemas.microsoft.com/office/drawing/2014/main" id="{3A767918-994C-4F43-95D6-C114D4511193}"/>
              </a:ext>
            </a:extLst>
          </p:cNvPr>
          <p:cNvSpPr txBox="1">
            <a:spLocks noChangeArrowheads="1"/>
          </p:cNvSpPr>
          <p:nvPr/>
        </p:nvSpPr>
        <p:spPr bwMode="auto">
          <a:xfrm>
            <a:off x="7391400" y="4800600"/>
            <a:ext cx="2133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latin typeface="Tahoma" panose="020B0604030504040204" pitchFamily="34" charset="0"/>
              </a:rPr>
              <a:t>Validation set</a:t>
            </a:r>
          </a:p>
        </p:txBody>
      </p:sp>
    </p:spTree>
    <p:extLst>
      <p:ext uri="{BB962C8B-B14F-4D97-AF65-F5344CB8AC3E}">
        <p14:creationId xmlns:p14="http://schemas.microsoft.com/office/powerpoint/2010/main" val="3327609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84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84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84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9" grpId="0" build="p"/>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DE4B38D-43D6-40B2-B2F3-5F3B7822E72C}"/>
              </a:ext>
            </a:extLst>
          </p:cNvPr>
          <p:cNvSpPr>
            <a:spLocks noGrp="1"/>
          </p:cNvSpPr>
          <p:nvPr>
            <p:ph type="title"/>
          </p:nvPr>
        </p:nvSpPr>
        <p:spPr/>
        <p:txBody>
          <a:bodyPr/>
          <a:lstStyle/>
          <a:p>
            <a:r>
              <a:rPr lang="en-US" dirty="0"/>
              <a:t>Regularization</a:t>
            </a:r>
          </a:p>
        </p:txBody>
      </p:sp>
      <p:sp>
        <p:nvSpPr>
          <p:cNvPr id="3" name="Segnaposto contenuto 2">
            <a:extLst>
              <a:ext uri="{FF2B5EF4-FFF2-40B4-BE49-F238E27FC236}">
                <a16:creationId xmlns:a16="http://schemas.microsoft.com/office/drawing/2014/main" id="{12B3BD07-9D20-4F05-AA53-E58CD2C6E5AA}"/>
              </a:ext>
            </a:extLst>
          </p:cNvPr>
          <p:cNvSpPr>
            <a:spLocks noGrp="1"/>
          </p:cNvSpPr>
          <p:nvPr>
            <p:ph idx="1"/>
          </p:nvPr>
        </p:nvSpPr>
        <p:spPr/>
        <p:txBody>
          <a:bodyPr/>
          <a:lstStyle/>
          <a:p>
            <a:r>
              <a:rPr lang="en-US" dirty="0"/>
              <a:t>Constrain the learning model to avoid overfitting and help improving generalization.</a:t>
            </a:r>
          </a:p>
          <a:p>
            <a:r>
              <a:rPr lang="en-US" dirty="0"/>
              <a:t>Add </a:t>
            </a:r>
            <a:r>
              <a:rPr lang="en-US" b="1" dirty="0"/>
              <a:t>penalization terms </a:t>
            </a:r>
            <a:r>
              <a:rPr lang="en-US" dirty="0"/>
              <a:t>to the loss function that </a:t>
            </a:r>
            <a:r>
              <a:rPr lang="en-US" i="1" dirty="0"/>
              <a:t>punish</a:t>
            </a:r>
            <a:r>
              <a:rPr lang="en-US" dirty="0"/>
              <a:t> the model for excessive use of resources</a:t>
            </a:r>
          </a:p>
          <a:p>
            <a:pPr lvl="1"/>
            <a:r>
              <a:rPr lang="en-US" dirty="0"/>
              <a:t>Limit the </a:t>
            </a:r>
            <a:r>
              <a:rPr lang="en-US" b="1" dirty="0"/>
              <a:t>amount of weights </a:t>
            </a:r>
            <a:r>
              <a:rPr lang="en-US" dirty="0"/>
              <a:t>that is used to learn a task</a:t>
            </a:r>
          </a:p>
          <a:p>
            <a:pPr lvl="1"/>
            <a:r>
              <a:rPr lang="en-US" dirty="0"/>
              <a:t>Limit the </a:t>
            </a:r>
            <a:r>
              <a:rPr lang="en-US" b="1" dirty="0"/>
              <a:t>total activation of neurons </a:t>
            </a:r>
            <a:r>
              <a:rPr lang="en-US" dirty="0"/>
              <a:t>in the network  </a:t>
            </a:r>
          </a:p>
        </p:txBody>
      </p:sp>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B296360B-FD24-41D9-AE8E-D7682FA8D0A6}"/>
                  </a:ext>
                </a:extLst>
              </p:cNvPr>
              <p:cNvSpPr txBox="1"/>
              <p:nvPr/>
            </p:nvSpPr>
            <p:spPr>
              <a:xfrm>
                <a:off x="4458629" y="4676114"/>
                <a:ext cx="3461973"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it-IT" sz="2800" i="1" smtClean="0">
                              <a:latin typeface="Cambria Math" panose="02040503050406030204" pitchFamily="18" charset="0"/>
                            </a:rPr>
                          </m:ctrlPr>
                        </m:sSupPr>
                        <m:e>
                          <m:r>
                            <a:rPr lang="it-IT" sz="2800" b="0" i="1" smtClean="0">
                              <a:latin typeface="Cambria Math" panose="02040503050406030204" pitchFamily="18" charset="0"/>
                            </a:rPr>
                            <m:t>𝐸</m:t>
                          </m:r>
                        </m:e>
                        <m:sup>
                          <m:r>
                            <a:rPr lang="it-IT" sz="2800" i="1">
                              <a:latin typeface="Cambria Math" panose="02040503050406030204" pitchFamily="18" charset="0"/>
                            </a:rPr>
                            <m:t>′</m:t>
                          </m:r>
                        </m:sup>
                      </m:sSup>
                      <m:r>
                        <a:rPr lang="it-IT" sz="2800" i="1">
                          <a:latin typeface="Cambria Math" panose="02040503050406030204" pitchFamily="18" charset="0"/>
                        </a:rPr>
                        <m:t>=</m:t>
                      </m:r>
                      <m:r>
                        <a:rPr lang="it-IT" sz="2800" b="0" i="1" smtClean="0">
                          <a:latin typeface="Cambria Math" panose="02040503050406030204" pitchFamily="18" charset="0"/>
                        </a:rPr>
                        <m:t>𝐸</m:t>
                      </m:r>
                      <m:d>
                        <m:dPr>
                          <m:ctrlPr>
                            <a:rPr lang="it-IT" sz="2800" i="1">
                              <a:latin typeface="Cambria Math" panose="02040503050406030204" pitchFamily="18" charset="0"/>
                            </a:rPr>
                          </m:ctrlPr>
                        </m:dPr>
                        <m:e>
                          <m:r>
                            <a:rPr lang="it-IT" sz="2800" i="1">
                              <a:latin typeface="Cambria Math" panose="02040503050406030204" pitchFamily="18" charset="0"/>
                            </a:rPr>
                            <m:t>𝑦</m:t>
                          </m:r>
                          <m:r>
                            <a:rPr lang="it-IT" sz="2800" i="1">
                              <a:latin typeface="Cambria Math" panose="02040503050406030204" pitchFamily="18" charset="0"/>
                            </a:rPr>
                            <m:t>,</m:t>
                          </m:r>
                          <m:sSup>
                            <m:sSupPr>
                              <m:ctrlPr>
                                <a:rPr lang="it-IT" sz="2800" i="1">
                                  <a:latin typeface="Cambria Math" panose="02040503050406030204" pitchFamily="18" charset="0"/>
                                </a:rPr>
                              </m:ctrlPr>
                            </m:sSupPr>
                            <m:e>
                              <m:r>
                                <a:rPr lang="it-IT" sz="2800" i="1">
                                  <a:latin typeface="Cambria Math" panose="02040503050406030204" pitchFamily="18" charset="0"/>
                                </a:rPr>
                                <m:t>𝑦</m:t>
                              </m:r>
                            </m:e>
                            <m:sup>
                              <m:r>
                                <a:rPr lang="it-IT" sz="2800" i="1">
                                  <a:latin typeface="Cambria Math" panose="02040503050406030204" pitchFamily="18" charset="0"/>
                                </a:rPr>
                                <m:t>∗</m:t>
                              </m:r>
                            </m:sup>
                          </m:sSup>
                        </m:e>
                      </m:d>
                      <m:r>
                        <a:rPr lang="it-IT" sz="2800" i="1">
                          <a:latin typeface="Cambria Math" panose="02040503050406030204" pitchFamily="18" charset="0"/>
                        </a:rPr>
                        <m:t>+</m:t>
                      </m:r>
                      <m:r>
                        <a:rPr lang="it-IT" sz="2800" i="1">
                          <a:solidFill>
                            <a:schemeClr val="accent2"/>
                          </a:solidFill>
                          <a:latin typeface="Cambria Math" panose="02040503050406030204" pitchFamily="18" charset="0"/>
                        </a:rPr>
                        <m:t>𝜆</m:t>
                      </m:r>
                      <m:r>
                        <a:rPr lang="it-IT" sz="2800" i="1">
                          <a:solidFill>
                            <a:schemeClr val="accent2"/>
                          </a:solidFill>
                          <a:latin typeface="Cambria Math" panose="02040503050406030204" pitchFamily="18" charset="0"/>
                        </a:rPr>
                        <m:t>𝑅</m:t>
                      </m:r>
                      <m:r>
                        <a:rPr lang="it-IT" sz="2800" i="1">
                          <a:solidFill>
                            <a:schemeClr val="accent2"/>
                          </a:solidFill>
                          <a:latin typeface="Cambria Math" panose="02040503050406030204" pitchFamily="18" charset="0"/>
                        </a:rPr>
                        <m:t>(⋅) </m:t>
                      </m:r>
                    </m:oMath>
                  </m:oMathPara>
                </a14:m>
                <a:endParaRPr lang="en-GB" sz="2800" dirty="0"/>
              </a:p>
            </p:txBody>
          </p:sp>
        </mc:Choice>
        <mc:Fallback xmlns="">
          <p:sp>
            <p:nvSpPr>
              <p:cNvPr id="4" name="CasellaDiTesto 3">
                <a:extLst>
                  <a:ext uri="{FF2B5EF4-FFF2-40B4-BE49-F238E27FC236}">
                    <a16:creationId xmlns:a16="http://schemas.microsoft.com/office/drawing/2014/main" id="{B296360B-FD24-41D9-AE8E-D7682FA8D0A6}"/>
                  </a:ext>
                </a:extLst>
              </p:cNvPr>
              <p:cNvSpPr txBox="1">
                <a:spLocks noRot="1" noChangeAspect="1" noMove="1" noResize="1" noEditPoints="1" noAdjustHandles="1" noChangeArrowheads="1" noChangeShapeType="1" noTextEdit="1"/>
              </p:cNvSpPr>
              <p:nvPr/>
            </p:nvSpPr>
            <p:spPr>
              <a:xfrm>
                <a:off x="4458629" y="4676114"/>
                <a:ext cx="3461973" cy="430887"/>
              </a:xfrm>
              <a:prstGeom prst="rect">
                <a:avLst/>
              </a:prstGeom>
              <a:blipFill>
                <a:blip r:embed="rId2"/>
                <a:stretch>
                  <a:fillRect l="-1825" t="-5714" r="-3285" b="-3428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31220FD8-23A6-45F3-A15B-0982D3ADE8B0}"/>
                  </a:ext>
                </a:extLst>
              </p:cNvPr>
              <p:cNvSpPr txBox="1"/>
              <p:nvPr/>
            </p:nvSpPr>
            <p:spPr>
              <a:xfrm>
                <a:off x="6627467" y="5447419"/>
                <a:ext cx="1181221"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2800" i="1">
                          <a:latin typeface="Cambria Math" panose="02040503050406030204" pitchFamily="18" charset="0"/>
                        </a:rPr>
                        <m:t>𝑅</m:t>
                      </m:r>
                      <m:r>
                        <a:rPr lang="it-IT" sz="2800" i="1">
                          <a:latin typeface="Cambria Math" panose="02040503050406030204" pitchFamily="18" charset="0"/>
                        </a:rPr>
                        <m:t>(</m:t>
                      </m:r>
                      <m:sSub>
                        <m:sSubPr>
                          <m:ctrlPr>
                            <a:rPr lang="it-IT" sz="2800" i="1">
                              <a:latin typeface="Cambria Math" panose="02040503050406030204" pitchFamily="18" charset="0"/>
                            </a:rPr>
                          </m:ctrlPr>
                        </m:sSubPr>
                        <m:e>
                          <m:r>
                            <a:rPr lang="it-IT" sz="2800" i="1">
                              <a:latin typeface="Cambria Math" panose="02040503050406030204" pitchFamily="18" charset="0"/>
                            </a:rPr>
                            <m:t>𝑊</m:t>
                          </m:r>
                        </m:e>
                        <m:sub>
                          <m:r>
                            <a:rPr lang="it-IT" sz="2800" i="1">
                              <a:latin typeface="Cambria Math" panose="02040503050406030204" pitchFamily="18" charset="0"/>
                            </a:rPr>
                            <m:t>𝜃</m:t>
                          </m:r>
                        </m:sub>
                      </m:sSub>
                      <m:r>
                        <a:rPr lang="it-IT" sz="2800" i="1">
                          <a:latin typeface="Cambria Math" panose="02040503050406030204" pitchFamily="18" charset="0"/>
                        </a:rPr>
                        <m:t>) </m:t>
                      </m:r>
                    </m:oMath>
                  </m:oMathPara>
                </a14:m>
                <a:endParaRPr lang="en-GB" sz="2800" dirty="0"/>
              </a:p>
            </p:txBody>
          </p:sp>
        </mc:Choice>
        <mc:Fallback xmlns="">
          <p:sp>
            <p:nvSpPr>
              <p:cNvPr id="5" name="CasellaDiTesto 4">
                <a:extLst>
                  <a:ext uri="{FF2B5EF4-FFF2-40B4-BE49-F238E27FC236}">
                    <a16:creationId xmlns:a16="http://schemas.microsoft.com/office/drawing/2014/main" id="{31220FD8-23A6-45F3-A15B-0982D3ADE8B0}"/>
                  </a:ext>
                </a:extLst>
              </p:cNvPr>
              <p:cNvSpPr txBox="1">
                <a:spLocks noRot="1" noChangeAspect="1" noMove="1" noResize="1" noEditPoints="1" noAdjustHandles="1" noChangeArrowheads="1" noChangeShapeType="1" noTextEdit="1"/>
              </p:cNvSpPr>
              <p:nvPr/>
            </p:nvSpPr>
            <p:spPr>
              <a:xfrm>
                <a:off x="6627467" y="5447419"/>
                <a:ext cx="1181221" cy="430887"/>
              </a:xfrm>
              <a:prstGeom prst="rect">
                <a:avLst/>
              </a:prstGeom>
              <a:blipFill>
                <a:blip r:embed="rId3"/>
                <a:stretch>
                  <a:fillRect l="-6383" t="-8571" r="-10638" b="-3428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CC7BFD99-7D92-4C07-AE6B-395778A3511A}"/>
                  </a:ext>
                </a:extLst>
              </p:cNvPr>
              <p:cNvSpPr txBox="1"/>
              <p:nvPr/>
            </p:nvSpPr>
            <p:spPr>
              <a:xfrm>
                <a:off x="6627466" y="6110796"/>
                <a:ext cx="92018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2800" i="1">
                          <a:latin typeface="Cambria Math" panose="02040503050406030204" pitchFamily="18" charset="0"/>
                        </a:rPr>
                        <m:t>𝑅</m:t>
                      </m:r>
                      <m:r>
                        <a:rPr lang="it-IT" sz="2800" i="1">
                          <a:latin typeface="Cambria Math" panose="02040503050406030204" pitchFamily="18" charset="0"/>
                        </a:rPr>
                        <m:t>(</m:t>
                      </m:r>
                      <m:r>
                        <a:rPr lang="it-IT" sz="2800" i="1">
                          <a:latin typeface="Cambria Math" panose="02040503050406030204" pitchFamily="18" charset="0"/>
                        </a:rPr>
                        <m:t>𝑍</m:t>
                      </m:r>
                      <m:r>
                        <a:rPr lang="it-IT" sz="2800" i="1">
                          <a:latin typeface="Cambria Math" panose="02040503050406030204" pitchFamily="18" charset="0"/>
                        </a:rPr>
                        <m:t>) </m:t>
                      </m:r>
                    </m:oMath>
                  </m:oMathPara>
                </a14:m>
                <a:endParaRPr lang="en-GB" sz="2800" dirty="0"/>
              </a:p>
            </p:txBody>
          </p:sp>
        </mc:Choice>
        <mc:Fallback xmlns="">
          <p:sp>
            <p:nvSpPr>
              <p:cNvPr id="6" name="CasellaDiTesto 5">
                <a:extLst>
                  <a:ext uri="{FF2B5EF4-FFF2-40B4-BE49-F238E27FC236}">
                    <a16:creationId xmlns:a16="http://schemas.microsoft.com/office/drawing/2014/main" id="{CC7BFD99-7D92-4C07-AE6B-395778A3511A}"/>
                  </a:ext>
                </a:extLst>
              </p:cNvPr>
              <p:cNvSpPr txBox="1">
                <a:spLocks noRot="1" noChangeAspect="1" noMove="1" noResize="1" noEditPoints="1" noAdjustHandles="1" noChangeArrowheads="1" noChangeShapeType="1" noTextEdit="1"/>
              </p:cNvSpPr>
              <p:nvPr/>
            </p:nvSpPr>
            <p:spPr>
              <a:xfrm>
                <a:off x="6627466" y="6110796"/>
                <a:ext cx="920188" cy="430887"/>
              </a:xfrm>
              <a:prstGeom prst="rect">
                <a:avLst/>
              </a:prstGeom>
              <a:blipFill>
                <a:blip r:embed="rId4"/>
                <a:stretch>
                  <a:fillRect l="-8219" t="-5714" r="-13699" b="-34286"/>
                </a:stretch>
              </a:blipFill>
            </p:spPr>
            <p:txBody>
              <a:bodyPr/>
              <a:lstStyle/>
              <a:p>
                <a:r>
                  <a:rPr lang="it-IT">
                    <a:noFill/>
                  </a:rPr>
                  <a:t> </a:t>
                </a:r>
              </a:p>
            </p:txBody>
          </p:sp>
        </mc:Fallback>
      </mc:AlternateContent>
      <p:cxnSp>
        <p:nvCxnSpPr>
          <p:cNvPr id="8" name="Connettore 2 7">
            <a:extLst>
              <a:ext uri="{FF2B5EF4-FFF2-40B4-BE49-F238E27FC236}">
                <a16:creationId xmlns:a16="http://schemas.microsoft.com/office/drawing/2014/main" id="{D7E4C05F-2542-4624-950E-88B7B70D957B}"/>
              </a:ext>
            </a:extLst>
          </p:cNvPr>
          <p:cNvCxnSpPr>
            <a:cxnSpLocks/>
          </p:cNvCxnSpPr>
          <p:nvPr/>
        </p:nvCxnSpPr>
        <p:spPr>
          <a:xfrm flipV="1">
            <a:off x="5191875" y="5107002"/>
            <a:ext cx="1500027" cy="585215"/>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 name="CasellaDiTesto 8">
            <a:extLst>
              <a:ext uri="{FF2B5EF4-FFF2-40B4-BE49-F238E27FC236}">
                <a16:creationId xmlns:a16="http://schemas.microsoft.com/office/drawing/2014/main" id="{ADE57176-272D-4F6A-9CE8-5CB3AC5FD99F}"/>
              </a:ext>
            </a:extLst>
          </p:cNvPr>
          <p:cNvSpPr txBox="1"/>
          <p:nvPr/>
        </p:nvSpPr>
        <p:spPr>
          <a:xfrm>
            <a:off x="2533582" y="5478195"/>
            <a:ext cx="3274743" cy="707886"/>
          </a:xfrm>
          <a:prstGeom prst="rect">
            <a:avLst/>
          </a:prstGeom>
          <a:noFill/>
        </p:spPr>
        <p:txBody>
          <a:bodyPr wrap="square" rtlCol="0">
            <a:spAutoFit/>
          </a:bodyPr>
          <a:lstStyle/>
          <a:p>
            <a:r>
              <a:rPr lang="it-IT" sz="2000" dirty="0" err="1"/>
              <a:t>Hyperparameter</a:t>
            </a:r>
            <a:r>
              <a:rPr lang="it-IT" sz="2000" dirty="0"/>
              <a:t> to be </a:t>
            </a:r>
            <a:r>
              <a:rPr lang="it-IT" sz="2000" dirty="0" err="1"/>
              <a:t>chosen</a:t>
            </a:r>
            <a:r>
              <a:rPr lang="it-IT" sz="2000" dirty="0"/>
              <a:t> in model </a:t>
            </a:r>
            <a:r>
              <a:rPr lang="it-IT" sz="2000" dirty="0" err="1"/>
              <a:t>selection</a:t>
            </a:r>
            <a:endParaRPr lang="en-GB" sz="2000" dirty="0"/>
          </a:p>
        </p:txBody>
      </p:sp>
      <p:sp>
        <p:nvSpPr>
          <p:cNvPr id="10" name="CasellaDiTesto 9">
            <a:extLst>
              <a:ext uri="{FF2B5EF4-FFF2-40B4-BE49-F238E27FC236}">
                <a16:creationId xmlns:a16="http://schemas.microsoft.com/office/drawing/2014/main" id="{095AF406-1032-4338-A6D7-BE98E305F61F}"/>
              </a:ext>
            </a:extLst>
          </p:cNvPr>
          <p:cNvSpPr txBox="1"/>
          <p:nvPr/>
        </p:nvSpPr>
        <p:spPr>
          <a:xfrm>
            <a:off x="7808688" y="5478195"/>
            <a:ext cx="2664107" cy="400110"/>
          </a:xfrm>
          <a:prstGeom prst="rect">
            <a:avLst/>
          </a:prstGeom>
          <a:noFill/>
        </p:spPr>
        <p:txBody>
          <a:bodyPr wrap="square" rtlCol="0">
            <a:spAutoFit/>
          </a:bodyPr>
          <a:lstStyle/>
          <a:p>
            <a:r>
              <a:rPr lang="it-IT" sz="2000" dirty="0"/>
              <a:t>Penalty on </a:t>
            </a:r>
            <a:r>
              <a:rPr lang="it-IT" sz="2000" dirty="0" err="1">
                <a:solidFill>
                  <a:schemeClr val="accent2"/>
                </a:solidFill>
              </a:rPr>
              <a:t>parameters</a:t>
            </a:r>
            <a:endParaRPr lang="en-GB" sz="2000" dirty="0">
              <a:solidFill>
                <a:schemeClr val="accent2"/>
              </a:solidFill>
            </a:endParaRPr>
          </a:p>
        </p:txBody>
      </p:sp>
      <p:sp>
        <p:nvSpPr>
          <p:cNvPr id="11" name="CasellaDiTesto 10">
            <a:extLst>
              <a:ext uri="{FF2B5EF4-FFF2-40B4-BE49-F238E27FC236}">
                <a16:creationId xmlns:a16="http://schemas.microsoft.com/office/drawing/2014/main" id="{2C0D7D5F-215B-42BA-8784-47A4FF0B0D05}"/>
              </a:ext>
            </a:extLst>
          </p:cNvPr>
          <p:cNvSpPr txBox="1"/>
          <p:nvPr/>
        </p:nvSpPr>
        <p:spPr>
          <a:xfrm>
            <a:off x="7808687" y="6170692"/>
            <a:ext cx="2664107" cy="400110"/>
          </a:xfrm>
          <a:prstGeom prst="rect">
            <a:avLst/>
          </a:prstGeom>
          <a:noFill/>
        </p:spPr>
        <p:txBody>
          <a:bodyPr wrap="square" rtlCol="0">
            <a:spAutoFit/>
          </a:bodyPr>
          <a:lstStyle/>
          <a:p>
            <a:r>
              <a:rPr lang="it-IT" sz="2000" dirty="0"/>
              <a:t>Penalty on </a:t>
            </a:r>
            <a:r>
              <a:rPr lang="it-IT" sz="2000" dirty="0" err="1">
                <a:solidFill>
                  <a:schemeClr val="accent2"/>
                </a:solidFill>
              </a:rPr>
              <a:t>activations</a:t>
            </a:r>
            <a:endParaRPr lang="en-GB" sz="2000" dirty="0">
              <a:solidFill>
                <a:schemeClr val="accent2"/>
              </a:solidFill>
            </a:endParaRPr>
          </a:p>
        </p:txBody>
      </p:sp>
    </p:spTree>
    <p:extLst>
      <p:ext uri="{BB962C8B-B14F-4D97-AF65-F5344CB8AC3E}">
        <p14:creationId xmlns:p14="http://schemas.microsoft.com/office/powerpoint/2010/main" val="3603366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9" grpId="0"/>
      <p:bldP spid="10" grpId="0"/>
      <p:bldP spid="11"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C4E8CE6-9847-4005-ABF0-ED15EEFC4499}"/>
              </a:ext>
            </a:extLst>
          </p:cNvPr>
          <p:cNvSpPr>
            <a:spLocks noGrp="1"/>
          </p:cNvSpPr>
          <p:nvPr>
            <p:ph type="title"/>
          </p:nvPr>
        </p:nvSpPr>
        <p:spPr/>
        <p:txBody>
          <a:bodyPr/>
          <a:lstStyle/>
          <a:p>
            <a:r>
              <a:rPr lang="en-US" dirty="0"/>
              <a:t>Common penalty terms (norms)</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E24158F1-4306-4FC8-9D37-5F89439E70F0}"/>
                  </a:ext>
                </a:extLst>
              </p:cNvPr>
              <p:cNvSpPr>
                <a:spLocks noGrp="1"/>
              </p:cNvSpPr>
              <p:nvPr>
                <p:ph idx="1"/>
              </p:nvPr>
            </p:nvSpPr>
            <p:spPr/>
            <p:txBody>
              <a:bodyPr/>
              <a:lstStyle/>
              <a:p>
                <a:r>
                  <a:rPr lang="en-US" dirty="0"/>
                  <a:t>1-norm </a:t>
                </a:r>
                <a14:m>
                  <m:oMath xmlns:m="http://schemas.openxmlformats.org/officeDocument/2006/math">
                    <m:r>
                      <m:rPr>
                        <m:lit/>
                      </m:rPr>
                      <a:rPr lang="en-US" i="1">
                        <a:latin typeface="Cambria Math" panose="02040503050406030204" pitchFamily="18" charset="0"/>
                      </a:rPr>
                      <m:t>||</m:t>
                    </m:r>
                    <m:r>
                      <a:rPr lang="en-US" b="0" i="1" smtClean="0">
                        <a:latin typeface="Cambria Math" panose="02040503050406030204" pitchFamily="18" charset="0"/>
                      </a:rPr>
                      <m:t>𝐴</m:t>
                    </m:r>
                    <m:r>
                      <m:rPr>
                        <m:lit/>
                      </m:rPr>
                      <a:rPr lang="en-US" i="1">
                        <a:latin typeface="Cambria Math" panose="02040503050406030204" pitchFamily="18" charset="0"/>
                      </a:rPr>
                      <m:t>|</m:t>
                    </m:r>
                    <m:sSub>
                      <m:sSubPr>
                        <m:ctrlPr>
                          <a:rPr lang="en-US" b="0" i="1" smtClean="0">
                            <a:latin typeface="Cambria Math" panose="02040503050406030204" pitchFamily="18" charset="0"/>
                          </a:rPr>
                        </m:ctrlPr>
                      </m:sSubPr>
                      <m:e>
                        <m:r>
                          <m:rPr>
                            <m:lit/>
                          </m:rPr>
                          <a:rPr lang="en-US" i="1">
                            <a:latin typeface="Cambria Math" panose="02040503050406030204" pitchFamily="18" charset="0"/>
                          </a:rPr>
                          <m:t>|</m:t>
                        </m:r>
                      </m:e>
                      <m:sub>
                        <m:r>
                          <a:rPr lang="en-US" b="0" i="1" smtClean="0">
                            <a:latin typeface="Cambria Math" panose="02040503050406030204" pitchFamily="18" charset="0"/>
                          </a:rPr>
                          <m:t>1</m:t>
                        </m:r>
                      </m:sub>
                    </m:sSub>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𝑖𝑗</m:t>
                        </m:r>
                      </m:sub>
                      <m:sup/>
                      <m:e>
                        <m:r>
                          <m:rPr>
                            <m:lit/>
                          </m:rP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𝑖𝑗</m:t>
                            </m:r>
                          </m:sub>
                        </m:sSub>
                        <m:r>
                          <m:rPr>
                            <m:lit/>
                          </m:rPr>
                          <a:rPr lang="en-US" b="0" i="1" smtClean="0">
                            <a:latin typeface="Cambria Math" panose="02040503050406030204" pitchFamily="18" charset="0"/>
                          </a:rPr>
                          <m:t>|</m:t>
                        </m:r>
                      </m:e>
                    </m:nary>
                  </m:oMath>
                </a14:m>
                <a:r>
                  <a:rPr lang="en-US" dirty="0"/>
                  <a:t> </a:t>
                </a:r>
              </a:p>
              <a:p>
                <a:pPr lvl="1"/>
                <a:r>
                  <a:rPr lang="en-US" dirty="0"/>
                  <a:t>Parameters: </a:t>
                </a:r>
                <a14:m>
                  <m:oMath xmlns:m="http://schemas.openxmlformats.org/officeDocument/2006/math">
                    <m:r>
                      <a:rPr lang="en-US" i="1">
                        <a:latin typeface="Cambria Math" panose="02040503050406030204" pitchFamily="18" charset="0"/>
                      </a:rPr>
                      <m:t>𝑅</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𝑊</m:t>
                            </m:r>
                          </m:e>
                          <m:sub>
                            <m:r>
                              <a:rPr lang="en-US" i="1">
                                <a:latin typeface="Cambria Math" panose="02040503050406030204" pitchFamily="18" charset="0"/>
                              </a:rPr>
                              <m:t>𝜃</m:t>
                            </m:r>
                          </m:sub>
                        </m:sSub>
                      </m:e>
                    </m:d>
                    <m:r>
                      <a:rPr lang="en-US" i="1">
                        <a:latin typeface="Cambria Math" panose="02040503050406030204" pitchFamily="18" charset="0"/>
                      </a:rPr>
                      <m:t>=</m:t>
                    </m:r>
                    <m:r>
                      <m:rPr>
                        <m:lit/>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𝑊</m:t>
                        </m:r>
                      </m:e>
                      <m:sub>
                        <m:r>
                          <a:rPr lang="en-US" i="1">
                            <a:latin typeface="Cambria Math" panose="02040503050406030204" pitchFamily="18" charset="0"/>
                          </a:rPr>
                          <m:t>𝜃</m:t>
                        </m:r>
                      </m:sub>
                    </m:sSub>
                    <m:r>
                      <m:rPr>
                        <m:lit/>
                      </m:rPr>
                      <a:rPr lang="en-US" i="1">
                        <a:latin typeface="Cambria Math" panose="02040503050406030204" pitchFamily="18" charset="0"/>
                      </a:rPr>
                      <m:t>|</m:t>
                    </m:r>
                    <m:sSubSup>
                      <m:sSubSupPr>
                        <m:ctrlPr>
                          <a:rPr lang="en-US" i="1">
                            <a:latin typeface="Cambria Math" panose="02040503050406030204" pitchFamily="18" charset="0"/>
                          </a:rPr>
                        </m:ctrlPr>
                      </m:sSubSupPr>
                      <m:e>
                        <m:r>
                          <m:rPr>
                            <m:lit/>
                          </m:rPr>
                          <a:rPr lang="en-US" i="1">
                            <a:latin typeface="Cambria Math" panose="02040503050406030204" pitchFamily="18" charset="0"/>
                          </a:rPr>
                          <m:t>|</m:t>
                        </m:r>
                      </m:e>
                      <m:sub>
                        <m:r>
                          <a:rPr lang="en-US" b="0" i="1" smtClean="0">
                            <a:latin typeface="Cambria Math" panose="02040503050406030204" pitchFamily="18" charset="0"/>
                          </a:rPr>
                          <m:t>1</m:t>
                        </m:r>
                      </m:sub>
                      <m:sup>
                        <m:r>
                          <a:rPr lang="en-US" i="1">
                            <a:latin typeface="Cambria Math" panose="02040503050406030204" pitchFamily="18" charset="0"/>
                          </a:rPr>
                          <m:t>2</m:t>
                        </m:r>
                      </m:sup>
                    </m:sSubSup>
                  </m:oMath>
                </a14:m>
                <a:endParaRPr lang="en-US" dirty="0"/>
              </a:p>
              <a:p>
                <a:pPr lvl="1"/>
                <a:r>
                  <a:rPr lang="en-US" dirty="0" err="1"/>
                  <a:t>Activations</a:t>
                </a:r>
                <a:r>
                  <a:rPr lang="en-US" dirty="0"/>
                  <a:t>:  </a:t>
                </a:r>
                <a14:m>
                  <m:oMath xmlns:m="http://schemas.openxmlformats.org/officeDocument/2006/math">
                    <m:r>
                      <a:rPr lang="en-US" i="1">
                        <a:latin typeface="Cambria Math" panose="02040503050406030204" pitchFamily="18" charset="0"/>
                      </a:rPr>
                      <m:t>𝑅</m:t>
                    </m:r>
                    <m:d>
                      <m:dPr>
                        <m:ctrlPr>
                          <a:rPr lang="en-US" i="1">
                            <a:latin typeface="Cambria Math" panose="02040503050406030204" pitchFamily="18" charset="0"/>
                          </a:rPr>
                        </m:ctrlPr>
                      </m:dPr>
                      <m:e>
                        <m:r>
                          <a:rPr lang="en-US" i="1">
                            <a:latin typeface="Cambria Math" panose="02040503050406030204" pitchFamily="18" charset="0"/>
                          </a:rPr>
                          <m:t>𝑍</m:t>
                        </m:r>
                        <m:r>
                          <a:rPr lang="en-US" i="1">
                            <a:latin typeface="Cambria Math" panose="02040503050406030204" pitchFamily="18" charset="0"/>
                          </a:rPr>
                          <m:t>(</m:t>
                        </m:r>
                        <m:r>
                          <a:rPr lang="en-US" i="1">
                            <a:latin typeface="Cambria Math" panose="02040503050406030204" pitchFamily="18" charset="0"/>
                          </a:rPr>
                          <m:t>𝑋</m:t>
                        </m:r>
                        <m:r>
                          <a:rPr lang="en-US" i="1">
                            <a:latin typeface="Cambria Math" panose="02040503050406030204" pitchFamily="18" charset="0"/>
                          </a:rPr>
                          <m:t>)</m:t>
                        </m:r>
                      </m:e>
                    </m:d>
                    <m:r>
                      <a:rPr lang="en-US" i="1">
                        <a:latin typeface="Cambria Math" panose="02040503050406030204" pitchFamily="18" charset="0"/>
                      </a:rPr>
                      <m:t>=</m:t>
                    </m:r>
                    <m:r>
                      <m:rPr>
                        <m:lit/>
                      </m:rPr>
                      <a:rPr lang="en-US" i="1">
                        <a:latin typeface="Cambria Math" panose="02040503050406030204" pitchFamily="18" charset="0"/>
                      </a:rPr>
                      <m:t>||</m:t>
                    </m:r>
                    <m:r>
                      <a:rPr lang="en-US" i="1">
                        <a:latin typeface="Cambria Math" panose="02040503050406030204" pitchFamily="18" charset="0"/>
                      </a:rPr>
                      <m:t>𝑍</m:t>
                    </m:r>
                    <m:d>
                      <m:dPr>
                        <m:ctrlPr>
                          <a:rPr lang="en-US" i="1">
                            <a:latin typeface="Cambria Math" panose="02040503050406030204" pitchFamily="18" charset="0"/>
                          </a:rPr>
                        </m:ctrlPr>
                      </m:dPr>
                      <m:e>
                        <m:r>
                          <a:rPr lang="en-US" i="1">
                            <a:latin typeface="Cambria Math" panose="02040503050406030204" pitchFamily="18" charset="0"/>
                          </a:rPr>
                          <m:t>𝑋</m:t>
                        </m:r>
                      </m:e>
                    </m:d>
                    <m:r>
                      <m:rPr>
                        <m:lit/>
                      </m:rPr>
                      <a:rPr lang="en-US" i="1">
                        <a:latin typeface="Cambria Math" panose="02040503050406030204" pitchFamily="18" charset="0"/>
                      </a:rPr>
                      <m:t>|</m:t>
                    </m:r>
                    <m:sSubSup>
                      <m:sSubSupPr>
                        <m:ctrlPr>
                          <a:rPr lang="en-US" i="1">
                            <a:latin typeface="Cambria Math" panose="02040503050406030204" pitchFamily="18" charset="0"/>
                          </a:rPr>
                        </m:ctrlPr>
                      </m:sSubSupPr>
                      <m:e>
                        <m:r>
                          <m:rPr>
                            <m:lit/>
                          </m:rPr>
                          <a:rPr lang="en-US" i="1">
                            <a:latin typeface="Cambria Math" panose="02040503050406030204" pitchFamily="18" charset="0"/>
                          </a:rPr>
                          <m:t>|</m:t>
                        </m:r>
                      </m:e>
                      <m:sub>
                        <m:r>
                          <a:rPr lang="en-US" b="0" i="1" smtClean="0">
                            <a:latin typeface="Cambria Math" panose="02040503050406030204" pitchFamily="18" charset="0"/>
                          </a:rPr>
                          <m:t>1</m:t>
                        </m:r>
                      </m:sub>
                      <m:sup>
                        <m:r>
                          <a:rPr lang="en-US" i="1">
                            <a:latin typeface="Cambria Math" panose="02040503050406030204" pitchFamily="18" charset="0"/>
                          </a:rPr>
                          <m:t>2</m:t>
                        </m:r>
                      </m:sup>
                    </m:sSubSup>
                  </m:oMath>
                </a14:m>
                <a:r>
                  <a:rPr lang="en-US" dirty="0"/>
                  <a:t> (Z </a:t>
                </a:r>
                <a:r>
                  <a:rPr lang="en-US" dirty="0" err="1"/>
                  <a:t>hidden</a:t>
                </a:r>
                <a:r>
                  <a:rPr lang="en-US" dirty="0"/>
                  <a:t> </a:t>
                </a:r>
                <a:r>
                  <a:rPr lang="en-US" dirty="0" err="1"/>
                  <a:t>unit</a:t>
                </a:r>
                <a:r>
                  <a:rPr lang="en-US" dirty="0"/>
                  <a:t> </a:t>
                </a:r>
                <a:r>
                  <a:rPr lang="en-US" dirty="0" err="1"/>
                  <a:t>activation</a:t>
                </a:r>
                <a:r>
                  <a:rPr lang="en-US" dirty="0"/>
                  <a:t>)</a:t>
                </a:r>
              </a:p>
              <a:p>
                <a:r>
                  <a:rPr lang="en-US" dirty="0"/>
                  <a:t>2-norm </a:t>
                </a:r>
                <a14:m>
                  <m:oMath xmlns:m="http://schemas.openxmlformats.org/officeDocument/2006/math">
                    <m:r>
                      <m:rPr>
                        <m:lit/>
                      </m:rPr>
                      <a:rPr lang="en-US" i="1">
                        <a:latin typeface="Cambria Math" panose="02040503050406030204" pitchFamily="18" charset="0"/>
                      </a:rPr>
                      <m:t>||</m:t>
                    </m:r>
                    <m:r>
                      <a:rPr lang="en-US" i="1">
                        <a:latin typeface="Cambria Math" panose="02040503050406030204" pitchFamily="18" charset="0"/>
                      </a:rPr>
                      <m:t>𝐴</m:t>
                    </m:r>
                    <m:r>
                      <m:rPr>
                        <m:lit/>
                      </m:rPr>
                      <a:rPr lang="en-US" i="1">
                        <a:latin typeface="Cambria Math" panose="02040503050406030204" pitchFamily="18" charset="0"/>
                      </a:rPr>
                      <m:t>|</m:t>
                    </m:r>
                    <m:sSub>
                      <m:sSubPr>
                        <m:ctrlPr>
                          <a:rPr lang="en-US" i="1">
                            <a:latin typeface="Cambria Math" panose="02040503050406030204" pitchFamily="18" charset="0"/>
                          </a:rPr>
                        </m:ctrlPr>
                      </m:sSubPr>
                      <m:e>
                        <m:r>
                          <m:rPr>
                            <m:lit/>
                          </m:rPr>
                          <a:rPr lang="en-US" i="1">
                            <a:latin typeface="Cambria Math" panose="02040503050406030204" pitchFamily="18" charset="0"/>
                          </a:rPr>
                          <m:t>|</m:t>
                        </m:r>
                      </m:e>
                      <m:sub>
                        <m:r>
                          <a:rPr lang="en-US" b="0" i="1" smtClean="0">
                            <a:latin typeface="Cambria Math" panose="02040503050406030204" pitchFamily="18" charset="0"/>
                          </a:rPr>
                          <m:t>2</m:t>
                        </m:r>
                      </m:sub>
                    </m:sSub>
                    <m:r>
                      <a:rPr lang="en-US" i="1">
                        <a:latin typeface="Cambria Math" panose="02040503050406030204" pitchFamily="18" charset="0"/>
                      </a:rPr>
                      <m:t>=</m:t>
                    </m:r>
                    <m:rad>
                      <m:radPr>
                        <m:degHide m:val="on"/>
                        <m:ctrlPr>
                          <a:rPr lang="en-US" i="1" smtClean="0">
                            <a:latin typeface="Cambria Math" panose="02040503050406030204" pitchFamily="18" charset="0"/>
                          </a:rPr>
                        </m:ctrlPr>
                      </m:radPr>
                      <m:deg/>
                      <m:e>
                        <m:nary>
                          <m:naryPr>
                            <m:chr m:val="∑"/>
                            <m:supHide m:val="on"/>
                            <m:ctrlPr>
                              <a:rPr lang="en-US" i="1">
                                <a:latin typeface="Cambria Math" panose="02040503050406030204" pitchFamily="18" charset="0"/>
                              </a:rPr>
                            </m:ctrlPr>
                          </m:naryPr>
                          <m:sub>
                            <m:r>
                              <a:rPr lang="en-US" i="1">
                                <a:latin typeface="Cambria Math" panose="02040503050406030204" pitchFamily="18" charset="0"/>
                              </a:rPr>
                              <m:t>𝑖𝑗</m:t>
                            </m:r>
                          </m:sub>
                          <m:sup/>
                          <m:e>
                            <m:sSubSup>
                              <m:sSubSupPr>
                                <m:ctrlPr>
                                  <a:rPr lang="en-US" i="1">
                                    <a:latin typeface="Cambria Math" panose="02040503050406030204" pitchFamily="18" charset="0"/>
                                  </a:rPr>
                                </m:ctrlPr>
                              </m:sSubSupPr>
                              <m:e>
                                <m:r>
                                  <a:rPr lang="en-US" i="1">
                                    <a:latin typeface="Cambria Math" panose="02040503050406030204" pitchFamily="18" charset="0"/>
                                  </a:rPr>
                                  <m:t>𝑎</m:t>
                                </m:r>
                              </m:e>
                              <m:sub>
                                <m:r>
                                  <a:rPr lang="en-US" i="1">
                                    <a:latin typeface="Cambria Math" panose="02040503050406030204" pitchFamily="18" charset="0"/>
                                  </a:rPr>
                                  <m:t>𝑖𝑗</m:t>
                                </m:r>
                              </m:sub>
                              <m:sup>
                                <m:r>
                                  <a:rPr lang="en-US" i="1">
                                    <a:latin typeface="Cambria Math" panose="02040503050406030204" pitchFamily="18" charset="0"/>
                                  </a:rPr>
                                  <m:t>2</m:t>
                                </m:r>
                              </m:sup>
                            </m:sSubSup>
                          </m:e>
                        </m:nary>
                      </m:e>
                    </m:rad>
                  </m:oMath>
                </a14:m>
                <a:endParaRPr lang="en-US" dirty="0"/>
              </a:p>
              <a:p>
                <a:pPr lvl="1"/>
                <a:r>
                  <a:rPr lang="en-US" dirty="0" err="1"/>
                  <a:t>Parameters</a:t>
                </a:r>
                <a:r>
                  <a:rPr lang="en-US" dirty="0"/>
                  <a:t>: </a:t>
                </a:r>
                <a14:m>
                  <m:oMath xmlns:m="http://schemas.openxmlformats.org/officeDocument/2006/math">
                    <m:r>
                      <a:rPr lang="en-US" b="0" i="1" smtClean="0">
                        <a:latin typeface="Cambria Math" panose="02040503050406030204" pitchFamily="18" charset="0"/>
                      </a:rPr>
                      <m:t>𝑅</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𝜃</m:t>
                            </m:r>
                          </m:sub>
                        </m:sSub>
                      </m:e>
                    </m:d>
                    <m:r>
                      <a:rPr lang="en-US" b="0" i="1" smtClean="0">
                        <a:latin typeface="Cambria Math" panose="02040503050406030204" pitchFamily="18" charset="0"/>
                      </a:rPr>
                      <m:t>=</m:t>
                    </m:r>
                    <m:r>
                      <m:rPr>
                        <m:lit/>
                      </m:rP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𝜃</m:t>
                        </m:r>
                      </m:sub>
                    </m:sSub>
                    <m:r>
                      <m:rPr>
                        <m:lit/>
                      </m:rPr>
                      <a:rPr lang="en-US" i="1">
                        <a:latin typeface="Cambria Math" panose="02040503050406030204" pitchFamily="18" charset="0"/>
                      </a:rPr>
                      <m:t>|</m:t>
                    </m:r>
                    <m:sSubSup>
                      <m:sSubSupPr>
                        <m:ctrlPr>
                          <a:rPr lang="en-US" b="0" i="1" smtClean="0">
                            <a:latin typeface="Cambria Math" panose="02040503050406030204" pitchFamily="18" charset="0"/>
                          </a:rPr>
                        </m:ctrlPr>
                      </m:sSubSupPr>
                      <m:e>
                        <m:r>
                          <m:rPr>
                            <m:lit/>
                          </m:rPr>
                          <a:rPr lang="en-US" i="1">
                            <a:latin typeface="Cambria Math" panose="02040503050406030204" pitchFamily="18" charset="0"/>
                          </a:rPr>
                          <m:t>|</m:t>
                        </m:r>
                      </m:e>
                      <m:sub>
                        <m:r>
                          <a:rPr lang="en-US" b="0" i="1" smtClean="0">
                            <a:latin typeface="Cambria Math" panose="02040503050406030204" pitchFamily="18" charset="0"/>
                          </a:rPr>
                          <m:t>2</m:t>
                        </m:r>
                      </m:sub>
                      <m:sup>
                        <m:r>
                          <a:rPr lang="en-US" b="0" i="1" smtClean="0">
                            <a:latin typeface="Cambria Math" panose="02040503050406030204" pitchFamily="18" charset="0"/>
                          </a:rPr>
                          <m:t>2</m:t>
                        </m:r>
                      </m:sup>
                    </m:sSubSup>
                  </m:oMath>
                </a14:m>
                <a:endParaRPr lang="en-US" dirty="0"/>
              </a:p>
              <a:p>
                <a:pPr lvl="1"/>
                <a:r>
                  <a:rPr lang="en-US" dirty="0" err="1"/>
                  <a:t>Activations</a:t>
                </a:r>
                <a:r>
                  <a:rPr lang="en-US" dirty="0"/>
                  <a:t>:  </a:t>
                </a:r>
                <a14:m>
                  <m:oMath xmlns:m="http://schemas.openxmlformats.org/officeDocument/2006/math">
                    <m:r>
                      <a:rPr lang="en-US" i="1">
                        <a:latin typeface="Cambria Math" panose="02040503050406030204" pitchFamily="18" charset="0"/>
                      </a:rPr>
                      <m:t>𝑅</m:t>
                    </m:r>
                    <m:d>
                      <m:dPr>
                        <m:ctrlPr>
                          <a:rPr lang="en-US" i="1">
                            <a:latin typeface="Cambria Math" panose="02040503050406030204" pitchFamily="18" charset="0"/>
                          </a:rPr>
                        </m:ctrlPr>
                      </m:dPr>
                      <m:e>
                        <m:r>
                          <a:rPr lang="en-US" b="0" i="1" smtClean="0">
                            <a:latin typeface="Cambria Math" panose="02040503050406030204" pitchFamily="18" charset="0"/>
                          </a:rPr>
                          <m:t>𝑍</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e>
                    </m:d>
                    <m:r>
                      <a:rPr lang="en-US" i="1">
                        <a:latin typeface="Cambria Math" panose="02040503050406030204" pitchFamily="18" charset="0"/>
                      </a:rPr>
                      <m:t>=</m:t>
                    </m:r>
                    <m:r>
                      <m:rPr>
                        <m:lit/>
                      </m:rPr>
                      <a:rPr lang="en-US" i="1">
                        <a:latin typeface="Cambria Math" panose="02040503050406030204" pitchFamily="18" charset="0"/>
                      </a:rPr>
                      <m:t>||</m:t>
                    </m:r>
                    <m:r>
                      <a:rPr lang="en-US" i="1">
                        <a:latin typeface="Cambria Math" panose="02040503050406030204" pitchFamily="18" charset="0"/>
                      </a:rPr>
                      <m:t>𝑍</m:t>
                    </m:r>
                    <m:d>
                      <m:dPr>
                        <m:ctrlPr>
                          <a:rPr lang="en-US" i="1">
                            <a:latin typeface="Cambria Math" panose="02040503050406030204" pitchFamily="18" charset="0"/>
                          </a:rPr>
                        </m:ctrlPr>
                      </m:dPr>
                      <m:e>
                        <m:r>
                          <a:rPr lang="en-US" i="1">
                            <a:latin typeface="Cambria Math" panose="02040503050406030204" pitchFamily="18" charset="0"/>
                          </a:rPr>
                          <m:t>𝑋</m:t>
                        </m:r>
                      </m:e>
                    </m:d>
                    <m:r>
                      <m:rPr>
                        <m:lit/>
                      </m:rPr>
                      <a:rPr lang="en-US" i="1">
                        <a:latin typeface="Cambria Math" panose="02040503050406030204" pitchFamily="18" charset="0"/>
                      </a:rPr>
                      <m:t>|</m:t>
                    </m:r>
                    <m:sSubSup>
                      <m:sSubSupPr>
                        <m:ctrlPr>
                          <a:rPr lang="en-US" i="1">
                            <a:latin typeface="Cambria Math" panose="02040503050406030204" pitchFamily="18" charset="0"/>
                          </a:rPr>
                        </m:ctrlPr>
                      </m:sSubSupPr>
                      <m:e>
                        <m:r>
                          <m:rPr>
                            <m:lit/>
                          </m:rPr>
                          <a:rPr lang="en-US" i="1">
                            <a:latin typeface="Cambria Math" panose="02040503050406030204" pitchFamily="18" charset="0"/>
                          </a:rPr>
                          <m:t>|</m:t>
                        </m:r>
                      </m:e>
                      <m:sub>
                        <m:r>
                          <a:rPr lang="en-US" i="1">
                            <a:latin typeface="Cambria Math" panose="02040503050406030204" pitchFamily="18" charset="0"/>
                          </a:rPr>
                          <m:t>2</m:t>
                        </m:r>
                      </m:sub>
                      <m:sup>
                        <m:r>
                          <a:rPr lang="en-US" i="1">
                            <a:latin typeface="Cambria Math" panose="02040503050406030204" pitchFamily="18" charset="0"/>
                          </a:rPr>
                          <m:t>2</m:t>
                        </m:r>
                      </m:sup>
                    </m:sSubSup>
                  </m:oMath>
                </a14:m>
                <a:r>
                  <a:rPr lang="en-US" dirty="0"/>
                  <a:t> (Z </a:t>
                </a:r>
                <a:r>
                  <a:rPr lang="en-US" dirty="0" err="1"/>
                  <a:t>hidden</a:t>
                </a:r>
                <a:r>
                  <a:rPr lang="en-US" dirty="0"/>
                  <a:t> </a:t>
                </a:r>
                <a:r>
                  <a:rPr lang="en-US" dirty="0" err="1"/>
                  <a:t>unit</a:t>
                </a:r>
                <a:r>
                  <a:rPr lang="en-US" dirty="0"/>
                  <a:t> </a:t>
                </a:r>
                <a:r>
                  <a:rPr lang="en-US" dirty="0" err="1"/>
                  <a:t>activation</a:t>
                </a:r>
                <a:r>
                  <a:rPr lang="en-US" dirty="0"/>
                  <a:t>)</a:t>
                </a:r>
              </a:p>
              <a:p>
                <a:r>
                  <a:rPr lang="en-US" dirty="0" err="1"/>
                  <a:t>Any</a:t>
                </a:r>
                <a:r>
                  <a:rPr lang="en-US" dirty="0"/>
                  <a:t> p-</a:t>
                </a:r>
                <a:r>
                  <a:rPr lang="en-US" dirty="0" err="1"/>
                  <a:t>norm</a:t>
                </a:r>
                <a:r>
                  <a:rPr lang="en-US" dirty="0"/>
                  <a:t> and more…</a:t>
                </a:r>
              </a:p>
              <a:p>
                <a:pPr marL="0" indent="0">
                  <a:buNone/>
                </a:pPr>
                <a:endParaRPr lang="en-US" dirty="0"/>
              </a:p>
            </p:txBody>
          </p:sp>
        </mc:Choice>
        <mc:Fallback xmlns="">
          <p:sp>
            <p:nvSpPr>
              <p:cNvPr id="3" name="Segnaposto contenuto 2">
                <a:extLst>
                  <a:ext uri="{FF2B5EF4-FFF2-40B4-BE49-F238E27FC236}">
                    <a16:creationId xmlns:a16="http://schemas.microsoft.com/office/drawing/2014/main" id="{E24158F1-4306-4FC8-9D37-5F89439E70F0}"/>
                  </a:ext>
                </a:extLst>
              </p:cNvPr>
              <p:cNvSpPr>
                <a:spLocks noGrp="1" noRot="1" noChangeAspect="1" noMove="1" noResize="1" noEditPoints="1" noAdjustHandles="1" noChangeArrowheads="1" noChangeShapeType="1" noTextEdit="1"/>
              </p:cNvSpPr>
              <p:nvPr>
                <p:ph idx="1"/>
              </p:nvPr>
            </p:nvSpPr>
            <p:spPr>
              <a:blipFill>
                <a:blip r:embed="rId2"/>
                <a:stretch>
                  <a:fillRect l="-1391" t="-1961" b="-140"/>
                </a:stretch>
              </a:blipFill>
            </p:spPr>
            <p:txBody>
              <a:bodyPr/>
              <a:lstStyle/>
              <a:p>
                <a:r>
                  <a:rPr lang="en-GB">
                    <a:noFill/>
                  </a:rPr>
                  <a:t> </a:t>
                </a:r>
              </a:p>
            </p:txBody>
          </p:sp>
        </mc:Fallback>
      </mc:AlternateContent>
    </p:spTree>
    <p:extLst>
      <p:ext uri="{BB962C8B-B14F-4D97-AF65-F5344CB8AC3E}">
        <p14:creationId xmlns:p14="http://schemas.microsoft.com/office/powerpoint/2010/main" val="400108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Dropout Regularization</a:t>
            </a:r>
          </a:p>
        </p:txBody>
      </p:sp>
      <p:sp>
        <p:nvSpPr>
          <p:cNvPr id="7" name="Ovale 6"/>
          <p:cNvSpPr/>
          <p:nvPr/>
        </p:nvSpPr>
        <p:spPr>
          <a:xfrm>
            <a:off x="1948447" y="4276078"/>
            <a:ext cx="360040" cy="360040"/>
          </a:xfrm>
          <a:prstGeom prst="ellipse">
            <a:avLst/>
          </a:prstGeom>
          <a:solidFill>
            <a:schemeClr val="accent1">
              <a:lumMod val="60000"/>
              <a:lumOff val="40000"/>
            </a:schemeClr>
          </a:solidFill>
          <a:ln w="28575">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8" name="Ovale 7"/>
          <p:cNvSpPr/>
          <p:nvPr/>
        </p:nvSpPr>
        <p:spPr>
          <a:xfrm>
            <a:off x="1948447" y="3634558"/>
            <a:ext cx="360040" cy="360040"/>
          </a:xfrm>
          <a:prstGeom prst="ellipse">
            <a:avLst/>
          </a:prstGeom>
          <a:solidFill>
            <a:schemeClr val="accent1">
              <a:lumMod val="60000"/>
              <a:lumOff val="40000"/>
            </a:schemeClr>
          </a:solidFill>
          <a:ln w="28575">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9" name="Ovale 8"/>
          <p:cNvSpPr/>
          <p:nvPr/>
        </p:nvSpPr>
        <p:spPr>
          <a:xfrm>
            <a:off x="1948447" y="3034170"/>
            <a:ext cx="360040" cy="360040"/>
          </a:xfrm>
          <a:prstGeom prst="ellipse">
            <a:avLst/>
          </a:prstGeom>
          <a:solidFill>
            <a:schemeClr val="accent1">
              <a:lumMod val="60000"/>
              <a:lumOff val="40000"/>
            </a:schemeClr>
          </a:solidFill>
          <a:ln w="28575">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10" name="Rettangolo arrotondato 9"/>
          <p:cNvSpPr/>
          <p:nvPr/>
        </p:nvSpPr>
        <p:spPr>
          <a:xfrm>
            <a:off x="3357158" y="2198293"/>
            <a:ext cx="871358" cy="444287"/>
          </a:xfrm>
          <a:prstGeom prst="roundRect">
            <a:avLst/>
          </a:prstGeom>
          <a:solidFill>
            <a:schemeClr val="accent6">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11" name="Rettangolo arrotondato 10"/>
          <p:cNvSpPr/>
          <p:nvPr/>
        </p:nvSpPr>
        <p:spPr>
          <a:xfrm>
            <a:off x="3357158" y="3449413"/>
            <a:ext cx="871358" cy="444287"/>
          </a:xfrm>
          <a:prstGeom prst="roundRect">
            <a:avLst/>
          </a:prstGeom>
          <a:solidFill>
            <a:schemeClr val="accent6">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12" name="Rettangolo arrotondato 11"/>
          <p:cNvSpPr/>
          <p:nvPr/>
        </p:nvSpPr>
        <p:spPr>
          <a:xfrm>
            <a:off x="3357158" y="2849690"/>
            <a:ext cx="871358" cy="444287"/>
          </a:xfrm>
          <a:prstGeom prst="roundRect">
            <a:avLst/>
          </a:prstGeom>
          <a:solidFill>
            <a:schemeClr val="accent6">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13" name="Rettangolo arrotondato 12"/>
          <p:cNvSpPr/>
          <p:nvPr/>
        </p:nvSpPr>
        <p:spPr>
          <a:xfrm>
            <a:off x="3357158" y="4858194"/>
            <a:ext cx="871358" cy="444287"/>
          </a:xfrm>
          <a:prstGeom prst="roundRect">
            <a:avLst/>
          </a:prstGeom>
          <a:solidFill>
            <a:schemeClr val="accent6">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14" name="Rettangolo arrotondato 13"/>
          <p:cNvSpPr/>
          <p:nvPr/>
        </p:nvSpPr>
        <p:spPr>
          <a:xfrm>
            <a:off x="3357158" y="4276079"/>
            <a:ext cx="871358" cy="444287"/>
          </a:xfrm>
          <a:prstGeom prst="roundRect">
            <a:avLst/>
          </a:prstGeom>
          <a:solidFill>
            <a:schemeClr val="accent6">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cxnSp>
        <p:nvCxnSpPr>
          <p:cNvPr id="16" name="Connettore 2 15"/>
          <p:cNvCxnSpPr>
            <a:stCxn id="9" idx="6"/>
            <a:endCxn id="10" idx="1"/>
          </p:cNvCxnSpPr>
          <p:nvPr/>
        </p:nvCxnSpPr>
        <p:spPr>
          <a:xfrm flipV="1">
            <a:off x="2308488" y="2420436"/>
            <a:ext cx="1048671" cy="7937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nettore 2 16"/>
          <p:cNvCxnSpPr>
            <a:stCxn id="9" idx="6"/>
            <a:endCxn id="12" idx="1"/>
          </p:cNvCxnSpPr>
          <p:nvPr/>
        </p:nvCxnSpPr>
        <p:spPr>
          <a:xfrm flipV="1">
            <a:off x="2308488" y="3071834"/>
            <a:ext cx="1048671" cy="1423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ttore 2 19"/>
          <p:cNvCxnSpPr>
            <a:stCxn id="9" idx="6"/>
            <a:endCxn id="11" idx="1"/>
          </p:cNvCxnSpPr>
          <p:nvPr/>
        </p:nvCxnSpPr>
        <p:spPr>
          <a:xfrm>
            <a:off x="2308488" y="3214190"/>
            <a:ext cx="1048671" cy="45736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nettore 2 22"/>
          <p:cNvCxnSpPr>
            <a:stCxn id="9" idx="6"/>
            <a:endCxn id="14" idx="1"/>
          </p:cNvCxnSpPr>
          <p:nvPr/>
        </p:nvCxnSpPr>
        <p:spPr>
          <a:xfrm>
            <a:off x="2308488" y="3214190"/>
            <a:ext cx="1048671" cy="12840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ttore 2 25"/>
          <p:cNvCxnSpPr>
            <a:stCxn id="9" idx="6"/>
            <a:endCxn id="13" idx="1"/>
          </p:cNvCxnSpPr>
          <p:nvPr/>
        </p:nvCxnSpPr>
        <p:spPr>
          <a:xfrm>
            <a:off x="2308488" y="3214191"/>
            <a:ext cx="1048671" cy="18661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nettore 2 28"/>
          <p:cNvCxnSpPr>
            <a:stCxn id="8" idx="6"/>
            <a:endCxn id="10" idx="1"/>
          </p:cNvCxnSpPr>
          <p:nvPr/>
        </p:nvCxnSpPr>
        <p:spPr>
          <a:xfrm flipV="1">
            <a:off x="2308488" y="2420436"/>
            <a:ext cx="1048671" cy="13941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ttore 2 31"/>
          <p:cNvCxnSpPr>
            <a:stCxn id="8" idx="6"/>
            <a:endCxn id="12" idx="1"/>
          </p:cNvCxnSpPr>
          <p:nvPr/>
        </p:nvCxnSpPr>
        <p:spPr>
          <a:xfrm flipV="1">
            <a:off x="2308488" y="3071834"/>
            <a:ext cx="1048671" cy="74274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nettore 2 34"/>
          <p:cNvCxnSpPr>
            <a:stCxn id="7" idx="6"/>
            <a:endCxn id="13" idx="1"/>
          </p:cNvCxnSpPr>
          <p:nvPr/>
        </p:nvCxnSpPr>
        <p:spPr>
          <a:xfrm>
            <a:off x="2308488" y="4456099"/>
            <a:ext cx="1048671" cy="62423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nettore 2 37"/>
          <p:cNvCxnSpPr>
            <a:stCxn id="7" idx="6"/>
            <a:endCxn id="14" idx="1"/>
          </p:cNvCxnSpPr>
          <p:nvPr/>
        </p:nvCxnSpPr>
        <p:spPr>
          <a:xfrm>
            <a:off x="2308488" y="4456098"/>
            <a:ext cx="1048671" cy="421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nettore 2 40"/>
          <p:cNvCxnSpPr>
            <a:stCxn id="7" idx="6"/>
            <a:endCxn id="11" idx="1"/>
          </p:cNvCxnSpPr>
          <p:nvPr/>
        </p:nvCxnSpPr>
        <p:spPr>
          <a:xfrm flipV="1">
            <a:off x="2308488" y="3671556"/>
            <a:ext cx="1048671" cy="7845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nettore 2 44"/>
          <p:cNvCxnSpPr>
            <a:stCxn id="8" idx="6"/>
            <a:endCxn id="11" idx="1"/>
          </p:cNvCxnSpPr>
          <p:nvPr/>
        </p:nvCxnSpPr>
        <p:spPr>
          <a:xfrm flipV="1">
            <a:off x="2308488" y="3671556"/>
            <a:ext cx="1048671" cy="1430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CasellaDiTesto 47"/>
          <p:cNvSpPr txBox="1"/>
          <p:nvPr/>
        </p:nvSpPr>
        <p:spPr>
          <a:xfrm>
            <a:off x="3593904" y="3800695"/>
            <a:ext cx="397866" cy="461665"/>
          </a:xfrm>
          <a:prstGeom prst="rect">
            <a:avLst/>
          </a:prstGeom>
          <a:noFill/>
        </p:spPr>
        <p:txBody>
          <a:bodyPr wrap="none" rtlCol="0">
            <a:spAutoFit/>
          </a:bodyPr>
          <a:lstStyle/>
          <a:p>
            <a:r>
              <a:rPr lang="en-US" sz="2400" dirty="0"/>
              <a:t>…</a:t>
            </a:r>
          </a:p>
        </p:txBody>
      </p:sp>
      <p:sp>
        <p:nvSpPr>
          <p:cNvPr id="49" name="Rettangolo arrotondato 48"/>
          <p:cNvSpPr/>
          <p:nvPr/>
        </p:nvSpPr>
        <p:spPr>
          <a:xfrm>
            <a:off x="4841508" y="2198293"/>
            <a:ext cx="871358" cy="444287"/>
          </a:xfrm>
          <a:prstGeom prst="roundRect">
            <a:avLst/>
          </a:prstGeom>
          <a:solidFill>
            <a:schemeClr val="accent6">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50" name="Rettangolo arrotondato 49"/>
          <p:cNvSpPr/>
          <p:nvPr/>
        </p:nvSpPr>
        <p:spPr>
          <a:xfrm>
            <a:off x="4841508" y="3449413"/>
            <a:ext cx="871358" cy="444287"/>
          </a:xfrm>
          <a:prstGeom prst="roundRect">
            <a:avLst/>
          </a:prstGeom>
          <a:solidFill>
            <a:schemeClr val="accent6">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51" name="Rettangolo arrotondato 50"/>
          <p:cNvSpPr/>
          <p:nvPr/>
        </p:nvSpPr>
        <p:spPr>
          <a:xfrm>
            <a:off x="4841508" y="2849690"/>
            <a:ext cx="871358" cy="444287"/>
          </a:xfrm>
          <a:prstGeom prst="roundRect">
            <a:avLst/>
          </a:prstGeom>
          <a:solidFill>
            <a:schemeClr val="accent6">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52" name="Rettangolo arrotondato 51"/>
          <p:cNvSpPr/>
          <p:nvPr/>
        </p:nvSpPr>
        <p:spPr>
          <a:xfrm>
            <a:off x="4841508" y="4858194"/>
            <a:ext cx="871358" cy="444287"/>
          </a:xfrm>
          <a:prstGeom prst="roundRect">
            <a:avLst/>
          </a:prstGeom>
          <a:solidFill>
            <a:schemeClr val="accent6">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53" name="Rettangolo arrotondato 52"/>
          <p:cNvSpPr/>
          <p:nvPr/>
        </p:nvSpPr>
        <p:spPr>
          <a:xfrm>
            <a:off x="4841508" y="4276079"/>
            <a:ext cx="871358" cy="444287"/>
          </a:xfrm>
          <a:prstGeom prst="roundRect">
            <a:avLst/>
          </a:prstGeom>
          <a:solidFill>
            <a:schemeClr val="accent6">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54" name="CasellaDiTesto 53"/>
          <p:cNvSpPr txBox="1"/>
          <p:nvPr/>
        </p:nvSpPr>
        <p:spPr>
          <a:xfrm>
            <a:off x="5078254" y="3800695"/>
            <a:ext cx="397866" cy="461665"/>
          </a:xfrm>
          <a:prstGeom prst="rect">
            <a:avLst/>
          </a:prstGeom>
          <a:noFill/>
        </p:spPr>
        <p:txBody>
          <a:bodyPr wrap="none" rtlCol="0">
            <a:spAutoFit/>
          </a:bodyPr>
          <a:lstStyle/>
          <a:p>
            <a:r>
              <a:rPr lang="en-US" sz="2400" dirty="0"/>
              <a:t>…</a:t>
            </a:r>
          </a:p>
        </p:txBody>
      </p:sp>
      <p:cxnSp>
        <p:nvCxnSpPr>
          <p:cNvPr id="55" name="Connettore 2 54"/>
          <p:cNvCxnSpPr>
            <a:stCxn id="10" idx="3"/>
            <a:endCxn id="49" idx="1"/>
          </p:cNvCxnSpPr>
          <p:nvPr/>
        </p:nvCxnSpPr>
        <p:spPr>
          <a:xfrm>
            <a:off x="4228516" y="2420436"/>
            <a:ext cx="6129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Connettore 2 57"/>
          <p:cNvCxnSpPr>
            <a:stCxn id="10" idx="3"/>
            <a:endCxn id="51" idx="1"/>
          </p:cNvCxnSpPr>
          <p:nvPr/>
        </p:nvCxnSpPr>
        <p:spPr>
          <a:xfrm>
            <a:off x="4228516" y="2420437"/>
            <a:ext cx="612992" cy="65139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nettore 2 60"/>
          <p:cNvCxnSpPr>
            <a:stCxn id="10" idx="3"/>
            <a:endCxn id="50" idx="1"/>
          </p:cNvCxnSpPr>
          <p:nvPr/>
        </p:nvCxnSpPr>
        <p:spPr>
          <a:xfrm>
            <a:off x="4228516" y="2420436"/>
            <a:ext cx="612992" cy="12511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Connettore 2 63"/>
          <p:cNvCxnSpPr>
            <a:stCxn id="10" idx="3"/>
            <a:endCxn id="53" idx="1"/>
          </p:cNvCxnSpPr>
          <p:nvPr/>
        </p:nvCxnSpPr>
        <p:spPr>
          <a:xfrm>
            <a:off x="4228516" y="2420436"/>
            <a:ext cx="612992" cy="207778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Connettore 2 66"/>
          <p:cNvCxnSpPr>
            <a:stCxn id="10" idx="3"/>
            <a:endCxn id="52" idx="1"/>
          </p:cNvCxnSpPr>
          <p:nvPr/>
        </p:nvCxnSpPr>
        <p:spPr>
          <a:xfrm>
            <a:off x="4228516" y="2420437"/>
            <a:ext cx="612992" cy="26599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nettore 2 69"/>
          <p:cNvCxnSpPr>
            <a:stCxn id="12" idx="3"/>
            <a:endCxn id="49" idx="1"/>
          </p:cNvCxnSpPr>
          <p:nvPr/>
        </p:nvCxnSpPr>
        <p:spPr>
          <a:xfrm flipV="1">
            <a:off x="4228516" y="2420437"/>
            <a:ext cx="612992" cy="65139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ttore 2 72"/>
          <p:cNvCxnSpPr>
            <a:stCxn id="12" idx="3"/>
            <a:endCxn id="51" idx="1"/>
          </p:cNvCxnSpPr>
          <p:nvPr/>
        </p:nvCxnSpPr>
        <p:spPr>
          <a:xfrm>
            <a:off x="4228516" y="3071833"/>
            <a:ext cx="6129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Connettore 2 75"/>
          <p:cNvCxnSpPr>
            <a:stCxn id="12" idx="3"/>
            <a:endCxn id="50" idx="1"/>
          </p:cNvCxnSpPr>
          <p:nvPr/>
        </p:nvCxnSpPr>
        <p:spPr>
          <a:xfrm>
            <a:off x="4228516" y="3071834"/>
            <a:ext cx="612992" cy="5997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Connettore 2 78"/>
          <p:cNvCxnSpPr>
            <a:stCxn id="13" idx="3"/>
            <a:endCxn id="52" idx="1"/>
          </p:cNvCxnSpPr>
          <p:nvPr/>
        </p:nvCxnSpPr>
        <p:spPr>
          <a:xfrm>
            <a:off x="4228516" y="5080337"/>
            <a:ext cx="6129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Connettore 2 81"/>
          <p:cNvCxnSpPr>
            <a:stCxn id="13" idx="3"/>
            <a:endCxn id="53" idx="1"/>
          </p:cNvCxnSpPr>
          <p:nvPr/>
        </p:nvCxnSpPr>
        <p:spPr>
          <a:xfrm flipV="1">
            <a:off x="4228516" y="4498223"/>
            <a:ext cx="612992" cy="5821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Connettore 2 84"/>
          <p:cNvCxnSpPr>
            <a:stCxn id="14" idx="3"/>
            <a:endCxn id="50" idx="1"/>
          </p:cNvCxnSpPr>
          <p:nvPr/>
        </p:nvCxnSpPr>
        <p:spPr>
          <a:xfrm flipV="1">
            <a:off x="4228516" y="3671556"/>
            <a:ext cx="612992" cy="82666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Connettore 2 87"/>
          <p:cNvCxnSpPr>
            <a:stCxn id="14" idx="3"/>
            <a:endCxn id="53" idx="1"/>
          </p:cNvCxnSpPr>
          <p:nvPr/>
        </p:nvCxnSpPr>
        <p:spPr>
          <a:xfrm>
            <a:off x="4228516" y="4498222"/>
            <a:ext cx="6129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1" name="Ovale 90"/>
          <p:cNvSpPr/>
          <p:nvPr/>
        </p:nvSpPr>
        <p:spPr>
          <a:xfrm>
            <a:off x="6325858" y="3676186"/>
            <a:ext cx="360040" cy="360040"/>
          </a:xfrm>
          <a:prstGeom prst="ellipse">
            <a:avLst/>
          </a:prstGeom>
          <a:solidFill>
            <a:schemeClr val="accent1">
              <a:lumMod val="60000"/>
              <a:lumOff val="40000"/>
            </a:schemeClr>
          </a:solidFill>
          <a:ln w="28575">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cxnSp>
        <p:nvCxnSpPr>
          <p:cNvPr id="92" name="Connettore 2 91"/>
          <p:cNvCxnSpPr>
            <a:stCxn id="49" idx="3"/>
            <a:endCxn id="91" idx="1"/>
          </p:cNvCxnSpPr>
          <p:nvPr/>
        </p:nvCxnSpPr>
        <p:spPr>
          <a:xfrm>
            <a:off x="5712867" y="2420437"/>
            <a:ext cx="665719" cy="130847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Connettore 2 95"/>
          <p:cNvCxnSpPr>
            <a:stCxn id="52" idx="3"/>
            <a:endCxn id="91" idx="3"/>
          </p:cNvCxnSpPr>
          <p:nvPr/>
        </p:nvCxnSpPr>
        <p:spPr>
          <a:xfrm flipV="1">
            <a:off x="5712867" y="3983499"/>
            <a:ext cx="665719" cy="10968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Connettore 2 98"/>
          <p:cNvCxnSpPr>
            <a:stCxn id="53" idx="3"/>
            <a:endCxn id="91" idx="2"/>
          </p:cNvCxnSpPr>
          <p:nvPr/>
        </p:nvCxnSpPr>
        <p:spPr>
          <a:xfrm flipV="1">
            <a:off x="5712866" y="3856206"/>
            <a:ext cx="612992" cy="6420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ttore 2 100"/>
          <p:cNvCxnSpPr>
            <a:stCxn id="51" idx="3"/>
            <a:endCxn id="91" idx="1"/>
          </p:cNvCxnSpPr>
          <p:nvPr/>
        </p:nvCxnSpPr>
        <p:spPr>
          <a:xfrm>
            <a:off x="5712867" y="3071833"/>
            <a:ext cx="665719" cy="6570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Connettore 2 102"/>
          <p:cNvCxnSpPr>
            <a:stCxn id="50" idx="3"/>
            <a:endCxn id="91" idx="2"/>
          </p:cNvCxnSpPr>
          <p:nvPr/>
        </p:nvCxnSpPr>
        <p:spPr>
          <a:xfrm>
            <a:off x="5712866" y="3671556"/>
            <a:ext cx="612992" cy="1846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 name="CasellaDiTesto 103"/>
          <p:cNvSpPr txBox="1"/>
          <p:nvPr/>
        </p:nvSpPr>
        <p:spPr>
          <a:xfrm>
            <a:off x="2260651" y="1508594"/>
            <a:ext cx="7724487" cy="461665"/>
          </a:xfrm>
          <a:prstGeom prst="rect">
            <a:avLst/>
          </a:prstGeom>
          <a:noFill/>
        </p:spPr>
        <p:txBody>
          <a:bodyPr wrap="none" rtlCol="0">
            <a:spAutoFit/>
          </a:bodyPr>
          <a:lstStyle/>
          <a:p>
            <a:r>
              <a:rPr lang="en-US" sz="2400" dirty="0"/>
              <a:t>Randomly disconnect units from the network during training</a:t>
            </a:r>
          </a:p>
        </p:txBody>
      </p:sp>
    </p:spTree>
    <p:extLst>
      <p:ext uri="{BB962C8B-B14F-4D97-AF65-F5344CB8AC3E}">
        <p14:creationId xmlns:p14="http://schemas.microsoft.com/office/powerpoint/2010/main" val="404016314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Dropout Regularization</a:t>
            </a:r>
          </a:p>
        </p:txBody>
      </p:sp>
      <p:sp>
        <p:nvSpPr>
          <p:cNvPr id="7" name="Ovale 6"/>
          <p:cNvSpPr/>
          <p:nvPr/>
        </p:nvSpPr>
        <p:spPr>
          <a:xfrm>
            <a:off x="1948447" y="4276078"/>
            <a:ext cx="360040" cy="360040"/>
          </a:xfrm>
          <a:prstGeom prst="ellipse">
            <a:avLst/>
          </a:prstGeom>
          <a:solidFill>
            <a:schemeClr val="accent1">
              <a:lumMod val="60000"/>
              <a:lumOff val="40000"/>
            </a:schemeClr>
          </a:solidFill>
          <a:ln w="28575">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8" name="Ovale 7"/>
          <p:cNvSpPr/>
          <p:nvPr/>
        </p:nvSpPr>
        <p:spPr>
          <a:xfrm>
            <a:off x="1948447" y="3634558"/>
            <a:ext cx="360040" cy="360040"/>
          </a:xfrm>
          <a:prstGeom prst="ellipse">
            <a:avLst/>
          </a:prstGeom>
          <a:solidFill>
            <a:schemeClr val="accent1">
              <a:lumMod val="60000"/>
              <a:lumOff val="40000"/>
            </a:schemeClr>
          </a:solidFill>
          <a:ln w="28575">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9" name="Ovale 8"/>
          <p:cNvSpPr/>
          <p:nvPr/>
        </p:nvSpPr>
        <p:spPr>
          <a:xfrm>
            <a:off x="1948447" y="3034170"/>
            <a:ext cx="360040" cy="360040"/>
          </a:xfrm>
          <a:prstGeom prst="ellipse">
            <a:avLst/>
          </a:prstGeom>
          <a:solidFill>
            <a:schemeClr val="accent1">
              <a:lumMod val="60000"/>
              <a:lumOff val="40000"/>
            </a:schemeClr>
          </a:solidFill>
          <a:ln w="28575">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10" name="Rettangolo arrotondato 9"/>
          <p:cNvSpPr/>
          <p:nvPr/>
        </p:nvSpPr>
        <p:spPr>
          <a:xfrm>
            <a:off x="3357158" y="2198293"/>
            <a:ext cx="871358" cy="444287"/>
          </a:xfrm>
          <a:prstGeom prst="roundRect">
            <a:avLst/>
          </a:prstGeom>
          <a:solidFill>
            <a:schemeClr val="bg1">
              <a:lumMod val="95000"/>
            </a:schemeClr>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dirty="0"/>
          </a:p>
        </p:txBody>
      </p:sp>
      <p:sp>
        <p:nvSpPr>
          <p:cNvPr id="11" name="Rettangolo arrotondato 10"/>
          <p:cNvSpPr/>
          <p:nvPr/>
        </p:nvSpPr>
        <p:spPr>
          <a:xfrm>
            <a:off x="3357158" y="3449413"/>
            <a:ext cx="871358" cy="444287"/>
          </a:xfrm>
          <a:prstGeom prst="roundRect">
            <a:avLst/>
          </a:prstGeom>
          <a:solidFill>
            <a:schemeClr val="accent6">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12" name="Rettangolo arrotondato 11"/>
          <p:cNvSpPr/>
          <p:nvPr/>
        </p:nvSpPr>
        <p:spPr>
          <a:xfrm>
            <a:off x="3357158" y="2849690"/>
            <a:ext cx="871358" cy="444287"/>
          </a:xfrm>
          <a:prstGeom prst="roundRect">
            <a:avLst/>
          </a:prstGeom>
          <a:solidFill>
            <a:schemeClr val="accent6">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13" name="Rettangolo arrotondato 12"/>
          <p:cNvSpPr/>
          <p:nvPr/>
        </p:nvSpPr>
        <p:spPr>
          <a:xfrm>
            <a:off x="3357158" y="4858194"/>
            <a:ext cx="871358" cy="444287"/>
          </a:xfrm>
          <a:prstGeom prst="roundRect">
            <a:avLst/>
          </a:prstGeom>
          <a:solidFill>
            <a:schemeClr val="accent6">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14" name="Rettangolo arrotondato 13"/>
          <p:cNvSpPr/>
          <p:nvPr/>
        </p:nvSpPr>
        <p:spPr>
          <a:xfrm>
            <a:off x="3357158" y="4276079"/>
            <a:ext cx="871358" cy="444287"/>
          </a:xfrm>
          <a:prstGeom prst="roundRect">
            <a:avLst/>
          </a:prstGeom>
          <a:solidFill>
            <a:schemeClr val="bg1">
              <a:lumMod val="95000"/>
            </a:schemeClr>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dirty="0"/>
          </a:p>
        </p:txBody>
      </p:sp>
      <p:cxnSp>
        <p:nvCxnSpPr>
          <p:cNvPr id="16" name="Connettore 2 15"/>
          <p:cNvCxnSpPr>
            <a:stCxn id="9" idx="6"/>
            <a:endCxn id="10" idx="1"/>
          </p:cNvCxnSpPr>
          <p:nvPr/>
        </p:nvCxnSpPr>
        <p:spPr>
          <a:xfrm flipV="1">
            <a:off x="2308488" y="2420436"/>
            <a:ext cx="1048671" cy="7937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nettore 2 16"/>
          <p:cNvCxnSpPr>
            <a:stCxn id="9" idx="6"/>
            <a:endCxn id="12" idx="1"/>
          </p:cNvCxnSpPr>
          <p:nvPr/>
        </p:nvCxnSpPr>
        <p:spPr>
          <a:xfrm flipV="1">
            <a:off x="2308488" y="3071834"/>
            <a:ext cx="1048671" cy="1423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ttore 2 19"/>
          <p:cNvCxnSpPr>
            <a:stCxn id="9" idx="6"/>
            <a:endCxn id="11" idx="1"/>
          </p:cNvCxnSpPr>
          <p:nvPr/>
        </p:nvCxnSpPr>
        <p:spPr>
          <a:xfrm>
            <a:off x="2308488" y="3214190"/>
            <a:ext cx="1048671" cy="45736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nettore 2 22"/>
          <p:cNvCxnSpPr>
            <a:stCxn id="9" idx="6"/>
            <a:endCxn id="14" idx="1"/>
          </p:cNvCxnSpPr>
          <p:nvPr/>
        </p:nvCxnSpPr>
        <p:spPr>
          <a:xfrm>
            <a:off x="2308488" y="3214190"/>
            <a:ext cx="1048671" cy="12840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ttore 2 25"/>
          <p:cNvCxnSpPr>
            <a:stCxn id="9" idx="6"/>
            <a:endCxn id="13" idx="1"/>
          </p:cNvCxnSpPr>
          <p:nvPr/>
        </p:nvCxnSpPr>
        <p:spPr>
          <a:xfrm>
            <a:off x="2308488" y="3214191"/>
            <a:ext cx="1048671" cy="18661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nettore 2 28"/>
          <p:cNvCxnSpPr>
            <a:stCxn id="8" idx="6"/>
            <a:endCxn id="10" idx="1"/>
          </p:cNvCxnSpPr>
          <p:nvPr/>
        </p:nvCxnSpPr>
        <p:spPr>
          <a:xfrm flipV="1">
            <a:off x="2308488" y="2420436"/>
            <a:ext cx="1048671" cy="13941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ttore 2 31"/>
          <p:cNvCxnSpPr>
            <a:stCxn id="8" idx="6"/>
            <a:endCxn id="12" idx="1"/>
          </p:cNvCxnSpPr>
          <p:nvPr/>
        </p:nvCxnSpPr>
        <p:spPr>
          <a:xfrm flipV="1">
            <a:off x="2308488" y="3071834"/>
            <a:ext cx="1048671" cy="74274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nettore 2 34"/>
          <p:cNvCxnSpPr>
            <a:stCxn id="7" idx="6"/>
            <a:endCxn id="13" idx="1"/>
          </p:cNvCxnSpPr>
          <p:nvPr/>
        </p:nvCxnSpPr>
        <p:spPr>
          <a:xfrm>
            <a:off x="2308488" y="4456099"/>
            <a:ext cx="1048671" cy="62423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nettore 2 37"/>
          <p:cNvCxnSpPr>
            <a:stCxn id="7" idx="6"/>
            <a:endCxn id="14" idx="1"/>
          </p:cNvCxnSpPr>
          <p:nvPr/>
        </p:nvCxnSpPr>
        <p:spPr>
          <a:xfrm>
            <a:off x="2308488" y="4456098"/>
            <a:ext cx="1048671" cy="421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nettore 2 40"/>
          <p:cNvCxnSpPr>
            <a:stCxn id="7" idx="6"/>
            <a:endCxn id="11" idx="1"/>
          </p:cNvCxnSpPr>
          <p:nvPr/>
        </p:nvCxnSpPr>
        <p:spPr>
          <a:xfrm flipV="1">
            <a:off x="2308488" y="3671556"/>
            <a:ext cx="1048671" cy="7845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nettore 2 44"/>
          <p:cNvCxnSpPr>
            <a:stCxn id="8" idx="6"/>
            <a:endCxn id="11" idx="1"/>
          </p:cNvCxnSpPr>
          <p:nvPr/>
        </p:nvCxnSpPr>
        <p:spPr>
          <a:xfrm flipV="1">
            <a:off x="2308488" y="3671556"/>
            <a:ext cx="1048671" cy="1430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CasellaDiTesto 47"/>
          <p:cNvSpPr txBox="1"/>
          <p:nvPr/>
        </p:nvSpPr>
        <p:spPr>
          <a:xfrm>
            <a:off x="3593904" y="3800695"/>
            <a:ext cx="397866" cy="461665"/>
          </a:xfrm>
          <a:prstGeom prst="rect">
            <a:avLst/>
          </a:prstGeom>
          <a:noFill/>
        </p:spPr>
        <p:txBody>
          <a:bodyPr wrap="none" rtlCol="0">
            <a:spAutoFit/>
          </a:bodyPr>
          <a:lstStyle/>
          <a:p>
            <a:r>
              <a:rPr lang="en-US" sz="2400" dirty="0"/>
              <a:t>…</a:t>
            </a:r>
          </a:p>
        </p:txBody>
      </p:sp>
      <p:sp>
        <p:nvSpPr>
          <p:cNvPr id="49" name="Rettangolo arrotondato 48"/>
          <p:cNvSpPr/>
          <p:nvPr/>
        </p:nvSpPr>
        <p:spPr>
          <a:xfrm>
            <a:off x="4841508" y="2198293"/>
            <a:ext cx="871358" cy="444287"/>
          </a:xfrm>
          <a:prstGeom prst="roundRect">
            <a:avLst/>
          </a:prstGeom>
          <a:solidFill>
            <a:schemeClr val="accent6">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50" name="Rettangolo arrotondato 49"/>
          <p:cNvSpPr/>
          <p:nvPr/>
        </p:nvSpPr>
        <p:spPr>
          <a:xfrm>
            <a:off x="4841508" y="3449413"/>
            <a:ext cx="871358" cy="444287"/>
          </a:xfrm>
          <a:prstGeom prst="roundRect">
            <a:avLst/>
          </a:prstGeom>
          <a:solidFill>
            <a:schemeClr val="bg1">
              <a:lumMod val="95000"/>
            </a:schemeClr>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dirty="0"/>
          </a:p>
        </p:txBody>
      </p:sp>
      <p:sp>
        <p:nvSpPr>
          <p:cNvPr id="51" name="Rettangolo arrotondato 50"/>
          <p:cNvSpPr/>
          <p:nvPr/>
        </p:nvSpPr>
        <p:spPr>
          <a:xfrm>
            <a:off x="4841508" y="2849690"/>
            <a:ext cx="871358" cy="444287"/>
          </a:xfrm>
          <a:prstGeom prst="roundRect">
            <a:avLst/>
          </a:prstGeom>
          <a:solidFill>
            <a:schemeClr val="accent6">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52" name="Rettangolo arrotondato 51"/>
          <p:cNvSpPr/>
          <p:nvPr/>
        </p:nvSpPr>
        <p:spPr>
          <a:xfrm>
            <a:off x="4841508" y="4858194"/>
            <a:ext cx="871358" cy="444287"/>
          </a:xfrm>
          <a:prstGeom prst="roundRect">
            <a:avLst/>
          </a:prstGeom>
          <a:solidFill>
            <a:schemeClr val="bg1">
              <a:lumMod val="95000"/>
            </a:schemeClr>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dirty="0"/>
          </a:p>
        </p:txBody>
      </p:sp>
      <p:sp>
        <p:nvSpPr>
          <p:cNvPr id="53" name="Rettangolo arrotondato 52"/>
          <p:cNvSpPr/>
          <p:nvPr/>
        </p:nvSpPr>
        <p:spPr>
          <a:xfrm>
            <a:off x="4841508" y="4276079"/>
            <a:ext cx="871358" cy="444287"/>
          </a:xfrm>
          <a:prstGeom prst="roundRect">
            <a:avLst/>
          </a:prstGeom>
          <a:solidFill>
            <a:schemeClr val="accent6">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54" name="CasellaDiTesto 53"/>
          <p:cNvSpPr txBox="1"/>
          <p:nvPr/>
        </p:nvSpPr>
        <p:spPr>
          <a:xfrm>
            <a:off x="5078254" y="3800695"/>
            <a:ext cx="397866" cy="461665"/>
          </a:xfrm>
          <a:prstGeom prst="rect">
            <a:avLst/>
          </a:prstGeom>
          <a:noFill/>
        </p:spPr>
        <p:txBody>
          <a:bodyPr wrap="none" rtlCol="0">
            <a:spAutoFit/>
          </a:bodyPr>
          <a:lstStyle/>
          <a:p>
            <a:r>
              <a:rPr lang="en-US" sz="2400" dirty="0"/>
              <a:t>…</a:t>
            </a:r>
          </a:p>
        </p:txBody>
      </p:sp>
      <p:cxnSp>
        <p:nvCxnSpPr>
          <p:cNvPr id="55" name="Connettore 2 54"/>
          <p:cNvCxnSpPr>
            <a:stCxn id="10" idx="3"/>
            <a:endCxn id="49" idx="1"/>
          </p:cNvCxnSpPr>
          <p:nvPr/>
        </p:nvCxnSpPr>
        <p:spPr>
          <a:xfrm>
            <a:off x="4228516" y="2420436"/>
            <a:ext cx="6129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Connettore 2 57"/>
          <p:cNvCxnSpPr>
            <a:stCxn id="10" idx="3"/>
            <a:endCxn id="51" idx="1"/>
          </p:cNvCxnSpPr>
          <p:nvPr/>
        </p:nvCxnSpPr>
        <p:spPr>
          <a:xfrm>
            <a:off x="4228516" y="2420437"/>
            <a:ext cx="612992" cy="65139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nettore 2 60"/>
          <p:cNvCxnSpPr>
            <a:stCxn id="10" idx="3"/>
            <a:endCxn id="50" idx="1"/>
          </p:cNvCxnSpPr>
          <p:nvPr/>
        </p:nvCxnSpPr>
        <p:spPr>
          <a:xfrm>
            <a:off x="4228516" y="2420436"/>
            <a:ext cx="612992" cy="12511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Connettore 2 63"/>
          <p:cNvCxnSpPr>
            <a:stCxn id="10" idx="3"/>
            <a:endCxn id="53" idx="1"/>
          </p:cNvCxnSpPr>
          <p:nvPr/>
        </p:nvCxnSpPr>
        <p:spPr>
          <a:xfrm>
            <a:off x="4228516" y="2420436"/>
            <a:ext cx="612992" cy="207778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Connettore 2 66"/>
          <p:cNvCxnSpPr>
            <a:stCxn id="10" idx="3"/>
            <a:endCxn id="52" idx="1"/>
          </p:cNvCxnSpPr>
          <p:nvPr/>
        </p:nvCxnSpPr>
        <p:spPr>
          <a:xfrm>
            <a:off x="4228516" y="2420437"/>
            <a:ext cx="612992" cy="26599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nettore 2 69"/>
          <p:cNvCxnSpPr>
            <a:stCxn id="12" idx="3"/>
            <a:endCxn id="49" idx="1"/>
          </p:cNvCxnSpPr>
          <p:nvPr/>
        </p:nvCxnSpPr>
        <p:spPr>
          <a:xfrm flipV="1">
            <a:off x="4228516" y="2420437"/>
            <a:ext cx="612992" cy="65139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ttore 2 72"/>
          <p:cNvCxnSpPr>
            <a:stCxn id="12" idx="3"/>
            <a:endCxn id="51" idx="1"/>
          </p:cNvCxnSpPr>
          <p:nvPr/>
        </p:nvCxnSpPr>
        <p:spPr>
          <a:xfrm>
            <a:off x="4228516" y="3071833"/>
            <a:ext cx="6129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Connettore 2 75"/>
          <p:cNvCxnSpPr>
            <a:stCxn id="12" idx="3"/>
            <a:endCxn id="50" idx="1"/>
          </p:cNvCxnSpPr>
          <p:nvPr/>
        </p:nvCxnSpPr>
        <p:spPr>
          <a:xfrm>
            <a:off x="4228516" y="3071834"/>
            <a:ext cx="612992" cy="5997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Connettore 2 78"/>
          <p:cNvCxnSpPr>
            <a:stCxn id="13" idx="3"/>
            <a:endCxn id="52" idx="1"/>
          </p:cNvCxnSpPr>
          <p:nvPr/>
        </p:nvCxnSpPr>
        <p:spPr>
          <a:xfrm>
            <a:off x="4228516" y="5080337"/>
            <a:ext cx="6129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Connettore 2 81"/>
          <p:cNvCxnSpPr>
            <a:stCxn id="13" idx="3"/>
            <a:endCxn id="53" idx="1"/>
          </p:cNvCxnSpPr>
          <p:nvPr/>
        </p:nvCxnSpPr>
        <p:spPr>
          <a:xfrm flipV="1">
            <a:off x="4228516" y="4498223"/>
            <a:ext cx="612992" cy="5821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Connettore 2 84"/>
          <p:cNvCxnSpPr>
            <a:stCxn id="14" idx="3"/>
            <a:endCxn id="50" idx="1"/>
          </p:cNvCxnSpPr>
          <p:nvPr/>
        </p:nvCxnSpPr>
        <p:spPr>
          <a:xfrm flipV="1">
            <a:off x="4228516" y="3671556"/>
            <a:ext cx="612992" cy="82666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Connettore 2 87"/>
          <p:cNvCxnSpPr>
            <a:stCxn id="14" idx="3"/>
            <a:endCxn id="53" idx="1"/>
          </p:cNvCxnSpPr>
          <p:nvPr/>
        </p:nvCxnSpPr>
        <p:spPr>
          <a:xfrm>
            <a:off x="4228516" y="4498222"/>
            <a:ext cx="6129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1" name="Ovale 90"/>
          <p:cNvSpPr/>
          <p:nvPr/>
        </p:nvSpPr>
        <p:spPr>
          <a:xfrm>
            <a:off x="6325858" y="3676186"/>
            <a:ext cx="360040" cy="360040"/>
          </a:xfrm>
          <a:prstGeom prst="ellipse">
            <a:avLst/>
          </a:prstGeom>
          <a:solidFill>
            <a:schemeClr val="accent1">
              <a:lumMod val="60000"/>
              <a:lumOff val="40000"/>
            </a:schemeClr>
          </a:solidFill>
          <a:ln w="28575">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cxnSp>
        <p:nvCxnSpPr>
          <p:cNvPr id="92" name="Connettore 2 91"/>
          <p:cNvCxnSpPr>
            <a:stCxn id="49" idx="3"/>
            <a:endCxn id="91" idx="1"/>
          </p:cNvCxnSpPr>
          <p:nvPr/>
        </p:nvCxnSpPr>
        <p:spPr>
          <a:xfrm>
            <a:off x="5712867" y="2420437"/>
            <a:ext cx="665719" cy="130847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Connettore 2 95"/>
          <p:cNvCxnSpPr>
            <a:stCxn id="52" idx="3"/>
            <a:endCxn id="91" idx="3"/>
          </p:cNvCxnSpPr>
          <p:nvPr/>
        </p:nvCxnSpPr>
        <p:spPr>
          <a:xfrm flipV="1">
            <a:off x="5712867" y="3983499"/>
            <a:ext cx="665719" cy="10968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Connettore 2 98"/>
          <p:cNvCxnSpPr>
            <a:stCxn id="53" idx="3"/>
            <a:endCxn id="91" idx="2"/>
          </p:cNvCxnSpPr>
          <p:nvPr/>
        </p:nvCxnSpPr>
        <p:spPr>
          <a:xfrm flipV="1">
            <a:off x="5712866" y="3856206"/>
            <a:ext cx="612992" cy="6420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ttore 2 100"/>
          <p:cNvCxnSpPr>
            <a:stCxn id="51" idx="3"/>
            <a:endCxn id="91" idx="1"/>
          </p:cNvCxnSpPr>
          <p:nvPr/>
        </p:nvCxnSpPr>
        <p:spPr>
          <a:xfrm>
            <a:off x="5712867" y="3071833"/>
            <a:ext cx="665719" cy="6570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Connettore 2 102"/>
          <p:cNvCxnSpPr>
            <a:stCxn id="50" idx="3"/>
            <a:endCxn id="91" idx="2"/>
          </p:cNvCxnSpPr>
          <p:nvPr/>
        </p:nvCxnSpPr>
        <p:spPr>
          <a:xfrm>
            <a:off x="5712866" y="3671556"/>
            <a:ext cx="612992" cy="1846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 name="CasellaDiTesto 103"/>
          <p:cNvSpPr txBox="1"/>
          <p:nvPr/>
        </p:nvSpPr>
        <p:spPr>
          <a:xfrm>
            <a:off x="2260651" y="1508594"/>
            <a:ext cx="7724487" cy="461665"/>
          </a:xfrm>
          <a:prstGeom prst="rect">
            <a:avLst/>
          </a:prstGeom>
          <a:noFill/>
        </p:spPr>
        <p:txBody>
          <a:bodyPr wrap="none" rtlCol="0">
            <a:spAutoFit/>
          </a:bodyPr>
          <a:lstStyle/>
          <a:p>
            <a:r>
              <a:rPr lang="en-US" sz="2400" dirty="0"/>
              <a:t>Randomly disconnect units from the network during training</a:t>
            </a:r>
          </a:p>
        </p:txBody>
      </p:sp>
    </p:spTree>
    <p:extLst>
      <p:ext uri="{BB962C8B-B14F-4D97-AF65-F5344CB8AC3E}">
        <p14:creationId xmlns:p14="http://schemas.microsoft.com/office/powerpoint/2010/main" val="201574745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Dropout Regularization</a:t>
            </a:r>
          </a:p>
        </p:txBody>
      </p:sp>
      <p:sp>
        <p:nvSpPr>
          <p:cNvPr id="7" name="Ovale 6"/>
          <p:cNvSpPr/>
          <p:nvPr/>
        </p:nvSpPr>
        <p:spPr>
          <a:xfrm>
            <a:off x="1948447" y="4276078"/>
            <a:ext cx="360040" cy="360040"/>
          </a:xfrm>
          <a:prstGeom prst="ellipse">
            <a:avLst/>
          </a:prstGeom>
          <a:solidFill>
            <a:schemeClr val="accent1">
              <a:lumMod val="60000"/>
              <a:lumOff val="40000"/>
            </a:schemeClr>
          </a:solidFill>
          <a:ln w="28575">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8" name="Ovale 7"/>
          <p:cNvSpPr/>
          <p:nvPr/>
        </p:nvSpPr>
        <p:spPr>
          <a:xfrm>
            <a:off x="1948447" y="3634558"/>
            <a:ext cx="360040" cy="360040"/>
          </a:xfrm>
          <a:prstGeom prst="ellipse">
            <a:avLst/>
          </a:prstGeom>
          <a:solidFill>
            <a:schemeClr val="accent1">
              <a:lumMod val="60000"/>
              <a:lumOff val="40000"/>
            </a:schemeClr>
          </a:solidFill>
          <a:ln w="28575">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9" name="Ovale 8"/>
          <p:cNvSpPr/>
          <p:nvPr/>
        </p:nvSpPr>
        <p:spPr>
          <a:xfrm>
            <a:off x="1948447" y="3034170"/>
            <a:ext cx="360040" cy="360040"/>
          </a:xfrm>
          <a:prstGeom prst="ellipse">
            <a:avLst/>
          </a:prstGeom>
          <a:solidFill>
            <a:schemeClr val="accent1">
              <a:lumMod val="60000"/>
              <a:lumOff val="40000"/>
            </a:schemeClr>
          </a:solidFill>
          <a:ln w="28575">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10" name="Rettangolo arrotondato 9"/>
          <p:cNvSpPr/>
          <p:nvPr/>
        </p:nvSpPr>
        <p:spPr>
          <a:xfrm>
            <a:off x="3357158" y="2198293"/>
            <a:ext cx="871358" cy="444287"/>
          </a:xfrm>
          <a:prstGeom prst="roundRect">
            <a:avLst/>
          </a:prstGeom>
          <a:solidFill>
            <a:schemeClr val="accent6">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11" name="Rettangolo arrotondato 10"/>
          <p:cNvSpPr/>
          <p:nvPr/>
        </p:nvSpPr>
        <p:spPr>
          <a:xfrm>
            <a:off x="3357158" y="3449413"/>
            <a:ext cx="871358" cy="444287"/>
          </a:xfrm>
          <a:prstGeom prst="roundRect">
            <a:avLst/>
          </a:prstGeom>
          <a:solidFill>
            <a:schemeClr val="bg1">
              <a:lumMod val="95000"/>
            </a:schemeClr>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dirty="0"/>
          </a:p>
        </p:txBody>
      </p:sp>
      <p:sp>
        <p:nvSpPr>
          <p:cNvPr id="12" name="Rettangolo arrotondato 11"/>
          <p:cNvSpPr/>
          <p:nvPr/>
        </p:nvSpPr>
        <p:spPr>
          <a:xfrm>
            <a:off x="3357158" y="2849690"/>
            <a:ext cx="871358" cy="444287"/>
          </a:xfrm>
          <a:prstGeom prst="roundRect">
            <a:avLst/>
          </a:prstGeom>
          <a:solidFill>
            <a:schemeClr val="accent6">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13" name="Rettangolo arrotondato 12"/>
          <p:cNvSpPr/>
          <p:nvPr/>
        </p:nvSpPr>
        <p:spPr>
          <a:xfrm>
            <a:off x="3357158" y="4858194"/>
            <a:ext cx="871358" cy="444287"/>
          </a:xfrm>
          <a:prstGeom prst="roundRect">
            <a:avLst/>
          </a:prstGeom>
          <a:solidFill>
            <a:schemeClr val="accent6">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14" name="Rettangolo arrotondato 13"/>
          <p:cNvSpPr/>
          <p:nvPr/>
        </p:nvSpPr>
        <p:spPr>
          <a:xfrm>
            <a:off x="3357158" y="4276079"/>
            <a:ext cx="871358" cy="444287"/>
          </a:xfrm>
          <a:prstGeom prst="roundRect">
            <a:avLst/>
          </a:prstGeom>
          <a:solidFill>
            <a:schemeClr val="bg1">
              <a:lumMod val="95000"/>
            </a:schemeClr>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dirty="0"/>
          </a:p>
        </p:txBody>
      </p:sp>
      <p:cxnSp>
        <p:nvCxnSpPr>
          <p:cNvPr id="16" name="Connettore 2 15"/>
          <p:cNvCxnSpPr>
            <a:stCxn id="9" idx="6"/>
            <a:endCxn id="10" idx="1"/>
          </p:cNvCxnSpPr>
          <p:nvPr/>
        </p:nvCxnSpPr>
        <p:spPr>
          <a:xfrm flipV="1">
            <a:off x="2308488" y="2420436"/>
            <a:ext cx="1048671" cy="7937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nettore 2 16"/>
          <p:cNvCxnSpPr>
            <a:stCxn id="9" idx="6"/>
            <a:endCxn id="12" idx="1"/>
          </p:cNvCxnSpPr>
          <p:nvPr/>
        </p:nvCxnSpPr>
        <p:spPr>
          <a:xfrm flipV="1">
            <a:off x="2308488" y="3071834"/>
            <a:ext cx="1048671" cy="1423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ttore 2 19"/>
          <p:cNvCxnSpPr>
            <a:stCxn id="9" idx="6"/>
            <a:endCxn id="11" idx="1"/>
          </p:cNvCxnSpPr>
          <p:nvPr/>
        </p:nvCxnSpPr>
        <p:spPr>
          <a:xfrm>
            <a:off x="2308488" y="3214190"/>
            <a:ext cx="1048671" cy="45736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nettore 2 22"/>
          <p:cNvCxnSpPr>
            <a:stCxn id="9" idx="6"/>
            <a:endCxn id="14" idx="1"/>
          </p:cNvCxnSpPr>
          <p:nvPr/>
        </p:nvCxnSpPr>
        <p:spPr>
          <a:xfrm>
            <a:off x="2308488" y="3214190"/>
            <a:ext cx="1048671" cy="12840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ttore 2 25"/>
          <p:cNvCxnSpPr>
            <a:stCxn id="9" idx="6"/>
            <a:endCxn id="13" idx="1"/>
          </p:cNvCxnSpPr>
          <p:nvPr/>
        </p:nvCxnSpPr>
        <p:spPr>
          <a:xfrm>
            <a:off x="2308488" y="3214191"/>
            <a:ext cx="1048671" cy="18661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nettore 2 28"/>
          <p:cNvCxnSpPr>
            <a:stCxn id="8" idx="6"/>
            <a:endCxn id="10" idx="1"/>
          </p:cNvCxnSpPr>
          <p:nvPr/>
        </p:nvCxnSpPr>
        <p:spPr>
          <a:xfrm flipV="1">
            <a:off x="2308488" y="2420436"/>
            <a:ext cx="1048671" cy="13941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ttore 2 31"/>
          <p:cNvCxnSpPr>
            <a:stCxn id="8" idx="6"/>
            <a:endCxn id="12" idx="1"/>
          </p:cNvCxnSpPr>
          <p:nvPr/>
        </p:nvCxnSpPr>
        <p:spPr>
          <a:xfrm flipV="1">
            <a:off x="2308488" y="3071834"/>
            <a:ext cx="1048671" cy="74274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nettore 2 34"/>
          <p:cNvCxnSpPr>
            <a:stCxn id="7" idx="6"/>
            <a:endCxn id="13" idx="1"/>
          </p:cNvCxnSpPr>
          <p:nvPr/>
        </p:nvCxnSpPr>
        <p:spPr>
          <a:xfrm>
            <a:off x="2308488" y="4456099"/>
            <a:ext cx="1048671" cy="62423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nettore 2 37"/>
          <p:cNvCxnSpPr>
            <a:stCxn id="7" idx="6"/>
            <a:endCxn id="14" idx="1"/>
          </p:cNvCxnSpPr>
          <p:nvPr/>
        </p:nvCxnSpPr>
        <p:spPr>
          <a:xfrm>
            <a:off x="2308488" y="4456098"/>
            <a:ext cx="1048671" cy="421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nettore 2 40"/>
          <p:cNvCxnSpPr>
            <a:stCxn id="7" idx="6"/>
            <a:endCxn id="11" idx="1"/>
          </p:cNvCxnSpPr>
          <p:nvPr/>
        </p:nvCxnSpPr>
        <p:spPr>
          <a:xfrm flipV="1">
            <a:off x="2308488" y="3671556"/>
            <a:ext cx="1048671" cy="7845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nettore 2 44"/>
          <p:cNvCxnSpPr>
            <a:stCxn id="8" idx="6"/>
            <a:endCxn id="11" idx="1"/>
          </p:cNvCxnSpPr>
          <p:nvPr/>
        </p:nvCxnSpPr>
        <p:spPr>
          <a:xfrm flipV="1">
            <a:off x="2308488" y="3671556"/>
            <a:ext cx="1048671" cy="1430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CasellaDiTesto 47"/>
          <p:cNvSpPr txBox="1"/>
          <p:nvPr/>
        </p:nvSpPr>
        <p:spPr>
          <a:xfrm>
            <a:off x="3593904" y="3800695"/>
            <a:ext cx="397866" cy="461665"/>
          </a:xfrm>
          <a:prstGeom prst="rect">
            <a:avLst/>
          </a:prstGeom>
          <a:noFill/>
        </p:spPr>
        <p:txBody>
          <a:bodyPr wrap="none" rtlCol="0">
            <a:spAutoFit/>
          </a:bodyPr>
          <a:lstStyle/>
          <a:p>
            <a:r>
              <a:rPr lang="en-US" sz="2400" dirty="0"/>
              <a:t>…</a:t>
            </a:r>
          </a:p>
        </p:txBody>
      </p:sp>
      <p:sp>
        <p:nvSpPr>
          <p:cNvPr id="49" name="Rettangolo arrotondato 48"/>
          <p:cNvSpPr/>
          <p:nvPr/>
        </p:nvSpPr>
        <p:spPr>
          <a:xfrm>
            <a:off x="4841508" y="2198293"/>
            <a:ext cx="871358" cy="444287"/>
          </a:xfrm>
          <a:prstGeom prst="roundRect">
            <a:avLst/>
          </a:prstGeom>
          <a:solidFill>
            <a:schemeClr val="bg1">
              <a:lumMod val="95000"/>
            </a:schemeClr>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dirty="0"/>
          </a:p>
        </p:txBody>
      </p:sp>
      <p:sp>
        <p:nvSpPr>
          <p:cNvPr id="50" name="Rettangolo arrotondato 49"/>
          <p:cNvSpPr/>
          <p:nvPr/>
        </p:nvSpPr>
        <p:spPr>
          <a:xfrm>
            <a:off x="4841508" y="3449413"/>
            <a:ext cx="871358" cy="444287"/>
          </a:xfrm>
          <a:prstGeom prst="roundRect">
            <a:avLst/>
          </a:prstGeom>
          <a:solidFill>
            <a:schemeClr val="accent6">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51" name="Rettangolo arrotondato 50"/>
          <p:cNvSpPr/>
          <p:nvPr/>
        </p:nvSpPr>
        <p:spPr>
          <a:xfrm>
            <a:off x="4841508" y="2849690"/>
            <a:ext cx="871358" cy="444287"/>
          </a:xfrm>
          <a:prstGeom prst="roundRect">
            <a:avLst/>
          </a:prstGeom>
          <a:solidFill>
            <a:schemeClr val="bg1">
              <a:lumMod val="95000"/>
            </a:schemeClr>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dirty="0"/>
          </a:p>
        </p:txBody>
      </p:sp>
      <p:sp>
        <p:nvSpPr>
          <p:cNvPr id="52" name="Rettangolo arrotondato 51"/>
          <p:cNvSpPr/>
          <p:nvPr/>
        </p:nvSpPr>
        <p:spPr>
          <a:xfrm>
            <a:off x="4841508" y="4858194"/>
            <a:ext cx="871358" cy="444287"/>
          </a:xfrm>
          <a:prstGeom prst="roundRect">
            <a:avLst/>
          </a:prstGeom>
          <a:solidFill>
            <a:schemeClr val="accent6">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53" name="Rettangolo arrotondato 52"/>
          <p:cNvSpPr/>
          <p:nvPr/>
        </p:nvSpPr>
        <p:spPr>
          <a:xfrm>
            <a:off x="4841508" y="4276079"/>
            <a:ext cx="871358" cy="444287"/>
          </a:xfrm>
          <a:prstGeom prst="roundRect">
            <a:avLst/>
          </a:prstGeom>
          <a:solidFill>
            <a:schemeClr val="accent6">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54" name="CasellaDiTesto 53"/>
          <p:cNvSpPr txBox="1"/>
          <p:nvPr/>
        </p:nvSpPr>
        <p:spPr>
          <a:xfrm>
            <a:off x="5078254" y="3800695"/>
            <a:ext cx="397866" cy="461665"/>
          </a:xfrm>
          <a:prstGeom prst="rect">
            <a:avLst/>
          </a:prstGeom>
          <a:noFill/>
        </p:spPr>
        <p:txBody>
          <a:bodyPr wrap="none" rtlCol="0">
            <a:spAutoFit/>
          </a:bodyPr>
          <a:lstStyle/>
          <a:p>
            <a:r>
              <a:rPr lang="en-US" sz="2400" dirty="0"/>
              <a:t>…</a:t>
            </a:r>
          </a:p>
        </p:txBody>
      </p:sp>
      <p:cxnSp>
        <p:nvCxnSpPr>
          <p:cNvPr id="55" name="Connettore 2 54"/>
          <p:cNvCxnSpPr>
            <a:stCxn id="10" idx="3"/>
            <a:endCxn id="49" idx="1"/>
          </p:cNvCxnSpPr>
          <p:nvPr/>
        </p:nvCxnSpPr>
        <p:spPr>
          <a:xfrm>
            <a:off x="4228516" y="2420436"/>
            <a:ext cx="6129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Connettore 2 57"/>
          <p:cNvCxnSpPr>
            <a:stCxn id="10" idx="3"/>
            <a:endCxn id="51" idx="1"/>
          </p:cNvCxnSpPr>
          <p:nvPr/>
        </p:nvCxnSpPr>
        <p:spPr>
          <a:xfrm>
            <a:off x="4228516" y="2420437"/>
            <a:ext cx="612992" cy="65139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nettore 2 60"/>
          <p:cNvCxnSpPr>
            <a:stCxn id="10" idx="3"/>
            <a:endCxn id="50" idx="1"/>
          </p:cNvCxnSpPr>
          <p:nvPr/>
        </p:nvCxnSpPr>
        <p:spPr>
          <a:xfrm>
            <a:off x="4228516" y="2420436"/>
            <a:ext cx="612992" cy="12511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Connettore 2 63"/>
          <p:cNvCxnSpPr>
            <a:stCxn id="10" idx="3"/>
            <a:endCxn id="53" idx="1"/>
          </p:cNvCxnSpPr>
          <p:nvPr/>
        </p:nvCxnSpPr>
        <p:spPr>
          <a:xfrm>
            <a:off x="4228516" y="2420436"/>
            <a:ext cx="612992" cy="207778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Connettore 2 66"/>
          <p:cNvCxnSpPr>
            <a:stCxn id="10" idx="3"/>
            <a:endCxn id="52" idx="1"/>
          </p:cNvCxnSpPr>
          <p:nvPr/>
        </p:nvCxnSpPr>
        <p:spPr>
          <a:xfrm>
            <a:off x="4228516" y="2420437"/>
            <a:ext cx="612992" cy="26599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nettore 2 69"/>
          <p:cNvCxnSpPr>
            <a:stCxn id="12" idx="3"/>
            <a:endCxn id="49" idx="1"/>
          </p:cNvCxnSpPr>
          <p:nvPr/>
        </p:nvCxnSpPr>
        <p:spPr>
          <a:xfrm flipV="1">
            <a:off x="4228516" y="2420437"/>
            <a:ext cx="612992" cy="65139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ttore 2 72"/>
          <p:cNvCxnSpPr>
            <a:stCxn id="12" idx="3"/>
            <a:endCxn id="51" idx="1"/>
          </p:cNvCxnSpPr>
          <p:nvPr/>
        </p:nvCxnSpPr>
        <p:spPr>
          <a:xfrm>
            <a:off x="4228516" y="3071833"/>
            <a:ext cx="6129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Connettore 2 75"/>
          <p:cNvCxnSpPr>
            <a:stCxn id="12" idx="3"/>
            <a:endCxn id="50" idx="1"/>
          </p:cNvCxnSpPr>
          <p:nvPr/>
        </p:nvCxnSpPr>
        <p:spPr>
          <a:xfrm>
            <a:off x="4228516" y="3071834"/>
            <a:ext cx="612992" cy="5997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Connettore 2 78"/>
          <p:cNvCxnSpPr>
            <a:stCxn id="13" idx="3"/>
            <a:endCxn id="52" idx="1"/>
          </p:cNvCxnSpPr>
          <p:nvPr/>
        </p:nvCxnSpPr>
        <p:spPr>
          <a:xfrm>
            <a:off x="4228516" y="5080337"/>
            <a:ext cx="6129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Connettore 2 81"/>
          <p:cNvCxnSpPr>
            <a:stCxn id="13" idx="3"/>
            <a:endCxn id="53" idx="1"/>
          </p:cNvCxnSpPr>
          <p:nvPr/>
        </p:nvCxnSpPr>
        <p:spPr>
          <a:xfrm flipV="1">
            <a:off x="4228516" y="4498223"/>
            <a:ext cx="612992" cy="5821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Connettore 2 84"/>
          <p:cNvCxnSpPr>
            <a:stCxn id="14" idx="3"/>
            <a:endCxn id="50" idx="1"/>
          </p:cNvCxnSpPr>
          <p:nvPr/>
        </p:nvCxnSpPr>
        <p:spPr>
          <a:xfrm flipV="1">
            <a:off x="4228516" y="3671556"/>
            <a:ext cx="612992" cy="82666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Connettore 2 87"/>
          <p:cNvCxnSpPr>
            <a:stCxn id="14" idx="3"/>
            <a:endCxn id="53" idx="1"/>
          </p:cNvCxnSpPr>
          <p:nvPr/>
        </p:nvCxnSpPr>
        <p:spPr>
          <a:xfrm>
            <a:off x="4228516" y="4498222"/>
            <a:ext cx="6129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1" name="Ovale 90"/>
          <p:cNvSpPr/>
          <p:nvPr/>
        </p:nvSpPr>
        <p:spPr>
          <a:xfrm>
            <a:off x="6325858" y="3676186"/>
            <a:ext cx="360040" cy="360040"/>
          </a:xfrm>
          <a:prstGeom prst="ellipse">
            <a:avLst/>
          </a:prstGeom>
          <a:solidFill>
            <a:schemeClr val="accent1">
              <a:lumMod val="60000"/>
              <a:lumOff val="40000"/>
            </a:schemeClr>
          </a:solidFill>
          <a:ln w="28575">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cxnSp>
        <p:nvCxnSpPr>
          <p:cNvPr id="92" name="Connettore 2 91"/>
          <p:cNvCxnSpPr>
            <a:stCxn id="49" idx="3"/>
            <a:endCxn id="91" idx="1"/>
          </p:cNvCxnSpPr>
          <p:nvPr/>
        </p:nvCxnSpPr>
        <p:spPr>
          <a:xfrm>
            <a:off x="5712867" y="2420437"/>
            <a:ext cx="665719" cy="130847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Connettore 2 95"/>
          <p:cNvCxnSpPr>
            <a:stCxn id="52" idx="3"/>
            <a:endCxn id="91" idx="3"/>
          </p:cNvCxnSpPr>
          <p:nvPr/>
        </p:nvCxnSpPr>
        <p:spPr>
          <a:xfrm flipV="1">
            <a:off x="5712867" y="3983499"/>
            <a:ext cx="665719" cy="10968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Connettore 2 98"/>
          <p:cNvCxnSpPr>
            <a:stCxn id="53" idx="3"/>
            <a:endCxn id="91" idx="2"/>
          </p:cNvCxnSpPr>
          <p:nvPr/>
        </p:nvCxnSpPr>
        <p:spPr>
          <a:xfrm flipV="1">
            <a:off x="5712866" y="3856206"/>
            <a:ext cx="612992" cy="6420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ttore 2 100"/>
          <p:cNvCxnSpPr>
            <a:stCxn id="51" idx="3"/>
            <a:endCxn id="91" idx="1"/>
          </p:cNvCxnSpPr>
          <p:nvPr/>
        </p:nvCxnSpPr>
        <p:spPr>
          <a:xfrm>
            <a:off x="5712867" y="3071833"/>
            <a:ext cx="665719" cy="6570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Connettore 2 102"/>
          <p:cNvCxnSpPr>
            <a:stCxn id="50" idx="3"/>
            <a:endCxn id="91" idx="2"/>
          </p:cNvCxnSpPr>
          <p:nvPr/>
        </p:nvCxnSpPr>
        <p:spPr>
          <a:xfrm>
            <a:off x="5712866" y="3671556"/>
            <a:ext cx="612992" cy="1846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 name="CasellaDiTesto 103"/>
          <p:cNvSpPr txBox="1"/>
          <p:nvPr/>
        </p:nvSpPr>
        <p:spPr>
          <a:xfrm>
            <a:off x="2260651" y="1508594"/>
            <a:ext cx="7724487" cy="461665"/>
          </a:xfrm>
          <a:prstGeom prst="rect">
            <a:avLst/>
          </a:prstGeom>
          <a:noFill/>
        </p:spPr>
        <p:txBody>
          <a:bodyPr wrap="none" rtlCol="0">
            <a:spAutoFit/>
          </a:bodyPr>
          <a:lstStyle/>
          <a:p>
            <a:r>
              <a:rPr lang="en-US" sz="2400" dirty="0"/>
              <a:t>Randomly disconnect units from the network during training</a:t>
            </a:r>
          </a:p>
        </p:txBody>
      </p:sp>
    </p:spTree>
    <p:extLst>
      <p:ext uri="{BB962C8B-B14F-4D97-AF65-F5344CB8AC3E}">
        <p14:creationId xmlns:p14="http://schemas.microsoft.com/office/powerpoint/2010/main" val="417320050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Dropout Regularization</a:t>
            </a:r>
          </a:p>
        </p:txBody>
      </p:sp>
      <p:sp>
        <p:nvSpPr>
          <p:cNvPr id="104" name="CasellaDiTesto 103"/>
          <p:cNvSpPr txBox="1"/>
          <p:nvPr/>
        </p:nvSpPr>
        <p:spPr>
          <a:xfrm>
            <a:off x="2260651" y="1508594"/>
            <a:ext cx="7724487" cy="461665"/>
          </a:xfrm>
          <a:prstGeom prst="rect">
            <a:avLst/>
          </a:prstGeom>
          <a:noFill/>
        </p:spPr>
        <p:txBody>
          <a:bodyPr wrap="none" rtlCol="0">
            <a:spAutoFit/>
          </a:bodyPr>
          <a:lstStyle/>
          <a:p>
            <a:r>
              <a:rPr lang="en-US" sz="2400" dirty="0"/>
              <a:t>Randomly disconnect units from the network during training</a:t>
            </a:r>
          </a:p>
        </p:txBody>
      </p:sp>
      <p:sp>
        <p:nvSpPr>
          <p:cNvPr id="105" name="CasellaDiTesto 104"/>
          <p:cNvSpPr txBox="1"/>
          <p:nvPr/>
        </p:nvSpPr>
        <p:spPr>
          <a:xfrm>
            <a:off x="6965348" y="2013921"/>
            <a:ext cx="4566252" cy="3046988"/>
          </a:xfrm>
          <a:prstGeom prst="rect">
            <a:avLst/>
          </a:prstGeom>
          <a:noFill/>
        </p:spPr>
        <p:txBody>
          <a:bodyPr wrap="square" rtlCol="0">
            <a:spAutoFit/>
          </a:bodyPr>
          <a:lstStyle/>
          <a:p>
            <a:pPr marL="342900" indent="-342900">
              <a:buFont typeface="Arial" panose="020B0604020202020204" pitchFamily="34" charset="0"/>
              <a:buChar char="•"/>
            </a:pPr>
            <a:r>
              <a:rPr lang="en-US" sz="2400" dirty="0"/>
              <a:t>Regulated by unit </a:t>
            </a:r>
            <a:r>
              <a:rPr lang="en-US" sz="2400" b="1" dirty="0"/>
              <a:t>dropping </a:t>
            </a:r>
            <a:r>
              <a:rPr lang="en-US" sz="2400" b="1" dirty="0" err="1"/>
              <a:t>hyperparameter</a:t>
            </a:r>
            <a:endParaRPr lang="en-US" sz="2400" b="1" dirty="0"/>
          </a:p>
          <a:p>
            <a:pPr marL="342900" indent="-342900">
              <a:buFont typeface="Arial" panose="020B0604020202020204" pitchFamily="34" charset="0"/>
              <a:buChar char="•"/>
            </a:pPr>
            <a:r>
              <a:rPr lang="en-US" sz="2400" dirty="0"/>
              <a:t>Prevents unit </a:t>
            </a:r>
            <a:r>
              <a:rPr lang="en-US" sz="2400" b="1" dirty="0"/>
              <a:t>coadaptation</a:t>
            </a:r>
          </a:p>
          <a:p>
            <a:pPr marL="342900" indent="-342900">
              <a:buFont typeface="Arial" panose="020B0604020202020204" pitchFamily="34" charset="0"/>
              <a:buChar char="•"/>
            </a:pPr>
            <a:r>
              <a:rPr lang="en-US" sz="2400" dirty="0"/>
              <a:t>Committee machine effect</a:t>
            </a:r>
          </a:p>
          <a:p>
            <a:pPr marL="342900" indent="-342900">
              <a:buFont typeface="Arial" panose="020B0604020202020204" pitchFamily="34" charset="0"/>
              <a:buChar char="•"/>
            </a:pPr>
            <a:r>
              <a:rPr lang="en-US" sz="2400" dirty="0"/>
              <a:t>Need to adapt </a:t>
            </a:r>
            <a:r>
              <a:rPr lang="en-US" sz="2400" b="1" dirty="0"/>
              <a:t>prediction phase</a:t>
            </a:r>
          </a:p>
          <a:p>
            <a:pPr marL="342900" indent="-342900">
              <a:buFont typeface="Arial" panose="020B0604020202020204" pitchFamily="34" charset="0"/>
              <a:buChar char="•"/>
            </a:pPr>
            <a:r>
              <a:rPr lang="en-US" sz="2400" dirty="0"/>
              <a:t>Used at prediction time gives </a:t>
            </a:r>
            <a:r>
              <a:rPr lang="en-US" sz="2400" b="1" dirty="0"/>
              <a:t>predictions with confidence intervals</a:t>
            </a:r>
          </a:p>
        </p:txBody>
      </p:sp>
      <p:sp>
        <p:nvSpPr>
          <p:cNvPr id="56" name="CasellaDiTesto 55">
            <a:extLst>
              <a:ext uri="{FF2B5EF4-FFF2-40B4-BE49-F238E27FC236}">
                <a16:creationId xmlns:a16="http://schemas.microsoft.com/office/drawing/2014/main" id="{B0C450DB-8BFF-1548-BD61-BC57748789B6}"/>
              </a:ext>
            </a:extLst>
          </p:cNvPr>
          <p:cNvSpPr txBox="1"/>
          <p:nvPr/>
        </p:nvSpPr>
        <p:spPr>
          <a:xfrm>
            <a:off x="2260650" y="5753973"/>
            <a:ext cx="4541908" cy="830997"/>
          </a:xfrm>
          <a:prstGeom prst="rect">
            <a:avLst/>
          </a:prstGeom>
          <a:noFill/>
        </p:spPr>
        <p:txBody>
          <a:bodyPr wrap="square" rtlCol="0">
            <a:spAutoFit/>
          </a:bodyPr>
          <a:lstStyle/>
          <a:p>
            <a:r>
              <a:rPr lang="en-US" sz="2400" dirty="0"/>
              <a:t>You can also </a:t>
            </a:r>
            <a:r>
              <a:rPr lang="en-US" sz="2400" b="1" dirty="0"/>
              <a:t>drop single connections</a:t>
            </a:r>
            <a:r>
              <a:rPr lang="en-US" sz="2400" dirty="0">
                <a:solidFill>
                  <a:schemeClr val="accent2"/>
                </a:solidFill>
              </a:rPr>
              <a:t> </a:t>
            </a:r>
            <a:r>
              <a:rPr lang="en-US" sz="2400" dirty="0"/>
              <a:t>(</a:t>
            </a:r>
            <a:r>
              <a:rPr lang="en-US" sz="2400" dirty="0" err="1"/>
              <a:t>dropconnect</a:t>
            </a:r>
            <a:r>
              <a:rPr lang="en-US" sz="2400" dirty="0"/>
              <a:t>)</a:t>
            </a:r>
          </a:p>
        </p:txBody>
      </p:sp>
      <p:sp>
        <p:nvSpPr>
          <p:cNvPr id="57" name="Ovale 56">
            <a:extLst>
              <a:ext uri="{FF2B5EF4-FFF2-40B4-BE49-F238E27FC236}">
                <a16:creationId xmlns:a16="http://schemas.microsoft.com/office/drawing/2014/main" id="{AE66AC11-F47C-8142-A824-4AB517345BA8}"/>
              </a:ext>
            </a:extLst>
          </p:cNvPr>
          <p:cNvSpPr/>
          <p:nvPr/>
        </p:nvSpPr>
        <p:spPr>
          <a:xfrm>
            <a:off x="1948447" y="4276078"/>
            <a:ext cx="360040" cy="360040"/>
          </a:xfrm>
          <a:prstGeom prst="ellipse">
            <a:avLst/>
          </a:prstGeom>
          <a:solidFill>
            <a:schemeClr val="accent1">
              <a:lumMod val="60000"/>
              <a:lumOff val="40000"/>
            </a:schemeClr>
          </a:solidFill>
          <a:ln w="28575">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59" name="Ovale 58">
            <a:extLst>
              <a:ext uri="{FF2B5EF4-FFF2-40B4-BE49-F238E27FC236}">
                <a16:creationId xmlns:a16="http://schemas.microsoft.com/office/drawing/2014/main" id="{567DC1D8-2996-964A-9E48-0B31A4D19BD2}"/>
              </a:ext>
            </a:extLst>
          </p:cNvPr>
          <p:cNvSpPr/>
          <p:nvPr/>
        </p:nvSpPr>
        <p:spPr>
          <a:xfrm>
            <a:off x="1948447" y="3634558"/>
            <a:ext cx="360040" cy="360040"/>
          </a:xfrm>
          <a:prstGeom prst="ellipse">
            <a:avLst/>
          </a:prstGeom>
          <a:solidFill>
            <a:schemeClr val="accent1">
              <a:lumMod val="60000"/>
              <a:lumOff val="40000"/>
            </a:schemeClr>
          </a:solidFill>
          <a:ln w="28575">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60" name="Ovale 59">
            <a:extLst>
              <a:ext uri="{FF2B5EF4-FFF2-40B4-BE49-F238E27FC236}">
                <a16:creationId xmlns:a16="http://schemas.microsoft.com/office/drawing/2014/main" id="{43CFBF39-1139-8A46-96C2-2DCA0F18F7A1}"/>
              </a:ext>
            </a:extLst>
          </p:cNvPr>
          <p:cNvSpPr/>
          <p:nvPr/>
        </p:nvSpPr>
        <p:spPr>
          <a:xfrm>
            <a:off x="1948447" y="3034170"/>
            <a:ext cx="360040" cy="360040"/>
          </a:xfrm>
          <a:prstGeom prst="ellipse">
            <a:avLst/>
          </a:prstGeom>
          <a:solidFill>
            <a:schemeClr val="accent1">
              <a:lumMod val="60000"/>
              <a:lumOff val="40000"/>
            </a:schemeClr>
          </a:solidFill>
          <a:ln w="28575">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62" name="Rettangolo arrotondato 59">
            <a:extLst>
              <a:ext uri="{FF2B5EF4-FFF2-40B4-BE49-F238E27FC236}">
                <a16:creationId xmlns:a16="http://schemas.microsoft.com/office/drawing/2014/main" id="{E91EBAD7-60C1-4B44-9505-6C89780913FB}"/>
              </a:ext>
            </a:extLst>
          </p:cNvPr>
          <p:cNvSpPr/>
          <p:nvPr/>
        </p:nvSpPr>
        <p:spPr>
          <a:xfrm>
            <a:off x="3357158" y="2198293"/>
            <a:ext cx="871358" cy="444287"/>
          </a:xfrm>
          <a:prstGeom prst="roundRect">
            <a:avLst/>
          </a:prstGeom>
          <a:solidFill>
            <a:schemeClr val="accent6">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63" name="Rettangolo arrotondato 61">
            <a:extLst>
              <a:ext uri="{FF2B5EF4-FFF2-40B4-BE49-F238E27FC236}">
                <a16:creationId xmlns:a16="http://schemas.microsoft.com/office/drawing/2014/main" id="{DE954645-96E7-AE4D-A26B-5D33E7D0A404}"/>
              </a:ext>
            </a:extLst>
          </p:cNvPr>
          <p:cNvSpPr/>
          <p:nvPr/>
        </p:nvSpPr>
        <p:spPr>
          <a:xfrm>
            <a:off x="3357158" y="3449413"/>
            <a:ext cx="871358" cy="444287"/>
          </a:xfrm>
          <a:prstGeom prst="roundRect">
            <a:avLst/>
          </a:prstGeom>
          <a:solidFill>
            <a:schemeClr val="accent6">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65" name="Rettangolo arrotondato 62">
            <a:extLst>
              <a:ext uri="{FF2B5EF4-FFF2-40B4-BE49-F238E27FC236}">
                <a16:creationId xmlns:a16="http://schemas.microsoft.com/office/drawing/2014/main" id="{9B7DF0E7-79F6-274E-9053-4C10664DFEA9}"/>
              </a:ext>
            </a:extLst>
          </p:cNvPr>
          <p:cNvSpPr/>
          <p:nvPr/>
        </p:nvSpPr>
        <p:spPr>
          <a:xfrm>
            <a:off x="3357158" y="2849690"/>
            <a:ext cx="871358" cy="444287"/>
          </a:xfrm>
          <a:prstGeom prst="roundRect">
            <a:avLst/>
          </a:prstGeom>
          <a:solidFill>
            <a:schemeClr val="accent6">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66" name="Rettangolo arrotondato 64">
            <a:extLst>
              <a:ext uri="{FF2B5EF4-FFF2-40B4-BE49-F238E27FC236}">
                <a16:creationId xmlns:a16="http://schemas.microsoft.com/office/drawing/2014/main" id="{90C1A2B8-62E1-6944-B6C8-0B99186F4863}"/>
              </a:ext>
            </a:extLst>
          </p:cNvPr>
          <p:cNvSpPr/>
          <p:nvPr/>
        </p:nvSpPr>
        <p:spPr>
          <a:xfrm>
            <a:off x="3357158" y="4858194"/>
            <a:ext cx="871358" cy="444287"/>
          </a:xfrm>
          <a:prstGeom prst="roundRect">
            <a:avLst/>
          </a:prstGeom>
          <a:solidFill>
            <a:schemeClr val="accent6">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68" name="Rettangolo arrotondato 65">
            <a:extLst>
              <a:ext uri="{FF2B5EF4-FFF2-40B4-BE49-F238E27FC236}">
                <a16:creationId xmlns:a16="http://schemas.microsoft.com/office/drawing/2014/main" id="{C1347656-9183-934F-B352-D8CB4D01E6C2}"/>
              </a:ext>
            </a:extLst>
          </p:cNvPr>
          <p:cNvSpPr/>
          <p:nvPr/>
        </p:nvSpPr>
        <p:spPr>
          <a:xfrm>
            <a:off x="3357158" y="4276079"/>
            <a:ext cx="871358" cy="444287"/>
          </a:xfrm>
          <a:prstGeom prst="roundRect">
            <a:avLst/>
          </a:prstGeom>
          <a:solidFill>
            <a:schemeClr val="accent6">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cxnSp>
        <p:nvCxnSpPr>
          <p:cNvPr id="69" name="Connettore 2 68">
            <a:extLst>
              <a:ext uri="{FF2B5EF4-FFF2-40B4-BE49-F238E27FC236}">
                <a16:creationId xmlns:a16="http://schemas.microsoft.com/office/drawing/2014/main" id="{11C272EC-FCAC-EB46-B344-6E0E92BD9964}"/>
              </a:ext>
            </a:extLst>
          </p:cNvPr>
          <p:cNvCxnSpPr>
            <a:stCxn id="60" idx="6"/>
            <a:endCxn id="62" idx="1"/>
          </p:cNvCxnSpPr>
          <p:nvPr/>
        </p:nvCxnSpPr>
        <p:spPr>
          <a:xfrm flipV="1">
            <a:off x="2308488" y="2420436"/>
            <a:ext cx="1048671" cy="7937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Connettore 2 70">
            <a:extLst>
              <a:ext uri="{FF2B5EF4-FFF2-40B4-BE49-F238E27FC236}">
                <a16:creationId xmlns:a16="http://schemas.microsoft.com/office/drawing/2014/main" id="{99F8F10C-98C7-144F-9E62-D87B8AE2807E}"/>
              </a:ext>
            </a:extLst>
          </p:cNvPr>
          <p:cNvCxnSpPr>
            <a:stCxn id="60" idx="6"/>
            <a:endCxn id="65" idx="1"/>
          </p:cNvCxnSpPr>
          <p:nvPr/>
        </p:nvCxnSpPr>
        <p:spPr>
          <a:xfrm flipV="1">
            <a:off x="2308488" y="3071834"/>
            <a:ext cx="1048671" cy="1423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Connettore 2 71">
            <a:extLst>
              <a:ext uri="{FF2B5EF4-FFF2-40B4-BE49-F238E27FC236}">
                <a16:creationId xmlns:a16="http://schemas.microsoft.com/office/drawing/2014/main" id="{078AC06D-0F99-404E-9EBC-4021441ED4CE}"/>
              </a:ext>
            </a:extLst>
          </p:cNvPr>
          <p:cNvCxnSpPr>
            <a:stCxn id="60" idx="6"/>
            <a:endCxn id="63" idx="1"/>
          </p:cNvCxnSpPr>
          <p:nvPr/>
        </p:nvCxnSpPr>
        <p:spPr>
          <a:xfrm>
            <a:off x="2308488" y="3214190"/>
            <a:ext cx="1048671" cy="45736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Connettore 2 73">
            <a:extLst>
              <a:ext uri="{FF2B5EF4-FFF2-40B4-BE49-F238E27FC236}">
                <a16:creationId xmlns:a16="http://schemas.microsoft.com/office/drawing/2014/main" id="{F8C4F374-0FC7-F144-9F14-F4C1990AAEEA}"/>
              </a:ext>
            </a:extLst>
          </p:cNvPr>
          <p:cNvCxnSpPr>
            <a:stCxn id="60" idx="6"/>
            <a:endCxn id="68" idx="1"/>
          </p:cNvCxnSpPr>
          <p:nvPr/>
        </p:nvCxnSpPr>
        <p:spPr>
          <a:xfrm>
            <a:off x="2308488" y="3214190"/>
            <a:ext cx="1048671" cy="12840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Connettore 2 74">
            <a:extLst>
              <a:ext uri="{FF2B5EF4-FFF2-40B4-BE49-F238E27FC236}">
                <a16:creationId xmlns:a16="http://schemas.microsoft.com/office/drawing/2014/main" id="{9DA0B9D2-D1A0-F34D-B2D9-3FA6CFDF013D}"/>
              </a:ext>
            </a:extLst>
          </p:cNvPr>
          <p:cNvCxnSpPr>
            <a:stCxn id="60" idx="6"/>
            <a:endCxn id="66" idx="1"/>
          </p:cNvCxnSpPr>
          <p:nvPr/>
        </p:nvCxnSpPr>
        <p:spPr>
          <a:xfrm>
            <a:off x="2308488" y="3214191"/>
            <a:ext cx="1048671" cy="18661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Connettore 2 76">
            <a:extLst>
              <a:ext uri="{FF2B5EF4-FFF2-40B4-BE49-F238E27FC236}">
                <a16:creationId xmlns:a16="http://schemas.microsoft.com/office/drawing/2014/main" id="{711484AA-7E40-5B4A-8EF0-E71117FAB981}"/>
              </a:ext>
            </a:extLst>
          </p:cNvPr>
          <p:cNvCxnSpPr>
            <a:stCxn id="59" idx="6"/>
            <a:endCxn id="62" idx="1"/>
          </p:cNvCxnSpPr>
          <p:nvPr/>
        </p:nvCxnSpPr>
        <p:spPr>
          <a:xfrm flipV="1">
            <a:off x="2308488" y="2420436"/>
            <a:ext cx="1048671" cy="13941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Connettore 2 77">
            <a:extLst>
              <a:ext uri="{FF2B5EF4-FFF2-40B4-BE49-F238E27FC236}">
                <a16:creationId xmlns:a16="http://schemas.microsoft.com/office/drawing/2014/main" id="{20C2EA07-6A47-E44A-AB15-5CDCE1FF8F91}"/>
              </a:ext>
            </a:extLst>
          </p:cNvPr>
          <p:cNvCxnSpPr>
            <a:stCxn id="59" idx="6"/>
            <a:endCxn id="65" idx="1"/>
          </p:cNvCxnSpPr>
          <p:nvPr/>
        </p:nvCxnSpPr>
        <p:spPr>
          <a:xfrm flipV="1">
            <a:off x="2308488" y="3071834"/>
            <a:ext cx="1048671" cy="74274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Connettore 2 79">
            <a:extLst>
              <a:ext uri="{FF2B5EF4-FFF2-40B4-BE49-F238E27FC236}">
                <a16:creationId xmlns:a16="http://schemas.microsoft.com/office/drawing/2014/main" id="{A8B070F7-73B1-454A-8E9C-DC60CB7FBA7A}"/>
              </a:ext>
            </a:extLst>
          </p:cNvPr>
          <p:cNvCxnSpPr>
            <a:stCxn id="57" idx="6"/>
            <a:endCxn id="66" idx="1"/>
          </p:cNvCxnSpPr>
          <p:nvPr/>
        </p:nvCxnSpPr>
        <p:spPr>
          <a:xfrm>
            <a:off x="2308488" y="4456099"/>
            <a:ext cx="1048671" cy="62423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Connettore 2 80">
            <a:extLst>
              <a:ext uri="{FF2B5EF4-FFF2-40B4-BE49-F238E27FC236}">
                <a16:creationId xmlns:a16="http://schemas.microsoft.com/office/drawing/2014/main" id="{7191DAF6-D5E1-EC43-8CC5-E0158A851FD2}"/>
              </a:ext>
            </a:extLst>
          </p:cNvPr>
          <p:cNvCxnSpPr>
            <a:stCxn id="57" idx="6"/>
            <a:endCxn id="68" idx="1"/>
          </p:cNvCxnSpPr>
          <p:nvPr/>
        </p:nvCxnSpPr>
        <p:spPr>
          <a:xfrm>
            <a:off x="2308488" y="4456098"/>
            <a:ext cx="1048671" cy="421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Connettore 2 82">
            <a:extLst>
              <a:ext uri="{FF2B5EF4-FFF2-40B4-BE49-F238E27FC236}">
                <a16:creationId xmlns:a16="http://schemas.microsoft.com/office/drawing/2014/main" id="{ED0B904A-4574-F841-9BCB-2F2E497FACE5}"/>
              </a:ext>
            </a:extLst>
          </p:cNvPr>
          <p:cNvCxnSpPr>
            <a:stCxn id="57" idx="6"/>
            <a:endCxn id="63" idx="1"/>
          </p:cNvCxnSpPr>
          <p:nvPr/>
        </p:nvCxnSpPr>
        <p:spPr>
          <a:xfrm flipV="1">
            <a:off x="2308488" y="3671556"/>
            <a:ext cx="1048671" cy="7845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Connettore 2 83">
            <a:extLst>
              <a:ext uri="{FF2B5EF4-FFF2-40B4-BE49-F238E27FC236}">
                <a16:creationId xmlns:a16="http://schemas.microsoft.com/office/drawing/2014/main" id="{69083DF6-ABA6-8D40-A57D-06DF887EABBE}"/>
              </a:ext>
            </a:extLst>
          </p:cNvPr>
          <p:cNvCxnSpPr>
            <a:stCxn id="59" idx="6"/>
            <a:endCxn id="63" idx="1"/>
          </p:cNvCxnSpPr>
          <p:nvPr/>
        </p:nvCxnSpPr>
        <p:spPr>
          <a:xfrm flipV="1">
            <a:off x="2308488" y="3671556"/>
            <a:ext cx="1048671" cy="1430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6" name="CasellaDiTesto 85">
            <a:extLst>
              <a:ext uri="{FF2B5EF4-FFF2-40B4-BE49-F238E27FC236}">
                <a16:creationId xmlns:a16="http://schemas.microsoft.com/office/drawing/2014/main" id="{0DB9565B-D7C3-8640-B250-0026F3D18DAF}"/>
              </a:ext>
            </a:extLst>
          </p:cNvPr>
          <p:cNvSpPr txBox="1"/>
          <p:nvPr/>
        </p:nvSpPr>
        <p:spPr>
          <a:xfrm>
            <a:off x="3593904" y="3800695"/>
            <a:ext cx="397866" cy="461665"/>
          </a:xfrm>
          <a:prstGeom prst="rect">
            <a:avLst/>
          </a:prstGeom>
          <a:noFill/>
        </p:spPr>
        <p:txBody>
          <a:bodyPr wrap="none" rtlCol="0">
            <a:spAutoFit/>
          </a:bodyPr>
          <a:lstStyle/>
          <a:p>
            <a:r>
              <a:rPr lang="en-US" sz="2400" dirty="0"/>
              <a:t>…</a:t>
            </a:r>
          </a:p>
        </p:txBody>
      </p:sp>
      <p:sp>
        <p:nvSpPr>
          <p:cNvPr id="87" name="Rettangolo arrotondato 85">
            <a:extLst>
              <a:ext uri="{FF2B5EF4-FFF2-40B4-BE49-F238E27FC236}">
                <a16:creationId xmlns:a16="http://schemas.microsoft.com/office/drawing/2014/main" id="{DC279183-9A74-7F4F-9F99-0EC634E2FAEF}"/>
              </a:ext>
            </a:extLst>
          </p:cNvPr>
          <p:cNvSpPr/>
          <p:nvPr/>
        </p:nvSpPr>
        <p:spPr>
          <a:xfrm>
            <a:off x="4841508" y="2198293"/>
            <a:ext cx="871358" cy="444287"/>
          </a:xfrm>
          <a:prstGeom prst="roundRect">
            <a:avLst/>
          </a:prstGeom>
          <a:solidFill>
            <a:schemeClr val="accent6">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89" name="Rettangolo arrotondato 86">
            <a:extLst>
              <a:ext uri="{FF2B5EF4-FFF2-40B4-BE49-F238E27FC236}">
                <a16:creationId xmlns:a16="http://schemas.microsoft.com/office/drawing/2014/main" id="{4CD6D556-DDD3-BA40-9FB8-02594929ED80}"/>
              </a:ext>
            </a:extLst>
          </p:cNvPr>
          <p:cNvSpPr/>
          <p:nvPr/>
        </p:nvSpPr>
        <p:spPr>
          <a:xfrm>
            <a:off x="4841508" y="3449413"/>
            <a:ext cx="871358" cy="444287"/>
          </a:xfrm>
          <a:prstGeom prst="roundRect">
            <a:avLst/>
          </a:prstGeom>
          <a:solidFill>
            <a:schemeClr val="accent6">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90" name="Rettangolo arrotondato 88">
            <a:extLst>
              <a:ext uri="{FF2B5EF4-FFF2-40B4-BE49-F238E27FC236}">
                <a16:creationId xmlns:a16="http://schemas.microsoft.com/office/drawing/2014/main" id="{839830A1-9251-E145-BFD8-DBC4EC1EA855}"/>
              </a:ext>
            </a:extLst>
          </p:cNvPr>
          <p:cNvSpPr/>
          <p:nvPr/>
        </p:nvSpPr>
        <p:spPr>
          <a:xfrm>
            <a:off x="4841508" y="2849690"/>
            <a:ext cx="871358" cy="444287"/>
          </a:xfrm>
          <a:prstGeom prst="roundRect">
            <a:avLst/>
          </a:prstGeom>
          <a:solidFill>
            <a:schemeClr val="accent6">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93" name="Rettangolo arrotondato 89">
            <a:extLst>
              <a:ext uri="{FF2B5EF4-FFF2-40B4-BE49-F238E27FC236}">
                <a16:creationId xmlns:a16="http://schemas.microsoft.com/office/drawing/2014/main" id="{CC4D436B-C3E7-D24D-8F04-947A84C584A7}"/>
              </a:ext>
            </a:extLst>
          </p:cNvPr>
          <p:cNvSpPr/>
          <p:nvPr/>
        </p:nvSpPr>
        <p:spPr>
          <a:xfrm>
            <a:off x="4841508" y="4858194"/>
            <a:ext cx="871358" cy="444287"/>
          </a:xfrm>
          <a:prstGeom prst="roundRect">
            <a:avLst/>
          </a:prstGeom>
          <a:solidFill>
            <a:schemeClr val="accent6">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94" name="Rettangolo arrotondato 92">
            <a:extLst>
              <a:ext uri="{FF2B5EF4-FFF2-40B4-BE49-F238E27FC236}">
                <a16:creationId xmlns:a16="http://schemas.microsoft.com/office/drawing/2014/main" id="{CC1F7B29-DD5E-F641-8525-395A3C46FBDB}"/>
              </a:ext>
            </a:extLst>
          </p:cNvPr>
          <p:cNvSpPr/>
          <p:nvPr/>
        </p:nvSpPr>
        <p:spPr>
          <a:xfrm>
            <a:off x="4841508" y="4276079"/>
            <a:ext cx="871358" cy="444287"/>
          </a:xfrm>
          <a:prstGeom prst="roundRect">
            <a:avLst/>
          </a:prstGeom>
          <a:solidFill>
            <a:schemeClr val="accent6">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95" name="CasellaDiTesto 94">
            <a:extLst>
              <a:ext uri="{FF2B5EF4-FFF2-40B4-BE49-F238E27FC236}">
                <a16:creationId xmlns:a16="http://schemas.microsoft.com/office/drawing/2014/main" id="{9EA1121E-BA77-7343-8B41-62A70E4205C7}"/>
              </a:ext>
            </a:extLst>
          </p:cNvPr>
          <p:cNvSpPr txBox="1"/>
          <p:nvPr/>
        </p:nvSpPr>
        <p:spPr>
          <a:xfrm>
            <a:off x="5078254" y="3800695"/>
            <a:ext cx="397866" cy="461665"/>
          </a:xfrm>
          <a:prstGeom prst="rect">
            <a:avLst/>
          </a:prstGeom>
          <a:noFill/>
        </p:spPr>
        <p:txBody>
          <a:bodyPr wrap="none" rtlCol="0">
            <a:spAutoFit/>
          </a:bodyPr>
          <a:lstStyle/>
          <a:p>
            <a:r>
              <a:rPr lang="en-US" sz="2400" dirty="0"/>
              <a:t>…</a:t>
            </a:r>
          </a:p>
        </p:txBody>
      </p:sp>
      <p:cxnSp>
        <p:nvCxnSpPr>
          <p:cNvPr id="97" name="Connettore 2 96">
            <a:extLst>
              <a:ext uri="{FF2B5EF4-FFF2-40B4-BE49-F238E27FC236}">
                <a16:creationId xmlns:a16="http://schemas.microsoft.com/office/drawing/2014/main" id="{17C8DA85-6BB5-F842-B210-0156EA4D23B0}"/>
              </a:ext>
            </a:extLst>
          </p:cNvPr>
          <p:cNvCxnSpPr>
            <a:stCxn id="62" idx="3"/>
            <a:endCxn id="87" idx="1"/>
          </p:cNvCxnSpPr>
          <p:nvPr/>
        </p:nvCxnSpPr>
        <p:spPr>
          <a:xfrm>
            <a:off x="4228516" y="2420436"/>
            <a:ext cx="6129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Connettore 2 97">
            <a:extLst>
              <a:ext uri="{FF2B5EF4-FFF2-40B4-BE49-F238E27FC236}">
                <a16:creationId xmlns:a16="http://schemas.microsoft.com/office/drawing/2014/main" id="{21701CF2-4903-D444-A15A-16DE4DE50C2E}"/>
              </a:ext>
            </a:extLst>
          </p:cNvPr>
          <p:cNvCxnSpPr>
            <a:stCxn id="62" idx="3"/>
            <a:endCxn id="90" idx="1"/>
          </p:cNvCxnSpPr>
          <p:nvPr/>
        </p:nvCxnSpPr>
        <p:spPr>
          <a:xfrm>
            <a:off x="4228516" y="2420437"/>
            <a:ext cx="612992" cy="65139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Connettore 2 99">
            <a:extLst>
              <a:ext uri="{FF2B5EF4-FFF2-40B4-BE49-F238E27FC236}">
                <a16:creationId xmlns:a16="http://schemas.microsoft.com/office/drawing/2014/main" id="{267AD462-D876-F947-AB49-698519397E0F}"/>
              </a:ext>
            </a:extLst>
          </p:cNvPr>
          <p:cNvCxnSpPr>
            <a:stCxn id="62" idx="3"/>
            <a:endCxn id="89" idx="1"/>
          </p:cNvCxnSpPr>
          <p:nvPr/>
        </p:nvCxnSpPr>
        <p:spPr>
          <a:xfrm>
            <a:off x="4228516" y="2420436"/>
            <a:ext cx="612992" cy="12511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Connettore 2 101">
            <a:extLst>
              <a:ext uri="{FF2B5EF4-FFF2-40B4-BE49-F238E27FC236}">
                <a16:creationId xmlns:a16="http://schemas.microsoft.com/office/drawing/2014/main" id="{6EF554B5-FBC7-1647-A3E7-A799F780E4B9}"/>
              </a:ext>
            </a:extLst>
          </p:cNvPr>
          <p:cNvCxnSpPr>
            <a:stCxn id="62" idx="3"/>
            <a:endCxn id="94" idx="1"/>
          </p:cNvCxnSpPr>
          <p:nvPr/>
        </p:nvCxnSpPr>
        <p:spPr>
          <a:xfrm>
            <a:off x="4228516" y="2420436"/>
            <a:ext cx="612992" cy="207778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Connettore 2 105">
            <a:extLst>
              <a:ext uri="{FF2B5EF4-FFF2-40B4-BE49-F238E27FC236}">
                <a16:creationId xmlns:a16="http://schemas.microsoft.com/office/drawing/2014/main" id="{5BAA80F2-0839-4D45-A0E5-B8A9CB90A907}"/>
              </a:ext>
            </a:extLst>
          </p:cNvPr>
          <p:cNvCxnSpPr>
            <a:stCxn id="62" idx="3"/>
            <a:endCxn id="93" idx="1"/>
          </p:cNvCxnSpPr>
          <p:nvPr/>
        </p:nvCxnSpPr>
        <p:spPr>
          <a:xfrm>
            <a:off x="4228516" y="2420437"/>
            <a:ext cx="612992" cy="26599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Connettore 2 106">
            <a:extLst>
              <a:ext uri="{FF2B5EF4-FFF2-40B4-BE49-F238E27FC236}">
                <a16:creationId xmlns:a16="http://schemas.microsoft.com/office/drawing/2014/main" id="{C1519F9B-0E60-3E43-AF05-269076C3C3A4}"/>
              </a:ext>
            </a:extLst>
          </p:cNvPr>
          <p:cNvCxnSpPr>
            <a:stCxn id="65" idx="3"/>
            <a:endCxn id="87" idx="1"/>
          </p:cNvCxnSpPr>
          <p:nvPr/>
        </p:nvCxnSpPr>
        <p:spPr>
          <a:xfrm flipV="1">
            <a:off x="4228516" y="2420437"/>
            <a:ext cx="612992" cy="65139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Connettore 2 107">
            <a:extLst>
              <a:ext uri="{FF2B5EF4-FFF2-40B4-BE49-F238E27FC236}">
                <a16:creationId xmlns:a16="http://schemas.microsoft.com/office/drawing/2014/main" id="{DB540BEA-1D63-C540-9D0A-E317B6678ECE}"/>
              </a:ext>
            </a:extLst>
          </p:cNvPr>
          <p:cNvCxnSpPr>
            <a:stCxn id="65" idx="3"/>
            <a:endCxn id="90" idx="1"/>
          </p:cNvCxnSpPr>
          <p:nvPr/>
        </p:nvCxnSpPr>
        <p:spPr>
          <a:xfrm>
            <a:off x="4228516" y="3071833"/>
            <a:ext cx="6129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Connettore 2 108">
            <a:extLst>
              <a:ext uri="{FF2B5EF4-FFF2-40B4-BE49-F238E27FC236}">
                <a16:creationId xmlns:a16="http://schemas.microsoft.com/office/drawing/2014/main" id="{87F81CC8-4A1D-874E-A0E9-EDE1BA0BD6E5}"/>
              </a:ext>
            </a:extLst>
          </p:cNvPr>
          <p:cNvCxnSpPr>
            <a:stCxn id="65" idx="3"/>
            <a:endCxn id="89" idx="1"/>
          </p:cNvCxnSpPr>
          <p:nvPr/>
        </p:nvCxnSpPr>
        <p:spPr>
          <a:xfrm>
            <a:off x="4228516" y="3071834"/>
            <a:ext cx="612992" cy="5997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Connettore 2 109">
            <a:extLst>
              <a:ext uri="{FF2B5EF4-FFF2-40B4-BE49-F238E27FC236}">
                <a16:creationId xmlns:a16="http://schemas.microsoft.com/office/drawing/2014/main" id="{067ADE21-C949-1B47-AAB5-FD765A958680}"/>
              </a:ext>
            </a:extLst>
          </p:cNvPr>
          <p:cNvCxnSpPr>
            <a:stCxn id="66" idx="3"/>
            <a:endCxn id="93" idx="1"/>
          </p:cNvCxnSpPr>
          <p:nvPr/>
        </p:nvCxnSpPr>
        <p:spPr>
          <a:xfrm>
            <a:off x="4228516" y="5080337"/>
            <a:ext cx="6129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Connettore 2 110">
            <a:extLst>
              <a:ext uri="{FF2B5EF4-FFF2-40B4-BE49-F238E27FC236}">
                <a16:creationId xmlns:a16="http://schemas.microsoft.com/office/drawing/2014/main" id="{3FC1CA00-D775-6543-B2AD-9570ECF56059}"/>
              </a:ext>
            </a:extLst>
          </p:cNvPr>
          <p:cNvCxnSpPr>
            <a:stCxn id="66" idx="3"/>
            <a:endCxn id="94" idx="1"/>
          </p:cNvCxnSpPr>
          <p:nvPr/>
        </p:nvCxnSpPr>
        <p:spPr>
          <a:xfrm flipV="1">
            <a:off x="4228516" y="4498223"/>
            <a:ext cx="612992" cy="5821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Connettore 2 111">
            <a:extLst>
              <a:ext uri="{FF2B5EF4-FFF2-40B4-BE49-F238E27FC236}">
                <a16:creationId xmlns:a16="http://schemas.microsoft.com/office/drawing/2014/main" id="{8E4F5185-42B6-8745-BEA3-A6D5E51C19E9}"/>
              </a:ext>
            </a:extLst>
          </p:cNvPr>
          <p:cNvCxnSpPr>
            <a:stCxn id="68" idx="3"/>
            <a:endCxn id="89" idx="1"/>
          </p:cNvCxnSpPr>
          <p:nvPr/>
        </p:nvCxnSpPr>
        <p:spPr>
          <a:xfrm flipV="1">
            <a:off x="4228516" y="3671556"/>
            <a:ext cx="612992" cy="82666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Connettore 2 112">
            <a:extLst>
              <a:ext uri="{FF2B5EF4-FFF2-40B4-BE49-F238E27FC236}">
                <a16:creationId xmlns:a16="http://schemas.microsoft.com/office/drawing/2014/main" id="{81CEB1E5-8A54-884F-B319-9B8055772961}"/>
              </a:ext>
            </a:extLst>
          </p:cNvPr>
          <p:cNvCxnSpPr>
            <a:stCxn id="68" idx="3"/>
            <a:endCxn id="94" idx="1"/>
          </p:cNvCxnSpPr>
          <p:nvPr/>
        </p:nvCxnSpPr>
        <p:spPr>
          <a:xfrm>
            <a:off x="4228516" y="4498222"/>
            <a:ext cx="6129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4" name="Ovale 113">
            <a:extLst>
              <a:ext uri="{FF2B5EF4-FFF2-40B4-BE49-F238E27FC236}">
                <a16:creationId xmlns:a16="http://schemas.microsoft.com/office/drawing/2014/main" id="{0D314648-9AE0-F942-9E7A-DCFE85E1D9E5}"/>
              </a:ext>
            </a:extLst>
          </p:cNvPr>
          <p:cNvSpPr/>
          <p:nvPr/>
        </p:nvSpPr>
        <p:spPr>
          <a:xfrm>
            <a:off x="6325858" y="3676186"/>
            <a:ext cx="360040" cy="360040"/>
          </a:xfrm>
          <a:prstGeom prst="ellipse">
            <a:avLst/>
          </a:prstGeom>
          <a:solidFill>
            <a:schemeClr val="accent1">
              <a:lumMod val="60000"/>
              <a:lumOff val="40000"/>
            </a:schemeClr>
          </a:solidFill>
          <a:ln w="28575">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cxnSp>
        <p:nvCxnSpPr>
          <p:cNvPr id="115" name="Connettore 2 114">
            <a:extLst>
              <a:ext uri="{FF2B5EF4-FFF2-40B4-BE49-F238E27FC236}">
                <a16:creationId xmlns:a16="http://schemas.microsoft.com/office/drawing/2014/main" id="{604FC206-9A81-C44B-B101-0878E3ACA206}"/>
              </a:ext>
            </a:extLst>
          </p:cNvPr>
          <p:cNvCxnSpPr>
            <a:stCxn id="87" idx="3"/>
            <a:endCxn id="114" idx="1"/>
          </p:cNvCxnSpPr>
          <p:nvPr/>
        </p:nvCxnSpPr>
        <p:spPr>
          <a:xfrm>
            <a:off x="5712867" y="2420437"/>
            <a:ext cx="665719" cy="130847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Connettore 2 115">
            <a:extLst>
              <a:ext uri="{FF2B5EF4-FFF2-40B4-BE49-F238E27FC236}">
                <a16:creationId xmlns:a16="http://schemas.microsoft.com/office/drawing/2014/main" id="{B11C4A28-7328-494C-9CB6-0F1A85593728}"/>
              </a:ext>
            </a:extLst>
          </p:cNvPr>
          <p:cNvCxnSpPr>
            <a:stCxn id="93" idx="3"/>
            <a:endCxn id="114" idx="3"/>
          </p:cNvCxnSpPr>
          <p:nvPr/>
        </p:nvCxnSpPr>
        <p:spPr>
          <a:xfrm flipV="1">
            <a:off x="5712867" y="3983499"/>
            <a:ext cx="665719" cy="10968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Connettore 2 116">
            <a:extLst>
              <a:ext uri="{FF2B5EF4-FFF2-40B4-BE49-F238E27FC236}">
                <a16:creationId xmlns:a16="http://schemas.microsoft.com/office/drawing/2014/main" id="{2F900295-74CD-0143-ACC1-9C87743D094B}"/>
              </a:ext>
            </a:extLst>
          </p:cNvPr>
          <p:cNvCxnSpPr>
            <a:stCxn id="94" idx="3"/>
            <a:endCxn id="114" idx="2"/>
          </p:cNvCxnSpPr>
          <p:nvPr/>
        </p:nvCxnSpPr>
        <p:spPr>
          <a:xfrm flipV="1">
            <a:off x="5712866" y="3856206"/>
            <a:ext cx="612992" cy="6420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Connettore 2 117">
            <a:extLst>
              <a:ext uri="{FF2B5EF4-FFF2-40B4-BE49-F238E27FC236}">
                <a16:creationId xmlns:a16="http://schemas.microsoft.com/office/drawing/2014/main" id="{622105E5-E3C5-E44B-B3F5-99FB79540D72}"/>
              </a:ext>
            </a:extLst>
          </p:cNvPr>
          <p:cNvCxnSpPr>
            <a:stCxn id="90" idx="3"/>
            <a:endCxn id="114" idx="1"/>
          </p:cNvCxnSpPr>
          <p:nvPr/>
        </p:nvCxnSpPr>
        <p:spPr>
          <a:xfrm>
            <a:off x="5712867" y="3071833"/>
            <a:ext cx="665719" cy="6570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Connettore 2 118">
            <a:extLst>
              <a:ext uri="{FF2B5EF4-FFF2-40B4-BE49-F238E27FC236}">
                <a16:creationId xmlns:a16="http://schemas.microsoft.com/office/drawing/2014/main" id="{829322C9-9A28-704D-9797-BD40E8EBC643}"/>
              </a:ext>
            </a:extLst>
          </p:cNvPr>
          <p:cNvCxnSpPr>
            <a:stCxn id="89" idx="3"/>
            <a:endCxn id="114" idx="2"/>
          </p:cNvCxnSpPr>
          <p:nvPr/>
        </p:nvCxnSpPr>
        <p:spPr>
          <a:xfrm>
            <a:off x="5712866" y="3671556"/>
            <a:ext cx="612992" cy="1846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0" name="CasellaDiTesto 119">
            <a:extLst>
              <a:ext uri="{FF2B5EF4-FFF2-40B4-BE49-F238E27FC236}">
                <a16:creationId xmlns:a16="http://schemas.microsoft.com/office/drawing/2014/main" id="{C17A4E88-0462-4E42-B1B9-5ED1E86116FE}"/>
              </a:ext>
            </a:extLst>
          </p:cNvPr>
          <p:cNvSpPr txBox="1"/>
          <p:nvPr/>
        </p:nvSpPr>
        <p:spPr>
          <a:xfrm>
            <a:off x="2875774" y="2822638"/>
            <a:ext cx="349776" cy="523220"/>
          </a:xfrm>
          <a:prstGeom prst="rect">
            <a:avLst/>
          </a:prstGeom>
          <a:noFill/>
        </p:spPr>
        <p:txBody>
          <a:bodyPr wrap="none" rtlCol="0">
            <a:spAutoFit/>
          </a:bodyPr>
          <a:lstStyle/>
          <a:p>
            <a:r>
              <a:rPr lang="en-US" sz="2800" b="1" dirty="0">
                <a:solidFill>
                  <a:srgbClr val="C00000"/>
                </a:solidFill>
              </a:rPr>
              <a:t>x</a:t>
            </a:r>
          </a:p>
        </p:txBody>
      </p:sp>
      <p:sp>
        <p:nvSpPr>
          <p:cNvPr id="121" name="CasellaDiTesto 120">
            <a:extLst>
              <a:ext uri="{FF2B5EF4-FFF2-40B4-BE49-F238E27FC236}">
                <a16:creationId xmlns:a16="http://schemas.microsoft.com/office/drawing/2014/main" id="{8BAE0D77-3EC5-6A42-81BF-384F42324D66}"/>
              </a:ext>
            </a:extLst>
          </p:cNvPr>
          <p:cNvSpPr txBox="1"/>
          <p:nvPr/>
        </p:nvSpPr>
        <p:spPr>
          <a:xfrm>
            <a:off x="4405829" y="2121981"/>
            <a:ext cx="349776" cy="523220"/>
          </a:xfrm>
          <a:prstGeom prst="rect">
            <a:avLst/>
          </a:prstGeom>
          <a:noFill/>
        </p:spPr>
        <p:txBody>
          <a:bodyPr wrap="none" rtlCol="0">
            <a:spAutoFit/>
          </a:bodyPr>
          <a:lstStyle/>
          <a:p>
            <a:r>
              <a:rPr lang="en-US" sz="2800" b="1" dirty="0">
                <a:solidFill>
                  <a:srgbClr val="C00000"/>
                </a:solidFill>
              </a:rPr>
              <a:t>x</a:t>
            </a:r>
          </a:p>
        </p:txBody>
      </p:sp>
      <p:sp>
        <p:nvSpPr>
          <p:cNvPr id="122" name="CasellaDiTesto 121">
            <a:extLst>
              <a:ext uri="{FF2B5EF4-FFF2-40B4-BE49-F238E27FC236}">
                <a16:creationId xmlns:a16="http://schemas.microsoft.com/office/drawing/2014/main" id="{B55BC6BF-C7F6-7B41-9041-138570BC40A1}"/>
              </a:ext>
            </a:extLst>
          </p:cNvPr>
          <p:cNvSpPr txBox="1"/>
          <p:nvPr/>
        </p:nvSpPr>
        <p:spPr>
          <a:xfrm>
            <a:off x="4352755" y="4202094"/>
            <a:ext cx="349776" cy="523220"/>
          </a:xfrm>
          <a:prstGeom prst="rect">
            <a:avLst/>
          </a:prstGeom>
          <a:noFill/>
        </p:spPr>
        <p:txBody>
          <a:bodyPr wrap="none" rtlCol="0">
            <a:spAutoFit/>
          </a:bodyPr>
          <a:lstStyle/>
          <a:p>
            <a:r>
              <a:rPr lang="en-US" sz="2800" b="1" dirty="0">
                <a:solidFill>
                  <a:srgbClr val="C00000"/>
                </a:solidFill>
              </a:rPr>
              <a:t>x</a:t>
            </a:r>
          </a:p>
        </p:txBody>
      </p:sp>
      <p:sp>
        <p:nvSpPr>
          <p:cNvPr id="123" name="CasellaDiTesto 122">
            <a:extLst>
              <a:ext uri="{FF2B5EF4-FFF2-40B4-BE49-F238E27FC236}">
                <a16:creationId xmlns:a16="http://schemas.microsoft.com/office/drawing/2014/main" id="{87C19CB0-9F31-CC46-901D-368AFD00999D}"/>
              </a:ext>
            </a:extLst>
          </p:cNvPr>
          <p:cNvSpPr txBox="1"/>
          <p:nvPr/>
        </p:nvSpPr>
        <p:spPr>
          <a:xfrm>
            <a:off x="5719474" y="2930284"/>
            <a:ext cx="349776" cy="523220"/>
          </a:xfrm>
          <a:prstGeom prst="rect">
            <a:avLst/>
          </a:prstGeom>
          <a:noFill/>
        </p:spPr>
        <p:txBody>
          <a:bodyPr wrap="none" rtlCol="0">
            <a:spAutoFit/>
          </a:bodyPr>
          <a:lstStyle/>
          <a:p>
            <a:r>
              <a:rPr lang="en-US" sz="2800" b="1" dirty="0">
                <a:solidFill>
                  <a:srgbClr val="C00000"/>
                </a:solidFill>
              </a:rPr>
              <a:t>x</a:t>
            </a:r>
          </a:p>
        </p:txBody>
      </p:sp>
      <p:sp>
        <p:nvSpPr>
          <p:cNvPr id="124" name="CasellaDiTesto 123">
            <a:extLst>
              <a:ext uri="{FF2B5EF4-FFF2-40B4-BE49-F238E27FC236}">
                <a16:creationId xmlns:a16="http://schemas.microsoft.com/office/drawing/2014/main" id="{52C3E387-CC22-7F46-85ED-E56CED88F5E5}"/>
              </a:ext>
            </a:extLst>
          </p:cNvPr>
          <p:cNvSpPr txBox="1"/>
          <p:nvPr/>
        </p:nvSpPr>
        <p:spPr>
          <a:xfrm>
            <a:off x="2744166" y="4004449"/>
            <a:ext cx="349776" cy="523220"/>
          </a:xfrm>
          <a:prstGeom prst="rect">
            <a:avLst/>
          </a:prstGeom>
          <a:noFill/>
        </p:spPr>
        <p:txBody>
          <a:bodyPr wrap="none" rtlCol="0">
            <a:spAutoFit/>
          </a:bodyPr>
          <a:lstStyle/>
          <a:p>
            <a:r>
              <a:rPr lang="en-US" sz="2800" b="1" dirty="0">
                <a:solidFill>
                  <a:srgbClr val="C00000"/>
                </a:solidFill>
              </a:rPr>
              <a:t>x</a:t>
            </a:r>
          </a:p>
        </p:txBody>
      </p:sp>
    </p:spTree>
    <p:extLst>
      <p:ext uri="{BB962C8B-B14F-4D97-AF65-F5344CB8AC3E}">
        <p14:creationId xmlns:p14="http://schemas.microsoft.com/office/powerpoint/2010/main" val="3412682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4"/>
                                        </p:tgtEl>
                                        <p:attrNameLst>
                                          <p:attrName>style.visibility</p:attrName>
                                        </p:attrNameLst>
                                      </p:cBhvr>
                                      <p:to>
                                        <p:strVal val="visible"/>
                                      </p:to>
                                    </p:set>
                                    <p:animEffect transition="in" filter="fade">
                                      <p:cBhvr>
                                        <p:cTn id="12" dur="500"/>
                                        <p:tgtEl>
                                          <p:spTgt spid="12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20"/>
                                        </p:tgtEl>
                                        <p:attrNameLst>
                                          <p:attrName>style.visibility</p:attrName>
                                        </p:attrNameLst>
                                      </p:cBhvr>
                                      <p:to>
                                        <p:strVal val="visible"/>
                                      </p:to>
                                    </p:set>
                                    <p:animEffect transition="in" filter="fade">
                                      <p:cBhvr>
                                        <p:cTn id="15" dur="500"/>
                                        <p:tgtEl>
                                          <p:spTgt spid="1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1"/>
                                        </p:tgtEl>
                                        <p:attrNameLst>
                                          <p:attrName>style.visibility</p:attrName>
                                        </p:attrNameLst>
                                      </p:cBhvr>
                                      <p:to>
                                        <p:strVal val="visible"/>
                                      </p:to>
                                    </p:set>
                                    <p:animEffect transition="in" filter="fade">
                                      <p:cBhvr>
                                        <p:cTn id="18" dur="500"/>
                                        <p:tgtEl>
                                          <p:spTgt spid="1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3"/>
                                        </p:tgtEl>
                                        <p:attrNameLst>
                                          <p:attrName>style.visibility</p:attrName>
                                        </p:attrNameLst>
                                      </p:cBhvr>
                                      <p:to>
                                        <p:strVal val="visible"/>
                                      </p:to>
                                    </p:set>
                                    <p:animEffect transition="in" filter="fade">
                                      <p:cBhvr>
                                        <p:cTn id="21" dur="500"/>
                                        <p:tgtEl>
                                          <p:spTgt spid="12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2"/>
                                        </p:tgtEl>
                                        <p:attrNameLst>
                                          <p:attrName>style.visibility</p:attrName>
                                        </p:attrNameLst>
                                      </p:cBhvr>
                                      <p:to>
                                        <p:strVal val="visible"/>
                                      </p:to>
                                    </p:set>
                                    <p:animEffect transition="in" filter="fade">
                                      <p:cBhvr>
                                        <p:cTn id="24" dur="500"/>
                                        <p:tgtEl>
                                          <p:spTgt spid="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p:bldP spid="120" grpId="0"/>
      <p:bldP spid="121" grpId="0"/>
      <p:bldP spid="122" grpId="0"/>
      <p:bldP spid="123" grpId="0"/>
      <p:bldP spid="124" grpId="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94EFC07-EE68-481A-87D3-AE53D2BE42C1}"/>
              </a:ext>
            </a:extLst>
          </p:cNvPr>
          <p:cNvSpPr>
            <a:spLocks noGrp="1"/>
          </p:cNvSpPr>
          <p:nvPr>
            <p:ph type="title"/>
          </p:nvPr>
        </p:nvSpPr>
        <p:spPr/>
        <p:txBody>
          <a:bodyPr/>
          <a:lstStyle/>
          <a:p>
            <a:r>
              <a:rPr lang="en-US" dirty="0"/>
              <a:t>Choosing the Optimization Algorithm</a:t>
            </a:r>
          </a:p>
        </p:txBody>
      </p:sp>
      <p:sp>
        <p:nvSpPr>
          <p:cNvPr id="3" name="Segnaposto contenuto 2">
            <a:extLst>
              <a:ext uri="{FF2B5EF4-FFF2-40B4-BE49-F238E27FC236}">
                <a16:creationId xmlns:a16="http://schemas.microsoft.com/office/drawing/2014/main" id="{ACDDC048-AF1D-45C0-BC89-EC168CE7363E}"/>
              </a:ext>
            </a:extLst>
          </p:cNvPr>
          <p:cNvSpPr>
            <a:spLocks noGrp="1"/>
          </p:cNvSpPr>
          <p:nvPr>
            <p:ph idx="1"/>
          </p:nvPr>
        </p:nvSpPr>
        <p:spPr/>
        <p:txBody>
          <a:bodyPr>
            <a:normAutofit fontScale="85000" lnSpcReduction="10000"/>
          </a:bodyPr>
          <a:lstStyle/>
          <a:p>
            <a:r>
              <a:rPr lang="en-US" dirty="0"/>
              <a:t>Standard Stochastic Gradient Descent (SGD)</a:t>
            </a:r>
          </a:p>
          <a:p>
            <a:pPr lvl="1"/>
            <a:r>
              <a:rPr lang="en-US" dirty="0"/>
              <a:t>Easy and efficient</a:t>
            </a:r>
          </a:p>
          <a:p>
            <a:pPr lvl="1"/>
            <a:r>
              <a:rPr lang="en-US" dirty="0"/>
              <a:t>Difficult to pick up the best learning rate</a:t>
            </a:r>
          </a:p>
          <a:p>
            <a:pPr lvl="1"/>
            <a:r>
              <a:rPr lang="en-US" dirty="0"/>
              <a:t>Unstable convergence</a:t>
            </a:r>
          </a:p>
          <a:p>
            <a:pPr lvl="1"/>
            <a:r>
              <a:rPr lang="en-US" dirty="0"/>
              <a:t>Often used with </a:t>
            </a:r>
            <a:r>
              <a:rPr lang="en-US" b="1" dirty="0"/>
              <a:t>momentum</a:t>
            </a:r>
            <a:r>
              <a:rPr lang="en-US" dirty="0">
                <a:solidFill>
                  <a:schemeClr val="accent2"/>
                </a:solidFill>
              </a:rPr>
              <a:t> </a:t>
            </a:r>
            <a:r>
              <a:rPr lang="en-US" dirty="0"/>
              <a:t>(</a:t>
            </a:r>
            <a:r>
              <a:rPr lang="en-US" altLang="en-US" dirty="0"/>
              <a:t>exponentially weighted history of previous weights changes)</a:t>
            </a:r>
            <a:endParaRPr lang="en-US" dirty="0">
              <a:solidFill>
                <a:schemeClr val="accent2"/>
              </a:solidFill>
            </a:endParaRPr>
          </a:p>
          <a:p>
            <a:r>
              <a:rPr lang="en-US" dirty="0" err="1"/>
              <a:t>RMSprop</a:t>
            </a:r>
            <a:endParaRPr lang="en-US" dirty="0"/>
          </a:p>
          <a:p>
            <a:pPr lvl="1"/>
            <a:r>
              <a:rPr lang="en-US" dirty="0"/>
              <a:t>Adaptive learning rate method (reduces it using a moving average of the squared gradient)</a:t>
            </a:r>
          </a:p>
          <a:p>
            <a:pPr lvl="1"/>
            <a:r>
              <a:rPr lang="en-US" dirty="0"/>
              <a:t>Fastens convergence by having quicker gradients when necessary</a:t>
            </a:r>
          </a:p>
          <a:p>
            <a:r>
              <a:rPr lang="en-US" dirty="0" err="1"/>
              <a:t>Adagrad</a:t>
            </a:r>
            <a:r>
              <a:rPr lang="en-US" dirty="0"/>
              <a:t> </a:t>
            </a:r>
          </a:p>
          <a:p>
            <a:pPr lvl="1"/>
            <a:r>
              <a:rPr lang="en-US" dirty="0"/>
              <a:t>Like </a:t>
            </a:r>
            <a:r>
              <a:rPr lang="en-US" dirty="0" err="1"/>
              <a:t>RMSprop</a:t>
            </a:r>
            <a:r>
              <a:rPr lang="en-US" dirty="0"/>
              <a:t> with element-wise scaling of the gradient</a:t>
            </a:r>
          </a:p>
          <a:p>
            <a:r>
              <a:rPr lang="en-US" b="1" dirty="0"/>
              <a:t>ADAM</a:t>
            </a:r>
          </a:p>
          <a:p>
            <a:pPr lvl="1"/>
            <a:r>
              <a:rPr lang="en-US" b="1" dirty="0"/>
              <a:t>Like </a:t>
            </a:r>
            <a:r>
              <a:rPr lang="en-US" b="1" dirty="0" err="1"/>
              <a:t>Adagrad</a:t>
            </a:r>
            <a:r>
              <a:rPr lang="en-US" b="1" dirty="0"/>
              <a:t> but adds an exponentially decaying average of past gradients like momentum</a:t>
            </a:r>
          </a:p>
          <a:p>
            <a:pPr lvl="1"/>
            <a:endParaRPr lang="en-US" dirty="0"/>
          </a:p>
        </p:txBody>
      </p:sp>
    </p:spTree>
    <p:extLst>
      <p:ext uri="{BB962C8B-B14F-4D97-AF65-F5344CB8AC3E}">
        <p14:creationId xmlns:p14="http://schemas.microsoft.com/office/powerpoint/2010/main" val="1333698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9BE1CD46-5556-5C4F-B56F-EC49CE6DDB75}"/>
              </a:ext>
            </a:extLst>
          </p:cNvPr>
          <p:cNvSpPr>
            <a:spLocks noGrp="1"/>
          </p:cNvSpPr>
          <p:nvPr>
            <p:ph type="title"/>
          </p:nvPr>
        </p:nvSpPr>
        <p:spPr/>
        <p:txBody>
          <a:bodyPr/>
          <a:lstStyle/>
          <a:p>
            <a:r>
              <a:rPr lang="en-US" dirty="0"/>
              <a:t>Exercises </a:t>
            </a:r>
            <a:r>
              <a:rPr lang="en-US"/>
              <a:t>- Neural </a:t>
            </a:r>
            <a:r>
              <a:rPr lang="en-US" dirty="0"/>
              <a:t>Network</a:t>
            </a:r>
          </a:p>
        </p:txBody>
      </p:sp>
    </p:spTree>
    <p:extLst>
      <p:ext uri="{BB962C8B-B14F-4D97-AF65-F5344CB8AC3E}">
        <p14:creationId xmlns:p14="http://schemas.microsoft.com/office/powerpoint/2010/main" val="345237134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8E4A5DF-9E0D-A14D-BA39-EADDFD44A615}"/>
              </a:ext>
            </a:extLst>
          </p:cNvPr>
          <p:cNvSpPr>
            <a:spLocks noGrp="1"/>
          </p:cNvSpPr>
          <p:nvPr>
            <p:ph type="title"/>
          </p:nvPr>
        </p:nvSpPr>
        <p:spPr/>
        <p:txBody>
          <a:bodyPr/>
          <a:lstStyle/>
          <a:p>
            <a:r>
              <a:rPr lang="it-IT" dirty="0" err="1"/>
              <a:t>Predict</a:t>
            </a:r>
            <a:r>
              <a:rPr lang="it-IT" dirty="0"/>
              <a:t> with a </a:t>
            </a:r>
            <a:r>
              <a:rPr lang="it-IT" dirty="0" err="1"/>
              <a:t>Neural</a:t>
            </a:r>
            <a:r>
              <a:rPr lang="it-IT" dirty="0"/>
              <a:t> Network</a:t>
            </a:r>
          </a:p>
        </p:txBody>
      </p:sp>
      <p:pic>
        <p:nvPicPr>
          <p:cNvPr id="4" name="Immagine 3">
            <a:extLst>
              <a:ext uri="{FF2B5EF4-FFF2-40B4-BE49-F238E27FC236}">
                <a16:creationId xmlns:a16="http://schemas.microsoft.com/office/drawing/2014/main" id="{F59539E6-CB9D-7F40-ADC5-DB62D62B31B2}"/>
              </a:ext>
            </a:extLst>
          </p:cNvPr>
          <p:cNvPicPr>
            <a:picLocks noChangeAspect="1"/>
          </p:cNvPicPr>
          <p:nvPr/>
        </p:nvPicPr>
        <p:blipFill>
          <a:blip r:embed="rId2"/>
          <a:stretch>
            <a:fillRect/>
          </a:stretch>
        </p:blipFill>
        <p:spPr>
          <a:xfrm>
            <a:off x="1891680" y="1474487"/>
            <a:ext cx="8408639" cy="5095278"/>
          </a:xfrm>
          <a:prstGeom prst="rect">
            <a:avLst/>
          </a:prstGeom>
        </p:spPr>
      </p:pic>
      <p:sp>
        <p:nvSpPr>
          <p:cNvPr id="6" name="Rettangolo 5">
            <a:extLst>
              <a:ext uri="{FF2B5EF4-FFF2-40B4-BE49-F238E27FC236}">
                <a16:creationId xmlns:a16="http://schemas.microsoft.com/office/drawing/2014/main" id="{EED344B8-EA23-1840-B5A8-437930C85481}"/>
              </a:ext>
            </a:extLst>
          </p:cNvPr>
          <p:cNvSpPr/>
          <p:nvPr/>
        </p:nvSpPr>
        <p:spPr>
          <a:xfrm>
            <a:off x="9034669" y="4055165"/>
            <a:ext cx="1192696" cy="24277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38721895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2765619-2248-7C41-88C8-D303203E3544}"/>
              </a:ext>
            </a:extLst>
          </p:cNvPr>
          <p:cNvSpPr>
            <a:spLocks noGrp="1"/>
          </p:cNvSpPr>
          <p:nvPr>
            <p:ph type="title"/>
          </p:nvPr>
        </p:nvSpPr>
        <p:spPr/>
        <p:txBody>
          <a:bodyPr/>
          <a:lstStyle/>
          <a:p>
            <a:r>
              <a:rPr lang="it-IT" dirty="0" err="1"/>
              <a:t>Predict</a:t>
            </a:r>
            <a:r>
              <a:rPr lang="it-IT" dirty="0"/>
              <a:t> with a </a:t>
            </a:r>
            <a:r>
              <a:rPr lang="it-IT" dirty="0" err="1"/>
              <a:t>Neural</a:t>
            </a:r>
            <a:r>
              <a:rPr lang="it-IT" dirty="0"/>
              <a:t> Network - Solution</a:t>
            </a:r>
          </a:p>
        </p:txBody>
      </p:sp>
      <p:pic>
        <p:nvPicPr>
          <p:cNvPr id="3" name="Immagine 2">
            <a:extLst>
              <a:ext uri="{FF2B5EF4-FFF2-40B4-BE49-F238E27FC236}">
                <a16:creationId xmlns:a16="http://schemas.microsoft.com/office/drawing/2014/main" id="{849EBECF-6302-8C49-AA39-0F0AA81EC44F}"/>
              </a:ext>
            </a:extLst>
          </p:cNvPr>
          <p:cNvPicPr>
            <a:picLocks noChangeAspect="1"/>
          </p:cNvPicPr>
          <p:nvPr/>
        </p:nvPicPr>
        <p:blipFill>
          <a:blip r:embed="rId2"/>
          <a:stretch>
            <a:fillRect/>
          </a:stretch>
        </p:blipFill>
        <p:spPr>
          <a:xfrm>
            <a:off x="251723" y="1490870"/>
            <a:ext cx="8408639" cy="5095278"/>
          </a:xfrm>
          <a:prstGeom prst="rect">
            <a:avLst/>
          </a:prstGeom>
        </p:spPr>
      </p:pic>
      <p:sp>
        <p:nvSpPr>
          <p:cNvPr id="4" name="CasellaDiTesto 3">
            <a:extLst>
              <a:ext uri="{FF2B5EF4-FFF2-40B4-BE49-F238E27FC236}">
                <a16:creationId xmlns:a16="http://schemas.microsoft.com/office/drawing/2014/main" id="{D8F65A79-DA98-764A-BDB9-3B5572648F92}"/>
              </a:ext>
            </a:extLst>
          </p:cNvPr>
          <p:cNvSpPr txBox="1"/>
          <p:nvPr/>
        </p:nvSpPr>
        <p:spPr>
          <a:xfrm>
            <a:off x="8023871" y="1453186"/>
            <a:ext cx="4168129" cy="2585323"/>
          </a:xfrm>
          <a:prstGeom prst="rect">
            <a:avLst/>
          </a:prstGeom>
          <a:solidFill>
            <a:schemeClr val="bg1"/>
          </a:solidFill>
        </p:spPr>
        <p:txBody>
          <a:bodyPr wrap="none" rtlCol="0">
            <a:spAutoFit/>
          </a:bodyPr>
          <a:lstStyle/>
          <a:p>
            <a:r>
              <a:rPr lang="it-IT" dirty="0"/>
              <a:t>H</a:t>
            </a:r>
            <a:r>
              <a:rPr lang="it-IT" baseline="-25000" dirty="0"/>
              <a:t>1</a:t>
            </a:r>
            <a:r>
              <a:rPr lang="it-IT" dirty="0"/>
              <a:t> = </a:t>
            </a:r>
            <a:r>
              <a:rPr lang="it-IT" dirty="0" err="1"/>
              <a:t>sign</a:t>
            </a:r>
            <a:r>
              <a:rPr lang="it-IT" dirty="0"/>
              <a:t>(0.4 * -1 + 0.1 * 1 -0.2) = </a:t>
            </a:r>
          </a:p>
          <a:p>
            <a:r>
              <a:rPr lang="it-IT" dirty="0"/>
              <a:t>     = </a:t>
            </a:r>
            <a:r>
              <a:rPr lang="it-IT" dirty="0" err="1"/>
              <a:t>sign</a:t>
            </a:r>
            <a:r>
              <a:rPr lang="it-IT" dirty="0"/>
              <a:t>(-0.5) = -1</a:t>
            </a:r>
          </a:p>
          <a:p>
            <a:r>
              <a:rPr lang="it-IT" dirty="0"/>
              <a:t>H</a:t>
            </a:r>
            <a:r>
              <a:rPr lang="it-IT" baseline="-25000" dirty="0"/>
              <a:t>2</a:t>
            </a:r>
            <a:r>
              <a:rPr lang="it-IT" dirty="0"/>
              <a:t> = </a:t>
            </a:r>
            <a:r>
              <a:rPr lang="it-IT" dirty="0" err="1"/>
              <a:t>sign</a:t>
            </a:r>
            <a:r>
              <a:rPr lang="it-IT" dirty="0"/>
              <a:t>(0.0 * -1 + -0.4 * 1 -0.2) = </a:t>
            </a:r>
          </a:p>
          <a:p>
            <a:r>
              <a:rPr lang="it-IT" dirty="0"/>
              <a:t>     = </a:t>
            </a:r>
            <a:r>
              <a:rPr lang="it-IT" dirty="0" err="1"/>
              <a:t>sign</a:t>
            </a:r>
            <a:r>
              <a:rPr lang="it-IT" dirty="0"/>
              <a:t>(-0.6) = -1</a:t>
            </a:r>
          </a:p>
          <a:p>
            <a:r>
              <a:rPr lang="it-IT" dirty="0"/>
              <a:t>H</a:t>
            </a:r>
            <a:r>
              <a:rPr lang="it-IT" baseline="-25000" dirty="0"/>
              <a:t>3</a:t>
            </a:r>
            <a:r>
              <a:rPr lang="it-IT" dirty="0"/>
              <a:t> = </a:t>
            </a:r>
            <a:r>
              <a:rPr lang="it-IT" dirty="0" err="1"/>
              <a:t>sign</a:t>
            </a:r>
            <a:r>
              <a:rPr lang="it-IT" dirty="0"/>
              <a:t>(-0.1 * -1 + 0.4 * 1 -0.2) = </a:t>
            </a:r>
          </a:p>
          <a:p>
            <a:r>
              <a:rPr lang="it-IT" dirty="0"/>
              <a:t>     = </a:t>
            </a:r>
            <a:r>
              <a:rPr lang="it-IT" dirty="0" err="1"/>
              <a:t>sign</a:t>
            </a:r>
            <a:r>
              <a:rPr lang="it-IT" dirty="0"/>
              <a:t>(0.3) = 1</a:t>
            </a:r>
          </a:p>
          <a:p>
            <a:endParaRPr lang="it-IT" dirty="0"/>
          </a:p>
          <a:p>
            <a:r>
              <a:rPr lang="it-IT" dirty="0"/>
              <a:t>Y</a:t>
            </a:r>
            <a:r>
              <a:rPr lang="it-IT" baseline="-25000" dirty="0"/>
              <a:t>1</a:t>
            </a:r>
            <a:r>
              <a:rPr lang="it-IT" dirty="0"/>
              <a:t> = </a:t>
            </a:r>
            <a:r>
              <a:rPr lang="it-IT" dirty="0" err="1"/>
              <a:t>sign</a:t>
            </a:r>
            <a:r>
              <a:rPr lang="it-IT" dirty="0"/>
              <a:t>(0.2 * -1 + 0.2* -1 + 0.3 * 1 -0.2) = </a:t>
            </a:r>
          </a:p>
          <a:p>
            <a:r>
              <a:rPr lang="it-IT" dirty="0"/>
              <a:t>     = </a:t>
            </a:r>
            <a:r>
              <a:rPr lang="it-IT" dirty="0" err="1"/>
              <a:t>sign</a:t>
            </a:r>
            <a:r>
              <a:rPr lang="it-IT" dirty="0"/>
              <a:t>(-0.3) = -1</a:t>
            </a:r>
          </a:p>
        </p:txBody>
      </p:sp>
    </p:spTree>
    <p:extLst>
      <p:ext uri="{BB962C8B-B14F-4D97-AF65-F5344CB8AC3E}">
        <p14:creationId xmlns:p14="http://schemas.microsoft.com/office/powerpoint/2010/main" val="1462018770"/>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635FBC5-6E75-894F-8280-AE0D2939CC35}"/>
              </a:ext>
            </a:extLst>
          </p:cNvPr>
          <p:cNvSpPr>
            <a:spLocks noGrp="1"/>
          </p:cNvSpPr>
          <p:nvPr>
            <p:ph type="title"/>
          </p:nvPr>
        </p:nvSpPr>
        <p:spPr/>
        <p:txBody>
          <a:bodyPr/>
          <a:lstStyle/>
          <a:p>
            <a:r>
              <a:rPr lang="it-IT" dirty="0" err="1"/>
              <a:t>Predict</a:t>
            </a:r>
            <a:r>
              <a:rPr lang="it-IT" dirty="0"/>
              <a:t> with a </a:t>
            </a:r>
            <a:r>
              <a:rPr lang="it-IT" dirty="0" err="1"/>
              <a:t>Neural</a:t>
            </a:r>
            <a:r>
              <a:rPr lang="it-IT" dirty="0"/>
              <a:t> Network</a:t>
            </a:r>
          </a:p>
        </p:txBody>
      </p:sp>
      <p:pic>
        <p:nvPicPr>
          <p:cNvPr id="4" name="Immagine 3">
            <a:extLst>
              <a:ext uri="{FF2B5EF4-FFF2-40B4-BE49-F238E27FC236}">
                <a16:creationId xmlns:a16="http://schemas.microsoft.com/office/drawing/2014/main" id="{C4A55CE4-1481-A94D-8220-113575E323D4}"/>
              </a:ext>
            </a:extLst>
          </p:cNvPr>
          <p:cNvPicPr>
            <a:picLocks noChangeAspect="1"/>
          </p:cNvPicPr>
          <p:nvPr/>
        </p:nvPicPr>
        <p:blipFill>
          <a:blip r:embed="rId2"/>
          <a:stretch>
            <a:fillRect/>
          </a:stretch>
        </p:blipFill>
        <p:spPr>
          <a:xfrm>
            <a:off x="838200" y="1484630"/>
            <a:ext cx="10515600" cy="4805348"/>
          </a:xfrm>
          <a:prstGeom prst="rect">
            <a:avLst/>
          </a:prstGeom>
        </p:spPr>
      </p:pic>
    </p:spTree>
    <p:extLst>
      <p:ext uri="{BB962C8B-B14F-4D97-AF65-F5344CB8AC3E}">
        <p14:creationId xmlns:p14="http://schemas.microsoft.com/office/powerpoint/2010/main" val="19377542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9C55B2D-CEB8-F246-802D-B757433F3AFB}"/>
              </a:ext>
            </a:extLst>
          </p:cNvPr>
          <p:cNvSpPr>
            <a:spLocks noGrp="1"/>
          </p:cNvSpPr>
          <p:nvPr>
            <p:ph type="title"/>
          </p:nvPr>
        </p:nvSpPr>
        <p:spPr/>
        <p:txBody>
          <a:bodyPr/>
          <a:lstStyle/>
          <a:p>
            <a:r>
              <a:rPr lang="it-IT" dirty="0" err="1"/>
              <a:t>Predict</a:t>
            </a:r>
            <a:r>
              <a:rPr lang="it-IT" dirty="0"/>
              <a:t> with a </a:t>
            </a:r>
            <a:r>
              <a:rPr lang="it-IT" dirty="0" err="1"/>
              <a:t>Neural</a:t>
            </a:r>
            <a:r>
              <a:rPr lang="it-IT" dirty="0"/>
              <a:t> Network - Solution</a:t>
            </a:r>
          </a:p>
        </p:txBody>
      </p:sp>
      <p:pic>
        <p:nvPicPr>
          <p:cNvPr id="3" name="Immagine 2">
            <a:extLst>
              <a:ext uri="{FF2B5EF4-FFF2-40B4-BE49-F238E27FC236}">
                <a16:creationId xmlns:a16="http://schemas.microsoft.com/office/drawing/2014/main" id="{0CCDD784-AD9E-A24B-8663-92ACEA3ED483}"/>
              </a:ext>
            </a:extLst>
          </p:cNvPr>
          <p:cNvPicPr>
            <a:picLocks noChangeAspect="1"/>
          </p:cNvPicPr>
          <p:nvPr/>
        </p:nvPicPr>
        <p:blipFill rotWithShape="1">
          <a:blip r:embed="rId2"/>
          <a:srcRect t="18817" r="42319"/>
          <a:stretch/>
        </p:blipFill>
        <p:spPr>
          <a:xfrm>
            <a:off x="838200" y="1478446"/>
            <a:ext cx="3916680" cy="2519057"/>
          </a:xfrm>
          <a:prstGeom prst="rect">
            <a:avLst/>
          </a:prstGeom>
        </p:spPr>
      </p:pic>
      <p:pic>
        <p:nvPicPr>
          <p:cNvPr id="5" name="Immagine 4">
            <a:extLst>
              <a:ext uri="{FF2B5EF4-FFF2-40B4-BE49-F238E27FC236}">
                <a16:creationId xmlns:a16="http://schemas.microsoft.com/office/drawing/2014/main" id="{40C03866-958B-8844-BB06-E3302BD54137}"/>
              </a:ext>
            </a:extLst>
          </p:cNvPr>
          <p:cNvPicPr>
            <a:picLocks noChangeAspect="1"/>
          </p:cNvPicPr>
          <p:nvPr/>
        </p:nvPicPr>
        <p:blipFill>
          <a:blip r:embed="rId3"/>
          <a:stretch>
            <a:fillRect/>
          </a:stretch>
        </p:blipFill>
        <p:spPr>
          <a:xfrm>
            <a:off x="5763262" y="1467016"/>
            <a:ext cx="5590538" cy="2642004"/>
          </a:xfrm>
          <a:prstGeom prst="rect">
            <a:avLst/>
          </a:prstGeom>
        </p:spPr>
      </p:pic>
      <p:pic>
        <p:nvPicPr>
          <p:cNvPr id="7" name="Immagine 6">
            <a:extLst>
              <a:ext uri="{FF2B5EF4-FFF2-40B4-BE49-F238E27FC236}">
                <a16:creationId xmlns:a16="http://schemas.microsoft.com/office/drawing/2014/main" id="{71B3248F-5121-0B44-9CA7-34BFC5161599}"/>
              </a:ext>
            </a:extLst>
          </p:cNvPr>
          <p:cNvPicPr>
            <a:picLocks noChangeAspect="1"/>
          </p:cNvPicPr>
          <p:nvPr/>
        </p:nvPicPr>
        <p:blipFill>
          <a:blip r:embed="rId4"/>
          <a:stretch>
            <a:fillRect/>
          </a:stretch>
        </p:blipFill>
        <p:spPr>
          <a:xfrm>
            <a:off x="838199" y="4109020"/>
            <a:ext cx="10520951" cy="2268920"/>
          </a:xfrm>
          <a:prstGeom prst="rect">
            <a:avLst/>
          </a:prstGeom>
        </p:spPr>
      </p:pic>
    </p:spTree>
    <p:extLst>
      <p:ext uri="{BB962C8B-B14F-4D97-AF65-F5344CB8AC3E}">
        <p14:creationId xmlns:p14="http://schemas.microsoft.com/office/powerpoint/2010/main" val="1720159971"/>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3C3A3AC-3479-954B-8863-B2FCBFDCBB23}"/>
              </a:ext>
            </a:extLst>
          </p:cNvPr>
          <p:cNvSpPr>
            <a:spLocks noGrp="1"/>
          </p:cNvSpPr>
          <p:nvPr>
            <p:ph type="title"/>
          </p:nvPr>
        </p:nvSpPr>
        <p:spPr/>
        <p:txBody>
          <a:bodyPr/>
          <a:lstStyle/>
          <a:p>
            <a:r>
              <a:rPr lang="en-US" noProof="0" dirty="0"/>
              <a:t>References</a:t>
            </a:r>
          </a:p>
        </p:txBody>
      </p:sp>
      <p:sp>
        <p:nvSpPr>
          <p:cNvPr id="3" name="Segnaposto contenuto 2">
            <a:extLst>
              <a:ext uri="{FF2B5EF4-FFF2-40B4-BE49-F238E27FC236}">
                <a16:creationId xmlns:a16="http://schemas.microsoft.com/office/drawing/2014/main" id="{6446C7E5-9491-8A4A-86AB-1AA2743CBAAD}"/>
              </a:ext>
            </a:extLst>
          </p:cNvPr>
          <p:cNvSpPr>
            <a:spLocks noGrp="1"/>
          </p:cNvSpPr>
          <p:nvPr>
            <p:ph idx="1"/>
          </p:nvPr>
        </p:nvSpPr>
        <p:spPr>
          <a:xfrm>
            <a:off x="838200" y="1825625"/>
            <a:ext cx="6521605" cy="4351338"/>
          </a:xfrm>
        </p:spPr>
        <p:txBody>
          <a:bodyPr/>
          <a:lstStyle/>
          <a:p>
            <a:r>
              <a:rPr lang="en-US" noProof="0" dirty="0"/>
              <a:t>Artificial Neural Network. Chapter 5.4 and 5.5. Introduction to Data Mining.</a:t>
            </a:r>
          </a:p>
          <a:p>
            <a:r>
              <a:rPr lang="en-US" noProof="0" dirty="0"/>
              <a:t>Hands-on Machine Learning with </a:t>
            </a:r>
            <a:r>
              <a:rPr lang="en-US" noProof="0" dirty="0" err="1"/>
              <a:t>Scikit</a:t>
            </a:r>
            <a:r>
              <a:rPr lang="en-US" noProof="0" dirty="0"/>
              <a:t>-Learn, </a:t>
            </a:r>
            <a:r>
              <a:rPr lang="en-US" noProof="0" dirty="0" err="1"/>
              <a:t>Keras</a:t>
            </a:r>
            <a:r>
              <a:rPr lang="en-US" noProof="0" dirty="0"/>
              <a:t> &amp; </a:t>
            </a:r>
            <a:r>
              <a:rPr lang="en-US" noProof="0" dirty="0" err="1"/>
              <a:t>Tensorflow</a:t>
            </a:r>
            <a:r>
              <a:rPr lang="en-US" noProof="0" dirty="0"/>
              <a:t>. A practical handbook to start wrestling with Machine Learning models (2nd ed).</a:t>
            </a:r>
          </a:p>
          <a:p>
            <a:r>
              <a:rPr lang="en-US" noProof="0" dirty="0"/>
              <a:t>Deep Learning. Ian Goodfellow, </a:t>
            </a:r>
            <a:r>
              <a:rPr lang="en-US" noProof="0" dirty="0" err="1"/>
              <a:t>Yoshua</a:t>
            </a:r>
            <a:r>
              <a:rPr lang="en-US" noProof="0" dirty="0"/>
              <a:t> </a:t>
            </a:r>
            <a:r>
              <a:rPr lang="en-US" noProof="0" dirty="0" err="1"/>
              <a:t>Bengio</a:t>
            </a:r>
            <a:r>
              <a:rPr lang="en-US" noProof="0" dirty="0"/>
              <a:t>, and Aaron Courville. The reference book for deep learning models.</a:t>
            </a:r>
          </a:p>
          <a:p>
            <a:endParaRPr lang="en-US" noProof="0" dirty="0"/>
          </a:p>
          <a:p>
            <a:endParaRPr lang="en-US" noProof="0" dirty="0"/>
          </a:p>
        </p:txBody>
      </p:sp>
      <p:pic>
        <p:nvPicPr>
          <p:cNvPr id="6" name="Immagine 5">
            <a:extLst>
              <a:ext uri="{FF2B5EF4-FFF2-40B4-BE49-F238E27FC236}">
                <a16:creationId xmlns:a16="http://schemas.microsoft.com/office/drawing/2014/main" id="{F7071210-6483-7E4C-BDE3-DBB7686DB9BB}"/>
              </a:ext>
            </a:extLst>
          </p:cNvPr>
          <p:cNvPicPr>
            <a:picLocks noChangeAspect="1"/>
          </p:cNvPicPr>
          <p:nvPr/>
        </p:nvPicPr>
        <p:blipFill>
          <a:blip r:embed="rId3"/>
          <a:stretch>
            <a:fillRect/>
          </a:stretch>
        </p:blipFill>
        <p:spPr>
          <a:xfrm>
            <a:off x="9463356" y="1471061"/>
            <a:ext cx="1841458" cy="2317168"/>
          </a:xfrm>
          <a:prstGeom prst="rect">
            <a:avLst/>
          </a:prstGeom>
        </p:spPr>
      </p:pic>
      <p:pic>
        <p:nvPicPr>
          <p:cNvPr id="5" name="Immagine 4" descr="Immagine che contiene animale, rettile, lucertola&#10;&#10;Descrizione generata automaticamente">
            <a:extLst>
              <a:ext uri="{FF2B5EF4-FFF2-40B4-BE49-F238E27FC236}">
                <a16:creationId xmlns:a16="http://schemas.microsoft.com/office/drawing/2014/main" id="{FD3DC371-5F96-9846-B924-87DAAA98A6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59805" y="2830443"/>
            <a:ext cx="1905000" cy="2495001"/>
          </a:xfrm>
          <a:prstGeom prst="rect">
            <a:avLst/>
          </a:prstGeom>
        </p:spPr>
      </p:pic>
      <p:pic>
        <p:nvPicPr>
          <p:cNvPr id="7" name="Picture 2" descr="data:image/jpeg;base64,/9j/4AAQSkZJRgABAQAAAQABAAD/2wBDABQODxIPDRQSEBIXFRQYHjIhHhwcHj0sLiQySUBMS0dARkVQWnNiUFVtVkVGZIhlbXd7gYKBTmCNl4x9lnN+gXz/2wBDARUXFx4aHjshITt8U0ZTfHx8fHx8fHx8fHx8fHx8fHx8fHx8fHx8fHx8fHx8fHx8fHx8fHx8fHx8fHx8fHx8fHz/wAARCAEKAMg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C4jus9xmWRgJDjLHC9/wAucVnyX07arsWSUAQ/LGHOCfU/hVxgZJrjy3b5pG4HHTg5P1rKs5y+rTXAIKu5jXPoB/8Aqro6IxW7NGaSaIQMbiQ+Y+Gw5I6Hj6ZqG9ubgFB58iBscq5GFDDJ+p4o1P8AeCJlTncQRno3OD9ajumM13bomDkqSR0H3j/QflTaQlfct+ZPw7SyrjkLuP60huJRaGUTSEkZHzE8np/SkmkP3c4bj8Ceh/Dk/hTViKskWMIvzDnnA6D9aqyJTZPA84jw8smfUsSce9LFLJgnzZCD90byTULOZ12ocRj7xAySfQVPGGSMbowvHH+yKdkS2yJ5ZlRi0si/MMkOT+FUzeXKTbfPlAbBG5yRVq8DxsfLBYAZ+U4NVZ1M1u0kUm4qN2COcdfz4qWVB9GWFlnYyRm4lG4ZDeYflP51BHc3JR83M2QoP3zzmkhZWt45mORkA/qP8Ki2u7+TnG5tufpz/Lmky0WIri4ll3C4m8tMsRvPPoP1/SrKXEwy0krkdlDEVS8xjcvFGMYKqx+lSySnLBe64BpomSZZ86SSQDz5FOORuOB/9eo1uZ1lctO3ynkFjionKMwRDtcYJ/HmoXkIZXKl2BO3B444yaegrPYsT3Mruyi6kiQDJIfknrgf57ipIriURAtLIWbqQ5x+FQooijAVcnOWJH3j1z+dSOxVjGANp6gDqKaQX6Eck9y7nFxKqqOcORk0t1cyQhH+1TK2OVyT+mac/wC5XIGXAG0erdh/KoRCI8uR5jjrkcFvWk12Gn5kEkl8Yi/n3aMBk4lOCO/Gev0os9RuW2xyXL79pALSN8xzV9VZk3DIJ4C9hWRcwNazsmP3Lt8rY456j+dZTjy6mkJc2jNNbm4iU5nllLc8MT/9YVXuJ75onZZLgBTgMsp/z7fn7VLbXKrB5Tn94MqpPRh/iKPtAt7YkSIGHY/MST1/U09GhXdxLC6uXuLUm5kZJmGdzkjjGR+NFQaXBL9pjUHZidTIhPoc/wCNFYs16mpczLYx3kvGAWKj3J/xrNt7Uwxaex4LMWYN0yQT/LFSa1ukultCSxklPTrszn/EfhUl+22K2fJLBiwP0HQVsY/qLesqHYMsitkkjhWCnioLOQI7vLw0aZOe2fuj8AP1qzeZjsoogP3krYB65JBGfzIpkVoZrpxy0cJAXYvLHA6+w/rVa3FpYfGJWm89xtcrhQf4V+ncmknCfaBvDMqpkqp5Yn1/LvUt0s8bYSGR5ZOmVOB15PsKdbW00SlmV2PV32n5j/nincXmV7RGMoGU2D/lmnRf8auui5LyuQenAqIxTRTJJ5bktnICnAHFPkSWZSwhkC8DG0+vNVdCd73I5w4AdAAoPC5Iz9KghZN3HJIbbkep7/lVu4MsamIwyspHJWMnFZ6W9wo3CCRijZ4U/N6kfgc1LdmOKdtRbfYbZ4TnG/jA4xwf5VGg/wBLLNwSWGc8AjAJqWKCTznAhlK4BzsPI70wwzk7fIk5d+Qh6EgVN00VYlt188sFXCMxy544AxSTFJJWPyrCp5Yjr7U9YJYLcSyRyEFSwQIepOcY9aSON4grSQy8DOAhJJ/L600xalWV2LDYAqZJAHBI/Gp4GJkJkUbAoUBMnaOevrRFaXU05mkiZU6DKknHpj+tXY4HGNkcoHptOKa3CXYjEZJD5BUdcdxUdxwvyDdnGMd88CppEnVsCKTHqqk4+tMjilO4CFycYwUOKsi7uVmkLyBAwbB3MR7dqsxE5bP3fugnuB3pDbyplFhlHHLFTmkjhnY4FvIFA4ypGPwpDsOZsrkHDZ6fSkdI7iIo44I5XIpjxXEw8pYJQA33th4/H6/zpfOlj5mtzDGBklhjn/D3ouOz6GTcQNayiKYs0X8Dg9/rikkiVBC52SGThYx6/wB4n6/zq9fyR3EYgQmVmwwC8r7c1TEUluCkjBd33X7ZB/xH5VzSST8jaLbjruW9PD2mo24kKsspCgg5GciipIEF7d206dY5F3r0wQef6fXNFTJWGiO6kkm1q4dSW+yhgoUZzycj64Jqzra7raMoQQ53pjpnqf8APvUttb+Rf3RY/NLK7A4+6SxIGfoBVW6lChIc71CtJEPRSrcfgelape7qZ3TloJcXBnjt7jawQFUTuc/eYj2GB+Rqx4fuw93MsavNIVY8fc6gdfpiqEyyXcltZw7VCptIB4UDgn8elbuiwJbXDxLtJCdeN3b07UO7DRaFiS7W1uRHIk81yy7z5Kbtq5x/OpILxL1mELlfLP7xHUq656ZB6VBcTRwa4xkdU3WeFLsBk7+lR2jLd64ZrVhKsdv5ckq/d3EggD1IGfzqDQli1VLryjb2t2Y36SGE4+ualk1GOOaS2W3uZpIsbzFEWAyMj9KztDciwtCNUVQFH7giMf8AAc9alYt/bGoFdRFmymPgqnzfIOfmouBbub6OJIHMUzPPwsSoS/HJyO1Nt72OeRnh3IUOHjdSrIfcH2xVa8LS3Wm+RcgMXfE+0MD8nXHTmp47b7LLK0srTTTuDJIQBuAHAAHAGDSBDzOsV/HCc75FJGOmOP8AEVHc3S2qrvSSSWVtsaxruOcZPFV52SLWbbzXVF8mQDc2AMlf8aZdyh7ywdLpYU8xv3wwwU+WfXjtikMvxTicEGGeIr185CueO1NhvIrq7nt43Aa3wHz2HtUEl2LS2mlkuxeMoypwv3jwFG31NVE+0WAsbieykiEBIupWdDuDn5iQDnhsGmI1HvUt5TB5V1M4UOwiiLbQenT6Gll1Kzgso7xpibaVgquATgnPUdRjBqrere/2pfvp0wSRLeNthQN5nL8AnoetMb7N/Z2lC3JltnulOZOS2QxbPvknNO4jUnnW3WMt0ldUUrzkt0phuowbled1soaXjsRnj14FZVzuspbTTnJaL7TG9q5Oflzyh91yMexqaYZm1w5+7Cvb/pm1FwL0F3Dc2IvIG3QkEn1GOoNMkv4Y7SO5ZmEcoUxqBl2J6ADuazJVNhZpdrn7Ncwqs6j+FtuA+P0P4U+JltRo93OcWy2+ze3SNiq4J9AcEUXHY0INREkhjkt7iB8Fv3seAR9RkfnVLWY2mltmkbYibjt65PHX6U+6upRqdqiXKPBOTmLaMgBc5z16iqevEmSFdzHO75QMkjjtTi9RNaCW0YSBmjQKJGLBQMU2e1SWOWNzxgOpzypx1H5U2OaYJtjtp3OeSxA/WmSfa/MwohBx7nj0/lW2lrGPUg05X/tCKOdjHLHIoYLwGwQRn2oqaWGZL+xmkZWYzIpMa4/i79ciiuaSs7G6d9S1fu8Uk6yjOTlD04ycflkg/UVV17fEFMe35/mG0YxwF6++asawTLC4iYmWJmODg8c5/p19qo65O9xKiKOPIWVtvO0Dnn8cfpWr2M473JtEt2Q3O3bneFaQDjgdF/Wt6wVUkZY+FCnOByTkVnWu21sokaNy6jnPcnknj3q3b3BLMyZBZcf7vIFVtEm95Etwbe6uDE6xMyKMtIBhcnHU/Q1ZEsFvbEIyRxx8kAgbeO/pVaTTILqIs7yx7kCtsIBYcjH/AI8f0pj2dpbhpJOYpx5T+j7mJPT3bFYmw+2js5VVxbpDtIy0kGwknpjIqzPBayF3lS3dlxvMgBI9Mk9Pxql/ZVvLK8c1zJJdMoZ87NxXBXkbcdzz196kl0iAFpBK4ctuT7p2kkk9RzyT97OO1MRHbz2twdsO1VXbsYqBsLDIA98U6O5iuHba2P4BnjLeg/KmNo9uyqo8z5AOhHIChcHjHRR/k1XgtLO7kYRSuVI+ZsDBz1AyO+3qOeOtIo0JYobhWEixSMwVl3AHHGf6VWgax85rZ448IxJjZBhcDJb0A56+poTTooL3zInaKTktnkYznA/DKj2NMu4rYQrLM5jklwNwHQKxYdj39aBEyiziuBlYkDPgYUADuGP5davHywrid4ypyCGIxjp3qhFpVsrpy5jEYG04wcLgE8dcU1tJiJ8sTTgEY4I4B5PbnJGec0AXprm3tZkSTKu4ADBCeM4GSOgye/rSr9n6fugN52rxw3+P+NQT2EM0kDOzD7OgC4xyMgjkjI6dQRUMWlWqhR+8bH3SSDgfLxnHbaOaYi87QOVV9jkNwcA7GAPPt0NIPLZWYBWDjDMBnePf1qhDoikyfaX+U4CLHjgAMBnjn75656ck1bhtvsylRKzR9dpAHzEkk8euenTimANggqEVYzwQRxj0xTSQ48pU+QjG3+Ej0xT2wf4T04HrT1TaOeoHGO1IZTS2giObe2jjdjj5UC8fhUGqRY8hlPIBBwcZ6YrSSLksx5GQMemao6vFvkgy2xQCWwevTiqitSZPQrgh4xg7eOD0qMK6DczZ5yT61UhV5mYq5Qbjh88sPZTwOe9WjYxbSSHLnu0jZ+vWtrsyskSK/wDpUOcY3ABR25oqulmI7qB3kaWTzV27+wyKK56u+prT20LWowxiKaaQfvCdokLY25OOnpWLZ2olaBSTuu2wcjB8lP5ZI/SrGsX/AJkUlsufP+0Mu0HjAYgfnx+tTafZy2SEvC007/J5gYYXHb1A+marRsWyNZ3KToigOuOncf54qCGVXvvLhOWK/OMcDDDn/PpUCiOYx/6S7HO0jONvBJGB7j37VHqzvbWpnhPlSxYXKgFWUkZ/DpVN6ERWpp3OnfbpkJmdFCMMKPuhgR19SG6e35sfTYkmSRGOI5Nyx7Rxhi2B6D5se+BUVnfzPbK0blkOQXOMk59KqC/vZ9UkiWQZUA8KCEHXH1P8qjlNFLU1W0zzLiS5Nw6TybgSACApXGMe2B+VNOixCDZ5hL5yGZQRjJO3B7fN09h6UiXVySokkHHVlHDf4VFLe3SEyeYGjHXaMkD1p8hPPd2LFtp0drM0iSNISm1i3JYEKBn6bf1NVTpZYpayXDGJRtQFAdowQPxweD2IFMkmvVvFZJsxyA4XAxn0zjuMmqzXl4boxQT5Zo1Me5QOcklT78fpScClK5oz6aqTJLJIZgshYRuoIIO48+vLfpUVtpEcoA818Ipyx568D8gAKZqF3czaX59tLhlTfuwPxH8/yqlZXt2dLLtcEbn2k4UY5Ht6ZNJxswUtDYtbAW9w8qSMzXGSQ3ZevP8AT0FXiBGQW49TWJbXd1cTGR3IB4VCo49B+WT+NS313PHZs3mk7T6DP+cVXK7XE5K9jTUE/fGWI4HpUikt0zj1NY73V0G/dy7i4+Z+MZ749cZFN+3XJlKRSsdg6sAAv14601BsXOtjbb7wBzxTXQkD27VQFzPt4lye/AqP7RdGTAm7+gp8jFzo01Q9T1pSOD2PpWa13KqFklPy9eBTBfzF0y5Ab1AGO9HKxqdzTyVxwTVDVo1YxNKNx52qemeKa13cHBVyRjrgf4Ujym42PI25kPAPaiKsxORXiiIVQVAKn8hSXDMrDbkjpj0qeM7id4Ix1x1Y1HdEiP5ANueh7VoRuyG3ZpbiJ+oDrkehzRS277LmJkCqHZVIz196K56m5tDQxmBfxJJnaMTu3zdOCcV0Rb7OgIUbhw205Gff0PrWFPCY/E8saIZyzOQucH5gT+maueaCkcNt5kkmQWWXABx1AzyTnjjNVDRCmrsuNFJOquZS7kZAQBSp/EdB6E1Qu5VuJYIn8qDdIUlVzhScHtnp7jvipb/WltS6oEjnxgrncecenA/H8qy7WW4YbhZzT3DZUO/Eag9sYxQ2iYxa1ZPE0k0gsxMbVoU+eVer9hj2PWrlhts/3ErMC7Z8wrnzCf6/4VDHpaRxYkdmuHwzPngnB/TOKvW8ouYjDIvzAYcZ/WqSY5NPQurICBtdQB696rzMyOCQoGcc8UkK4w+MOMgn17UyaVfMPyNKR8u4NgZ7/wCRVmaVhRJ5MRD4KxMHXn+HOCPwyf0qrqSkXayRAhtm8Y74OCfyanyRjyw9oQwIIeEjHB649On6VDbXIdrMcqRvjy/HykZHJ9gv51DaehST3RHNOqWF1HCRsOAV7Ddjp+tJpEAKRyXIBhOdiZ75+8R37/lVa9jEdnlWOAxT2IDYP/sv61Zjk26XCEU+cfuA85yT098dqjrqadNDRt1byWmYgM0rMG6jqecfT+lJdnzmWMA4lcI+Ow+8SD9MfnTrfEdosITzZNm1h0K/XOKrWk032/zVRnjwdi9eC3LD2yKq+ljNIsSHyoPLUAswIXB7Z5/n+lR2m0JGm8F2G9sdT6ClAO7ybZSZnVTJgcRkkn/Iq8IkQAp91BjjtiqQPRWGMYwfm9cYqJjuOVf744HoPamXTKsEuxhv6qfUYFQ2yhrRSxy3Zh2HQU+bWwculxFmcsQQVZeCw6H61C0khmRiRheHX0ycH6nFXPMcF/NVPlXO7Bx+PFYrSNLM0hZeTlR/d9KyqStoaU4tts2FaRCSw2p0VSct+dJuVQrxvkqcEHoR6/1qGO5doN+VZzwI9ucn2PU1HCJgTiFweyhTj1wCCcfjVqRHLa9zTimX7uQCegz1qPyw5UPnZjIFVna2lUNJFLCrnBmJBwR69f1q2gePEbPvRkYqW6gj6djk/lTuJxGRQhrxNoOxXBBPJOD/APWoqxbDHls3TdgY9zwaKyqGsDBnlSXxSzO5jjDtGzZ29Mjr+FSz3P21zYaUiiDIDy44XtxUOtWq/wBqxQ8BZnOSOp3SEmtZ7f7LAot0CRjARR/P3NNXtYTa0K1nZLal1gSMyRH5nYHc/wCP+elWriYsqgpkOwXIycfh1B4qeeFPkb/WOi464Jz79ulU5EVppWcbDgrkHqff/ParWhmtXckfJjU5GVJI9CPenJGu1XjGTnr6jvmkQu6fIBIV4ZycBiPfv/KpnXf5ZDFTn8DTTESQyFo8YGSOpqIhYyfLRuD1C9T9TU42SkAqRjnbjqajuZ0Q4zul7Koyf17UwZXA3uWOYrgjhiD849Md6zYXKvE0gGBLH8oGRyNuP5/981fuhK4XAVVY4OXJ7/Tjk1TuIn3wWpyZPPw3PJVjuBz36EVDsXETUQn9nXW048u5OPfODVgRtGbIqq+XEybif7xXH5gEfpUOrokSXUScB1jfbjGCCQf6VbjIl8PgMFUKgcdeoOcj3zU9SuhLd7LjUYYCjFQGLAcblxwD7cfpVVrp4oGkKrtmwiDPzbR6D0Jz9c1HeNcPdLb2277QyZkP9wfMDj0BBB/GptIgEjJvHMPypvPyqfYevTk+tO92K1kXbJoYYRHuLMx3Nt5+Y8n3PpT5ZhFGxVWOeeRjPt/KpZpxB+6jUySYz5ca5IHqecD8apSxvchpbs+UsSnEeeT9ccCquRa5n3sjLiMHKsQxHt2A/P8AlUumyGGYx/wOuST2wOv0qF90pEsis7dctzilC7byHzGYYIBI9K51JuVze3uWJL4zFlAOyM5wD1b3NZgKGTgn0BJ6mtjVACUAU4xjaB9739s1SOHyrR7DjHOMH6U5v3hw+EbbN5NwZW4DAgsOo9jV+KaV7bAIiAXIGeSB3Pp/Os6IF5DHjlshQfb/AA/wrVCQrEBs81SBj0ye5x3/AMKuGxE9yj5Bld3USOmNxVjgOOPy704W1ywSGaeSMLzgYwI/Td3OeMVfV9sq+YcsRnbt79s+tVrmO4ub62eIbYmwpO7kY9f8+lUSiO1hnF/E8M4lhSRVG45JGeR7YFFNskks9SjTcAjsFGew3d/ckiis5GiItRkE/iiCMHcInAP4EmtuYNPGdqgnsfcVgWsJl1+/kH3YpZOfcsf6ZrftHJG09O1aw2MprUhWd5JBFDEFcruBb7qgjr/n0PpUdzCkFoQ2XlYFA5PLE+np/wDWqxZRf6O0ZbEiyFWbvx0/8dxTZsS3vUMsC85/vH09wM/nTJ6jEeSNVztiXou1c4/p+lKjlmDSLjn7wOcn+lV5Zv3agMWOQFwMggH9DirECCNy0rY5JAznNNB5lkBtn7hQCeCx9aiWERJIHPJOd560jXD+XgfKCcnjOf8ACkS5YMVmzgDhsH9ePWi4vMqzxrcRsrFl2RlQAP4gRg/1qO5LyQ6bqWRtDIJAeBg98/XI/Griuou1fcriZMcdMj0/A1FFHLPoVxp6oDLbBo3zxkg5XH4YqWWir4oVY54Dt2/KxPvj/wCvV6NY7XTLZZ4C0gQAKP4lI+YfkT+lZU0y6xqFvuY7dsaNnscjdWu+rq9zMGiYpGrLuDAggehxjnipWrZdnZIo28kkV1PMZkIyIFzjLJ03fWrEl3HZxbLN982SWcYO3J7E96xos3ErpaqVySWcgkRjv07CrUMEN1HCUeTc7MrqDyT2bH92gtxXU0bfVY7X7QTGfsyYYPnLOTjJYk81MbgXLSyiJxD5eV3Y5OOvH1qtpul+d5kl/Cxz8ixdjt78duOlWdQeC3tdgbd5Q2qg6tn/AAp3uQ0m9Ch8pQYbYADlaSI5urcbvMOVwOhNQxS+aheSPy8HHAyf1qQb/PVmUmIY6v1H4f41zpWepbJbyQSXCiFGQAEcscEf7J781RaOWV+GKck56n8q0Gkie5Hl796nbh1HC/wge1Mld92SBxwcU5PXQForFOwRm1ApMDkDHJJyT3rUIaLy4gCwWQ7Tn5eCRk+lULRSbiQSH5gQqkDoe361pI7m3ePlZSzGT8z/AJFXEmS1ILmX7HeFXG9mU5Y9j6D9PyrPhuZIpz9qZo3IwwIz+X/66d5czPG1yoeFXHzA5wp//UfpkVZgigmu51nKvE5ynH3cZzz9P51pfsWlZaEQZ/7WgQt0lTdnjPI/z+FFID5uqWkkaYTzVByc/wAXH6UVnIT2RPp7RxT6mzkbmu5Aozgnnj+daEGEbCRMz9yBgfhVHRVZ9S1QcbBcsenXk1ubmcfu1BUfxHv9K0i9DCa1MeV5Yr2SBWVZLnaUY9FxwxPvgL+dTXCW9tbLB5jAg545Zj3OOpqK9JjvozcEMPLcKF5JOQQPrxVq3iEcQmkjDtLy23JwOwx6AUXBq2pnTQzeUJeVXI+7y34+nGauylYoSoHlH+Jjwf8AP0pLhw9vIbYEOozgA8Hn8OaJka+ijmY+Tbv1c8FhjPHoOOv/AOunce6KHmTzkoAWVRk7eNtSCV7UkPIxkIyMsDj0FTXcsiWTrbRiEg7Tn5Rj6duKzD/pLCXziei/MuOnBHvx3rOU2tEaQgpK5bmkWSBZxBlo33eYuFJGOVbnIqWXzNOuBdWzOGZR5kUnPmLnAGfXB4I56+nMehyQrLdJKwCPgZY/Ljv/AEq2t2gi+xFlk8twvmA5JA5VgR3AH6UyWrOxhBlku3VP3UJfc68BsZ6f54rTNwkt0phg8mB0KBlYFwAPx+lZYzLqZefMiNITI2ANwFWZYZltGeLCQqSVbuVzx9fSkmuproRW+7zpIowISw2sQcAjuD7dP0q/Y24siXLsGDGMnoNvX+X86pW6xlslw54Dbhn8Af61Z3SSebDCp8zGBk8kcf4VDlZg9TSu5Ly2kZ7OQG2dgEAGSoxySew/xrFlid5JY3mUPIc4Dbvxz9KtsZkshbLuDHlgxzkevFULhrZbhd8RVmxnYT8pPP8AOqvcUd7BEJLcyqCJphyijncO/wDWrMUnlwq0wCsGI55z74qGKCXL+QVLkjaxPYnnPpimeW0kTZDSOOq9Dtzzilp1LsTtdfaJjEMK/Zx1Ue1Sv5sbfPmUdcnAb/CqodN+WRY5kbucbQOuePar6yxyKUMgLHv6flQ1fVA1fYoRToJ5kkPlMxBRm6HtVpb0xxSknMuc5Bzn1/pT7gxQhTIFZdxGAKqzC2tpNygxleS0bcD2x0pJPchoVppiTA0LB/7qjt6/SoUSVQwZWUj5oyv8s09L9LmdRJyuDnPYf/XNVx5qu3mFjASUZ1PQ+taX7lrTcu2MT3F1bO4YeUykZ7nNFJYTp/aMCxykguAeCQ3Pr2/+tRUy3JluaGixM97qhVdwN02QTgdT1raPmlfugcfw81kaaxifUGUHa10+7pkc9aS6vC9o6xSnOflZeGqltYycW5CSELe2xIwwZ1OfQjP49P51fSGaAjyJAUP3o5OBn2Pb/wDVXP8A2uUsjM3zK27ce5xip7XUZhcpJJKxUMCcHr65o2G4uJsXksMtlcM6tG8aEFT94MeB+vfpTre0RoY2mfzHCBgp+6nHYevvVLU721uYHUH5ipAKHpnsfao5NTk8orvw+PlK9uKXMLl0L2pxhLQ4AxkcAcfjWLIy/ZkG0cqRkDoKkS/le3MEvzrncSTzUKo8iFVPAHBPas37z0NIrlRY0eaKCR0dggkwN+MkY9KsaqrwzCW2ZTLATyTyV75rOR1mbYjgtjHT+tKMuvzAqxBGTTu0S1dlOE7mWMyFI5PvNn7uKnnb7S6Rq22BehPC9etRhUCqSjF1bOFOOe1TxRIy7m4PG5Rn8qWppuWHjhiVIkj3LgcnORUcplaTzI12scA+gFMa7WLLSyn5iQsagYX60x5LiSI+UxIPIx1I6U+VFqI93cqFMxjkXliP60RsuYndF+0Z24Pf14pojeNVeR41ZeC0g5x6gflSrHMJSWRSem/bkBeoNVZA/Qlsomg3yNvWT+JOv+eKfEIiPtAyJSPvN1A5zjt3NV3MqZfBDAYcr8xb8KfbXSvIZXOMKRsP8RJwPwqWkQ0hstvG6BxuaSQ7Q39ap3CfZpgincV+8+OM1OJGKiNWCPn7oHHTv+pqSSNHViZ18zlvu8H8O3196fQZFI0gk81lBhA3KH7/AOf5U95XUK6RoHfP+sPOTwR+YximLMqhZ7hQ+3gAc4J9RS70MkfnkmUYZXA4cdh/OqWo3YkeQ2ybWgUMwyyqB19MCnWkf7rKkgM2ChHT2x2FBtp57oTYI+fGG4ye39fypq2brbvKysHwX3K3TqPxpSaYnZoNNKxXXlgAbp0K47880VZFsi3ttMuEdnQ8Dhhkc/pRS6IhlaTfBe3rJOAGmcvg4x83T3qKRlJ3bR7AZ/8A1A1JOii/usFcGViT6cnNSRjC/KvX5xznIHHJFNMqOjK4CFlcqwPUsBkfTHp1z9acWG0/Lh9vBfkY9RUiToCzNGqH2Hf1NNExGd4YRkna7dCRVXKIg+5mBX5gMAH7x9/SpQN4yqsT6GmDfMhLJlecEYVTT4oVlBBkKxherv09B9ahq5NhNyq8YJzzyoPH41GwUzyeTJ+7HU9MZq2kMcZ3ySGSMLnZjbg44Aqmh85SsEJ3bjnbkbQMUcrtYLCKY2I8sNuA+Z8cex/Pn8aniE8isgYoRzu/+tUwtwt15Py42hiw6D1/pTpRDLt3l5ok++yDH0GKYyv5n7zhAZDx/vHtwKlVSodrhv3agM2ACc/55pWNvcMVjlZJACCH6dRjH6VBMHkCxrJlFyxJbjmm9C9EJi3kQxbWRWOM479+fenyyYcgF1lziOMY4GOtNKJGyApnGFEY7HtUoaMneuVmcYLE42Y6cVN7BcZG/nMnmYBRc7UGOcd6WGOZpQGYpGeWx+lLxu2q4V8Y3HoefX86mnVCkRZykQ/i3Y3Z7e9CV9QSvqBeO1iMe0szDls8mmW+x4igxMwk3oxHP0/PNVL2OVXZdx8sDMbvk78dqkhjuLeMFFbG0lm67ff69aem1hWW1hJrST5xuO6RgAc/dHr/ADqQ2zRR7YwMrzjPJx3PfNJFJNc42xCUKuPm4DZ/liiHJdirokq/eB6kU9Og7IbbRNMpbftLg71I6fj9KljsljULNJuU4KnH3v8A61MaQySM0OBKOCOeTSvO10I7eTcm08+gOPX/AD1ourC+RaN6JAzEECNjtHqeOaa7PFYS/eO4/MN3QHiovs0IEUZLDGcsG+8epP0pixzyxuFcRFfvs3O40rd1qK3cVxIdSsRknEiFj7bhRQUEd9ZFJS6tMgZfcGik79SJJrRliU4v52kIIRmO3GQBnjP1pd6c7ApCYIBOASB0x6Z5+lSzRopmJ+ZpZH4B+6ATyRVSQrGyKyn+82eNwpX1AfMny78YbOdoUde/4VnmMs0OMsu7O0DOD6VcV4mDMHaMDlQTmmlmK7C+5GBKsBnH1p3Hch3K8n7xywOQAh4X6e9PgtVuJwvzRqw3EkfMw9vxpsNnM0YEG0lj93pux35/lVua3mh8rIQEAfMD9z2/nU3AmdLuUCKIKqIgIMnGf/r0GR52EUTmKVRyuwfN6gc4/Gm3kzuySNhQMfKf4vwqKS/WeWSQIBKVG3HQcVdx3GRCTzZpywjki+UqxzU6KIJVeN8l8l+e/wD+umPKI7JdyDzZCWJPr9aITbskrSTKMrhRn7uOv41Fr6EpvZCeYk+pACBS5BUg4AY+9WjEkLhplWIluIgM5AH61mQ/PN5jM5YDJPde45qWe5muFCsCXiH3h8vHelolYE9NSykfnXEwuH+zrjcFfqB6daqNYyI8glxluVwQAR6g06VkmmDqfNkbhsn+Hv8A/qoebdJsRfMZcou7gbc079Cm76MDEkgwSkaxjLKxxnr/AFzSRTBJk3IZFC4RCM46dPT/AOvVdEkLur7Tj7y+mfSllWVXVSxbJwSh5GfrSTtsF7OxJM0zuVlj+UHIBpIGkVkgjmBRzg5PzDPUUuzO1ZTn+HkHAP8APtTZ1iMKgRpuOS0i9T6Ef4Va7jTd7lrU/Kis1KoBtIAXODVFbkZwqAZ5Of8AH8KbI8zfNMFITPU5/PH4U+CIoxkEb3FvGxLEDCk44ob5gbu7kwX7WkcSsYABneOrfQ0hZppRbO6uYsdMjI/xqvMCHZ4DiMtxtzx/hToRtjaTy96kYLdNrd8+vWlzCTuWVS3FvG6qVlPHJztH/wBam3KT20oBcGMgOGj4z61Da3SwSBiq/dPyn+h+tXIryPywjxbsHnvjPP8AhRdPyK5kxbOUuYUjhyolT5/T5gTn3xRTrFJBfxCJv3LtuA7Y659+wop3uZz1H3DK9xKsIydziXPrnjHp0qlLMjQ7/m3A7euOB/LrV6WF7m9uF+4JH2KFOOc4BP1qm1tFan9+WlI4Ow8Dt/MfpWdw6DjEsU0COqFEUjcM/MT39+oNMJaOVUDJKqEkEdHz6037SkNq1uVBMr7gx5Ix2qrLLNLIWLLkjPPWqV3sJ36GkMPDBHFCRKGONnfvx/SpbxLlLWUy4MYbcVLbiOmKzYLgxyBlmIuD3xzj/DrW0P3qrPIjRxxLuLg5LsPbvimtXqWtTPvYgtrbs829yoJJ/h9qm+1LHZpEkeyQJjc3cnvRbTgQyyygSSuzKRj7nqcdhyKiit4pLUszGWVWO2NDnjPH50Ju+gtehVjd54XjUGVguE9Ryc4/KoIZxgRBThDg4XOa1NMFxHNJCLdROBvKsO3QYNSeSkcJubYbbgrteIc8+ntRyqw+Vbmc7s8KS7CFJGCi4LcdPf8A/XU325GhV1QEMNpIPXHODVzTBA2HnAEC5AI48tz2/I1XtobWOaaS8BMfVC3QDpzS3ErPUqQYV8uSjY+RmHT3zVqa6afy4ejKSQ/Td3A4pXjgSyjZvOaRlAQMcqMHmoIQ6KBFs3nJViBx7HPp1oeg/IJAyStJyzEAZzxjuc9z0qzLJGw8qJTGWIMjkcMP84qrOWIM2/cVPJUdD/k0hZvlDAGJhyffn/61Tcm5ftCtjFK7HcWwBt42k59e1U3RTI82GdT0A4HuSO3ao/lllESMWQAkgLn35NSw26LdBvlkXBJGchsdv5fnRqO11YdHFvmhRjvH/LSIDgH6/lQ8hZngthIA7FM4wDz0p9jIEje4VZGmySYzn5xnPPrTjK0kTRMEjLMSSp+63XPt6U7pKzC6sRiyEUzRySbCACoBzz71VJfIQZSMnIPRWb2z+FX9ySWpCQ754hh5AdpIzjP4/wBajlmd7JUXLwggg4+4RwPpzS9BDpD9pAhZUM0fzM54CjsKYqwi1zEpaXOee7fyp/2ZVg/1he6l6Bf5e1QMXUKcY2uGaMnqQRz/AJ9avVblNtblqxkY3ECS5Xa46gjJJ/8ArD86KRJ01C9tGRwpikU7GHOMiigmW428iZbuadWb5JWPB6+38+lMSPy43EisQwJVQxB47n17U25neS6ut8YMMczKNn97J61O0jQ6Zh9kjynaGdssqjsPb/8AVWT5kZt9CpOFcQqUClAUVu7n3/z3pFkh/sdlkt0WbzP9f357flU8MikiWRN3l/OuRkE+n04/U1Mr21zMkksUR3li0QA2k46f4e5quay0LjLqyhpcDTyzbURlUcu3Ucdv61rNObF2STdKc/umPYgdaTfFbI1uttsV2ARl6E55zUUhe5SS2lCM0aFgZOw/n2/GqW9xoFv/ACrOf7Q29n5Vl43ccUry2MMcckaln2q3mMTnd/8ArFNnkk8y2do1Ntu3sqJkDpnP06028uFVyipGYj8x2jIJ9vb/ABpttIp7Fq81FVAaBMzKecjnb35qFkSJVlWRknlOXOcqBj5jiqILDIQlscHIyDz3q0t3HZMCUSWVFVjjPoTkH8cfjUuTe4r824x4/m+yQOZ4mbIdeAGp0MYtRLI7JKVUgqT19sflUb6gYrSWExrGXbcQO/vgcA0trL5OJJQWIwoyAeG5PX2ptK2gJJCxNJa3ME1wjKp+ZcHqO5Hv/wDWqJh5srGMZ3NkZGBStLJeL5LjoflGSdopWhCgFwAUYK6jv6EUrW1GkNvA9pCuEydwjZQQQeM/jwadbRx3jwpJmOJcllGct6A+3+NV55JiYJElwyvlTkZbJ9O/ela+mN0Ll2LMG6N3/AUR1BmoLmGy8y2twuVH712HBU/154FZ8UkFrcD7xVDhsLk49fr0/Kpby5DkJIkJWRtyvGAWXIAA/r+VMhtjfTOUmEbbMuxA6n+nWm7tid29C/LttkS5MYcOegODgnP51T81EmLLGV3EjYw6L/n+VPvbSWztUaVi5UYQ4yFqhbzKjNFOznccErjjHcDH8+tKScncJWY9WZn8wMQ3UN61Yglf7JJGxGTwy7ex5J+uf50tvBFFG3lPI6Ngq5XGzsccn1ppUrJ9nVVgRwwIB5J4Ktnvn/GpT1sgTsRW8ksdx5sLAoDuUEZU8f8A66dKN0izbXZnIXBB5PQkeuahcncyBvMycAY6H1xV+aSUhbaOVJEjyI24G7jGPTvVPzAithGL2HgNKJU3HORjcB/n6UUyyLJqyQSRFCZFKkjAwCMfjxRTRLEvGNtqFz5wCs8jFF9QScNnpS2sT3MgB5zwAT074/UVNdTQT3k1tdq7oJWCSKuTCc/qD6UJp5jbbcTJJu5QL91l9c1M1ZXRm0nuVbgxpIGcvsxzt7fjVu0sEifdeRuZGG6E57ZGM8d+Pzp0tvHdIquyhRx8o5bHUk/h+tTi5lneGaYKFiO2U9OR6D8ahSVgjZD7yKWBWYsZHlIOyMY6darsojiZWUhpHADqMkL6Grt64gmEkxIQj5T35/yKzZmLyZ2ZK/Plz07Adfx5qtEy20mTXllLBEkvm7FJ5Xdkj86W3tRII5rpdsO7b1xn0/CnFZZ7JVkfzDyVOcECoHvf3P2d8KMYBP8AX86E43uNNN3JJLcwxtLA4kj37W2HkkevoM1REMr3DSMCW3YHH+eP8Pxq7HPIli1s3EUh6gjIPUc/l+dVBFJ9kjeQhOGJQkAZHAOeuOfx4pKV32La6i6ZMLS9d5I1uR9wk84J9KtRvZm3a1kjLTbyfMBwM9wD6dqp2qeRC1yxBHIjPq56kewHP1xVeIDhs4jXhi3JY9wBWl2wXmXreeyhgjhmWRJWbiWPGcZ7jnP09qWVo57g73HnHCbo1+UgY546Hj3pq30KWU0cluizSHAY/eT8ah0oA3WzZ5jMDtBHcfypPa4m7FmXTILXzXv5QsuwtCQ24gD9Oufzqpa25mVDINkIBbf1J7HA/L0rQaa2uHWOeFTK+UV9wKKe2f5/iKW0lg82WKWMl4lJAZAF6+/1/Q+1LmErmdpLRDUQ8x2gA4Zzxntmid1N08sbmKN8oSOR/n86nCQ+cBcKREY9xJGSRnhQPr/KmQ2y3beZPE6W+3c237pYdvrz7U+a+xZNJd3ItFS4kUR92OCWA/hx6/41R+zFjuTjeu5ATyy/41dlSLVmDKPLCL8gBwNv07VZ+zDajfxqBnceOABwPzNQ5JGfOlKxlwNcRuiJKAM9O3PtV1JsSbLuMBYx8soUhkP0PUf5FMkjS5leZ4WWIHKsG+bp09D+I/GnKqSRBnmn25yCyL17c7un+NPRlpLcLmxeV/OtjF5MnJm3hQB3HPTn+nvSXMcQt4YoliUxY3yg8Ec9c/56UunwQT+d5pZyBhC7AKT+HT8arTtDMT5MTKSuGZjwzZ4x7dqryKepaQqs9kUuCwkmT91124OPwFFVbK3mgubF3UiGSddnze460VSM5D9QuU+2zKoXCyNvUDlsMRk/57CnWl19n3KUaSzLZXjlT7Vbu7YNqBl2qYwzEkjknPSoJ7SL7yupDLyr9M4J/wDr1N+VmScdmSi1jwCJC6SZ2youdx/2j1GPTpmpYpo4nglkYCIsdx25+bBH/wBeqKSXGnESMP3TjDqxyG/w+tLd2z3Uf2mwmZ415eH+JD/hS5Lu8Q5bNO5LdzCeVdiiTy3KoFJY/X60ki7ocqCXb0PPAxg/jUunqPLjutgR8FS2SefXFRXFws0kiABpN4CANtwR1z7ms222TJtu7Fu8zyK8CGMMMonTFZ800gXyRtnPIZgvC/StNzILTK5MoY8Z6jPv0rJtbe5uGZrdOp3YLe/XJ/zxTi9NS6UtdSVLyUBd21sD93uwAT6egqZ7wBE821hnifqxYtz6ZH4VFZ2f2qRpJwSiMQ+7gHI/THBzVqaCC3snRLgyxAh1QcsD06+nNHu7G0qivYjuPJkk3pvJUDbCfugY45zyP/r1FJcySuAFVZOm0KOnpS6dH9puBC+WVlIyOMd6unSgibkkxMh3BR14HQe+RT5lHRilJRZnSxyQuXni2gklsnnP5YNSWN0ttdbmB2ONrKRzz05q+l19tDWki4lCjcem3p+v6VAumvC8ZhJbaTvL/dI7cUKXfcj2ttyW6tUn2sqRea7gqH7LnNNubYSkKyFHdhmU9Cc9P5VOlsMyyMS7EbkLHJ/SnPdn7LsWJgyc7WHLdgRWa82ZqXNfUdJblo/tDxJ5sZVQuOODgc9qSW3vJLh0jlVYN2/GOp74/Ss2a9VLdSyOZCSCCcDOfX9aZBqGYhG7TTbW3HByQMdc9cVtF6WsbX02L1rL9onUSOmIU+dsbeo6e1Pe5jh3YkU/MPm5OAM/kelZbWrvG5k3QwsQ+XHJHt61E5BEZT7gGBx1PoRWfIhKkmrssC8mTzR8jNMQTu42n0FEhTYELNJMeWOOF/2R+tVnjK8MTGO2QePx/rRh42XOFYDcpIHP+IrWyNUrbD3BZ/KUOWY9BxuPYVe+1QNbW9vcKqiJhswPvdc7j+XFVVhe5t5J02l1Y7lJ59c5qwmmGWO2bOHlyWdf4eMjI9e1JtPqQ5IZHK91qFm7Z2JOgRemPm6e+P6UUy1imTV7eMrIqrIucrgHBznNFUiXZ7G1M8bPMrHd85DLiqRiFtKPNckOMJtHsec1v/Z4d2/yo955LbRnNH2aB1KtDGynsVBHNRFdGc7jc4+6kc3S7XZ06DOD+OP8at2sfkXTmOULO6BlYZ47n8MCukSws4jujtYEPqsYFKLW3AwIIh1HCDv1/kKrU1eisYDlNSiYQyeRcOPuqxCSHHGD+PSoYmnIYPFDAYX3tuXLntn8fWujOn2QwRaW4I5GIl4/SnSWtvcY8+CKXH99Af502lJXBrSxz8U3nxiFTiJvk80qf3vc4/DjmrQhYSZjIC4weOgHQfhWv5EKrsESBAMBQowKDFGeqL+VYSjbYzcTGiUQWhZWB2sPvE89Bz+tUNRuYJoQI22yk8xbB8pPXPFdOIYlYlY0BPXCjmg2Vq7b3toWb+8YwTTjHW5cY66nMWU7RhokdY0P3cDOG9T3xxU0LAJFPlxsXc+5SS3PABPr7V0S28EQKxQxoG5IVQM0G2gOQYYyG+98o5+tOUdRz1kYEkkVxcK9ucXTLkMORj/a+melWnSSdliUlVBLO3972H4/yrW8mIA4jQf8BFJ5aAcIv5VLhYzs3oY6vIQu9BGR/dGeQeg/AfrTZUWVisrK6bdvlqOcnn+g/OtoxRnjy1x9KTyIeD5SZHI+UcUuQnl1OeuLdZlMTRB1XhcNyAP5U2Bbe3uYCpHyc7VPLY7NXSeREesSH/gIpv2G03eZ9lg3j+Lyxn860imtblRTvuYWqzu9uBIm6R/9WOyj2FY+XhkcE4cYztPQ9cV24toCwYwxll4U7RkfSk+w2hBBtYCG5OYxzTim9WbqbTONd4lTZnczHJYjvjHHtjHFRmRVQbmwT2967X+z7Lj/AES346ful4/Sj+zbE9bK2OP+mS/4VVi3I5a2tZQgGTG8uVYEdQVyP5Gr6S+RAqKH2I2xW6s59f1/WtwwQ8fuk+X7vyjj6UeTEeDGhHX7o61m1c5mnLdmJa3EF1PaxI2MMZVD8OSDg0VsmxtN3m/ZYPMU7g/ljIPrmitIqyNIqyP/2Q==">
            <a:extLst>
              <a:ext uri="{FF2B5EF4-FFF2-40B4-BE49-F238E27FC236}">
                <a16:creationId xmlns:a16="http://schemas.microsoft.com/office/drawing/2014/main" id="{11A55D6B-EAA4-0749-9B81-8ABC7E8D497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63356" y="4019970"/>
            <a:ext cx="1905000" cy="2533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2936857"/>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torial_template" id="{EADC5050-CE47-8043-A115-557F9EDEC139}" vid="{327DA43B-6BAE-AF4B-A031-340A272D65B2}"/>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BB2F56ABDEDC3044B30E8C8676A91964" ma:contentTypeVersion="3" ma:contentTypeDescription="Creare un nuovo documento." ma:contentTypeScope="" ma:versionID="b2f94b8e34c7ac8eea718ce208f72eaa">
  <xsd:schema xmlns:xsd="http://www.w3.org/2001/XMLSchema" xmlns:xs="http://www.w3.org/2001/XMLSchema" xmlns:p="http://schemas.microsoft.com/office/2006/metadata/properties" xmlns:ns2="e17268a9-c167-4582-b3fd-10fdf2b0972b" targetNamespace="http://schemas.microsoft.com/office/2006/metadata/properties" ma:root="true" ma:fieldsID="2766200863a59431bcf671668b910c15" ns2:_="">
    <xsd:import namespace="e17268a9-c167-4582-b3fd-10fdf2b0972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7268a9-c167-4582-b3fd-10fdf2b097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E65C233-0ACE-4EB6-BB88-D7647C23E695}">
  <ds:schemaRefs>
    <ds:schemaRef ds:uri="http://schemas.microsoft.com/sharepoint/v3/contenttype/forms"/>
  </ds:schemaRefs>
</ds:datastoreItem>
</file>

<file path=customXml/itemProps2.xml><?xml version="1.0" encoding="utf-8"?>
<ds:datastoreItem xmlns:ds="http://schemas.openxmlformats.org/officeDocument/2006/customXml" ds:itemID="{01FD3DB8-DB57-456C-AC68-622E8B0E9F4B}">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4750E59C-AF9E-458A-AE90-A3468889E73D}"/>
</file>

<file path=docProps/app.xml><?xml version="1.0" encoding="utf-8"?>
<Properties xmlns="http://schemas.openxmlformats.org/officeDocument/2006/extended-properties" xmlns:vt="http://schemas.openxmlformats.org/officeDocument/2006/docPropsVTypes">
  <Template>Tema di Office</Template>
  <TotalTime>69376</TotalTime>
  <Words>6145</Words>
  <Application>Microsoft Macintosh PowerPoint</Application>
  <PresentationFormat>Widescreen</PresentationFormat>
  <Paragraphs>1900</Paragraphs>
  <Slides>156</Slides>
  <Notes>26</Notes>
  <HiddenSlides>5</HiddenSlides>
  <MMClips>0</MMClips>
  <ScaleCrop>false</ScaleCrop>
  <HeadingPairs>
    <vt:vector size="8" baseType="variant">
      <vt:variant>
        <vt:lpstr>Caratteri utilizzati</vt:lpstr>
      </vt:variant>
      <vt:variant>
        <vt:i4>9</vt:i4>
      </vt:variant>
      <vt:variant>
        <vt:lpstr>Tema</vt:lpstr>
      </vt:variant>
      <vt:variant>
        <vt:i4>1</vt:i4>
      </vt:variant>
      <vt:variant>
        <vt:lpstr>Server OLE incorporati</vt:lpstr>
      </vt:variant>
      <vt:variant>
        <vt:i4>4</vt:i4>
      </vt:variant>
      <vt:variant>
        <vt:lpstr>Titoli diapositive</vt:lpstr>
      </vt:variant>
      <vt:variant>
        <vt:i4>156</vt:i4>
      </vt:variant>
    </vt:vector>
  </HeadingPairs>
  <TitlesOfParts>
    <vt:vector size="170" baseType="lpstr">
      <vt:lpstr>Arial</vt:lpstr>
      <vt:lpstr>Calibri</vt:lpstr>
      <vt:lpstr>Calibri Light</vt:lpstr>
      <vt:lpstr>Cambria Math</vt:lpstr>
      <vt:lpstr>Menlo</vt:lpstr>
      <vt:lpstr>Symbol</vt:lpstr>
      <vt:lpstr>Tahoma</vt:lpstr>
      <vt:lpstr>Times New Roman</vt:lpstr>
      <vt:lpstr>Wingdings</vt:lpstr>
      <vt:lpstr>Tema di Office</vt:lpstr>
      <vt:lpstr>VISIO</vt:lpstr>
      <vt:lpstr>Equation</vt:lpstr>
      <vt:lpstr>Visio</vt:lpstr>
      <vt:lpstr>Worksheet</vt:lpstr>
      <vt:lpstr>Introduction to MACHINE LEARNING: module 1. </vt:lpstr>
      <vt:lpstr>Supervised Learning: Classification (cnt) Neural Networks (Perceptron)</vt:lpstr>
      <vt:lpstr>References</vt:lpstr>
      <vt:lpstr>References</vt:lpstr>
      <vt:lpstr>Biological Neural Networks</vt:lpstr>
      <vt:lpstr>The Neuron Metaphor</vt:lpstr>
      <vt:lpstr>Presentazione standard di PowerPoint</vt:lpstr>
      <vt:lpstr>A Neuron</vt:lpstr>
      <vt:lpstr>The simple perceptron</vt:lpstr>
      <vt:lpstr> The simple perceptron </vt:lpstr>
      <vt:lpstr>Percetron learning algorithm</vt:lpstr>
      <vt:lpstr>The delta rule</vt:lpstr>
      <vt:lpstr>The delta rule</vt:lpstr>
      <vt:lpstr>The delta rule</vt:lpstr>
      <vt:lpstr>Linear Separability</vt:lpstr>
      <vt:lpstr>Presentazione standard di PowerPoint</vt:lpstr>
      <vt:lpstr>Presentazione standard di PowerPoint</vt:lpstr>
      <vt:lpstr>Nonlinearly Separable Data</vt:lpstr>
      <vt:lpstr>Recap:Artificial Neural Networks (ANN)</vt:lpstr>
      <vt:lpstr>Artificial Neural Networks (ANN)</vt:lpstr>
      <vt:lpstr>Artificial Neural Networks (ANN)</vt:lpstr>
      <vt:lpstr>Characterizing the Artificial Neuron</vt:lpstr>
      <vt:lpstr>Characterizing the Artificial Neuron</vt:lpstr>
      <vt:lpstr>A Simple Linear Neuron</vt:lpstr>
      <vt:lpstr>Linear Threshold Unit (a.k.a. Perceptron)</vt:lpstr>
      <vt:lpstr>The Logistic Neuron</vt:lpstr>
      <vt:lpstr>Perceptron</vt:lpstr>
      <vt:lpstr>Learning Iterative Procedure</vt:lpstr>
      <vt:lpstr>Perceptron Learning Rule</vt:lpstr>
      <vt:lpstr>The Learning Rate</vt:lpstr>
      <vt:lpstr>Exercises - Perceptron</vt:lpstr>
      <vt:lpstr>Predict with Perceptron</vt:lpstr>
      <vt:lpstr>Predict with Perceptron - Solution</vt:lpstr>
      <vt:lpstr>Train Linear Perceptron</vt:lpstr>
      <vt:lpstr>Train Linear Perceptron</vt:lpstr>
      <vt:lpstr>Train Linear Perceptron</vt:lpstr>
      <vt:lpstr>Train Linear Perceptron</vt:lpstr>
      <vt:lpstr>Train Linear Perceptron</vt:lpstr>
      <vt:lpstr>Train Linear Perceptron</vt:lpstr>
      <vt:lpstr>Train Linear Perceptron</vt:lpstr>
      <vt:lpstr>Train Linear Perceptron</vt:lpstr>
      <vt:lpstr>Train Linear Perceptron</vt:lpstr>
      <vt:lpstr>Train Linear Perceptron</vt:lpstr>
      <vt:lpstr>Train Linear Perceptron</vt:lpstr>
      <vt:lpstr>Train Linear Perceptron</vt:lpstr>
      <vt:lpstr>Train Linear Perceptron</vt:lpstr>
      <vt:lpstr>Train Linear Perceptron</vt:lpstr>
      <vt:lpstr>Train Linear Perceptron</vt:lpstr>
      <vt:lpstr>Train Linear Perceptron</vt:lpstr>
      <vt:lpstr>Train Linear Perceptron</vt:lpstr>
      <vt:lpstr>Train Linear Perceptron</vt:lpstr>
      <vt:lpstr>Train Linear Perceptron - Solution</vt:lpstr>
      <vt:lpstr>Example of Perceptron Learning</vt:lpstr>
      <vt:lpstr>(Deep) Neural Networks</vt:lpstr>
      <vt:lpstr>Why Now?</vt:lpstr>
      <vt:lpstr>A quick look on Deep Learning</vt:lpstr>
      <vt:lpstr>Deep learning</vt:lpstr>
      <vt:lpstr>Multiple Levels Of Abstraction</vt:lpstr>
      <vt:lpstr>Nonlinearly Separable Data</vt:lpstr>
      <vt:lpstr>Multilayer Neural Network</vt:lpstr>
      <vt:lpstr>Presentazione standard di PowerPoint</vt:lpstr>
      <vt:lpstr>General Structure of ANN</vt:lpstr>
      <vt:lpstr>Artificial Neural Networks (ANN)</vt:lpstr>
      <vt:lpstr>Deep Neural Networks</vt:lpstr>
      <vt:lpstr>Deep Neural Networks</vt:lpstr>
      <vt:lpstr>Deep Neural Networks</vt:lpstr>
      <vt:lpstr>Representation Learning</vt:lpstr>
      <vt:lpstr>Representation Learning</vt:lpstr>
      <vt:lpstr>Representation Learning</vt:lpstr>
      <vt:lpstr>Activation Functions</vt:lpstr>
      <vt:lpstr>Activation Functions</vt:lpstr>
      <vt:lpstr>Activation Functions</vt:lpstr>
      <vt:lpstr>Activation Functions Summary</vt:lpstr>
      <vt:lpstr>Learning Multi-layer Neural Network</vt:lpstr>
      <vt:lpstr>The delta rule</vt:lpstr>
      <vt:lpstr>The delta rule</vt:lpstr>
      <vt:lpstr>Gradient Descent for Multilayer NN</vt:lpstr>
      <vt:lpstr>Gradient Descent for Multilayer NN</vt:lpstr>
      <vt:lpstr>Gradient Descent for Multilayer NN</vt:lpstr>
      <vt:lpstr>Training Multilayer NN</vt:lpstr>
      <vt:lpstr>Training Multilayer NN</vt:lpstr>
      <vt:lpstr>Error Backpropagation</vt:lpstr>
      <vt:lpstr>remaind CHAIN RULE</vt:lpstr>
      <vt:lpstr>Backpropagation in other words</vt:lpstr>
      <vt:lpstr>Error Backpropagation - Example</vt:lpstr>
      <vt:lpstr>Error Backpropagation - Example</vt:lpstr>
      <vt:lpstr>Error Backpropagation - Example</vt:lpstr>
      <vt:lpstr>Example - The Forward Pass </vt:lpstr>
      <vt:lpstr>Example - The Forward Pass </vt:lpstr>
      <vt:lpstr>Example - The Forward Pass </vt:lpstr>
      <vt:lpstr>Example - The Forward Pass </vt:lpstr>
      <vt:lpstr>Example – Calculating the Total Error</vt:lpstr>
      <vt:lpstr>Example - The Backward Pass </vt:lpstr>
      <vt:lpstr>Example - The Backward Pass </vt:lpstr>
      <vt:lpstr>Example - The Backward Pass </vt:lpstr>
      <vt:lpstr>Example - The Backward Pass </vt:lpstr>
      <vt:lpstr>Example - The Backward Pass </vt:lpstr>
      <vt:lpstr>Example - The Backward Pass </vt:lpstr>
      <vt:lpstr>Example - The Backward Pass </vt:lpstr>
      <vt:lpstr>Example - The Backward Pass </vt:lpstr>
      <vt:lpstr>Example - The Backward Pass </vt:lpstr>
      <vt:lpstr>Example - The Backward Pass </vt:lpstr>
      <vt:lpstr>Example - The Backward Pass </vt:lpstr>
      <vt:lpstr>Example - The Backward Pass </vt:lpstr>
      <vt:lpstr>Example - The Backward Pass </vt:lpstr>
      <vt:lpstr>Example - The Backward Pass </vt:lpstr>
      <vt:lpstr>Example - The Backward Pass </vt:lpstr>
      <vt:lpstr>Example - The Backward Pass </vt:lpstr>
      <vt:lpstr>Example - The Backward Pass </vt:lpstr>
      <vt:lpstr>Example - The Backward Pass </vt:lpstr>
      <vt:lpstr>Example - The Backward Pass </vt:lpstr>
      <vt:lpstr>Example - The Backward Pass </vt:lpstr>
      <vt:lpstr>Example - The Backward Pass </vt:lpstr>
      <vt:lpstr>Example - The Backward Pass </vt:lpstr>
      <vt:lpstr>Example - The Backward Pass </vt:lpstr>
      <vt:lpstr>Example - The Backward Pass </vt:lpstr>
      <vt:lpstr>Example - The Backward Pass </vt:lpstr>
      <vt:lpstr>Example - The Backward Pass </vt:lpstr>
      <vt:lpstr>Example - The Backward Pass </vt:lpstr>
      <vt:lpstr>Example - The Backward Pass </vt:lpstr>
      <vt:lpstr>Example - The Backward Pass </vt:lpstr>
      <vt:lpstr>Example - The Backward Pass </vt:lpstr>
      <vt:lpstr>Example - The Backward Pass </vt:lpstr>
      <vt:lpstr>Example - The Backward Pass </vt:lpstr>
      <vt:lpstr>Example - The Backward Pass </vt:lpstr>
      <vt:lpstr>Example - The Backward Pass </vt:lpstr>
      <vt:lpstr>Example - The Backward Pass </vt:lpstr>
      <vt:lpstr>Example - The Backward Pass </vt:lpstr>
      <vt:lpstr>Example - The Backward Pass </vt:lpstr>
      <vt:lpstr>Example - The Backward Pass </vt:lpstr>
      <vt:lpstr>Example - The Backward Pass </vt:lpstr>
      <vt:lpstr>On the Key Importance of Error Functions</vt:lpstr>
      <vt:lpstr>Objective Functions for NN</vt:lpstr>
      <vt:lpstr>Design Issues in ANN</vt:lpstr>
      <vt:lpstr>Characteristics of ANN</vt:lpstr>
      <vt:lpstr>Tips and Tricks of NN Training</vt:lpstr>
      <vt:lpstr>Dataset Should Normally be Split Into</vt:lpstr>
      <vt:lpstr>Before Starting: Weight Initialization</vt:lpstr>
      <vt:lpstr>Two learning fashion (plus one)</vt:lpstr>
      <vt:lpstr>Minibatch</vt:lpstr>
      <vt:lpstr>Convergence Criteria</vt:lpstr>
      <vt:lpstr>Early Stopping</vt:lpstr>
      <vt:lpstr>Model Selection</vt:lpstr>
      <vt:lpstr>Regularization</vt:lpstr>
      <vt:lpstr>Common penalty terms (norms)</vt:lpstr>
      <vt:lpstr>Dropout Regularization</vt:lpstr>
      <vt:lpstr>Dropout Regularization</vt:lpstr>
      <vt:lpstr>Dropout Regularization</vt:lpstr>
      <vt:lpstr>Dropout Regularization</vt:lpstr>
      <vt:lpstr>Choosing the Optimization Algorithm</vt:lpstr>
      <vt:lpstr>Exercises - Neural Network</vt:lpstr>
      <vt:lpstr>Predict with a Neural Network</vt:lpstr>
      <vt:lpstr>Predict with a Neural Network - Solution</vt:lpstr>
      <vt:lpstr>Predict with a Neural Network</vt:lpstr>
      <vt:lpstr>Predict with a Neural Network - Solution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Costabello, Luca</dc:creator>
  <cp:lastModifiedBy>FG-ITALY</cp:lastModifiedBy>
  <cp:revision>504</cp:revision>
  <cp:lastPrinted>2019-01-27T07:43:21Z</cp:lastPrinted>
  <dcterms:created xsi:type="dcterms:W3CDTF">2018-12-18T18:14:00Z</dcterms:created>
  <dcterms:modified xsi:type="dcterms:W3CDTF">2026-04-20T11:09:04Z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0x010100BB2F56ABDEDC3044B30E8C8676A91964</vt:lpwstr>
  </property>
</Properties>
</file>