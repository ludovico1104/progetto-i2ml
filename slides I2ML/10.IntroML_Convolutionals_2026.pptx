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1210" r:id="rId5"/>
    <p:sldId id="1321" r:id="rId6"/>
    <p:sldId id="1320" r:id="rId7"/>
    <p:sldId id="1213" r:id="rId8"/>
    <p:sldId id="1220" r:id="rId9"/>
    <p:sldId id="1227" r:id="rId10"/>
    <p:sldId id="1308" r:id="rId11"/>
    <p:sldId id="1309" r:id="rId12"/>
    <p:sldId id="1223" r:id="rId13"/>
    <p:sldId id="1243" r:id="rId14"/>
    <p:sldId id="1244" r:id="rId15"/>
    <p:sldId id="1224" r:id="rId16"/>
    <p:sldId id="1225" r:id="rId17"/>
    <p:sldId id="1310" r:id="rId18"/>
    <p:sldId id="1311" r:id="rId19"/>
    <p:sldId id="1312" r:id="rId20"/>
    <p:sldId id="1238" r:id="rId21"/>
    <p:sldId id="1226" r:id="rId22"/>
    <p:sldId id="1233" r:id="rId23"/>
    <p:sldId id="1228" r:id="rId24"/>
    <p:sldId id="1229" r:id="rId25"/>
    <p:sldId id="1230" r:id="rId26"/>
    <p:sldId id="1231" r:id="rId27"/>
    <p:sldId id="1232" r:id="rId28"/>
    <p:sldId id="1234" r:id="rId29"/>
    <p:sldId id="1313" r:id="rId30"/>
    <p:sldId id="1314" r:id="rId31"/>
    <p:sldId id="1322" r:id="rId32"/>
    <p:sldId id="1323" r:id="rId33"/>
    <p:sldId id="1324" r:id="rId34"/>
    <p:sldId id="1325" r:id="rId35"/>
    <p:sldId id="1326" r:id="rId36"/>
    <p:sldId id="1327" r:id="rId37"/>
    <p:sldId id="1328" r:id="rId38"/>
    <p:sldId id="1235" r:id="rId39"/>
    <p:sldId id="1236" r:id="rId40"/>
    <p:sldId id="1237" r:id="rId41"/>
    <p:sldId id="1245" r:id="rId42"/>
    <p:sldId id="1315" r:id="rId43"/>
    <p:sldId id="1316" r:id="rId44"/>
    <p:sldId id="1317" r:id="rId45"/>
    <p:sldId id="1318" r:id="rId4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7"/>
    <p:restoredTop sz="96197"/>
  </p:normalViewPr>
  <p:slideViewPr>
    <p:cSldViewPr snapToGrid="0" showGuides="1">
      <p:cViewPr varScale="1">
        <p:scale>
          <a:sx n="117" d="100"/>
          <a:sy n="117" d="100"/>
        </p:scale>
        <p:origin x="176" y="3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D41A6C-8F48-349F-8CFF-75E93BF27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9B25248-5674-F278-38B3-37EDF4CAA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F1D8961-3A06-2AB9-60AD-EF6C21EAC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8AACDAC-CDC6-5F6A-D3F9-4BCAD1344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D58AB6-A3F0-F79B-D753-ABD00482B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361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B8E369-6D5F-E2EC-BBE7-4C7F8FA30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DA7845-1B30-C1B6-391E-39C9D3844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73C009F-AB80-9C60-26F6-3FA27C9E4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9EC3CC-4270-0B24-FD31-8CC424C24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2F3693-10E5-931A-F05A-2AB8C8D43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31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DCEBC5-AFB8-2448-F1A8-9D79F5E04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A28E37A-8E45-B456-2386-B685264CC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9342B78-49B6-3C24-584F-DC460239F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EC086E1-AA1B-B84C-7300-26DD3B76B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DB529B-CC79-3E71-048A-9F86BFC6E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31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3E766F-8853-6CC3-DEE9-F442C0E68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5F9A2A-E642-F50F-A134-BFC084CFF8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BEB5811-F45F-174B-1297-A8C87DAEA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A91590C-E158-9D0D-352A-72EF7B0BB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7B8412F-FA2F-9668-1F59-C8EF390C8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6AE39B1-5CDC-0141-655D-E9601D4C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32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E27E73-5841-F581-AD2D-799ADEA5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5846156-7262-4FEF-CCB1-F0BB4D6D4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6E7842F-128E-7A3B-1577-C24909D61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CA6B318-5449-D196-CA65-84A0F78290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8EDAB32-FE78-AE2B-C803-1080E04B4C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2AA93D9-7DE1-81A5-3FAE-636BB789C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7356E34-74A4-2861-1665-3C8E0DF88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5A720E5-4284-3767-1975-B1A2D384B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56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1F0C00-957B-D629-C045-7802FB525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42FB5C3-82E1-7F92-3468-1D5A1900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210DD40-73AC-8C08-0A90-1E589D334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3A4260D-BA9B-5305-5ABB-487A13E6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57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F116CCE-C301-DBE4-40D4-E6E0CD6A7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45EE3D2-5E35-D394-879A-588675D64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96E5C05-4F96-3B2C-5689-04F119DCB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74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2069A8-A887-FC56-75C3-35FA761F3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C149E1-AA14-0B33-E181-7BA2923EF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07F85CB-7E90-F992-94FC-7566BE2F5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7290759-F3A6-8FAD-80F4-ECE4674A4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FA63CA4-6EF6-1FAE-4C61-A0611BCD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897DA12-C36D-9F46-FA61-E80F502C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84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014AE4-4479-997F-85CA-34F23B4FE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7C101B9-0E50-D301-4C7D-73E96F571C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3DA4959-5F86-3D3B-80B0-C5E8DDF28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485DDE3-2BE3-2A59-1E0A-C5EA7EFC9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A177031-6295-DD61-F780-F884ACD7A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CE2C490-EF14-9A95-A89B-6D60587CF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86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67C0FD-BEB6-E76A-4F61-E472835C0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6D61888-3DAB-34EC-B38F-57BDBFE64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70D0A3-23FD-E822-F23B-1CEC0A9FA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9CCDCE4-601A-F3C3-29A8-630EB55D5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62E970B-4D58-9A3A-0E11-75D9542B7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97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1B244BD-0FCB-0DDD-915A-B510E10F1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40D23B6-5F82-FF34-75F9-0C6212BC5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DB7F23-3A6B-C478-0129-654AAE029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FAFABFF-1E37-1AFE-9B0E-5422E24F6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E10905-01DE-EB9B-6ABB-2E7FD1AD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4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7421763-8F2E-F81B-EC64-EAB5A9649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77A17A1-501F-92D4-5D0A-4136320B7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B9C9F4-CAFC-1053-7CC2-904B3B13D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9A457E9-0A80-2365-6E4B-36B323D16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6A00102-2AA9-A097-F642-6E27FC437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42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A60B98-6AF7-7B4C-9150-251A5B98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Convolutional Neural Network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BB058D8-F4CB-0145-8110-07C96E592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it-IT" noProof="0" dirty="0"/>
              <a:t>Slides edited from Stanford + MIT Deep Learning in Life Sciences</a:t>
            </a:r>
          </a:p>
          <a:p>
            <a:r>
              <a:rPr lang="en-US" sz="1600" dirty="0"/>
              <a:t>http://cs231n.stanford.edu/slides/2019/cs231n_2019_lecture09.pdf</a:t>
            </a:r>
            <a:endParaRPr lang="en-US" sz="1600" noProof="0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952750C1-AB13-CC48-A90A-71CA2C4CC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115" y="331204"/>
            <a:ext cx="7567769" cy="309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135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5ACC9FE7-3168-ADFB-C9EB-5A3621119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2810"/>
            <a:ext cx="10417885" cy="4417969"/>
          </a:xfrm>
          <a:prstGeom prst="rect">
            <a:avLst/>
          </a:prstGeom>
        </p:spPr>
      </p:pic>
      <p:sp>
        <p:nvSpPr>
          <p:cNvPr id="5" name="Titolo 1">
            <a:extLst>
              <a:ext uri="{FF2B5EF4-FFF2-40B4-BE49-F238E27FC236}">
                <a16:creationId xmlns:a16="http://schemas.microsoft.com/office/drawing/2014/main" id="{E6E4F6FF-7732-334F-6D63-DFB966934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noProof="0" dirty="0" err="1"/>
              <a:t>ConvNets</a:t>
            </a:r>
            <a:r>
              <a:rPr lang="en-US" sz="4400" noProof="0" dirty="0"/>
              <a:t> are now used everywhere</a:t>
            </a:r>
          </a:p>
        </p:txBody>
      </p:sp>
    </p:spTree>
    <p:extLst>
      <p:ext uri="{BB962C8B-B14F-4D97-AF65-F5344CB8AC3E}">
        <p14:creationId xmlns:p14="http://schemas.microsoft.com/office/powerpoint/2010/main" val="410083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E58F364B-48B4-10C1-EA5E-9EA4B660D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450" y="851149"/>
            <a:ext cx="9541099" cy="5673363"/>
          </a:xfrm>
          <a:prstGeom prst="rect">
            <a:avLst/>
          </a:prstGeom>
        </p:spPr>
      </p:pic>
      <p:sp>
        <p:nvSpPr>
          <p:cNvPr id="5" name="Titolo 1">
            <a:extLst>
              <a:ext uri="{FF2B5EF4-FFF2-40B4-BE49-F238E27FC236}">
                <a16:creationId xmlns:a16="http://schemas.microsoft.com/office/drawing/2014/main" id="{BC016153-7A58-4D41-158F-D7B3F17CB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880"/>
            <a:ext cx="10515600" cy="776923"/>
          </a:xfrm>
        </p:spPr>
        <p:txBody>
          <a:bodyPr>
            <a:normAutofit/>
          </a:bodyPr>
          <a:lstStyle/>
          <a:p>
            <a:r>
              <a:rPr lang="en-US" sz="4400" dirty="0"/>
              <a:t>CNN and the human visual cortex</a:t>
            </a:r>
            <a:endParaRPr lang="en-US" sz="4400" noProof="0" dirty="0"/>
          </a:p>
        </p:txBody>
      </p:sp>
    </p:spTree>
    <p:extLst>
      <p:ext uri="{BB962C8B-B14F-4D97-AF65-F5344CB8AC3E}">
        <p14:creationId xmlns:p14="http://schemas.microsoft.com/office/powerpoint/2010/main" val="3718974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83978C-5719-E847-A75B-840A3D3F8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Fully Connected Layer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DCB4422D-40A2-4440-84F4-A2302760B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99349"/>
            <a:ext cx="10515600" cy="3603890"/>
          </a:xfrm>
        </p:spPr>
      </p:pic>
    </p:spTree>
    <p:extLst>
      <p:ext uri="{BB962C8B-B14F-4D97-AF65-F5344CB8AC3E}">
        <p14:creationId xmlns:p14="http://schemas.microsoft.com/office/powerpoint/2010/main" val="457650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51638D-0C85-B44F-AE1A-820053777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Fully Connected Layer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D694795A-AE5A-2848-BA0B-39185B9707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18214"/>
            <a:ext cx="10515600" cy="4166160"/>
          </a:xfrm>
        </p:spPr>
      </p:pic>
    </p:spTree>
    <p:extLst>
      <p:ext uri="{BB962C8B-B14F-4D97-AF65-F5344CB8AC3E}">
        <p14:creationId xmlns:p14="http://schemas.microsoft.com/office/powerpoint/2010/main" val="1212905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4F54D2-5C6E-3E4A-B8D7-187AE466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 Layer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7B7966EE-4E59-9F4E-90CD-A35EBB896D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776" y="1825625"/>
            <a:ext cx="9688448" cy="4351338"/>
          </a:xfrm>
        </p:spPr>
      </p:pic>
    </p:spTree>
    <p:extLst>
      <p:ext uri="{BB962C8B-B14F-4D97-AF65-F5344CB8AC3E}">
        <p14:creationId xmlns:p14="http://schemas.microsoft.com/office/powerpoint/2010/main" val="2694477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615545-7EE4-E64C-B76F-4759D9A73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 Layer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7BCE73E4-C087-9047-9B90-D365AFE3C0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6905" y="1825625"/>
            <a:ext cx="9918190" cy="4351338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6C01250-EF71-FB48-83C9-300EAAC5381E}"/>
              </a:ext>
            </a:extLst>
          </p:cNvPr>
          <p:cNvSpPr txBox="1"/>
          <p:nvPr/>
        </p:nvSpPr>
        <p:spPr>
          <a:xfrm>
            <a:off x="6542469" y="1410126"/>
            <a:ext cx="37267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 err="1">
                <a:solidFill>
                  <a:schemeClr val="accent1"/>
                </a:solidFill>
              </a:rPr>
              <a:t>Filters</a:t>
            </a:r>
            <a:r>
              <a:rPr lang="it-IT" sz="2400" dirty="0">
                <a:solidFill>
                  <a:schemeClr val="accent1"/>
                </a:solidFill>
              </a:rPr>
              <a:t> </a:t>
            </a:r>
            <a:r>
              <a:rPr lang="it-IT" sz="2400" dirty="0" err="1">
                <a:solidFill>
                  <a:schemeClr val="accent1"/>
                </a:solidFill>
              </a:rPr>
              <a:t>always</a:t>
            </a:r>
            <a:r>
              <a:rPr lang="it-IT" sz="2400" dirty="0">
                <a:solidFill>
                  <a:schemeClr val="accent1"/>
                </a:solidFill>
              </a:rPr>
              <a:t> </a:t>
            </a:r>
            <a:r>
              <a:rPr lang="it-IT" sz="2400" dirty="0" err="1">
                <a:solidFill>
                  <a:schemeClr val="accent1"/>
                </a:solidFill>
              </a:rPr>
              <a:t>extend</a:t>
            </a:r>
            <a:r>
              <a:rPr lang="it-IT" sz="2400" dirty="0">
                <a:solidFill>
                  <a:schemeClr val="accent1"/>
                </a:solidFill>
              </a:rPr>
              <a:t> the full</a:t>
            </a:r>
          </a:p>
          <a:p>
            <a:r>
              <a:rPr lang="it-IT" sz="2400" dirty="0" err="1">
                <a:solidFill>
                  <a:schemeClr val="accent1"/>
                </a:solidFill>
              </a:rPr>
              <a:t>depth</a:t>
            </a:r>
            <a:r>
              <a:rPr lang="it-IT" sz="2400" dirty="0">
                <a:solidFill>
                  <a:schemeClr val="accent1"/>
                </a:solidFill>
              </a:rPr>
              <a:t> of the input volume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718859AD-93E2-A042-AF21-D14217EC3E5A}"/>
              </a:ext>
            </a:extLst>
          </p:cNvPr>
          <p:cNvCxnSpPr/>
          <p:nvPr/>
        </p:nvCxnSpPr>
        <p:spPr>
          <a:xfrm flipH="1">
            <a:off x="2743200" y="1690688"/>
            <a:ext cx="3799269" cy="3312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0A258ABD-DFB3-9143-9A85-B6EE3927C6F7}"/>
              </a:ext>
            </a:extLst>
          </p:cNvPr>
          <p:cNvCxnSpPr>
            <a:cxnSpLocks/>
          </p:cNvCxnSpPr>
          <p:nvPr/>
        </p:nvCxnSpPr>
        <p:spPr>
          <a:xfrm flipH="1">
            <a:off x="6096001" y="2241123"/>
            <a:ext cx="1721475" cy="5989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8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C27FEC-220B-DA4B-AD9A-061EFCFB4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 Layer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6B4E691B-FCAA-E843-9D4D-2368F103AB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4447" y="1825625"/>
            <a:ext cx="9663106" cy="4351338"/>
          </a:xfrm>
        </p:spPr>
      </p:pic>
    </p:spTree>
    <p:extLst>
      <p:ext uri="{BB962C8B-B14F-4D97-AF65-F5344CB8AC3E}">
        <p14:creationId xmlns:p14="http://schemas.microsoft.com/office/powerpoint/2010/main" val="3651473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27458F-9BE4-B24B-8F2C-698FEDC47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 Layer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85FECCF3-B982-2140-818A-58D99AEC03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5298" y="1825625"/>
            <a:ext cx="9341404" cy="4351338"/>
          </a:xfrm>
        </p:spPr>
      </p:pic>
    </p:spTree>
    <p:extLst>
      <p:ext uri="{BB962C8B-B14F-4D97-AF65-F5344CB8AC3E}">
        <p14:creationId xmlns:p14="http://schemas.microsoft.com/office/powerpoint/2010/main" val="2285841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EAA9F2-CCD1-DF44-8A1F-39F488F68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 Layer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73444D9D-32F8-B343-AC84-CBC9FE2BF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4987" y="1690688"/>
            <a:ext cx="5960426" cy="4351338"/>
          </a:xfrm>
        </p:spPr>
      </p:pic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BEA905F4-321E-B343-A4B8-AB34860423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204475"/>
              </p:ext>
            </p:extLst>
          </p:nvPr>
        </p:nvGraphicFramePr>
        <p:xfrm>
          <a:off x="2710543" y="2920094"/>
          <a:ext cx="1419537" cy="110595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73179">
                  <a:extLst>
                    <a:ext uri="{9D8B030D-6E8A-4147-A177-3AD203B41FA5}">
                      <a16:colId xmlns:a16="http://schemas.microsoft.com/office/drawing/2014/main" val="2992837810"/>
                    </a:ext>
                  </a:extLst>
                </a:gridCol>
                <a:gridCol w="473179">
                  <a:extLst>
                    <a:ext uri="{9D8B030D-6E8A-4147-A177-3AD203B41FA5}">
                      <a16:colId xmlns:a16="http://schemas.microsoft.com/office/drawing/2014/main" val="3955227539"/>
                    </a:ext>
                  </a:extLst>
                </a:gridCol>
                <a:gridCol w="473179">
                  <a:extLst>
                    <a:ext uri="{9D8B030D-6E8A-4147-A177-3AD203B41FA5}">
                      <a16:colId xmlns:a16="http://schemas.microsoft.com/office/drawing/2014/main" val="2261320583"/>
                    </a:ext>
                  </a:extLst>
                </a:gridCol>
              </a:tblGrid>
              <a:tr h="368653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130165"/>
                  </a:ext>
                </a:extLst>
              </a:tr>
              <a:tr h="368653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069998"/>
                  </a:ext>
                </a:extLst>
              </a:tr>
              <a:tr h="368653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533267"/>
                  </a:ext>
                </a:extLst>
              </a:tr>
            </a:tbl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1BD49748-02A3-6942-A56C-859E8E05038B}"/>
              </a:ext>
            </a:extLst>
          </p:cNvPr>
          <p:cNvSpPr txBox="1"/>
          <p:nvPr/>
        </p:nvSpPr>
        <p:spPr>
          <a:xfrm>
            <a:off x="2586054" y="4173086"/>
            <a:ext cx="1646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Convolution</a:t>
            </a:r>
            <a:endParaRPr lang="it-IT" dirty="0"/>
          </a:p>
          <a:p>
            <a:pPr algn="ctr"/>
            <a:r>
              <a:rPr lang="it-IT" dirty="0"/>
              <a:t>Kernel / Filter</a:t>
            </a:r>
          </a:p>
        </p:txBody>
      </p:sp>
    </p:spTree>
    <p:extLst>
      <p:ext uri="{BB962C8B-B14F-4D97-AF65-F5344CB8AC3E}">
        <p14:creationId xmlns:p14="http://schemas.microsoft.com/office/powerpoint/2010/main" val="948020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F0B31F-0B46-AF40-9BC4-CFF81EC9B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 Layer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3FB4E2E9-F33C-E948-AA38-2FB6542011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4242883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2481A8-434B-3748-BF16-18565B267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 Layer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5386513D-3BCB-E340-899F-759C836A1C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905" y="1825625"/>
            <a:ext cx="9874190" cy="4351338"/>
          </a:xfrm>
        </p:spPr>
      </p:pic>
    </p:spTree>
    <p:extLst>
      <p:ext uri="{BB962C8B-B14F-4D97-AF65-F5344CB8AC3E}">
        <p14:creationId xmlns:p14="http://schemas.microsoft.com/office/powerpoint/2010/main" val="4050337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EE1E0C-7296-234C-BE26-359FBA1D6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 Layer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DD1C1A2F-A112-4840-B43F-98BBBEE4E7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1450" y="1825625"/>
            <a:ext cx="8549099" cy="4351338"/>
          </a:xfrm>
        </p:spPr>
      </p:pic>
    </p:spTree>
    <p:extLst>
      <p:ext uri="{BB962C8B-B14F-4D97-AF65-F5344CB8AC3E}">
        <p14:creationId xmlns:p14="http://schemas.microsoft.com/office/powerpoint/2010/main" val="1581878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1D33238C-98FD-86A7-B594-3CEE69E0CFB5}"/>
              </a:ext>
            </a:extLst>
          </p:cNvPr>
          <p:cNvSpPr txBox="1"/>
          <p:nvPr/>
        </p:nvSpPr>
        <p:spPr>
          <a:xfrm>
            <a:off x="6394012" y="1434306"/>
            <a:ext cx="540610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2800" dirty="0" err="1">
                <a:effectLst/>
                <a:latin typeface="GillSansMT"/>
              </a:rPr>
              <a:t>Apply</a:t>
            </a:r>
            <a:r>
              <a:rPr lang="it-IT" sz="2800" dirty="0">
                <a:effectLst/>
                <a:latin typeface="GillSansMT"/>
              </a:rPr>
              <a:t> a set of weights – a filter – to </a:t>
            </a:r>
            <a:r>
              <a:rPr lang="it-IT" sz="2800" dirty="0" err="1">
                <a:effectLst/>
                <a:latin typeface="GillSansMT"/>
              </a:rPr>
              <a:t>extract</a:t>
            </a:r>
            <a:r>
              <a:rPr lang="it-IT" sz="2800" dirty="0">
                <a:effectLst/>
                <a:latin typeface="GillSansMT"/>
              </a:rPr>
              <a:t> </a:t>
            </a:r>
            <a:r>
              <a:rPr lang="it-IT" sz="2800" dirty="0" err="1">
                <a:effectLst/>
                <a:latin typeface="GillSansMT"/>
              </a:rPr>
              <a:t>local</a:t>
            </a:r>
            <a:r>
              <a:rPr lang="it-IT" sz="2800" dirty="0">
                <a:effectLst/>
                <a:latin typeface="GillSansMT"/>
              </a:rPr>
              <a:t> features </a:t>
            </a:r>
          </a:p>
          <a:p>
            <a:pPr marL="342900" indent="-342900">
              <a:buFont typeface="+mj-lt"/>
              <a:buAutoNum type="arabicPeriod"/>
            </a:pPr>
            <a:endParaRPr lang="it-IT" sz="2800" dirty="0">
              <a:effectLst/>
              <a:latin typeface="GillSansMT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2800" dirty="0">
                <a:effectLst/>
                <a:latin typeface="GillSansMT"/>
              </a:rPr>
              <a:t>Use multiple filters to </a:t>
            </a:r>
            <a:r>
              <a:rPr lang="it-IT" sz="2800" dirty="0" err="1">
                <a:effectLst/>
                <a:latin typeface="GillSansMT"/>
              </a:rPr>
              <a:t>extract</a:t>
            </a:r>
            <a:r>
              <a:rPr lang="it-IT" sz="2800" dirty="0">
                <a:effectLst/>
                <a:latin typeface="GillSansMT"/>
              </a:rPr>
              <a:t> </a:t>
            </a:r>
            <a:r>
              <a:rPr lang="it-IT" sz="2800" dirty="0" err="1">
                <a:effectLst/>
                <a:latin typeface="GillSansMT"/>
              </a:rPr>
              <a:t>different</a:t>
            </a:r>
            <a:r>
              <a:rPr lang="it-IT" sz="2800" dirty="0">
                <a:effectLst/>
                <a:latin typeface="GillSansMT"/>
              </a:rPr>
              <a:t> features</a:t>
            </a:r>
          </a:p>
          <a:p>
            <a:pPr marL="342900" indent="-342900">
              <a:buFont typeface="+mj-lt"/>
              <a:buAutoNum type="arabicPeriod"/>
            </a:pPr>
            <a:endParaRPr lang="it-IT" sz="2800" dirty="0">
              <a:effectLst/>
              <a:latin typeface="GillSansMT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2800" dirty="0" err="1">
                <a:effectLst/>
                <a:latin typeface="GillSansMT"/>
              </a:rPr>
              <a:t>Spatially</a:t>
            </a:r>
            <a:r>
              <a:rPr lang="it-IT" sz="2800" dirty="0">
                <a:effectLst/>
                <a:latin typeface="GillSansMT"/>
              </a:rPr>
              <a:t> share </a:t>
            </a:r>
            <a:r>
              <a:rPr lang="it-IT" sz="2800" dirty="0" err="1">
                <a:effectLst/>
                <a:latin typeface="GillSansMT"/>
              </a:rPr>
              <a:t>parameters</a:t>
            </a:r>
            <a:r>
              <a:rPr lang="it-IT" sz="2800" dirty="0">
                <a:effectLst/>
                <a:latin typeface="GillSansMT"/>
              </a:rPr>
              <a:t> of </a:t>
            </a:r>
            <a:r>
              <a:rPr lang="it-IT" sz="2800" dirty="0" err="1">
                <a:effectLst/>
                <a:latin typeface="GillSansMT"/>
              </a:rPr>
              <a:t>each</a:t>
            </a:r>
            <a:r>
              <a:rPr lang="it-IT" sz="2800" dirty="0">
                <a:effectLst/>
                <a:latin typeface="GillSansMT"/>
              </a:rPr>
              <a:t> filter </a:t>
            </a:r>
            <a:endParaRPr lang="it-IT" sz="2800" dirty="0"/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D14AFF6D-396D-C02C-4DA6-494A6EEE5CC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Feature Extraction with Convolution</a:t>
            </a:r>
          </a:p>
          <a:p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EE1CD74-213B-DB26-4CDB-B5C26C0F7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376" y="1434306"/>
            <a:ext cx="4471624" cy="442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706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C1D0D2CA-3A38-CB73-B782-5ECE7588A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72" y="1178957"/>
            <a:ext cx="11928423" cy="5381500"/>
          </a:xfrm>
          <a:prstGeom prst="rect">
            <a:avLst/>
          </a:prstGeom>
        </p:spPr>
      </p:pic>
      <p:sp>
        <p:nvSpPr>
          <p:cNvPr id="3" name="Titolo 3">
            <a:extLst>
              <a:ext uri="{FF2B5EF4-FFF2-40B4-BE49-F238E27FC236}">
                <a16:creationId xmlns:a16="http://schemas.microsoft.com/office/drawing/2014/main" id="{07657A26-0971-A804-DA5C-83146AA2A2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Feature Maps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07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6C45E332-AD65-D843-0B51-348D6B2D9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643" y="0"/>
            <a:ext cx="46227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751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9184C5DB-5622-CB4B-8CE3-C48D2E823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Convolutional Neural Network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1E81DEA-69CE-484E-8716-1A526BCCD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4"/>
            <a:ext cx="10544823" cy="357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461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E6BC4D-FA18-C84C-B4E2-6E90B623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Convolutional Neural Network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2FE89D-F901-3B43-B398-E18C72D9A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03546" cy="4351338"/>
          </a:xfrm>
        </p:spPr>
        <p:txBody>
          <a:bodyPr/>
          <a:lstStyle/>
          <a:p>
            <a:r>
              <a:rPr lang="en-US" noProof="0" dirty="0"/>
              <a:t>CNN is a sequence of Conv Layers, interspersed with activation functions.</a:t>
            </a:r>
          </a:p>
          <a:p>
            <a:r>
              <a:rPr lang="en-US" noProof="0" dirty="0"/>
              <a:t>CNN shrinks volumes spatially. </a:t>
            </a:r>
          </a:p>
          <a:p>
            <a:r>
              <a:rPr lang="en-US" noProof="0" dirty="0"/>
              <a:t>E.g. 32x32 input convolved repeatedly with 5x5 filters! (32 -&gt; 28 -&gt; 24 ...). </a:t>
            </a:r>
          </a:p>
          <a:p>
            <a:r>
              <a:rPr lang="en-US" noProof="0" dirty="0"/>
              <a:t>Shrinking too fast is not good, doesn’t work well.</a:t>
            </a:r>
          </a:p>
          <a:p>
            <a:endParaRPr lang="en-US" noProof="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758C1E7-0215-724C-BE05-36DD4C207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80046"/>
            <a:ext cx="7342835" cy="2870187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00580574-52B8-0FA7-D1E7-CBD5D9DBB82B}"/>
              </a:ext>
            </a:extLst>
          </p:cNvPr>
          <p:cNvSpPr txBox="1"/>
          <p:nvPr/>
        </p:nvSpPr>
        <p:spPr>
          <a:xfrm>
            <a:off x="7118034" y="4448765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Notice the </a:t>
            </a:r>
            <a:r>
              <a:rPr lang="en-US" noProof="0" dirty="0" err="1"/>
              <a:t>ReLU</a:t>
            </a:r>
            <a:r>
              <a:rPr lang="en-US" noProof="0" dirty="0"/>
              <a:t> activation</a:t>
            </a:r>
          </a:p>
        </p:txBody>
      </p:sp>
    </p:spTree>
    <p:extLst>
      <p:ext uri="{BB962C8B-B14F-4D97-AF65-F5344CB8AC3E}">
        <p14:creationId xmlns:p14="http://schemas.microsoft.com/office/powerpoint/2010/main" val="1555741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build="p" bldLvl="5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6DB52A-C723-5C41-9252-9B0C904EB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CNN for Image Classification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944A833A-F024-4444-923D-9E3339C156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07614"/>
            <a:ext cx="10131649" cy="4885261"/>
          </a:xfrm>
        </p:spPr>
      </p:pic>
    </p:spTree>
    <p:extLst>
      <p:ext uri="{BB962C8B-B14F-4D97-AF65-F5344CB8AC3E}">
        <p14:creationId xmlns:p14="http://schemas.microsoft.com/office/powerpoint/2010/main" val="950181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58F869-8893-794E-950C-BCA2E1EF1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Stride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D5FA2BC3-E9E1-D141-AB93-3C627A1C57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96090"/>
            <a:ext cx="10515600" cy="4210408"/>
          </a:xfr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A5D247A7-921B-D14E-8BA4-79D287D47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96090"/>
            <a:ext cx="10417935" cy="419625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CAFF31C1-FC27-3443-9531-2E13E9FDE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65" y="1896090"/>
            <a:ext cx="10479865" cy="4434194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B33BB04F-60B9-6C4E-8E36-01A1CFAA0B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007222"/>
            <a:ext cx="10485360" cy="4196258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153430E7-0E17-3947-8422-272E19E575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134026"/>
            <a:ext cx="10422285" cy="419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02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469BD9-B57A-DE48-9549-CA07B5F2A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Stride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061F9D4A-83E6-6E4B-A0D5-07E47CA535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6482" y="1825625"/>
            <a:ext cx="9159035" cy="4351338"/>
          </a:xfr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CF217BAB-9B62-D242-B624-EBA23A967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482" y="1939097"/>
            <a:ext cx="9292143" cy="435133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4882542C-45D3-424D-A7B8-EE17C8BE6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482" y="2015665"/>
            <a:ext cx="9159035" cy="416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034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3BF704-6084-0C4F-B120-835E355E9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Stride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53829497-CC93-1746-8837-17088704CE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7646" y="1825625"/>
            <a:ext cx="10396708" cy="4351338"/>
          </a:xfrm>
        </p:spPr>
      </p:pic>
    </p:spTree>
    <p:extLst>
      <p:ext uri="{BB962C8B-B14F-4D97-AF65-F5344CB8AC3E}">
        <p14:creationId xmlns:p14="http://schemas.microsoft.com/office/powerpoint/2010/main" val="3850177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20FF86-9AFE-DD4A-8F27-8692AA3E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Stride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71D14C20-32EA-5348-95D1-3BCDE318F6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0499"/>
            <a:ext cx="10515600" cy="4341589"/>
          </a:xfrm>
        </p:spPr>
      </p:pic>
    </p:spTree>
    <p:extLst>
      <p:ext uri="{BB962C8B-B14F-4D97-AF65-F5344CB8AC3E}">
        <p14:creationId xmlns:p14="http://schemas.microsoft.com/office/powerpoint/2010/main" val="1754683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6AD0F9-8FCE-4A48-8E89-6B0AA02E9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Padding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13B9CB39-61CC-CC4D-87A1-20D4F82298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4330" y="1825625"/>
            <a:ext cx="10183339" cy="4351338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CA240641-948E-F448-99BA-A673921287D6}"/>
              </a:ext>
            </a:extLst>
          </p:cNvPr>
          <p:cNvSpPr txBox="1"/>
          <p:nvPr/>
        </p:nvSpPr>
        <p:spPr>
          <a:xfrm>
            <a:off x="6233375" y="3430923"/>
            <a:ext cx="2146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dirty="0"/>
              <a:t>7x7 output!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C11A05B-C2E4-2E4A-9451-A3BFB8DBA707}"/>
              </a:ext>
            </a:extLst>
          </p:cNvPr>
          <p:cNvSpPr txBox="1"/>
          <p:nvPr/>
        </p:nvSpPr>
        <p:spPr>
          <a:xfrm>
            <a:off x="4571999" y="4080668"/>
            <a:ext cx="6482443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In general, common to see CONV layers with stride 1, filters of size </a:t>
            </a:r>
            <a:r>
              <a:rPr lang="en-US" sz="2400" dirty="0" err="1"/>
              <a:t>FxF</a:t>
            </a:r>
            <a:r>
              <a:rPr lang="en-US" sz="2400" dirty="0"/>
              <a:t>, and zero-padding with (F-1)/2. (will preserve size spatially)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 = 3 =&gt; zero pad with 1 pixel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 = 5 =&gt; zero pad with 2 pixel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 = 7 =&gt; zero pad with 3 pixel</a:t>
            </a:r>
          </a:p>
        </p:txBody>
      </p:sp>
    </p:spTree>
    <p:extLst>
      <p:ext uri="{BB962C8B-B14F-4D97-AF65-F5344CB8AC3E}">
        <p14:creationId xmlns:p14="http://schemas.microsoft.com/office/powerpoint/2010/main" val="59604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FA8579-CF6C-FE46-87D2-1F2655D2A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 Summary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F851E2CD-4472-E74B-B2CF-10C24D27BE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00" y="1549102"/>
            <a:ext cx="9841878" cy="4471564"/>
          </a:xfrm>
        </p:spPr>
      </p:pic>
    </p:spTree>
    <p:extLst>
      <p:ext uri="{BB962C8B-B14F-4D97-AF65-F5344CB8AC3E}">
        <p14:creationId xmlns:p14="http://schemas.microsoft.com/office/powerpoint/2010/main" val="2551388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7DF3DD12-B833-5FD9-5D6A-8D0DFEA70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82894"/>
            <a:ext cx="6845300" cy="3606800"/>
          </a:xfrm>
          <a:prstGeom prst="rect">
            <a:avLst/>
          </a:prstGeom>
        </p:spPr>
      </p:pic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49BAD508-28E9-B5C3-14F2-C402BECA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289" y="1518066"/>
            <a:ext cx="11049000" cy="1578956"/>
          </a:xfrm>
        </p:spPr>
        <p:txBody>
          <a:bodyPr/>
          <a:lstStyle/>
          <a:p>
            <a:r>
              <a:rPr lang="it-IT" dirty="0" err="1">
                <a:latin typeface="GillSansMT"/>
              </a:rPr>
              <a:t>Apply</a:t>
            </a:r>
            <a:r>
              <a:rPr lang="it-IT" dirty="0">
                <a:latin typeface="GillSansMT"/>
              </a:rPr>
              <a:t> after a </a:t>
            </a:r>
            <a:r>
              <a:rPr lang="it-IT" dirty="0" err="1">
                <a:latin typeface="GillSansMT"/>
              </a:rPr>
              <a:t>convolution</a:t>
            </a:r>
            <a:r>
              <a:rPr lang="it-IT" dirty="0">
                <a:latin typeface="GillSansMT"/>
              </a:rPr>
              <a:t> </a:t>
            </a:r>
            <a:r>
              <a:rPr lang="it-IT" dirty="0" err="1">
                <a:latin typeface="GillSansMT"/>
              </a:rPr>
              <a:t>operation</a:t>
            </a:r>
            <a:r>
              <a:rPr lang="it-IT" dirty="0">
                <a:latin typeface="GillSansMT"/>
              </a:rPr>
              <a:t> (i.e., after </a:t>
            </a:r>
            <a:r>
              <a:rPr lang="it-IT" dirty="0" err="1">
                <a:latin typeface="GillSansMT"/>
              </a:rPr>
              <a:t>convolutional</a:t>
            </a:r>
            <a:r>
              <a:rPr lang="it-IT" dirty="0">
                <a:latin typeface="GillSansMT"/>
              </a:rPr>
              <a:t> </a:t>
            </a:r>
            <a:r>
              <a:rPr lang="it-IT" dirty="0" err="1">
                <a:latin typeface="GillSansMT"/>
              </a:rPr>
              <a:t>layers</a:t>
            </a:r>
            <a:r>
              <a:rPr lang="it-IT" dirty="0">
                <a:latin typeface="GillSansMT"/>
              </a:rPr>
              <a:t>) </a:t>
            </a:r>
            <a:endParaRPr lang="it-IT" dirty="0"/>
          </a:p>
          <a:p>
            <a:r>
              <a:rPr lang="it-IT" dirty="0" err="1">
                <a:latin typeface="GillSansMT"/>
              </a:rPr>
              <a:t>ReLU</a:t>
            </a:r>
            <a:r>
              <a:rPr lang="it-IT" dirty="0">
                <a:latin typeface="GillSansMT"/>
              </a:rPr>
              <a:t>: pixel-by-pixel </a:t>
            </a:r>
            <a:r>
              <a:rPr lang="it-IT" dirty="0" err="1">
                <a:latin typeface="GillSansMT"/>
              </a:rPr>
              <a:t>operation</a:t>
            </a:r>
            <a:r>
              <a:rPr lang="it-IT" dirty="0">
                <a:latin typeface="GillSansMT"/>
              </a:rPr>
              <a:t> </a:t>
            </a:r>
            <a:r>
              <a:rPr lang="it-IT" dirty="0" err="1">
                <a:latin typeface="GillSansMT"/>
              </a:rPr>
              <a:t>that</a:t>
            </a:r>
            <a:r>
              <a:rPr lang="it-IT" dirty="0">
                <a:latin typeface="GillSansMT"/>
              </a:rPr>
              <a:t> </a:t>
            </a:r>
            <a:r>
              <a:rPr lang="it-IT" dirty="0" err="1">
                <a:latin typeface="GillSansMT"/>
              </a:rPr>
              <a:t>replaces</a:t>
            </a:r>
            <a:r>
              <a:rPr lang="it-IT" dirty="0">
                <a:latin typeface="GillSansMT"/>
              </a:rPr>
              <a:t> </a:t>
            </a:r>
            <a:r>
              <a:rPr lang="it-IT" dirty="0" err="1">
                <a:latin typeface="GillSansMT"/>
              </a:rPr>
              <a:t>all</a:t>
            </a:r>
            <a:r>
              <a:rPr lang="it-IT" dirty="0">
                <a:latin typeface="GillSansMT"/>
              </a:rPr>
              <a:t> negative </a:t>
            </a:r>
            <a:r>
              <a:rPr lang="it-IT" dirty="0" err="1">
                <a:latin typeface="GillSansMT"/>
              </a:rPr>
              <a:t>values</a:t>
            </a:r>
            <a:r>
              <a:rPr lang="it-IT" dirty="0">
                <a:latin typeface="GillSansMT"/>
              </a:rPr>
              <a:t> by zero. </a:t>
            </a:r>
            <a:endParaRPr lang="it-IT" dirty="0"/>
          </a:p>
          <a:p>
            <a:r>
              <a:rPr lang="it-IT" dirty="0">
                <a:latin typeface="GillSansMT"/>
              </a:rPr>
              <a:t>Non-linear </a:t>
            </a:r>
            <a:r>
              <a:rPr lang="it-IT" dirty="0" err="1">
                <a:latin typeface="GillSansMT"/>
              </a:rPr>
              <a:t>operation</a:t>
            </a:r>
            <a:endParaRPr lang="en-US" noProof="0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3073AF8D-F64C-4874-C871-F030885E1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noProof="0" dirty="0"/>
              <a:t>Activation after convolution</a:t>
            </a:r>
          </a:p>
        </p:txBody>
      </p:sp>
    </p:spTree>
    <p:extLst>
      <p:ext uri="{BB962C8B-B14F-4D97-AF65-F5344CB8AC3E}">
        <p14:creationId xmlns:p14="http://schemas.microsoft.com/office/powerpoint/2010/main" val="335051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91F6E1-7871-CFFC-1FEF-1C67E6DC8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DBAE435-1719-1400-944B-9475E9F2D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C6DC517-9568-F7FB-007D-00B78C04E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8" y="365125"/>
            <a:ext cx="11759943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1063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E76F1F-B680-8F85-49D1-4FBA16418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Sharing 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993AE4EF-24E6-8001-106A-F10110777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581752"/>
              </p:ext>
            </p:extLst>
          </p:nvPr>
        </p:nvGraphicFramePr>
        <p:xfrm>
          <a:off x="357436" y="2872740"/>
          <a:ext cx="187898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1554207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937203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E01814F8-F57C-68E5-842A-EA305F841149}"/>
              </a:ext>
            </a:extLst>
          </p:cNvPr>
          <p:cNvSpPr txBox="1"/>
          <p:nvPr/>
        </p:nvSpPr>
        <p:spPr>
          <a:xfrm>
            <a:off x="917017" y="2374227"/>
            <a:ext cx="759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0DB27344-5191-2213-95A0-71FBE13F7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936098"/>
              </p:ext>
            </p:extLst>
          </p:nvPr>
        </p:nvGraphicFramePr>
        <p:xfrm>
          <a:off x="2845412" y="3058160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B7B8946-1666-B7D9-BC8D-491160D4B15D}"/>
              </a:ext>
            </a:extLst>
          </p:cNvPr>
          <p:cNvSpPr txBox="1"/>
          <p:nvPr/>
        </p:nvSpPr>
        <p:spPr>
          <a:xfrm>
            <a:off x="3091829" y="2374227"/>
            <a:ext cx="78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4C6E46D-520E-3832-B11D-A5A54FA63EEF}"/>
              </a:ext>
            </a:extLst>
          </p:cNvPr>
          <p:cNvSpPr txBox="1"/>
          <p:nvPr/>
        </p:nvSpPr>
        <p:spPr>
          <a:xfrm>
            <a:off x="4900035" y="237422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4BEB8807-890A-19BB-EEFC-8175D8AE1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727188"/>
              </p:ext>
            </p:extLst>
          </p:nvPr>
        </p:nvGraphicFramePr>
        <p:xfrm>
          <a:off x="4707059" y="3056258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9863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E8D12-7706-0AEC-62E9-7F6495316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1AB8ED-00FB-E25F-4B9A-77AFB805B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US" dirty="0"/>
              <a:t>Parameter Sharing 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606BFC5B-7045-0E1B-EB04-0F1E1B7D4245}"/>
              </a:ext>
            </a:extLst>
          </p:cNvPr>
          <p:cNvGraphicFramePr>
            <a:graphicFrameLocks noGrp="1"/>
          </p:cNvGraphicFramePr>
          <p:nvPr/>
        </p:nvGraphicFramePr>
        <p:xfrm>
          <a:off x="357436" y="2872740"/>
          <a:ext cx="187898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1554207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937203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16231076-533F-8FEB-2B29-A184B16D8064}"/>
              </a:ext>
            </a:extLst>
          </p:cNvPr>
          <p:cNvSpPr txBox="1"/>
          <p:nvPr/>
        </p:nvSpPr>
        <p:spPr>
          <a:xfrm>
            <a:off x="917017" y="2374227"/>
            <a:ext cx="759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3845240F-1D25-2E13-26EE-54E142363552}"/>
              </a:ext>
            </a:extLst>
          </p:cNvPr>
          <p:cNvGraphicFramePr>
            <a:graphicFrameLocks noGrp="1"/>
          </p:cNvGraphicFramePr>
          <p:nvPr/>
        </p:nvGraphicFramePr>
        <p:xfrm>
          <a:off x="2845412" y="3058160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D426D7F-AFEB-8555-B761-AE0E92228021}"/>
              </a:ext>
            </a:extLst>
          </p:cNvPr>
          <p:cNvSpPr txBox="1"/>
          <p:nvPr/>
        </p:nvSpPr>
        <p:spPr>
          <a:xfrm>
            <a:off x="3091829" y="2374227"/>
            <a:ext cx="78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2487D60-EB2D-CFB3-486E-5B203EAE59EB}"/>
              </a:ext>
            </a:extLst>
          </p:cNvPr>
          <p:cNvSpPr txBox="1"/>
          <p:nvPr/>
        </p:nvSpPr>
        <p:spPr>
          <a:xfrm>
            <a:off x="4900035" y="237422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F607F266-CBB4-779B-8D83-C30EDCA324E9}"/>
              </a:ext>
            </a:extLst>
          </p:cNvPr>
          <p:cNvGraphicFramePr>
            <a:graphicFrameLocks noGrp="1"/>
          </p:cNvGraphicFramePr>
          <p:nvPr/>
        </p:nvGraphicFramePr>
        <p:xfrm>
          <a:off x="4707059" y="3056258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grpSp>
        <p:nvGrpSpPr>
          <p:cNvPr id="18" name="Gruppo 17">
            <a:extLst>
              <a:ext uri="{FF2B5EF4-FFF2-40B4-BE49-F238E27FC236}">
                <a16:creationId xmlns:a16="http://schemas.microsoft.com/office/drawing/2014/main" id="{BC43D438-CB32-FEE3-3656-A69CD6EA4886}"/>
              </a:ext>
            </a:extLst>
          </p:cNvPr>
          <p:cNvGrpSpPr/>
          <p:nvPr/>
        </p:nvGrpSpPr>
        <p:grpSpPr>
          <a:xfrm>
            <a:off x="6721165" y="993087"/>
            <a:ext cx="407624" cy="4711044"/>
            <a:chOff x="6841475" y="365125"/>
            <a:chExt cx="407624" cy="4711044"/>
          </a:xfrm>
        </p:grpSpPr>
        <p:sp>
          <p:nvSpPr>
            <p:cNvPr id="3" name="Ovale 2">
              <a:extLst>
                <a:ext uri="{FF2B5EF4-FFF2-40B4-BE49-F238E27FC236}">
                  <a16:creationId xmlns:a16="http://schemas.microsoft.com/office/drawing/2014/main" id="{1975A2D5-C9AE-AE3D-99D4-5E9EDA78084D}"/>
                </a:ext>
              </a:extLst>
            </p:cNvPr>
            <p:cNvSpPr/>
            <p:nvPr/>
          </p:nvSpPr>
          <p:spPr>
            <a:xfrm>
              <a:off x="6841475" y="365125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" name="Ovale 3">
              <a:extLst>
                <a:ext uri="{FF2B5EF4-FFF2-40B4-BE49-F238E27FC236}">
                  <a16:creationId xmlns:a16="http://schemas.microsoft.com/office/drawing/2014/main" id="{53BF1AC3-B902-825F-A9A2-5F4B2B80ED61}"/>
                </a:ext>
              </a:extLst>
            </p:cNvPr>
            <p:cNvSpPr/>
            <p:nvPr/>
          </p:nvSpPr>
          <p:spPr>
            <a:xfrm>
              <a:off x="6841475" y="90441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F3A2D166-56DD-B2D2-4F75-52AC08811129}"/>
                </a:ext>
              </a:extLst>
            </p:cNvPr>
            <p:cNvSpPr/>
            <p:nvPr/>
          </p:nvSpPr>
          <p:spPr>
            <a:xfrm>
              <a:off x="6841475" y="1439987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C7477832-66D3-7D9C-0E1B-874D285EE6C9}"/>
                </a:ext>
              </a:extLst>
            </p:cNvPr>
            <p:cNvSpPr/>
            <p:nvPr/>
          </p:nvSpPr>
          <p:spPr>
            <a:xfrm>
              <a:off x="6841475" y="197918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C1F61C8D-A7FF-03D1-55A9-879B379E9997}"/>
                </a:ext>
              </a:extLst>
            </p:cNvPr>
            <p:cNvSpPr/>
            <p:nvPr/>
          </p:nvSpPr>
          <p:spPr>
            <a:xfrm>
              <a:off x="6841475" y="2518389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F532556A-A767-5141-3453-28614C6E4752}"/>
                </a:ext>
              </a:extLst>
            </p:cNvPr>
            <p:cNvSpPr/>
            <p:nvPr/>
          </p:nvSpPr>
          <p:spPr>
            <a:xfrm>
              <a:off x="6841475" y="3060062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id="{0D5EE042-4D4E-FAD7-FE22-0D4C120A6D86}"/>
                </a:ext>
              </a:extLst>
            </p:cNvPr>
            <p:cNvSpPr/>
            <p:nvPr/>
          </p:nvSpPr>
          <p:spPr>
            <a:xfrm>
              <a:off x="6841475" y="360041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1E78A439-518F-1D0F-FCE0-6AB6B72CE67C}"/>
                </a:ext>
              </a:extLst>
            </p:cNvPr>
            <p:cNvSpPr/>
            <p:nvPr/>
          </p:nvSpPr>
          <p:spPr>
            <a:xfrm>
              <a:off x="6841475" y="414077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BC6A1AB7-8588-2D07-1FB2-02C3CE4717B4}"/>
                </a:ext>
              </a:extLst>
            </p:cNvPr>
            <p:cNvSpPr/>
            <p:nvPr/>
          </p:nvSpPr>
          <p:spPr>
            <a:xfrm>
              <a:off x="6841475" y="4681130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</p:grpSp>
      <p:sp>
        <p:nvSpPr>
          <p:cNvPr id="19" name="Ovale 18">
            <a:extLst>
              <a:ext uri="{FF2B5EF4-FFF2-40B4-BE49-F238E27FC236}">
                <a16:creationId xmlns:a16="http://schemas.microsoft.com/office/drawing/2014/main" id="{79CEC799-E490-CD05-7FDD-7F6F2DB349D6}"/>
              </a:ext>
            </a:extLst>
          </p:cNvPr>
          <p:cNvSpPr/>
          <p:nvPr/>
        </p:nvSpPr>
        <p:spPr>
          <a:xfrm>
            <a:off x="8430353" y="2183875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49D97379-4B81-6A46-A07D-6EB015D14E44}"/>
              </a:ext>
            </a:extLst>
          </p:cNvPr>
          <p:cNvSpPr/>
          <p:nvPr/>
        </p:nvSpPr>
        <p:spPr>
          <a:xfrm>
            <a:off x="8430353" y="2723164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11188F37-7B01-A23B-5539-A55027C32724}"/>
              </a:ext>
            </a:extLst>
          </p:cNvPr>
          <p:cNvSpPr/>
          <p:nvPr/>
        </p:nvSpPr>
        <p:spPr>
          <a:xfrm>
            <a:off x="8430353" y="3258737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8C67D30F-006D-AEEC-C9A8-68191FEDAA8C}"/>
              </a:ext>
            </a:extLst>
          </p:cNvPr>
          <p:cNvSpPr/>
          <p:nvPr/>
        </p:nvSpPr>
        <p:spPr>
          <a:xfrm>
            <a:off x="8430353" y="3797938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7147109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C9141-779A-543A-BBFF-CC0EC1F3B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488B94-133B-3DCE-A15E-F27D30540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US" dirty="0"/>
              <a:t>Parameter Sharing 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887B96C5-8522-D3DA-FA30-65151174D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567423"/>
              </p:ext>
            </p:extLst>
          </p:nvPr>
        </p:nvGraphicFramePr>
        <p:xfrm>
          <a:off x="357436" y="2872740"/>
          <a:ext cx="187898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1554207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937203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D64988F4-4973-9FE0-3CF9-2AD8908AC1E8}"/>
              </a:ext>
            </a:extLst>
          </p:cNvPr>
          <p:cNvSpPr txBox="1"/>
          <p:nvPr/>
        </p:nvSpPr>
        <p:spPr>
          <a:xfrm>
            <a:off x="917017" y="2374227"/>
            <a:ext cx="759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2EFDCB9F-EC3A-9548-1746-3159D456DE7F}"/>
              </a:ext>
            </a:extLst>
          </p:cNvPr>
          <p:cNvGraphicFramePr>
            <a:graphicFrameLocks noGrp="1"/>
          </p:cNvGraphicFramePr>
          <p:nvPr/>
        </p:nvGraphicFramePr>
        <p:xfrm>
          <a:off x="2845412" y="3058160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B36B2E3-B5D3-2E85-8533-466BB64BEB7D}"/>
              </a:ext>
            </a:extLst>
          </p:cNvPr>
          <p:cNvSpPr txBox="1"/>
          <p:nvPr/>
        </p:nvSpPr>
        <p:spPr>
          <a:xfrm>
            <a:off x="3091829" y="2374227"/>
            <a:ext cx="78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67BDC3C-B83F-4E1E-BA99-5A2287E0214A}"/>
              </a:ext>
            </a:extLst>
          </p:cNvPr>
          <p:cNvSpPr txBox="1"/>
          <p:nvPr/>
        </p:nvSpPr>
        <p:spPr>
          <a:xfrm>
            <a:off x="4900035" y="237422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B8098D67-FE0B-9DC6-6BE4-AD00FA9260BA}"/>
              </a:ext>
            </a:extLst>
          </p:cNvPr>
          <p:cNvGraphicFramePr>
            <a:graphicFrameLocks noGrp="1"/>
          </p:cNvGraphicFramePr>
          <p:nvPr/>
        </p:nvGraphicFramePr>
        <p:xfrm>
          <a:off x="4707059" y="3056258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grpSp>
        <p:nvGrpSpPr>
          <p:cNvPr id="18" name="Gruppo 17">
            <a:extLst>
              <a:ext uri="{FF2B5EF4-FFF2-40B4-BE49-F238E27FC236}">
                <a16:creationId xmlns:a16="http://schemas.microsoft.com/office/drawing/2014/main" id="{80E8327F-D59D-A1D7-8415-C6CF3BDEE124}"/>
              </a:ext>
            </a:extLst>
          </p:cNvPr>
          <p:cNvGrpSpPr/>
          <p:nvPr/>
        </p:nvGrpSpPr>
        <p:grpSpPr>
          <a:xfrm>
            <a:off x="6721165" y="993087"/>
            <a:ext cx="407624" cy="4711044"/>
            <a:chOff x="6841475" y="365125"/>
            <a:chExt cx="407624" cy="4711044"/>
          </a:xfrm>
        </p:grpSpPr>
        <p:sp>
          <p:nvSpPr>
            <p:cNvPr id="3" name="Ovale 2">
              <a:extLst>
                <a:ext uri="{FF2B5EF4-FFF2-40B4-BE49-F238E27FC236}">
                  <a16:creationId xmlns:a16="http://schemas.microsoft.com/office/drawing/2014/main" id="{81C0B272-EE95-A491-70AD-5A1261B6ADD6}"/>
                </a:ext>
              </a:extLst>
            </p:cNvPr>
            <p:cNvSpPr/>
            <p:nvPr/>
          </p:nvSpPr>
          <p:spPr>
            <a:xfrm>
              <a:off x="6841475" y="365125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" name="Ovale 3">
              <a:extLst>
                <a:ext uri="{FF2B5EF4-FFF2-40B4-BE49-F238E27FC236}">
                  <a16:creationId xmlns:a16="http://schemas.microsoft.com/office/drawing/2014/main" id="{273F0C53-B6BA-4A92-DB13-C47FFF33D4C8}"/>
                </a:ext>
              </a:extLst>
            </p:cNvPr>
            <p:cNvSpPr/>
            <p:nvPr/>
          </p:nvSpPr>
          <p:spPr>
            <a:xfrm>
              <a:off x="6841475" y="90441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869588BB-C9DC-F223-3122-A6F4CCE87771}"/>
                </a:ext>
              </a:extLst>
            </p:cNvPr>
            <p:cNvSpPr/>
            <p:nvPr/>
          </p:nvSpPr>
          <p:spPr>
            <a:xfrm>
              <a:off x="6841475" y="1439987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4556F355-FE1D-EB49-48BB-C860C75A17CB}"/>
                </a:ext>
              </a:extLst>
            </p:cNvPr>
            <p:cNvSpPr/>
            <p:nvPr/>
          </p:nvSpPr>
          <p:spPr>
            <a:xfrm>
              <a:off x="6841475" y="197918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3FBD0E61-89CB-9025-B798-E7D3F2839742}"/>
                </a:ext>
              </a:extLst>
            </p:cNvPr>
            <p:cNvSpPr/>
            <p:nvPr/>
          </p:nvSpPr>
          <p:spPr>
            <a:xfrm>
              <a:off x="6841475" y="2518389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C2DBE16B-3E19-C124-A7F5-163AFB10EBA4}"/>
                </a:ext>
              </a:extLst>
            </p:cNvPr>
            <p:cNvSpPr/>
            <p:nvPr/>
          </p:nvSpPr>
          <p:spPr>
            <a:xfrm>
              <a:off x="6841475" y="3060062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id="{C414EB53-C805-6B21-6609-158AD74D6E88}"/>
                </a:ext>
              </a:extLst>
            </p:cNvPr>
            <p:cNvSpPr/>
            <p:nvPr/>
          </p:nvSpPr>
          <p:spPr>
            <a:xfrm>
              <a:off x="6841475" y="360041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B6A9D038-CFBD-A6BF-871C-A49D92AD6BF1}"/>
                </a:ext>
              </a:extLst>
            </p:cNvPr>
            <p:cNvSpPr/>
            <p:nvPr/>
          </p:nvSpPr>
          <p:spPr>
            <a:xfrm>
              <a:off x="6841475" y="414077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9D3B0AC9-EDAD-D689-CB8A-87C680C80EEB}"/>
                </a:ext>
              </a:extLst>
            </p:cNvPr>
            <p:cNvSpPr/>
            <p:nvPr/>
          </p:nvSpPr>
          <p:spPr>
            <a:xfrm>
              <a:off x="6841475" y="4681130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</p:grpSp>
      <p:sp>
        <p:nvSpPr>
          <p:cNvPr id="19" name="Ovale 18">
            <a:extLst>
              <a:ext uri="{FF2B5EF4-FFF2-40B4-BE49-F238E27FC236}">
                <a16:creationId xmlns:a16="http://schemas.microsoft.com/office/drawing/2014/main" id="{C267F798-3DFB-4B65-9D69-878B3283809F}"/>
              </a:ext>
            </a:extLst>
          </p:cNvPr>
          <p:cNvSpPr/>
          <p:nvPr/>
        </p:nvSpPr>
        <p:spPr>
          <a:xfrm>
            <a:off x="8430353" y="2183875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4FD1E5A2-7535-4CE5-19D0-96B9001F8A30}"/>
              </a:ext>
            </a:extLst>
          </p:cNvPr>
          <p:cNvSpPr/>
          <p:nvPr/>
        </p:nvSpPr>
        <p:spPr>
          <a:xfrm>
            <a:off x="8430353" y="2723164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C72C8267-C2DE-7C9E-8853-0CA66CD573FF}"/>
              </a:ext>
            </a:extLst>
          </p:cNvPr>
          <p:cNvSpPr/>
          <p:nvPr/>
        </p:nvSpPr>
        <p:spPr>
          <a:xfrm>
            <a:off x="8430353" y="3258737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0D4E254B-572B-0886-9F62-4F6BF8344140}"/>
              </a:ext>
            </a:extLst>
          </p:cNvPr>
          <p:cNvSpPr/>
          <p:nvPr/>
        </p:nvSpPr>
        <p:spPr>
          <a:xfrm>
            <a:off x="8430353" y="3797938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4F0EE7EC-644F-60D3-8C73-95D578F13BF1}"/>
              </a:ext>
            </a:extLst>
          </p:cNvPr>
          <p:cNvCxnSpPr>
            <a:stCxn id="3" idx="6"/>
            <a:endCxn id="19" idx="2"/>
          </p:cNvCxnSpPr>
          <p:nvPr/>
        </p:nvCxnSpPr>
        <p:spPr>
          <a:xfrm>
            <a:off x="7128789" y="1190607"/>
            <a:ext cx="1301564" cy="11907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DA97EF7D-6C52-291D-C38A-44667F39854D}"/>
              </a:ext>
            </a:extLst>
          </p:cNvPr>
          <p:cNvCxnSpPr>
            <a:cxnSpLocks/>
            <a:stCxn id="4" idx="6"/>
            <a:endCxn id="19" idx="2"/>
          </p:cNvCxnSpPr>
          <p:nvPr/>
        </p:nvCxnSpPr>
        <p:spPr>
          <a:xfrm>
            <a:off x="7128789" y="1729896"/>
            <a:ext cx="1301564" cy="6514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F883FF09-B26C-3BFA-C190-FA6394AA41B0}"/>
              </a:ext>
            </a:extLst>
          </p:cNvPr>
          <p:cNvCxnSpPr>
            <a:cxnSpLocks/>
            <a:stCxn id="6" idx="6"/>
            <a:endCxn id="19" idx="2"/>
          </p:cNvCxnSpPr>
          <p:nvPr/>
        </p:nvCxnSpPr>
        <p:spPr>
          <a:xfrm flipV="1">
            <a:off x="7128789" y="2381395"/>
            <a:ext cx="1301564" cy="4232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E3A082DE-17FF-94FA-22E4-01135ED7A3AA}"/>
              </a:ext>
            </a:extLst>
          </p:cNvPr>
          <p:cNvCxnSpPr>
            <a:cxnSpLocks/>
            <a:stCxn id="9" idx="6"/>
            <a:endCxn id="19" idx="2"/>
          </p:cNvCxnSpPr>
          <p:nvPr/>
        </p:nvCxnSpPr>
        <p:spPr>
          <a:xfrm flipV="1">
            <a:off x="7128789" y="2381395"/>
            <a:ext cx="1301564" cy="9624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9AB2F2E5-5134-EDCF-7A66-54C8A0AEA95A}"/>
              </a:ext>
            </a:extLst>
          </p:cNvPr>
          <p:cNvSpPr txBox="1"/>
          <p:nvPr/>
        </p:nvSpPr>
        <p:spPr>
          <a:xfrm>
            <a:off x="7294039" y="1077138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D9499D06-324B-9C6A-A0C1-AD1F54EF5407}"/>
              </a:ext>
            </a:extLst>
          </p:cNvPr>
          <p:cNvSpPr txBox="1"/>
          <p:nvPr/>
        </p:nvSpPr>
        <p:spPr>
          <a:xfrm>
            <a:off x="7265185" y="15599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II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030026D4-1E84-002B-4B4B-7185310586E6}"/>
              </a:ext>
            </a:extLst>
          </p:cNvPr>
          <p:cNvSpPr txBox="1"/>
          <p:nvPr/>
        </p:nvSpPr>
        <p:spPr>
          <a:xfrm>
            <a:off x="7236331" y="2403044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III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09E0958C-8468-D58D-4254-BC5BA64686F1}"/>
              </a:ext>
            </a:extLst>
          </p:cNvPr>
          <p:cNvSpPr txBox="1"/>
          <p:nvPr/>
        </p:nvSpPr>
        <p:spPr>
          <a:xfrm>
            <a:off x="7236331" y="2790845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41431873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EA27D-A39C-D324-4BF1-0AFE50271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2F3CE0-CD85-9EDD-2567-B066AD06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US" dirty="0"/>
              <a:t>Parameter Sharing 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A83FB5B7-82D1-DBF3-BF20-D7CF1FC7F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019007"/>
              </p:ext>
            </p:extLst>
          </p:nvPr>
        </p:nvGraphicFramePr>
        <p:xfrm>
          <a:off x="357436" y="2872740"/>
          <a:ext cx="187898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1554207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937203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893274E3-41AB-8484-615D-190C60500E34}"/>
              </a:ext>
            </a:extLst>
          </p:cNvPr>
          <p:cNvSpPr txBox="1"/>
          <p:nvPr/>
        </p:nvSpPr>
        <p:spPr>
          <a:xfrm>
            <a:off x="917017" y="2374227"/>
            <a:ext cx="759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530B52F4-A8FA-B6AF-A639-C684C84AF153}"/>
              </a:ext>
            </a:extLst>
          </p:cNvPr>
          <p:cNvGraphicFramePr>
            <a:graphicFrameLocks noGrp="1"/>
          </p:cNvGraphicFramePr>
          <p:nvPr/>
        </p:nvGraphicFramePr>
        <p:xfrm>
          <a:off x="2845412" y="3058160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7837CFE-ABE1-D426-DA74-DF02B0438590}"/>
              </a:ext>
            </a:extLst>
          </p:cNvPr>
          <p:cNvSpPr txBox="1"/>
          <p:nvPr/>
        </p:nvSpPr>
        <p:spPr>
          <a:xfrm>
            <a:off x="3091829" y="2374227"/>
            <a:ext cx="78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CB771D4-89C0-54A0-550D-39569D480EFB}"/>
              </a:ext>
            </a:extLst>
          </p:cNvPr>
          <p:cNvSpPr txBox="1"/>
          <p:nvPr/>
        </p:nvSpPr>
        <p:spPr>
          <a:xfrm>
            <a:off x="4900035" y="237422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C9C90A7A-2DF2-5EB1-C72D-7542A5014DD0}"/>
              </a:ext>
            </a:extLst>
          </p:cNvPr>
          <p:cNvGraphicFramePr>
            <a:graphicFrameLocks noGrp="1"/>
          </p:cNvGraphicFramePr>
          <p:nvPr/>
        </p:nvGraphicFramePr>
        <p:xfrm>
          <a:off x="4707059" y="3056258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grpSp>
        <p:nvGrpSpPr>
          <p:cNvPr id="18" name="Gruppo 17">
            <a:extLst>
              <a:ext uri="{FF2B5EF4-FFF2-40B4-BE49-F238E27FC236}">
                <a16:creationId xmlns:a16="http://schemas.microsoft.com/office/drawing/2014/main" id="{D82A0554-9C63-DA3D-9F40-D0E1882A3C66}"/>
              </a:ext>
            </a:extLst>
          </p:cNvPr>
          <p:cNvGrpSpPr/>
          <p:nvPr/>
        </p:nvGrpSpPr>
        <p:grpSpPr>
          <a:xfrm>
            <a:off x="6721165" y="993087"/>
            <a:ext cx="407624" cy="4711044"/>
            <a:chOff x="6841475" y="365125"/>
            <a:chExt cx="407624" cy="4711044"/>
          </a:xfrm>
        </p:grpSpPr>
        <p:sp>
          <p:nvSpPr>
            <p:cNvPr id="3" name="Ovale 2">
              <a:extLst>
                <a:ext uri="{FF2B5EF4-FFF2-40B4-BE49-F238E27FC236}">
                  <a16:creationId xmlns:a16="http://schemas.microsoft.com/office/drawing/2014/main" id="{242741D4-038B-2C20-F83C-234616FF1C1C}"/>
                </a:ext>
              </a:extLst>
            </p:cNvPr>
            <p:cNvSpPr/>
            <p:nvPr/>
          </p:nvSpPr>
          <p:spPr>
            <a:xfrm>
              <a:off x="6841475" y="365125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" name="Ovale 3">
              <a:extLst>
                <a:ext uri="{FF2B5EF4-FFF2-40B4-BE49-F238E27FC236}">
                  <a16:creationId xmlns:a16="http://schemas.microsoft.com/office/drawing/2014/main" id="{1DE34DFE-2DB6-AD23-1878-01B0C9B4C5AC}"/>
                </a:ext>
              </a:extLst>
            </p:cNvPr>
            <p:cNvSpPr/>
            <p:nvPr/>
          </p:nvSpPr>
          <p:spPr>
            <a:xfrm>
              <a:off x="6841475" y="90441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655D7AAC-F41F-9BE8-7C02-5C5DE7DB0B17}"/>
                </a:ext>
              </a:extLst>
            </p:cNvPr>
            <p:cNvSpPr/>
            <p:nvPr/>
          </p:nvSpPr>
          <p:spPr>
            <a:xfrm>
              <a:off x="6841475" y="1439987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73D25FE8-D012-3DCD-D4A7-6BB3A0DA2D33}"/>
                </a:ext>
              </a:extLst>
            </p:cNvPr>
            <p:cNvSpPr/>
            <p:nvPr/>
          </p:nvSpPr>
          <p:spPr>
            <a:xfrm>
              <a:off x="6841475" y="197918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350E5520-5914-8D0E-4A37-1A2C36A78FBA}"/>
                </a:ext>
              </a:extLst>
            </p:cNvPr>
            <p:cNvSpPr/>
            <p:nvPr/>
          </p:nvSpPr>
          <p:spPr>
            <a:xfrm>
              <a:off x="6841475" y="2518389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A752848E-5C48-9A57-3519-822B7AA7CB68}"/>
                </a:ext>
              </a:extLst>
            </p:cNvPr>
            <p:cNvSpPr/>
            <p:nvPr/>
          </p:nvSpPr>
          <p:spPr>
            <a:xfrm>
              <a:off x="6841475" y="3060062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id="{B2C1635F-8FA4-D487-0D80-B0F6F130F456}"/>
                </a:ext>
              </a:extLst>
            </p:cNvPr>
            <p:cNvSpPr/>
            <p:nvPr/>
          </p:nvSpPr>
          <p:spPr>
            <a:xfrm>
              <a:off x="6841475" y="360041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7B7C4481-16CC-7825-59E8-71EB54E3358E}"/>
                </a:ext>
              </a:extLst>
            </p:cNvPr>
            <p:cNvSpPr/>
            <p:nvPr/>
          </p:nvSpPr>
          <p:spPr>
            <a:xfrm>
              <a:off x="6841475" y="414077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E97F4E96-7BAB-5AB0-BD76-92A8727C7471}"/>
                </a:ext>
              </a:extLst>
            </p:cNvPr>
            <p:cNvSpPr/>
            <p:nvPr/>
          </p:nvSpPr>
          <p:spPr>
            <a:xfrm>
              <a:off x="6841475" y="4681130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</p:grpSp>
      <p:sp>
        <p:nvSpPr>
          <p:cNvPr id="19" name="Ovale 18">
            <a:extLst>
              <a:ext uri="{FF2B5EF4-FFF2-40B4-BE49-F238E27FC236}">
                <a16:creationId xmlns:a16="http://schemas.microsoft.com/office/drawing/2014/main" id="{6511122C-A510-2FEF-BAFE-8E99A3941709}"/>
              </a:ext>
            </a:extLst>
          </p:cNvPr>
          <p:cNvSpPr/>
          <p:nvPr/>
        </p:nvSpPr>
        <p:spPr>
          <a:xfrm>
            <a:off x="8430353" y="2183875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025ECF5C-C745-36B2-A6F0-BC9B90FCCAA4}"/>
              </a:ext>
            </a:extLst>
          </p:cNvPr>
          <p:cNvSpPr/>
          <p:nvPr/>
        </p:nvSpPr>
        <p:spPr>
          <a:xfrm>
            <a:off x="8430353" y="2723164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2A878F69-F63A-5A84-96EE-E3CD6CD66602}"/>
              </a:ext>
            </a:extLst>
          </p:cNvPr>
          <p:cNvSpPr/>
          <p:nvPr/>
        </p:nvSpPr>
        <p:spPr>
          <a:xfrm>
            <a:off x="8430353" y="3258737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9F351972-004A-6B28-AE1D-17E00F2F4F57}"/>
              </a:ext>
            </a:extLst>
          </p:cNvPr>
          <p:cNvSpPr/>
          <p:nvPr/>
        </p:nvSpPr>
        <p:spPr>
          <a:xfrm>
            <a:off x="8430353" y="3797938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AF9FD2AA-B231-85F9-14CB-BAB4A4387F87}"/>
              </a:ext>
            </a:extLst>
          </p:cNvPr>
          <p:cNvCxnSpPr>
            <a:cxnSpLocks/>
            <a:stCxn id="4" idx="6"/>
            <a:endCxn id="20" idx="2"/>
          </p:cNvCxnSpPr>
          <p:nvPr/>
        </p:nvCxnSpPr>
        <p:spPr>
          <a:xfrm>
            <a:off x="7128789" y="1729896"/>
            <a:ext cx="1301564" cy="11907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0F3AC24A-E1B6-7D71-FFBF-B51AE26C0DE9}"/>
              </a:ext>
            </a:extLst>
          </p:cNvPr>
          <p:cNvCxnSpPr>
            <a:cxnSpLocks/>
            <a:stCxn id="5" idx="6"/>
            <a:endCxn id="20" idx="2"/>
          </p:cNvCxnSpPr>
          <p:nvPr/>
        </p:nvCxnSpPr>
        <p:spPr>
          <a:xfrm>
            <a:off x="7128789" y="2265469"/>
            <a:ext cx="1301564" cy="6552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B734CCCE-3E4F-9DBF-EF81-503949664DCA}"/>
              </a:ext>
            </a:extLst>
          </p:cNvPr>
          <p:cNvCxnSpPr>
            <a:cxnSpLocks/>
            <a:stCxn id="9" idx="6"/>
            <a:endCxn id="20" idx="2"/>
          </p:cNvCxnSpPr>
          <p:nvPr/>
        </p:nvCxnSpPr>
        <p:spPr>
          <a:xfrm flipV="1">
            <a:off x="7128789" y="2920684"/>
            <a:ext cx="1301564" cy="4231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26DE0FF0-26FA-FC08-69C7-6911F1A5C892}"/>
              </a:ext>
            </a:extLst>
          </p:cNvPr>
          <p:cNvCxnSpPr>
            <a:cxnSpLocks/>
            <a:stCxn id="14" idx="6"/>
            <a:endCxn id="20" idx="2"/>
          </p:cNvCxnSpPr>
          <p:nvPr/>
        </p:nvCxnSpPr>
        <p:spPr>
          <a:xfrm flipV="1">
            <a:off x="7128789" y="2920684"/>
            <a:ext cx="1301564" cy="9648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AE841FE0-1B9C-B0D1-CA5A-EF54390E834E}"/>
              </a:ext>
            </a:extLst>
          </p:cNvPr>
          <p:cNvSpPr txBox="1"/>
          <p:nvPr/>
        </p:nvSpPr>
        <p:spPr>
          <a:xfrm>
            <a:off x="7278345" y="1593011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72DCB46-895F-F3D5-9C87-BD412D81957F}"/>
              </a:ext>
            </a:extLst>
          </p:cNvPr>
          <p:cNvSpPr txBox="1"/>
          <p:nvPr/>
        </p:nvSpPr>
        <p:spPr>
          <a:xfrm>
            <a:off x="7249491" y="20758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II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F0084D41-3925-9525-21FC-E262E5D467E2}"/>
              </a:ext>
            </a:extLst>
          </p:cNvPr>
          <p:cNvSpPr txBox="1"/>
          <p:nvPr/>
        </p:nvSpPr>
        <p:spPr>
          <a:xfrm>
            <a:off x="7220637" y="2918917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III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E5E1271E-CC19-6993-DCED-D115048FE774}"/>
              </a:ext>
            </a:extLst>
          </p:cNvPr>
          <p:cNvSpPr txBox="1"/>
          <p:nvPr/>
        </p:nvSpPr>
        <p:spPr>
          <a:xfrm>
            <a:off x="7220637" y="330671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19420818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1E9CE-8477-3C46-5BFC-5B82D34C3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CAF19E-18C3-2A05-3E98-DAF36BA3C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US" dirty="0"/>
              <a:t>Parameter Sharing 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80CFCFAA-A697-5AC0-B5DC-5D1567A98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302285"/>
              </p:ext>
            </p:extLst>
          </p:nvPr>
        </p:nvGraphicFramePr>
        <p:xfrm>
          <a:off x="357436" y="2872740"/>
          <a:ext cx="187898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1554207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937203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35D7EAA2-3A7C-0E77-6C4A-58BA25EC99F0}"/>
              </a:ext>
            </a:extLst>
          </p:cNvPr>
          <p:cNvSpPr txBox="1"/>
          <p:nvPr/>
        </p:nvSpPr>
        <p:spPr>
          <a:xfrm>
            <a:off x="917017" y="2374227"/>
            <a:ext cx="759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A3A8C977-F178-C78A-6F20-CD1AE38F5CEA}"/>
              </a:ext>
            </a:extLst>
          </p:cNvPr>
          <p:cNvGraphicFramePr>
            <a:graphicFrameLocks noGrp="1"/>
          </p:cNvGraphicFramePr>
          <p:nvPr/>
        </p:nvGraphicFramePr>
        <p:xfrm>
          <a:off x="2845412" y="3058160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4770FF0-FF49-AD77-8AF8-6928F804F960}"/>
              </a:ext>
            </a:extLst>
          </p:cNvPr>
          <p:cNvSpPr txBox="1"/>
          <p:nvPr/>
        </p:nvSpPr>
        <p:spPr>
          <a:xfrm>
            <a:off x="3091829" y="2374227"/>
            <a:ext cx="78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DB1D5CF-4391-F39F-9892-93408F7AA814}"/>
              </a:ext>
            </a:extLst>
          </p:cNvPr>
          <p:cNvSpPr txBox="1"/>
          <p:nvPr/>
        </p:nvSpPr>
        <p:spPr>
          <a:xfrm>
            <a:off x="4900035" y="237422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9F91135C-5AFB-8A4F-91F9-61777EB904F2}"/>
              </a:ext>
            </a:extLst>
          </p:cNvPr>
          <p:cNvGraphicFramePr>
            <a:graphicFrameLocks noGrp="1"/>
          </p:cNvGraphicFramePr>
          <p:nvPr/>
        </p:nvGraphicFramePr>
        <p:xfrm>
          <a:off x="4707059" y="3056258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grpSp>
        <p:nvGrpSpPr>
          <p:cNvPr id="18" name="Gruppo 17">
            <a:extLst>
              <a:ext uri="{FF2B5EF4-FFF2-40B4-BE49-F238E27FC236}">
                <a16:creationId xmlns:a16="http://schemas.microsoft.com/office/drawing/2014/main" id="{3C4370E8-A1F8-8317-8488-0B5D3D6F3950}"/>
              </a:ext>
            </a:extLst>
          </p:cNvPr>
          <p:cNvGrpSpPr/>
          <p:nvPr/>
        </p:nvGrpSpPr>
        <p:grpSpPr>
          <a:xfrm>
            <a:off x="6721165" y="993087"/>
            <a:ext cx="407624" cy="4711044"/>
            <a:chOff x="6841475" y="365125"/>
            <a:chExt cx="407624" cy="4711044"/>
          </a:xfrm>
        </p:grpSpPr>
        <p:sp>
          <p:nvSpPr>
            <p:cNvPr id="3" name="Ovale 2">
              <a:extLst>
                <a:ext uri="{FF2B5EF4-FFF2-40B4-BE49-F238E27FC236}">
                  <a16:creationId xmlns:a16="http://schemas.microsoft.com/office/drawing/2014/main" id="{4D74D930-C03D-55B4-391E-149D6D80A028}"/>
                </a:ext>
              </a:extLst>
            </p:cNvPr>
            <p:cNvSpPr/>
            <p:nvPr/>
          </p:nvSpPr>
          <p:spPr>
            <a:xfrm>
              <a:off x="6841475" y="365125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" name="Ovale 3">
              <a:extLst>
                <a:ext uri="{FF2B5EF4-FFF2-40B4-BE49-F238E27FC236}">
                  <a16:creationId xmlns:a16="http://schemas.microsoft.com/office/drawing/2014/main" id="{650DC34C-198E-1328-B621-C14DB674D1D2}"/>
                </a:ext>
              </a:extLst>
            </p:cNvPr>
            <p:cNvSpPr/>
            <p:nvPr/>
          </p:nvSpPr>
          <p:spPr>
            <a:xfrm>
              <a:off x="6841475" y="90441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2E7E128E-F32E-AB03-0474-34999BDED3E4}"/>
                </a:ext>
              </a:extLst>
            </p:cNvPr>
            <p:cNvSpPr/>
            <p:nvPr/>
          </p:nvSpPr>
          <p:spPr>
            <a:xfrm>
              <a:off x="6841475" y="1439987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C6424D30-E43C-0D36-14D5-2C3363930469}"/>
                </a:ext>
              </a:extLst>
            </p:cNvPr>
            <p:cNvSpPr/>
            <p:nvPr/>
          </p:nvSpPr>
          <p:spPr>
            <a:xfrm>
              <a:off x="6841475" y="197918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3CB266CD-518E-AAA8-AC8E-515CE2CECA0A}"/>
                </a:ext>
              </a:extLst>
            </p:cNvPr>
            <p:cNvSpPr/>
            <p:nvPr/>
          </p:nvSpPr>
          <p:spPr>
            <a:xfrm>
              <a:off x="6841475" y="2518389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C2E8836F-3B3A-B53F-3B2B-B466AE6AE2FB}"/>
                </a:ext>
              </a:extLst>
            </p:cNvPr>
            <p:cNvSpPr/>
            <p:nvPr/>
          </p:nvSpPr>
          <p:spPr>
            <a:xfrm>
              <a:off x="6841475" y="3060062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id="{0C47A2BE-7DEE-C7F2-3072-43A6E02D889B}"/>
                </a:ext>
              </a:extLst>
            </p:cNvPr>
            <p:cNvSpPr/>
            <p:nvPr/>
          </p:nvSpPr>
          <p:spPr>
            <a:xfrm>
              <a:off x="6841475" y="360041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8F54E8BB-C530-8B97-56C1-48EF014E1FFE}"/>
                </a:ext>
              </a:extLst>
            </p:cNvPr>
            <p:cNvSpPr/>
            <p:nvPr/>
          </p:nvSpPr>
          <p:spPr>
            <a:xfrm>
              <a:off x="6841475" y="414077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D09DA9D0-3863-A68A-9618-05A3FA7B9B24}"/>
                </a:ext>
              </a:extLst>
            </p:cNvPr>
            <p:cNvSpPr/>
            <p:nvPr/>
          </p:nvSpPr>
          <p:spPr>
            <a:xfrm>
              <a:off x="6841475" y="4681130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</p:grpSp>
      <p:sp>
        <p:nvSpPr>
          <p:cNvPr id="19" name="Ovale 18">
            <a:extLst>
              <a:ext uri="{FF2B5EF4-FFF2-40B4-BE49-F238E27FC236}">
                <a16:creationId xmlns:a16="http://schemas.microsoft.com/office/drawing/2014/main" id="{2B4495F4-0ED0-36C8-8531-A64F0B22A39F}"/>
              </a:ext>
            </a:extLst>
          </p:cNvPr>
          <p:cNvSpPr/>
          <p:nvPr/>
        </p:nvSpPr>
        <p:spPr>
          <a:xfrm>
            <a:off x="8430353" y="2183875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A8E1492B-D990-1FF4-F8BA-66C119596A84}"/>
              </a:ext>
            </a:extLst>
          </p:cNvPr>
          <p:cNvSpPr/>
          <p:nvPr/>
        </p:nvSpPr>
        <p:spPr>
          <a:xfrm>
            <a:off x="8430353" y="2723164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74F8FD07-F3F9-2AE7-0177-8B69A5719C76}"/>
              </a:ext>
            </a:extLst>
          </p:cNvPr>
          <p:cNvSpPr/>
          <p:nvPr/>
        </p:nvSpPr>
        <p:spPr>
          <a:xfrm>
            <a:off x="8430353" y="3258737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B38AB0A4-F1B0-71C6-2394-A401E7591C01}"/>
              </a:ext>
            </a:extLst>
          </p:cNvPr>
          <p:cNvSpPr/>
          <p:nvPr/>
        </p:nvSpPr>
        <p:spPr>
          <a:xfrm>
            <a:off x="8430353" y="3797938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6A7375A7-4D95-BC03-D7D8-1F4033671E72}"/>
              </a:ext>
            </a:extLst>
          </p:cNvPr>
          <p:cNvCxnSpPr>
            <a:cxnSpLocks/>
            <a:stCxn id="6" idx="6"/>
            <a:endCxn id="21" idx="2"/>
          </p:cNvCxnSpPr>
          <p:nvPr/>
        </p:nvCxnSpPr>
        <p:spPr>
          <a:xfrm>
            <a:off x="7128789" y="2804670"/>
            <a:ext cx="1301564" cy="6515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5AEE9520-FBAE-FC9F-62CD-1CDC90A5E69D}"/>
              </a:ext>
            </a:extLst>
          </p:cNvPr>
          <p:cNvCxnSpPr>
            <a:cxnSpLocks/>
            <a:stCxn id="9" idx="6"/>
            <a:endCxn id="21" idx="2"/>
          </p:cNvCxnSpPr>
          <p:nvPr/>
        </p:nvCxnSpPr>
        <p:spPr>
          <a:xfrm>
            <a:off x="7128789" y="3343871"/>
            <a:ext cx="1301564" cy="1123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6AA2614F-4A33-EAF3-6B6F-0488A45EFC17}"/>
              </a:ext>
            </a:extLst>
          </p:cNvPr>
          <p:cNvCxnSpPr>
            <a:cxnSpLocks/>
            <a:stCxn id="15" idx="6"/>
            <a:endCxn id="21" idx="2"/>
          </p:cNvCxnSpPr>
          <p:nvPr/>
        </p:nvCxnSpPr>
        <p:spPr>
          <a:xfrm flipV="1">
            <a:off x="7128789" y="3456257"/>
            <a:ext cx="1301564" cy="9696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64AEE60C-E1C2-83F8-7706-E8080630C628}"/>
              </a:ext>
            </a:extLst>
          </p:cNvPr>
          <p:cNvCxnSpPr>
            <a:cxnSpLocks/>
            <a:stCxn id="16" idx="6"/>
            <a:endCxn id="21" idx="2"/>
          </p:cNvCxnSpPr>
          <p:nvPr/>
        </p:nvCxnSpPr>
        <p:spPr>
          <a:xfrm flipV="1">
            <a:off x="7128789" y="3456257"/>
            <a:ext cx="1301564" cy="15099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CB95013C-9784-99F3-2936-61566158C58D}"/>
              </a:ext>
            </a:extLst>
          </p:cNvPr>
          <p:cNvSpPr txBox="1"/>
          <p:nvPr/>
        </p:nvSpPr>
        <p:spPr>
          <a:xfrm>
            <a:off x="7318989" y="2540380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8953CB47-F9E6-8480-8B69-3C1E2D70492D}"/>
              </a:ext>
            </a:extLst>
          </p:cNvPr>
          <p:cNvSpPr txBox="1"/>
          <p:nvPr/>
        </p:nvSpPr>
        <p:spPr>
          <a:xfrm>
            <a:off x="7290135" y="30231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II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D7A05B85-C539-6500-43B9-8B0A75FF5560}"/>
              </a:ext>
            </a:extLst>
          </p:cNvPr>
          <p:cNvSpPr txBox="1"/>
          <p:nvPr/>
        </p:nvSpPr>
        <p:spPr>
          <a:xfrm>
            <a:off x="7261281" y="3866286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III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5D5D2C6F-70F5-6B40-DD97-0530AA9C360E}"/>
              </a:ext>
            </a:extLst>
          </p:cNvPr>
          <p:cNvSpPr txBox="1"/>
          <p:nvPr/>
        </p:nvSpPr>
        <p:spPr>
          <a:xfrm>
            <a:off x="7261281" y="425408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38324950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93373-FDEE-5DB1-B275-0965A0C10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7F6629-1631-5C0F-2609-28067EE40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US" dirty="0"/>
              <a:t>Parameter Sharing 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3294595B-3446-C96D-DBE6-2D718ECC2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306014"/>
              </p:ext>
            </p:extLst>
          </p:nvPr>
        </p:nvGraphicFramePr>
        <p:xfrm>
          <a:off x="357436" y="2872740"/>
          <a:ext cx="187898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1554207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937203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8ECC4C29-28E2-DD8F-6BE9-41F654F6902F}"/>
              </a:ext>
            </a:extLst>
          </p:cNvPr>
          <p:cNvSpPr txBox="1"/>
          <p:nvPr/>
        </p:nvSpPr>
        <p:spPr>
          <a:xfrm>
            <a:off x="917017" y="2374227"/>
            <a:ext cx="759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6AC17976-D894-E1A6-B08E-826F8503D31A}"/>
              </a:ext>
            </a:extLst>
          </p:cNvPr>
          <p:cNvGraphicFramePr>
            <a:graphicFrameLocks noGrp="1"/>
          </p:cNvGraphicFramePr>
          <p:nvPr/>
        </p:nvGraphicFramePr>
        <p:xfrm>
          <a:off x="2845412" y="3058160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D27E8C3-65B7-C779-4778-AAA8DBDF3719}"/>
              </a:ext>
            </a:extLst>
          </p:cNvPr>
          <p:cNvSpPr txBox="1"/>
          <p:nvPr/>
        </p:nvSpPr>
        <p:spPr>
          <a:xfrm>
            <a:off x="3091829" y="2374227"/>
            <a:ext cx="78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BA8FC63-D6F4-7F7B-0ABF-D8B255A7B47C}"/>
              </a:ext>
            </a:extLst>
          </p:cNvPr>
          <p:cNvSpPr txBox="1"/>
          <p:nvPr/>
        </p:nvSpPr>
        <p:spPr>
          <a:xfrm>
            <a:off x="4900035" y="237422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7393ED75-0346-95B8-E3B1-C8C142D2AD37}"/>
              </a:ext>
            </a:extLst>
          </p:cNvPr>
          <p:cNvGraphicFramePr>
            <a:graphicFrameLocks noGrp="1"/>
          </p:cNvGraphicFramePr>
          <p:nvPr/>
        </p:nvGraphicFramePr>
        <p:xfrm>
          <a:off x="4707059" y="3056258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grpSp>
        <p:nvGrpSpPr>
          <p:cNvPr id="18" name="Gruppo 17">
            <a:extLst>
              <a:ext uri="{FF2B5EF4-FFF2-40B4-BE49-F238E27FC236}">
                <a16:creationId xmlns:a16="http://schemas.microsoft.com/office/drawing/2014/main" id="{44B6839C-C72D-A908-C6FD-3D8387F2846B}"/>
              </a:ext>
            </a:extLst>
          </p:cNvPr>
          <p:cNvGrpSpPr/>
          <p:nvPr/>
        </p:nvGrpSpPr>
        <p:grpSpPr>
          <a:xfrm>
            <a:off x="6721165" y="993087"/>
            <a:ext cx="407624" cy="4711044"/>
            <a:chOff x="6841475" y="365125"/>
            <a:chExt cx="407624" cy="4711044"/>
          </a:xfrm>
        </p:grpSpPr>
        <p:sp>
          <p:nvSpPr>
            <p:cNvPr id="3" name="Ovale 2">
              <a:extLst>
                <a:ext uri="{FF2B5EF4-FFF2-40B4-BE49-F238E27FC236}">
                  <a16:creationId xmlns:a16="http://schemas.microsoft.com/office/drawing/2014/main" id="{C6EC0411-84DE-537E-EF3B-45FCC3460018}"/>
                </a:ext>
              </a:extLst>
            </p:cNvPr>
            <p:cNvSpPr/>
            <p:nvPr/>
          </p:nvSpPr>
          <p:spPr>
            <a:xfrm>
              <a:off x="6841475" y="365125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" name="Ovale 3">
              <a:extLst>
                <a:ext uri="{FF2B5EF4-FFF2-40B4-BE49-F238E27FC236}">
                  <a16:creationId xmlns:a16="http://schemas.microsoft.com/office/drawing/2014/main" id="{6C7BDF19-2DA5-F180-12E7-B0E3AD9A071D}"/>
                </a:ext>
              </a:extLst>
            </p:cNvPr>
            <p:cNvSpPr/>
            <p:nvPr/>
          </p:nvSpPr>
          <p:spPr>
            <a:xfrm>
              <a:off x="6841475" y="90441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716988A5-4FA1-E5B9-6BD1-133070EBA89C}"/>
                </a:ext>
              </a:extLst>
            </p:cNvPr>
            <p:cNvSpPr/>
            <p:nvPr/>
          </p:nvSpPr>
          <p:spPr>
            <a:xfrm>
              <a:off x="6841475" y="1439987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2D291925-E154-EA8D-AB99-D1FE9758F599}"/>
                </a:ext>
              </a:extLst>
            </p:cNvPr>
            <p:cNvSpPr/>
            <p:nvPr/>
          </p:nvSpPr>
          <p:spPr>
            <a:xfrm>
              <a:off x="6841475" y="197918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1C1C9DCD-1671-2490-68F0-46365BA4F659}"/>
                </a:ext>
              </a:extLst>
            </p:cNvPr>
            <p:cNvSpPr/>
            <p:nvPr/>
          </p:nvSpPr>
          <p:spPr>
            <a:xfrm>
              <a:off x="6841475" y="2518389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819607E0-6BDD-3321-9AED-49F44E59CD81}"/>
                </a:ext>
              </a:extLst>
            </p:cNvPr>
            <p:cNvSpPr/>
            <p:nvPr/>
          </p:nvSpPr>
          <p:spPr>
            <a:xfrm>
              <a:off x="6841475" y="3060062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id="{630629BA-AE70-D7D2-A767-D938F5726757}"/>
                </a:ext>
              </a:extLst>
            </p:cNvPr>
            <p:cNvSpPr/>
            <p:nvPr/>
          </p:nvSpPr>
          <p:spPr>
            <a:xfrm>
              <a:off x="6841475" y="360041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F84AFEC1-F590-A7CC-A70A-62F351D011B2}"/>
                </a:ext>
              </a:extLst>
            </p:cNvPr>
            <p:cNvSpPr/>
            <p:nvPr/>
          </p:nvSpPr>
          <p:spPr>
            <a:xfrm>
              <a:off x="6841475" y="414077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ECE11489-6807-2680-C06E-95FBAAD8B383}"/>
                </a:ext>
              </a:extLst>
            </p:cNvPr>
            <p:cNvSpPr/>
            <p:nvPr/>
          </p:nvSpPr>
          <p:spPr>
            <a:xfrm>
              <a:off x="6841475" y="4681130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</p:grpSp>
      <p:sp>
        <p:nvSpPr>
          <p:cNvPr id="19" name="Ovale 18">
            <a:extLst>
              <a:ext uri="{FF2B5EF4-FFF2-40B4-BE49-F238E27FC236}">
                <a16:creationId xmlns:a16="http://schemas.microsoft.com/office/drawing/2014/main" id="{EE99ADAA-2065-8E95-B807-7220705C73DD}"/>
              </a:ext>
            </a:extLst>
          </p:cNvPr>
          <p:cNvSpPr/>
          <p:nvPr/>
        </p:nvSpPr>
        <p:spPr>
          <a:xfrm>
            <a:off x="8430353" y="2183875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64AE812B-8848-A0F8-D7DD-F9AC7E1BA73C}"/>
              </a:ext>
            </a:extLst>
          </p:cNvPr>
          <p:cNvSpPr/>
          <p:nvPr/>
        </p:nvSpPr>
        <p:spPr>
          <a:xfrm>
            <a:off x="8430353" y="2723164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077B3B2D-CA01-767A-F815-EDAD0239948D}"/>
              </a:ext>
            </a:extLst>
          </p:cNvPr>
          <p:cNvSpPr/>
          <p:nvPr/>
        </p:nvSpPr>
        <p:spPr>
          <a:xfrm>
            <a:off x="8430353" y="3258737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67AA5BDC-4B6D-3568-5CFB-8780B6E6160B}"/>
              </a:ext>
            </a:extLst>
          </p:cNvPr>
          <p:cNvSpPr/>
          <p:nvPr/>
        </p:nvSpPr>
        <p:spPr>
          <a:xfrm>
            <a:off x="8430353" y="3797938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E6AFD640-CF1E-D77A-6E22-9459EA501C01}"/>
              </a:ext>
            </a:extLst>
          </p:cNvPr>
          <p:cNvCxnSpPr>
            <a:cxnSpLocks/>
            <a:stCxn id="9" idx="6"/>
            <a:endCxn id="22" idx="2"/>
          </p:cNvCxnSpPr>
          <p:nvPr/>
        </p:nvCxnSpPr>
        <p:spPr>
          <a:xfrm>
            <a:off x="7128789" y="3343871"/>
            <a:ext cx="1301564" cy="6515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48FE0A18-C86D-68E7-FF9D-8F569DE54F89}"/>
              </a:ext>
            </a:extLst>
          </p:cNvPr>
          <p:cNvCxnSpPr>
            <a:cxnSpLocks/>
            <a:stCxn id="14" idx="6"/>
            <a:endCxn id="22" idx="2"/>
          </p:cNvCxnSpPr>
          <p:nvPr/>
        </p:nvCxnSpPr>
        <p:spPr>
          <a:xfrm>
            <a:off x="7128789" y="3885544"/>
            <a:ext cx="1301564" cy="1099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55CC4689-E5DD-C7F3-3498-F86F79DA81A1}"/>
              </a:ext>
            </a:extLst>
          </p:cNvPr>
          <p:cNvCxnSpPr>
            <a:cxnSpLocks/>
            <a:stCxn id="16" idx="6"/>
            <a:endCxn id="22" idx="2"/>
          </p:cNvCxnSpPr>
          <p:nvPr/>
        </p:nvCxnSpPr>
        <p:spPr>
          <a:xfrm flipV="1">
            <a:off x="7128789" y="3995458"/>
            <a:ext cx="1301564" cy="970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5B055283-A28F-D2C9-82EE-1C7E16F7B631}"/>
              </a:ext>
            </a:extLst>
          </p:cNvPr>
          <p:cNvCxnSpPr>
            <a:cxnSpLocks/>
            <a:stCxn id="17" idx="6"/>
            <a:endCxn id="22" idx="2"/>
          </p:cNvCxnSpPr>
          <p:nvPr/>
        </p:nvCxnSpPr>
        <p:spPr>
          <a:xfrm flipV="1">
            <a:off x="7128789" y="3995458"/>
            <a:ext cx="1301564" cy="15111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18585F25-7DC1-373E-5C97-7A4BC93FE5D6}"/>
              </a:ext>
            </a:extLst>
          </p:cNvPr>
          <p:cNvSpPr txBox="1"/>
          <p:nvPr/>
        </p:nvSpPr>
        <p:spPr>
          <a:xfrm>
            <a:off x="7276549" y="3067883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5BBD2E72-D93E-EEAC-2073-56E6A7AEA460}"/>
              </a:ext>
            </a:extLst>
          </p:cNvPr>
          <p:cNvSpPr txBox="1"/>
          <p:nvPr/>
        </p:nvSpPr>
        <p:spPr>
          <a:xfrm>
            <a:off x="7247695" y="355068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II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4570E22D-97F5-34ED-4FE1-4B752AB8B5DC}"/>
              </a:ext>
            </a:extLst>
          </p:cNvPr>
          <p:cNvSpPr txBox="1"/>
          <p:nvPr/>
        </p:nvSpPr>
        <p:spPr>
          <a:xfrm>
            <a:off x="7218841" y="4393789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III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DA3FD189-9E2A-38B5-9ECD-401969D23FD5}"/>
              </a:ext>
            </a:extLst>
          </p:cNvPr>
          <p:cNvSpPr txBox="1"/>
          <p:nvPr/>
        </p:nvSpPr>
        <p:spPr>
          <a:xfrm>
            <a:off x="7218841" y="478159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2581009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8A645-D24D-FBD7-CBE4-549D4E604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93835B-32AD-B888-7663-A8FC434E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US" dirty="0"/>
              <a:t>Parameter Sharing 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89D14C05-00AF-B542-A444-3B17938E0B59}"/>
              </a:ext>
            </a:extLst>
          </p:cNvPr>
          <p:cNvGraphicFramePr>
            <a:graphicFrameLocks noGrp="1"/>
          </p:cNvGraphicFramePr>
          <p:nvPr/>
        </p:nvGraphicFramePr>
        <p:xfrm>
          <a:off x="357436" y="2872740"/>
          <a:ext cx="187898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1554207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937203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C9F27249-A398-2755-22E9-D38793B52185}"/>
              </a:ext>
            </a:extLst>
          </p:cNvPr>
          <p:cNvSpPr txBox="1"/>
          <p:nvPr/>
        </p:nvSpPr>
        <p:spPr>
          <a:xfrm>
            <a:off x="917017" y="2374227"/>
            <a:ext cx="759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2B589FA9-A87D-CEDE-C187-E35812BF6F69}"/>
              </a:ext>
            </a:extLst>
          </p:cNvPr>
          <p:cNvGraphicFramePr>
            <a:graphicFrameLocks noGrp="1"/>
          </p:cNvGraphicFramePr>
          <p:nvPr/>
        </p:nvGraphicFramePr>
        <p:xfrm>
          <a:off x="2845412" y="3058160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475B37D-CC2A-7CAB-0765-B7CE160D05E1}"/>
              </a:ext>
            </a:extLst>
          </p:cNvPr>
          <p:cNvSpPr txBox="1"/>
          <p:nvPr/>
        </p:nvSpPr>
        <p:spPr>
          <a:xfrm>
            <a:off x="3091829" y="2374227"/>
            <a:ext cx="78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6996FA1-5492-16CD-F9AA-DE3B461299ED}"/>
              </a:ext>
            </a:extLst>
          </p:cNvPr>
          <p:cNvSpPr txBox="1"/>
          <p:nvPr/>
        </p:nvSpPr>
        <p:spPr>
          <a:xfrm>
            <a:off x="4900035" y="237422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D758DA0C-9754-48ED-D5BA-670429D21223}"/>
              </a:ext>
            </a:extLst>
          </p:cNvPr>
          <p:cNvGraphicFramePr>
            <a:graphicFrameLocks noGrp="1"/>
          </p:cNvGraphicFramePr>
          <p:nvPr/>
        </p:nvGraphicFramePr>
        <p:xfrm>
          <a:off x="4707059" y="3056258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grpSp>
        <p:nvGrpSpPr>
          <p:cNvPr id="18" name="Gruppo 17">
            <a:extLst>
              <a:ext uri="{FF2B5EF4-FFF2-40B4-BE49-F238E27FC236}">
                <a16:creationId xmlns:a16="http://schemas.microsoft.com/office/drawing/2014/main" id="{BA98A25E-D9A2-AF77-367B-F43231F62857}"/>
              </a:ext>
            </a:extLst>
          </p:cNvPr>
          <p:cNvGrpSpPr/>
          <p:nvPr/>
        </p:nvGrpSpPr>
        <p:grpSpPr>
          <a:xfrm>
            <a:off x="6721165" y="993087"/>
            <a:ext cx="407624" cy="4711044"/>
            <a:chOff x="6841475" y="365125"/>
            <a:chExt cx="407624" cy="4711044"/>
          </a:xfrm>
        </p:grpSpPr>
        <p:sp>
          <p:nvSpPr>
            <p:cNvPr id="3" name="Ovale 2">
              <a:extLst>
                <a:ext uri="{FF2B5EF4-FFF2-40B4-BE49-F238E27FC236}">
                  <a16:creationId xmlns:a16="http://schemas.microsoft.com/office/drawing/2014/main" id="{BD58A022-A69B-099D-51D6-554B2516A483}"/>
                </a:ext>
              </a:extLst>
            </p:cNvPr>
            <p:cNvSpPr/>
            <p:nvPr/>
          </p:nvSpPr>
          <p:spPr>
            <a:xfrm>
              <a:off x="6841475" y="365125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" name="Ovale 3">
              <a:extLst>
                <a:ext uri="{FF2B5EF4-FFF2-40B4-BE49-F238E27FC236}">
                  <a16:creationId xmlns:a16="http://schemas.microsoft.com/office/drawing/2014/main" id="{4AB0EDAB-4E16-EDD1-0AA5-62F08361DA2D}"/>
                </a:ext>
              </a:extLst>
            </p:cNvPr>
            <p:cNvSpPr/>
            <p:nvPr/>
          </p:nvSpPr>
          <p:spPr>
            <a:xfrm>
              <a:off x="6841475" y="90441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5CF04718-D8BD-7241-137E-08C5E575FC46}"/>
                </a:ext>
              </a:extLst>
            </p:cNvPr>
            <p:cNvSpPr/>
            <p:nvPr/>
          </p:nvSpPr>
          <p:spPr>
            <a:xfrm>
              <a:off x="6841475" y="1439987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0A60BE5A-6719-350A-C5E3-6FE77D1550E2}"/>
                </a:ext>
              </a:extLst>
            </p:cNvPr>
            <p:cNvSpPr/>
            <p:nvPr/>
          </p:nvSpPr>
          <p:spPr>
            <a:xfrm>
              <a:off x="6841475" y="197918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DED9F6EA-3E2C-1309-C4D9-2D41235C56C1}"/>
                </a:ext>
              </a:extLst>
            </p:cNvPr>
            <p:cNvSpPr/>
            <p:nvPr/>
          </p:nvSpPr>
          <p:spPr>
            <a:xfrm>
              <a:off x="6841475" y="2518389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31AF8BB9-7F82-663F-48A4-545044A80E37}"/>
                </a:ext>
              </a:extLst>
            </p:cNvPr>
            <p:cNvSpPr/>
            <p:nvPr/>
          </p:nvSpPr>
          <p:spPr>
            <a:xfrm>
              <a:off x="6841475" y="3060062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id="{14A56459-0F67-0764-D84B-EA553F0A5218}"/>
                </a:ext>
              </a:extLst>
            </p:cNvPr>
            <p:cNvSpPr/>
            <p:nvPr/>
          </p:nvSpPr>
          <p:spPr>
            <a:xfrm>
              <a:off x="6841475" y="360041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70BAC18A-BF28-4064-7F8D-9C6B220A529D}"/>
                </a:ext>
              </a:extLst>
            </p:cNvPr>
            <p:cNvSpPr/>
            <p:nvPr/>
          </p:nvSpPr>
          <p:spPr>
            <a:xfrm>
              <a:off x="6841475" y="414077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75A51BD8-92F7-A822-9A7E-FBA4A5B98245}"/>
                </a:ext>
              </a:extLst>
            </p:cNvPr>
            <p:cNvSpPr/>
            <p:nvPr/>
          </p:nvSpPr>
          <p:spPr>
            <a:xfrm>
              <a:off x="6841475" y="4681130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</p:grpSp>
      <p:sp>
        <p:nvSpPr>
          <p:cNvPr id="19" name="Ovale 18">
            <a:extLst>
              <a:ext uri="{FF2B5EF4-FFF2-40B4-BE49-F238E27FC236}">
                <a16:creationId xmlns:a16="http://schemas.microsoft.com/office/drawing/2014/main" id="{6ED1A3C7-EA90-E6E6-ACC1-C598AC75005B}"/>
              </a:ext>
            </a:extLst>
          </p:cNvPr>
          <p:cNvSpPr/>
          <p:nvPr/>
        </p:nvSpPr>
        <p:spPr>
          <a:xfrm>
            <a:off x="8430353" y="2183875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FF5FE8F8-8545-D5B7-266C-F017BF7B6119}"/>
              </a:ext>
            </a:extLst>
          </p:cNvPr>
          <p:cNvSpPr/>
          <p:nvPr/>
        </p:nvSpPr>
        <p:spPr>
          <a:xfrm>
            <a:off x="8430353" y="2723164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BA5068A2-D89F-4821-A345-55B3EAE0A060}"/>
              </a:ext>
            </a:extLst>
          </p:cNvPr>
          <p:cNvSpPr/>
          <p:nvPr/>
        </p:nvSpPr>
        <p:spPr>
          <a:xfrm>
            <a:off x="8430353" y="3258737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9E75D480-8A27-B211-EB67-7E6A911CFD9D}"/>
              </a:ext>
            </a:extLst>
          </p:cNvPr>
          <p:cNvSpPr/>
          <p:nvPr/>
        </p:nvSpPr>
        <p:spPr>
          <a:xfrm>
            <a:off x="8430353" y="3797938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0DCE5B00-42BB-E487-DB03-5A84F8246E25}"/>
              </a:ext>
            </a:extLst>
          </p:cNvPr>
          <p:cNvCxnSpPr>
            <a:cxnSpLocks/>
          </p:cNvCxnSpPr>
          <p:nvPr/>
        </p:nvCxnSpPr>
        <p:spPr>
          <a:xfrm>
            <a:off x="7128789" y="3343871"/>
            <a:ext cx="1301564" cy="6515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359BB9A4-424C-3219-93FF-2DD4FAE18528}"/>
              </a:ext>
            </a:extLst>
          </p:cNvPr>
          <p:cNvCxnSpPr>
            <a:cxnSpLocks/>
          </p:cNvCxnSpPr>
          <p:nvPr/>
        </p:nvCxnSpPr>
        <p:spPr>
          <a:xfrm>
            <a:off x="7128789" y="3885544"/>
            <a:ext cx="1301564" cy="1099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732AE56B-36CA-A48A-43FA-EF792CFDCB71}"/>
              </a:ext>
            </a:extLst>
          </p:cNvPr>
          <p:cNvCxnSpPr>
            <a:cxnSpLocks/>
          </p:cNvCxnSpPr>
          <p:nvPr/>
        </p:nvCxnSpPr>
        <p:spPr>
          <a:xfrm flipV="1">
            <a:off x="7128789" y="3995458"/>
            <a:ext cx="1301564" cy="970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73DCBB90-F6C6-2230-10E3-54A72861F22C}"/>
              </a:ext>
            </a:extLst>
          </p:cNvPr>
          <p:cNvCxnSpPr>
            <a:cxnSpLocks/>
          </p:cNvCxnSpPr>
          <p:nvPr/>
        </p:nvCxnSpPr>
        <p:spPr>
          <a:xfrm flipV="1">
            <a:off x="7128789" y="3995458"/>
            <a:ext cx="1301564" cy="15111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0CB0131D-4E8F-4283-DF92-3864195AA2E9}"/>
              </a:ext>
            </a:extLst>
          </p:cNvPr>
          <p:cNvCxnSpPr>
            <a:cxnSpLocks/>
          </p:cNvCxnSpPr>
          <p:nvPr/>
        </p:nvCxnSpPr>
        <p:spPr>
          <a:xfrm>
            <a:off x="7128789" y="2804670"/>
            <a:ext cx="1301564" cy="6515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E2C37FF2-5407-7A6B-1798-ADAC90C720DC}"/>
              </a:ext>
            </a:extLst>
          </p:cNvPr>
          <p:cNvCxnSpPr>
            <a:cxnSpLocks/>
          </p:cNvCxnSpPr>
          <p:nvPr/>
        </p:nvCxnSpPr>
        <p:spPr>
          <a:xfrm>
            <a:off x="7128789" y="3343871"/>
            <a:ext cx="1301564" cy="1123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43CE05F7-5B8A-A595-2F03-2F0E9419BB28}"/>
              </a:ext>
            </a:extLst>
          </p:cNvPr>
          <p:cNvCxnSpPr>
            <a:cxnSpLocks/>
          </p:cNvCxnSpPr>
          <p:nvPr/>
        </p:nvCxnSpPr>
        <p:spPr>
          <a:xfrm flipV="1">
            <a:off x="7128789" y="3456257"/>
            <a:ext cx="1301564" cy="9696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5809DD2D-8798-90A1-6C75-E0C017E8CDA0}"/>
              </a:ext>
            </a:extLst>
          </p:cNvPr>
          <p:cNvCxnSpPr>
            <a:cxnSpLocks/>
          </p:cNvCxnSpPr>
          <p:nvPr/>
        </p:nvCxnSpPr>
        <p:spPr>
          <a:xfrm flipV="1">
            <a:off x="7128789" y="3456257"/>
            <a:ext cx="1301564" cy="15099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19C72CFC-7AE1-D871-D473-7599F06A3739}"/>
              </a:ext>
            </a:extLst>
          </p:cNvPr>
          <p:cNvCxnSpPr>
            <a:cxnSpLocks/>
          </p:cNvCxnSpPr>
          <p:nvPr/>
        </p:nvCxnSpPr>
        <p:spPr>
          <a:xfrm>
            <a:off x="7128789" y="1729896"/>
            <a:ext cx="1301564" cy="11907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1A4500E6-AC85-002F-2CA3-D1EBFDFACB3D}"/>
              </a:ext>
            </a:extLst>
          </p:cNvPr>
          <p:cNvCxnSpPr>
            <a:cxnSpLocks/>
          </p:cNvCxnSpPr>
          <p:nvPr/>
        </p:nvCxnSpPr>
        <p:spPr>
          <a:xfrm>
            <a:off x="7128789" y="2265469"/>
            <a:ext cx="1301564" cy="6552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0E302C54-D50A-4C18-99FA-2940DE97EEAE}"/>
              </a:ext>
            </a:extLst>
          </p:cNvPr>
          <p:cNvCxnSpPr>
            <a:cxnSpLocks/>
          </p:cNvCxnSpPr>
          <p:nvPr/>
        </p:nvCxnSpPr>
        <p:spPr>
          <a:xfrm flipV="1">
            <a:off x="7128789" y="2920684"/>
            <a:ext cx="1301564" cy="4231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E7D97AE0-9C46-0B33-894D-EC06348072A6}"/>
              </a:ext>
            </a:extLst>
          </p:cNvPr>
          <p:cNvCxnSpPr>
            <a:cxnSpLocks/>
          </p:cNvCxnSpPr>
          <p:nvPr/>
        </p:nvCxnSpPr>
        <p:spPr>
          <a:xfrm flipV="1">
            <a:off x="7128789" y="2920684"/>
            <a:ext cx="1301564" cy="9648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D1C0365D-EC5F-5D84-390F-0D362C4E3C1A}"/>
              </a:ext>
            </a:extLst>
          </p:cNvPr>
          <p:cNvCxnSpPr/>
          <p:nvPr/>
        </p:nvCxnSpPr>
        <p:spPr>
          <a:xfrm>
            <a:off x="7128789" y="1190607"/>
            <a:ext cx="1301564" cy="11907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55A6426E-C263-2DE9-B206-FE530BAC1C7F}"/>
              </a:ext>
            </a:extLst>
          </p:cNvPr>
          <p:cNvCxnSpPr>
            <a:cxnSpLocks/>
          </p:cNvCxnSpPr>
          <p:nvPr/>
        </p:nvCxnSpPr>
        <p:spPr>
          <a:xfrm>
            <a:off x="7128789" y="1729896"/>
            <a:ext cx="1301564" cy="6514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E2049C3B-FB96-8E08-EDB2-15A40383FA81}"/>
              </a:ext>
            </a:extLst>
          </p:cNvPr>
          <p:cNvCxnSpPr>
            <a:cxnSpLocks/>
          </p:cNvCxnSpPr>
          <p:nvPr/>
        </p:nvCxnSpPr>
        <p:spPr>
          <a:xfrm flipV="1">
            <a:off x="7128789" y="2381395"/>
            <a:ext cx="1301564" cy="4232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B6472D91-49C0-E7A1-A3C2-DF3B7BD8F1CB}"/>
              </a:ext>
            </a:extLst>
          </p:cNvPr>
          <p:cNvCxnSpPr>
            <a:cxnSpLocks/>
          </p:cNvCxnSpPr>
          <p:nvPr/>
        </p:nvCxnSpPr>
        <p:spPr>
          <a:xfrm flipV="1">
            <a:off x="7128789" y="2381395"/>
            <a:ext cx="1301564" cy="9624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93115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B4510D-498D-2741-B851-F9E13B78D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Pooling Layer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1CC647-1475-2747-A751-92FA05F4B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Makes the representations smaller and more manageable</a:t>
            </a:r>
          </a:p>
          <a:p>
            <a:r>
              <a:rPr lang="en-US" noProof="0" dirty="0"/>
              <a:t>Operates over each activation map independently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058DA66-7AAC-0E43-8324-00B3992ED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324" y="2863627"/>
            <a:ext cx="4858349" cy="368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1590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999A74-958F-8E47-80BE-83AC6E38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MaxPooling</a:t>
            </a:r>
            <a:r>
              <a:rPr lang="en-US" noProof="0" dirty="0"/>
              <a:t> and </a:t>
            </a:r>
            <a:r>
              <a:rPr lang="en-US" noProof="0" dirty="0" err="1"/>
              <a:t>AvgPoling</a:t>
            </a:r>
            <a:endParaRPr lang="en-US" noProof="0" dirty="0"/>
          </a:p>
        </p:txBody>
      </p:sp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821BCF9B-AC4F-2F49-9E7C-E435333A18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6201" y="1690688"/>
            <a:ext cx="6519597" cy="4802187"/>
          </a:xfrm>
        </p:spPr>
      </p:pic>
    </p:spTree>
    <p:extLst>
      <p:ext uri="{BB962C8B-B14F-4D97-AF65-F5344CB8AC3E}">
        <p14:creationId xmlns:p14="http://schemas.microsoft.com/office/powerpoint/2010/main" val="13974046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5E64EE-AF77-6643-ABAB-772BFE80B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Pooling Summary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D3E9B267-E8C9-E04D-8767-B0ADDD2823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00" y="1865547"/>
            <a:ext cx="9125554" cy="4483737"/>
          </a:xfrm>
        </p:spPr>
      </p:pic>
    </p:spTree>
    <p:extLst>
      <p:ext uri="{BB962C8B-B14F-4D97-AF65-F5344CB8AC3E}">
        <p14:creationId xmlns:p14="http://schemas.microsoft.com/office/powerpoint/2010/main" val="6580628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3C9C61-FF7E-2B44-B9EC-B7353366E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 of CNN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6FA5BCD0-BB09-2B4D-84BB-AFBDCC233E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4835" y="1690688"/>
            <a:ext cx="9202329" cy="4925821"/>
          </a:xfrm>
        </p:spPr>
      </p:pic>
    </p:spTree>
    <p:extLst>
      <p:ext uri="{BB962C8B-B14F-4D97-AF65-F5344CB8AC3E}">
        <p14:creationId xmlns:p14="http://schemas.microsoft.com/office/powerpoint/2010/main" val="35331993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CD76CE-C78A-07FF-50B1-696EFCDF8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 of CNN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08B7BD-553B-622C-AB16-E72D7EA22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EACE292-9DC0-22FA-124C-0B4B3102B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17" y="1560060"/>
            <a:ext cx="10528683" cy="505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0626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7FF0325-B3FE-67AA-AAEB-C84F587A7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9653"/>
            <a:ext cx="10515600" cy="2600357"/>
          </a:xfrm>
        </p:spPr>
        <p:txBody>
          <a:bodyPr>
            <a:normAutofit lnSpcReduction="10000"/>
          </a:bodyPr>
          <a:lstStyle/>
          <a:p>
            <a:r>
              <a:rPr lang="it-IT" sz="2400" dirty="0">
                <a:effectLst/>
                <a:latin typeface="ArialMT"/>
              </a:rPr>
              <a:t>Input: 227x227x3 images </a:t>
            </a:r>
            <a:endParaRPr lang="it-IT" sz="2400" dirty="0">
              <a:effectLst/>
            </a:endParaRPr>
          </a:p>
          <a:p>
            <a:r>
              <a:rPr lang="it-IT" sz="2400" b="1" dirty="0">
                <a:effectLst/>
                <a:latin typeface="Arial" panose="020B0604020202020204" pitchFamily="34" charset="0"/>
              </a:rPr>
              <a:t>First </a:t>
            </a:r>
            <a:r>
              <a:rPr lang="it-IT" sz="2400" b="1" dirty="0" err="1">
                <a:effectLst/>
                <a:latin typeface="Arial" panose="020B0604020202020204" pitchFamily="34" charset="0"/>
              </a:rPr>
              <a:t>layer</a:t>
            </a:r>
            <a:r>
              <a:rPr lang="it-IT" sz="2400" b="1" dirty="0">
                <a:effectLst/>
                <a:latin typeface="Arial" panose="020B0604020202020204" pitchFamily="34" charset="0"/>
              </a:rPr>
              <a:t> </a:t>
            </a:r>
            <a:r>
              <a:rPr lang="it-IT" sz="2400" dirty="0">
                <a:effectLst/>
                <a:latin typeface="ArialMT"/>
              </a:rPr>
              <a:t>(CONV1): 96 11x11 filters </a:t>
            </a:r>
            <a:r>
              <a:rPr lang="it-IT" sz="2400" dirty="0" err="1">
                <a:effectLst/>
                <a:latin typeface="ArialMT"/>
              </a:rPr>
              <a:t>applied</a:t>
            </a:r>
            <a:r>
              <a:rPr lang="it-IT" sz="2400" dirty="0">
                <a:effectLst/>
                <a:latin typeface="ArialMT"/>
              </a:rPr>
              <a:t> </a:t>
            </a:r>
            <a:r>
              <a:rPr lang="it-IT" sz="2400" dirty="0" err="1">
                <a:effectLst/>
                <a:latin typeface="ArialMT"/>
              </a:rPr>
              <a:t>at</a:t>
            </a:r>
            <a:r>
              <a:rPr lang="it-IT" sz="2400" dirty="0">
                <a:effectLst/>
                <a:latin typeface="ArialMT"/>
              </a:rPr>
              <a:t> stride 4 </a:t>
            </a:r>
            <a:endParaRPr lang="it-IT" sz="2400" dirty="0">
              <a:effectLst/>
            </a:endParaRPr>
          </a:p>
          <a:p>
            <a:r>
              <a:rPr lang="en-US" sz="2400" dirty="0"/>
              <a:t>Output volume size?  </a:t>
            </a:r>
          </a:p>
          <a:p>
            <a:r>
              <a:rPr lang="en-US" sz="2400" dirty="0"/>
              <a:t>(227 -11)/4+1 = 226/4 + 1 = 55 Output :[55x55x96]</a:t>
            </a:r>
          </a:p>
          <a:p>
            <a:r>
              <a:rPr lang="en-US" sz="2400" dirty="0"/>
              <a:t>Total number of parameters? </a:t>
            </a:r>
          </a:p>
          <a:p>
            <a:r>
              <a:rPr lang="it-IT" sz="2400" dirty="0"/>
              <a:t>(11*11*3)*96 = 35K </a:t>
            </a:r>
            <a:endParaRPr lang="it-IT" sz="2400" dirty="0">
              <a:effectLst/>
            </a:endParaRPr>
          </a:p>
          <a:p>
            <a:endParaRPr lang="en-US" sz="2400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718316A2-2924-1F20-B827-E38412802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AlexNet</a:t>
            </a:r>
            <a:r>
              <a:rPr lang="en-US" dirty="0"/>
              <a:t> </a:t>
            </a:r>
            <a:r>
              <a:rPr lang="it-IT" sz="1800" i="1" dirty="0">
                <a:effectLst/>
                <a:latin typeface="Arial" panose="020B0604020202020204" pitchFamily="34" charset="0"/>
              </a:rPr>
              <a:t>[</a:t>
            </a:r>
            <a:r>
              <a:rPr lang="it-IT" sz="1800" i="1" dirty="0" err="1">
                <a:effectLst/>
                <a:latin typeface="Arial" panose="020B0604020202020204" pitchFamily="34" charset="0"/>
              </a:rPr>
              <a:t>Krizhevsky</a:t>
            </a:r>
            <a:r>
              <a:rPr lang="it-IT" sz="1800" i="1" dirty="0">
                <a:effectLst/>
                <a:latin typeface="Arial" panose="020B0604020202020204" pitchFamily="34" charset="0"/>
              </a:rPr>
              <a:t> et al. 2012] </a:t>
            </a:r>
            <a:endParaRPr lang="en-US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33D1A382-4963-4E8F-7F75-DA102ABFD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754" y="0"/>
            <a:ext cx="6843246" cy="223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42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936EDA42-E00F-53F0-5EB9-C1CE29B17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9653"/>
            <a:ext cx="10515600" cy="2600357"/>
          </a:xfrm>
        </p:spPr>
        <p:txBody>
          <a:bodyPr>
            <a:normAutofit lnSpcReduction="10000"/>
          </a:bodyPr>
          <a:lstStyle/>
          <a:p>
            <a:r>
              <a:rPr lang="it-IT" sz="2400" dirty="0"/>
              <a:t>Input: 227x227x3 images After CONV1: 55x55x96 </a:t>
            </a:r>
            <a:endParaRPr lang="it-IT" sz="2400" dirty="0">
              <a:effectLst/>
            </a:endParaRPr>
          </a:p>
          <a:p>
            <a:r>
              <a:rPr lang="it-IT" sz="2400" b="1" dirty="0"/>
              <a:t>Second </a:t>
            </a:r>
            <a:r>
              <a:rPr lang="it-IT" sz="2400" b="1" dirty="0" err="1"/>
              <a:t>layer</a:t>
            </a:r>
            <a:r>
              <a:rPr lang="it-IT" sz="2400" b="1" dirty="0"/>
              <a:t> </a:t>
            </a:r>
            <a:r>
              <a:rPr lang="it-IT" sz="2400" dirty="0"/>
              <a:t>(POOL1): 3x3 filters </a:t>
            </a:r>
            <a:r>
              <a:rPr lang="it-IT" sz="2400" dirty="0" err="1"/>
              <a:t>applied</a:t>
            </a:r>
            <a:r>
              <a:rPr lang="it-IT" sz="2400" dirty="0"/>
              <a:t> </a:t>
            </a:r>
            <a:r>
              <a:rPr lang="it-IT" sz="2400" dirty="0" err="1"/>
              <a:t>at</a:t>
            </a:r>
            <a:r>
              <a:rPr lang="it-IT" sz="2400" dirty="0"/>
              <a:t> stride 2 </a:t>
            </a:r>
            <a:endParaRPr lang="it-IT" sz="2400" dirty="0">
              <a:effectLst/>
            </a:endParaRPr>
          </a:p>
          <a:p>
            <a:r>
              <a:rPr lang="en-US" sz="2400" dirty="0"/>
              <a:t>Output volume size?  </a:t>
            </a:r>
          </a:p>
          <a:p>
            <a:r>
              <a:rPr lang="en-US" sz="2400" dirty="0"/>
              <a:t>(55 -3)/2+1 = 52/2 + 1 = 27 Output :[27x27x96]</a:t>
            </a:r>
          </a:p>
          <a:p>
            <a:r>
              <a:rPr lang="en-US" sz="2400" dirty="0"/>
              <a:t>Total number of parameters? </a:t>
            </a:r>
          </a:p>
          <a:p>
            <a:r>
              <a:rPr lang="en-US" sz="2400" dirty="0"/>
              <a:t>0!</a:t>
            </a:r>
          </a:p>
        </p:txBody>
      </p:sp>
      <p:sp>
        <p:nvSpPr>
          <p:cNvPr id="15" name="Titolo 1">
            <a:extLst>
              <a:ext uri="{FF2B5EF4-FFF2-40B4-BE49-F238E27FC236}">
                <a16:creationId xmlns:a16="http://schemas.microsoft.com/office/drawing/2014/main" id="{36408022-6962-F75F-596B-6B32F7D0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AlexNet</a:t>
            </a:r>
            <a:r>
              <a:rPr lang="en-US" dirty="0"/>
              <a:t> </a:t>
            </a:r>
            <a:r>
              <a:rPr lang="it-IT" sz="1800" i="1" dirty="0">
                <a:effectLst/>
                <a:latin typeface="Arial" panose="020B0604020202020204" pitchFamily="34" charset="0"/>
              </a:rPr>
              <a:t>[</a:t>
            </a:r>
            <a:r>
              <a:rPr lang="it-IT" sz="1800" i="1" dirty="0" err="1">
                <a:effectLst/>
                <a:latin typeface="Arial" panose="020B0604020202020204" pitchFamily="34" charset="0"/>
              </a:rPr>
              <a:t>Krizhevsky</a:t>
            </a:r>
            <a:r>
              <a:rPr lang="it-IT" sz="1800" i="1" dirty="0">
                <a:effectLst/>
                <a:latin typeface="Arial" panose="020B0604020202020204" pitchFamily="34" charset="0"/>
              </a:rPr>
              <a:t> et al. 2012] </a:t>
            </a:r>
            <a:endParaRPr lang="en-US" dirty="0"/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ED8D8F28-90A9-8A2A-B219-CC6A21F6D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754" y="0"/>
            <a:ext cx="6843246" cy="223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6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AA843EEC-2FC6-DC8F-5150-73C6AAEF729E}"/>
              </a:ext>
            </a:extLst>
          </p:cNvPr>
          <p:cNvSpPr txBox="1"/>
          <p:nvPr/>
        </p:nvSpPr>
        <p:spPr>
          <a:xfrm>
            <a:off x="478972" y="2245558"/>
            <a:ext cx="1123405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effectLst/>
                <a:latin typeface="ArialMT"/>
              </a:rPr>
              <a:t>Full (</a:t>
            </a:r>
            <a:r>
              <a:rPr lang="it-IT" sz="1800" dirty="0" err="1">
                <a:effectLst/>
                <a:latin typeface="ArialMT"/>
              </a:rPr>
              <a:t>simplified</a:t>
            </a:r>
            <a:r>
              <a:rPr lang="it-IT" sz="1800" dirty="0">
                <a:effectLst/>
                <a:latin typeface="ArialMT"/>
              </a:rPr>
              <a:t>) </a:t>
            </a:r>
            <a:r>
              <a:rPr lang="it-IT" sz="1800" dirty="0" err="1">
                <a:effectLst/>
                <a:latin typeface="ArialMT"/>
              </a:rPr>
              <a:t>AlexNet</a:t>
            </a:r>
            <a:r>
              <a:rPr lang="it-IT" sz="1800" dirty="0">
                <a:effectLst/>
                <a:latin typeface="ArialMT"/>
              </a:rPr>
              <a:t> </a:t>
            </a:r>
            <a:r>
              <a:rPr lang="it-IT" sz="1800" dirty="0" err="1">
                <a:effectLst/>
                <a:latin typeface="ArialMT"/>
              </a:rPr>
              <a:t>architecture</a:t>
            </a:r>
            <a:r>
              <a:rPr lang="it-IT" sz="1800" dirty="0">
                <a:effectLst/>
                <a:latin typeface="ArialMT"/>
              </a:rPr>
              <a:t>:</a:t>
            </a:r>
            <a:br>
              <a:rPr lang="it-IT" sz="1800" dirty="0">
                <a:effectLst/>
                <a:latin typeface="ArialMT"/>
              </a:rPr>
            </a:br>
            <a:r>
              <a:rPr lang="it-IT" sz="1800" dirty="0">
                <a:effectLst/>
                <a:latin typeface="ArialMT"/>
              </a:rPr>
              <a:t>[227x227x3] INPUT</a:t>
            </a:r>
            <a:br>
              <a:rPr lang="it-IT" sz="1800" dirty="0">
                <a:effectLst/>
                <a:latin typeface="ArialMT"/>
              </a:rPr>
            </a:br>
            <a:r>
              <a:rPr lang="it-IT" sz="1800" dirty="0">
                <a:effectLst/>
                <a:latin typeface="ArialMT"/>
              </a:rPr>
              <a:t>[55x55x96] </a:t>
            </a:r>
            <a:r>
              <a:rPr lang="it-IT" sz="1800" dirty="0">
                <a:solidFill>
                  <a:srgbClr val="FF0000"/>
                </a:solidFill>
                <a:effectLst/>
                <a:latin typeface="ArialMT"/>
              </a:rPr>
              <a:t>CONV1</a:t>
            </a:r>
            <a:r>
              <a:rPr lang="it-IT" sz="1800" dirty="0">
                <a:effectLst/>
                <a:latin typeface="ArialMT"/>
              </a:rPr>
              <a:t>: 96 11x11 filters </a:t>
            </a:r>
            <a:r>
              <a:rPr lang="it-IT" sz="1800" dirty="0" err="1">
                <a:effectLst/>
                <a:latin typeface="ArialMT"/>
              </a:rPr>
              <a:t>at</a:t>
            </a:r>
            <a:r>
              <a:rPr lang="it-IT" sz="1800" dirty="0">
                <a:effectLst/>
                <a:latin typeface="ArialMT"/>
              </a:rPr>
              <a:t> stride 4, </a:t>
            </a:r>
            <a:r>
              <a:rPr lang="it-IT" sz="1800" dirty="0" err="1">
                <a:effectLst/>
                <a:latin typeface="ArialMT"/>
              </a:rPr>
              <a:t>pad</a:t>
            </a:r>
            <a:r>
              <a:rPr lang="it-IT" sz="1800" dirty="0">
                <a:effectLst/>
                <a:latin typeface="ArialMT"/>
              </a:rPr>
              <a:t> 0 </a:t>
            </a:r>
          </a:p>
          <a:p>
            <a:r>
              <a:rPr lang="it-IT" sz="1800" dirty="0">
                <a:effectLst/>
                <a:latin typeface="ArialMT"/>
              </a:rPr>
              <a:t>[27x27x96] </a:t>
            </a:r>
            <a:r>
              <a:rPr lang="it-IT" sz="1800" dirty="0">
                <a:solidFill>
                  <a:srgbClr val="0000FF"/>
                </a:solidFill>
                <a:effectLst/>
                <a:latin typeface="ArialMT"/>
              </a:rPr>
              <a:t>MAX POOL1</a:t>
            </a:r>
            <a:r>
              <a:rPr lang="it-IT" sz="1800" dirty="0">
                <a:effectLst/>
                <a:latin typeface="ArialMT"/>
              </a:rPr>
              <a:t>: 3x3 filters </a:t>
            </a:r>
            <a:r>
              <a:rPr lang="it-IT" sz="1800" dirty="0" err="1">
                <a:effectLst/>
                <a:latin typeface="ArialMT"/>
              </a:rPr>
              <a:t>at</a:t>
            </a:r>
            <a:r>
              <a:rPr lang="it-IT" sz="1800" dirty="0">
                <a:effectLst/>
                <a:latin typeface="ArialMT"/>
              </a:rPr>
              <a:t> stride 2 </a:t>
            </a:r>
          </a:p>
          <a:p>
            <a:r>
              <a:rPr lang="it-IT" sz="1800" dirty="0">
                <a:effectLst/>
                <a:latin typeface="ArialMT"/>
              </a:rPr>
              <a:t>[27x27x96] </a:t>
            </a:r>
            <a:r>
              <a:rPr lang="it-IT" sz="1800" dirty="0">
                <a:solidFill>
                  <a:srgbClr val="35751C"/>
                </a:solidFill>
                <a:effectLst/>
                <a:latin typeface="ArialMT"/>
              </a:rPr>
              <a:t>NORM1: </a:t>
            </a:r>
            <a:r>
              <a:rPr lang="it-IT" sz="1800" dirty="0" err="1">
                <a:effectLst/>
                <a:latin typeface="ArialMT"/>
              </a:rPr>
              <a:t>Normalization</a:t>
            </a:r>
            <a:r>
              <a:rPr lang="it-IT" sz="1800" dirty="0">
                <a:effectLst/>
                <a:latin typeface="ArialMT"/>
              </a:rPr>
              <a:t> </a:t>
            </a:r>
            <a:r>
              <a:rPr lang="it-IT" sz="1800" dirty="0" err="1">
                <a:effectLst/>
                <a:latin typeface="ArialMT"/>
              </a:rPr>
              <a:t>layer</a:t>
            </a:r>
            <a:br>
              <a:rPr lang="it-IT" sz="1800" dirty="0">
                <a:effectLst/>
                <a:latin typeface="ArialMT"/>
              </a:rPr>
            </a:br>
            <a:r>
              <a:rPr lang="it-IT" sz="1800" dirty="0">
                <a:effectLst/>
                <a:latin typeface="ArialMT"/>
              </a:rPr>
              <a:t>[27x27x256] </a:t>
            </a:r>
            <a:r>
              <a:rPr lang="it-IT" sz="1800" dirty="0">
                <a:solidFill>
                  <a:srgbClr val="FF0000"/>
                </a:solidFill>
                <a:effectLst/>
                <a:latin typeface="ArialMT"/>
              </a:rPr>
              <a:t>CONV2</a:t>
            </a:r>
            <a:r>
              <a:rPr lang="it-IT" sz="1800" dirty="0">
                <a:effectLst/>
                <a:latin typeface="ArialMT"/>
              </a:rPr>
              <a:t>: 256 5x5 filters </a:t>
            </a:r>
            <a:r>
              <a:rPr lang="it-IT" sz="1800" dirty="0" err="1">
                <a:effectLst/>
                <a:latin typeface="ArialMT"/>
              </a:rPr>
              <a:t>at</a:t>
            </a:r>
            <a:r>
              <a:rPr lang="it-IT" sz="1800" dirty="0">
                <a:effectLst/>
                <a:latin typeface="ArialMT"/>
              </a:rPr>
              <a:t> stride 1, </a:t>
            </a:r>
            <a:r>
              <a:rPr lang="it-IT" sz="1800" dirty="0" err="1">
                <a:effectLst/>
                <a:latin typeface="ArialMT"/>
              </a:rPr>
              <a:t>pad</a:t>
            </a:r>
            <a:r>
              <a:rPr lang="it-IT" sz="1800" dirty="0">
                <a:effectLst/>
                <a:latin typeface="ArialMT"/>
              </a:rPr>
              <a:t> 2 </a:t>
            </a:r>
          </a:p>
          <a:p>
            <a:r>
              <a:rPr lang="it-IT" sz="1800" dirty="0">
                <a:effectLst/>
                <a:latin typeface="ArialMT"/>
              </a:rPr>
              <a:t>[13x13x256] </a:t>
            </a:r>
            <a:r>
              <a:rPr lang="it-IT" sz="1800" dirty="0">
                <a:solidFill>
                  <a:srgbClr val="0000FF"/>
                </a:solidFill>
                <a:effectLst/>
                <a:latin typeface="ArialMT"/>
              </a:rPr>
              <a:t>MAX POOL2: </a:t>
            </a:r>
            <a:r>
              <a:rPr lang="it-IT" sz="1800" dirty="0">
                <a:effectLst/>
                <a:latin typeface="ArialMT"/>
              </a:rPr>
              <a:t>3x3 filters </a:t>
            </a:r>
            <a:r>
              <a:rPr lang="it-IT" sz="1800" dirty="0" err="1">
                <a:effectLst/>
                <a:latin typeface="ArialMT"/>
              </a:rPr>
              <a:t>at</a:t>
            </a:r>
            <a:r>
              <a:rPr lang="it-IT" sz="1800" dirty="0">
                <a:effectLst/>
                <a:latin typeface="ArialMT"/>
              </a:rPr>
              <a:t> stride 2 </a:t>
            </a:r>
          </a:p>
          <a:p>
            <a:r>
              <a:rPr lang="it-IT" sz="1800" dirty="0">
                <a:effectLst/>
                <a:latin typeface="ArialMT"/>
              </a:rPr>
              <a:t>[13x13x256] </a:t>
            </a:r>
            <a:r>
              <a:rPr lang="it-IT" sz="1800" dirty="0">
                <a:solidFill>
                  <a:srgbClr val="35751C"/>
                </a:solidFill>
                <a:effectLst/>
                <a:latin typeface="ArialMT"/>
              </a:rPr>
              <a:t>NORM2: </a:t>
            </a:r>
            <a:r>
              <a:rPr lang="it-IT" sz="1800" dirty="0" err="1">
                <a:effectLst/>
                <a:latin typeface="ArialMT"/>
              </a:rPr>
              <a:t>Normalization</a:t>
            </a:r>
            <a:r>
              <a:rPr lang="it-IT" sz="1800" dirty="0">
                <a:effectLst/>
                <a:latin typeface="ArialMT"/>
              </a:rPr>
              <a:t> </a:t>
            </a:r>
            <a:r>
              <a:rPr lang="it-IT" sz="1800" dirty="0" err="1">
                <a:effectLst/>
                <a:latin typeface="ArialMT"/>
              </a:rPr>
              <a:t>layer</a:t>
            </a:r>
            <a:r>
              <a:rPr lang="it-IT" sz="1800" dirty="0">
                <a:effectLst/>
                <a:latin typeface="ArialMT"/>
              </a:rPr>
              <a:t> </a:t>
            </a:r>
          </a:p>
          <a:p>
            <a:r>
              <a:rPr lang="it-IT" sz="1800" dirty="0">
                <a:effectLst/>
                <a:latin typeface="ArialMT"/>
              </a:rPr>
              <a:t>[13x13x384] </a:t>
            </a:r>
            <a:r>
              <a:rPr lang="it-IT" sz="1800" dirty="0">
                <a:solidFill>
                  <a:srgbClr val="FF0000"/>
                </a:solidFill>
                <a:effectLst/>
                <a:latin typeface="ArialMT"/>
              </a:rPr>
              <a:t>CONV3</a:t>
            </a:r>
            <a:r>
              <a:rPr lang="it-IT" sz="1800" dirty="0">
                <a:effectLst/>
                <a:latin typeface="ArialMT"/>
              </a:rPr>
              <a:t>: 384 3x3 filters </a:t>
            </a:r>
            <a:r>
              <a:rPr lang="it-IT" sz="1800" dirty="0" err="1">
                <a:effectLst/>
                <a:latin typeface="ArialMT"/>
              </a:rPr>
              <a:t>at</a:t>
            </a:r>
            <a:r>
              <a:rPr lang="it-IT" sz="1800" dirty="0">
                <a:effectLst/>
                <a:latin typeface="ArialMT"/>
              </a:rPr>
              <a:t> stride 1, </a:t>
            </a:r>
            <a:r>
              <a:rPr lang="it-IT" sz="1800" dirty="0" err="1">
                <a:effectLst/>
                <a:latin typeface="ArialMT"/>
              </a:rPr>
              <a:t>pad</a:t>
            </a:r>
            <a:r>
              <a:rPr lang="it-IT" sz="1800" dirty="0">
                <a:effectLst/>
                <a:latin typeface="ArialMT"/>
              </a:rPr>
              <a:t> 1 </a:t>
            </a:r>
          </a:p>
          <a:p>
            <a:r>
              <a:rPr lang="it-IT" sz="1800" dirty="0">
                <a:effectLst/>
                <a:latin typeface="ArialMT"/>
              </a:rPr>
              <a:t>[13x13x384] </a:t>
            </a:r>
            <a:r>
              <a:rPr lang="it-IT" sz="1800" dirty="0">
                <a:solidFill>
                  <a:srgbClr val="FF0000"/>
                </a:solidFill>
                <a:effectLst/>
                <a:latin typeface="ArialMT"/>
              </a:rPr>
              <a:t>CONV4</a:t>
            </a:r>
            <a:r>
              <a:rPr lang="it-IT" sz="1800" dirty="0">
                <a:effectLst/>
                <a:latin typeface="ArialMT"/>
              </a:rPr>
              <a:t>: 384 3x3 filters </a:t>
            </a:r>
            <a:r>
              <a:rPr lang="it-IT" sz="1800" dirty="0" err="1">
                <a:effectLst/>
                <a:latin typeface="ArialMT"/>
              </a:rPr>
              <a:t>at</a:t>
            </a:r>
            <a:r>
              <a:rPr lang="it-IT" sz="1800" dirty="0">
                <a:effectLst/>
                <a:latin typeface="ArialMT"/>
              </a:rPr>
              <a:t> stride 1, </a:t>
            </a:r>
            <a:r>
              <a:rPr lang="it-IT" sz="1800" dirty="0" err="1">
                <a:effectLst/>
                <a:latin typeface="ArialMT"/>
              </a:rPr>
              <a:t>pad</a:t>
            </a:r>
            <a:r>
              <a:rPr lang="it-IT" sz="1800" dirty="0">
                <a:effectLst/>
                <a:latin typeface="ArialMT"/>
              </a:rPr>
              <a:t> 1 </a:t>
            </a:r>
          </a:p>
          <a:p>
            <a:r>
              <a:rPr lang="it-IT" sz="1800" dirty="0">
                <a:effectLst/>
                <a:latin typeface="ArialMT"/>
              </a:rPr>
              <a:t>[13x13x256] </a:t>
            </a:r>
            <a:r>
              <a:rPr lang="it-IT" sz="1800" dirty="0">
                <a:solidFill>
                  <a:srgbClr val="FF0000"/>
                </a:solidFill>
                <a:effectLst/>
                <a:latin typeface="ArialMT"/>
              </a:rPr>
              <a:t>CONV5</a:t>
            </a:r>
            <a:r>
              <a:rPr lang="it-IT" sz="1800" dirty="0">
                <a:effectLst/>
                <a:latin typeface="ArialMT"/>
              </a:rPr>
              <a:t>: 256 3x3 filters </a:t>
            </a:r>
            <a:r>
              <a:rPr lang="it-IT" sz="1800" dirty="0" err="1">
                <a:effectLst/>
                <a:latin typeface="ArialMT"/>
              </a:rPr>
              <a:t>at</a:t>
            </a:r>
            <a:r>
              <a:rPr lang="it-IT" sz="1800" dirty="0">
                <a:effectLst/>
                <a:latin typeface="ArialMT"/>
              </a:rPr>
              <a:t> stride 1, </a:t>
            </a:r>
            <a:r>
              <a:rPr lang="it-IT" sz="1800" dirty="0" err="1">
                <a:effectLst/>
                <a:latin typeface="ArialMT"/>
              </a:rPr>
              <a:t>pad</a:t>
            </a:r>
            <a:r>
              <a:rPr lang="it-IT" sz="1800" dirty="0">
                <a:effectLst/>
                <a:latin typeface="ArialMT"/>
              </a:rPr>
              <a:t> 1 </a:t>
            </a:r>
          </a:p>
          <a:p>
            <a:r>
              <a:rPr lang="it-IT" sz="1800" dirty="0">
                <a:effectLst/>
                <a:latin typeface="ArialMT"/>
              </a:rPr>
              <a:t>[6x6x256] </a:t>
            </a:r>
            <a:r>
              <a:rPr lang="it-IT" sz="1800" dirty="0">
                <a:solidFill>
                  <a:srgbClr val="0000FF"/>
                </a:solidFill>
                <a:effectLst/>
                <a:latin typeface="ArialMT"/>
              </a:rPr>
              <a:t>MAX POOL3</a:t>
            </a:r>
            <a:r>
              <a:rPr lang="it-IT" sz="1800" dirty="0">
                <a:effectLst/>
                <a:latin typeface="ArialMT"/>
              </a:rPr>
              <a:t>: 3x3 filters </a:t>
            </a:r>
            <a:r>
              <a:rPr lang="it-IT" sz="1800" dirty="0" err="1">
                <a:effectLst/>
                <a:latin typeface="ArialMT"/>
              </a:rPr>
              <a:t>at</a:t>
            </a:r>
            <a:r>
              <a:rPr lang="it-IT" sz="1800" dirty="0">
                <a:effectLst/>
                <a:latin typeface="ArialMT"/>
              </a:rPr>
              <a:t> stride 2</a:t>
            </a:r>
            <a:br>
              <a:rPr lang="it-IT" sz="1800" dirty="0">
                <a:effectLst/>
                <a:latin typeface="ArialMT"/>
              </a:rPr>
            </a:br>
            <a:r>
              <a:rPr lang="it-IT" sz="1800" dirty="0">
                <a:effectLst/>
                <a:latin typeface="ArialMT"/>
              </a:rPr>
              <a:t>[4096] </a:t>
            </a:r>
            <a:r>
              <a:rPr lang="it-IT" sz="1800" dirty="0">
                <a:solidFill>
                  <a:srgbClr val="E58E35"/>
                </a:solidFill>
                <a:effectLst/>
                <a:latin typeface="ArialMT"/>
              </a:rPr>
              <a:t>FC6: </a:t>
            </a:r>
            <a:r>
              <a:rPr lang="it-IT" sz="1800" dirty="0">
                <a:effectLst/>
                <a:latin typeface="ArialMT"/>
              </a:rPr>
              <a:t>4096 </a:t>
            </a:r>
            <a:r>
              <a:rPr lang="it-IT" sz="1800" dirty="0" err="1">
                <a:effectLst/>
                <a:latin typeface="ArialMT"/>
              </a:rPr>
              <a:t>neurons</a:t>
            </a:r>
            <a:br>
              <a:rPr lang="it-IT" sz="1800" dirty="0">
                <a:effectLst/>
                <a:latin typeface="ArialMT"/>
              </a:rPr>
            </a:br>
            <a:r>
              <a:rPr lang="it-IT" sz="1800" dirty="0">
                <a:effectLst/>
                <a:latin typeface="ArialMT"/>
              </a:rPr>
              <a:t>[4096] </a:t>
            </a:r>
            <a:r>
              <a:rPr lang="it-IT" sz="1800" dirty="0">
                <a:solidFill>
                  <a:srgbClr val="E58E35"/>
                </a:solidFill>
                <a:effectLst/>
                <a:latin typeface="ArialMT"/>
              </a:rPr>
              <a:t>FC7: </a:t>
            </a:r>
            <a:r>
              <a:rPr lang="it-IT" sz="1800" dirty="0">
                <a:effectLst/>
                <a:latin typeface="ArialMT"/>
              </a:rPr>
              <a:t>4096 </a:t>
            </a:r>
            <a:r>
              <a:rPr lang="it-IT" sz="1800" dirty="0" err="1">
                <a:effectLst/>
                <a:latin typeface="ArialMT"/>
              </a:rPr>
              <a:t>neurons</a:t>
            </a:r>
            <a:br>
              <a:rPr lang="it-IT" sz="1800" dirty="0">
                <a:effectLst/>
                <a:latin typeface="ArialMT"/>
              </a:rPr>
            </a:br>
            <a:r>
              <a:rPr lang="it-IT" sz="1800" dirty="0">
                <a:effectLst/>
                <a:latin typeface="ArialMT"/>
              </a:rPr>
              <a:t>[1000] </a:t>
            </a:r>
            <a:r>
              <a:rPr lang="it-IT" sz="1800" dirty="0">
                <a:solidFill>
                  <a:srgbClr val="E58E35"/>
                </a:solidFill>
                <a:effectLst/>
                <a:latin typeface="ArialMT"/>
              </a:rPr>
              <a:t>FC8: </a:t>
            </a:r>
            <a:r>
              <a:rPr lang="it-IT" sz="1800" dirty="0">
                <a:effectLst/>
                <a:latin typeface="ArialMT"/>
              </a:rPr>
              <a:t>1000 </a:t>
            </a:r>
            <a:r>
              <a:rPr lang="it-IT" sz="1800" dirty="0" err="1">
                <a:effectLst/>
                <a:latin typeface="ArialMT"/>
              </a:rPr>
              <a:t>neurons</a:t>
            </a:r>
            <a:r>
              <a:rPr lang="it-IT" sz="1800" dirty="0">
                <a:effectLst/>
                <a:latin typeface="ArialMT"/>
              </a:rPr>
              <a:t> (class scores) </a:t>
            </a:r>
            <a:endParaRPr lang="it-IT" dirty="0">
              <a:effectLst/>
            </a:endParaRPr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D2547974-F278-9712-3807-04C68383B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AlexNet</a:t>
            </a:r>
            <a:r>
              <a:rPr lang="en-US" dirty="0"/>
              <a:t> </a:t>
            </a:r>
            <a:r>
              <a:rPr lang="it-IT" sz="1800" i="1" dirty="0">
                <a:effectLst/>
                <a:latin typeface="Arial" panose="020B0604020202020204" pitchFamily="34" charset="0"/>
              </a:rPr>
              <a:t>[</a:t>
            </a:r>
            <a:r>
              <a:rPr lang="it-IT" sz="1800" i="1" dirty="0" err="1">
                <a:effectLst/>
                <a:latin typeface="Arial" panose="020B0604020202020204" pitchFamily="34" charset="0"/>
              </a:rPr>
              <a:t>Krizhevsky</a:t>
            </a:r>
            <a:r>
              <a:rPr lang="it-IT" sz="1800" i="1" dirty="0">
                <a:effectLst/>
                <a:latin typeface="Arial" panose="020B0604020202020204" pitchFamily="34" charset="0"/>
              </a:rPr>
              <a:t> et al. 2012] </a:t>
            </a:r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0DB7B69-641D-F89A-2F8F-096C4346A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754" y="0"/>
            <a:ext cx="6843246" cy="223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9809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2F56ABDEDC3044B30E8C8676A91964" ma:contentTypeVersion="3" ma:contentTypeDescription="Create a new document." ma:contentTypeScope="" ma:versionID="60f18a3f8ed5c10c259d19238dccd45b">
  <xsd:schema xmlns:xsd="http://www.w3.org/2001/XMLSchema" xmlns:xs="http://www.w3.org/2001/XMLSchema" xmlns:p="http://schemas.microsoft.com/office/2006/metadata/properties" xmlns:ns2="e17268a9-c167-4582-b3fd-10fdf2b0972b" targetNamespace="http://schemas.microsoft.com/office/2006/metadata/properties" ma:root="true" ma:fieldsID="2b28c83e30bba9edc264006bde1afadf" ns2:_="">
    <xsd:import namespace="e17268a9-c167-4582-b3fd-10fdf2b097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7268a9-c167-4582-b3fd-10fdf2b097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3E175B-F4E9-4967-9F6D-24CEE18C62E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4304403-F4D7-40A6-9CA3-2844D0863A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B673E9-C135-43B3-94C1-685E2BB1BA83}"/>
</file>

<file path=docProps/app.xml><?xml version="1.0" encoding="utf-8"?>
<Properties xmlns="http://schemas.openxmlformats.org/officeDocument/2006/extended-properties" xmlns:vt="http://schemas.openxmlformats.org/officeDocument/2006/docPropsVTypes">
  <TotalTime>8858</TotalTime>
  <Words>832</Words>
  <Application>Microsoft Macintosh PowerPoint</Application>
  <PresentationFormat>Widescreen</PresentationFormat>
  <Paragraphs>330</Paragraphs>
  <Slides>42</Slides>
  <Notes>0</Notes>
  <HiddenSlides>3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42</vt:i4>
      </vt:variant>
    </vt:vector>
  </HeadingPairs>
  <TitlesOfParts>
    <vt:vector size="48" baseType="lpstr">
      <vt:lpstr>Arial</vt:lpstr>
      <vt:lpstr>ArialMT</vt:lpstr>
      <vt:lpstr>Calibri</vt:lpstr>
      <vt:lpstr>Calibri Light</vt:lpstr>
      <vt:lpstr>GillSansMT</vt:lpstr>
      <vt:lpstr>Tema di Office</vt:lpstr>
      <vt:lpstr>Convolutional Neural Network</vt:lpstr>
      <vt:lpstr>ConvNets are now used everywhere</vt:lpstr>
      <vt:lpstr>CNN and the human visual cortex</vt:lpstr>
      <vt:lpstr>Fully Connected Layer</vt:lpstr>
      <vt:lpstr>Fully Connected Layer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Presentazione standard di PowerPoint</vt:lpstr>
      <vt:lpstr>Presentazione standard di PowerPoint</vt:lpstr>
      <vt:lpstr>Presentazione standard di PowerPoint</vt:lpstr>
      <vt:lpstr>Convolutional Neural Network</vt:lpstr>
      <vt:lpstr>Convolutional Neural Network</vt:lpstr>
      <vt:lpstr>CNN for Image Classification</vt:lpstr>
      <vt:lpstr>Stride</vt:lpstr>
      <vt:lpstr>Stride</vt:lpstr>
      <vt:lpstr>Stride</vt:lpstr>
      <vt:lpstr>Stride</vt:lpstr>
      <vt:lpstr>Padding</vt:lpstr>
      <vt:lpstr>Convolution Summary</vt:lpstr>
      <vt:lpstr>Activation after convolution</vt:lpstr>
      <vt:lpstr>Presentazione standard di PowerPoint</vt:lpstr>
      <vt:lpstr>Parameter Sharing </vt:lpstr>
      <vt:lpstr>Parameter Sharing </vt:lpstr>
      <vt:lpstr>Parameter Sharing </vt:lpstr>
      <vt:lpstr>Parameter Sharing </vt:lpstr>
      <vt:lpstr>Parameter Sharing </vt:lpstr>
      <vt:lpstr>Parameter Sharing </vt:lpstr>
      <vt:lpstr>Parameter Sharing </vt:lpstr>
      <vt:lpstr>Pooling Layer</vt:lpstr>
      <vt:lpstr>MaxPooling and AvgPoling</vt:lpstr>
      <vt:lpstr>Pooling Summary</vt:lpstr>
      <vt:lpstr>Example of CNN</vt:lpstr>
      <vt:lpstr>Example of CNN</vt:lpstr>
      <vt:lpstr>AlexNet [Krizhevsky et al. 2012] </vt:lpstr>
      <vt:lpstr>AlexNet [Krizhevsky et al. 2012] </vt:lpstr>
      <vt:lpstr>AlexNet [Krizhevsky et al. 2012]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</dc:title>
  <dc:creator>Microsoft Office User</dc:creator>
  <cp:lastModifiedBy>Roberto Pellungrini</cp:lastModifiedBy>
  <cp:revision>7</cp:revision>
  <dcterms:created xsi:type="dcterms:W3CDTF">2023-04-17T12:28:27Z</dcterms:created>
  <dcterms:modified xsi:type="dcterms:W3CDTF">2026-05-04T11:39:32Z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0x010100BB2F56ABDEDC3044B30E8C8676A91964</vt:lpwstr>
  </property>
</Properties>
</file>