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slides/slide13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3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26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27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4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4" r:id="rId1"/>
  </p:sldMasterIdLst>
  <p:notesMasterIdLst>
    <p:notesMasterId r:id="rId137"/>
  </p:notesMasterIdLst>
  <p:handoutMasterIdLst>
    <p:handoutMasterId r:id="rId138"/>
  </p:handoutMasterIdLst>
  <p:sldIdLst>
    <p:sldId id="1166" r:id="rId2"/>
    <p:sldId id="566" r:id="rId3"/>
    <p:sldId id="534" r:id="rId4"/>
    <p:sldId id="535" r:id="rId5"/>
    <p:sldId id="536" r:id="rId6"/>
    <p:sldId id="537" r:id="rId7"/>
    <p:sldId id="538" r:id="rId8"/>
    <p:sldId id="539" r:id="rId9"/>
    <p:sldId id="688" r:id="rId10"/>
    <p:sldId id="689" r:id="rId11"/>
    <p:sldId id="690" r:id="rId12"/>
    <p:sldId id="656" r:id="rId13"/>
    <p:sldId id="657" r:id="rId14"/>
    <p:sldId id="658" r:id="rId15"/>
    <p:sldId id="1227" r:id="rId16"/>
    <p:sldId id="659" r:id="rId17"/>
    <p:sldId id="660" r:id="rId18"/>
    <p:sldId id="661" r:id="rId19"/>
    <p:sldId id="662" r:id="rId20"/>
    <p:sldId id="691" r:id="rId21"/>
    <p:sldId id="693" r:id="rId22"/>
    <p:sldId id="694" r:id="rId23"/>
    <p:sldId id="542" r:id="rId24"/>
    <p:sldId id="543" r:id="rId25"/>
    <p:sldId id="625" r:id="rId26"/>
    <p:sldId id="640" r:id="rId27"/>
    <p:sldId id="351" r:id="rId28"/>
    <p:sldId id="695" r:id="rId29"/>
    <p:sldId id="696" r:id="rId30"/>
    <p:sldId id="697" r:id="rId31"/>
    <p:sldId id="698" r:id="rId32"/>
    <p:sldId id="699" r:id="rId33"/>
    <p:sldId id="700" r:id="rId34"/>
    <p:sldId id="701" r:id="rId35"/>
    <p:sldId id="702" r:id="rId36"/>
    <p:sldId id="703" r:id="rId37"/>
    <p:sldId id="704" r:id="rId38"/>
    <p:sldId id="705" r:id="rId39"/>
    <p:sldId id="706" r:id="rId40"/>
    <p:sldId id="426" r:id="rId41"/>
    <p:sldId id="707" r:id="rId42"/>
    <p:sldId id="711" r:id="rId43"/>
    <p:sldId id="712" r:id="rId44"/>
    <p:sldId id="754" r:id="rId45"/>
    <p:sldId id="716" r:id="rId46"/>
    <p:sldId id="459" r:id="rId47"/>
    <p:sldId id="726" r:id="rId48"/>
    <p:sldId id="727" r:id="rId49"/>
    <p:sldId id="728" r:id="rId50"/>
    <p:sldId id="733" r:id="rId51"/>
    <p:sldId id="740" r:id="rId52"/>
    <p:sldId id="750" r:id="rId53"/>
    <p:sldId id="627" r:id="rId54"/>
    <p:sldId id="617" r:id="rId55"/>
    <p:sldId id="618" r:id="rId56"/>
    <p:sldId id="619" r:id="rId57"/>
    <p:sldId id="620" r:id="rId58"/>
    <p:sldId id="621" r:id="rId59"/>
    <p:sldId id="622" r:id="rId60"/>
    <p:sldId id="623" r:id="rId61"/>
    <p:sldId id="432" r:id="rId62"/>
    <p:sldId id="1189" r:id="rId63"/>
    <p:sldId id="561" r:id="rId64"/>
    <p:sldId id="433" r:id="rId65"/>
    <p:sldId id="549" r:id="rId66"/>
    <p:sldId id="550" r:id="rId67"/>
    <p:sldId id="558" r:id="rId68"/>
    <p:sldId id="434" r:id="rId69"/>
    <p:sldId id="435" r:id="rId70"/>
    <p:sldId id="436" r:id="rId71"/>
    <p:sldId id="563" r:id="rId72"/>
    <p:sldId id="437" r:id="rId73"/>
    <p:sldId id="638" r:id="rId74"/>
    <p:sldId id="516" r:id="rId75"/>
    <p:sldId id="554" r:id="rId76"/>
    <p:sldId id="556" r:id="rId77"/>
    <p:sldId id="557" r:id="rId78"/>
    <p:sldId id="448" r:id="rId79"/>
    <p:sldId id="544" r:id="rId80"/>
    <p:sldId id="455" r:id="rId81"/>
    <p:sldId id="1203" r:id="rId82"/>
    <p:sldId id="458" r:id="rId83"/>
    <p:sldId id="1204" r:id="rId84"/>
    <p:sldId id="708" r:id="rId85"/>
    <p:sldId id="709" r:id="rId86"/>
    <p:sldId id="1205" r:id="rId87"/>
    <p:sldId id="1206" r:id="rId88"/>
    <p:sldId id="714" r:id="rId89"/>
    <p:sldId id="715" r:id="rId90"/>
    <p:sldId id="1207" r:id="rId91"/>
    <p:sldId id="717" r:id="rId92"/>
    <p:sldId id="718" r:id="rId93"/>
    <p:sldId id="607" r:id="rId94"/>
    <p:sldId id="1208" r:id="rId95"/>
    <p:sldId id="1209" r:id="rId96"/>
    <p:sldId id="1210" r:id="rId97"/>
    <p:sldId id="1211" r:id="rId98"/>
    <p:sldId id="1212" r:id="rId99"/>
    <p:sldId id="1213" r:id="rId100"/>
    <p:sldId id="1214" r:id="rId101"/>
    <p:sldId id="1216" r:id="rId102"/>
    <p:sldId id="1217" r:id="rId103"/>
    <p:sldId id="1219" r:id="rId104"/>
    <p:sldId id="1218" r:id="rId105"/>
    <p:sldId id="1220" r:id="rId106"/>
    <p:sldId id="624" r:id="rId107"/>
    <p:sldId id="257" r:id="rId108"/>
    <p:sldId id="287" r:id="rId109"/>
    <p:sldId id="288" r:id="rId110"/>
    <p:sldId id="1191" r:id="rId111"/>
    <p:sldId id="1192" r:id="rId112"/>
    <p:sldId id="258" r:id="rId113"/>
    <p:sldId id="260" r:id="rId114"/>
    <p:sldId id="289" r:id="rId115"/>
    <p:sldId id="290" r:id="rId116"/>
    <p:sldId id="261" r:id="rId117"/>
    <p:sldId id="262" r:id="rId118"/>
    <p:sldId id="291" r:id="rId119"/>
    <p:sldId id="293" r:id="rId120"/>
    <p:sldId id="266" r:id="rId121"/>
    <p:sldId id="267" r:id="rId122"/>
    <p:sldId id="263" r:id="rId123"/>
    <p:sldId id="264" r:id="rId124"/>
    <p:sldId id="1224" r:id="rId125"/>
    <p:sldId id="1225" r:id="rId126"/>
    <p:sldId id="1226" r:id="rId127"/>
    <p:sldId id="270" r:id="rId128"/>
    <p:sldId id="271" r:id="rId129"/>
    <p:sldId id="295" r:id="rId130"/>
    <p:sldId id="272" r:id="rId131"/>
    <p:sldId id="273" r:id="rId132"/>
    <p:sldId id="274" r:id="rId133"/>
    <p:sldId id="296" r:id="rId134"/>
    <p:sldId id="275" r:id="rId135"/>
    <p:sldId id="1188" r:id="rId13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193"/>
    <a:srgbClr val="0096FF"/>
    <a:srgbClr val="00FB92"/>
    <a:srgbClr val="FF2F92"/>
    <a:srgbClr val="FF8AD8"/>
    <a:srgbClr val="FF8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Stile chi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Stile chiaro 2 - Color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93D81CF-94F2-401A-BA57-92F5A7B2D0C5}" styleName="Stile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34" autoAdjust="0"/>
    <p:restoredTop sz="86395" autoAdjust="0"/>
  </p:normalViewPr>
  <p:slideViewPr>
    <p:cSldViewPr snapToGrid="0" snapToObjects="1">
      <p:cViewPr varScale="1">
        <p:scale>
          <a:sx n="110" d="100"/>
          <a:sy n="110" d="100"/>
        </p:scale>
        <p:origin x="1464" y="1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5" d="100"/>
        <a:sy n="145" d="100"/>
      </p:scale>
      <p:origin x="0" y="0"/>
    </p:cViewPr>
  </p:sorterViewPr>
  <p:notesViewPr>
    <p:cSldViewPr snapToGrid="0" snapToObjects="1">
      <p:cViewPr varScale="1">
        <p:scale>
          <a:sx n="80" d="100"/>
          <a:sy n="80" d="100"/>
        </p:scale>
        <p:origin x="-3462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handoutMaster" Target="handoutMasters/handoutMaster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viewProps" Target="viewProps.xml"/><Relationship Id="rId145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customXml" Target="../customXml/item2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F6E6D-E6D8-4C83-A38E-BFB06991A8DA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E01FBA-0126-406C-BE32-94E8E08112C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49041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7AB91D-D08F-F14D-AE19-84E96A5339C3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71684-922B-C647-B005-6CA642B2C4B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92404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149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953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631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8420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1334DF38-FB44-3B4F-89A3-AC88921E2E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3075" y="728663"/>
            <a:ext cx="6372225" cy="3584575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147" name="Text Box 2">
            <a:extLst>
              <a:ext uri="{FF2B5EF4-FFF2-40B4-BE49-F238E27FC236}">
                <a16:creationId xmlns:a16="http://schemas.microsoft.com/office/drawing/2014/main" id="{576D63E1-7AD5-4E41-A7B5-44E0BEECF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138" y="4560888"/>
            <a:ext cx="5365750" cy="441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5574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6AA41E32-6847-204D-81AA-84A22A6821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0050" y="693738"/>
            <a:ext cx="6142038" cy="3455987"/>
          </a:xfrm>
          <a:ln/>
        </p:spPr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3AF4D623-06CD-4944-9CEB-DC53C38DA9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1" tIns="45371" rIns="90741" bIns="45371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1317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>
            <a:extLst>
              <a:ext uri="{FF2B5EF4-FFF2-40B4-BE49-F238E27FC236}">
                <a16:creationId xmlns:a16="http://schemas.microsoft.com/office/drawing/2014/main" id="{7E802A0A-9C99-9A4A-85E4-3164AE0CAA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3075" y="728663"/>
            <a:ext cx="6372225" cy="3584575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291" name="Text Box 2">
            <a:extLst>
              <a:ext uri="{FF2B5EF4-FFF2-40B4-BE49-F238E27FC236}">
                <a16:creationId xmlns:a16="http://schemas.microsoft.com/office/drawing/2014/main" id="{914E0A36-7959-FD40-B5F6-15A10D793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138" y="4560888"/>
            <a:ext cx="5365750" cy="441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06376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">
            <a:extLst>
              <a:ext uri="{FF2B5EF4-FFF2-40B4-BE49-F238E27FC236}">
                <a16:creationId xmlns:a16="http://schemas.microsoft.com/office/drawing/2014/main" id="{3EBFCCC5-C332-164A-951D-29681EBE30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3075" y="728663"/>
            <a:ext cx="6372225" cy="3584575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6387" name="Text Box 2">
            <a:extLst>
              <a:ext uri="{FF2B5EF4-FFF2-40B4-BE49-F238E27FC236}">
                <a16:creationId xmlns:a16="http://schemas.microsoft.com/office/drawing/2014/main" id="{DE67799D-FEF1-EA45-AEA2-D342057FC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138" y="4560888"/>
            <a:ext cx="5365750" cy="441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88521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5CCB6A65-A722-C24B-9759-370031205B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3075" y="728663"/>
            <a:ext cx="6372225" cy="3584575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8435" name="Text Box 2">
            <a:extLst>
              <a:ext uri="{FF2B5EF4-FFF2-40B4-BE49-F238E27FC236}">
                <a16:creationId xmlns:a16="http://schemas.microsoft.com/office/drawing/2014/main" id="{55B189F5-2734-6744-9279-72C85D24A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138" y="4560888"/>
            <a:ext cx="5365750" cy="441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42635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>
            <a:extLst>
              <a:ext uri="{FF2B5EF4-FFF2-40B4-BE49-F238E27FC236}">
                <a16:creationId xmlns:a16="http://schemas.microsoft.com/office/drawing/2014/main" id="{0E2EF6FD-CE21-1D4B-AB5E-0B07A3D629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3075" y="728663"/>
            <a:ext cx="6372225" cy="3584575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0483" name="Text Box 2">
            <a:extLst>
              <a:ext uri="{FF2B5EF4-FFF2-40B4-BE49-F238E27FC236}">
                <a16:creationId xmlns:a16="http://schemas.microsoft.com/office/drawing/2014/main" id="{A4EE5199-853C-2143-80B7-BC267126B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138" y="4560888"/>
            <a:ext cx="5365750" cy="441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1418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">
            <a:extLst>
              <a:ext uri="{FF2B5EF4-FFF2-40B4-BE49-F238E27FC236}">
                <a16:creationId xmlns:a16="http://schemas.microsoft.com/office/drawing/2014/main" id="{FF33D5A8-7CD2-2A46-8FEA-A133403328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3075" y="728663"/>
            <a:ext cx="6372225" cy="3584575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2531" name="Text Box 2">
            <a:extLst>
              <a:ext uri="{FF2B5EF4-FFF2-40B4-BE49-F238E27FC236}">
                <a16:creationId xmlns:a16="http://schemas.microsoft.com/office/drawing/2014/main" id="{84819770-D913-DA4F-9E34-F41D0B9BD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138" y="4560888"/>
            <a:ext cx="5365750" cy="441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90484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>
            <a:extLst>
              <a:ext uri="{FF2B5EF4-FFF2-40B4-BE49-F238E27FC236}">
                <a16:creationId xmlns:a16="http://schemas.microsoft.com/office/drawing/2014/main" id="{AB66BCA6-D882-E44B-948B-02DC35AFEF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3075" y="728663"/>
            <a:ext cx="6372225" cy="3584575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4579" name="Text Box 2">
            <a:extLst>
              <a:ext uri="{FF2B5EF4-FFF2-40B4-BE49-F238E27FC236}">
                <a16:creationId xmlns:a16="http://schemas.microsoft.com/office/drawing/2014/main" id="{4368F2A2-902F-B144-81C1-1DA5C2023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138" y="4560888"/>
            <a:ext cx="5365750" cy="441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61102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>
            <a:extLst>
              <a:ext uri="{FF2B5EF4-FFF2-40B4-BE49-F238E27FC236}">
                <a16:creationId xmlns:a16="http://schemas.microsoft.com/office/drawing/2014/main" id="{B347C63A-B961-7C4D-9EB3-D9DCF78C21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3075" y="728663"/>
            <a:ext cx="6372225" cy="3584575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6627" name="Text Box 2">
            <a:extLst>
              <a:ext uri="{FF2B5EF4-FFF2-40B4-BE49-F238E27FC236}">
                <a16:creationId xmlns:a16="http://schemas.microsoft.com/office/drawing/2014/main" id="{DEC70991-F2CE-414F-AB85-114044DF4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138" y="4560888"/>
            <a:ext cx="5365750" cy="441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6628" name="Notes Placeholder 1">
            <a:extLst>
              <a:ext uri="{FF2B5EF4-FFF2-40B4-BE49-F238E27FC236}">
                <a16:creationId xmlns:a16="http://schemas.microsoft.com/office/drawing/2014/main" id="{22268794-3B2A-2D4E-8EC0-C7171FB5F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88504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>
            <a:extLst>
              <a:ext uri="{FF2B5EF4-FFF2-40B4-BE49-F238E27FC236}">
                <a16:creationId xmlns:a16="http://schemas.microsoft.com/office/drawing/2014/main" id="{000FE35C-490C-BF46-8337-9BA70A66A3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3075" y="728663"/>
            <a:ext cx="6372225" cy="3584575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8675" name="Text Box 2">
            <a:extLst>
              <a:ext uri="{FF2B5EF4-FFF2-40B4-BE49-F238E27FC236}">
                <a16:creationId xmlns:a16="http://schemas.microsoft.com/office/drawing/2014/main" id="{14BAA501-37EC-374B-80CD-64030E273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138" y="4560888"/>
            <a:ext cx="5365750" cy="441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8676" name="Notes Placeholder 1">
            <a:extLst>
              <a:ext uri="{FF2B5EF4-FFF2-40B4-BE49-F238E27FC236}">
                <a16:creationId xmlns:a16="http://schemas.microsoft.com/office/drawing/2014/main" id="{540645F6-7509-6C44-9484-1D752D279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53280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>
            <a:extLst>
              <a:ext uri="{FF2B5EF4-FFF2-40B4-BE49-F238E27FC236}">
                <a16:creationId xmlns:a16="http://schemas.microsoft.com/office/drawing/2014/main" id="{E71E1557-9CBD-6943-9CB4-93456F5EBC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3075" y="728663"/>
            <a:ext cx="6372225" cy="3584575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6CC32637-5CF4-9944-B773-5992210FC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138" y="4560888"/>
            <a:ext cx="5365750" cy="441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" name="Segnaposto note 1">
            <a:extLst>
              <a:ext uri="{FF2B5EF4-FFF2-40B4-BE49-F238E27FC236}">
                <a16:creationId xmlns:a16="http://schemas.microsoft.com/office/drawing/2014/main" id="{D715BAD1-2337-EB49-B89F-8CEF7AF04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4289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">
            <a:extLst>
              <a:ext uri="{FF2B5EF4-FFF2-40B4-BE49-F238E27FC236}">
                <a16:creationId xmlns:a16="http://schemas.microsoft.com/office/drawing/2014/main" id="{7E0CE675-E7F0-9B4E-A379-51B6473891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3075" y="728663"/>
            <a:ext cx="6372225" cy="3584575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2771" name="Text Box 2">
            <a:extLst>
              <a:ext uri="{FF2B5EF4-FFF2-40B4-BE49-F238E27FC236}">
                <a16:creationId xmlns:a16="http://schemas.microsoft.com/office/drawing/2014/main" id="{305463A6-DF2B-1C47-8BEF-B2F1D4DD66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138" y="4560888"/>
            <a:ext cx="5365750" cy="441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56336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>
            <a:extLst>
              <a:ext uri="{FF2B5EF4-FFF2-40B4-BE49-F238E27FC236}">
                <a16:creationId xmlns:a16="http://schemas.microsoft.com/office/drawing/2014/main" id="{7AB2058B-D63C-974D-9CE7-CB49ED3988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3075" y="728663"/>
            <a:ext cx="6372225" cy="3584575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819" name="Text Box 2">
            <a:extLst>
              <a:ext uri="{FF2B5EF4-FFF2-40B4-BE49-F238E27FC236}">
                <a16:creationId xmlns:a16="http://schemas.microsoft.com/office/drawing/2014/main" id="{56BF8F9D-1EBE-FF41-A21E-7D7187ECC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138" y="4560888"/>
            <a:ext cx="5365750" cy="441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82813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">
            <a:extLst>
              <a:ext uri="{FF2B5EF4-FFF2-40B4-BE49-F238E27FC236}">
                <a16:creationId xmlns:a16="http://schemas.microsoft.com/office/drawing/2014/main" id="{3E60DD9C-FE89-1849-90C0-09A9D4659A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3075" y="728663"/>
            <a:ext cx="6372225" cy="3584575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6867" name="Text Box 2">
            <a:extLst>
              <a:ext uri="{FF2B5EF4-FFF2-40B4-BE49-F238E27FC236}">
                <a16:creationId xmlns:a16="http://schemas.microsoft.com/office/drawing/2014/main" id="{C58E8A5D-9B2B-7944-A489-7B457A9B66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138" y="4560888"/>
            <a:ext cx="5365750" cy="441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45152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">
            <a:extLst>
              <a:ext uri="{FF2B5EF4-FFF2-40B4-BE49-F238E27FC236}">
                <a16:creationId xmlns:a16="http://schemas.microsoft.com/office/drawing/2014/main" id="{0085D77A-688E-4842-88AE-9E91D89A00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3075" y="728663"/>
            <a:ext cx="6372225" cy="3584575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3011" name="Text Box 2">
            <a:extLst>
              <a:ext uri="{FF2B5EF4-FFF2-40B4-BE49-F238E27FC236}">
                <a16:creationId xmlns:a16="http://schemas.microsoft.com/office/drawing/2014/main" id="{D6003D35-1111-BB4C-8264-A1D95C9969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138" y="4560888"/>
            <a:ext cx="5365750" cy="441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5991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">
            <a:extLst>
              <a:ext uri="{FF2B5EF4-FFF2-40B4-BE49-F238E27FC236}">
                <a16:creationId xmlns:a16="http://schemas.microsoft.com/office/drawing/2014/main" id="{4D54CAF5-D3A4-AB4A-B988-EA04A1FF97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3075" y="728663"/>
            <a:ext cx="6372225" cy="3584575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5059" name="Text Box 2">
            <a:extLst>
              <a:ext uri="{FF2B5EF4-FFF2-40B4-BE49-F238E27FC236}">
                <a16:creationId xmlns:a16="http://schemas.microsoft.com/office/drawing/2014/main" id="{367CC03F-FE25-4041-820F-9B8EB101A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138" y="4560888"/>
            <a:ext cx="5365750" cy="441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9908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">
            <a:extLst>
              <a:ext uri="{FF2B5EF4-FFF2-40B4-BE49-F238E27FC236}">
                <a16:creationId xmlns:a16="http://schemas.microsoft.com/office/drawing/2014/main" id="{E37985B6-FBF2-364E-878B-63B0FF6A7A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3075" y="728663"/>
            <a:ext cx="6372225" cy="3584575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7107" name="Text Box 2">
            <a:extLst>
              <a:ext uri="{FF2B5EF4-FFF2-40B4-BE49-F238E27FC236}">
                <a16:creationId xmlns:a16="http://schemas.microsoft.com/office/drawing/2014/main" id="{49F16B98-7995-4F4E-A2BA-C386A5DB9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138" y="4560888"/>
            <a:ext cx="5365750" cy="441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99154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">
            <a:extLst>
              <a:ext uri="{FF2B5EF4-FFF2-40B4-BE49-F238E27FC236}">
                <a16:creationId xmlns:a16="http://schemas.microsoft.com/office/drawing/2014/main" id="{78FFB4F9-353B-5F49-8A4D-28899CF7DD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3075" y="728663"/>
            <a:ext cx="6372225" cy="3584575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9155" name="Text Box 2">
            <a:extLst>
              <a:ext uri="{FF2B5EF4-FFF2-40B4-BE49-F238E27FC236}">
                <a16:creationId xmlns:a16="http://schemas.microsoft.com/office/drawing/2014/main" id="{7381C478-E668-2947-A73D-18C1D67F6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138" y="4560888"/>
            <a:ext cx="5365750" cy="441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1154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">
            <a:extLst>
              <a:ext uri="{FF2B5EF4-FFF2-40B4-BE49-F238E27FC236}">
                <a16:creationId xmlns:a16="http://schemas.microsoft.com/office/drawing/2014/main" id="{E5A88A51-6846-DE47-A095-DC4BEA40D7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3075" y="728663"/>
            <a:ext cx="6372225" cy="3584575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3" name="Text Box 2">
            <a:extLst>
              <a:ext uri="{FF2B5EF4-FFF2-40B4-BE49-F238E27FC236}">
                <a16:creationId xmlns:a16="http://schemas.microsoft.com/office/drawing/2014/main" id="{328FD6B3-7EEB-5040-919D-9382D81454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138" y="4560888"/>
            <a:ext cx="5365750" cy="441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96998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1">
            <a:extLst>
              <a:ext uri="{FF2B5EF4-FFF2-40B4-BE49-F238E27FC236}">
                <a16:creationId xmlns:a16="http://schemas.microsoft.com/office/drawing/2014/main" id="{54C95A2E-5BDE-8046-9B5F-6162599D04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3075" y="728663"/>
            <a:ext cx="6372225" cy="3584575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3251" name="Text Box 2">
            <a:extLst>
              <a:ext uri="{FF2B5EF4-FFF2-40B4-BE49-F238E27FC236}">
                <a16:creationId xmlns:a16="http://schemas.microsoft.com/office/drawing/2014/main" id="{757AB0CC-9AB8-9644-9B01-44A864EC65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138" y="4560888"/>
            <a:ext cx="5365750" cy="441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98047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">
            <a:extLst>
              <a:ext uri="{FF2B5EF4-FFF2-40B4-BE49-F238E27FC236}">
                <a16:creationId xmlns:a16="http://schemas.microsoft.com/office/drawing/2014/main" id="{C14C6B04-35F9-1E4E-AC55-9995BFF6D4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3075" y="728663"/>
            <a:ext cx="6372225" cy="3584575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5299" name="Text Box 2">
            <a:extLst>
              <a:ext uri="{FF2B5EF4-FFF2-40B4-BE49-F238E27FC236}">
                <a16:creationId xmlns:a16="http://schemas.microsoft.com/office/drawing/2014/main" id="{155619E2-616D-2741-82CF-DA127BFD6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138" y="4560888"/>
            <a:ext cx="5365750" cy="441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45354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">
            <a:extLst>
              <a:ext uri="{FF2B5EF4-FFF2-40B4-BE49-F238E27FC236}">
                <a16:creationId xmlns:a16="http://schemas.microsoft.com/office/drawing/2014/main" id="{898DE67A-303D-7248-B859-E8B622EE68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3075" y="728663"/>
            <a:ext cx="6372225" cy="3584575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7347" name="Text Box 2">
            <a:extLst>
              <a:ext uri="{FF2B5EF4-FFF2-40B4-BE49-F238E27FC236}">
                <a16:creationId xmlns:a16="http://schemas.microsoft.com/office/drawing/2014/main" id="{5A86B417-15D6-4747-8F8F-5AD4CF67D1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138" y="4560888"/>
            <a:ext cx="5365750" cy="441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59874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">
            <a:extLst>
              <a:ext uri="{FF2B5EF4-FFF2-40B4-BE49-F238E27FC236}">
                <a16:creationId xmlns:a16="http://schemas.microsoft.com/office/drawing/2014/main" id="{CC9F17C9-3C53-8D45-AB3B-EE7225ACAB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3075" y="728663"/>
            <a:ext cx="6372225" cy="3584575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9395" name="Text Box 2">
            <a:extLst>
              <a:ext uri="{FF2B5EF4-FFF2-40B4-BE49-F238E27FC236}">
                <a16:creationId xmlns:a16="http://schemas.microsoft.com/office/drawing/2014/main" id="{13773A25-A803-E047-B68B-4BE28050AD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138" y="4560888"/>
            <a:ext cx="5365750" cy="441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97086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">
            <a:extLst>
              <a:ext uri="{FF2B5EF4-FFF2-40B4-BE49-F238E27FC236}">
                <a16:creationId xmlns:a16="http://schemas.microsoft.com/office/drawing/2014/main" id="{F5321EBF-F368-2347-90DC-D3D3FA7C91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3075" y="728663"/>
            <a:ext cx="6372225" cy="3584575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2467" name="Text Box 2">
            <a:extLst>
              <a:ext uri="{FF2B5EF4-FFF2-40B4-BE49-F238E27FC236}">
                <a16:creationId xmlns:a16="http://schemas.microsoft.com/office/drawing/2014/main" id="{E87EFDB0-95CB-C347-8BDA-F708BA525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138" y="4560888"/>
            <a:ext cx="5365750" cy="441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7499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9341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DBE0CA-5111-D04D-8D12-935552D94F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36BC96A-9426-4A41-862F-AE5D98B4FE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CDEE8EA-B811-484E-9AD4-125197A0E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9E66D-B003-4C4E-864A-E43A8D2280BD}" type="datetime1">
              <a:rPr lang="it-IT" smtClean="0"/>
              <a:t>24/03/26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0A87B73-2633-AA49-BD18-F8F801EAC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</a:p>
        </p:txBody>
      </p:sp>
    </p:spTree>
    <p:extLst>
      <p:ext uri="{BB962C8B-B14F-4D97-AF65-F5344CB8AC3E}">
        <p14:creationId xmlns:p14="http://schemas.microsoft.com/office/powerpoint/2010/main" val="1225103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C0DF7A-92CF-2848-9DB4-1B5627B91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942309D-38BE-FB4A-A153-E7BF232DC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2A7E30A-C665-904E-811B-93A46D9D5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8F26437-C4B7-604C-861E-5D3C0D33BE5F}" type="datetime1">
              <a:rPr lang="it-IT" smtClean="0"/>
              <a:t>24/03/26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6F7EE2-4B79-B948-8ACA-1A13A30CB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97C08697-B432-D649-AD79-87B7574B2E35}"/>
              </a:ext>
            </a:extLst>
          </p:cNvPr>
          <p:cNvCxnSpPr/>
          <p:nvPr userDrawn="1"/>
        </p:nvCxnSpPr>
        <p:spPr>
          <a:xfrm>
            <a:off x="0" y="1332881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926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BB1760-1D6E-514E-BBBA-90A5FFA11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00AE6B2-F4ED-8C4E-84AB-8DC3DD570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D395726-958D-3549-89E0-A190673A4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1C28B9B-7C80-B543-BDBB-A92A7AEFD72F}" type="datetime1">
              <a:rPr lang="it-IT" smtClean="0"/>
              <a:t>24/03/26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4EACAE3-5BD7-D34D-91E6-6EB901BE9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EF479E78-DA7B-C944-8244-979118C4A42C}"/>
              </a:ext>
            </a:extLst>
          </p:cNvPr>
          <p:cNvCxnSpPr/>
          <p:nvPr userDrawn="1"/>
        </p:nvCxnSpPr>
        <p:spPr>
          <a:xfrm>
            <a:off x="0" y="4568262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265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7BC0BA-3DD1-6F4D-958D-0CFF774B7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821535-ED3B-1E4C-9BBE-4E2F63316E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6C8D277-1C2D-6A43-9A64-CF03C6DAD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A6A55CF-0328-2042-8867-0545FCFCD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8C9651-A614-D546-8E5D-E84C7A0F43D0}" type="datetime1">
              <a:rPr lang="it-IT" smtClean="0"/>
              <a:t>24/03/26</a:t>
            </a:fld>
            <a:endParaRPr lang="en-US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3E56001-C03F-CE40-B8BD-AD028CAD3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3EA728E4-6B64-4E40-811F-04DF1CBB7D31}"/>
              </a:ext>
            </a:extLst>
          </p:cNvPr>
          <p:cNvCxnSpPr/>
          <p:nvPr userDrawn="1"/>
        </p:nvCxnSpPr>
        <p:spPr>
          <a:xfrm>
            <a:off x="0" y="1332881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931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6ABA12-78D7-6048-8681-A36AC099A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C04B37B-2090-8D41-B9BF-D88C3E98E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BDC3BAF-954D-8E4C-A6EB-B3ADEB1C2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BB0CDEC-EF4F-6540-9159-D69B5F79B7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698BE13-F69E-1A45-8586-E81C6FD52E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0F0C53D-183A-FC4B-9702-71A74ADCB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4F22444-9F01-A64E-BA90-B0526793B5AE}" type="datetime1">
              <a:rPr lang="it-IT" smtClean="0"/>
              <a:t>24/03/26</a:t>
            </a:fld>
            <a:endParaRPr lang="en-US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835C857-F677-FE40-AFFD-96E8C3DFD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0891173D-1780-9E40-A31D-CFB5D057907D}"/>
              </a:ext>
            </a:extLst>
          </p:cNvPr>
          <p:cNvCxnSpPr/>
          <p:nvPr userDrawn="1"/>
        </p:nvCxnSpPr>
        <p:spPr>
          <a:xfrm>
            <a:off x="0" y="1332881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9116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4FAAE9-4446-224F-A5F9-DD4D37B4D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932027A-979A-0147-B957-23F6E4E45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1E2C575-4E74-CB45-AA63-265EDD3F4832}" type="datetime1">
              <a:rPr lang="it-IT" smtClean="0"/>
              <a:t>24/03/26</a:t>
            </a:fld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569AC3D-0D57-8446-B251-CDE0E3A6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04EB78F9-ACE7-AD48-AC0A-3615A1AC3B39}"/>
              </a:ext>
            </a:extLst>
          </p:cNvPr>
          <p:cNvCxnSpPr/>
          <p:nvPr userDrawn="1"/>
        </p:nvCxnSpPr>
        <p:spPr>
          <a:xfrm>
            <a:off x="0" y="1332881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670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tatqu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4FAAE9-4446-224F-A5F9-DD4D37B4D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932027A-979A-0147-B957-23F6E4E45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1E2C575-4E74-CB45-AA63-265EDD3F4832}" type="datetime1">
              <a:rPr lang="it-IT" smtClean="0"/>
              <a:t>24/03/26</a:t>
            </a:fld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569AC3D-0D57-8446-B251-CDE0E3A6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04EB78F9-ACE7-AD48-AC0A-3615A1AC3B39}"/>
              </a:ext>
            </a:extLst>
          </p:cNvPr>
          <p:cNvCxnSpPr/>
          <p:nvPr userDrawn="1"/>
        </p:nvCxnSpPr>
        <p:spPr>
          <a:xfrm>
            <a:off x="0" y="1332881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5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D7CCD44-38AF-2748-9927-0AF5DEAF6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87C649-8927-E144-A3AA-F7E863ABE54D}" type="datetime1">
              <a:rPr lang="it-IT" smtClean="0"/>
              <a:t>24/03/26</a:t>
            </a:fld>
            <a:endParaRPr lang="en-US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90ECF18-5B6D-0E46-8351-479B96D48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160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F3A5D9-CE4F-6F49-B7F4-45A75BFFD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AACBE50-3DDC-5D47-8266-FF7265729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50F3E9B-90C3-E044-9151-5A48304D7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96F02DC-9538-7B4C-8AEC-00FD62F10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DCE9C45-2ACA-2146-A9BA-1A8801DF3D90}" type="datetime1">
              <a:rPr lang="it-IT" smtClean="0"/>
              <a:t>24/03/26</a:t>
            </a:fld>
            <a:endParaRPr lang="en-US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61039E8-E9EA-1F47-A455-118B30785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744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29C229-E370-0C4E-84BE-990E328ED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3911D92-876D-1D49-8C85-0314159E6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A241640-23F2-9847-A7E4-8FDAE2B6A1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EFE7DC9-F86D-4C42-BBB5-65A619654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57C8EA-2611-3F4A-8E99-618C2757CF42}" type="datetime1">
              <a:rPr lang="it-IT" smtClean="0"/>
              <a:t>24/03/26</a:t>
            </a:fld>
            <a:endParaRPr lang="en-US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1B8BFF4-DFD9-E941-A9EA-E6FD29ECC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411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79B98E-8402-EE4F-A656-DCC6A48EA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C7ED7AD-51E7-F740-93FD-1025332C0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C297406-BB99-2640-B389-5F24A3DC8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D2041F-5EF3-3145-A49B-0814F547AEF9}" type="datetime1">
              <a:rPr lang="it-IT" smtClean="0"/>
              <a:t>24/03/26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F519D53-C423-8F45-AA29-CDE0650DB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112DD419-0A67-9744-B3B9-809AFC711840}"/>
              </a:ext>
            </a:extLst>
          </p:cNvPr>
          <p:cNvCxnSpPr/>
          <p:nvPr userDrawn="1"/>
        </p:nvCxnSpPr>
        <p:spPr>
          <a:xfrm>
            <a:off x="0" y="1332881"/>
            <a:ext cx="11353800" cy="0"/>
          </a:xfrm>
          <a:prstGeom prst="line">
            <a:avLst/>
          </a:prstGeom>
          <a:ln w="76200">
            <a:solidFill>
              <a:srgbClr val="00FB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89369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99B30F2-9DD7-A449-8E34-650F9CFCFC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69B78D2-A881-6F42-89DA-8AC00B238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7511472-DCCA-1F4E-80B9-8E99EC281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D0F37EA-E13C-9545-99A5-5937716205AB}" type="datetime1">
              <a:rPr lang="it-IT" smtClean="0"/>
              <a:t>24/03/26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CA25BF8-9292-B945-8562-F53E73BEA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3347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52400"/>
            <a:ext cx="11040533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48217" y="1143000"/>
            <a:ext cx="5444067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6195484" y="1143000"/>
            <a:ext cx="5444067" cy="5181600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27841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931ADDB-CF09-4C4A-A381-EBEAEC869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F631CBA-384C-8F47-AD02-D9465EAF8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6AB79F8-8BC7-EA4F-A539-66731CC39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994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22C14-3BC9-D542-B4D4-B9E4C141C801}" type="datetime1">
              <a:rPr lang="it-IT" smtClean="0"/>
              <a:t>24/03/26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82DF6E6-74CD-BD43-9A7F-E93E6BAD2F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946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Wurzburg, Germany, ECML-PKDD 2019, Tutorial on XKDD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527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6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7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8.wmf"/><Relationship Id="rId7" Type="http://schemas.openxmlformats.org/officeDocument/2006/relationships/image" Target="../media/image10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emf"/><Relationship Id="rId4" Type="http://schemas.openxmlformats.org/officeDocument/2006/relationships/oleObject" Target="../embeddings/oleObject16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emf"/><Relationship Id="rId4" Type="http://schemas.openxmlformats.org/officeDocument/2006/relationships/oleObject" Target="../embeddings/oleObject18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emf"/><Relationship Id="rId4" Type="http://schemas.openxmlformats.org/officeDocument/2006/relationships/oleObject" Target="../embeddings/oleObject19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7" Type="http://schemas.openxmlformats.org/officeDocument/2006/relationships/image" Target="../media/image24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8.emf"/><Relationship Id="rId4" Type="http://schemas.openxmlformats.org/officeDocument/2006/relationships/oleObject" Target="../embeddings/oleObject21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17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e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9.e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emf"/><Relationship Id="rId5" Type="http://schemas.openxmlformats.org/officeDocument/2006/relationships/oleObject" Target="../embeddings/oleObject25.bin"/><Relationship Id="rId10" Type="http://schemas.openxmlformats.org/officeDocument/2006/relationships/image" Target="../media/image24.emf"/><Relationship Id="rId4" Type="http://schemas.openxmlformats.org/officeDocument/2006/relationships/image" Target="../media/image26.emf"/><Relationship Id="rId9" Type="http://schemas.openxmlformats.org/officeDocument/2006/relationships/oleObject" Target="../embeddings/oleObject17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image" Target="../media/image29.emf"/><Relationship Id="rId7" Type="http://schemas.openxmlformats.org/officeDocument/2006/relationships/image" Target="../media/image33.e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31.emf"/><Relationship Id="rId4" Type="http://schemas.openxmlformats.org/officeDocument/2006/relationships/oleObject" Target="../embeddings/oleObject28.bin"/><Relationship Id="rId9" Type="http://schemas.openxmlformats.org/officeDocument/2006/relationships/image" Target="../media/image24.e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image" Target="../media/image29.emf"/><Relationship Id="rId7" Type="http://schemas.openxmlformats.org/officeDocument/2006/relationships/image" Target="../media/image34.e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31.emf"/><Relationship Id="rId4" Type="http://schemas.openxmlformats.org/officeDocument/2006/relationships/oleObject" Target="../embeddings/oleObject28.bin"/><Relationship Id="rId9" Type="http://schemas.openxmlformats.org/officeDocument/2006/relationships/image" Target="../media/image24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7" Type="http://schemas.openxmlformats.org/officeDocument/2006/relationships/image" Target="../media/image35.e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31.emf"/><Relationship Id="rId4" Type="http://schemas.openxmlformats.org/officeDocument/2006/relationships/oleObject" Target="../embeddings/oleObject28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emf"/><Relationship Id="rId4" Type="http://schemas.openxmlformats.org/officeDocument/2006/relationships/oleObject" Target="../embeddings/oleObject32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13" Type="http://schemas.openxmlformats.org/officeDocument/2006/relationships/image" Target="../media/image41.emf"/><Relationship Id="rId18" Type="http://schemas.openxmlformats.org/officeDocument/2006/relationships/oleObject" Target="../embeddings/oleObject40.bin"/><Relationship Id="rId3" Type="http://schemas.openxmlformats.org/officeDocument/2006/relationships/oleObject" Target="../embeddings/oleObject33.bin"/><Relationship Id="rId7" Type="http://schemas.openxmlformats.org/officeDocument/2006/relationships/image" Target="../media/image38.emf"/><Relationship Id="rId12" Type="http://schemas.openxmlformats.org/officeDocument/2006/relationships/oleObject" Target="../embeddings/oleObject37.bin"/><Relationship Id="rId17" Type="http://schemas.openxmlformats.org/officeDocument/2006/relationships/image" Target="../media/image43.emf"/><Relationship Id="rId2" Type="http://schemas.openxmlformats.org/officeDocument/2006/relationships/notesSlide" Target="../notesSlides/notesSlide4.xml"/><Relationship Id="rId16" Type="http://schemas.openxmlformats.org/officeDocument/2006/relationships/oleObject" Target="../embeddings/oleObject3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40.emf"/><Relationship Id="rId5" Type="http://schemas.openxmlformats.org/officeDocument/2006/relationships/image" Target="../media/image4.png"/><Relationship Id="rId15" Type="http://schemas.openxmlformats.org/officeDocument/2006/relationships/image" Target="../media/image42.emf"/><Relationship Id="rId10" Type="http://schemas.openxmlformats.org/officeDocument/2006/relationships/oleObject" Target="../embeddings/oleObject36.bin"/><Relationship Id="rId19" Type="http://schemas.openxmlformats.org/officeDocument/2006/relationships/image" Target="../media/image44.emf"/><Relationship Id="rId4" Type="http://schemas.openxmlformats.org/officeDocument/2006/relationships/image" Target="../media/image37.emf"/><Relationship Id="rId9" Type="http://schemas.openxmlformats.org/officeDocument/2006/relationships/image" Target="../media/image39.emf"/><Relationship Id="rId14" Type="http://schemas.openxmlformats.org/officeDocument/2006/relationships/oleObject" Target="../embeddings/oleObject38.bin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6.emf"/><Relationship Id="rId4" Type="http://schemas.openxmlformats.org/officeDocument/2006/relationships/oleObject" Target="../embeddings/oleObject42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oleObject" Target="../embeddings/oleObject43.bin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7" Type="http://schemas.openxmlformats.org/officeDocument/2006/relationships/image" Target="../media/image50.e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6.bin"/><Relationship Id="rId5" Type="http://schemas.openxmlformats.org/officeDocument/2006/relationships/image" Target="../media/image49.emf"/><Relationship Id="rId4" Type="http://schemas.openxmlformats.org/officeDocument/2006/relationships/oleObject" Target="../embeddings/oleObject45.bin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oleObject" Target="../embeddings/oleObject48.bin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oleObject" Target="../embeddings/oleObject55.bin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oleObject" Target="../embeddings/oleObject57.bin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wmf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8.emf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emf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emf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emf"/><Relationship Id="rId5" Type="http://schemas.openxmlformats.org/officeDocument/2006/relationships/oleObject" Target="../embeddings/oleObject62.bin"/><Relationship Id="rId4" Type="http://schemas.openxmlformats.org/officeDocument/2006/relationships/image" Target="../media/image81.emf"/></Relationships>
</file>

<file path=ppt/slides/_rels/slide1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emf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e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83.emf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6.emf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emf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7.emf"/><Relationship Id="rId5" Type="http://schemas.openxmlformats.org/officeDocument/2006/relationships/oleObject" Target="../embeddings/oleObject67.bin"/><Relationship Id="rId4" Type="http://schemas.openxmlformats.org/officeDocument/2006/relationships/image" Target="../media/image88.emf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56805-27B6-9941-9623-EE2991DF1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807" y="2176424"/>
            <a:ext cx="11353800" cy="2261802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9193"/>
                </a:solidFill>
              </a:rPr>
              <a:t>D</a:t>
            </a:r>
            <a:r>
              <a:rPr lang="en-US" b="1" dirty="0"/>
              <a:t>ATA </a:t>
            </a:r>
            <a:r>
              <a:rPr lang="en-US" b="1" dirty="0">
                <a:solidFill>
                  <a:srgbClr val="009193"/>
                </a:solidFill>
              </a:rPr>
              <a:t>M</a:t>
            </a:r>
            <a:r>
              <a:rPr lang="en-US" b="1" dirty="0"/>
              <a:t>INING </a:t>
            </a:r>
            <a:r>
              <a:rPr lang="en-US" b="1" dirty="0">
                <a:solidFill>
                  <a:srgbClr val="009193"/>
                </a:solidFill>
              </a:rPr>
              <a:t>1</a:t>
            </a:r>
            <a:br>
              <a:rPr lang="en-US" sz="7200" b="1" dirty="0"/>
            </a:br>
            <a:r>
              <a:rPr lang="en-US" sz="5800" b="1" dirty="0"/>
              <a:t>Pattern Mining &amp; Association Rule Mining</a:t>
            </a:r>
          </a:p>
        </p:txBody>
      </p:sp>
      <p:sp>
        <p:nvSpPr>
          <p:cNvPr id="7" name="Sottotitolo 6">
            <a:extLst>
              <a:ext uri="{FF2B5EF4-FFF2-40B4-BE49-F238E27FC236}">
                <a16:creationId xmlns:a16="http://schemas.microsoft.com/office/drawing/2014/main" id="{5F5693D1-C37C-884D-ABF4-994E895B2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807" y="4727461"/>
            <a:ext cx="9144000" cy="1729891"/>
          </a:xfrm>
        </p:spPr>
        <p:txBody>
          <a:bodyPr>
            <a:normAutofit fontScale="85000" lnSpcReduction="20000"/>
          </a:bodyPr>
          <a:lstStyle/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IE" dirty="0" err="1"/>
              <a:t>Fosca</a:t>
            </a:r>
            <a:r>
              <a:rPr lang="en-IE" dirty="0"/>
              <a:t> Giannotti, Roberto </a:t>
            </a:r>
            <a:r>
              <a:rPr lang="en-IE" dirty="0" err="1"/>
              <a:t>Pellungrini</a:t>
            </a:r>
            <a:endParaRPr lang="en-IE" dirty="0"/>
          </a:p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endParaRPr lang="en-IE" dirty="0"/>
          </a:p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endParaRPr lang="en-IE" sz="1900" dirty="0"/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IE" sz="2000" i="1" dirty="0"/>
              <a:t>Revisited slides from Lecture Notes for Chapter 5 “Introduction to Data Mining”, 2nd Edition by Tan, Steinbach, </a:t>
            </a:r>
            <a:r>
              <a:rPr lang="en-IE" sz="2000" i="1" dirty="0" err="1"/>
              <a:t>Karpatne</a:t>
            </a:r>
            <a:r>
              <a:rPr lang="en-IE" sz="2000" i="1" dirty="0"/>
              <a:t>, Kumar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IE" sz="2000" i="1" dirty="0"/>
              <a:t>also used into the Data Mining course of Data Science Master Degree at Department of Computer Science, Univ. </a:t>
            </a:r>
            <a:r>
              <a:rPr lang="en-IE" sz="2000" i="1"/>
              <a:t>Pisa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endParaRPr lang="en-IE" sz="2000" i="1" dirty="0"/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endParaRPr lang="en-IE" sz="2000" i="1" dirty="0"/>
          </a:p>
        </p:txBody>
      </p: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D6F288DE-7B36-1745-8291-1D66544FBE52}"/>
              </a:ext>
            </a:extLst>
          </p:cNvPr>
          <p:cNvCxnSpPr/>
          <p:nvPr/>
        </p:nvCxnSpPr>
        <p:spPr>
          <a:xfrm>
            <a:off x="0" y="4568262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Home">
            <a:extLst>
              <a:ext uri="{FF2B5EF4-FFF2-40B4-BE49-F238E27FC236}">
                <a16:creationId xmlns:a16="http://schemas.microsoft.com/office/drawing/2014/main" id="{BB3EB0A8-3ABF-30B9-9AA4-E849CEB2E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0159173" y="5592406"/>
            <a:ext cx="1691615" cy="9926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024376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>
            <a:extLst>
              <a:ext uri="{FF2B5EF4-FFF2-40B4-BE49-F238E27FC236}">
                <a16:creationId xmlns:a16="http://schemas.microsoft.com/office/drawing/2014/main" id="{E7F5E56C-2D3F-47B6-8FC8-A470C39596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  <a:cs typeface="+mj-cs"/>
              </a:rPr>
              <a:t>Association </a:t>
            </a:r>
            <a:r>
              <a:rPr lang="en-US" dirty="0"/>
              <a:t>R</a:t>
            </a:r>
            <a:r>
              <a:rPr lang="en-US" dirty="0">
                <a:ea typeface="+mj-ea"/>
                <a:cs typeface="+mj-cs"/>
              </a:rPr>
              <a:t>ules  - Module Outline</a:t>
            </a:r>
            <a:endParaRPr lang="it-IT" sz="3600" dirty="0"/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F7085754-DF03-B8A5-32B7-0E1D7D383A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736484" cy="4351338"/>
          </a:xfrm>
        </p:spPr>
        <p:txBody>
          <a:bodyPr>
            <a:normAutofit/>
          </a:bodyPr>
          <a:lstStyle/>
          <a:p>
            <a:pPr marL="533400" indent="-533400"/>
            <a:r>
              <a:rPr lang="en-US" altLang="it-IT" sz="3200" dirty="0"/>
              <a:t>What are association rules (AR) and what are they used for:</a:t>
            </a:r>
          </a:p>
          <a:p>
            <a:pPr lvl="2"/>
            <a:r>
              <a:rPr lang="en-US" altLang="it-IT" sz="2400" dirty="0"/>
              <a:t>The paradigmatic application: Market Basket Analysis</a:t>
            </a:r>
          </a:p>
          <a:p>
            <a:pPr lvl="2"/>
            <a:r>
              <a:rPr lang="en-US" altLang="it-IT" sz="2400" dirty="0"/>
              <a:t>The single dimensional AR (intra-attribute)</a:t>
            </a:r>
            <a:endParaRPr lang="it-IT" altLang="it-IT" sz="2400" dirty="0"/>
          </a:p>
          <a:p>
            <a:pPr marL="0" indent="0">
              <a:buClr>
                <a:schemeClr val="tx1"/>
              </a:buClr>
              <a:buNone/>
            </a:pPr>
            <a:endParaRPr lang="en-US" altLang="it-IT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>
            <a:extLst>
              <a:ext uri="{FF2B5EF4-FFF2-40B4-BE49-F238E27FC236}">
                <a16:creationId xmlns:a16="http://schemas.microsoft.com/office/drawing/2014/main" id="{ED2AC7E1-F4B5-4980-8B92-C941ACC3D5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  <a:cs typeface="+mj-cs"/>
              </a:rPr>
              <a:t>Market Basket Analysis: The Context</a:t>
            </a:r>
            <a:endParaRPr lang="en-US" sz="2000" dirty="0"/>
          </a:p>
        </p:txBody>
      </p:sp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7D6F6F1D-CD36-7EC1-770C-3FB10802B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it-IT" dirty="0"/>
              <a:t>Analyzing customer purchasing habits by finding associations and correlations between the different items that customers place in their “shopping basket”</a:t>
            </a:r>
          </a:p>
          <a:p>
            <a:endParaRPr lang="en-US" dirty="0"/>
          </a:p>
        </p:txBody>
      </p:sp>
      <p:graphicFrame>
        <p:nvGraphicFramePr>
          <p:cNvPr id="7174" name="Object 5">
            <a:extLst>
              <a:ext uri="{FF2B5EF4-FFF2-40B4-BE49-F238E27FC236}">
                <a16:creationId xmlns:a16="http://schemas.microsoft.com/office/drawing/2014/main" id="{E31D1CC9-1443-09C7-7331-AADAF00D1A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1" y="4005263"/>
          <a:ext cx="1819275" cy="166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826500" imgH="9969500" progId="Word.Document.8">
                  <p:embed/>
                </p:oleObj>
              </mc:Choice>
              <mc:Fallback>
                <p:oleObj name="Document" r:id="rId2" imgW="8826500" imgH="9969500" progId="Word.Document.8">
                  <p:embed/>
                  <p:pic>
                    <p:nvPicPr>
                      <p:cNvPr id="7174" name="Object 5">
                        <a:extLst>
                          <a:ext uri="{FF2B5EF4-FFF2-40B4-BE49-F238E27FC236}">
                            <a16:creationId xmlns:a16="http://schemas.microsoft.com/office/drawing/2014/main" id="{E31D1CC9-1443-09C7-7331-AADAF00D1A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4005263"/>
                        <a:ext cx="1819275" cy="166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6">
            <a:extLst>
              <a:ext uri="{FF2B5EF4-FFF2-40B4-BE49-F238E27FC236}">
                <a16:creationId xmlns:a16="http://schemas.microsoft.com/office/drawing/2014/main" id="{AE066832-E6C4-931C-8CB1-9782709AA8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59689" y="3914776"/>
          <a:ext cx="1749425" cy="189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8496300" imgH="11379200" progId="Word.Document.8">
                  <p:embed/>
                </p:oleObj>
              </mc:Choice>
              <mc:Fallback>
                <p:oleObj name="Document" r:id="rId4" imgW="8496300" imgH="11379200" progId="Word.Document.8">
                  <p:embed/>
                  <p:pic>
                    <p:nvPicPr>
                      <p:cNvPr id="7175" name="Object 6">
                        <a:extLst>
                          <a:ext uri="{FF2B5EF4-FFF2-40B4-BE49-F238E27FC236}">
                            <a16:creationId xmlns:a16="http://schemas.microsoft.com/office/drawing/2014/main" id="{AE066832-E6C4-931C-8CB1-9782709AA8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9689" y="3914776"/>
                        <a:ext cx="1749425" cy="1890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6" name="Text Box 7">
            <a:extLst>
              <a:ext uri="{FF2B5EF4-FFF2-40B4-BE49-F238E27FC236}">
                <a16:creationId xmlns:a16="http://schemas.microsoft.com/office/drawing/2014/main" id="{417CC6DF-D1E4-01CF-6184-915054A211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6977" y="5715000"/>
            <a:ext cx="12350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FF"/>
              </a:buClr>
              <a:buSzPct val="85000"/>
              <a:buFont typeface="Monotype Sorts" pitchFamily="2" charset="2"/>
              <a:buBlip>
                <a:blip r:embed="rId6"/>
              </a:buBlip>
              <a:defRPr kumimoji="1" sz="2800"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99FF"/>
              </a:buClr>
              <a:buSzPct val="60000"/>
              <a:buFont typeface="Monotype Sorts" pitchFamily="2" charset="2"/>
              <a:buBlip>
                <a:blip r:embed="rId6"/>
              </a:buBlip>
              <a:defRPr kumimoji="1" sz="2400"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99FF"/>
              </a:buClr>
              <a:buFont typeface="Wingdings" pitchFamily="2" charset="2"/>
              <a:buChar char="ü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99FF"/>
              </a:buClr>
              <a:buChar char="•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99FF"/>
              </a:buClr>
              <a:buChar char="–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FF"/>
              </a:buClr>
              <a:buChar char="–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FF"/>
              </a:buClr>
              <a:buChar char="–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FF"/>
              </a:buClr>
              <a:buChar char="–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FF"/>
              </a:buClr>
              <a:buChar char="–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it-IT" sz="1400" b="0"/>
              <a:t>Customer1</a:t>
            </a:r>
            <a:endParaRPr kumimoji="0" lang="it-IT" altLang="it-IT" sz="1400" b="0">
              <a:latin typeface="Times New Roman" panose="02020603050405020304" pitchFamily="18" charset="0"/>
            </a:endParaRPr>
          </a:p>
        </p:txBody>
      </p:sp>
      <p:sp>
        <p:nvSpPr>
          <p:cNvPr id="7177" name="Text Box 8">
            <a:extLst>
              <a:ext uri="{FF2B5EF4-FFF2-40B4-BE49-F238E27FC236}">
                <a16:creationId xmlns:a16="http://schemas.microsoft.com/office/drawing/2014/main" id="{E483179E-D004-00C6-374E-C17450AD79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1" y="5715000"/>
            <a:ext cx="12350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FF"/>
              </a:buClr>
              <a:buSzPct val="85000"/>
              <a:buFont typeface="Monotype Sorts" pitchFamily="2" charset="2"/>
              <a:buBlip>
                <a:blip r:embed="rId6"/>
              </a:buBlip>
              <a:defRPr kumimoji="1" sz="2800"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99FF"/>
              </a:buClr>
              <a:buSzPct val="60000"/>
              <a:buFont typeface="Monotype Sorts" pitchFamily="2" charset="2"/>
              <a:buBlip>
                <a:blip r:embed="rId6"/>
              </a:buBlip>
              <a:defRPr kumimoji="1" sz="2400"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99FF"/>
              </a:buClr>
              <a:buFont typeface="Wingdings" pitchFamily="2" charset="2"/>
              <a:buChar char="ü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99FF"/>
              </a:buClr>
              <a:buChar char="•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99FF"/>
              </a:buClr>
              <a:buChar char="–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FF"/>
              </a:buClr>
              <a:buChar char="–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FF"/>
              </a:buClr>
              <a:buChar char="–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FF"/>
              </a:buClr>
              <a:buChar char="–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FF"/>
              </a:buClr>
              <a:buChar char="–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it-IT" sz="1400" b="0"/>
              <a:t>Customer2</a:t>
            </a:r>
            <a:endParaRPr kumimoji="0" lang="it-IT" altLang="it-IT" sz="1400" b="0">
              <a:latin typeface="Times New Roman" panose="02020603050405020304" pitchFamily="18" charset="0"/>
            </a:endParaRPr>
          </a:p>
        </p:txBody>
      </p:sp>
      <p:sp>
        <p:nvSpPr>
          <p:cNvPr id="7178" name="Text Box 9">
            <a:extLst>
              <a:ext uri="{FF2B5EF4-FFF2-40B4-BE49-F238E27FC236}">
                <a16:creationId xmlns:a16="http://schemas.microsoft.com/office/drawing/2014/main" id="{AAB2E31C-8B7B-BC72-5FF0-CF54712B16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1" y="5715000"/>
            <a:ext cx="12350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FF"/>
              </a:buClr>
              <a:buSzPct val="85000"/>
              <a:buFont typeface="Monotype Sorts" pitchFamily="2" charset="2"/>
              <a:buBlip>
                <a:blip r:embed="rId6"/>
              </a:buBlip>
              <a:defRPr kumimoji="1" sz="2800"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99FF"/>
              </a:buClr>
              <a:buSzPct val="60000"/>
              <a:buFont typeface="Monotype Sorts" pitchFamily="2" charset="2"/>
              <a:buBlip>
                <a:blip r:embed="rId6"/>
              </a:buBlip>
              <a:defRPr kumimoji="1" sz="2400"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99FF"/>
              </a:buClr>
              <a:buFont typeface="Wingdings" pitchFamily="2" charset="2"/>
              <a:buChar char="ü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99FF"/>
              </a:buClr>
              <a:buChar char="•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99FF"/>
              </a:buClr>
              <a:buChar char="–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FF"/>
              </a:buClr>
              <a:buChar char="–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FF"/>
              </a:buClr>
              <a:buChar char="–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FF"/>
              </a:buClr>
              <a:buChar char="–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FF"/>
              </a:buClr>
              <a:buChar char="–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it-IT" sz="1400" b="0"/>
              <a:t>Customer3</a:t>
            </a:r>
            <a:endParaRPr kumimoji="0" lang="it-IT" altLang="it-IT" sz="1400" b="0">
              <a:latin typeface="Times New Roman" panose="02020603050405020304" pitchFamily="18" charset="0"/>
            </a:endParaRPr>
          </a:p>
        </p:txBody>
      </p:sp>
      <p:sp>
        <p:nvSpPr>
          <p:cNvPr id="7179" name="Text Box 10">
            <a:extLst>
              <a:ext uri="{FF2B5EF4-FFF2-40B4-BE49-F238E27FC236}">
                <a16:creationId xmlns:a16="http://schemas.microsoft.com/office/drawing/2014/main" id="{021FD110-941F-150A-DC3D-8722DC935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9145" y="3470273"/>
            <a:ext cx="22098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FF"/>
              </a:buClr>
              <a:buSzPct val="85000"/>
              <a:buFont typeface="Monotype Sorts" pitchFamily="2" charset="2"/>
              <a:buBlip>
                <a:blip r:embed="rId6"/>
              </a:buBlip>
              <a:defRPr kumimoji="1" sz="2800"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99FF"/>
              </a:buClr>
              <a:buSzPct val="60000"/>
              <a:buFont typeface="Monotype Sorts" pitchFamily="2" charset="2"/>
              <a:buBlip>
                <a:blip r:embed="rId6"/>
              </a:buBlip>
              <a:defRPr kumimoji="1" sz="2400"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99FF"/>
              </a:buClr>
              <a:buFont typeface="Wingdings" pitchFamily="2" charset="2"/>
              <a:buChar char="ü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99FF"/>
              </a:buClr>
              <a:buChar char="•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99FF"/>
              </a:buClr>
              <a:buChar char="–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FF"/>
              </a:buClr>
              <a:buChar char="–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FF"/>
              </a:buClr>
              <a:buChar char="–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FF"/>
              </a:buClr>
              <a:buChar char="–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FF"/>
              </a:buClr>
              <a:buChar char="–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it-IT" sz="1600" b="0" dirty="0"/>
              <a:t>Milk, eggs, sugar, bread</a:t>
            </a:r>
            <a:endParaRPr kumimoji="0" lang="it-IT" altLang="it-IT" sz="1600" b="0" dirty="0"/>
          </a:p>
        </p:txBody>
      </p:sp>
      <p:sp>
        <p:nvSpPr>
          <p:cNvPr id="7180" name="Rectangle 11">
            <a:extLst>
              <a:ext uri="{FF2B5EF4-FFF2-40B4-BE49-F238E27FC236}">
                <a16:creationId xmlns:a16="http://schemas.microsoft.com/office/drawing/2014/main" id="{68D5511B-90FE-42DA-5875-16880503C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505200"/>
            <a:ext cx="25590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99FF"/>
              </a:buClr>
              <a:buSzPct val="85000"/>
              <a:buFont typeface="Monotype Sorts" pitchFamily="2" charset="2"/>
              <a:buBlip>
                <a:blip r:embed="rId6"/>
              </a:buBlip>
              <a:defRPr kumimoji="1" sz="2800"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99FF"/>
              </a:buClr>
              <a:buSzPct val="60000"/>
              <a:buFont typeface="Monotype Sorts" pitchFamily="2" charset="2"/>
              <a:buBlip>
                <a:blip r:embed="rId6"/>
              </a:buBlip>
              <a:defRPr kumimoji="1" sz="2400"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99FF"/>
              </a:buClr>
              <a:buFont typeface="Wingdings" pitchFamily="2" charset="2"/>
              <a:buChar char="ü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99FF"/>
              </a:buClr>
              <a:buChar char="•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99FF"/>
              </a:buClr>
              <a:buChar char="–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FF"/>
              </a:buClr>
              <a:buChar char="–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FF"/>
              </a:buClr>
              <a:buChar char="–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FF"/>
              </a:buClr>
              <a:buChar char="–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FF"/>
              </a:buClr>
              <a:buChar char="–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it-IT" sz="1600" b="0" dirty="0"/>
              <a:t>Milk, eggs, cereal, bread </a:t>
            </a:r>
            <a:endParaRPr kumimoji="0" lang="it-IT" altLang="it-IT" sz="1600" b="0" dirty="0"/>
          </a:p>
        </p:txBody>
      </p:sp>
      <p:sp>
        <p:nvSpPr>
          <p:cNvPr id="7181" name="Rectangle 12">
            <a:extLst>
              <a:ext uri="{FF2B5EF4-FFF2-40B4-BE49-F238E27FC236}">
                <a16:creationId xmlns:a16="http://schemas.microsoft.com/office/drawing/2014/main" id="{2D04EFA3-329E-1D67-1BA7-A8B7F26C8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3505200"/>
            <a:ext cx="1257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99FF"/>
              </a:buClr>
              <a:buSzPct val="85000"/>
              <a:buFont typeface="Monotype Sorts" pitchFamily="2" charset="2"/>
              <a:buBlip>
                <a:blip r:embed="rId6"/>
              </a:buBlip>
              <a:defRPr kumimoji="1" sz="2800"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99FF"/>
              </a:buClr>
              <a:buSzPct val="60000"/>
              <a:buFont typeface="Monotype Sorts" pitchFamily="2" charset="2"/>
              <a:buBlip>
                <a:blip r:embed="rId6"/>
              </a:buBlip>
              <a:defRPr kumimoji="1" sz="2400"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99FF"/>
              </a:buClr>
              <a:buFont typeface="Wingdings" pitchFamily="2" charset="2"/>
              <a:buChar char="ü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99FF"/>
              </a:buClr>
              <a:buChar char="•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99FF"/>
              </a:buClr>
              <a:buChar char="–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FF"/>
              </a:buClr>
              <a:buChar char="–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FF"/>
              </a:buClr>
              <a:buChar char="–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FF"/>
              </a:buClr>
              <a:buChar char="–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FF"/>
              </a:buClr>
              <a:buChar char="–"/>
              <a:defRPr kumimoji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it-IT" sz="1600" b="0"/>
              <a:t>Eggs, sugar</a:t>
            </a:r>
            <a:endParaRPr kumimoji="0" lang="it-IT" altLang="it-IT" sz="1600" b="0"/>
          </a:p>
        </p:txBody>
      </p:sp>
      <p:graphicFrame>
        <p:nvGraphicFramePr>
          <p:cNvPr id="7182" name="Object 5">
            <a:extLst>
              <a:ext uri="{FF2B5EF4-FFF2-40B4-BE49-F238E27FC236}">
                <a16:creationId xmlns:a16="http://schemas.microsoft.com/office/drawing/2014/main" id="{106DBBF7-DC2A-4E26-405E-C8ED541E5C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9690060"/>
              </p:ext>
            </p:extLst>
          </p:nvPr>
        </p:nvGraphicFramePr>
        <p:xfrm>
          <a:off x="1977233" y="4051299"/>
          <a:ext cx="1819275" cy="166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826500" imgH="9969500" progId="Word.Document.8">
                  <p:embed/>
                </p:oleObj>
              </mc:Choice>
              <mc:Fallback>
                <p:oleObj name="Document" r:id="rId2" imgW="8826500" imgH="9969500" progId="Word.Document.8">
                  <p:embed/>
                  <p:pic>
                    <p:nvPicPr>
                      <p:cNvPr id="7182" name="Object 5">
                        <a:extLst>
                          <a:ext uri="{FF2B5EF4-FFF2-40B4-BE49-F238E27FC236}">
                            <a16:creationId xmlns:a16="http://schemas.microsoft.com/office/drawing/2014/main" id="{106DBBF7-DC2A-4E26-405E-C8ED541E5C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7233" y="4051299"/>
                        <a:ext cx="1819275" cy="166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>
            <a:extLst>
              <a:ext uri="{FF2B5EF4-FFF2-40B4-BE49-F238E27FC236}">
                <a16:creationId xmlns:a16="http://schemas.microsoft.com/office/drawing/2014/main" id="{F54D9F2D-4FBE-4E3C-8A6B-E47B73C488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Market Basket Analysis: The Context</a:t>
            </a:r>
          </a:p>
        </p:txBody>
      </p:sp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AE5FCEAE-3CD4-F86E-14A2-C7D7653DC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86954" cy="435133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it-IT" dirty="0"/>
              <a:t>Given: a</a:t>
            </a:r>
            <a:r>
              <a:rPr lang="it-IT" altLang="it-IT" dirty="0"/>
              <a:t> database of customer </a:t>
            </a:r>
            <a:r>
              <a:rPr lang="it-IT" altLang="it-IT" dirty="0" err="1">
                <a:solidFill>
                  <a:schemeClr val="accent1"/>
                </a:solidFill>
              </a:rPr>
              <a:t>transactions</a:t>
            </a:r>
            <a:r>
              <a:rPr lang="en-US" altLang="it-IT" dirty="0"/>
              <a:t>, where e</a:t>
            </a:r>
            <a:r>
              <a:rPr lang="it-IT" altLang="it-IT" dirty="0" err="1"/>
              <a:t>ach</a:t>
            </a:r>
            <a:r>
              <a:rPr lang="it-IT" altLang="it-IT" dirty="0"/>
              <a:t> </a:t>
            </a:r>
            <a:r>
              <a:rPr lang="it-IT" altLang="it-IT" dirty="0" err="1"/>
              <a:t>transaction</a:t>
            </a:r>
            <a:r>
              <a:rPr lang="it-IT" altLang="it-IT" dirty="0"/>
              <a:t> </a:t>
            </a:r>
            <a:r>
              <a:rPr lang="it-IT" altLang="it-IT" dirty="0" err="1"/>
              <a:t>is</a:t>
            </a:r>
            <a:r>
              <a:rPr lang="it-IT" altLang="it-IT" dirty="0"/>
              <a:t> a </a:t>
            </a:r>
            <a:r>
              <a:rPr lang="it-IT" altLang="it-IT" dirty="0">
                <a:solidFill>
                  <a:schemeClr val="accent1"/>
                </a:solidFill>
              </a:rPr>
              <a:t>set of items.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altLang="it-IT" dirty="0">
              <a:solidFill>
                <a:schemeClr val="accent1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it-IT" dirty="0">
                <a:solidFill>
                  <a:schemeClr val="accent1"/>
                </a:solidFill>
              </a:rPr>
              <a:t>Goal: </a:t>
            </a:r>
            <a:r>
              <a:rPr lang="it-IT" altLang="it-IT" dirty="0" err="1"/>
              <a:t>Find</a:t>
            </a:r>
            <a:r>
              <a:rPr lang="it-IT" altLang="it-IT" dirty="0"/>
              <a:t> </a:t>
            </a:r>
            <a:r>
              <a:rPr lang="en-US" altLang="it-IT" dirty="0"/>
              <a:t>groups of items which are </a:t>
            </a:r>
            <a:r>
              <a:rPr lang="en-US" altLang="it-IT" dirty="0">
                <a:solidFill>
                  <a:schemeClr val="accent1"/>
                </a:solidFill>
              </a:rPr>
              <a:t>frequently purchased together.</a:t>
            </a:r>
            <a:endParaRPr lang="it-IT" altLang="it-IT" sz="2800" dirty="0">
              <a:latin typeface="Times New Roman" panose="02020603050405020304" pitchFamily="18" charset="0"/>
            </a:endParaRPr>
          </a:p>
          <a:p>
            <a:endParaRPr lang="en-US" sz="3200" dirty="0"/>
          </a:p>
        </p:txBody>
      </p:sp>
      <p:graphicFrame>
        <p:nvGraphicFramePr>
          <p:cNvPr id="8198" name="Object 4">
            <a:extLst>
              <a:ext uri="{FF2B5EF4-FFF2-40B4-BE49-F238E27FC236}">
                <a16:creationId xmlns:a16="http://schemas.microsoft.com/office/drawing/2014/main" id="{1F6D29F5-8809-530C-810C-846C89EEBA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9688987"/>
              </p:ext>
            </p:extLst>
          </p:nvPr>
        </p:nvGraphicFramePr>
        <p:xfrm>
          <a:off x="2547877" y="4067175"/>
          <a:ext cx="7467600" cy="224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magine bitmap" r:id="rId2" imgW="8356600" imgH="2349500" progId="Paint.Picture">
                  <p:embed/>
                </p:oleObj>
              </mc:Choice>
              <mc:Fallback>
                <p:oleObj name="Immagine bitmap" r:id="rId2" imgW="8356600" imgH="2349500" progId="Paint.Picture">
                  <p:embed/>
                  <p:pic>
                    <p:nvPicPr>
                      <p:cNvPr id="8198" name="Object 4">
                        <a:extLst>
                          <a:ext uri="{FF2B5EF4-FFF2-40B4-BE49-F238E27FC236}">
                            <a16:creationId xmlns:a16="http://schemas.microsoft.com/office/drawing/2014/main" id="{1F6D29F5-8809-530C-810C-846C89EEBA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7877" y="4067175"/>
                        <a:ext cx="7467600" cy="224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>
            <a:extLst>
              <a:ext uri="{FF2B5EF4-FFF2-40B4-BE49-F238E27FC236}">
                <a16:creationId xmlns:a16="http://schemas.microsoft.com/office/drawing/2014/main" id="{BFCD6543-7268-41B2-A871-3DBC2315EB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>
                <a:ea typeface="+mj-ea"/>
                <a:cs typeface="+mj-cs"/>
              </a:rPr>
              <a:t>Goal of MBA</a:t>
            </a:r>
          </a:p>
        </p:txBody>
      </p:sp>
      <p:sp>
        <p:nvSpPr>
          <p:cNvPr id="9221" name="Rectangle 3">
            <a:extLst>
              <a:ext uri="{FF2B5EF4-FFF2-40B4-BE49-F238E27FC236}">
                <a16:creationId xmlns:a16="http://schemas.microsoft.com/office/drawing/2014/main" id="{C2869E2B-78F0-D37B-353E-54848EDA33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it-IT" altLang="it-IT" sz="2400" dirty="0" err="1"/>
              <a:t>Extract</a:t>
            </a:r>
            <a:r>
              <a:rPr lang="it-IT" altLang="it-IT" sz="2400" dirty="0"/>
              <a:t> information on</a:t>
            </a:r>
            <a:r>
              <a:rPr lang="it-IT" altLang="it-IT" dirty="0"/>
              <a:t> </a:t>
            </a:r>
            <a:r>
              <a:rPr lang="en-US" altLang="it-IT" sz="2400" dirty="0"/>
              <a:t>purchasing behavior</a:t>
            </a:r>
          </a:p>
          <a:p>
            <a:pPr>
              <a:lnSpc>
                <a:spcPct val="90000"/>
              </a:lnSpc>
            </a:pPr>
            <a:r>
              <a:rPr lang="en-US" altLang="it-IT" sz="2400" dirty="0"/>
              <a:t>Actionable information: can suggest</a:t>
            </a:r>
          </a:p>
          <a:p>
            <a:pPr lvl="1">
              <a:lnSpc>
                <a:spcPct val="90000"/>
              </a:lnSpc>
            </a:pPr>
            <a:r>
              <a:rPr lang="en-US" altLang="it-IT" sz="2000" dirty="0"/>
              <a:t>new store layouts</a:t>
            </a:r>
          </a:p>
          <a:p>
            <a:pPr lvl="1">
              <a:lnSpc>
                <a:spcPct val="90000"/>
              </a:lnSpc>
            </a:pPr>
            <a:r>
              <a:rPr lang="en-US" altLang="it-IT" sz="2000" dirty="0"/>
              <a:t>new product assortments</a:t>
            </a:r>
          </a:p>
          <a:p>
            <a:pPr lvl="1">
              <a:lnSpc>
                <a:spcPct val="90000"/>
              </a:lnSpc>
            </a:pPr>
            <a:r>
              <a:rPr lang="en-US" altLang="it-IT" sz="2000" dirty="0"/>
              <a:t>which products to put on promotion</a:t>
            </a:r>
          </a:p>
          <a:p>
            <a:pPr>
              <a:lnSpc>
                <a:spcPct val="90000"/>
              </a:lnSpc>
            </a:pPr>
            <a:r>
              <a:rPr lang="en-US" altLang="it-IT" sz="2400" dirty="0"/>
              <a:t>MBA applicable whenever a customer purchases multiple things in proximity</a:t>
            </a:r>
          </a:p>
          <a:p>
            <a:pPr lvl="1">
              <a:lnSpc>
                <a:spcPct val="90000"/>
              </a:lnSpc>
            </a:pPr>
            <a:r>
              <a:rPr lang="en-US" altLang="it-IT" sz="2000" dirty="0"/>
              <a:t>credit cards</a:t>
            </a:r>
          </a:p>
          <a:p>
            <a:pPr lvl="1">
              <a:lnSpc>
                <a:spcPct val="90000"/>
              </a:lnSpc>
            </a:pPr>
            <a:r>
              <a:rPr lang="en-US" altLang="it-IT" sz="2000" dirty="0"/>
              <a:t>services of telecommunication companies</a:t>
            </a:r>
          </a:p>
          <a:p>
            <a:pPr lvl="1">
              <a:lnSpc>
                <a:spcPct val="90000"/>
              </a:lnSpc>
            </a:pPr>
            <a:r>
              <a:rPr lang="en-US" altLang="it-IT" sz="2000" dirty="0"/>
              <a:t>banking services</a:t>
            </a:r>
          </a:p>
          <a:p>
            <a:pPr lvl="1">
              <a:lnSpc>
                <a:spcPct val="90000"/>
              </a:lnSpc>
            </a:pPr>
            <a:r>
              <a:rPr lang="en-US" altLang="it-IT" sz="2000" dirty="0"/>
              <a:t>medical treatments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endParaRPr lang="en-US" altLang="it-IT" sz="2000" dirty="0"/>
          </a:p>
          <a:p>
            <a:pPr lvl="1">
              <a:lnSpc>
                <a:spcPct val="90000"/>
              </a:lnSpc>
            </a:pPr>
            <a:endParaRPr lang="it-IT" altLang="it-IT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>
            <a:extLst>
              <a:ext uri="{FF2B5EF4-FFF2-40B4-BE49-F238E27FC236}">
                <a16:creationId xmlns:a16="http://schemas.microsoft.com/office/drawing/2014/main" id="{74551749-A061-43BD-A49B-5F0966DC7A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MBA: applicable to many other contexts</a:t>
            </a:r>
            <a:endParaRPr lang="it-IT">
              <a:ea typeface="+mj-ea"/>
              <a:cs typeface="+mj-cs"/>
            </a:endParaRPr>
          </a:p>
        </p:txBody>
      </p:sp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3AD95B9E-8EC2-6AC1-1E7A-AEB2589BC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it-IT" sz="2400" dirty="0"/>
              <a:t>T</a:t>
            </a:r>
            <a:r>
              <a:rPr lang="it-IT" altLang="it-IT" sz="2400" dirty="0" err="1"/>
              <a:t>elecommunication</a:t>
            </a:r>
            <a:r>
              <a:rPr lang="it-IT" altLang="it-IT" sz="2400" dirty="0"/>
              <a:t>: </a:t>
            </a:r>
          </a:p>
          <a:p>
            <a:pPr lvl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it-IT" dirty="0"/>
              <a:t>Each customer is a transaction containing the set of customer’s phone calls</a:t>
            </a:r>
          </a:p>
          <a:p>
            <a:pPr lvl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it-IT" altLang="it-IT" dirty="0"/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it-IT" sz="2400" dirty="0"/>
              <a:t>Atmospheric phenomena:</a:t>
            </a:r>
            <a:endParaRPr lang="it-IT" altLang="it-IT" sz="2400" dirty="0"/>
          </a:p>
          <a:p>
            <a:pPr lvl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it-IT" dirty="0"/>
              <a:t>Each time interval (e.g. a day) is a transaction containing the set of observed event (rains, wind, etc.)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400" dirty="0"/>
              <a:t>E</a:t>
            </a:r>
            <a:r>
              <a:rPr lang="en-US" altLang="it-IT" sz="2400" dirty="0"/>
              <a:t>t</a:t>
            </a:r>
            <a:r>
              <a:rPr lang="it-IT" altLang="it-IT" sz="2400" dirty="0"/>
              <a:t>c.</a:t>
            </a:r>
            <a:endParaRPr lang="en-US" altLang="it-IT" sz="24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>
            <a:extLst>
              <a:ext uri="{FF2B5EF4-FFF2-40B4-BE49-F238E27FC236}">
                <a16:creationId xmlns:a16="http://schemas.microsoft.com/office/drawing/2014/main" id="{35645EAA-7E66-4286-BF37-3F916A80C3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>
                <a:ea typeface="+mj-ea"/>
                <a:cs typeface="+mj-cs"/>
              </a:rPr>
              <a:t>Association Rules</a:t>
            </a:r>
          </a:p>
        </p:txBody>
      </p:sp>
      <p:sp>
        <p:nvSpPr>
          <p:cNvPr id="11269" name="Rectangle 3">
            <a:extLst>
              <a:ext uri="{FF2B5EF4-FFF2-40B4-BE49-F238E27FC236}">
                <a16:creationId xmlns:a16="http://schemas.microsoft.com/office/drawing/2014/main" id="{4635C6F1-9DE1-EEAE-D4B1-6217A403E5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it-IT" altLang="it-IT" sz="2400" dirty="0"/>
              <a:t>Express </a:t>
            </a:r>
            <a:r>
              <a:rPr lang="it-IT" altLang="it-IT" sz="2400" dirty="0" err="1"/>
              <a:t>how</a:t>
            </a:r>
            <a:r>
              <a:rPr lang="it-IT" altLang="it-IT" sz="2400" dirty="0"/>
              <a:t> product/services relate to </a:t>
            </a:r>
            <a:r>
              <a:rPr lang="it-IT" altLang="it-IT" sz="2400" dirty="0" err="1"/>
              <a:t>each</a:t>
            </a:r>
            <a:r>
              <a:rPr lang="it-IT" altLang="it-IT" sz="2400" dirty="0"/>
              <a:t> </a:t>
            </a:r>
            <a:r>
              <a:rPr lang="it-IT" altLang="it-IT" sz="2400" dirty="0" err="1"/>
              <a:t>other</a:t>
            </a:r>
            <a:r>
              <a:rPr lang="it-IT" altLang="it-IT" sz="2400" dirty="0"/>
              <a:t>, and </a:t>
            </a:r>
            <a:r>
              <a:rPr lang="it-IT" altLang="it-IT" sz="2400" dirty="0" err="1"/>
              <a:t>tend</a:t>
            </a:r>
            <a:r>
              <a:rPr lang="it-IT" altLang="it-IT" sz="2400" dirty="0"/>
              <a:t> to group </a:t>
            </a:r>
            <a:r>
              <a:rPr lang="it-IT" altLang="it-IT" sz="2400" dirty="0" err="1"/>
              <a:t>together</a:t>
            </a:r>
            <a:endParaRPr lang="it-IT" altLang="it-IT" sz="2400" dirty="0"/>
          </a:p>
          <a:p>
            <a:r>
              <a:rPr lang="ja-JP" altLang="it-IT" sz="2400">
                <a:latin typeface="Arial" panose="020B0604020202020204" pitchFamily="34" charset="0"/>
              </a:rPr>
              <a:t>“</a:t>
            </a:r>
            <a:r>
              <a:rPr lang="it-IT" altLang="ja-JP" sz="2400" dirty="0" err="1">
                <a:solidFill>
                  <a:schemeClr val="accent1"/>
                </a:solidFill>
              </a:rPr>
              <a:t>if</a:t>
            </a:r>
            <a:r>
              <a:rPr lang="it-IT" altLang="ja-JP" sz="2400" dirty="0"/>
              <a:t> a customer </a:t>
            </a:r>
            <a:r>
              <a:rPr lang="it-IT" altLang="ja-JP" sz="2400" dirty="0" err="1"/>
              <a:t>purchases</a:t>
            </a:r>
            <a:r>
              <a:rPr lang="it-IT" altLang="ja-JP" sz="2400" dirty="0"/>
              <a:t> </a:t>
            </a:r>
            <a:r>
              <a:rPr lang="it-IT" altLang="ja-JP" sz="2400" dirty="0" err="1"/>
              <a:t>three</a:t>
            </a:r>
            <a:r>
              <a:rPr lang="it-IT" altLang="ja-JP" sz="2400" dirty="0"/>
              <a:t>-way </a:t>
            </a:r>
            <a:r>
              <a:rPr lang="it-IT" altLang="ja-JP" sz="2400" dirty="0" err="1"/>
              <a:t>calling</a:t>
            </a:r>
            <a:r>
              <a:rPr lang="it-IT" altLang="ja-JP" sz="2400" dirty="0"/>
              <a:t>, </a:t>
            </a:r>
            <a:r>
              <a:rPr lang="it-IT" altLang="ja-JP" sz="2400" dirty="0" err="1">
                <a:solidFill>
                  <a:schemeClr val="accent1"/>
                </a:solidFill>
              </a:rPr>
              <a:t>then</a:t>
            </a:r>
            <a:r>
              <a:rPr lang="it-IT" altLang="ja-JP" sz="2400" dirty="0"/>
              <a:t> </a:t>
            </a:r>
            <a:r>
              <a:rPr lang="it-IT" altLang="ja-JP" sz="2400" dirty="0" err="1"/>
              <a:t>will</a:t>
            </a:r>
            <a:r>
              <a:rPr lang="it-IT" altLang="ja-JP" sz="2400" dirty="0"/>
              <a:t> </a:t>
            </a:r>
            <a:r>
              <a:rPr lang="it-IT" altLang="ja-JP" sz="2400" dirty="0" err="1"/>
              <a:t>also</a:t>
            </a:r>
            <a:r>
              <a:rPr lang="it-IT" altLang="ja-JP" sz="2400" dirty="0"/>
              <a:t> </a:t>
            </a:r>
            <a:r>
              <a:rPr lang="it-IT" altLang="ja-JP" sz="2400" dirty="0" err="1"/>
              <a:t>purchase</a:t>
            </a:r>
            <a:r>
              <a:rPr lang="it-IT" altLang="ja-JP" sz="2400" dirty="0"/>
              <a:t> call-</a:t>
            </a:r>
            <a:r>
              <a:rPr lang="it-IT" altLang="ja-JP" sz="2400" dirty="0" err="1"/>
              <a:t>waiting</a:t>
            </a:r>
            <a:r>
              <a:rPr lang="ja-JP" altLang="it-IT" sz="2400">
                <a:latin typeface="Arial" panose="020B0604020202020204" pitchFamily="34" charset="0"/>
              </a:rPr>
              <a:t>”</a:t>
            </a:r>
            <a:endParaRPr lang="it-IT" altLang="ja-JP" sz="2400" dirty="0"/>
          </a:p>
          <a:p>
            <a:r>
              <a:rPr lang="it-IT" altLang="it-IT" sz="2400" dirty="0" err="1"/>
              <a:t>simple</a:t>
            </a:r>
            <a:r>
              <a:rPr lang="it-IT" altLang="it-IT" sz="2400" dirty="0"/>
              <a:t> to </a:t>
            </a:r>
            <a:r>
              <a:rPr lang="it-IT" altLang="it-IT" sz="2400" dirty="0" err="1"/>
              <a:t>understand</a:t>
            </a:r>
            <a:endParaRPr lang="it-IT" altLang="it-IT" sz="2400" dirty="0"/>
          </a:p>
          <a:p>
            <a:r>
              <a:rPr lang="it-IT" altLang="it-IT" sz="2400" dirty="0" err="1"/>
              <a:t>actionable</a:t>
            </a:r>
            <a:r>
              <a:rPr lang="it-IT" altLang="it-IT" sz="2400" dirty="0"/>
              <a:t> information: bundle </a:t>
            </a:r>
            <a:r>
              <a:rPr lang="it-IT" altLang="it-IT" sz="2400" dirty="0" err="1"/>
              <a:t>three</a:t>
            </a:r>
            <a:r>
              <a:rPr lang="it-IT" altLang="it-IT" sz="2400" dirty="0"/>
              <a:t>-way </a:t>
            </a:r>
            <a:r>
              <a:rPr lang="it-IT" altLang="it-IT" sz="2400" dirty="0" err="1"/>
              <a:t>calling</a:t>
            </a:r>
            <a:r>
              <a:rPr lang="it-IT" altLang="it-IT" sz="2400" dirty="0"/>
              <a:t> and call-</a:t>
            </a:r>
            <a:r>
              <a:rPr lang="it-IT" altLang="it-IT" sz="2400" dirty="0" err="1"/>
              <a:t>waiting</a:t>
            </a:r>
            <a:r>
              <a:rPr lang="it-IT" altLang="it-IT" sz="2400" dirty="0"/>
              <a:t> in a single package</a:t>
            </a:r>
          </a:p>
          <a:p>
            <a:pPr>
              <a:buSzPct val="80000"/>
            </a:pPr>
            <a:r>
              <a:rPr lang="en-US" altLang="it-IT" sz="2400" dirty="0"/>
              <a:t>Examples. </a:t>
            </a:r>
          </a:p>
          <a:p>
            <a:pPr lvl="1">
              <a:buSzPct val="80000"/>
            </a:pPr>
            <a:r>
              <a:rPr lang="en-US" altLang="it-IT" sz="2000" dirty="0"/>
              <a:t>Rule form:  “</a:t>
            </a:r>
            <a:r>
              <a:rPr lang="en-US" altLang="ja-JP" sz="2000" dirty="0">
                <a:solidFill>
                  <a:schemeClr val="hlink"/>
                </a:solidFill>
              </a:rPr>
              <a:t>Body </a:t>
            </a:r>
            <a:r>
              <a:rPr lang="en-US" altLang="ja-JP" sz="2000" dirty="0">
                <a:solidFill>
                  <a:schemeClr val="hlink"/>
                </a:solidFill>
                <a:latin typeface="Symbol" pitchFamily="2" charset="2"/>
              </a:rPr>
              <a:t>® H</a:t>
            </a:r>
            <a:r>
              <a:rPr lang="en-US" altLang="ja-JP" sz="2000" dirty="0">
                <a:solidFill>
                  <a:schemeClr val="hlink"/>
                </a:solidFill>
              </a:rPr>
              <a:t>ead [support, confidence]</a:t>
            </a:r>
            <a:r>
              <a:rPr lang="en-US" altLang="it-IT" sz="2000" dirty="0">
                <a:solidFill>
                  <a:schemeClr val="hlink"/>
                </a:solidFill>
              </a:rPr>
              <a:t>”</a:t>
            </a:r>
            <a:r>
              <a:rPr lang="en-US" altLang="ja-JP" sz="2000" dirty="0">
                <a:solidFill>
                  <a:schemeClr val="hlink"/>
                </a:solidFill>
              </a:rPr>
              <a:t>.</a:t>
            </a:r>
          </a:p>
          <a:p>
            <a:pPr lvl="1">
              <a:buSzPct val="80000"/>
            </a:pPr>
            <a:r>
              <a:rPr lang="en-US" altLang="it-IT" sz="2000" dirty="0"/>
              <a:t>buys(x, “diapers”) </a:t>
            </a:r>
            <a:r>
              <a:rPr lang="en-US" altLang="it-IT" sz="2000" dirty="0">
                <a:latin typeface="Symbol" pitchFamily="2" charset="2"/>
              </a:rPr>
              <a:t>® </a:t>
            </a:r>
            <a:r>
              <a:rPr lang="en-US" altLang="it-IT" sz="2000" dirty="0"/>
              <a:t> buys(x, “beers”) [0.5%, 60%]</a:t>
            </a:r>
          </a:p>
          <a:p>
            <a:pPr lvl="1">
              <a:buSzPct val="80000"/>
            </a:pPr>
            <a:r>
              <a:rPr lang="en-US" altLang="it-IT" sz="2000" dirty="0"/>
              <a:t>major(x, “CS”) and takes(x, “DB”) </a:t>
            </a:r>
            <a:r>
              <a:rPr lang="en-US" altLang="it-IT" sz="2000" dirty="0">
                <a:latin typeface="Symbol" pitchFamily="2" charset="2"/>
              </a:rPr>
              <a:t>®  </a:t>
            </a:r>
            <a:r>
              <a:rPr lang="en-US" altLang="it-IT" sz="2000" dirty="0"/>
              <a:t>grade(x, “A”) [1%, 75%]</a:t>
            </a:r>
            <a:endParaRPr lang="it-IT" altLang="it-IT" sz="2000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A78E3EC-A674-E7AF-E333-213692E71E63}"/>
              </a:ext>
            </a:extLst>
          </p:cNvPr>
          <p:cNvSpPr txBox="1"/>
          <p:nvPr/>
        </p:nvSpPr>
        <p:spPr>
          <a:xfrm>
            <a:off x="5343645" y="5665569"/>
            <a:ext cx="1504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X </a:t>
            </a:r>
            <a:r>
              <a:rPr lang="en-US" altLang="it-IT" sz="3600" dirty="0">
                <a:latin typeface="Symbol" pitchFamily="2" charset="2"/>
              </a:rPr>
              <a:t>®</a:t>
            </a:r>
            <a:r>
              <a:rPr lang="en-US" sz="3600" dirty="0">
                <a:sym typeface="Wingdings" pitchFamily="2" charset="2"/>
              </a:rPr>
              <a:t> Y</a:t>
            </a:r>
            <a:endParaRPr lang="en-US" sz="36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B6A95B2-6AB2-B4CC-624C-E497CCFE8112}"/>
              </a:ext>
            </a:extLst>
          </p:cNvPr>
          <p:cNvSpPr txBox="1"/>
          <p:nvPr/>
        </p:nvSpPr>
        <p:spPr>
          <a:xfrm>
            <a:off x="2801073" y="5875100"/>
            <a:ext cx="2410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Body/Head/Antecedent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DB285C8-F531-A525-7A32-7AF55DABE0AE}"/>
              </a:ext>
            </a:extLst>
          </p:cNvPr>
          <p:cNvSpPr txBox="1"/>
          <p:nvPr/>
        </p:nvSpPr>
        <p:spPr>
          <a:xfrm>
            <a:off x="6980011" y="5841366"/>
            <a:ext cx="2294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Head/Tail/Consequent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>
            <a:extLst>
              <a:ext uri="{FF2B5EF4-FFF2-40B4-BE49-F238E27FC236}">
                <a16:creationId xmlns:a16="http://schemas.microsoft.com/office/drawing/2014/main" id="{64199C19-3E22-4699-A309-755273CE9C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>
                <a:ea typeface="+mj-ea"/>
                <a:cs typeface="+mj-cs"/>
              </a:rPr>
              <a:t>Useful, trivial, unexplicable</a:t>
            </a:r>
          </a:p>
        </p:txBody>
      </p:sp>
      <p:sp>
        <p:nvSpPr>
          <p:cNvPr id="344067" name="Rectangle 3">
            <a:extLst>
              <a:ext uri="{FF2B5EF4-FFF2-40B4-BE49-F238E27FC236}">
                <a16:creationId xmlns:a16="http://schemas.microsoft.com/office/drawing/2014/main" id="{BA949FAC-C66C-A9D2-F002-481BDF99A7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it-IT" altLang="it-IT" b="0" dirty="0" err="1">
                <a:solidFill>
                  <a:schemeClr val="accent1"/>
                </a:solidFill>
              </a:rPr>
              <a:t>Useful</a:t>
            </a:r>
            <a:r>
              <a:rPr lang="it-IT" altLang="it-IT" dirty="0"/>
              <a:t>: </a:t>
            </a:r>
            <a:r>
              <a:rPr lang="ja-JP" altLang="it-IT">
                <a:latin typeface="Arial" panose="020B0604020202020204" pitchFamily="34" charset="0"/>
              </a:rPr>
              <a:t>“</a:t>
            </a:r>
            <a:r>
              <a:rPr lang="it-IT" altLang="ja-JP" dirty="0"/>
              <a:t>On </a:t>
            </a:r>
            <a:r>
              <a:rPr lang="it-IT" altLang="ja-JP" dirty="0" err="1"/>
              <a:t>Thursdays</a:t>
            </a:r>
            <a:r>
              <a:rPr lang="it-IT" altLang="ja-JP" dirty="0"/>
              <a:t>, </a:t>
            </a:r>
            <a:r>
              <a:rPr lang="it-IT" altLang="ja-JP" dirty="0" err="1"/>
              <a:t>grocery</a:t>
            </a:r>
            <a:r>
              <a:rPr lang="it-IT" altLang="ja-JP" dirty="0"/>
              <a:t> store consumers </a:t>
            </a:r>
            <a:r>
              <a:rPr lang="it-IT" altLang="ja-JP" dirty="0" err="1"/>
              <a:t>often</a:t>
            </a:r>
            <a:r>
              <a:rPr lang="it-IT" altLang="ja-JP" dirty="0"/>
              <a:t> </a:t>
            </a:r>
            <a:r>
              <a:rPr lang="it-IT" altLang="ja-JP" dirty="0" err="1"/>
              <a:t>purchase</a:t>
            </a:r>
            <a:r>
              <a:rPr lang="it-IT" altLang="ja-JP" dirty="0"/>
              <a:t> </a:t>
            </a:r>
            <a:r>
              <a:rPr lang="it-IT" altLang="ja-JP" dirty="0" err="1"/>
              <a:t>diapers</a:t>
            </a:r>
            <a:r>
              <a:rPr lang="it-IT" altLang="ja-JP" dirty="0"/>
              <a:t> and </a:t>
            </a:r>
            <a:r>
              <a:rPr lang="it-IT" altLang="ja-JP" dirty="0" err="1"/>
              <a:t>beer</a:t>
            </a:r>
            <a:r>
              <a:rPr lang="it-IT" altLang="ja-JP" dirty="0"/>
              <a:t> </a:t>
            </a:r>
            <a:r>
              <a:rPr lang="it-IT" altLang="ja-JP" dirty="0" err="1"/>
              <a:t>together</a:t>
            </a:r>
            <a:r>
              <a:rPr lang="ja-JP" altLang="it-IT">
                <a:latin typeface="Arial" panose="020B0604020202020204" pitchFamily="34" charset="0"/>
              </a:rPr>
              <a:t>”</a:t>
            </a:r>
            <a:r>
              <a:rPr lang="it-IT" altLang="ja-JP" dirty="0"/>
              <a:t>.</a:t>
            </a:r>
          </a:p>
          <a:p>
            <a:r>
              <a:rPr lang="it-IT" altLang="it-IT" b="0" dirty="0" err="1">
                <a:solidFill>
                  <a:schemeClr val="accent1"/>
                </a:solidFill>
              </a:rPr>
              <a:t>Trivial</a:t>
            </a:r>
            <a:r>
              <a:rPr lang="it-IT" altLang="it-IT" dirty="0"/>
              <a:t>: </a:t>
            </a:r>
            <a:r>
              <a:rPr lang="ja-JP" altLang="it-IT">
                <a:latin typeface="Arial" panose="020B0604020202020204" pitchFamily="34" charset="0"/>
              </a:rPr>
              <a:t>“</a:t>
            </a:r>
            <a:r>
              <a:rPr lang="it-IT" altLang="ja-JP" dirty="0"/>
              <a:t>Customers </a:t>
            </a:r>
            <a:r>
              <a:rPr lang="it-IT" altLang="ja-JP" dirty="0" err="1"/>
              <a:t>who</a:t>
            </a:r>
            <a:r>
              <a:rPr lang="it-IT" altLang="ja-JP" dirty="0"/>
              <a:t> </a:t>
            </a:r>
            <a:r>
              <a:rPr lang="it-IT" altLang="ja-JP" dirty="0" err="1"/>
              <a:t>purchase</a:t>
            </a:r>
            <a:r>
              <a:rPr lang="it-IT" altLang="ja-JP" dirty="0"/>
              <a:t> </a:t>
            </a:r>
            <a:r>
              <a:rPr lang="it-IT" altLang="ja-JP" dirty="0" err="1"/>
              <a:t>maintenance</a:t>
            </a:r>
            <a:r>
              <a:rPr lang="it-IT" altLang="ja-JP" dirty="0"/>
              <a:t> agreements are </a:t>
            </a:r>
            <a:r>
              <a:rPr lang="it-IT" altLang="ja-JP" dirty="0" err="1"/>
              <a:t>very</a:t>
            </a:r>
            <a:r>
              <a:rPr lang="it-IT" altLang="ja-JP" dirty="0"/>
              <a:t> </a:t>
            </a:r>
            <a:r>
              <a:rPr lang="it-IT" altLang="ja-JP" dirty="0" err="1"/>
              <a:t>likely</a:t>
            </a:r>
            <a:r>
              <a:rPr lang="it-IT" altLang="ja-JP" dirty="0"/>
              <a:t> to </a:t>
            </a:r>
            <a:r>
              <a:rPr lang="it-IT" altLang="ja-JP" dirty="0" err="1"/>
              <a:t>purchase</a:t>
            </a:r>
            <a:r>
              <a:rPr lang="it-IT" altLang="ja-JP" dirty="0"/>
              <a:t> large appliances</a:t>
            </a:r>
            <a:r>
              <a:rPr lang="ja-JP" altLang="it-IT">
                <a:latin typeface="Arial" panose="020B0604020202020204" pitchFamily="34" charset="0"/>
              </a:rPr>
              <a:t>”</a:t>
            </a:r>
            <a:r>
              <a:rPr lang="it-IT" altLang="ja-JP" dirty="0"/>
              <a:t>.</a:t>
            </a:r>
          </a:p>
          <a:p>
            <a:r>
              <a:rPr lang="it-IT" altLang="it-IT" b="0" dirty="0" err="1">
                <a:solidFill>
                  <a:schemeClr val="accent1"/>
                </a:solidFill>
              </a:rPr>
              <a:t>Unexplicable</a:t>
            </a:r>
            <a:r>
              <a:rPr lang="it-IT" altLang="it-IT" dirty="0"/>
              <a:t>: </a:t>
            </a:r>
            <a:r>
              <a:rPr lang="ja-JP" altLang="it-IT">
                <a:latin typeface="Arial" panose="020B0604020202020204" pitchFamily="34" charset="0"/>
              </a:rPr>
              <a:t>“</a:t>
            </a:r>
            <a:r>
              <a:rPr lang="it-IT" altLang="ja-JP" dirty="0" err="1"/>
              <a:t>When</a:t>
            </a:r>
            <a:r>
              <a:rPr lang="it-IT" altLang="ja-JP" dirty="0"/>
              <a:t> a new </a:t>
            </a:r>
            <a:r>
              <a:rPr lang="it-IT" altLang="ja-JP" dirty="0" err="1"/>
              <a:t>hardaware</a:t>
            </a:r>
            <a:r>
              <a:rPr lang="it-IT" altLang="ja-JP" dirty="0"/>
              <a:t> store </a:t>
            </a:r>
            <a:r>
              <a:rPr lang="it-IT" altLang="ja-JP" dirty="0" err="1"/>
              <a:t>opens</a:t>
            </a:r>
            <a:r>
              <a:rPr lang="it-IT" altLang="ja-JP" dirty="0"/>
              <a:t>, one of the </a:t>
            </a:r>
            <a:r>
              <a:rPr lang="it-IT" altLang="ja-JP" dirty="0" err="1"/>
              <a:t>most</a:t>
            </a:r>
            <a:r>
              <a:rPr lang="it-IT" altLang="ja-JP" dirty="0"/>
              <a:t> </a:t>
            </a:r>
            <a:r>
              <a:rPr lang="it-IT" altLang="ja-JP" dirty="0" err="1"/>
              <a:t>sold</a:t>
            </a:r>
            <a:r>
              <a:rPr lang="it-IT" altLang="ja-JP" dirty="0"/>
              <a:t> items </a:t>
            </a:r>
            <a:r>
              <a:rPr lang="it-IT" altLang="ja-JP" dirty="0" err="1"/>
              <a:t>is</a:t>
            </a:r>
            <a:r>
              <a:rPr lang="it-IT" altLang="ja-JP" dirty="0"/>
              <a:t> </a:t>
            </a:r>
            <a:r>
              <a:rPr lang="it-IT" altLang="ja-JP" dirty="0" err="1"/>
              <a:t>toilet</a:t>
            </a:r>
            <a:r>
              <a:rPr lang="it-IT" altLang="ja-JP" dirty="0"/>
              <a:t> rings.</a:t>
            </a:r>
            <a:r>
              <a:rPr lang="ja-JP" altLang="it-IT">
                <a:latin typeface="Arial" panose="020B0604020202020204" pitchFamily="34" charset="0"/>
              </a:rPr>
              <a:t>”</a:t>
            </a:r>
            <a:endParaRPr lang="en-US" altLang="ja-JP" dirty="0"/>
          </a:p>
          <a:p>
            <a:endParaRPr lang="it-IT" alt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4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44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44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7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Association Rule Mining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Given a set of transactions, find rules that will predict the occurrence of an item based on the occurrences of other items in the transaction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1828800" y="2575740"/>
            <a:ext cx="419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C6D9C"/>
                </a:solidFill>
              </a:rPr>
              <a:t>Market-Basket transactions</a:t>
            </a:r>
          </a:p>
        </p:txBody>
      </p:sp>
      <p:graphicFrame>
        <p:nvGraphicFramePr>
          <p:cNvPr id="51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6266475"/>
              </p:ext>
            </p:extLst>
          </p:nvPr>
        </p:nvGraphicFramePr>
        <p:xfrm>
          <a:off x="1752600" y="3185340"/>
          <a:ext cx="4343400" cy="253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433292" imgH="1998228" progId="Word.Document.8">
                  <p:embed/>
                </p:oleObj>
              </mc:Choice>
              <mc:Fallback>
                <p:oleObj name="Document" r:id="rId2" imgW="3433292" imgH="1998228" progId="Word.Document.8">
                  <p:embed/>
                  <p:pic>
                    <p:nvPicPr>
                      <p:cNvPr id="51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185340"/>
                        <a:ext cx="4343400" cy="2532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6400800" y="2804340"/>
            <a:ext cx="3810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Example of Association Rules</a:t>
            </a:r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6858000" y="3413939"/>
            <a:ext cx="32766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{Diaper} </a:t>
            </a:r>
            <a:r>
              <a:rPr lang="en-US" altLang="en-US" sz="1800">
                <a:sym typeface="Symbol" pitchFamily="18" charset="2"/>
              </a:rPr>
              <a:t> {Beer},</a:t>
            </a:r>
            <a:br>
              <a:rPr lang="en-US" altLang="en-US" sz="1800">
                <a:sym typeface="Symbol" pitchFamily="18" charset="2"/>
              </a:rPr>
            </a:br>
            <a:r>
              <a:rPr lang="en-US" altLang="en-US" sz="1800">
                <a:sym typeface="Symbol" pitchFamily="18" charset="2"/>
              </a:rPr>
              <a:t>{Milk, Bread}  {Eggs,Coke},</a:t>
            </a:r>
            <a:br>
              <a:rPr lang="en-US" altLang="en-US" sz="1800">
                <a:sym typeface="Symbol" pitchFamily="18" charset="2"/>
              </a:rPr>
            </a:br>
            <a:r>
              <a:rPr lang="en-US" altLang="en-US" sz="1800">
                <a:sym typeface="Symbol" pitchFamily="18" charset="2"/>
              </a:rPr>
              <a:t>{Beer, Bread}  {Milk},</a:t>
            </a:r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6400800" y="4404540"/>
            <a:ext cx="4038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/>
              <a:t>Implication means co-occurrence, not causality!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2245E2-6632-6246-8F3D-CCE36D442749}"/>
              </a:ext>
            </a:extLst>
          </p:cNvPr>
          <p:cNvSpPr txBox="1"/>
          <p:nvPr/>
        </p:nvSpPr>
        <p:spPr>
          <a:xfrm>
            <a:off x="2514600" y="5930129"/>
            <a:ext cx="7893424" cy="381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10000"/>
              </a:lnSpc>
              <a:buSzTx/>
            </a:pPr>
            <a:r>
              <a:rPr lang="it-IT" altLang="it-IT" dirty="0" err="1"/>
              <a:t>Find</a:t>
            </a:r>
            <a:r>
              <a:rPr lang="it-IT" altLang="it-IT" dirty="0"/>
              <a:t> </a:t>
            </a:r>
            <a:r>
              <a:rPr lang="en-US" altLang="it-IT" dirty="0"/>
              <a:t>groups of items which are </a:t>
            </a:r>
            <a:r>
              <a:rPr lang="en-US" altLang="it-IT" dirty="0">
                <a:solidFill>
                  <a:schemeClr val="accent1"/>
                </a:solidFill>
              </a:rPr>
              <a:t>frequently purchased together</a:t>
            </a:r>
            <a:r>
              <a:rPr lang="en-US" altLang="it-IT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66195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Definition: Frequent Itemset</a:t>
            </a:r>
          </a:p>
        </p:txBody>
      </p:sp>
      <p:sp>
        <p:nvSpPr>
          <p:cNvPr id="1231875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marL="342900" indent="-342900"/>
            <a:r>
              <a:rPr lang="en-US" altLang="en-US" sz="2400" b="1" dirty="0"/>
              <a:t>Itemset</a:t>
            </a:r>
          </a:p>
          <a:p>
            <a:pPr marL="742950" lvl="1" indent="-285750"/>
            <a:r>
              <a:rPr lang="en-US" altLang="en-US" sz="2000" dirty="0"/>
              <a:t>A collection of one or more items</a:t>
            </a:r>
          </a:p>
          <a:p>
            <a:pPr lvl="2"/>
            <a:r>
              <a:rPr lang="en-US" altLang="en-US" sz="1800" dirty="0"/>
              <a:t>Example: {Milk, Bread, Diaper}</a:t>
            </a:r>
          </a:p>
          <a:p>
            <a:pPr marL="742950" lvl="1" indent="-285750"/>
            <a:r>
              <a:rPr lang="en-US" altLang="en-US" sz="2000" dirty="0"/>
              <a:t>k-itemset</a:t>
            </a:r>
          </a:p>
          <a:p>
            <a:pPr lvl="2"/>
            <a:r>
              <a:rPr lang="en-US" altLang="en-US" sz="1800" dirty="0"/>
              <a:t>An itemset that contains k items</a:t>
            </a:r>
            <a:endParaRPr lang="en-US" altLang="en-US" sz="1800" b="1" dirty="0"/>
          </a:p>
          <a:p>
            <a:pPr marL="342900" indent="-342900"/>
            <a:r>
              <a:rPr lang="en-US" altLang="en-US" sz="2400" b="1" dirty="0"/>
              <a:t>Support count (</a:t>
            </a:r>
            <a:r>
              <a:rPr lang="en-US" altLang="en-US" sz="2400" b="1" dirty="0">
                <a:sym typeface="Symbol" pitchFamily="18" charset="2"/>
              </a:rPr>
              <a:t>)</a:t>
            </a:r>
          </a:p>
          <a:p>
            <a:pPr marL="742950" lvl="1" indent="-285750"/>
            <a:r>
              <a:rPr lang="en-US" altLang="en-US" sz="2000" dirty="0"/>
              <a:t>Frequency of occurrence of an itemset</a:t>
            </a:r>
          </a:p>
          <a:p>
            <a:pPr marL="742950" lvl="1" indent="-285750"/>
            <a:r>
              <a:rPr lang="en-US" altLang="en-US" sz="2000" dirty="0"/>
              <a:t>E.g.   </a:t>
            </a:r>
            <a:r>
              <a:rPr lang="en-US" altLang="en-US" sz="2000" dirty="0">
                <a:sym typeface="Symbol" pitchFamily="18" charset="2"/>
              </a:rPr>
              <a:t>({Milk, </a:t>
            </a:r>
            <a:r>
              <a:rPr lang="en-US" altLang="en-US" sz="2000" dirty="0" err="1">
                <a:sym typeface="Symbol" pitchFamily="18" charset="2"/>
              </a:rPr>
              <a:t>Bread,Diaper</a:t>
            </a:r>
            <a:r>
              <a:rPr lang="en-US" altLang="en-US" sz="2000" dirty="0">
                <a:sym typeface="Symbol" pitchFamily="18" charset="2"/>
              </a:rPr>
              <a:t>}) = 2 </a:t>
            </a:r>
            <a:endParaRPr lang="en-US" altLang="en-US" sz="2000" dirty="0"/>
          </a:p>
          <a:p>
            <a:pPr marL="342900" indent="-342900"/>
            <a:r>
              <a:rPr lang="en-US" altLang="en-US" sz="2400" b="1" dirty="0"/>
              <a:t>Support</a:t>
            </a:r>
          </a:p>
          <a:p>
            <a:pPr marL="742950" lvl="1" indent="-285750"/>
            <a:r>
              <a:rPr lang="en-US" altLang="en-US" sz="2000" dirty="0"/>
              <a:t>Fraction of transactions that contain an itemset</a:t>
            </a:r>
          </a:p>
          <a:p>
            <a:pPr marL="742950" lvl="1" indent="-285750"/>
            <a:r>
              <a:rPr lang="en-US" altLang="en-US" sz="2000" dirty="0"/>
              <a:t>E.g.   s({Milk, Bread, Diaper}) = 2/5</a:t>
            </a:r>
          </a:p>
          <a:p>
            <a:pPr marL="342900" indent="-342900"/>
            <a:r>
              <a:rPr lang="en-US" altLang="en-US" sz="2400" b="1" dirty="0"/>
              <a:t>Frequent Itemset</a:t>
            </a:r>
          </a:p>
          <a:p>
            <a:pPr marL="742950" lvl="1" indent="-285750"/>
            <a:r>
              <a:rPr lang="en-US" altLang="en-US" sz="2000" dirty="0"/>
              <a:t>An itemset whose support is greater than or equal to a </a:t>
            </a:r>
            <a:r>
              <a:rPr lang="en-US" altLang="en-US" sz="2000" i="1" dirty="0" err="1"/>
              <a:t>minsup</a:t>
            </a:r>
            <a:r>
              <a:rPr lang="en-US" altLang="en-US" sz="2000" dirty="0"/>
              <a:t> threshold</a:t>
            </a:r>
          </a:p>
        </p:txBody>
      </p:sp>
      <p:graphicFrame>
        <p:nvGraphicFramePr>
          <p:cNvPr id="6148" name="Object 45"/>
          <p:cNvGraphicFramePr>
            <a:graphicFrameLocks noGrp="1" noChangeAspect="1"/>
          </p:cNvGraphicFramePr>
          <p:nvPr>
            <p:ph type="clipArt" sz="half" idx="4294967295"/>
            <p:extLst>
              <p:ext uri="{D42A27DB-BD31-4B8C-83A1-F6EECF244321}">
                <p14:modId xmlns:p14="http://schemas.microsoft.com/office/powerpoint/2010/main" val="2091507223"/>
              </p:ext>
            </p:extLst>
          </p:nvPr>
        </p:nvGraphicFramePr>
        <p:xfrm>
          <a:off x="7481104" y="2100724"/>
          <a:ext cx="3657600" cy="219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359338" imgH="2015504" progId="Word.Document.8">
                  <p:embed/>
                </p:oleObj>
              </mc:Choice>
              <mc:Fallback>
                <p:oleObj name="Document" r:id="rId2" imgW="3359338" imgH="2015504" progId="Word.Document.8">
                  <p:embed/>
                  <p:pic>
                    <p:nvPicPr>
                      <p:cNvPr id="6148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1104" y="2100724"/>
                        <a:ext cx="3657600" cy="219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84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187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Definition: Association Rule</a:t>
            </a:r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5718417" y="4191000"/>
            <a:ext cx="3978275" cy="2451100"/>
            <a:chOff x="3014" y="2304"/>
            <a:chExt cx="2574" cy="1592"/>
          </a:xfrm>
        </p:grpSpPr>
        <p:sp>
          <p:nvSpPr>
            <p:cNvPr id="7174" name="Text Box 11"/>
            <p:cNvSpPr txBox="1">
              <a:spLocks noChangeArrowheads="1"/>
            </p:cNvSpPr>
            <p:nvPr/>
          </p:nvSpPr>
          <p:spPr bwMode="auto">
            <a:xfrm>
              <a:off x="3264" y="2304"/>
              <a:ext cx="747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Example:</a:t>
              </a:r>
              <a:endParaRPr lang="en-US" altLang="en-US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7175" name="Object 12"/>
            <p:cNvGraphicFramePr>
              <a:graphicFrameLocks noChangeAspect="1"/>
            </p:cNvGraphicFramePr>
            <p:nvPr/>
          </p:nvGraphicFramePr>
          <p:xfrm>
            <a:off x="3711" y="2545"/>
            <a:ext cx="1877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574800" imgH="203200" progId="Equation.3">
                    <p:embed/>
                  </p:oleObj>
                </mc:Choice>
                <mc:Fallback>
                  <p:oleObj name="Equation" r:id="rId2" imgW="1574800" imgH="203200" progId="Equation.3">
                    <p:embed/>
                    <p:pic>
                      <p:nvPicPr>
                        <p:cNvPr id="7175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1" y="2545"/>
                          <a:ext cx="1877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6" name="Object 13"/>
            <p:cNvGraphicFramePr>
              <a:graphicFrameLocks noChangeAspect="1"/>
            </p:cNvGraphicFramePr>
            <p:nvPr/>
          </p:nvGraphicFramePr>
          <p:xfrm>
            <a:off x="3060" y="2928"/>
            <a:ext cx="2460" cy="4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318000" imgH="787400" progId="Equation.3">
                    <p:embed/>
                  </p:oleObj>
                </mc:Choice>
                <mc:Fallback>
                  <p:oleObj name="Equation" r:id="rId4" imgW="4318000" imgH="787400" progId="Equation.3">
                    <p:embed/>
                    <p:pic>
                      <p:nvPicPr>
                        <p:cNvPr id="7176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0" y="2928"/>
                          <a:ext cx="2460" cy="4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7" name="Object 14"/>
            <p:cNvGraphicFramePr>
              <a:graphicFrameLocks noChangeAspect="1"/>
            </p:cNvGraphicFramePr>
            <p:nvPr/>
          </p:nvGraphicFramePr>
          <p:xfrm>
            <a:off x="3014" y="3456"/>
            <a:ext cx="2475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470400" imgH="787400" progId="Equation.3">
                    <p:embed/>
                  </p:oleObj>
                </mc:Choice>
                <mc:Fallback>
                  <p:oleObj name="Equation" r:id="rId6" imgW="4470400" imgH="787400" progId="Equation.3">
                    <p:embed/>
                    <p:pic>
                      <p:nvPicPr>
                        <p:cNvPr id="7177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4" y="3456"/>
                          <a:ext cx="2475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10387" name="Rectangle 19"/>
          <p:cNvSpPr>
            <a:spLocks noChangeArrowheads="1"/>
          </p:cNvSpPr>
          <p:nvPr/>
        </p:nvSpPr>
        <p:spPr bwMode="auto">
          <a:xfrm>
            <a:off x="1238491" y="1524000"/>
            <a:ext cx="48768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000" dirty="0"/>
              <a:t>Association Rule</a:t>
            </a:r>
          </a:p>
          <a:p>
            <a:pPr lvl="1"/>
            <a:r>
              <a:rPr lang="en-US" altLang="en-US" sz="1800" dirty="0"/>
              <a:t>An implication expression of the form X </a:t>
            </a:r>
            <a:r>
              <a:rPr lang="en-US" altLang="en-US" sz="1800" dirty="0">
                <a:sym typeface="Symbol" pitchFamily="18" charset="2"/>
              </a:rPr>
              <a:t> Y, where X and Y are </a:t>
            </a:r>
            <a:r>
              <a:rPr lang="en-US" altLang="en-US" sz="1800" dirty="0" err="1">
                <a:sym typeface="Symbol" pitchFamily="18" charset="2"/>
              </a:rPr>
              <a:t>itemsets</a:t>
            </a:r>
            <a:endParaRPr lang="en-US" altLang="en-US" sz="1800" dirty="0">
              <a:sym typeface="Symbol" pitchFamily="18" charset="2"/>
            </a:endParaRPr>
          </a:p>
          <a:p>
            <a:pPr lvl="1"/>
            <a:r>
              <a:rPr lang="en-US" altLang="en-US" sz="1800" dirty="0"/>
              <a:t>Example:</a:t>
            </a:r>
            <a:br>
              <a:rPr lang="en-US" altLang="en-US" sz="1800" dirty="0"/>
            </a:br>
            <a:r>
              <a:rPr lang="en-US" altLang="en-US" sz="1800" dirty="0"/>
              <a:t>   {Milk, Diaper} </a:t>
            </a:r>
            <a:r>
              <a:rPr lang="en-US" altLang="en-US" sz="1800" dirty="0">
                <a:sym typeface="Symbol" pitchFamily="18" charset="2"/>
              </a:rPr>
              <a:t> {Beer}</a:t>
            </a:r>
            <a:r>
              <a:rPr lang="en-US" altLang="en-US" sz="1800" dirty="0"/>
              <a:t> </a:t>
            </a:r>
          </a:p>
          <a:p>
            <a:pPr lvl="1">
              <a:buFont typeface="Arial" charset="0"/>
              <a:buNone/>
            </a:pPr>
            <a:endParaRPr lang="en-US" altLang="en-US" sz="1800" dirty="0"/>
          </a:p>
          <a:p>
            <a:r>
              <a:rPr lang="en-US" altLang="en-US" sz="2000" dirty="0"/>
              <a:t>Rule Evaluation Metrics</a:t>
            </a:r>
            <a:endParaRPr lang="en-US" altLang="en-US" sz="2000" dirty="0">
              <a:sym typeface="Symbol" pitchFamily="18" charset="2"/>
            </a:endParaRPr>
          </a:p>
          <a:p>
            <a:pPr lvl="1"/>
            <a:r>
              <a:rPr lang="en-US" altLang="en-US" sz="1800" dirty="0"/>
              <a:t>Support (s)</a:t>
            </a:r>
          </a:p>
          <a:p>
            <a:pPr lvl="2"/>
            <a:r>
              <a:rPr lang="en-US" altLang="en-US" sz="1600" dirty="0"/>
              <a:t>Fraction of transactions that contain both X and Y</a:t>
            </a:r>
          </a:p>
          <a:p>
            <a:pPr lvl="1"/>
            <a:r>
              <a:rPr lang="en-US" altLang="en-US" sz="1800" dirty="0"/>
              <a:t>Confidence (c)</a:t>
            </a:r>
          </a:p>
          <a:p>
            <a:pPr lvl="2"/>
            <a:r>
              <a:rPr lang="en-US" altLang="en-US" sz="1600" dirty="0"/>
              <a:t>Measures how often items in Y </a:t>
            </a:r>
            <a:br>
              <a:rPr lang="en-US" altLang="en-US" sz="1600" dirty="0"/>
            </a:br>
            <a:r>
              <a:rPr lang="en-US" altLang="en-US" sz="1600" dirty="0"/>
              <a:t>appear in transactions that</a:t>
            </a:r>
            <a:br>
              <a:rPr lang="en-US" altLang="en-US" sz="1600" dirty="0"/>
            </a:br>
            <a:r>
              <a:rPr lang="en-US" altLang="en-US" sz="1600" dirty="0"/>
              <a:t>contain X</a:t>
            </a:r>
          </a:p>
        </p:txBody>
      </p:sp>
      <p:graphicFrame>
        <p:nvGraphicFramePr>
          <p:cNvPr id="7173" name="Object 21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7760411"/>
              </p:ext>
            </p:extLst>
          </p:nvPr>
        </p:nvGraphicFramePr>
        <p:xfrm>
          <a:off x="6347067" y="1809750"/>
          <a:ext cx="3579813" cy="215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3352666" imgH="2016134" progId="Word.Document.8">
                  <p:embed/>
                </p:oleObj>
              </mc:Choice>
              <mc:Fallback>
                <p:oleObj name="Document" r:id="rId8" imgW="3352666" imgH="2016134" progId="Word.Document.8">
                  <p:embed/>
                  <p:pic>
                    <p:nvPicPr>
                      <p:cNvPr id="7173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7067" y="1809750"/>
                        <a:ext cx="3579813" cy="215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5149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038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cs typeface="+mj-cs"/>
              </a:rPr>
              <a:t>Association Rules: measures Meaning</a:t>
            </a:r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1752600" y="1840831"/>
            <a:ext cx="83820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it-IT" dirty="0">
                <a:solidFill>
                  <a:srgbClr val="0099FF"/>
                </a:solidFill>
                <a:latin typeface="Comic Sans MS" charset="0"/>
              </a:rPr>
              <a:t>			X </a:t>
            </a:r>
            <a:r>
              <a:rPr lang="it-IT" dirty="0">
                <a:solidFill>
                  <a:srgbClr val="0099FF"/>
                </a:solidFill>
                <a:latin typeface="Comic Sans MS" charset="0"/>
                <a:sym typeface="Symbol" charset="0"/>
              </a:rPr>
              <a:t></a:t>
            </a:r>
            <a:r>
              <a:rPr lang="it-IT" dirty="0">
                <a:solidFill>
                  <a:srgbClr val="0099FF"/>
                </a:solidFill>
              </a:rPr>
              <a:t> </a:t>
            </a:r>
            <a:r>
              <a:rPr lang="it-IT" dirty="0">
                <a:solidFill>
                  <a:srgbClr val="0099FF"/>
                </a:solidFill>
                <a:latin typeface="Comic Sans MS" charset="0"/>
              </a:rPr>
              <a:t>Y [ </a:t>
            </a:r>
            <a:r>
              <a:rPr lang="it-IT" dirty="0" err="1">
                <a:solidFill>
                  <a:srgbClr val="0099FF"/>
                </a:solidFill>
                <a:latin typeface="Comic Sans MS" charset="0"/>
              </a:rPr>
              <a:t>s</a:t>
            </a:r>
            <a:r>
              <a:rPr lang="it-IT" dirty="0">
                <a:solidFill>
                  <a:srgbClr val="0099FF"/>
                </a:solidFill>
                <a:latin typeface="Comic Sans MS" charset="0"/>
              </a:rPr>
              <a:t>, c ]</a:t>
            </a:r>
            <a:endParaRPr lang="it-IT" b="1" dirty="0">
              <a:latin typeface="Comic Sans MS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it-IT" b="1" dirty="0" err="1">
                <a:solidFill>
                  <a:schemeClr val="accent1"/>
                </a:solidFill>
                <a:latin typeface="Comic Sans MS" charset="0"/>
              </a:rPr>
              <a:t>Support</a:t>
            </a:r>
            <a:r>
              <a:rPr lang="en-US" b="1" dirty="0">
                <a:latin typeface="Comic Sans MS" charset="0"/>
              </a:rPr>
              <a:t>: </a:t>
            </a:r>
            <a:r>
              <a:rPr lang="en-US" dirty="0">
                <a:latin typeface="Comic Sans MS" charset="0"/>
              </a:rPr>
              <a:t>denotes the frequency of the rule within transactions. </a:t>
            </a:r>
            <a:r>
              <a:rPr lang="en-US" b="1" dirty="0">
                <a:latin typeface="Comic Sans MS" charset="0"/>
              </a:rPr>
              <a:t>A high value means </a:t>
            </a:r>
            <a:r>
              <a:rPr lang="en-US" dirty="0">
                <a:latin typeface="Comic Sans MS" charset="0"/>
              </a:rPr>
              <a:t>that the rule involve a great part of database</a:t>
            </a:r>
            <a:r>
              <a:rPr lang="en-US" b="1" dirty="0">
                <a:latin typeface="Comic Sans MS" charset="0"/>
              </a:rPr>
              <a:t>. (HOW POPULAR IS THE GROUP)</a:t>
            </a:r>
          </a:p>
          <a:p>
            <a:pPr>
              <a:spcBef>
                <a:spcPct val="50000"/>
              </a:spcBef>
              <a:defRPr/>
            </a:pPr>
            <a:r>
              <a:rPr lang="en-US" dirty="0"/>
              <a:t>	</a:t>
            </a:r>
            <a:r>
              <a:rPr lang="en-US" dirty="0">
                <a:latin typeface="Comic Sans MS" charset="0"/>
              </a:rPr>
              <a:t>support(</a:t>
            </a:r>
            <a:r>
              <a:rPr lang="it-IT" dirty="0">
                <a:solidFill>
                  <a:srgbClr val="0099FF"/>
                </a:solidFill>
                <a:latin typeface="Comic Sans MS" charset="0"/>
              </a:rPr>
              <a:t>X </a:t>
            </a:r>
            <a:r>
              <a:rPr lang="it-IT" dirty="0">
                <a:solidFill>
                  <a:srgbClr val="0099FF"/>
                </a:solidFill>
                <a:latin typeface="Comic Sans MS" charset="0"/>
                <a:sym typeface="Symbol" charset="0"/>
              </a:rPr>
              <a:t></a:t>
            </a:r>
            <a:r>
              <a:rPr lang="it-IT" dirty="0">
                <a:solidFill>
                  <a:srgbClr val="0099FF"/>
                </a:solidFill>
                <a:latin typeface="Comic Sans MS" charset="0"/>
              </a:rPr>
              <a:t> Y</a:t>
            </a:r>
            <a:r>
              <a:rPr lang="en-US" dirty="0">
                <a:latin typeface="Comic Sans MS" charset="0"/>
              </a:rPr>
              <a:t>) =  </a:t>
            </a:r>
            <a:r>
              <a:rPr lang="it-IT" dirty="0">
                <a:latin typeface="Comic Sans MS" charset="0"/>
              </a:rPr>
              <a:t>Pr(</a:t>
            </a:r>
            <a:r>
              <a:rPr lang="en-US" dirty="0">
                <a:latin typeface="Comic Sans MS" charset="0"/>
              </a:rPr>
              <a:t>X </a:t>
            </a:r>
            <a:r>
              <a:rPr lang="it-IT" dirty="0">
                <a:latin typeface="Comic Sans MS" charset="0"/>
              </a:rPr>
              <a:t>&amp;</a:t>
            </a:r>
            <a:r>
              <a:rPr lang="en-US" dirty="0">
                <a:latin typeface="Comic Sans MS" charset="0"/>
              </a:rPr>
              <a:t> Y</a:t>
            </a:r>
            <a:r>
              <a:rPr lang="it-IT" dirty="0">
                <a:latin typeface="Comic Sans MS" charset="0"/>
              </a:rPr>
              <a:t>)</a:t>
            </a:r>
          </a:p>
          <a:p>
            <a:pPr>
              <a:spcBef>
                <a:spcPct val="50000"/>
              </a:spcBef>
              <a:defRPr/>
            </a:pPr>
            <a:r>
              <a:rPr lang="it-IT" b="1" dirty="0" err="1">
                <a:solidFill>
                  <a:schemeClr val="accent1"/>
                </a:solidFill>
                <a:latin typeface="Comic Sans MS" charset="0"/>
              </a:rPr>
              <a:t>Confiden</a:t>
            </a:r>
            <a:r>
              <a:rPr lang="en-US" b="1" dirty="0" err="1">
                <a:solidFill>
                  <a:schemeClr val="accent1"/>
                </a:solidFill>
                <a:latin typeface="Comic Sans MS" charset="0"/>
              </a:rPr>
              <a:t>ce</a:t>
            </a:r>
            <a:r>
              <a:rPr lang="en-US" b="1" dirty="0">
                <a:latin typeface="Comic Sans MS" charset="0"/>
              </a:rPr>
              <a:t>: </a:t>
            </a:r>
            <a:r>
              <a:rPr lang="en-US" dirty="0">
                <a:latin typeface="Comic Sans MS" charset="0"/>
              </a:rPr>
              <a:t>denotes the percentage of transactions containing</a:t>
            </a:r>
            <a:r>
              <a:rPr lang="en-US" b="1" dirty="0">
                <a:latin typeface="Comic Sans MS" charset="0"/>
              </a:rPr>
              <a:t> </a:t>
            </a:r>
            <a:r>
              <a:rPr lang="it-IT" dirty="0">
                <a:latin typeface="Comic Sans MS" charset="0"/>
              </a:rPr>
              <a:t>X </a:t>
            </a:r>
            <a:r>
              <a:rPr lang="en-US" dirty="0">
                <a:latin typeface="Comic Sans MS" charset="0"/>
              </a:rPr>
              <a:t>which contain also </a:t>
            </a:r>
            <a:r>
              <a:rPr lang="it-IT" dirty="0">
                <a:latin typeface="Comic Sans MS" charset="0"/>
              </a:rPr>
              <a:t>Y. </a:t>
            </a:r>
            <a:r>
              <a:rPr lang="en-US" dirty="0">
                <a:latin typeface="Comic Sans MS" charset="0"/>
              </a:rPr>
              <a:t>It is an estimation of conditioned probability . </a:t>
            </a:r>
            <a:r>
              <a:rPr lang="en-US" b="1" dirty="0">
                <a:latin typeface="Comic Sans MS" charset="0"/>
              </a:rPr>
              <a:t>(how likely is B given A</a:t>
            </a:r>
            <a:r>
              <a:rPr lang="en-US" dirty="0">
                <a:latin typeface="Comic Sans MS" charset="0"/>
              </a:rPr>
              <a:t>)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dirty="0">
                <a:latin typeface="Comic Sans MS" charset="0"/>
              </a:rPr>
              <a:t>Confidence(</a:t>
            </a:r>
            <a:r>
              <a:rPr lang="it-IT" dirty="0">
                <a:solidFill>
                  <a:srgbClr val="0099FF"/>
                </a:solidFill>
                <a:latin typeface="Comic Sans MS" charset="0"/>
              </a:rPr>
              <a:t>X </a:t>
            </a:r>
            <a:r>
              <a:rPr lang="it-IT" dirty="0">
                <a:solidFill>
                  <a:srgbClr val="0099FF"/>
                </a:solidFill>
                <a:latin typeface="Comic Sans MS" charset="0"/>
                <a:sym typeface="Symbol" charset="0"/>
              </a:rPr>
              <a:t></a:t>
            </a:r>
            <a:r>
              <a:rPr lang="it-IT" dirty="0">
                <a:solidFill>
                  <a:srgbClr val="0099FF"/>
                </a:solidFill>
                <a:latin typeface="Comic Sans MS" charset="0"/>
              </a:rPr>
              <a:t> Y</a:t>
            </a:r>
            <a:r>
              <a:rPr lang="en-US" dirty="0">
                <a:latin typeface="Comic Sans MS" charset="0"/>
              </a:rPr>
              <a:t>) =  </a:t>
            </a:r>
            <a:r>
              <a:rPr lang="it-IT" dirty="0">
                <a:latin typeface="Comic Sans MS" charset="0"/>
              </a:rPr>
              <a:t>Pr(Y|X)</a:t>
            </a:r>
            <a:r>
              <a:rPr lang="en-US" dirty="0">
                <a:latin typeface="Comic Sans MS" charset="0"/>
              </a:rPr>
              <a:t> = </a:t>
            </a:r>
            <a:r>
              <a:rPr lang="it-IT" dirty="0">
                <a:latin typeface="Comic Sans MS" charset="0"/>
              </a:rPr>
              <a:t>Pr(X &amp; Y)/Pr(X).</a:t>
            </a:r>
          </a:p>
        </p:txBody>
      </p:sp>
      <p:sp>
        <p:nvSpPr>
          <p:cNvPr id="4" name="Segnaposto numero diapositiva 4"/>
          <p:cNvSpPr>
            <a:spLocks noGrp="1"/>
          </p:cNvSpPr>
          <p:nvPr>
            <p:ph type="sldNum" sz="quarter" idx="11"/>
          </p:nvPr>
        </p:nvSpPr>
        <p:spPr>
          <a:xfrm>
            <a:off x="2133601" y="6248207"/>
            <a:ext cx="5421083" cy="365125"/>
          </a:xfrm>
        </p:spPr>
        <p:txBody>
          <a:bodyPr/>
          <a:lstStyle/>
          <a:p>
            <a:fld id="{86CD6AB9-E27D-6745-B668-4DEDB0289BB6}" type="slidenum">
              <a:rPr lang="en-US"/>
              <a:pPr/>
              <a:t>12</a:t>
            </a:fld>
            <a:endParaRPr lang="en-US"/>
          </a:p>
        </p:txBody>
      </p:sp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IntroML, 2022  Reg. Ass. &amp; Patter Mining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23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fld id="{C307F462-3988-BC4D-81BF-28D7685271D2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pic>
        <p:nvPicPr>
          <p:cNvPr id="4" name="Segnaposto contenuto 3" descr="Screen Shot 2017-03-08 at 23.10.44.png"/>
          <p:cNvPicPr>
            <a:picLocks noGrp="1" noChangeAspect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5528" r="-35528"/>
          <a:stretch>
            <a:fillRect/>
          </a:stretch>
        </p:blipFill>
        <p:spPr>
          <a:xfrm>
            <a:off x="1280931" y="728662"/>
            <a:ext cx="9793288" cy="5400675"/>
          </a:xfrm>
        </p:spPr>
      </p:pic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IntroML, 2022  Reg. Ass. &amp; Patter Mining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359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Association Rules – the effect</a:t>
            </a:r>
            <a:endParaRPr lang="it-IT">
              <a:cs typeface="+mj-cs"/>
            </a:endParaRPr>
          </a:p>
        </p:txBody>
      </p:sp>
      <p:graphicFrame>
        <p:nvGraphicFramePr>
          <p:cNvPr id="40964" name="Object 3"/>
          <p:cNvGraphicFramePr>
            <a:graphicFrameLocks noChangeAspect="1"/>
          </p:cNvGraphicFramePr>
          <p:nvPr/>
        </p:nvGraphicFramePr>
        <p:xfrm>
          <a:off x="1905000" y="1219200"/>
          <a:ext cx="8458200" cy="457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magine bitmap" r:id="rId2" imgW="3924848" imgH="2600000" progId="Paint.Picture">
                  <p:embed/>
                </p:oleObj>
              </mc:Choice>
              <mc:Fallback>
                <p:oleObj name="Immagine bitmap" r:id="rId2" imgW="3924848" imgH="2600000" progId="Paint.Picture">
                  <p:embed/>
                  <p:pic>
                    <p:nvPicPr>
                      <p:cNvPr id="4096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219200"/>
                        <a:ext cx="8458200" cy="457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egnaposto numero diapositiva 4"/>
          <p:cNvSpPr>
            <a:spLocks noGrp="1"/>
          </p:cNvSpPr>
          <p:nvPr>
            <p:ph type="sldNum" sz="quarter" idx="11"/>
          </p:nvPr>
        </p:nvSpPr>
        <p:spPr>
          <a:xfrm>
            <a:off x="2133601" y="6248207"/>
            <a:ext cx="5421083" cy="365125"/>
          </a:xfrm>
        </p:spPr>
        <p:txBody>
          <a:bodyPr/>
          <a:lstStyle/>
          <a:p>
            <a:fld id="{86CD6AB9-E27D-6745-B668-4DEDB0289BB6}" type="slidenum">
              <a:rPr lang="en-US"/>
              <a:pPr/>
              <a:t>14</a:t>
            </a:fld>
            <a:endParaRPr lang="en-US"/>
          </a:p>
        </p:txBody>
      </p:sp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IntroML, 2022  Reg. Ass. &amp; Patter Mining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1740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B2743-52E5-5845-CF17-9F50B4101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C6A9694-4A7D-8796-C652-BAC5684C99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Valid Rules and </a:t>
            </a:r>
            <a:r>
              <a:rPr lang="en-US" altLang="en-US" dirty="0" err="1"/>
              <a:t>minsup</a:t>
            </a:r>
            <a:r>
              <a:rPr lang="en-US" altLang="en-US" dirty="0"/>
              <a:t> and min conf</a:t>
            </a:r>
          </a:p>
        </p:txBody>
      </p:sp>
      <p:sp>
        <p:nvSpPr>
          <p:cNvPr id="1236995" name="Rectangle 3">
            <a:extLst>
              <a:ext uri="{FF2B5EF4-FFF2-40B4-BE49-F238E27FC236}">
                <a16:creationId xmlns:a16="http://schemas.microsoft.com/office/drawing/2014/main" id="{CCE698AE-BDED-72B0-CB90-40DA9066A9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825625"/>
            <a:ext cx="9069729" cy="4351338"/>
          </a:xfrm>
        </p:spPr>
        <p:txBody>
          <a:bodyPr/>
          <a:lstStyle/>
          <a:p>
            <a:r>
              <a:rPr lang="en-US" altLang="en-US" dirty="0"/>
              <a:t>Given a set of transactions T, the valid rules are those association rule mining is to find all rules having </a:t>
            </a:r>
          </a:p>
          <a:p>
            <a:pPr lvl="1"/>
            <a:r>
              <a:rPr lang="en-US" altLang="en-US" dirty="0"/>
              <a:t>support </a:t>
            </a:r>
            <a:r>
              <a:rPr lang="en-US" altLang="en-US" dirty="0">
                <a:cs typeface="Arial" charset="0"/>
              </a:rPr>
              <a:t>≥ </a:t>
            </a:r>
            <a:r>
              <a:rPr lang="en-US" altLang="en-US" i="1" dirty="0" err="1">
                <a:cs typeface="Arial" charset="0"/>
              </a:rPr>
              <a:t>minsup</a:t>
            </a:r>
            <a:r>
              <a:rPr lang="en-US" altLang="en-US" i="1" dirty="0">
                <a:cs typeface="Arial" charset="0"/>
              </a:rPr>
              <a:t> </a:t>
            </a:r>
            <a:r>
              <a:rPr lang="en-US" altLang="en-US" dirty="0">
                <a:cs typeface="Arial" charset="0"/>
              </a:rPr>
              <a:t>threshold, </a:t>
            </a:r>
            <a:r>
              <a:rPr lang="it-IT" dirty="0">
                <a:sym typeface="Symbol" charset="0"/>
              </a:rPr>
              <a:t> </a:t>
            </a:r>
            <a:endParaRPr lang="en-US" altLang="en-US" dirty="0">
              <a:cs typeface="Arial" charset="0"/>
            </a:endParaRPr>
          </a:p>
          <a:p>
            <a:pPr lvl="1"/>
            <a:r>
              <a:rPr lang="en-US" altLang="en-US" dirty="0">
                <a:cs typeface="Arial" charset="0"/>
              </a:rPr>
              <a:t>confidence ≥ </a:t>
            </a:r>
            <a:r>
              <a:rPr lang="en-US" altLang="en-US" i="1" dirty="0" err="1">
                <a:cs typeface="Arial" charset="0"/>
              </a:rPr>
              <a:t>minconf</a:t>
            </a:r>
            <a:r>
              <a:rPr lang="en-US" altLang="en-US" i="1" dirty="0">
                <a:cs typeface="Arial" charset="0"/>
              </a:rPr>
              <a:t> </a:t>
            </a:r>
            <a:r>
              <a:rPr lang="en-US" altLang="en-US" dirty="0">
                <a:cs typeface="Arial" charset="0"/>
              </a:rPr>
              <a:t>threshold </a:t>
            </a:r>
            <a:r>
              <a:rPr lang="it-IT" dirty="0">
                <a:sym typeface="Symbol" charset="0"/>
              </a:rPr>
              <a:t> </a:t>
            </a:r>
            <a:endParaRPr lang="en-US" altLang="en-US" dirty="0">
              <a:cs typeface="Arial" charset="0"/>
            </a:endParaRPr>
          </a:p>
          <a:p>
            <a:pPr lvl="1"/>
            <a:endParaRPr lang="en-US" altLang="en-US" dirty="0">
              <a:cs typeface="Arial" charset="0"/>
            </a:endParaRPr>
          </a:p>
          <a:p>
            <a:pPr lvl="1"/>
            <a:endParaRPr lang="en-US" altLang="en-US" dirty="0">
              <a:cs typeface="Arial" charset="0"/>
            </a:endParaRPr>
          </a:p>
          <a:p>
            <a:pPr lvl="1"/>
            <a:endParaRPr lang="en-US" altLang="en-US" dirty="0">
              <a:cs typeface="Arial" charset="0"/>
            </a:endParaRPr>
          </a:p>
          <a:p>
            <a:pPr marL="0" indent="0">
              <a:buNone/>
            </a:pPr>
            <a:endParaRPr lang="en-US" altLang="en-US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902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699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919536" y="188641"/>
            <a:ext cx="8515350" cy="132556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3600" dirty="0"/>
              <a:t>Association Rules – the parameters </a:t>
            </a:r>
            <a:r>
              <a:rPr lang="it-IT" sz="3600" dirty="0">
                <a:sym typeface="Symbol" charset="0"/>
              </a:rPr>
              <a:t> </a:t>
            </a:r>
            <a:r>
              <a:rPr lang="en-US" sz="3600" dirty="0">
                <a:sym typeface="Symbol" charset="0"/>
              </a:rPr>
              <a:t>and</a:t>
            </a:r>
            <a:r>
              <a:rPr lang="it-IT" sz="3600" dirty="0">
                <a:sym typeface="Symbol" charset="0"/>
              </a:rPr>
              <a:t> </a:t>
            </a:r>
            <a:endParaRPr lang="it-IT" sz="3600" dirty="0">
              <a:solidFill>
                <a:srgbClr val="0099FF"/>
              </a:solidFill>
              <a:sym typeface="Symbol" charset="0"/>
            </a:endParaRP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1284790" y="1689904"/>
            <a:ext cx="9002210" cy="4761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 b="1" dirty="0"/>
              <a:t>Minimum Support</a:t>
            </a:r>
            <a:r>
              <a:rPr lang="it-IT" sz="2800" b="1" dirty="0">
                <a:sym typeface="Symbol" charset="0"/>
              </a:rPr>
              <a:t> </a:t>
            </a:r>
            <a:r>
              <a:rPr lang="it-IT" sz="2800" b="1" dirty="0">
                <a:solidFill>
                  <a:srgbClr val="0099FF"/>
                </a:solidFill>
                <a:sym typeface="Symbol" charset="0"/>
              </a:rPr>
              <a:t></a:t>
            </a:r>
            <a:r>
              <a:rPr lang="it-IT" sz="2800" b="1" dirty="0">
                <a:sym typeface="Symbol" charset="0"/>
              </a:rPr>
              <a:t> :</a:t>
            </a:r>
            <a:endParaRPr lang="it-IT" sz="2800" dirty="0"/>
          </a:p>
          <a:p>
            <a:pPr lvl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sz="2800" b="1" dirty="0"/>
              <a:t>High	</a:t>
            </a:r>
            <a:r>
              <a:rPr lang="it-IT" sz="2800" dirty="0"/>
              <a:t> </a:t>
            </a:r>
            <a:r>
              <a:rPr kumimoji="1" lang="en-US" sz="2800" b="1" dirty="0">
                <a:sym typeface="Symbol" charset="0"/>
              </a:rPr>
              <a:t></a:t>
            </a:r>
            <a:r>
              <a:rPr lang="it-IT" sz="2800" dirty="0"/>
              <a:t> </a:t>
            </a:r>
            <a:r>
              <a:rPr lang="en-US" sz="2800" dirty="0">
                <a:solidFill>
                  <a:schemeClr val="accent1"/>
                </a:solidFill>
              </a:rPr>
              <a:t>few</a:t>
            </a:r>
            <a:r>
              <a:rPr lang="en-US" sz="2800" dirty="0"/>
              <a:t> frequent</a:t>
            </a:r>
            <a:r>
              <a:rPr lang="it-IT" sz="2800" dirty="0"/>
              <a:t> </a:t>
            </a:r>
            <a:r>
              <a:rPr lang="it-IT" sz="2800" dirty="0" err="1"/>
              <a:t>itemset</a:t>
            </a:r>
            <a:r>
              <a:rPr lang="en-US" sz="2800" dirty="0"/>
              <a:t>s</a:t>
            </a:r>
          </a:p>
          <a:p>
            <a:pPr lvl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sz="2800" dirty="0"/>
              <a:t>		</a:t>
            </a:r>
            <a:r>
              <a:rPr lang="it-IT" sz="2800" dirty="0"/>
              <a:t> </a:t>
            </a:r>
            <a:r>
              <a:rPr kumimoji="1" lang="en-US" sz="2800" b="1" dirty="0">
                <a:sym typeface="Symbol" charset="0"/>
              </a:rPr>
              <a:t></a:t>
            </a:r>
            <a:r>
              <a:rPr lang="it-IT" sz="2800" dirty="0"/>
              <a:t> </a:t>
            </a:r>
            <a:r>
              <a:rPr lang="en-US" sz="2800" dirty="0">
                <a:solidFill>
                  <a:schemeClr val="accent1"/>
                </a:solidFill>
              </a:rPr>
              <a:t>few</a:t>
            </a:r>
            <a:r>
              <a:rPr lang="it-IT" sz="2800" dirty="0"/>
              <a:t> </a:t>
            </a:r>
            <a:r>
              <a:rPr lang="en-US" sz="2800" dirty="0"/>
              <a:t>valid rules</a:t>
            </a:r>
            <a:r>
              <a:rPr lang="it-IT" sz="2800" dirty="0"/>
              <a:t> </a:t>
            </a:r>
            <a:r>
              <a:rPr lang="en-US" sz="2800" dirty="0"/>
              <a:t> which occur </a:t>
            </a:r>
            <a:r>
              <a:rPr lang="en-US" sz="2800" dirty="0">
                <a:solidFill>
                  <a:schemeClr val="accent1"/>
                </a:solidFill>
              </a:rPr>
              <a:t>very often</a:t>
            </a:r>
            <a:r>
              <a:rPr lang="en-US" sz="2800" dirty="0"/>
              <a:t> 	</a:t>
            </a:r>
          </a:p>
          <a:p>
            <a:pPr lvl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sz="2800" b="1" dirty="0"/>
              <a:t>Low</a:t>
            </a:r>
            <a:r>
              <a:rPr lang="it-IT" sz="2800" dirty="0"/>
              <a:t> </a:t>
            </a:r>
            <a:r>
              <a:rPr lang="en-US" sz="2800" dirty="0"/>
              <a:t>	 </a:t>
            </a:r>
            <a:r>
              <a:rPr kumimoji="1" lang="en-US" sz="2800" b="1" dirty="0">
                <a:sym typeface="Symbol" charset="0"/>
              </a:rPr>
              <a:t></a:t>
            </a:r>
            <a:r>
              <a:rPr lang="it-IT" sz="2800" dirty="0"/>
              <a:t> </a:t>
            </a:r>
            <a:r>
              <a:rPr lang="en-US" sz="2800" dirty="0">
                <a:solidFill>
                  <a:schemeClr val="accent1"/>
                </a:solidFill>
              </a:rPr>
              <a:t>many</a:t>
            </a:r>
            <a:r>
              <a:rPr lang="en-US" sz="2800" dirty="0"/>
              <a:t> valid rules which occur </a:t>
            </a:r>
            <a:r>
              <a:rPr lang="en-US" sz="2800" dirty="0">
                <a:solidFill>
                  <a:schemeClr val="accent1"/>
                </a:solidFill>
              </a:rPr>
              <a:t>rarely</a:t>
            </a:r>
            <a:r>
              <a:rPr lang="en-US" sz="2800" dirty="0"/>
              <a:t> </a:t>
            </a:r>
            <a:br>
              <a:rPr lang="en-US" sz="2800" dirty="0"/>
            </a:br>
            <a:endParaRPr lang="en-US" sz="2800" dirty="0"/>
          </a:p>
          <a:p>
            <a:pPr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sz="2800" b="1" dirty="0"/>
              <a:t>Minimum Confidence</a:t>
            </a:r>
            <a:r>
              <a:rPr lang="it-IT" sz="2800" b="1" dirty="0"/>
              <a:t> </a:t>
            </a:r>
            <a:r>
              <a:rPr lang="it-IT" sz="2800" b="1" dirty="0">
                <a:solidFill>
                  <a:srgbClr val="0099FF"/>
                </a:solidFill>
                <a:sym typeface="Symbol" charset="0"/>
              </a:rPr>
              <a:t> </a:t>
            </a:r>
            <a:r>
              <a:rPr lang="it-IT" sz="2800" b="1" dirty="0"/>
              <a:t>:</a:t>
            </a:r>
            <a:r>
              <a:rPr lang="it-IT" sz="2800" dirty="0"/>
              <a:t> </a:t>
            </a:r>
          </a:p>
          <a:p>
            <a:pPr lvl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sz="2800" b="1" dirty="0"/>
              <a:t>High</a:t>
            </a:r>
            <a:r>
              <a:rPr lang="it-IT" sz="2800" dirty="0"/>
              <a:t> </a:t>
            </a:r>
            <a:r>
              <a:rPr kumimoji="1" lang="en-US" sz="2800" b="1" dirty="0">
                <a:sym typeface="Symbol" charset="0"/>
              </a:rPr>
              <a:t></a:t>
            </a:r>
            <a:r>
              <a:rPr lang="it-IT" sz="2800" dirty="0"/>
              <a:t> </a:t>
            </a:r>
            <a:r>
              <a:rPr lang="en-US" sz="2800" dirty="0">
                <a:solidFill>
                  <a:schemeClr val="accent1"/>
                </a:solidFill>
              </a:rPr>
              <a:t>few</a:t>
            </a:r>
            <a:r>
              <a:rPr lang="en-US" sz="2800" dirty="0"/>
              <a:t> rules</a:t>
            </a:r>
            <a:r>
              <a:rPr lang="it-IT" sz="2800" dirty="0"/>
              <a:t>, </a:t>
            </a:r>
            <a:r>
              <a:rPr lang="en-US" sz="2800" dirty="0"/>
              <a:t>but all</a:t>
            </a:r>
            <a:r>
              <a:rPr lang="it-IT" sz="2800" dirty="0"/>
              <a:t> </a:t>
            </a:r>
            <a:r>
              <a:rPr lang="ja-JP" altLang="it-IT" sz="2800" dirty="0"/>
              <a:t>“</a:t>
            </a:r>
            <a:r>
              <a:rPr lang="en-US" sz="2800" dirty="0">
                <a:solidFill>
                  <a:schemeClr val="accent1"/>
                </a:solidFill>
              </a:rPr>
              <a:t>almost logically true</a:t>
            </a:r>
            <a:r>
              <a:rPr lang="ja-JP" altLang="it-IT" sz="2800" dirty="0"/>
              <a:t>”</a:t>
            </a:r>
            <a:endParaRPr lang="it-IT" sz="2800" dirty="0"/>
          </a:p>
          <a:p>
            <a:pPr lvl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sz="2800" b="1" dirty="0"/>
              <a:t>Low</a:t>
            </a:r>
            <a:r>
              <a:rPr lang="it-IT" sz="2800" dirty="0"/>
              <a:t> </a:t>
            </a:r>
            <a:r>
              <a:rPr kumimoji="1" lang="en-US" sz="2800" b="1" dirty="0">
                <a:sym typeface="Symbol" charset="0"/>
              </a:rPr>
              <a:t></a:t>
            </a:r>
            <a:r>
              <a:rPr lang="it-IT" sz="2800" dirty="0"/>
              <a:t> </a:t>
            </a:r>
            <a:r>
              <a:rPr lang="en-US" sz="2800" dirty="0"/>
              <a:t>many rules</a:t>
            </a:r>
            <a:r>
              <a:rPr lang="it-IT" sz="2800" dirty="0"/>
              <a:t>, </a:t>
            </a:r>
            <a:r>
              <a:rPr lang="en-US" sz="2800" dirty="0"/>
              <a:t>but many of them very </a:t>
            </a:r>
            <a:r>
              <a:rPr lang="ja-JP" altLang="it-IT" sz="2800" dirty="0"/>
              <a:t>“</a:t>
            </a:r>
            <a:r>
              <a:rPr lang="en-US" sz="2800" dirty="0">
                <a:solidFill>
                  <a:schemeClr val="accent1"/>
                </a:solidFill>
              </a:rPr>
              <a:t>uncertain</a:t>
            </a:r>
            <a:r>
              <a:rPr lang="ja-JP" altLang="it-IT" sz="2800" dirty="0"/>
              <a:t>”</a:t>
            </a:r>
            <a:br>
              <a:rPr lang="en-US" sz="2800" dirty="0"/>
            </a:br>
            <a:endParaRPr lang="it-IT" sz="2800" b="1" dirty="0"/>
          </a:p>
          <a:p>
            <a:pPr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sz="2800" b="1" dirty="0"/>
              <a:t>Typical Values</a:t>
            </a:r>
            <a:r>
              <a:rPr lang="it-IT" sz="2800" b="1" dirty="0"/>
              <a:t>:</a:t>
            </a:r>
            <a:r>
              <a:rPr lang="it-IT" sz="2800" dirty="0">
                <a:sym typeface="Symbol" charset="0"/>
              </a:rPr>
              <a:t> </a:t>
            </a:r>
            <a:r>
              <a:rPr lang="it-IT" sz="2800" dirty="0">
                <a:solidFill>
                  <a:srgbClr val="0099FF"/>
                </a:solidFill>
                <a:sym typeface="Symbol" charset="0"/>
              </a:rPr>
              <a:t></a:t>
            </a:r>
            <a:r>
              <a:rPr lang="it-IT" sz="2800" dirty="0">
                <a:sym typeface="Symbol" charset="0"/>
              </a:rPr>
              <a:t> = 2 10 %		 </a:t>
            </a:r>
            <a:r>
              <a:rPr lang="it-IT" sz="2800" dirty="0">
                <a:solidFill>
                  <a:srgbClr val="0099FF"/>
                </a:solidFill>
                <a:sym typeface="Symbol" charset="0"/>
              </a:rPr>
              <a:t> </a:t>
            </a:r>
            <a:r>
              <a:rPr lang="it-IT" sz="2800" dirty="0">
                <a:sym typeface="Symbol" charset="0"/>
              </a:rPr>
              <a:t>= 70 90 %</a:t>
            </a:r>
          </a:p>
        </p:txBody>
      </p:sp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IntroML, 2022  Reg. Ass. &amp; Patter Mining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16</a:t>
            </a:fld>
            <a:endParaRPr lang="en-US" b="1" i="1"/>
          </a:p>
        </p:txBody>
      </p:sp>
    </p:spTree>
    <p:extLst>
      <p:ext uri="{BB962C8B-B14F-4D97-AF65-F5344CB8AC3E}">
        <p14:creationId xmlns:p14="http://schemas.microsoft.com/office/powerpoint/2010/main" val="1486998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90BCA5-6498-0A4F-BD13-229EAB1EDE35}" type="slidenum">
              <a:rPr lang="en-US"/>
              <a:pPr/>
              <a:t>17</a:t>
            </a:fld>
            <a:endParaRPr lang="en-US"/>
          </a:p>
        </p:txBody>
      </p:sp>
      <p:sp>
        <p:nvSpPr>
          <p:cNvPr id="67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68437"/>
            <a:ext cx="10515600" cy="1325563"/>
          </a:xfrm>
        </p:spPr>
        <p:txBody>
          <a:bodyPr/>
          <a:lstStyle/>
          <a:p>
            <a:r>
              <a:rPr lang="en-US" dirty="0"/>
              <a:t>Other measures: INTEREST</a:t>
            </a:r>
          </a:p>
        </p:txBody>
      </p:sp>
      <p:sp>
        <p:nvSpPr>
          <p:cNvPr id="67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4498" y="1562714"/>
            <a:ext cx="9606988" cy="511931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Problem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>
                <a:latin typeface="Comic Sans MS" charset="0"/>
              </a:rPr>
              <a:t>Confidence(</a:t>
            </a:r>
            <a:r>
              <a:rPr lang="it-IT" dirty="0">
                <a:solidFill>
                  <a:srgbClr val="0099FF"/>
                </a:solidFill>
                <a:latin typeface="Comic Sans MS" charset="0"/>
              </a:rPr>
              <a:t>X </a:t>
            </a:r>
            <a:r>
              <a:rPr lang="it-IT" dirty="0">
                <a:solidFill>
                  <a:srgbClr val="0099FF"/>
                </a:solidFill>
                <a:latin typeface="Comic Sans MS" charset="0"/>
                <a:sym typeface="Symbol" charset="0"/>
              </a:rPr>
              <a:t></a:t>
            </a:r>
            <a:r>
              <a:rPr lang="it-IT" dirty="0">
                <a:solidFill>
                  <a:srgbClr val="0099FF"/>
                </a:solidFill>
                <a:latin typeface="Comic Sans MS" charset="0"/>
              </a:rPr>
              <a:t> Y</a:t>
            </a:r>
            <a:r>
              <a:rPr lang="en-US" dirty="0">
                <a:latin typeface="Comic Sans MS" charset="0"/>
              </a:rPr>
              <a:t>) =  </a:t>
            </a:r>
            <a:r>
              <a:rPr lang="it-IT" dirty="0">
                <a:latin typeface="Comic Sans MS" charset="0"/>
              </a:rPr>
              <a:t>Pr(Y|X)</a:t>
            </a:r>
            <a:r>
              <a:rPr lang="en-US" dirty="0">
                <a:latin typeface="Comic Sans MS" charset="0"/>
              </a:rPr>
              <a:t> = </a:t>
            </a:r>
            <a:r>
              <a:rPr lang="it-IT" dirty="0">
                <a:latin typeface="Comic Sans MS" charset="0"/>
              </a:rPr>
              <a:t>Pr(X &amp; Y)/Pr(X).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rgbClr val="FF0000"/>
                </a:solidFill>
              </a:rPr>
              <a:t> does not take into account the popularity of the consequent.</a:t>
            </a: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US" sz="2800" dirty="0">
                <a:solidFill>
                  <a:srgbClr val="3333CC"/>
                </a:solidFill>
              </a:rPr>
              <a:t>INTEREST= </a:t>
            </a:r>
            <a:r>
              <a:rPr lang="en-US" sz="2800" dirty="0" err="1">
                <a:solidFill>
                  <a:srgbClr val="3333CC"/>
                </a:solidFill>
                <a:sym typeface="Symbol" charset="0"/>
              </a:rPr>
              <a:t>Pr</a:t>
            </a:r>
            <a:r>
              <a:rPr lang="en-US" sz="2800" dirty="0">
                <a:solidFill>
                  <a:srgbClr val="3333CC"/>
                </a:solidFill>
                <a:sym typeface="Symbol" charset="0"/>
              </a:rPr>
              <a:t>(</a:t>
            </a:r>
            <a:r>
              <a:rPr lang="en-US" sz="2800" i="1" dirty="0">
                <a:solidFill>
                  <a:srgbClr val="3333CC"/>
                </a:solidFill>
                <a:sym typeface="Symbol" charset="0"/>
              </a:rPr>
              <a:t>X</a:t>
            </a:r>
            <a:r>
              <a:rPr lang="en-US" sz="2800" dirty="0">
                <a:solidFill>
                  <a:srgbClr val="3333CC"/>
                </a:solidFill>
              </a:rPr>
              <a:t> </a:t>
            </a:r>
            <a:r>
              <a:rPr lang="it-IT" dirty="0">
                <a:solidFill>
                  <a:srgbClr val="3366FF"/>
                </a:solidFill>
                <a:latin typeface="Comic Sans MS" charset="0"/>
              </a:rPr>
              <a:t>&amp;</a:t>
            </a:r>
            <a:r>
              <a:rPr lang="en-US" sz="2800" dirty="0">
                <a:solidFill>
                  <a:srgbClr val="3333CC"/>
                </a:solidFill>
                <a:sym typeface="Symbol" charset="0"/>
              </a:rPr>
              <a:t> </a:t>
            </a:r>
            <a:r>
              <a:rPr lang="en-US" sz="2800" i="1" dirty="0">
                <a:solidFill>
                  <a:srgbClr val="3333CC"/>
                </a:solidFill>
                <a:sym typeface="Symbol" charset="0"/>
              </a:rPr>
              <a:t>Y</a:t>
            </a:r>
            <a:r>
              <a:rPr lang="en-US" sz="2800" dirty="0">
                <a:solidFill>
                  <a:srgbClr val="3333CC"/>
                </a:solidFill>
                <a:sym typeface="Symbol" charset="0"/>
              </a:rPr>
              <a:t>)/P(X)*P(Y) = </a:t>
            </a:r>
            <a:r>
              <a:rPr lang="en-US" sz="2800" dirty="0">
                <a:solidFill>
                  <a:srgbClr val="3333CC"/>
                </a:solidFill>
              </a:rPr>
              <a:t>Confidence /</a:t>
            </a:r>
            <a:r>
              <a:rPr lang="en-US" sz="2800" dirty="0" err="1">
                <a:solidFill>
                  <a:srgbClr val="3333CC"/>
                </a:solidFill>
              </a:rPr>
              <a:t>Pr</a:t>
            </a:r>
            <a:r>
              <a:rPr lang="en-US" sz="2800" dirty="0">
                <a:solidFill>
                  <a:srgbClr val="3333CC"/>
                </a:solidFill>
              </a:rPr>
              <a:t>(Y)</a:t>
            </a:r>
            <a:endParaRPr lang="en-US" sz="2800" dirty="0">
              <a:solidFill>
                <a:srgbClr val="3333CC"/>
              </a:solidFill>
              <a:sym typeface="Symbol" charset="0"/>
            </a:endParaRPr>
          </a:p>
          <a:p>
            <a:pPr marL="594360" lvl="2" indent="-320040">
              <a:spcBef>
                <a:spcPts val="700"/>
              </a:spcBef>
              <a:buSzPct val="60000"/>
              <a:buFont typeface="Wingdings"/>
              <a:buChar char=""/>
            </a:pPr>
            <a:r>
              <a:rPr lang="en-US" sz="2800" dirty="0">
                <a:solidFill>
                  <a:srgbClr val="3333CC"/>
                </a:solidFill>
                <a:sym typeface="Symbol" charset="0"/>
              </a:rPr>
              <a:t>How likely is Y given X, while controlling the popularity of Y</a:t>
            </a:r>
          </a:p>
          <a:p>
            <a:pPr>
              <a:lnSpc>
                <a:spcPct val="90000"/>
              </a:lnSpc>
            </a:pPr>
            <a:r>
              <a:rPr lang="en-US" b="1" dirty="0"/>
              <a:t>Interest</a:t>
            </a:r>
            <a:r>
              <a:rPr lang="en-US" dirty="0"/>
              <a:t> expresses measure of correlation</a:t>
            </a:r>
            <a:endParaRPr lang="en-US" i="1" dirty="0"/>
          </a:p>
          <a:p>
            <a:pPr lvl="1">
              <a:lnSpc>
                <a:spcPct val="150000"/>
              </a:lnSpc>
            </a:pPr>
            <a:r>
              <a:rPr lang="en-US" sz="2800" dirty="0">
                <a:solidFill>
                  <a:srgbClr val="FF0000"/>
                </a:solidFill>
              </a:rPr>
              <a:t>= 1</a:t>
            </a:r>
            <a:r>
              <a:rPr lang="en-US" sz="2800" dirty="0"/>
              <a:t> </a:t>
            </a:r>
            <a:r>
              <a:rPr lang="en-US" sz="2800" dirty="0">
                <a:sym typeface="Symbol" charset="0"/>
              </a:rPr>
              <a:t></a:t>
            </a:r>
            <a:r>
              <a:rPr lang="en-US" sz="2800" dirty="0"/>
              <a:t> X and Y are independent events (</a:t>
            </a:r>
            <a:r>
              <a:rPr lang="en-US" sz="2800" b="1" dirty="0"/>
              <a:t>the rule does not make sense)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solidFill>
                  <a:srgbClr val="FF0000"/>
                </a:solidFill>
              </a:rPr>
              <a:t>less than 1</a:t>
            </a:r>
            <a:r>
              <a:rPr lang="en-US" sz="2800" dirty="0"/>
              <a:t> </a:t>
            </a:r>
            <a:r>
              <a:rPr lang="en-US" sz="2800" dirty="0">
                <a:sym typeface="Symbol" charset="0"/>
              </a:rPr>
              <a:t></a:t>
            </a:r>
            <a:r>
              <a:rPr lang="en-US" sz="2800" dirty="0"/>
              <a:t> X and Y negatively correlated,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solidFill>
                  <a:srgbClr val="FF0000"/>
                </a:solidFill>
              </a:rPr>
              <a:t>greater than 1</a:t>
            </a:r>
            <a:r>
              <a:rPr lang="en-US" sz="2800" dirty="0"/>
              <a:t> </a:t>
            </a:r>
            <a:r>
              <a:rPr lang="en-US" sz="2800" dirty="0">
                <a:sym typeface="Symbol" charset="0"/>
              </a:rPr>
              <a:t></a:t>
            </a:r>
            <a:r>
              <a:rPr lang="en-US" sz="2800" dirty="0"/>
              <a:t> X and Y positively correlated</a:t>
            </a:r>
            <a:endParaRPr lang="en-US" sz="2800" dirty="0">
              <a:solidFill>
                <a:srgbClr val="3333CC"/>
              </a:solidFill>
              <a:sym typeface="Symbol" charset="0"/>
            </a:endParaRP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US" sz="2800" dirty="0"/>
              <a:t>Other measures</a:t>
            </a:r>
            <a:endParaRPr lang="en-US" sz="2800" i="1" u="sng" dirty="0"/>
          </a:p>
          <a:p>
            <a:pPr lvl="1">
              <a:lnSpc>
                <a:spcPct val="90000"/>
              </a:lnSpc>
            </a:pPr>
            <a:r>
              <a:rPr lang="en-US" sz="2800" i="1" u="sng" dirty="0">
                <a:solidFill>
                  <a:srgbClr val="3333CC"/>
                </a:solidFill>
              </a:rPr>
              <a:t>Val</a:t>
            </a:r>
            <a:r>
              <a:rPr lang="en-US" sz="2800" dirty="0">
                <a:solidFill>
                  <a:srgbClr val="3333CC"/>
                </a:solidFill>
              </a:rPr>
              <a:t> = </a:t>
            </a:r>
            <a:r>
              <a:rPr lang="en-US" sz="2800" dirty="0" err="1">
                <a:solidFill>
                  <a:srgbClr val="3333CC"/>
                </a:solidFill>
              </a:rPr>
              <a:t>Pr</a:t>
            </a:r>
            <a:r>
              <a:rPr lang="en-US" sz="2800" dirty="0">
                <a:solidFill>
                  <a:srgbClr val="3333CC"/>
                </a:solidFill>
              </a:rPr>
              <a:t>(</a:t>
            </a:r>
            <a:r>
              <a:rPr lang="en-US" sz="2800" i="1" dirty="0">
                <a:solidFill>
                  <a:srgbClr val="3333CC"/>
                </a:solidFill>
              </a:rPr>
              <a:t>Y</a:t>
            </a:r>
            <a:r>
              <a:rPr lang="en-US" sz="2800" dirty="0">
                <a:solidFill>
                  <a:srgbClr val="3333CC"/>
                </a:solidFill>
              </a:rPr>
              <a:t> | </a:t>
            </a:r>
            <a:r>
              <a:rPr lang="en-US" sz="2800" i="1" dirty="0">
                <a:solidFill>
                  <a:srgbClr val="3333CC"/>
                </a:solidFill>
              </a:rPr>
              <a:t>X</a:t>
            </a:r>
            <a:r>
              <a:rPr lang="en-US" sz="2800" dirty="0">
                <a:solidFill>
                  <a:srgbClr val="3333CC"/>
                </a:solidFill>
              </a:rPr>
              <a:t>) – </a:t>
            </a:r>
            <a:r>
              <a:rPr lang="en-US" sz="2800" dirty="0" err="1">
                <a:solidFill>
                  <a:srgbClr val="3333CC"/>
                </a:solidFill>
              </a:rPr>
              <a:t>Pr</a:t>
            </a:r>
            <a:r>
              <a:rPr lang="en-US" sz="2800" dirty="0">
                <a:solidFill>
                  <a:srgbClr val="3333CC"/>
                </a:solidFill>
              </a:rPr>
              <a:t>(Y) = Confidence – </a:t>
            </a:r>
            <a:r>
              <a:rPr lang="en-US" sz="2800" dirty="0" err="1">
                <a:solidFill>
                  <a:srgbClr val="3333CC"/>
                </a:solidFill>
              </a:rPr>
              <a:t>Pr</a:t>
            </a:r>
            <a:r>
              <a:rPr lang="en-US" sz="2800" dirty="0">
                <a:solidFill>
                  <a:srgbClr val="3333CC"/>
                </a:solidFill>
              </a:rPr>
              <a:t>(Y)</a:t>
            </a:r>
          </a:p>
          <a:p>
            <a:pPr lvl="1">
              <a:lnSpc>
                <a:spcPct val="90000"/>
              </a:lnSpc>
            </a:pPr>
            <a:r>
              <a:rPr lang="en-US" sz="2800" dirty="0">
                <a:solidFill>
                  <a:srgbClr val="3333CC"/>
                </a:solidFill>
                <a:sym typeface="Symbol" charset="0"/>
              </a:rPr>
              <a:t>LIFT = </a:t>
            </a:r>
            <a:r>
              <a:rPr lang="en-US" sz="2800" dirty="0" err="1">
                <a:solidFill>
                  <a:srgbClr val="3333CC"/>
                </a:solidFill>
              </a:rPr>
              <a:t>Pr</a:t>
            </a:r>
            <a:r>
              <a:rPr lang="en-US" sz="2800" dirty="0">
                <a:solidFill>
                  <a:srgbClr val="3333CC"/>
                </a:solidFill>
              </a:rPr>
              <a:t>(</a:t>
            </a:r>
            <a:r>
              <a:rPr lang="en-US" sz="2800" i="1" dirty="0">
                <a:solidFill>
                  <a:srgbClr val="3333CC"/>
                </a:solidFill>
              </a:rPr>
              <a:t>Y</a:t>
            </a:r>
            <a:r>
              <a:rPr lang="en-US" sz="2800" dirty="0">
                <a:solidFill>
                  <a:srgbClr val="3333CC"/>
                </a:solidFill>
              </a:rPr>
              <a:t> | </a:t>
            </a:r>
            <a:r>
              <a:rPr lang="en-US" sz="2800" i="1" dirty="0">
                <a:solidFill>
                  <a:srgbClr val="3333CC"/>
                </a:solidFill>
              </a:rPr>
              <a:t>X</a:t>
            </a:r>
            <a:r>
              <a:rPr lang="en-US" sz="2800" dirty="0">
                <a:solidFill>
                  <a:srgbClr val="3333CC"/>
                </a:solidFill>
              </a:rPr>
              <a:t>) / </a:t>
            </a:r>
            <a:r>
              <a:rPr lang="en-US" sz="2800" dirty="0" err="1">
                <a:solidFill>
                  <a:srgbClr val="3333CC"/>
                </a:solidFill>
              </a:rPr>
              <a:t>Pr</a:t>
            </a:r>
            <a:r>
              <a:rPr lang="en-US" sz="2800" dirty="0">
                <a:solidFill>
                  <a:srgbClr val="3333CC"/>
                </a:solidFill>
              </a:rPr>
              <a:t>(Y) = Confidence / </a:t>
            </a:r>
            <a:r>
              <a:rPr lang="en-US" sz="2800" dirty="0" err="1">
                <a:solidFill>
                  <a:srgbClr val="3333CC"/>
                </a:solidFill>
              </a:rPr>
              <a:t>Pr</a:t>
            </a:r>
            <a:r>
              <a:rPr lang="en-US" sz="2800" dirty="0">
                <a:solidFill>
                  <a:srgbClr val="3333CC"/>
                </a:solidFill>
              </a:rPr>
              <a:t>(Y)= INTEREST</a:t>
            </a:r>
          </a:p>
        </p:txBody>
      </p:sp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IntroML, 2022  Reg. Ass. &amp; Patter Mining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586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Association Rules – visualization</a:t>
            </a:r>
            <a:endParaRPr lang="it-IT">
              <a:solidFill>
                <a:srgbClr val="0099FF"/>
              </a:solidFill>
              <a:cs typeface="+mj-cs"/>
              <a:sym typeface="Symbol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18</a:t>
            </a:fld>
            <a:endParaRPr lang="en-US" b="1" i="1"/>
          </a:p>
        </p:txBody>
      </p:sp>
      <p:pic>
        <p:nvPicPr>
          <p:cNvPr id="41988" name="Picture 1027" descr="C:\NT4\Profiles\Administrator\Desktop\arno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334344"/>
            <a:ext cx="77724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0" name="Text Box 1028"/>
          <p:cNvSpPr txBox="1">
            <a:spLocks noChangeArrowheads="1"/>
          </p:cNvSpPr>
          <p:nvPr/>
        </p:nvSpPr>
        <p:spPr bwMode="auto">
          <a:xfrm>
            <a:off x="1828800" y="1526556"/>
            <a:ext cx="82296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it-IT" dirty="0">
                <a:latin typeface="Comic Sans MS" charset="0"/>
              </a:rPr>
              <a:t>(</a:t>
            </a:r>
            <a:r>
              <a:rPr lang="en-US" dirty="0">
                <a:latin typeface="Comic Sans MS" charset="0"/>
              </a:rPr>
              <a:t>Patients</a:t>
            </a:r>
            <a:r>
              <a:rPr lang="it-IT" dirty="0">
                <a:latin typeface="Comic Sans MS" charset="0"/>
              </a:rPr>
              <a:t> &lt;15 </a:t>
            </a:r>
            <a:r>
              <a:rPr lang="en-US" dirty="0">
                <a:latin typeface="Comic Sans MS" charset="0"/>
              </a:rPr>
              <a:t>old</a:t>
            </a:r>
            <a:r>
              <a:rPr lang="it-IT" dirty="0">
                <a:latin typeface="Comic Sans MS" charset="0"/>
              </a:rPr>
              <a:t> </a:t>
            </a:r>
            <a:r>
              <a:rPr lang="en-US" dirty="0">
                <a:latin typeface="Comic Sans MS" charset="0"/>
              </a:rPr>
              <a:t>for </a:t>
            </a:r>
            <a:r>
              <a:rPr lang="it-IT" dirty="0">
                <a:latin typeface="Comic Sans MS" charset="0"/>
              </a:rPr>
              <a:t>USL 19</a:t>
            </a:r>
            <a:r>
              <a:rPr lang="en-US" dirty="0">
                <a:latin typeface="Comic Sans MS" charset="0"/>
              </a:rPr>
              <a:t> (a unit of Sanitary service)</a:t>
            </a:r>
            <a:r>
              <a:rPr lang="it-IT" dirty="0">
                <a:latin typeface="Comic Sans MS" charset="0"/>
              </a:rPr>
              <a:t>, </a:t>
            </a:r>
            <a:r>
              <a:rPr lang="en-US" dirty="0">
                <a:latin typeface="Comic Sans MS" charset="0"/>
              </a:rPr>
              <a:t>January</a:t>
            </a:r>
            <a:r>
              <a:rPr lang="it-IT" dirty="0">
                <a:latin typeface="Comic Sans MS" charset="0"/>
              </a:rPr>
              <a:t>-</a:t>
            </a:r>
            <a:r>
              <a:rPr lang="en-US" dirty="0">
                <a:latin typeface="Comic Sans MS" charset="0"/>
              </a:rPr>
              <a:t>September</a:t>
            </a:r>
            <a:r>
              <a:rPr lang="it-IT" dirty="0">
                <a:latin typeface="Comic Sans MS" charset="0"/>
              </a:rPr>
              <a:t> 1997)</a:t>
            </a:r>
          </a:p>
        </p:txBody>
      </p:sp>
      <p:sp>
        <p:nvSpPr>
          <p:cNvPr id="45061" name="AutoShape 1029"/>
          <p:cNvSpPr>
            <a:spLocks noChangeArrowheads="1"/>
          </p:cNvSpPr>
          <p:nvPr/>
        </p:nvSpPr>
        <p:spPr bwMode="auto">
          <a:xfrm>
            <a:off x="7010400" y="5105400"/>
            <a:ext cx="3048000" cy="914400"/>
          </a:xfrm>
          <a:prstGeom prst="wedgeRoundRectCallout">
            <a:avLst>
              <a:gd name="adj1" fmla="val -37500"/>
              <a:gd name="adj2" fmla="val -189236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it-IT" b="1"/>
              <a:t>AZITHROMYCINUM (R) </a:t>
            </a:r>
          </a:p>
          <a:p>
            <a:pPr algn="ctr">
              <a:defRPr/>
            </a:pPr>
            <a:r>
              <a:rPr lang="it-IT" b="1"/>
              <a:t>=&gt; BECLOMETASONE</a:t>
            </a:r>
          </a:p>
          <a:p>
            <a:pPr algn="ctr">
              <a:defRPr/>
            </a:pPr>
            <a:r>
              <a:rPr lang="it-IT" b="1"/>
              <a:t>Supp=5,7%  Conf=34,5%</a:t>
            </a:r>
            <a:endParaRPr lang="it-IT"/>
          </a:p>
        </p:txBody>
      </p:sp>
      <p:sp>
        <p:nvSpPr>
          <p:cNvPr id="45062" name="AutoShape 1030"/>
          <p:cNvSpPr>
            <a:spLocks noChangeArrowheads="1"/>
          </p:cNvSpPr>
          <p:nvPr/>
        </p:nvSpPr>
        <p:spPr bwMode="auto">
          <a:xfrm>
            <a:off x="1524000" y="4495800"/>
            <a:ext cx="3505200" cy="1066800"/>
          </a:xfrm>
          <a:prstGeom prst="wedgeRoundRectCallout">
            <a:avLst>
              <a:gd name="adj1" fmla="val 49093"/>
              <a:gd name="adj2" fmla="val -210417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it-IT" b="1"/>
              <a:t>SULBUTAMOLO</a:t>
            </a:r>
          </a:p>
          <a:p>
            <a:pPr algn="ctr">
              <a:defRPr/>
            </a:pPr>
            <a:r>
              <a:rPr lang="it-IT" b="1"/>
              <a:t> =&gt; BECLOMETASONE </a:t>
            </a:r>
          </a:p>
          <a:p>
            <a:pPr algn="ctr">
              <a:defRPr/>
            </a:pPr>
            <a:r>
              <a:rPr lang="it-IT" b="1"/>
              <a:t>Supp=~4% Conf=57%</a:t>
            </a:r>
            <a:endParaRPr lang="it-IT"/>
          </a:p>
        </p:txBody>
      </p:sp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IntroML, 2022  Reg. Ass. &amp; Patter Mining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299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1" grpId="0" animBg="1" autoUpdateAnimBg="0"/>
      <p:bldP spid="45062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1" name="Picture 2" descr="assoc_b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8382000" cy="543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98787" name="Rectangle 3"/>
          <p:cNvSpPr>
            <a:spLocks noChangeArrowheads="1"/>
          </p:cNvSpPr>
          <p:nvPr/>
        </p:nvSpPr>
        <p:spPr bwMode="auto">
          <a:xfrm>
            <a:off x="1828800" y="381000"/>
            <a:ext cx="8686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sz="3200">
                <a:solidFill>
                  <a:schemeClr val="tx2"/>
                </a:solidFill>
              </a:rPr>
              <a:t>Visualization of Association Rules: Plane Graph</a:t>
            </a:r>
          </a:p>
        </p:txBody>
      </p:sp>
      <p:sp>
        <p:nvSpPr>
          <p:cNvPr id="5" name="Tito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19</a:t>
            </a:fld>
            <a:endParaRPr lang="en-US" b="1" i="1"/>
          </a:p>
        </p:txBody>
      </p:sp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IntroML, 2022  Reg. Ass. &amp; Patter Mining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Association Rule Mining Task</a:t>
            </a:r>
          </a:p>
        </p:txBody>
      </p:sp>
      <p:sp>
        <p:nvSpPr>
          <p:cNvPr id="1236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Given a set of transactions T, the goal of association rule mining is to find all rules having </a:t>
            </a:r>
          </a:p>
          <a:p>
            <a:pPr lvl="1"/>
            <a:r>
              <a:rPr lang="en-US" altLang="en-US"/>
              <a:t>support </a:t>
            </a:r>
            <a:r>
              <a:rPr lang="en-US" altLang="en-US">
                <a:cs typeface="Arial" charset="0"/>
              </a:rPr>
              <a:t>≥ </a:t>
            </a:r>
            <a:r>
              <a:rPr lang="en-US" altLang="en-US" i="1">
                <a:cs typeface="Arial" charset="0"/>
              </a:rPr>
              <a:t>minsup </a:t>
            </a:r>
            <a:r>
              <a:rPr lang="en-US" altLang="en-US">
                <a:cs typeface="Arial" charset="0"/>
              </a:rPr>
              <a:t>threshold</a:t>
            </a:r>
          </a:p>
          <a:p>
            <a:pPr lvl="1"/>
            <a:r>
              <a:rPr lang="en-US" altLang="en-US">
                <a:cs typeface="Arial" charset="0"/>
              </a:rPr>
              <a:t>confidence ≥ </a:t>
            </a:r>
            <a:r>
              <a:rPr lang="en-US" altLang="en-US" i="1">
                <a:cs typeface="Arial" charset="0"/>
              </a:rPr>
              <a:t>minconf </a:t>
            </a:r>
            <a:r>
              <a:rPr lang="en-US" altLang="en-US">
                <a:cs typeface="Arial" charset="0"/>
              </a:rPr>
              <a:t>threshold</a:t>
            </a:r>
          </a:p>
          <a:p>
            <a:pPr lvl="1"/>
            <a:endParaRPr lang="en-US" altLang="en-US">
              <a:cs typeface="Arial" charset="0"/>
            </a:endParaRPr>
          </a:p>
          <a:p>
            <a:r>
              <a:rPr lang="en-US" altLang="en-US">
                <a:cs typeface="Arial" charset="0"/>
              </a:rPr>
              <a:t>Brute-force approach:</a:t>
            </a:r>
          </a:p>
          <a:p>
            <a:pPr lvl="1"/>
            <a:r>
              <a:rPr lang="en-US" altLang="en-US">
                <a:cs typeface="Arial" charset="0"/>
              </a:rPr>
              <a:t>List all possible association rules</a:t>
            </a:r>
          </a:p>
          <a:p>
            <a:pPr lvl="1"/>
            <a:r>
              <a:rPr lang="en-US" altLang="en-US">
                <a:cs typeface="Arial" charset="0"/>
              </a:rPr>
              <a:t>Compute the support and confidence for each rule</a:t>
            </a:r>
          </a:p>
          <a:p>
            <a:pPr lvl="1"/>
            <a:r>
              <a:rPr lang="en-US" altLang="en-US">
                <a:cs typeface="Arial" charset="0"/>
              </a:rPr>
              <a:t>Prune rules that fail the </a:t>
            </a:r>
            <a:r>
              <a:rPr lang="en-US" altLang="en-US" i="1">
                <a:cs typeface="Arial" charset="0"/>
              </a:rPr>
              <a:t>minsup</a:t>
            </a:r>
            <a:r>
              <a:rPr lang="en-US" altLang="en-US">
                <a:cs typeface="Arial" charset="0"/>
              </a:rPr>
              <a:t> and </a:t>
            </a:r>
            <a:r>
              <a:rPr lang="en-US" altLang="en-US" i="1">
                <a:cs typeface="Arial" charset="0"/>
              </a:rPr>
              <a:t>minconf</a:t>
            </a:r>
            <a:r>
              <a:rPr lang="en-US" altLang="en-US">
                <a:cs typeface="Arial" charset="0"/>
              </a:rPr>
              <a:t> thresholds</a:t>
            </a:r>
          </a:p>
          <a:p>
            <a:pPr lvl="1">
              <a:buFont typeface="Arial" charset="0"/>
              <a:buNone/>
            </a:pPr>
            <a:r>
              <a:rPr lang="en-US" altLang="en-US">
                <a:cs typeface="Arial" charset="0"/>
                <a:sym typeface="Symbol" pitchFamily="18" charset="2"/>
              </a:rPr>
              <a:t> </a:t>
            </a:r>
            <a:r>
              <a:rPr lang="en-US" altLang="en-US">
                <a:solidFill>
                  <a:srgbClr val="FF0000"/>
                </a:solidFill>
                <a:cs typeface="Arial" charset="0"/>
              </a:rPr>
              <a:t>Computationally prohibitive</a:t>
            </a:r>
            <a:r>
              <a:rPr lang="en-US" altLang="en-US">
                <a:cs typeface="Arial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639611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699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Mining Association Rules</a:t>
            </a:r>
          </a:p>
        </p:txBody>
      </p:sp>
      <p:sp>
        <p:nvSpPr>
          <p:cNvPr id="10243" name="Text Box 4"/>
          <p:cNvSpPr txBox="1">
            <a:spLocks noChangeArrowheads="1"/>
          </p:cNvSpPr>
          <p:nvPr/>
        </p:nvSpPr>
        <p:spPr bwMode="auto">
          <a:xfrm>
            <a:off x="5791200" y="1387475"/>
            <a:ext cx="47244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>
                <a:solidFill>
                  <a:srgbClr val="CC3300"/>
                </a:solidFill>
                <a:sym typeface="Symbol" pitchFamily="18" charset="2"/>
              </a:rPr>
              <a:t>Example of Rules:</a:t>
            </a:r>
            <a:br>
              <a:rPr lang="en-US" altLang="en-US" sz="2400">
                <a:solidFill>
                  <a:srgbClr val="CC3300"/>
                </a:solidFill>
                <a:sym typeface="Symbol" pitchFamily="18" charset="2"/>
              </a:rPr>
            </a:br>
            <a:endParaRPr lang="en-US" altLang="en-US" sz="1000">
              <a:solidFill>
                <a:srgbClr val="CC3300"/>
              </a:solidFill>
              <a:sym typeface="Symbol" pitchFamily="18" charset="2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{Milk,Diaper} </a:t>
            </a:r>
            <a:r>
              <a:rPr lang="en-US" altLang="en-US" sz="2000">
                <a:sym typeface="Symbol" pitchFamily="18" charset="2"/>
              </a:rPr>
              <a:t> {Beer} (s=0.4, c=0.67)</a:t>
            </a:r>
            <a:br>
              <a:rPr lang="en-US" altLang="en-US" sz="2000">
                <a:sym typeface="Symbol" pitchFamily="18" charset="2"/>
              </a:rPr>
            </a:br>
            <a:r>
              <a:rPr lang="en-US" altLang="en-US" sz="2000"/>
              <a:t>{Milk,Beer} </a:t>
            </a:r>
            <a:r>
              <a:rPr lang="en-US" altLang="en-US" sz="2000">
                <a:sym typeface="Symbol" pitchFamily="18" charset="2"/>
              </a:rPr>
              <a:t> {Diaper} (s=0.4, c=1.0)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{Diaper,Beer} </a:t>
            </a:r>
            <a:r>
              <a:rPr lang="en-US" altLang="en-US" sz="2000">
                <a:sym typeface="Symbol" pitchFamily="18" charset="2"/>
              </a:rPr>
              <a:t> {Milk} (s=0.4, c=0.67)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ym typeface="Symbol" pitchFamily="18" charset="2"/>
              </a:rPr>
              <a:t>{Beer}  {Milk,Diaper} (s=0.4, c=0.67) </a:t>
            </a:r>
            <a:br>
              <a:rPr lang="en-US" altLang="en-US" sz="2000">
                <a:sym typeface="Symbol" pitchFamily="18" charset="2"/>
              </a:rPr>
            </a:br>
            <a:r>
              <a:rPr lang="en-US" altLang="en-US" sz="2000">
                <a:sym typeface="Symbol" pitchFamily="18" charset="2"/>
              </a:rPr>
              <a:t>{Diaper}  {Milk,Beer} (s=0.4, c=0.5)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ym typeface="Symbol" pitchFamily="18" charset="2"/>
              </a:rPr>
              <a:t>{Milk}  {Diaper,Beer} (s=0.4, c=0.5)</a:t>
            </a:r>
          </a:p>
        </p:txBody>
      </p:sp>
      <p:graphicFrame>
        <p:nvGraphicFramePr>
          <p:cNvPr id="10244" name="Object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5603842"/>
              </p:ext>
            </p:extLst>
          </p:nvPr>
        </p:nvGraphicFramePr>
        <p:xfrm>
          <a:off x="1831975" y="1539875"/>
          <a:ext cx="3727450" cy="224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352666" imgH="2016134" progId="Word.Document.8">
                  <p:embed/>
                </p:oleObj>
              </mc:Choice>
              <mc:Fallback>
                <p:oleObj name="Document" r:id="rId2" imgW="3352666" imgH="2016134" progId="Word.Document.8">
                  <p:embed/>
                  <p:pic>
                    <p:nvPicPr>
                      <p:cNvPr id="1024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1975" y="1539875"/>
                        <a:ext cx="3727450" cy="224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1399" name="Text Box 7"/>
          <p:cNvSpPr txBox="1">
            <a:spLocks noChangeArrowheads="1"/>
          </p:cNvSpPr>
          <p:nvPr/>
        </p:nvSpPr>
        <p:spPr bwMode="auto">
          <a:xfrm>
            <a:off x="1905000" y="4054475"/>
            <a:ext cx="7924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>
                <a:solidFill>
                  <a:srgbClr val="CC3300"/>
                </a:solidFill>
                <a:sym typeface="Symbol" pitchFamily="18" charset="2"/>
              </a:rPr>
              <a:t>Observations: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>
                <a:sym typeface="Symbol" pitchFamily="18" charset="2"/>
              </a:rPr>
              <a:t> All the above rules are binary partitions of the same itemset: </a:t>
            </a:r>
            <a:br>
              <a:rPr lang="en-US" altLang="en-US" sz="2000">
                <a:sym typeface="Symbol" pitchFamily="18" charset="2"/>
              </a:rPr>
            </a:br>
            <a:r>
              <a:rPr lang="en-US" altLang="en-US" sz="2000">
                <a:sym typeface="Symbol" pitchFamily="18" charset="2"/>
              </a:rPr>
              <a:t>	{Milk, Diaper, Beer}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>
                <a:sym typeface="Symbol" pitchFamily="18" charset="2"/>
              </a:rPr>
              <a:t> Rules originating from the same itemset have identical support but</a:t>
            </a:r>
            <a:br>
              <a:rPr lang="en-US" altLang="en-US" sz="2000">
                <a:sym typeface="Symbol" pitchFamily="18" charset="2"/>
              </a:rPr>
            </a:br>
            <a:r>
              <a:rPr lang="en-US" altLang="en-US" sz="2000">
                <a:sym typeface="Symbol" pitchFamily="18" charset="2"/>
              </a:rPr>
              <a:t>  can have different confidence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>
                <a:sym typeface="Symbol" pitchFamily="18" charset="2"/>
              </a:rPr>
              <a:t> Thus, we may decouple the support and confidence requirements</a:t>
            </a:r>
          </a:p>
        </p:txBody>
      </p:sp>
    </p:spTree>
    <p:extLst>
      <p:ext uri="{BB962C8B-B14F-4D97-AF65-F5344CB8AC3E}">
        <p14:creationId xmlns:p14="http://schemas.microsoft.com/office/powerpoint/2010/main" val="1976968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139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Mining Association Rules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/>
            <a:r>
              <a:rPr lang="en-US" altLang="en-US"/>
              <a:t>Two-step approach: </a:t>
            </a:r>
          </a:p>
          <a:p>
            <a:pPr marL="914400" lvl="1" indent="-457200">
              <a:buFont typeface="Arial" charset="0"/>
              <a:buAutoNum type="arabicPeriod"/>
            </a:pPr>
            <a:r>
              <a:rPr lang="en-US" altLang="en-US">
                <a:solidFill>
                  <a:srgbClr val="FF0000"/>
                </a:solidFill>
              </a:rPr>
              <a:t>Frequent Itemset Generation</a:t>
            </a:r>
            <a:endParaRPr lang="en-US" altLang="en-US"/>
          </a:p>
          <a:p>
            <a:pPr marL="1295400" lvl="2" indent="-381000">
              <a:buFont typeface="Arial" charset="0"/>
              <a:buChar char="–"/>
            </a:pPr>
            <a:r>
              <a:rPr lang="en-US" altLang="en-US"/>
              <a:t>Generate all itemsets whose support </a:t>
            </a:r>
            <a:r>
              <a:rPr lang="en-US" altLang="en-US">
                <a:sym typeface="Symbol" pitchFamily="18" charset="2"/>
              </a:rPr>
              <a:t> </a:t>
            </a:r>
            <a:r>
              <a:rPr lang="en-US" altLang="en-US"/>
              <a:t>minsup</a:t>
            </a:r>
          </a:p>
          <a:p>
            <a:pPr marL="1295400" lvl="2" indent="-381000">
              <a:buNone/>
            </a:pPr>
            <a:endParaRPr lang="en-US" altLang="en-US"/>
          </a:p>
          <a:p>
            <a:pPr marL="914400" lvl="1" indent="-457200">
              <a:buFont typeface="Arial" charset="0"/>
              <a:buAutoNum type="arabicPeriod"/>
            </a:pPr>
            <a:r>
              <a:rPr lang="en-US" altLang="en-US">
                <a:solidFill>
                  <a:srgbClr val="FF0000"/>
                </a:solidFill>
              </a:rPr>
              <a:t>Rule Generation</a:t>
            </a:r>
            <a:endParaRPr lang="en-US" altLang="en-US"/>
          </a:p>
          <a:p>
            <a:pPr marL="1295400" lvl="2" indent="-381000">
              <a:buFont typeface="Arial" charset="0"/>
              <a:buChar char="–"/>
            </a:pPr>
            <a:r>
              <a:rPr lang="en-US" altLang="en-US"/>
              <a:t>Generate high confidence rules from each frequent itemset, where each rule is a binary partitioning of a frequent itemset</a:t>
            </a:r>
          </a:p>
          <a:p>
            <a:pPr marL="533400" indent="-533400"/>
            <a:endParaRPr lang="en-US" altLang="en-US"/>
          </a:p>
          <a:p>
            <a:pPr marL="533400" indent="-533400"/>
            <a:r>
              <a:rPr lang="en-US" altLang="en-US"/>
              <a:t>Frequent itemset generation is still computationally expensive</a:t>
            </a:r>
          </a:p>
          <a:p>
            <a:pPr marL="533400" indent="-533400"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03467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>
          <a:xfrm>
            <a:off x="822326" y="15204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GB" sz="4000" dirty="0">
                <a:latin typeface="Comic Sans MS" charset="0"/>
              </a:rPr>
              <a:t>Exercise1</a:t>
            </a:r>
            <a:endParaRPr lang="en-GB" b="0" dirty="0">
              <a:latin typeface="Century-BoldCondensed" charset="0"/>
              <a:cs typeface="+mj-cs"/>
            </a:endParaRPr>
          </a:p>
        </p:txBody>
      </p:sp>
      <p:pic>
        <p:nvPicPr>
          <p:cNvPr id="35844" name="Picture 4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" y="1487738"/>
            <a:ext cx="9601200" cy="4276725"/>
          </a:xfrm>
          <a:noFill/>
        </p:spPr>
      </p:pic>
      <p:sp>
        <p:nvSpPr>
          <p:cNvPr id="35845" name="TextBox 1"/>
          <p:cNvSpPr txBox="1">
            <a:spLocks noChangeArrowheads="1"/>
          </p:cNvSpPr>
          <p:nvPr/>
        </p:nvSpPr>
        <p:spPr bwMode="auto">
          <a:xfrm>
            <a:off x="2782889" y="5661026"/>
            <a:ext cx="32972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/>
              <a:t>Support?: e, (</a:t>
            </a:r>
            <a:r>
              <a:rPr lang="en-US" dirty="0" err="1"/>
              <a:t>b,d</a:t>
            </a:r>
            <a:r>
              <a:rPr lang="en-US" dirty="0"/>
              <a:t>), (</a:t>
            </a:r>
            <a:r>
              <a:rPr lang="en-US" dirty="0" err="1"/>
              <a:t>b,d,e</a:t>
            </a:r>
            <a:r>
              <a:rPr lang="en-US" dirty="0"/>
              <a:t>)</a:t>
            </a:r>
          </a:p>
        </p:txBody>
      </p:sp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IntroML, 2022  Reg. Ass. &amp; Patter Mining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23</a:t>
            </a:fld>
            <a:endParaRPr lang="en-US" b="1" i="1"/>
          </a:p>
        </p:txBody>
      </p:sp>
    </p:spTree>
    <p:extLst>
      <p:ext uri="{BB962C8B-B14F-4D97-AF65-F5344CB8AC3E}">
        <p14:creationId xmlns:p14="http://schemas.microsoft.com/office/powerpoint/2010/main" val="2215179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68897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GB" sz="4000" dirty="0">
                <a:latin typeface="Comic Sans MS" charset="0"/>
              </a:rPr>
              <a:t>Exercise2</a:t>
            </a:r>
            <a:endParaRPr lang="en-GB" b="0" dirty="0">
              <a:latin typeface="Century-BoldCondensed" charset="0"/>
              <a:cs typeface="+mj-cs"/>
            </a:endParaRPr>
          </a:p>
        </p:txBody>
      </p:sp>
      <p:pic>
        <p:nvPicPr>
          <p:cNvPr id="36868" name="Picture 7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38400" y="1107953"/>
            <a:ext cx="7956376" cy="4768142"/>
          </a:xfrm>
          <a:noFill/>
        </p:spPr>
      </p:pic>
      <p:sp>
        <p:nvSpPr>
          <p:cNvPr id="36869" name="TextBox 1"/>
          <p:cNvSpPr txBox="1">
            <a:spLocks noChangeArrowheads="1"/>
          </p:cNvSpPr>
          <p:nvPr/>
        </p:nvSpPr>
        <p:spPr bwMode="auto">
          <a:xfrm>
            <a:off x="2495551" y="5589588"/>
            <a:ext cx="64420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/>
              <a:t>Max size of itemset, 2-itemsets with larger support</a:t>
            </a:r>
          </a:p>
        </p:txBody>
      </p:sp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IntroML, 2022  Reg. Ass. &amp; Patter Mining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24</a:t>
            </a:fld>
            <a:endParaRPr lang="en-US" b="1" i="1"/>
          </a:p>
        </p:txBody>
      </p:sp>
    </p:spTree>
    <p:extLst>
      <p:ext uri="{BB962C8B-B14F-4D97-AF65-F5344CB8AC3E}">
        <p14:creationId xmlns:p14="http://schemas.microsoft.com/office/powerpoint/2010/main" val="28949732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53005" y="0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GB" sz="4400" dirty="0">
                <a:latin typeface="Comic Sans MS" charset="0"/>
              </a:rPr>
              <a:t>Exercise3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04056" y="1516698"/>
            <a:ext cx="8783888" cy="4495800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it-IT" sz="2000" dirty="0"/>
              <a:t>ID Transazione </a:t>
            </a:r>
            <a:r>
              <a:rPr lang="it-IT" sz="2000" dirty="0" err="1"/>
              <a:t>Items</a:t>
            </a:r>
            <a:endParaRPr lang="it-IT" sz="2000" dirty="0"/>
          </a:p>
          <a:p>
            <a:pPr marL="0" indent="0">
              <a:buNone/>
              <a:defRPr/>
            </a:pPr>
            <a:r>
              <a:rPr lang="it-IT" sz="2000" dirty="0"/>
              <a:t>1 {</a:t>
            </a:r>
            <a:r>
              <a:rPr lang="it-IT" sz="2000" dirty="0" err="1"/>
              <a:t>f,a,d,b</a:t>
            </a:r>
            <a:r>
              <a:rPr lang="it-IT" sz="2000" dirty="0"/>
              <a:t>}</a:t>
            </a:r>
          </a:p>
          <a:p>
            <a:pPr marL="0" indent="0">
              <a:buNone/>
              <a:defRPr/>
            </a:pPr>
            <a:r>
              <a:rPr lang="it-IT" sz="2000" dirty="0"/>
              <a:t>2 {</a:t>
            </a:r>
            <a:r>
              <a:rPr lang="it-IT" sz="2000" dirty="0" err="1"/>
              <a:t>d,a,c,e,b</a:t>
            </a:r>
            <a:r>
              <a:rPr lang="it-IT" sz="2000" dirty="0"/>
              <a:t>}</a:t>
            </a:r>
          </a:p>
          <a:p>
            <a:pPr marL="0" indent="0">
              <a:buNone/>
              <a:defRPr/>
            </a:pPr>
            <a:r>
              <a:rPr lang="it-IT" sz="2000" dirty="0"/>
              <a:t>3 {</a:t>
            </a:r>
            <a:r>
              <a:rPr lang="it-IT" sz="2000" dirty="0" err="1"/>
              <a:t>c,a,b,e</a:t>
            </a:r>
            <a:r>
              <a:rPr lang="it-IT" sz="2000" dirty="0"/>
              <a:t>}</a:t>
            </a:r>
          </a:p>
          <a:p>
            <a:pPr marL="0" indent="0">
              <a:buNone/>
              <a:defRPr/>
            </a:pPr>
            <a:r>
              <a:rPr lang="it-IT" sz="2000" dirty="0"/>
              <a:t>4 {</a:t>
            </a:r>
            <a:r>
              <a:rPr lang="it-IT" sz="2000" dirty="0" err="1"/>
              <a:t>b,a,d</a:t>
            </a:r>
            <a:r>
              <a:rPr lang="it-IT" sz="2000" dirty="0"/>
              <a:t>}</a:t>
            </a:r>
          </a:p>
          <a:p>
            <a:pPr marL="0" indent="0">
              <a:buNone/>
              <a:defRPr/>
            </a:pPr>
            <a:r>
              <a:rPr lang="it-IT" sz="2000" dirty="0"/>
              <a:t>Fissati il supporto minimo </a:t>
            </a:r>
            <a:r>
              <a:rPr lang="it-IT" sz="2000" dirty="0" err="1"/>
              <a:t>σ</a:t>
            </a:r>
            <a:r>
              <a:rPr lang="it-IT" sz="2000" dirty="0"/>
              <a:t> = 60% </a:t>
            </a:r>
          </a:p>
          <a:p>
            <a:pPr marL="0" indent="0">
              <a:buNone/>
              <a:defRPr/>
            </a:pPr>
            <a:r>
              <a:rPr lang="it-IT" sz="2000" dirty="0"/>
              <a:t>a) Indicare quali tra questi </a:t>
            </a:r>
            <a:r>
              <a:rPr lang="it-IT" sz="2000" dirty="0" err="1"/>
              <a:t>itemset</a:t>
            </a:r>
            <a:r>
              <a:rPr lang="it-IT" sz="2000" dirty="0"/>
              <a:t> sono frequenti.</a:t>
            </a:r>
          </a:p>
          <a:p>
            <a:pPr>
              <a:buFont typeface="Arial"/>
              <a:buChar char="•"/>
              <a:defRPr/>
            </a:pPr>
            <a:r>
              <a:rPr lang="it-IT" sz="2000" dirty="0"/>
              <a:t>1) {a}</a:t>
            </a:r>
          </a:p>
          <a:p>
            <a:pPr>
              <a:buFont typeface="Arial"/>
              <a:buChar char="•"/>
              <a:defRPr/>
            </a:pPr>
            <a:r>
              <a:rPr lang="it-IT" sz="2000" dirty="0"/>
              <a:t>2) {c}</a:t>
            </a:r>
          </a:p>
          <a:p>
            <a:pPr>
              <a:buFont typeface="Arial"/>
              <a:buChar char="•"/>
              <a:defRPr/>
            </a:pPr>
            <a:r>
              <a:rPr lang="it-IT" sz="2000" dirty="0"/>
              <a:t>3) {</a:t>
            </a:r>
            <a:r>
              <a:rPr lang="it-IT" sz="2000" dirty="0" err="1"/>
              <a:t>b,c</a:t>
            </a:r>
            <a:r>
              <a:rPr lang="it-IT" sz="2000" dirty="0"/>
              <a:t>}</a:t>
            </a:r>
          </a:p>
          <a:p>
            <a:pPr>
              <a:buFont typeface="Arial"/>
              <a:buChar char="•"/>
              <a:defRPr/>
            </a:pPr>
            <a:r>
              <a:rPr lang="it-IT" sz="2000" dirty="0"/>
              <a:t>4) {</a:t>
            </a:r>
            <a:r>
              <a:rPr lang="it-IT" sz="2000" dirty="0" err="1"/>
              <a:t>b,d</a:t>
            </a:r>
            <a:r>
              <a:rPr lang="it-IT" sz="2000" dirty="0"/>
              <a:t>}</a:t>
            </a:r>
          </a:p>
          <a:p>
            <a:pPr>
              <a:buFont typeface="Arial"/>
              <a:buChar char="•"/>
              <a:defRPr/>
            </a:pPr>
            <a:r>
              <a:rPr lang="it-IT" sz="2000" dirty="0"/>
              <a:t>5) {</a:t>
            </a:r>
            <a:r>
              <a:rPr lang="it-IT" sz="2000" dirty="0" err="1"/>
              <a:t>a,b,d</a:t>
            </a:r>
            <a:r>
              <a:rPr lang="it-IT" sz="2000" dirty="0"/>
              <a:t>}</a:t>
            </a:r>
          </a:p>
          <a:p>
            <a:pPr>
              <a:buFont typeface="Arial"/>
              <a:buChar char="•"/>
              <a:defRPr/>
            </a:pPr>
            <a:r>
              <a:rPr lang="it-IT" sz="2000" dirty="0"/>
              <a:t>6) {</a:t>
            </a:r>
            <a:r>
              <a:rPr lang="it-IT" sz="2000" dirty="0" err="1"/>
              <a:t>a,b,e</a:t>
            </a:r>
            <a:r>
              <a:rPr lang="it-IT" sz="2000" dirty="0"/>
              <a:t>}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/>
              <a:t>IntroML, 2022  Reg. Ass. &amp; Patter Mining</a:t>
            </a:r>
            <a:endParaRPr lang="en-US" sz="140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25</a:t>
            </a:fld>
            <a:endParaRPr lang="en-US" b="1" i="1"/>
          </a:p>
        </p:txBody>
      </p:sp>
    </p:spTree>
    <p:extLst>
      <p:ext uri="{BB962C8B-B14F-4D97-AF65-F5344CB8AC3E}">
        <p14:creationId xmlns:p14="http://schemas.microsoft.com/office/powerpoint/2010/main" val="22096518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>
                <a:latin typeface="Comic Sans MS" charset="0"/>
              </a:rPr>
              <a:t>Exercise4</a:t>
            </a:r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IntroML, 2022  Reg. Ass. &amp; Patter Mining</a:t>
            </a:r>
            <a:endParaRPr lang="en-US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26</a:t>
            </a:fld>
            <a:endParaRPr lang="en-US" b="1" i="1"/>
          </a:p>
        </p:txBody>
      </p:sp>
      <p:sp>
        <p:nvSpPr>
          <p:cNvPr id="6" name="Segnaposto contenuto 5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  <a:defRPr/>
            </a:pPr>
            <a:r>
              <a:rPr lang="it-IT" sz="3200" dirty="0"/>
              <a:t>ID Transazione </a:t>
            </a:r>
            <a:r>
              <a:rPr lang="it-IT" sz="3200" dirty="0" err="1"/>
              <a:t>Items</a:t>
            </a:r>
            <a:endParaRPr lang="it-IT" sz="3200" dirty="0"/>
          </a:p>
          <a:p>
            <a:pPr marL="0" indent="0">
              <a:buNone/>
              <a:defRPr/>
            </a:pPr>
            <a:r>
              <a:rPr lang="it-IT" sz="3200" dirty="0"/>
              <a:t>1 {</a:t>
            </a:r>
            <a:r>
              <a:rPr lang="it-IT" sz="3700" dirty="0" err="1"/>
              <a:t>f,a,d,b</a:t>
            </a:r>
            <a:r>
              <a:rPr lang="it-IT" sz="3700" dirty="0"/>
              <a:t>}</a:t>
            </a:r>
          </a:p>
          <a:p>
            <a:pPr marL="0" indent="0">
              <a:buNone/>
              <a:defRPr/>
            </a:pPr>
            <a:r>
              <a:rPr lang="it-IT" sz="3700" dirty="0"/>
              <a:t>2 {</a:t>
            </a:r>
            <a:r>
              <a:rPr lang="it-IT" sz="3700" dirty="0" err="1"/>
              <a:t>d,a,c,e,b</a:t>
            </a:r>
            <a:r>
              <a:rPr lang="it-IT" sz="3700" dirty="0"/>
              <a:t>}</a:t>
            </a:r>
          </a:p>
          <a:p>
            <a:pPr marL="0" indent="0">
              <a:buNone/>
              <a:defRPr/>
            </a:pPr>
            <a:r>
              <a:rPr lang="it-IT" sz="3700" dirty="0"/>
              <a:t>3 {</a:t>
            </a:r>
            <a:r>
              <a:rPr lang="it-IT" sz="3700" dirty="0" err="1"/>
              <a:t>c,a,b,e</a:t>
            </a:r>
            <a:r>
              <a:rPr lang="it-IT" sz="3700" dirty="0"/>
              <a:t>}</a:t>
            </a:r>
          </a:p>
          <a:p>
            <a:pPr marL="0" indent="0">
              <a:buNone/>
              <a:defRPr/>
            </a:pPr>
            <a:r>
              <a:rPr lang="it-IT" sz="3700" dirty="0"/>
              <a:t>4 {</a:t>
            </a:r>
            <a:r>
              <a:rPr lang="it-IT" sz="3700" dirty="0" err="1"/>
              <a:t>b,a,d</a:t>
            </a:r>
            <a:r>
              <a:rPr lang="it-IT" sz="3700" dirty="0"/>
              <a:t>}</a:t>
            </a:r>
          </a:p>
          <a:p>
            <a:pPr marL="0" indent="0">
              <a:buNone/>
              <a:defRPr/>
            </a:pPr>
            <a:r>
              <a:rPr lang="it-IT" sz="3200" dirty="0"/>
              <a:t>Fissati il supporto minimo </a:t>
            </a:r>
            <a:r>
              <a:rPr lang="it-IT" sz="3200" dirty="0" err="1"/>
              <a:t>σ</a:t>
            </a:r>
            <a:r>
              <a:rPr lang="it-IT" sz="3200" dirty="0"/>
              <a:t> = 60% e la confidenza minima </a:t>
            </a:r>
            <a:r>
              <a:rPr lang="it-IT" sz="3200" dirty="0" err="1"/>
              <a:t>γ</a:t>
            </a:r>
            <a:r>
              <a:rPr lang="it-IT" sz="3200" dirty="0"/>
              <a:t> = 80%</a:t>
            </a:r>
          </a:p>
          <a:p>
            <a:pPr marL="0" indent="0">
              <a:buNone/>
              <a:defRPr/>
            </a:pPr>
            <a:r>
              <a:rPr lang="it-IT" sz="3200" dirty="0"/>
              <a:t>b) Indicare quali tra queste regole sono valide</a:t>
            </a:r>
          </a:p>
          <a:p>
            <a:pPr>
              <a:buFont typeface="Arial"/>
              <a:buChar char="•"/>
              <a:defRPr/>
            </a:pPr>
            <a:r>
              <a:rPr lang="it-IT" sz="3200" dirty="0"/>
              <a:t>1) {a}=&gt;{b}</a:t>
            </a:r>
          </a:p>
          <a:p>
            <a:pPr>
              <a:buFont typeface="Arial"/>
              <a:buChar char="•"/>
              <a:defRPr/>
            </a:pPr>
            <a:r>
              <a:rPr lang="it-IT" sz="3200" dirty="0"/>
              <a:t>2) {a}=&gt;{d}</a:t>
            </a:r>
          </a:p>
          <a:p>
            <a:pPr>
              <a:buFont typeface="Arial"/>
              <a:buChar char="•"/>
              <a:defRPr/>
            </a:pPr>
            <a:r>
              <a:rPr lang="it-IT" sz="3200" dirty="0"/>
              <a:t>3) {d}=&gt;{a}</a:t>
            </a:r>
          </a:p>
          <a:p>
            <a:pPr>
              <a:buFont typeface="Arial"/>
              <a:buChar char="•"/>
              <a:defRPr/>
            </a:pPr>
            <a:r>
              <a:rPr lang="it-IT" sz="3200" dirty="0"/>
              <a:t>4) {d}=&gt;{</a:t>
            </a:r>
            <a:r>
              <a:rPr lang="it-IT" sz="3200" dirty="0" err="1"/>
              <a:t>a,b</a:t>
            </a:r>
            <a:r>
              <a:rPr lang="it-IT" sz="3200" dirty="0"/>
              <a:t>}</a:t>
            </a:r>
          </a:p>
          <a:p>
            <a:pPr>
              <a:buFont typeface="Arial"/>
              <a:buChar char="•"/>
              <a:defRPr/>
            </a:pPr>
            <a:r>
              <a:rPr lang="it-IT" sz="3200" dirty="0"/>
              <a:t>5) {</a:t>
            </a:r>
            <a:r>
              <a:rPr lang="it-IT" sz="3200" dirty="0" err="1"/>
              <a:t>a,b</a:t>
            </a:r>
            <a:r>
              <a:rPr lang="it-IT" sz="3200" dirty="0"/>
              <a:t>}=&gt;{d}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557980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37625D63-0C63-400B-BDF8-6D97DD297F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Basic Apriori Algorithm</a:t>
            </a:r>
          </a:p>
        </p:txBody>
      </p:sp>
      <p:sp>
        <p:nvSpPr>
          <p:cNvPr id="22533" name="Rectangle 3">
            <a:extLst>
              <a:ext uri="{FF2B5EF4-FFF2-40B4-BE49-F238E27FC236}">
                <a16:creationId xmlns:a16="http://schemas.microsoft.com/office/drawing/2014/main" id="{A5FCADCF-9226-9541-B519-EF8B9FA3F5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  <a:buFont typeface="Monotype Sorts" pitchFamily="2" charset="2"/>
              <a:buNone/>
            </a:pPr>
            <a:r>
              <a:rPr lang="it-IT" altLang="it-IT" sz="3600" dirty="0" err="1"/>
              <a:t>Problem</a:t>
            </a:r>
            <a:r>
              <a:rPr lang="it-IT" altLang="it-IT" sz="3600" dirty="0"/>
              <a:t> </a:t>
            </a:r>
            <a:r>
              <a:rPr lang="it-IT" altLang="it-IT" sz="3600" dirty="0" err="1"/>
              <a:t>Decomposition</a:t>
            </a:r>
            <a:br>
              <a:rPr lang="en-US" altLang="it-IT" sz="3200" dirty="0"/>
            </a:br>
            <a:endParaRPr lang="en-US" altLang="it-IT" sz="3200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it-IT" sz="3200" dirty="0"/>
              <a:t>Find the </a:t>
            </a:r>
            <a:r>
              <a:rPr lang="en-US" altLang="it-IT" sz="3200" i="1" dirty="0">
                <a:solidFill>
                  <a:schemeClr val="accent1"/>
                </a:solidFill>
              </a:rPr>
              <a:t>frequent </a:t>
            </a:r>
            <a:r>
              <a:rPr lang="en-US" altLang="it-IT" sz="3200" i="1" dirty="0" err="1">
                <a:solidFill>
                  <a:schemeClr val="accent1"/>
                </a:solidFill>
              </a:rPr>
              <a:t>itemsets</a:t>
            </a:r>
            <a:r>
              <a:rPr lang="en-US" altLang="it-IT" sz="3200" dirty="0"/>
              <a:t>: the sets of items that satisfy the support constraint</a:t>
            </a:r>
          </a:p>
          <a:p>
            <a:pPr lvl="1">
              <a:lnSpc>
                <a:spcPct val="120000"/>
              </a:lnSpc>
              <a:buFont typeface="Monotype Sorts" pitchFamily="2" charset="2"/>
              <a:buChar char="u"/>
            </a:pPr>
            <a:r>
              <a:rPr lang="en-US" altLang="it-IT" sz="2800" dirty="0">
                <a:solidFill>
                  <a:schemeClr val="accent1"/>
                </a:solidFill>
              </a:rPr>
              <a:t>A subset of a frequent itemset is also a frequent itemset</a:t>
            </a:r>
            <a:r>
              <a:rPr lang="en-US" altLang="it-IT" sz="2800" dirty="0"/>
              <a:t>, i.e., if {</a:t>
            </a:r>
            <a:r>
              <a:rPr lang="en-US" altLang="it-IT" sz="2800" i="1" dirty="0"/>
              <a:t>A,B</a:t>
            </a:r>
            <a:r>
              <a:rPr lang="en-US" altLang="it-IT" sz="2800" dirty="0"/>
              <a:t>} is</a:t>
            </a:r>
            <a:r>
              <a:rPr lang="en-US" altLang="it-IT" sz="2800" i="1" dirty="0"/>
              <a:t> </a:t>
            </a:r>
            <a:r>
              <a:rPr lang="en-US" altLang="it-IT" sz="2800" dirty="0"/>
              <a:t>a frequent itemset, both {</a:t>
            </a:r>
            <a:r>
              <a:rPr lang="en-US" altLang="it-IT" sz="2800" i="1" dirty="0"/>
              <a:t>A</a:t>
            </a:r>
            <a:r>
              <a:rPr lang="en-US" altLang="it-IT" sz="2800" dirty="0"/>
              <a:t>} and {</a:t>
            </a:r>
            <a:r>
              <a:rPr lang="en-US" altLang="it-IT" sz="2800" i="1" dirty="0"/>
              <a:t>B</a:t>
            </a:r>
            <a:r>
              <a:rPr lang="en-US" altLang="it-IT" sz="2800" dirty="0"/>
              <a:t>} should be a frequent itemset</a:t>
            </a:r>
          </a:p>
          <a:p>
            <a:pPr lvl="1">
              <a:lnSpc>
                <a:spcPct val="120000"/>
              </a:lnSpc>
              <a:buFont typeface="Monotype Sorts" pitchFamily="2" charset="2"/>
              <a:buChar char="u"/>
            </a:pPr>
            <a:r>
              <a:rPr lang="en-US" altLang="it-IT" sz="2800" dirty="0"/>
              <a:t>Iteratively find frequent </a:t>
            </a:r>
            <a:r>
              <a:rPr lang="en-US" altLang="it-IT" sz="2800" dirty="0" err="1"/>
              <a:t>itemsets</a:t>
            </a:r>
            <a:r>
              <a:rPr lang="en-US" altLang="it-IT" sz="2800" dirty="0"/>
              <a:t> with cardinality from 1 to </a:t>
            </a:r>
            <a:r>
              <a:rPr lang="en-US" altLang="it-IT" sz="2800" i="1" dirty="0"/>
              <a:t>k (k-</a:t>
            </a:r>
            <a:r>
              <a:rPr lang="en-US" altLang="it-IT" sz="2800" dirty="0"/>
              <a:t>itemset</a:t>
            </a:r>
            <a:r>
              <a:rPr lang="en-US" altLang="it-IT" sz="2800" i="1" dirty="0"/>
              <a:t>)</a:t>
            </a:r>
            <a:endParaRPr lang="en-US" altLang="it-IT" sz="2800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it-IT" sz="3200" dirty="0"/>
              <a:t>Use the frequent </a:t>
            </a:r>
            <a:r>
              <a:rPr lang="en-US" altLang="it-IT" sz="3200" dirty="0" err="1"/>
              <a:t>itemsets</a:t>
            </a:r>
            <a:r>
              <a:rPr lang="en-US" altLang="it-IT" sz="3200" dirty="0"/>
              <a:t> to generate association rules.</a:t>
            </a:r>
          </a:p>
          <a:p>
            <a:pPr>
              <a:lnSpc>
                <a:spcPct val="120000"/>
              </a:lnSpc>
              <a:buFont typeface="Monotype Sorts" pitchFamily="2" charset="2"/>
              <a:buChar char="Á"/>
            </a:pPr>
            <a:endParaRPr lang="en-US" altLang="it-IT" sz="3200" dirty="0"/>
          </a:p>
        </p:txBody>
      </p:sp>
    </p:spTree>
    <p:extLst>
      <p:ext uri="{BB962C8B-B14F-4D97-AF65-F5344CB8AC3E}">
        <p14:creationId xmlns:p14="http://schemas.microsoft.com/office/powerpoint/2010/main" val="2771250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Frequent Itemset Generation</a:t>
            </a:r>
          </a:p>
        </p:txBody>
      </p:sp>
      <p:graphicFrame>
        <p:nvGraphicFramePr>
          <p:cNvPr id="1229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7887627"/>
              </p:ext>
            </p:extLst>
          </p:nvPr>
        </p:nvGraphicFramePr>
        <p:xfrm>
          <a:off x="2013996" y="1418865"/>
          <a:ext cx="7034213" cy="531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9811512" imgH="7395972" progId="Visio.Drawing.6">
                  <p:embed/>
                </p:oleObj>
              </mc:Choice>
              <mc:Fallback>
                <p:oleObj name="VISIO" r:id="rId2" imgW="9811512" imgH="7395972" progId="Visio.Drawing.6">
                  <p:embed/>
                  <p:pic>
                    <p:nvPicPr>
                      <p:cNvPr id="122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3996" y="1418865"/>
                        <a:ext cx="7034213" cy="531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7957595" y="5686065"/>
            <a:ext cx="2743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Given d items, there are 2</a:t>
            </a:r>
            <a:r>
              <a:rPr lang="en-US" altLang="en-US" sz="2000" baseline="30000"/>
              <a:t>d</a:t>
            </a:r>
            <a:r>
              <a:rPr lang="en-US" altLang="en-US" sz="2000"/>
              <a:t> possible candidate itemsets</a:t>
            </a:r>
            <a:endParaRPr lang="en-US" altLang="en-US" sz="200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581671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Frequent Itemset Generation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altLang="en-US" dirty="0"/>
              <a:t>Brute-force approach: </a:t>
            </a:r>
          </a:p>
          <a:p>
            <a:pPr lvl="1"/>
            <a:r>
              <a:rPr lang="en-US" altLang="en-US" dirty="0"/>
              <a:t>Each itemset in the lattice is a </a:t>
            </a:r>
            <a:r>
              <a:rPr lang="en-US" altLang="en-US" dirty="0">
                <a:solidFill>
                  <a:srgbClr val="FF0000"/>
                </a:solidFill>
              </a:rPr>
              <a:t>candidate</a:t>
            </a:r>
            <a:r>
              <a:rPr lang="en-US" altLang="en-US" dirty="0"/>
              <a:t> frequent itemset</a:t>
            </a:r>
          </a:p>
          <a:p>
            <a:pPr lvl="1"/>
            <a:r>
              <a:rPr lang="en-US" altLang="en-US" dirty="0"/>
              <a:t>Count the support of each candidate by scanning the database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Match each transaction against every candidate</a:t>
            </a:r>
          </a:p>
          <a:p>
            <a:pPr lvl="1"/>
            <a:r>
              <a:rPr lang="en-US" altLang="en-US" dirty="0"/>
              <a:t>Complexity ~ O(</a:t>
            </a:r>
            <a:r>
              <a:rPr lang="en-US" altLang="en-US" dirty="0" err="1"/>
              <a:t>NMw</a:t>
            </a:r>
            <a:r>
              <a:rPr lang="en-US" altLang="en-US" dirty="0"/>
              <a:t>) =&gt; </a:t>
            </a:r>
            <a:r>
              <a:rPr lang="en-US" altLang="en-US" dirty="0">
                <a:solidFill>
                  <a:srgbClr val="FF0000"/>
                </a:solidFill>
              </a:rPr>
              <a:t>Expensive since M = 2</a:t>
            </a:r>
            <a:r>
              <a:rPr lang="en-US" altLang="en-US" baseline="30000" dirty="0">
                <a:solidFill>
                  <a:srgbClr val="FF0000"/>
                </a:solidFill>
              </a:rPr>
              <a:t>d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!!!</a:t>
            </a:r>
          </a:p>
        </p:txBody>
      </p:sp>
      <p:graphicFrame>
        <p:nvGraphicFramePr>
          <p:cNvPr id="133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0528571"/>
              </p:ext>
            </p:extLst>
          </p:nvPr>
        </p:nvGraphicFramePr>
        <p:xfrm>
          <a:off x="2645438" y="2939970"/>
          <a:ext cx="7281862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643978" imgH="2744343" progId="Visio.Drawing.6">
                  <p:embed/>
                </p:oleObj>
              </mc:Choice>
              <mc:Fallback>
                <p:oleObj name="Visio" r:id="rId2" imgW="7643978" imgH="2744343" progId="Visio.Drawing.6">
                  <p:embed/>
                  <p:pic>
                    <p:nvPicPr>
                      <p:cNvPr id="133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5438" y="2939970"/>
                        <a:ext cx="7281862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24592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Frequent Itemset Generation Strategies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Reduce the </a:t>
            </a:r>
            <a:r>
              <a:rPr lang="en-US" altLang="en-US" dirty="0">
                <a:solidFill>
                  <a:srgbClr val="FF0000"/>
                </a:solidFill>
              </a:rPr>
              <a:t>number of candidates</a:t>
            </a:r>
            <a:r>
              <a:rPr lang="en-US" altLang="en-US" dirty="0"/>
              <a:t> (M)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Complete search: M=2</a:t>
            </a:r>
            <a:r>
              <a:rPr lang="en-US" altLang="en-US" baseline="30000" dirty="0"/>
              <a:t>d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Use pruning techniques to reduce M</a:t>
            </a:r>
          </a:p>
          <a:p>
            <a:pPr lvl="4">
              <a:lnSpc>
                <a:spcPct val="90000"/>
              </a:lnSpc>
            </a:pPr>
            <a:endParaRPr lang="en-US" altLang="en-US" sz="1200" dirty="0"/>
          </a:p>
          <a:p>
            <a:pPr>
              <a:lnSpc>
                <a:spcPct val="90000"/>
              </a:lnSpc>
            </a:pPr>
            <a:r>
              <a:rPr lang="en-US" altLang="en-US" dirty="0"/>
              <a:t>Reduce the </a:t>
            </a:r>
            <a:r>
              <a:rPr lang="en-US" altLang="en-US" dirty="0">
                <a:solidFill>
                  <a:srgbClr val="FF0000"/>
                </a:solidFill>
              </a:rPr>
              <a:t>number of transactions </a:t>
            </a:r>
            <a:r>
              <a:rPr lang="en-US" altLang="en-US" dirty="0"/>
              <a:t>(N)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Reduce size of N as the size of itemset increases</a:t>
            </a:r>
          </a:p>
          <a:p>
            <a:pPr lvl="4">
              <a:lnSpc>
                <a:spcPct val="90000"/>
              </a:lnSpc>
            </a:pPr>
            <a:endParaRPr lang="en-US" altLang="en-US" sz="1000" dirty="0"/>
          </a:p>
          <a:p>
            <a:pPr>
              <a:lnSpc>
                <a:spcPct val="90000"/>
              </a:lnSpc>
            </a:pPr>
            <a:r>
              <a:rPr lang="en-US" altLang="en-US" dirty="0"/>
              <a:t>Reduce the </a:t>
            </a:r>
            <a:r>
              <a:rPr lang="en-US" altLang="en-US" dirty="0">
                <a:solidFill>
                  <a:srgbClr val="FF0000"/>
                </a:solidFill>
              </a:rPr>
              <a:t>number of comparisons</a:t>
            </a:r>
            <a:r>
              <a:rPr lang="en-US" altLang="en-US" dirty="0"/>
              <a:t> (NM)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Use efficient data structures to store the candidates or transactions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No need to match every candidate against every transaction</a:t>
            </a:r>
          </a:p>
        </p:txBody>
      </p:sp>
    </p:spTree>
    <p:extLst>
      <p:ext uri="{BB962C8B-B14F-4D97-AF65-F5344CB8AC3E}">
        <p14:creationId xmlns:p14="http://schemas.microsoft.com/office/powerpoint/2010/main" val="10361791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Reducing Number of Candidates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solidFill>
                  <a:srgbClr val="CC3300"/>
                </a:solidFill>
              </a:rPr>
              <a:t>Apriori principle</a:t>
            </a:r>
            <a:r>
              <a:rPr lang="en-US" altLang="en-US"/>
              <a:t>:</a:t>
            </a:r>
          </a:p>
          <a:p>
            <a:pPr lvl="1"/>
            <a:r>
              <a:rPr lang="en-US" altLang="en-US"/>
              <a:t>If an itemset is frequent, then all of its subsets must also be frequent</a:t>
            </a:r>
          </a:p>
          <a:p>
            <a:pPr lvl="4"/>
            <a:endParaRPr lang="en-US" altLang="en-US"/>
          </a:p>
          <a:p>
            <a:r>
              <a:rPr lang="en-US" altLang="en-US"/>
              <a:t>Apriori principle holds due to the following property of the support measure:</a:t>
            </a:r>
          </a:p>
          <a:p>
            <a:endParaRPr lang="en-US" altLang="en-US"/>
          </a:p>
          <a:p>
            <a:endParaRPr lang="en-US" altLang="en-US"/>
          </a:p>
          <a:p>
            <a:pPr lvl="1"/>
            <a:r>
              <a:rPr lang="en-US" altLang="en-US"/>
              <a:t>Support of an itemset never exceeds the support of its subsets</a:t>
            </a:r>
          </a:p>
          <a:p>
            <a:pPr lvl="1"/>
            <a:r>
              <a:rPr lang="en-US" altLang="en-US"/>
              <a:t>This is known as the </a:t>
            </a:r>
            <a:r>
              <a:rPr lang="en-US" altLang="en-US">
                <a:solidFill>
                  <a:srgbClr val="CC3300"/>
                </a:solidFill>
              </a:rPr>
              <a:t>anti-monotone</a:t>
            </a:r>
            <a:r>
              <a:rPr lang="en-US" altLang="en-US"/>
              <a:t> property of support</a:t>
            </a:r>
          </a:p>
        </p:txBody>
      </p:sp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3505200" y="3984626"/>
          <a:ext cx="57150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93900" imgH="203200" progId="Equation.3">
                  <p:embed/>
                </p:oleObj>
              </mc:Choice>
              <mc:Fallback>
                <p:oleObj name="Equation" r:id="rId2" imgW="1993900" imgH="203200" progId="Equation.3">
                  <p:embed/>
                  <p:pic>
                    <p:nvPicPr>
                      <p:cNvPr id="153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984626"/>
                        <a:ext cx="57150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689319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/>
          <p:cNvGrpSpPr>
            <a:grpSpLocks/>
          </p:cNvGrpSpPr>
          <p:nvPr/>
        </p:nvGrpSpPr>
        <p:grpSpPr bwMode="auto">
          <a:xfrm>
            <a:off x="1752601" y="1089026"/>
            <a:ext cx="8831263" cy="5235575"/>
            <a:chOff x="144" y="686"/>
            <a:chExt cx="5563" cy="3298"/>
          </a:xfrm>
        </p:grpSpPr>
        <p:sp>
          <p:nvSpPr>
            <p:cNvPr id="16391" name="Line 3"/>
            <p:cNvSpPr>
              <a:spLocks noChangeShapeType="1"/>
            </p:cNvSpPr>
            <p:nvPr/>
          </p:nvSpPr>
          <p:spPr bwMode="auto">
            <a:xfrm flipV="1">
              <a:off x="864" y="1920"/>
              <a:ext cx="576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2" name="Text Box 4"/>
            <p:cNvSpPr txBox="1">
              <a:spLocks noChangeArrowheads="1"/>
            </p:cNvSpPr>
            <p:nvPr/>
          </p:nvSpPr>
          <p:spPr bwMode="auto">
            <a:xfrm>
              <a:off x="144" y="2112"/>
              <a:ext cx="100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C6D9C"/>
                  </a:solidFill>
                </a:rPr>
                <a:t>Found to be Infrequent</a:t>
              </a:r>
              <a:endParaRPr lang="en-US" altLang="en-US" sz="2000">
                <a:solidFill>
                  <a:srgbClr val="0C6D9C"/>
                </a:solidFill>
                <a:sym typeface="Symbol" pitchFamily="18" charset="2"/>
              </a:endParaRPr>
            </a:p>
          </p:txBody>
        </p:sp>
        <p:graphicFrame>
          <p:nvGraphicFramePr>
            <p:cNvPr id="16393" name="Object 5"/>
            <p:cNvGraphicFramePr>
              <a:graphicFrameLocks noChangeAspect="1"/>
            </p:cNvGraphicFramePr>
            <p:nvPr/>
          </p:nvGraphicFramePr>
          <p:xfrm>
            <a:off x="1392" y="686"/>
            <a:ext cx="4315" cy="3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9866478" imgH="7377618" progId="Visio.Drawing.6">
                    <p:embed/>
                  </p:oleObj>
                </mc:Choice>
                <mc:Fallback>
                  <p:oleObj name="Visio" r:id="rId2" imgW="9866478" imgH="7377618" progId="Visio.Drawing.6">
                    <p:embed/>
                    <p:pic>
                      <p:nvPicPr>
                        <p:cNvPr id="16393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686"/>
                          <a:ext cx="4315" cy="3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387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Illustrating </a:t>
            </a:r>
            <a:r>
              <a:rPr lang="en-US" altLang="en-US" sz="4000" dirty="0" err="1"/>
              <a:t>Apriori</a:t>
            </a:r>
            <a:r>
              <a:rPr lang="en-US" altLang="en-US" sz="4000" dirty="0"/>
              <a:t> Principle</a:t>
            </a:r>
          </a:p>
        </p:txBody>
      </p: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3733801" y="1089027"/>
            <a:ext cx="6850063" cy="5235575"/>
            <a:chOff x="1392" y="686"/>
            <a:chExt cx="4315" cy="3298"/>
          </a:xfrm>
        </p:grpSpPr>
        <p:graphicFrame>
          <p:nvGraphicFramePr>
            <p:cNvPr id="16389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6213929"/>
                </p:ext>
              </p:extLst>
            </p:nvPr>
          </p:nvGraphicFramePr>
          <p:xfrm>
            <a:off x="1392" y="686"/>
            <a:ext cx="4315" cy="3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9866478" imgH="7377618" progId="Visio.Drawing.6">
                    <p:embed/>
                  </p:oleObj>
                </mc:Choice>
                <mc:Fallback>
                  <p:oleObj name="Visio" r:id="rId4" imgW="9866478" imgH="7377618" progId="Visio.Drawing.6">
                    <p:embed/>
                    <p:pic>
                      <p:nvPicPr>
                        <p:cNvPr id="16389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686"/>
                          <a:ext cx="4315" cy="3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90" name="Text Box 9"/>
            <p:cNvSpPr txBox="1">
              <a:spLocks noChangeArrowheads="1"/>
            </p:cNvSpPr>
            <p:nvPr/>
          </p:nvSpPr>
          <p:spPr bwMode="auto">
            <a:xfrm>
              <a:off x="1488" y="3494"/>
              <a:ext cx="912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FF0000"/>
                  </a:solidFill>
                </a:rPr>
                <a:t>Pruned supersets</a:t>
              </a:r>
              <a:endParaRPr lang="en-US" altLang="en-US" sz="2000">
                <a:solidFill>
                  <a:srgbClr val="FF0000"/>
                </a:solidFill>
                <a:sym typeface="Symbol" pitchFamily="18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8879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Illustrating Apriori Principle</a:t>
            </a:r>
          </a:p>
        </p:txBody>
      </p:sp>
      <p:sp>
        <p:nvSpPr>
          <p:cNvPr id="17411" name="Text Box 12"/>
          <p:cNvSpPr txBox="1">
            <a:spLocks noChangeArrowheads="1"/>
          </p:cNvSpPr>
          <p:nvPr/>
        </p:nvSpPr>
        <p:spPr bwMode="auto">
          <a:xfrm>
            <a:off x="1828801" y="3810000"/>
            <a:ext cx="2659063" cy="41275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latin typeface="Tahoma" pitchFamily="34" charset="0"/>
              </a:rPr>
              <a:t>Minimum Support = 3</a:t>
            </a:r>
          </a:p>
        </p:txBody>
      </p:sp>
      <p:graphicFrame>
        <p:nvGraphicFramePr>
          <p:cNvPr id="17412" name="Object 21"/>
          <p:cNvGraphicFramePr>
            <a:graphicFrameLocks noGrp="1" noChangeAspect="1"/>
          </p:cNvGraphicFramePr>
          <p:nvPr/>
        </p:nvGraphicFramePr>
        <p:xfrm>
          <a:off x="1905000" y="1402915"/>
          <a:ext cx="3568700" cy="20542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352666" imgH="2016134" progId="Word.Document.8">
                  <p:embed/>
                </p:oleObj>
              </mc:Choice>
              <mc:Fallback>
                <p:oleObj name="Document" r:id="rId2" imgW="3352666" imgH="2016134" progId="Word.Document.8">
                  <p:embed/>
                  <p:pic>
                    <p:nvPicPr>
                      <p:cNvPr id="17412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402915"/>
                        <a:ext cx="3568700" cy="20542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Text Box 6"/>
          <p:cNvSpPr txBox="1">
            <a:spLocks noChangeArrowheads="1"/>
          </p:cNvSpPr>
          <p:nvPr/>
        </p:nvSpPr>
        <p:spPr bwMode="auto">
          <a:xfrm>
            <a:off x="6934201" y="1371601"/>
            <a:ext cx="2055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ahoma" pitchFamily="34" charset="0"/>
              </a:rPr>
              <a:t>Items (1-itemsets)</a:t>
            </a:r>
          </a:p>
        </p:txBody>
      </p:sp>
      <p:sp>
        <p:nvSpPr>
          <p:cNvPr id="17414" name="Right Arrow 16"/>
          <p:cNvSpPr>
            <a:spLocks noChangeArrowheads="1"/>
          </p:cNvSpPr>
          <p:nvPr/>
        </p:nvSpPr>
        <p:spPr bwMode="auto">
          <a:xfrm>
            <a:off x="5638800" y="2286000"/>
            <a:ext cx="6858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12700" algn="ctr">
            <a:solidFill>
              <a:schemeClr val="accent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graphicFrame>
        <p:nvGraphicFramePr>
          <p:cNvPr id="17416" name="Object 3"/>
          <p:cNvGraphicFramePr>
            <a:graphicFrameLocks noChangeAspect="1"/>
          </p:cNvGraphicFramePr>
          <p:nvPr/>
        </p:nvGraphicFramePr>
        <p:xfrm>
          <a:off x="7026276" y="1905001"/>
          <a:ext cx="2270125" cy="246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2289908" imgH="2495536" progId="Word.Document.8">
                  <p:embed/>
                </p:oleObj>
              </mc:Choice>
              <mc:Fallback>
                <p:oleObj name="Document" r:id="rId4" imgW="2289908" imgH="2495536" progId="Word.Document.8">
                  <p:embed/>
                  <p:pic>
                    <p:nvPicPr>
                      <p:cNvPr id="1741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6276" y="1905001"/>
                        <a:ext cx="2270125" cy="2468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67271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Illustrating Apriori Principle</a:t>
            </a:r>
          </a:p>
        </p:txBody>
      </p:sp>
      <p:sp>
        <p:nvSpPr>
          <p:cNvPr id="18435" name="Text Box 12"/>
          <p:cNvSpPr txBox="1">
            <a:spLocks noChangeArrowheads="1"/>
          </p:cNvSpPr>
          <p:nvPr/>
        </p:nvSpPr>
        <p:spPr bwMode="auto">
          <a:xfrm>
            <a:off x="1828801" y="3810000"/>
            <a:ext cx="2659063" cy="41275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latin typeface="Tahoma" pitchFamily="34" charset="0"/>
              </a:rPr>
              <a:t>Minimum Support = 3</a:t>
            </a:r>
          </a:p>
        </p:txBody>
      </p:sp>
      <p:graphicFrame>
        <p:nvGraphicFramePr>
          <p:cNvPr id="18437" name="Object 21"/>
          <p:cNvGraphicFramePr>
            <a:graphicFrameLocks noGrp="1" noChangeAspect="1"/>
          </p:cNvGraphicFramePr>
          <p:nvPr/>
        </p:nvGraphicFramePr>
        <p:xfrm>
          <a:off x="1905000" y="1295400"/>
          <a:ext cx="3568700" cy="214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352666" imgH="2016134" progId="Word.Document.8">
                  <p:embed/>
                </p:oleObj>
              </mc:Choice>
              <mc:Fallback>
                <p:oleObj name="Document" r:id="rId2" imgW="3352666" imgH="2016134" progId="Word.Document.8">
                  <p:embed/>
                  <p:pic>
                    <p:nvPicPr>
                      <p:cNvPr id="18437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295400"/>
                        <a:ext cx="3568700" cy="214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6934201" y="1371601"/>
            <a:ext cx="2055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ahoma" pitchFamily="34" charset="0"/>
              </a:rPr>
              <a:t>Items (1-itemsets)</a:t>
            </a:r>
          </a:p>
        </p:txBody>
      </p:sp>
      <p:sp>
        <p:nvSpPr>
          <p:cNvPr id="18439" name="Right Arrow 16"/>
          <p:cNvSpPr>
            <a:spLocks noChangeArrowheads="1"/>
          </p:cNvSpPr>
          <p:nvPr/>
        </p:nvSpPr>
        <p:spPr bwMode="auto">
          <a:xfrm>
            <a:off x="5638800" y="2286000"/>
            <a:ext cx="6858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12700" algn="ctr">
            <a:solidFill>
              <a:schemeClr val="accent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graphicFrame>
        <p:nvGraphicFramePr>
          <p:cNvPr id="18440" name="Object 3"/>
          <p:cNvGraphicFramePr>
            <a:graphicFrameLocks noChangeAspect="1"/>
          </p:cNvGraphicFramePr>
          <p:nvPr/>
        </p:nvGraphicFramePr>
        <p:xfrm>
          <a:off x="6931026" y="1905001"/>
          <a:ext cx="2289175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2289908" imgH="2495536" progId="Word.Document.8">
                  <p:embed/>
                </p:oleObj>
              </mc:Choice>
              <mc:Fallback>
                <p:oleObj name="Document" r:id="rId4" imgW="2289908" imgH="2495536" progId="Word.Document.8">
                  <p:embed/>
                  <p:pic>
                    <p:nvPicPr>
                      <p:cNvPr id="1844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1026" y="1905001"/>
                        <a:ext cx="2289175" cy="249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85500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Illustrating Apriori Principle</a:t>
            </a:r>
          </a:p>
        </p:txBody>
      </p:sp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1828801" y="1387476"/>
          <a:ext cx="2289175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2289908" imgH="2495536" progId="Word.Document.8">
                  <p:embed/>
                </p:oleObj>
              </mc:Choice>
              <mc:Fallback>
                <p:oleObj name="Document" r:id="rId2" imgW="2289908" imgH="2495536" progId="Word.Document.8">
                  <p:embed/>
                  <p:pic>
                    <p:nvPicPr>
                      <p:cNvPr id="1945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1" y="1387476"/>
                        <a:ext cx="2289175" cy="249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4876800" y="2133600"/>
          <a:ext cx="3246438" cy="195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328641" imgH="2008846" progId="Word.Document.8">
                  <p:embed/>
                </p:oleObj>
              </mc:Choice>
              <mc:Fallback>
                <p:oleObj name="Document" r:id="rId4" imgW="3328641" imgH="2008846" progId="Word.Document.8">
                  <p:embed/>
                  <p:pic>
                    <p:nvPicPr>
                      <p:cNvPr id="194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133600"/>
                        <a:ext cx="3246438" cy="195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Text Box 6"/>
          <p:cNvSpPr txBox="1">
            <a:spLocks noChangeArrowheads="1"/>
          </p:cNvSpPr>
          <p:nvPr/>
        </p:nvSpPr>
        <p:spPr bwMode="auto">
          <a:xfrm>
            <a:off x="4038601" y="1295401"/>
            <a:ext cx="2055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ahoma" pitchFamily="34" charset="0"/>
              </a:rPr>
              <a:t>Items (1-itemsets)</a:t>
            </a:r>
          </a:p>
        </p:txBody>
      </p:sp>
      <p:sp>
        <p:nvSpPr>
          <p:cNvPr id="19462" name="Text Box 7"/>
          <p:cNvSpPr txBox="1">
            <a:spLocks noChangeArrowheads="1"/>
          </p:cNvSpPr>
          <p:nvPr/>
        </p:nvSpPr>
        <p:spPr bwMode="auto">
          <a:xfrm>
            <a:off x="7620001" y="2055813"/>
            <a:ext cx="2790825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ahoma" pitchFamily="34" charset="0"/>
              </a:rPr>
              <a:t>Pairs (2-itemsets)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latin typeface="Tahoma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ahoma" pitchFamily="34" charset="0"/>
              </a:rPr>
              <a:t>(No need to generate</a:t>
            </a:r>
            <a:br>
              <a:rPr lang="en-US" altLang="en-US" sz="1800">
                <a:latin typeface="Tahoma" pitchFamily="34" charset="0"/>
              </a:rPr>
            </a:br>
            <a:r>
              <a:rPr lang="en-US" altLang="en-US" sz="1800">
                <a:latin typeface="Tahoma" pitchFamily="34" charset="0"/>
              </a:rPr>
              <a:t>candidates involving Coke</a:t>
            </a:r>
            <a:br>
              <a:rPr lang="en-US" altLang="en-US" sz="1800">
                <a:latin typeface="Tahoma" pitchFamily="34" charset="0"/>
              </a:rPr>
            </a:br>
            <a:r>
              <a:rPr lang="en-US" altLang="en-US" sz="1800">
                <a:latin typeface="Tahoma" pitchFamily="34" charset="0"/>
              </a:rPr>
              <a:t>or Eggs)</a:t>
            </a: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9463" name="Line 10"/>
          <p:cNvSpPr>
            <a:spLocks noChangeShapeType="1"/>
          </p:cNvSpPr>
          <p:nvPr/>
        </p:nvSpPr>
        <p:spPr bwMode="auto">
          <a:xfrm>
            <a:off x="4343400" y="19812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headE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4" name="Text Box 12"/>
          <p:cNvSpPr txBox="1">
            <a:spLocks noChangeArrowheads="1"/>
          </p:cNvSpPr>
          <p:nvPr/>
        </p:nvSpPr>
        <p:spPr bwMode="auto">
          <a:xfrm>
            <a:off x="1828801" y="3810000"/>
            <a:ext cx="2659063" cy="41275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latin typeface="Tahoma" pitchFamily="34" charset="0"/>
              </a:rPr>
              <a:t>Minimum Support = 3</a:t>
            </a:r>
          </a:p>
        </p:txBody>
      </p:sp>
      <p:graphicFrame>
        <p:nvGraphicFramePr>
          <p:cNvPr id="9" name="Object 21">
            <a:extLst>
              <a:ext uri="{FF2B5EF4-FFF2-40B4-BE49-F238E27FC236}">
                <a16:creationId xmlns:a16="http://schemas.microsoft.com/office/drawing/2014/main" id="{C273D86C-0462-EE0C-F184-51CFF445BCEC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454509139"/>
              </p:ext>
            </p:extLst>
          </p:nvPr>
        </p:nvGraphicFramePr>
        <p:xfrm>
          <a:off x="7785100" y="79331"/>
          <a:ext cx="3568700" cy="20542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352666" imgH="2016134" progId="Word.Document.8">
                  <p:embed/>
                </p:oleObj>
              </mc:Choice>
              <mc:Fallback>
                <p:oleObj name="Document" r:id="rId6" imgW="3352666" imgH="2016134" progId="Word.Document.8">
                  <p:embed/>
                  <p:pic>
                    <p:nvPicPr>
                      <p:cNvPr id="17412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5100" y="79331"/>
                        <a:ext cx="3568700" cy="20542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73364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Illustrating Apriori Principle</a:t>
            </a:r>
          </a:p>
        </p:txBody>
      </p:sp>
      <p:graphicFrame>
        <p:nvGraphicFramePr>
          <p:cNvPr id="20483" name="Object 3"/>
          <p:cNvGraphicFramePr>
            <a:graphicFrameLocks noChangeAspect="1"/>
          </p:cNvGraphicFramePr>
          <p:nvPr/>
        </p:nvGraphicFramePr>
        <p:xfrm>
          <a:off x="1828801" y="1387476"/>
          <a:ext cx="2289175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2289908" imgH="2495536" progId="Word.Document.8">
                  <p:embed/>
                </p:oleObj>
              </mc:Choice>
              <mc:Fallback>
                <p:oleObj name="Document" r:id="rId3" imgW="2289908" imgH="2495536" progId="Word.Document.8">
                  <p:embed/>
                  <p:pic>
                    <p:nvPicPr>
                      <p:cNvPr id="204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1" y="1387476"/>
                        <a:ext cx="2289175" cy="249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4"/>
          <p:cNvGraphicFramePr>
            <a:graphicFrameLocks noChangeAspect="1"/>
          </p:cNvGraphicFramePr>
          <p:nvPr/>
        </p:nvGraphicFramePr>
        <p:xfrm>
          <a:off x="4876801" y="2133600"/>
          <a:ext cx="3292475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3328641" imgH="2008846" progId="Word.Document.8">
                  <p:embed/>
                </p:oleObj>
              </mc:Choice>
              <mc:Fallback>
                <p:oleObj name="Document" r:id="rId5" imgW="3328641" imgH="2008846" progId="Word.Document.8">
                  <p:embed/>
                  <p:pic>
                    <p:nvPicPr>
                      <p:cNvPr id="204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1" y="2133600"/>
                        <a:ext cx="3292475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Text Box 6"/>
          <p:cNvSpPr txBox="1">
            <a:spLocks noChangeArrowheads="1"/>
          </p:cNvSpPr>
          <p:nvPr/>
        </p:nvSpPr>
        <p:spPr bwMode="auto">
          <a:xfrm>
            <a:off x="4038601" y="1295401"/>
            <a:ext cx="2055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ahoma" pitchFamily="34" charset="0"/>
              </a:rPr>
              <a:t>Items (1-itemsets)</a:t>
            </a:r>
          </a:p>
        </p:txBody>
      </p:sp>
      <p:sp>
        <p:nvSpPr>
          <p:cNvPr id="20486" name="Text Box 7"/>
          <p:cNvSpPr txBox="1">
            <a:spLocks noChangeArrowheads="1"/>
          </p:cNvSpPr>
          <p:nvPr/>
        </p:nvSpPr>
        <p:spPr bwMode="auto">
          <a:xfrm>
            <a:off x="7620001" y="2055813"/>
            <a:ext cx="2790825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ahoma" pitchFamily="34" charset="0"/>
              </a:rPr>
              <a:t>Pairs (2-itemsets)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latin typeface="Tahoma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ahoma" pitchFamily="34" charset="0"/>
              </a:rPr>
              <a:t>(No need to generate</a:t>
            </a:r>
            <a:br>
              <a:rPr lang="en-US" altLang="en-US" sz="1800">
                <a:latin typeface="Tahoma" pitchFamily="34" charset="0"/>
              </a:rPr>
            </a:br>
            <a:r>
              <a:rPr lang="en-US" altLang="en-US" sz="1800">
                <a:latin typeface="Tahoma" pitchFamily="34" charset="0"/>
              </a:rPr>
              <a:t>candidates involving Coke</a:t>
            </a:r>
            <a:br>
              <a:rPr lang="en-US" altLang="en-US" sz="1800">
                <a:latin typeface="Tahoma" pitchFamily="34" charset="0"/>
              </a:rPr>
            </a:br>
            <a:r>
              <a:rPr lang="en-US" altLang="en-US" sz="1800">
                <a:latin typeface="Tahoma" pitchFamily="34" charset="0"/>
              </a:rPr>
              <a:t>or Eggs)</a:t>
            </a: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20487" name="Line 10"/>
          <p:cNvSpPr>
            <a:spLocks noChangeShapeType="1"/>
          </p:cNvSpPr>
          <p:nvPr/>
        </p:nvSpPr>
        <p:spPr bwMode="auto">
          <a:xfrm>
            <a:off x="4343400" y="19812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headE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8" name="Text Box 12"/>
          <p:cNvSpPr txBox="1">
            <a:spLocks noChangeArrowheads="1"/>
          </p:cNvSpPr>
          <p:nvPr/>
        </p:nvSpPr>
        <p:spPr bwMode="auto">
          <a:xfrm>
            <a:off x="1828801" y="3810000"/>
            <a:ext cx="2659063" cy="41275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latin typeface="Tahoma" pitchFamily="34" charset="0"/>
              </a:rPr>
              <a:t>Minimum Support = 3</a:t>
            </a:r>
          </a:p>
        </p:txBody>
      </p:sp>
      <p:graphicFrame>
        <p:nvGraphicFramePr>
          <p:cNvPr id="9" name="Object 21">
            <a:extLst>
              <a:ext uri="{FF2B5EF4-FFF2-40B4-BE49-F238E27FC236}">
                <a16:creationId xmlns:a16="http://schemas.microsoft.com/office/drawing/2014/main" id="{18109C78-31C1-7F88-D235-A4F6DBCCD064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755497335"/>
              </p:ext>
            </p:extLst>
          </p:nvPr>
        </p:nvGraphicFramePr>
        <p:xfrm>
          <a:off x="8164513" y="79331"/>
          <a:ext cx="3568700" cy="20542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7" imgW="3352666" imgH="2016134" progId="Word.Document.8">
                  <p:embed/>
                </p:oleObj>
              </mc:Choice>
              <mc:Fallback>
                <p:oleObj name="Document" r:id="rId7" imgW="3352666" imgH="2016134" progId="Word.Document.8">
                  <p:embed/>
                  <p:pic>
                    <p:nvPicPr>
                      <p:cNvPr id="17412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4513" y="79331"/>
                        <a:ext cx="3568700" cy="20542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082824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Illustrating Apriori Principle</a:t>
            </a:r>
          </a:p>
        </p:txBody>
      </p:sp>
      <p:graphicFrame>
        <p:nvGraphicFramePr>
          <p:cNvPr id="21507" name="Object 3"/>
          <p:cNvGraphicFramePr>
            <a:graphicFrameLocks noChangeAspect="1"/>
          </p:cNvGraphicFramePr>
          <p:nvPr/>
        </p:nvGraphicFramePr>
        <p:xfrm>
          <a:off x="1828801" y="1387476"/>
          <a:ext cx="2289175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2289908" imgH="2495536" progId="Word.Document.8">
                  <p:embed/>
                </p:oleObj>
              </mc:Choice>
              <mc:Fallback>
                <p:oleObj name="Document" r:id="rId3" imgW="2289908" imgH="2495536" progId="Word.Document.8">
                  <p:embed/>
                  <p:pic>
                    <p:nvPicPr>
                      <p:cNvPr id="2150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1" y="1387476"/>
                        <a:ext cx="2289175" cy="249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4"/>
          <p:cNvGraphicFramePr>
            <a:graphicFrameLocks noChangeAspect="1"/>
          </p:cNvGraphicFramePr>
          <p:nvPr/>
        </p:nvGraphicFramePr>
        <p:xfrm>
          <a:off x="4876800" y="2133600"/>
          <a:ext cx="3327400" cy="212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3328641" imgH="2008846" progId="Word.Document.8">
                  <p:embed/>
                </p:oleObj>
              </mc:Choice>
              <mc:Fallback>
                <p:oleObj name="Document" r:id="rId5" imgW="3328641" imgH="2008846" progId="Word.Document.8">
                  <p:embed/>
                  <p:pic>
                    <p:nvPicPr>
                      <p:cNvPr id="215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133600"/>
                        <a:ext cx="3327400" cy="212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5"/>
          <p:cNvGraphicFramePr>
            <a:graphicFrameLocks noChangeAspect="1"/>
          </p:cNvGraphicFramePr>
          <p:nvPr/>
        </p:nvGraphicFramePr>
        <p:xfrm>
          <a:off x="6224588" y="4406901"/>
          <a:ext cx="3556000" cy="213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7" imgW="3637555" imgH="2179681" progId="Word.Document.8">
                  <p:embed/>
                </p:oleObj>
              </mc:Choice>
              <mc:Fallback>
                <p:oleObj name="Document" r:id="rId7" imgW="3637555" imgH="2179681" progId="Word.Document.8">
                  <p:embed/>
                  <p:pic>
                    <p:nvPicPr>
                      <p:cNvPr id="215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4588" y="4406901"/>
                        <a:ext cx="3556000" cy="213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4038601" y="1295401"/>
            <a:ext cx="2055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ahoma" pitchFamily="34" charset="0"/>
              </a:rPr>
              <a:t>Items (1-itemsets)</a:t>
            </a:r>
          </a:p>
        </p:txBody>
      </p:sp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7620001" y="2055813"/>
            <a:ext cx="2790825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>
                <a:latin typeface="Tahoma" pitchFamily="34" charset="0"/>
              </a:rPr>
              <a:t>Pairs (2-itemsets)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dirty="0">
              <a:latin typeface="Tahoma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>
                <a:latin typeface="Tahoma" pitchFamily="34" charset="0"/>
              </a:rPr>
              <a:t>(No need to generate</a:t>
            </a:r>
            <a:br>
              <a:rPr lang="en-US" altLang="en-US" sz="1800" dirty="0">
                <a:latin typeface="Tahoma" pitchFamily="34" charset="0"/>
              </a:rPr>
            </a:br>
            <a:r>
              <a:rPr lang="en-US" altLang="en-US" sz="1800" dirty="0">
                <a:latin typeface="Tahoma" pitchFamily="34" charset="0"/>
              </a:rPr>
              <a:t>candidates involving Coke</a:t>
            </a:r>
            <a:br>
              <a:rPr lang="en-US" altLang="en-US" sz="1800" dirty="0">
                <a:latin typeface="Tahoma" pitchFamily="34" charset="0"/>
              </a:rPr>
            </a:br>
            <a:r>
              <a:rPr lang="en-US" altLang="en-US" sz="1800" dirty="0">
                <a:latin typeface="Tahoma" pitchFamily="34" charset="0"/>
              </a:rPr>
              <a:t>or Eggs)</a:t>
            </a:r>
            <a:endParaRPr lang="en-US" altLang="en-US" sz="2400" dirty="0">
              <a:latin typeface="Times New Roman" pitchFamily="18" charset="0"/>
            </a:endParaRPr>
          </a:p>
        </p:txBody>
      </p:sp>
      <p:sp>
        <p:nvSpPr>
          <p:cNvPr id="21512" name="Text Box 8"/>
          <p:cNvSpPr txBox="1">
            <a:spLocks noChangeArrowheads="1"/>
          </p:cNvSpPr>
          <p:nvPr/>
        </p:nvSpPr>
        <p:spPr bwMode="auto">
          <a:xfrm>
            <a:off x="8432800" y="4038600"/>
            <a:ext cx="3511410" cy="1846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>
                <a:latin typeface="Tahoma" pitchFamily="34" charset="0"/>
              </a:rPr>
              <a:t>Triplets (3-itemsets)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dirty="0">
              <a:latin typeface="Tahoma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Tahoma" pitchFamily="34" charset="0"/>
              </a:rPr>
              <a:t>(No need to generate</a:t>
            </a:r>
            <a:br>
              <a:rPr lang="en-US" altLang="en-US" sz="1800" dirty="0">
                <a:latin typeface="Tahoma" pitchFamily="34" charset="0"/>
              </a:rPr>
            </a:br>
            <a:r>
              <a:rPr lang="en-US" altLang="en-US" sz="1800" dirty="0">
                <a:latin typeface="Tahoma" pitchFamily="34" charset="0"/>
              </a:rPr>
              <a:t>candidates involving Bread, Beer</a:t>
            </a:r>
            <a:br>
              <a:rPr lang="en-US" altLang="en-US" sz="1800" dirty="0">
                <a:latin typeface="Tahoma" pitchFamily="34" charset="0"/>
              </a:rPr>
            </a:br>
            <a:r>
              <a:rPr lang="en-US" altLang="en-US" sz="1800" dirty="0">
                <a:latin typeface="Tahoma" pitchFamily="34" charset="0"/>
              </a:rPr>
              <a:t>or Milk, Beer)</a:t>
            </a:r>
            <a:endParaRPr lang="en-US" altLang="en-US" sz="2400" dirty="0">
              <a:latin typeface="Times New Roman" pitchFamily="18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 dirty="0">
              <a:latin typeface="Times New Roman" pitchFamily="18" charset="0"/>
            </a:endParaRPr>
          </a:p>
        </p:txBody>
      </p:sp>
      <p:sp>
        <p:nvSpPr>
          <p:cNvPr id="21513" name="Line 9"/>
          <p:cNvSpPr>
            <a:spLocks noChangeShapeType="1"/>
          </p:cNvSpPr>
          <p:nvPr/>
        </p:nvSpPr>
        <p:spPr bwMode="auto">
          <a:xfrm>
            <a:off x="6934200" y="40386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headE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4" name="Line 10"/>
          <p:cNvSpPr>
            <a:spLocks noChangeShapeType="1"/>
          </p:cNvSpPr>
          <p:nvPr/>
        </p:nvSpPr>
        <p:spPr bwMode="auto">
          <a:xfrm>
            <a:off x="4343400" y="19812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headE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5" name="Text Box 12"/>
          <p:cNvSpPr txBox="1">
            <a:spLocks noChangeArrowheads="1"/>
          </p:cNvSpPr>
          <p:nvPr/>
        </p:nvSpPr>
        <p:spPr bwMode="auto">
          <a:xfrm>
            <a:off x="1828801" y="3810000"/>
            <a:ext cx="2659063" cy="41275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latin typeface="Tahoma" pitchFamily="34" charset="0"/>
              </a:rPr>
              <a:t>Minimum Support = 3</a:t>
            </a:r>
          </a:p>
        </p:txBody>
      </p:sp>
      <p:graphicFrame>
        <p:nvGraphicFramePr>
          <p:cNvPr id="12" name="Object 21">
            <a:extLst>
              <a:ext uri="{FF2B5EF4-FFF2-40B4-BE49-F238E27FC236}">
                <a16:creationId xmlns:a16="http://schemas.microsoft.com/office/drawing/2014/main" id="{1C7CC3B7-895D-6701-54E9-F902F1FDC2BC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244690592"/>
              </p:ext>
            </p:extLst>
          </p:nvPr>
        </p:nvGraphicFramePr>
        <p:xfrm>
          <a:off x="8164513" y="79331"/>
          <a:ext cx="3568700" cy="20542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9" imgW="3352666" imgH="2016134" progId="Word.Document.8">
                  <p:embed/>
                </p:oleObj>
              </mc:Choice>
              <mc:Fallback>
                <p:oleObj name="Document" r:id="rId9" imgW="3352666" imgH="2016134" progId="Word.Document.8">
                  <p:embed/>
                  <p:pic>
                    <p:nvPicPr>
                      <p:cNvPr id="9" name="Object 21">
                        <a:extLst>
                          <a:ext uri="{FF2B5EF4-FFF2-40B4-BE49-F238E27FC236}">
                            <a16:creationId xmlns:a16="http://schemas.microsoft.com/office/drawing/2014/main" id="{18109C78-31C1-7F88-D235-A4F6DBCCD064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4513" y="79331"/>
                        <a:ext cx="3568700" cy="20542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209061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Illustrating Apriori Principle</a:t>
            </a:r>
          </a:p>
        </p:txBody>
      </p:sp>
      <p:graphicFrame>
        <p:nvGraphicFramePr>
          <p:cNvPr id="22531" name="Object 3"/>
          <p:cNvGraphicFramePr>
            <a:graphicFrameLocks noChangeAspect="1"/>
          </p:cNvGraphicFramePr>
          <p:nvPr/>
        </p:nvGraphicFramePr>
        <p:xfrm>
          <a:off x="1828801" y="1387476"/>
          <a:ext cx="2289175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2289908" imgH="2495536" progId="Word.Document.8">
                  <p:embed/>
                </p:oleObj>
              </mc:Choice>
              <mc:Fallback>
                <p:oleObj name="Document" r:id="rId2" imgW="2289908" imgH="2495536" progId="Word.Document.8">
                  <p:embed/>
                  <p:pic>
                    <p:nvPicPr>
                      <p:cNvPr id="225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1" y="1387476"/>
                        <a:ext cx="2289175" cy="249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4876800" y="2133600"/>
          <a:ext cx="3327400" cy="212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328641" imgH="2008846" progId="Word.Document.8">
                  <p:embed/>
                </p:oleObj>
              </mc:Choice>
              <mc:Fallback>
                <p:oleObj name="Document" r:id="rId4" imgW="3328641" imgH="2008846" progId="Word.Document.8">
                  <p:embed/>
                  <p:pic>
                    <p:nvPicPr>
                      <p:cNvPr id="225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133600"/>
                        <a:ext cx="3327400" cy="212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Object 5"/>
          <p:cNvGraphicFramePr>
            <a:graphicFrameLocks noChangeAspect="1"/>
          </p:cNvGraphicFramePr>
          <p:nvPr/>
        </p:nvGraphicFramePr>
        <p:xfrm>
          <a:off x="6400800" y="4572001"/>
          <a:ext cx="3094038" cy="150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122634" imgH="1524623" progId="Word.Document.8">
                  <p:embed/>
                </p:oleObj>
              </mc:Choice>
              <mc:Fallback>
                <p:oleObj name="Document" r:id="rId6" imgW="3122634" imgH="1524623" progId="Word.Document.8">
                  <p:embed/>
                  <p:pic>
                    <p:nvPicPr>
                      <p:cNvPr id="2253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572001"/>
                        <a:ext cx="3094038" cy="150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4038601" y="1295401"/>
            <a:ext cx="2055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ahoma" pitchFamily="34" charset="0"/>
              </a:rPr>
              <a:t>Items (1-itemsets)</a:t>
            </a:r>
          </a:p>
        </p:txBody>
      </p: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7620001" y="2055813"/>
            <a:ext cx="2790825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ahoma" pitchFamily="34" charset="0"/>
              </a:rPr>
              <a:t>Pairs (2-itemsets)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latin typeface="Tahoma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ahoma" pitchFamily="34" charset="0"/>
              </a:rPr>
              <a:t>(No need to generate</a:t>
            </a:r>
            <a:br>
              <a:rPr lang="en-US" altLang="en-US" sz="1800">
                <a:latin typeface="Tahoma" pitchFamily="34" charset="0"/>
              </a:rPr>
            </a:br>
            <a:r>
              <a:rPr lang="en-US" altLang="en-US" sz="1800">
                <a:latin typeface="Tahoma" pitchFamily="34" charset="0"/>
              </a:rPr>
              <a:t>candidates involving Coke</a:t>
            </a:r>
            <a:br>
              <a:rPr lang="en-US" altLang="en-US" sz="1800">
                <a:latin typeface="Tahoma" pitchFamily="34" charset="0"/>
              </a:rPr>
            </a:br>
            <a:r>
              <a:rPr lang="en-US" altLang="en-US" sz="1800">
                <a:latin typeface="Tahoma" pitchFamily="34" charset="0"/>
              </a:rPr>
              <a:t>or Eggs)</a:t>
            </a: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22536" name="Text Box 8"/>
          <p:cNvSpPr txBox="1">
            <a:spLocks noChangeArrowheads="1"/>
          </p:cNvSpPr>
          <p:nvPr/>
        </p:nvSpPr>
        <p:spPr bwMode="auto">
          <a:xfrm>
            <a:off x="8305801" y="4038601"/>
            <a:ext cx="2225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ahoma" pitchFamily="34" charset="0"/>
              </a:rPr>
              <a:t>Triplets (3-itemsets)</a:t>
            </a: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22537" name="Line 9"/>
          <p:cNvSpPr>
            <a:spLocks noChangeShapeType="1"/>
          </p:cNvSpPr>
          <p:nvPr/>
        </p:nvSpPr>
        <p:spPr bwMode="auto">
          <a:xfrm>
            <a:off x="6934200" y="40386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headE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8" name="Line 10"/>
          <p:cNvSpPr>
            <a:spLocks noChangeShapeType="1"/>
          </p:cNvSpPr>
          <p:nvPr/>
        </p:nvSpPr>
        <p:spPr bwMode="auto">
          <a:xfrm>
            <a:off x="4343400" y="19812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headE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9" name="Text Box 12"/>
          <p:cNvSpPr txBox="1">
            <a:spLocks noChangeArrowheads="1"/>
          </p:cNvSpPr>
          <p:nvPr/>
        </p:nvSpPr>
        <p:spPr bwMode="auto">
          <a:xfrm>
            <a:off x="1828801" y="3810000"/>
            <a:ext cx="2659063" cy="41275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latin typeface="Tahoma" pitchFamily="34" charset="0"/>
              </a:rPr>
              <a:t>Minimum Support = 3</a:t>
            </a:r>
          </a:p>
        </p:txBody>
      </p:sp>
      <p:graphicFrame>
        <p:nvGraphicFramePr>
          <p:cNvPr id="12" name="Object 21">
            <a:extLst>
              <a:ext uri="{FF2B5EF4-FFF2-40B4-BE49-F238E27FC236}">
                <a16:creationId xmlns:a16="http://schemas.microsoft.com/office/drawing/2014/main" id="{A77DF560-52E0-289A-CD1C-DDD94EFF7C61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244690592"/>
              </p:ext>
            </p:extLst>
          </p:nvPr>
        </p:nvGraphicFramePr>
        <p:xfrm>
          <a:off x="8164513" y="79331"/>
          <a:ext cx="3568700" cy="20542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3352666" imgH="2016134" progId="Word.Document.8">
                  <p:embed/>
                </p:oleObj>
              </mc:Choice>
              <mc:Fallback>
                <p:oleObj name="Document" r:id="rId8" imgW="3352666" imgH="2016134" progId="Word.Document.8">
                  <p:embed/>
                  <p:pic>
                    <p:nvPicPr>
                      <p:cNvPr id="9" name="Object 21">
                        <a:extLst>
                          <a:ext uri="{FF2B5EF4-FFF2-40B4-BE49-F238E27FC236}">
                            <a16:creationId xmlns:a16="http://schemas.microsoft.com/office/drawing/2014/main" id="{18109C78-31C1-7F88-D235-A4F6DBCCD064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4513" y="79331"/>
                        <a:ext cx="3568700" cy="20542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875869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Illustrating Apriori Principle</a:t>
            </a:r>
          </a:p>
        </p:txBody>
      </p:sp>
      <p:graphicFrame>
        <p:nvGraphicFramePr>
          <p:cNvPr id="22531" name="Object 3"/>
          <p:cNvGraphicFramePr>
            <a:graphicFrameLocks noChangeAspect="1"/>
          </p:cNvGraphicFramePr>
          <p:nvPr/>
        </p:nvGraphicFramePr>
        <p:xfrm>
          <a:off x="1828801" y="1387476"/>
          <a:ext cx="2289175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2289908" imgH="2495536" progId="Word.Document.8">
                  <p:embed/>
                </p:oleObj>
              </mc:Choice>
              <mc:Fallback>
                <p:oleObj name="Document" r:id="rId2" imgW="2289908" imgH="2495536" progId="Word.Document.8">
                  <p:embed/>
                  <p:pic>
                    <p:nvPicPr>
                      <p:cNvPr id="225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1" y="1387476"/>
                        <a:ext cx="2289175" cy="249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4876800" y="2133600"/>
          <a:ext cx="3327400" cy="212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328641" imgH="2008846" progId="Word.Document.8">
                  <p:embed/>
                </p:oleObj>
              </mc:Choice>
              <mc:Fallback>
                <p:oleObj name="Document" r:id="rId4" imgW="3328641" imgH="2008846" progId="Word.Document.8">
                  <p:embed/>
                  <p:pic>
                    <p:nvPicPr>
                      <p:cNvPr id="225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133600"/>
                        <a:ext cx="3327400" cy="212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Object 5"/>
          <p:cNvGraphicFramePr>
            <a:graphicFrameLocks noChangeAspect="1"/>
          </p:cNvGraphicFramePr>
          <p:nvPr/>
        </p:nvGraphicFramePr>
        <p:xfrm>
          <a:off x="6400800" y="4572001"/>
          <a:ext cx="3094038" cy="150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124026" imgH="1522425" progId="Word.Document.8">
                  <p:embed/>
                </p:oleObj>
              </mc:Choice>
              <mc:Fallback>
                <p:oleObj name="Document" r:id="rId6" imgW="3124026" imgH="1522425" progId="Word.Document.8">
                  <p:embed/>
                  <p:pic>
                    <p:nvPicPr>
                      <p:cNvPr id="2253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572001"/>
                        <a:ext cx="3094038" cy="150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4038601" y="1295401"/>
            <a:ext cx="2055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ahoma" pitchFamily="34" charset="0"/>
              </a:rPr>
              <a:t>Items (1-itemsets)</a:t>
            </a:r>
          </a:p>
        </p:txBody>
      </p: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7620001" y="2055813"/>
            <a:ext cx="2790825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ahoma" pitchFamily="34" charset="0"/>
              </a:rPr>
              <a:t>Pairs (2-itemsets)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latin typeface="Tahoma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ahoma" pitchFamily="34" charset="0"/>
              </a:rPr>
              <a:t>(No need to generate</a:t>
            </a:r>
            <a:br>
              <a:rPr lang="en-US" altLang="en-US" sz="1800">
                <a:latin typeface="Tahoma" pitchFamily="34" charset="0"/>
              </a:rPr>
            </a:br>
            <a:r>
              <a:rPr lang="en-US" altLang="en-US" sz="1800">
                <a:latin typeface="Tahoma" pitchFamily="34" charset="0"/>
              </a:rPr>
              <a:t>candidates involving Coke</a:t>
            </a:r>
            <a:br>
              <a:rPr lang="en-US" altLang="en-US" sz="1800">
                <a:latin typeface="Tahoma" pitchFamily="34" charset="0"/>
              </a:rPr>
            </a:br>
            <a:r>
              <a:rPr lang="en-US" altLang="en-US" sz="1800">
                <a:latin typeface="Tahoma" pitchFamily="34" charset="0"/>
              </a:rPr>
              <a:t>or Eggs)</a:t>
            </a: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22536" name="Text Box 8"/>
          <p:cNvSpPr txBox="1">
            <a:spLocks noChangeArrowheads="1"/>
          </p:cNvSpPr>
          <p:nvPr/>
        </p:nvSpPr>
        <p:spPr bwMode="auto">
          <a:xfrm>
            <a:off x="8305801" y="4038601"/>
            <a:ext cx="2225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ahoma" pitchFamily="34" charset="0"/>
              </a:rPr>
              <a:t>Triplets (3-itemsets)</a:t>
            </a: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22537" name="Line 9"/>
          <p:cNvSpPr>
            <a:spLocks noChangeShapeType="1"/>
          </p:cNvSpPr>
          <p:nvPr/>
        </p:nvSpPr>
        <p:spPr bwMode="auto">
          <a:xfrm>
            <a:off x="6934200" y="40386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headE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8" name="Line 10"/>
          <p:cNvSpPr>
            <a:spLocks noChangeShapeType="1"/>
          </p:cNvSpPr>
          <p:nvPr/>
        </p:nvSpPr>
        <p:spPr bwMode="auto">
          <a:xfrm>
            <a:off x="4343400" y="19812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headE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9" name="Text Box 12"/>
          <p:cNvSpPr txBox="1">
            <a:spLocks noChangeArrowheads="1"/>
          </p:cNvSpPr>
          <p:nvPr/>
        </p:nvSpPr>
        <p:spPr bwMode="auto">
          <a:xfrm>
            <a:off x="1828801" y="3810000"/>
            <a:ext cx="2659063" cy="41275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latin typeface="Tahoma" pitchFamily="34" charset="0"/>
              </a:rPr>
              <a:t>Minimum Support =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620982-CA4B-D041-9F36-FC9E08249320}"/>
              </a:ext>
            </a:extLst>
          </p:cNvPr>
          <p:cNvSpPr txBox="1"/>
          <p:nvPr/>
        </p:nvSpPr>
        <p:spPr>
          <a:xfrm>
            <a:off x="13072533" y="6400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T"/>
          </a:p>
        </p:txBody>
      </p:sp>
      <p:graphicFrame>
        <p:nvGraphicFramePr>
          <p:cNvPr id="13" name="Object 21">
            <a:extLst>
              <a:ext uri="{FF2B5EF4-FFF2-40B4-BE49-F238E27FC236}">
                <a16:creationId xmlns:a16="http://schemas.microsoft.com/office/drawing/2014/main" id="{835A76D4-AB64-C9FF-82E6-907FA981BD11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244690592"/>
              </p:ext>
            </p:extLst>
          </p:nvPr>
        </p:nvGraphicFramePr>
        <p:xfrm>
          <a:off x="8164513" y="79331"/>
          <a:ext cx="3568700" cy="20542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3352666" imgH="2016134" progId="Word.Document.8">
                  <p:embed/>
                </p:oleObj>
              </mc:Choice>
              <mc:Fallback>
                <p:oleObj name="Document" r:id="rId8" imgW="3352666" imgH="2016134" progId="Word.Document.8">
                  <p:embed/>
                  <p:pic>
                    <p:nvPicPr>
                      <p:cNvPr id="9" name="Object 21">
                        <a:extLst>
                          <a:ext uri="{FF2B5EF4-FFF2-40B4-BE49-F238E27FC236}">
                            <a16:creationId xmlns:a16="http://schemas.microsoft.com/office/drawing/2014/main" id="{18109C78-31C1-7F88-D235-A4F6DBCCD064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4513" y="79331"/>
                        <a:ext cx="3568700" cy="20542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03538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Basic Apriori Algorithm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847529" y="1916832"/>
            <a:ext cx="8539163" cy="5181600"/>
          </a:xfrm>
        </p:spPr>
        <p:txBody>
          <a:bodyPr/>
          <a:lstStyle/>
          <a:p>
            <a:pPr>
              <a:lnSpc>
                <a:spcPct val="120000"/>
              </a:lnSpc>
              <a:buFont typeface="Monotype Sorts" charset="0"/>
              <a:buChar char="À"/>
            </a:pPr>
            <a:r>
              <a:rPr lang="en-US" sz="2400" dirty="0">
                <a:latin typeface="Comic Sans MS" charset="0"/>
                <a:ea typeface="ＭＳ Ｐゴシック" charset="0"/>
              </a:rPr>
              <a:t>Find the </a:t>
            </a:r>
            <a:r>
              <a:rPr lang="en-US" sz="2400" i="1" dirty="0">
                <a:solidFill>
                  <a:schemeClr val="accent1"/>
                </a:solidFill>
                <a:latin typeface="Comic Sans MS" charset="0"/>
                <a:ea typeface="ＭＳ Ｐゴシック" charset="0"/>
              </a:rPr>
              <a:t>frequent </a:t>
            </a:r>
            <a:r>
              <a:rPr lang="en-US" sz="2400" i="1" dirty="0" err="1">
                <a:solidFill>
                  <a:schemeClr val="accent1"/>
                </a:solidFill>
                <a:latin typeface="Comic Sans MS" charset="0"/>
                <a:ea typeface="ＭＳ Ｐゴシック" charset="0"/>
              </a:rPr>
              <a:t>itemsets</a:t>
            </a:r>
            <a:r>
              <a:rPr lang="en-US" sz="2400" dirty="0">
                <a:latin typeface="Comic Sans MS" charset="0"/>
                <a:ea typeface="ＭＳ Ｐゴシック" charset="0"/>
              </a:rPr>
              <a:t>: the sets of items that satisfy the support constraint</a:t>
            </a:r>
          </a:p>
          <a:p>
            <a:pPr lvl="1">
              <a:lnSpc>
                <a:spcPct val="120000"/>
              </a:lnSpc>
              <a:buFont typeface="Monotype Sorts" charset="0"/>
              <a:buChar char="u"/>
            </a:pPr>
            <a:r>
              <a:rPr lang="en-US" sz="2000" dirty="0">
                <a:solidFill>
                  <a:schemeClr val="accent1"/>
                </a:solidFill>
                <a:latin typeface="Comic Sans MS" charset="0"/>
                <a:ea typeface="ＭＳ Ｐゴシック" charset="0"/>
              </a:rPr>
              <a:t>A subset of a frequent </a:t>
            </a:r>
            <a:r>
              <a:rPr lang="en-US" sz="2000" dirty="0" err="1">
                <a:solidFill>
                  <a:schemeClr val="accent1"/>
                </a:solidFill>
                <a:latin typeface="Comic Sans MS" charset="0"/>
                <a:ea typeface="ＭＳ Ｐゴシック" charset="0"/>
              </a:rPr>
              <a:t>itemset</a:t>
            </a:r>
            <a:r>
              <a:rPr lang="en-US" sz="2000" dirty="0">
                <a:solidFill>
                  <a:schemeClr val="accent1"/>
                </a:solidFill>
                <a:latin typeface="Comic Sans MS" charset="0"/>
                <a:ea typeface="ＭＳ Ｐゴシック" charset="0"/>
              </a:rPr>
              <a:t> is also a frequent </a:t>
            </a:r>
            <a:r>
              <a:rPr lang="en-US" sz="2000" dirty="0" err="1">
                <a:solidFill>
                  <a:schemeClr val="accent1"/>
                </a:solidFill>
                <a:latin typeface="Comic Sans MS" charset="0"/>
                <a:ea typeface="ＭＳ Ｐゴシック" charset="0"/>
              </a:rPr>
              <a:t>itemset</a:t>
            </a:r>
            <a:r>
              <a:rPr lang="en-US" sz="2000" dirty="0">
                <a:latin typeface="Comic Sans MS" charset="0"/>
                <a:ea typeface="ＭＳ Ｐゴシック" charset="0"/>
              </a:rPr>
              <a:t>, i.e., if {</a:t>
            </a:r>
            <a:r>
              <a:rPr lang="en-US" sz="2000" i="1" dirty="0">
                <a:latin typeface="Comic Sans MS" charset="0"/>
                <a:ea typeface="ＭＳ Ｐゴシック" charset="0"/>
              </a:rPr>
              <a:t>A,B</a:t>
            </a:r>
            <a:r>
              <a:rPr lang="en-US" sz="2000" dirty="0">
                <a:latin typeface="Comic Sans MS" charset="0"/>
                <a:ea typeface="ＭＳ Ｐゴシック" charset="0"/>
              </a:rPr>
              <a:t>} is</a:t>
            </a:r>
            <a:r>
              <a:rPr lang="en-US" sz="2000" i="1" dirty="0">
                <a:latin typeface="Comic Sans MS" charset="0"/>
                <a:ea typeface="ＭＳ Ｐゴシック" charset="0"/>
              </a:rPr>
              <a:t> </a:t>
            </a:r>
            <a:r>
              <a:rPr lang="en-US" sz="2000" dirty="0">
                <a:latin typeface="Comic Sans MS" charset="0"/>
                <a:ea typeface="ＭＳ Ｐゴシック" charset="0"/>
              </a:rPr>
              <a:t>a frequent </a:t>
            </a:r>
            <a:r>
              <a:rPr lang="en-US" sz="2000" dirty="0" err="1">
                <a:latin typeface="Comic Sans MS" charset="0"/>
                <a:ea typeface="ＭＳ Ｐゴシック" charset="0"/>
              </a:rPr>
              <a:t>itemset</a:t>
            </a:r>
            <a:r>
              <a:rPr lang="en-US" sz="2000" dirty="0">
                <a:latin typeface="Comic Sans MS" charset="0"/>
                <a:ea typeface="ＭＳ Ｐゴシック" charset="0"/>
              </a:rPr>
              <a:t>, both {</a:t>
            </a:r>
            <a:r>
              <a:rPr lang="en-US" sz="2000" i="1" dirty="0">
                <a:latin typeface="Comic Sans MS" charset="0"/>
                <a:ea typeface="ＭＳ Ｐゴシック" charset="0"/>
              </a:rPr>
              <a:t>A</a:t>
            </a:r>
            <a:r>
              <a:rPr lang="en-US" sz="2000" dirty="0">
                <a:latin typeface="Comic Sans MS" charset="0"/>
                <a:ea typeface="ＭＳ Ｐゴシック" charset="0"/>
              </a:rPr>
              <a:t>} and {</a:t>
            </a:r>
            <a:r>
              <a:rPr lang="en-US" sz="2000" i="1" dirty="0">
                <a:latin typeface="Comic Sans MS" charset="0"/>
                <a:ea typeface="ＭＳ Ｐゴシック" charset="0"/>
              </a:rPr>
              <a:t>B</a:t>
            </a:r>
            <a:r>
              <a:rPr lang="en-US" sz="2000" dirty="0">
                <a:latin typeface="Comic Sans MS" charset="0"/>
                <a:ea typeface="ＭＳ Ｐゴシック" charset="0"/>
              </a:rPr>
              <a:t>} should be a frequent </a:t>
            </a:r>
            <a:r>
              <a:rPr lang="en-US" sz="2000" dirty="0" err="1">
                <a:latin typeface="Comic Sans MS" charset="0"/>
                <a:ea typeface="ＭＳ Ｐゴシック" charset="0"/>
              </a:rPr>
              <a:t>itemset</a:t>
            </a:r>
            <a:endParaRPr lang="en-US" sz="2000" dirty="0">
              <a:latin typeface="Comic Sans MS" charset="0"/>
              <a:ea typeface="ＭＳ Ｐゴシック" charset="0"/>
            </a:endParaRPr>
          </a:p>
          <a:p>
            <a:pPr lvl="1">
              <a:lnSpc>
                <a:spcPct val="120000"/>
              </a:lnSpc>
              <a:buFont typeface="Monotype Sorts" charset="0"/>
              <a:buChar char="u"/>
            </a:pPr>
            <a:r>
              <a:rPr lang="en-US" sz="2000" dirty="0">
                <a:latin typeface="Comic Sans MS" charset="0"/>
                <a:ea typeface="ＭＳ Ｐゴシック" charset="0"/>
              </a:rPr>
              <a:t>Iteratively find frequent </a:t>
            </a:r>
            <a:r>
              <a:rPr lang="en-US" sz="2000" dirty="0" err="1">
                <a:latin typeface="Comic Sans MS" charset="0"/>
                <a:ea typeface="ＭＳ Ｐゴシック" charset="0"/>
              </a:rPr>
              <a:t>itemsets</a:t>
            </a:r>
            <a:r>
              <a:rPr lang="en-US" sz="2000" dirty="0">
                <a:latin typeface="Comic Sans MS" charset="0"/>
                <a:ea typeface="ＭＳ Ｐゴシック" charset="0"/>
              </a:rPr>
              <a:t> with cardinality from 1 to </a:t>
            </a:r>
            <a:r>
              <a:rPr lang="en-US" sz="2000" i="1" dirty="0">
                <a:latin typeface="Comic Sans MS" charset="0"/>
                <a:ea typeface="ＭＳ Ｐゴシック" charset="0"/>
              </a:rPr>
              <a:t>k (k-</a:t>
            </a:r>
            <a:r>
              <a:rPr lang="en-US" sz="2000" dirty="0" err="1">
                <a:latin typeface="Comic Sans MS" charset="0"/>
                <a:ea typeface="ＭＳ Ｐゴシック" charset="0"/>
              </a:rPr>
              <a:t>itemset</a:t>
            </a:r>
            <a:r>
              <a:rPr lang="en-US" sz="2000" i="1" dirty="0">
                <a:latin typeface="Comic Sans MS" charset="0"/>
                <a:ea typeface="ＭＳ Ｐゴシック" charset="0"/>
              </a:rPr>
              <a:t>)</a:t>
            </a:r>
            <a:endParaRPr lang="en-US" sz="2000" dirty="0">
              <a:latin typeface="Comic Sans MS" charset="0"/>
              <a:ea typeface="ＭＳ Ｐゴシック" charset="0"/>
            </a:endParaRPr>
          </a:p>
          <a:p>
            <a:pPr>
              <a:lnSpc>
                <a:spcPct val="120000"/>
              </a:lnSpc>
              <a:buFont typeface="Monotype Sorts" charset="0"/>
              <a:buChar char="Á"/>
            </a:pPr>
            <a:r>
              <a:rPr lang="en-US" sz="2400" dirty="0">
                <a:latin typeface="Comic Sans MS" charset="0"/>
                <a:ea typeface="ＭＳ Ｐゴシック" charset="0"/>
              </a:rPr>
              <a:t>Use the frequent </a:t>
            </a:r>
            <a:r>
              <a:rPr lang="en-US" sz="2400" dirty="0" err="1">
                <a:latin typeface="Comic Sans MS" charset="0"/>
                <a:ea typeface="ＭＳ Ｐゴシック" charset="0"/>
              </a:rPr>
              <a:t>itemsets</a:t>
            </a:r>
            <a:r>
              <a:rPr lang="en-US" sz="2400" dirty="0">
                <a:latin typeface="Comic Sans MS" charset="0"/>
                <a:ea typeface="ＭＳ Ｐゴシック" charset="0"/>
              </a:rPr>
              <a:t> to generate association rules.</a:t>
            </a:r>
          </a:p>
        </p:txBody>
      </p:sp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IntroML, 2022  Reg. Ass. &amp; Patter Mining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40</a:t>
            </a:fld>
            <a:endParaRPr lang="en-US" b="1" i="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Apriori Algorithm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742950" lvl="1" indent="-285750"/>
            <a:r>
              <a:rPr lang="en-US" altLang="en-US" dirty="0" err="1"/>
              <a:t>F</a:t>
            </a:r>
            <a:r>
              <a:rPr lang="en-US" altLang="en-US" baseline="-25000" dirty="0" err="1"/>
              <a:t>k</a:t>
            </a:r>
            <a:r>
              <a:rPr lang="en-US" altLang="en-US" dirty="0"/>
              <a:t>: frequent k-</a:t>
            </a:r>
            <a:r>
              <a:rPr lang="en-US" altLang="en-US" dirty="0" err="1"/>
              <a:t>itemsets</a:t>
            </a:r>
            <a:endParaRPr lang="en-US" altLang="en-US" dirty="0"/>
          </a:p>
          <a:p>
            <a:pPr marL="742950" lvl="1" indent="-285750"/>
            <a:r>
              <a:rPr lang="en-US" altLang="en-US" dirty="0"/>
              <a:t>L</a:t>
            </a:r>
            <a:r>
              <a:rPr lang="en-US" altLang="en-US" baseline="-25000" dirty="0"/>
              <a:t>k</a:t>
            </a:r>
            <a:r>
              <a:rPr lang="en-US" altLang="en-US" dirty="0"/>
              <a:t>: candidate k-</a:t>
            </a:r>
            <a:r>
              <a:rPr lang="en-US" altLang="en-US" dirty="0" err="1"/>
              <a:t>itemsets</a:t>
            </a:r>
            <a:endParaRPr lang="en-US" altLang="en-US" dirty="0"/>
          </a:p>
          <a:p>
            <a:pPr marL="1543050" lvl="3" indent="-285750"/>
            <a:endParaRPr lang="en-US" altLang="en-US" sz="800" dirty="0"/>
          </a:p>
          <a:p>
            <a:pPr marL="234950" indent="-285750"/>
            <a:r>
              <a:rPr lang="en-US" altLang="en-US" dirty="0"/>
              <a:t>Algorithm</a:t>
            </a:r>
          </a:p>
          <a:p>
            <a:pPr marL="742950" lvl="1" indent="-285750"/>
            <a:r>
              <a:rPr lang="en-US" altLang="en-US" dirty="0"/>
              <a:t>Let k=1</a:t>
            </a:r>
          </a:p>
          <a:p>
            <a:pPr marL="742950" lvl="1" indent="-285750"/>
            <a:r>
              <a:rPr lang="en-US" altLang="en-US" dirty="0"/>
              <a:t>Generate F</a:t>
            </a:r>
            <a:r>
              <a:rPr lang="en-US" altLang="en-US" baseline="-25000" dirty="0"/>
              <a:t>1</a:t>
            </a:r>
            <a:r>
              <a:rPr lang="en-US" altLang="en-US" dirty="0"/>
              <a:t> = {frequent 1-itemsets}</a:t>
            </a:r>
          </a:p>
          <a:p>
            <a:pPr marL="742950" lvl="1" indent="-285750"/>
            <a:r>
              <a:rPr lang="en-US" altLang="en-US" dirty="0"/>
              <a:t>Repeat until </a:t>
            </a:r>
            <a:r>
              <a:rPr lang="en-US" altLang="en-US" dirty="0" err="1"/>
              <a:t>F</a:t>
            </a:r>
            <a:r>
              <a:rPr lang="en-US" altLang="en-US" baseline="-25000" dirty="0" err="1"/>
              <a:t>k</a:t>
            </a:r>
            <a:r>
              <a:rPr lang="en-US" altLang="en-US" dirty="0"/>
              <a:t> is empty</a:t>
            </a:r>
          </a:p>
          <a:p>
            <a:pPr lvl="2"/>
            <a:r>
              <a:rPr lang="en-US" altLang="en-US" b="1" dirty="0"/>
              <a:t>Candidate Generation</a:t>
            </a:r>
            <a:r>
              <a:rPr lang="en-US" altLang="en-US" dirty="0"/>
              <a:t>: Generate L</a:t>
            </a:r>
            <a:r>
              <a:rPr lang="en-US" altLang="en-US" baseline="-25000" dirty="0"/>
              <a:t>k+1 </a:t>
            </a:r>
            <a:r>
              <a:rPr lang="en-US" altLang="en-US" dirty="0"/>
              <a:t>from </a:t>
            </a:r>
            <a:r>
              <a:rPr lang="en-US" altLang="en-US" dirty="0" err="1"/>
              <a:t>F</a:t>
            </a:r>
            <a:r>
              <a:rPr lang="en-US" altLang="en-US" baseline="-25000" dirty="0" err="1"/>
              <a:t>k</a:t>
            </a:r>
            <a:endParaRPr lang="en-US" altLang="en-US" baseline="-25000" dirty="0"/>
          </a:p>
          <a:p>
            <a:pPr lvl="2"/>
            <a:r>
              <a:rPr lang="en-US" altLang="en-US" b="1" dirty="0"/>
              <a:t>Candidate Pruning</a:t>
            </a:r>
            <a:r>
              <a:rPr lang="en-US" altLang="en-US" dirty="0"/>
              <a:t>: Prune candidate </a:t>
            </a:r>
            <a:r>
              <a:rPr lang="en-US" altLang="en-US" dirty="0" err="1"/>
              <a:t>itemsets</a:t>
            </a:r>
            <a:r>
              <a:rPr lang="en-US" altLang="en-US" dirty="0"/>
              <a:t> in L</a:t>
            </a:r>
            <a:r>
              <a:rPr lang="en-US" altLang="en-US" baseline="-25000" dirty="0"/>
              <a:t>k+1 </a:t>
            </a:r>
            <a:r>
              <a:rPr lang="en-US" altLang="en-US" dirty="0"/>
              <a:t>containing subsets of length k that are infrequent </a:t>
            </a:r>
          </a:p>
          <a:p>
            <a:pPr lvl="2"/>
            <a:r>
              <a:rPr lang="en-US" altLang="en-US" b="1" dirty="0"/>
              <a:t>Support Counting</a:t>
            </a:r>
            <a:r>
              <a:rPr lang="en-US" altLang="en-US" dirty="0"/>
              <a:t>: Count the support of each candidate in L</a:t>
            </a:r>
            <a:r>
              <a:rPr lang="en-US" altLang="en-US" baseline="-25000" dirty="0"/>
              <a:t>k+1 </a:t>
            </a:r>
            <a:r>
              <a:rPr lang="en-US" altLang="en-US" dirty="0"/>
              <a:t>by scanning the DB</a:t>
            </a:r>
          </a:p>
          <a:p>
            <a:pPr lvl="2"/>
            <a:r>
              <a:rPr lang="en-US" altLang="en-US" b="1" dirty="0"/>
              <a:t>Candidate Elimination</a:t>
            </a:r>
            <a:r>
              <a:rPr lang="en-US" altLang="en-US" dirty="0"/>
              <a:t>: Eliminate candidates in L</a:t>
            </a:r>
            <a:r>
              <a:rPr lang="en-US" altLang="en-US" baseline="-25000" dirty="0"/>
              <a:t>k+1 </a:t>
            </a:r>
            <a:r>
              <a:rPr lang="en-US" altLang="en-US" dirty="0"/>
              <a:t>that are infrequent, leaving only those that are frequent =&gt; F</a:t>
            </a:r>
            <a:r>
              <a:rPr lang="en-US" altLang="en-US" baseline="-25000" dirty="0"/>
              <a:t>k+1</a:t>
            </a:r>
          </a:p>
        </p:txBody>
      </p:sp>
    </p:spTree>
    <p:extLst>
      <p:ext uri="{BB962C8B-B14F-4D97-AF65-F5344CB8AC3E}">
        <p14:creationId xmlns:p14="http://schemas.microsoft.com/office/powerpoint/2010/main" val="1818651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/>
              <a:t>Candidate Generation: F</a:t>
            </a:r>
            <a:r>
              <a:rPr lang="en-US" altLang="en-US" sz="3600" baseline="-25000" dirty="0"/>
              <a:t>k-1</a:t>
            </a:r>
            <a:r>
              <a:rPr lang="en-US" altLang="en-US" sz="3600" dirty="0"/>
              <a:t> </a:t>
            </a:r>
            <a:r>
              <a:rPr lang="en-US" altLang="en-US" sz="3200" b="0" dirty="0"/>
              <a:t>x</a:t>
            </a:r>
            <a:r>
              <a:rPr lang="en-US" altLang="en-US" sz="3600" dirty="0"/>
              <a:t> F</a:t>
            </a:r>
            <a:r>
              <a:rPr lang="en-US" altLang="en-US" sz="3600" baseline="-25000" dirty="0"/>
              <a:t>k-1</a:t>
            </a:r>
            <a:r>
              <a:rPr lang="en-US" altLang="en-US" sz="3600" dirty="0"/>
              <a:t> Method</a:t>
            </a:r>
            <a:endParaRPr lang="en-US" altLang="en-US" sz="3600" baseline="-25000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/>
              <a:t>Merge two frequent (k-1)-itemsets if their first (k-2) items are identical</a:t>
            </a:r>
          </a:p>
          <a:p>
            <a:pPr lvl="1">
              <a:buFont typeface="Arial" charset="0"/>
              <a:buNone/>
            </a:pPr>
            <a:endParaRPr lang="en-US" altLang="en-US"/>
          </a:p>
          <a:p>
            <a:r>
              <a:rPr lang="en-US" altLang="en-US"/>
              <a:t>F</a:t>
            </a:r>
            <a:r>
              <a:rPr lang="en-US" altLang="en-US" baseline="-25000"/>
              <a:t>3</a:t>
            </a:r>
            <a:r>
              <a:rPr lang="en-US" altLang="en-US"/>
              <a:t> = {ABC,ABD,ABE,ACD,BCD,BDE,CDE}</a:t>
            </a:r>
          </a:p>
          <a:p>
            <a:pPr lvl="1"/>
            <a:r>
              <a:rPr lang="en-US" altLang="en-US"/>
              <a:t>Merge(</a:t>
            </a:r>
            <a:r>
              <a:rPr lang="en-US" altLang="en-US" b="1" u="sng"/>
              <a:t>AB</a:t>
            </a:r>
            <a:r>
              <a:rPr lang="en-US" altLang="en-US"/>
              <a:t>C, </a:t>
            </a:r>
            <a:r>
              <a:rPr lang="en-US" altLang="en-US" b="1" u="sng"/>
              <a:t>AB</a:t>
            </a:r>
            <a:r>
              <a:rPr lang="en-US" altLang="en-US"/>
              <a:t>D) = </a:t>
            </a:r>
            <a:r>
              <a:rPr lang="en-US" altLang="en-US" b="1" u="sng"/>
              <a:t>AB</a:t>
            </a:r>
            <a:r>
              <a:rPr lang="en-US" altLang="en-US"/>
              <a:t>CD</a:t>
            </a:r>
          </a:p>
          <a:p>
            <a:pPr lvl="1"/>
            <a:r>
              <a:rPr lang="en-US" altLang="en-US"/>
              <a:t>Merge(</a:t>
            </a:r>
            <a:r>
              <a:rPr lang="en-US" altLang="en-US" b="1" u="sng"/>
              <a:t>AB</a:t>
            </a:r>
            <a:r>
              <a:rPr lang="en-US" altLang="en-US"/>
              <a:t>C, </a:t>
            </a:r>
            <a:r>
              <a:rPr lang="en-US" altLang="en-US" b="1" u="sng"/>
              <a:t>AB</a:t>
            </a:r>
            <a:r>
              <a:rPr lang="en-US" altLang="en-US"/>
              <a:t>E) = </a:t>
            </a:r>
            <a:r>
              <a:rPr lang="en-US" altLang="en-US" b="1" u="sng"/>
              <a:t>AB</a:t>
            </a:r>
            <a:r>
              <a:rPr lang="en-US" altLang="en-US"/>
              <a:t>CE</a:t>
            </a:r>
          </a:p>
          <a:p>
            <a:pPr lvl="1"/>
            <a:r>
              <a:rPr lang="en-US" altLang="en-US"/>
              <a:t>Merge(</a:t>
            </a:r>
            <a:r>
              <a:rPr lang="en-US" altLang="en-US" b="1" u="sng"/>
              <a:t>AB</a:t>
            </a:r>
            <a:r>
              <a:rPr lang="en-US" altLang="en-US"/>
              <a:t>D, </a:t>
            </a:r>
            <a:r>
              <a:rPr lang="en-US" altLang="en-US" b="1" u="sng"/>
              <a:t>AB</a:t>
            </a:r>
            <a:r>
              <a:rPr lang="en-US" altLang="en-US"/>
              <a:t>E) = </a:t>
            </a:r>
            <a:r>
              <a:rPr lang="en-US" altLang="en-US" b="1" u="sng"/>
              <a:t>AB</a:t>
            </a:r>
            <a:r>
              <a:rPr lang="en-US" altLang="en-US"/>
              <a:t>DE</a:t>
            </a:r>
          </a:p>
          <a:p>
            <a:pPr lvl="2">
              <a:buFont typeface="Wingdings" pitchFamily="2" charset="2"/>
              <a:buNone/>
            </a:pPr>
            <a:endParaRPr lang="en-US" altLang="en-US"/>
          </a:p>
          <a:p>
            <a:pPr lvl="1"/>
            <a:r>
              <a:rPr lang="en-US" altLang="en-US"/>
              <a:t>Do not merge(</a:t>
            </a:r>
            <a:r>
              <a:rPr lang="en-US" altLang="en-US" b="1" u="sng"/>
              <a:t>A</a:t>
            </a:r>
            <a:r>
              <a:rPr lang="en-US" altLang="en-US"/>
              <a:t>BD,</a:t>
            </a:r>
            <a:r>
              <a:rPr lang="en-US" altLang="en-US" b="1" u="sng"/>
              <a:t>A</a:t>
            </a:r>
            <a:r>
              <a:rPr lang="en-US" altLang="en-US"/>
              <a:t>CD) because they share only prefix of length 1 instead of length 2</a:t>
            </a:r>
          </a:p>
        </p:txBody>
      </p:sp>
    </p:spTree>
    <p:extLst>
      <p:ext uri="{BB962C8B-B14F-4D97-AF65-F5344CB8AC3E}">
        <p14:creationId xmlns:p14="http://schemas.microsoft.com/office/powerpoint/2010/main" val="42477143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Candidate Pruning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/>
              <a:t>Let F</a:t>
            </a:r>
            <a:r>
              <a:rPr lang="en-US" altLang="en-US" baseline="-25000"/>
              <a:t>3</a:t>
            </a:r>
            <a:r>
              <a:rPr lang="en-US" altLang="en-US"/>
              <a:t> = {ABC,ABD,ABE,ACD,BCD,BDE,CDE} be the set of frequent 3-itemsets</a:t>
            </a:r>
          </a:p>
          <a:p>
            <a:pPr lvl="2"/>
            <a:endParaRPr lang="en-US" altLang="en-US"/>
          </a:p>
          <a:p>
            <a:r>
              <a:rPr lang="en-US" altLang="en-US"/>
              <a:t>L</a:t>
            </a:r>
            <a:r>
              <a:rPr lang="en-US" altLang="en-US" baseline="-25000"/>
              <a:t>4</a:t>
            </a:r>
            <a:r>
              <a:rPr lang="en-US" altLang="en-US"/>
              <a:t> = {ABCD,ABCE,ABDE} is the set of candidate 4-itemsets generated (from previous slide)</a:t>
            </a:r>
          </a:p>
          <a:p>
            <a:pPr lvl="2"/>
            <a:endParaRPr lang="en-US" altLang="en-US"/>
          </a:p>
          <a:p>
            <a:r>
              <a:rPr lang="en-US" altLang="en-US"/>
              <a:t>Candidate pruning</a:t>
            </a:r>
          </a:p>
          <a:p>
            <a:pPr lvl="1"/>
            <a:r>
              <a:rPr lang="en-US" altLang="en-US"/>
              <a:t>Prune ABCE because ACE and BCE are infrequent</a:t>
            </a:r>
          </a:p>
          <a:p>
            <a:pPr lvl="1"/>
            <a:r>
              <a:rPr lang="en-US" altLang="en-US"/>
              <a:t>Prune ABDE because ADE is infrequent</a:t>
            </a:r>
          </a:p>
          <a:p>
            <a:pPr lvl="1"/>
            <a:endParaRPr lang="en-US" altLang="en-US"/>
          </a:p>
          <a:p>
            <a:r>
              <a:rPr lang="en-US" altLang="en-US"/>
              <a:t>After candidate pruning: L</a:t>
            </a:r>
            <a:r>
              <a:rPr lang="en-US" altLang="en-US" baseline="-25000"/>
              <a:t>4</a:t>
            </a:r>
            <a:r>
              <a:rPr lang="en-US" altLang="en-US"/>
              <a:t> = {ABCD} </a:t>
            </a:r>
          </a:p>
        </p:txBody>
      </p:sp>
    </p:spTree>
    <p:extLst>
      <p:ext uri="{BB962C8B-B14F-4D97-AF65-F5344CB8AC3E}">
        <p14:creationId xmlns:p14="http://schemas.microsoft.com/office/powerpoint/2010/main" val="83320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Illustrating Apriori Principle</a:t>
            </a:r>
          </a:p>
        </p:txBody>
      </p:sp>
      <p:graphicFrame>
        <p:nvGraphicFramePr>
          <p:cNvPr id="28675" name="Object 3"/>
          <p:cNvGraphicFramePr>
            <a:graphicFrameLocks noChangeAspect="1"/>
          </p:cNvGraphicFramePr>
          <p:nvPr/>
        </p:nvGraphicFramePr>
        <p:xfrm>
          <a:off x="1828801" y="1387476"/>
          <a:ext cx="2289175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2289908" imgH="2495536" progId="Word.Document.8">
                  <p:embed/>
                </p:oleObj>
              </mc:Choice>
              <mc:Fallback>
                <p:oleObj name="Document" r:id="rId2" imgW="2289908" imgH="2495536" progId="Word.Document.8">
                  <p:embed/>
                  <p:pic>
                    <p:nvPicPr>
                      <p:cNvPr id="2867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1" y="1387476"/>
                        <a:ext cx="2289175" cy="249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4876800" y="2133600"/>
          <a:ext cx="3327400" cy="212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328641" imgH="2008846" progId="Word.Document.8">
                  <p:embed/>
                </p:oleObj>
              </mc:Choice>
              <mc:Fallback>
                <p:oleObj name="Document" r:id="rId4" imgW="3328641" imgH="2008846" progId="Word.Document.8">
                  <p:embed/>
                  <p:pic>
                    <p:nvPicPr>
                      <p:cNvPr id="286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133600"/>
                        <a:ext cx="3327400" cy="212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5"/>
          <p:cNvGraphicFramePr>
            <a:graphicFrameLocks noChangeAspect="1"/>
          </p:cNvGraphicFramePr>
          <p:nvPr/>
        </p:nvGraphicFramePr>
        <p:xfrm>
          <a:off x="6400800" y="4435476"/>
          <a:ext cx="3094038" cy="150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124026" imgH="1522425" progId="Word.Document.8">
                  <p:embed/>
                </p:oleObj>
              </mc:Choice>
              <mc:Fallback>
                <p:oleObj name="Document" r:id="rId6" imgW="3124026" imgH="1522425" progId="Word.Document.8">
                  <p:embed/>
                  <p:pic>
                    <p:nvPicPr>
                      <p:cNvPr id="286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435476"/>
                        <a:ext cx="3094038" cy="150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8" name="Text Box 6"/>
          <p:cNvSpPr txBox="1">
            <a:spLocks noChangeArrowheads="1"/>
          </p:cNvSpPr>
          <p:nvPr/>
        </p:nvSpPr>
        <p:spPr bwMode="auto">
          <a:xfrm>
            <a:off x="4038601" y="1295401"/>
            <a:ext cx="2055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ahoma" pitchFamily="34" charset="0"/>
              </a:rPr>
              <a:t>Items (1-itemsets)</a:t>
            </a:r>
          </a:p>
        </p:txBody>
      </p:sp>
      <p:sp>
        <p:nvSpPr>
          <p:cNvPr id="28679" name="Text Box 7"/>
          <p:cNvSpPr txBox="1">
            <a:spLocks noChangeArrowheads="1"/>
          </p:cNvSpPr>
          <p:nvPr/>
        </p:nvSpPr>
        <p:spPr bwMode="auto">
          <a:xfrm>
            <a:off x="7620001" y="2055813"/>
            <a:ext cx="2790825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ahoma" pitchFamily="34" charset="0"/>
              </a:rPr>
              <a:t>Pairs (2-itemsets)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latin typeface="Tahoma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ahoma" pitchFamily="34" charset="0"/>
              </a:rPr>
              <a:t>(No need to generate</a:t>
            </a:r>
            <a:br>
              <a:rPr lang="en-US" altLang="en-US" sz="1800">
                <a:latin typeface="Tahoma" pitchFamily="34" charset="0"/>
              </a:rPr>
            </a:br>
            <a:r>
              <a:rPr lang="en-US" altLang="en-US" sz="1800">
                <a:latin typeface="Tahoma" pitchFamily="34" charset="0"/>
              </a:rPr>
              <a:t>candidates involving Coke</a:t>
            </a:r>
            <a:br>
              <a:rPr lang="en-US" altLang="en-US" sz="1800">
                <a:latin typeface="Tahoma" pitchFamily="34" charset="0"/>
              </a:rPr>
            </a:br>
            <a:r>
              <a:rPr lang="en-US" altLang="en-US" sz="1800">
                <a:latin typeface="Tahoma" pitchFamily="34" charset="0"/>
              </a:rPr>
              <a:t>or Eggs)</a:t>
            </a: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28680" name="Text Box 8"/>
          <p:cNvSpPr txBox="1">
            <a:spLocks noChangeArrowheads="1"/>
          </p:cNvSpPr>
          <p:nvPr/>
        </p:nvSpPr>
        <p:spPr bwMode="auto">
          <a:xfrm>
            <a:off x="8305801" y="4038601"/>
            <a:ext cx="2225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ahoma" pitchFamily="34" charset="0"/>
              </a:rPr>
              <a:t>Triplets (3-itemsets)</a:t>
            </a: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28681" name="Line 9"/>
          <p:cNvSpPr>
            <a:spLocks noChangeShapeType="1"/>
          </p:cNvSpPr>
          <p:nvPr/>
        </p:nvSpPr>
        <p:spPr bwMode="auto">
          <a:xfrm>
            <a:off x="6934200" y="40386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headE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2" name="Line 10"/>
          <p:cNvSpPr>
            <a:spLocks noChangeShapeType="1"/>
          </p:cNvSpPr>
          <p:nvPr/>
        </p:nvSpPr>
        <p:spPr bwMode="auto">
          <a:xfrm>
            <a:off x="4343400" y="19812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headE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3" name="Text Box 12"/>
          <p:cNvSpPr txBox="1">
            <a:spLocks noChangeArrowheads="1"/>
          </p:cNvSpPr>
          <p:nvPr/>
        </p:nvSpPr>
        <p:spPr bwMode="auto">
          <a:xfrm>
            <a:off x="1828801" y="3810000"/>
            <a:ext cx="2659063" cy="41275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latin typeface="Tahoma" pitchFamily="34" charset="0"/>
              </a:rPr>
              <a:t>Minimum Support = 3</a:t>
            </a:r>
          </a:p>
        </p:txBody>
      </p:sp>
      <p:sp>
        <p:nvSpPr>
          <p:cNvPr id="28685" name="TextBox 12"/>
          <p:cNvSpPr txBox="1">
            <a:spLocks noChangeArrowheads="1"/>
          </p:cNvSpPr>
          <p:nvPr/>
        </p:nvSpPr>
        <p:spPr bwMode="auto">
          <a:xfrm>
            <a:off x="5105400" y="5562600"/>
            <a:ext cx="55626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Use of F</a:t>
            </a:r>
            <a:r>
              <a:rPr lang="en-US" altLang="en-US" sz="1400" baseline="-25000"/>
              <a:t>k-1</a:t>
            </a:r>
            <a:r>
              <a:rPr lang="en-US" altLang="en-US" sz="1400"/>
              <a:t>xF</a:t>
            </a:r>
            <a:r>
              <a:rPr lang="en-US" altLang="en-US" sz="1400" baseline="-25000"/>
              <a:t>k-1</a:t>
            </a:r>
            <a:r>
              <a:rPr lang="en-US" altLang="en-US" sz="1400"/>
              <a:t> method for candidate generation results in</a:t>
            </a:r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 only one 3-itemset.  This is eliminated after the support counting step.</a:t>
            </a:r>
          </a:p>
        </p:txBody>
      </p:sp>
    </p:spTree>
    <p:extLst>
      <p:ext uri="{BB962C8B-B14F-4D97-AF65-F5344CB8AC3E}">
        <p14:creationId xmlns:p14="http://schemas.microsoft.com/office/powerpoint/2010/main" val="17519194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Support Counting of Candidate </a:t>
            </a:r>
            <a:r>
              <a:rPr lang="en-US" altLang="en-US" sz="4000" dirty="0" err="1"/>
              <a:t>Itemsets</a:t>
            </a:r>
            <a:endParaRPr lang="en-US" altLang="en-US" sz="4000" dirty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Scan the database of transactions to determine the support of each candidate itemset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Must match every candidate itemset against every transaction, which is an expensive operation</a:t>
            </a:r>
          </a:p>
        </p:txBody>
      </p:sp>
      <p:graphicFrame>
        <p:nvGraphicFramePr>
          <p:cNvPr id="29700" name="Object 2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863423451"/>
              </p:ext>
            </p:extLst>
          </p:nvPr>
        </p:nvGraphicFramePr>
        <p:xfrm>
          <a:off x="2262850" y="3709686"/>
          <a:ext cx="3568700" cy="214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352666" imgH="2016134" progId="Word.Document.8">
                  <p:embed/>
                </p:oleObj>
              </mc:Choice>
              <mc:Fallback>
                <p:oleObj name="Document" r:id="rId2" imgW="3352666" imgH="2016134" progId="Word.Document.8">
                  <p:embed/>
                  <p:pic>
                    <p:nvPicPr>
                      <p:cNvPr id="29700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2850" y="3709686"/>
                        <a:ext cx="3568700" cy="214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9413198"/>
              </p:ext>
            </p:extLst>
          </p:nvPr>
        </p:nvGraphicFramePr>
        <p:xfrm>
          <a:off x="6788814" y="3938287"/>
          <a:ext cx="3094037" cy="150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122634" imgH="1524623" progId="Word.Document.8">
                  <p:embed/>
                </p:oleObj>
              </mc:Choice>
              <mc:Fallback>
                <p:oleObj name="Document" r:id="rId4" imgW="3122634" imgH="1524623" progId="Word.Document.8">
                  <p:embed/>
                  <p:pic>
                    <p:nvPicPr>
                      <p:cNvPr id="297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8814" y="3938287"/>
                        <a:ext cx="3094037" cy="150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03181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6" name="Group 2">
            <a:extLst>
              <a:ext uri="{FF2B5EF4-FFF2-40B4-BE49-F238E27FC236}">
                <a16:creationId xmlns:a16="http://schemas.microsoft.com/office/drawing/2014/main" id="{FD3D0C4E-1407-EC74-1776-E942D3F4EB72}"/>
              </a:ext>
            </a:extLst>
          </p:cNvPr>
          <p:cNvGrpSpPr>
            <a:grpSpLocks/>
          </p:cNvGrpSpPr>
          <p:nvPr/>
        </p:nvGrpSpPr>
        <p:grpSpPr bwMode="auto">
          <a:xfrm>
            <a:off x="2192338" y="1379539"/>
            <a:ext cx="8475662" cy="4802187"/>
            <a:chOff x="113" y="1162"/>
            <a:chExt cx="5339" cy="3025"/>
          </a:xfrm>
        </p:grpSpPr>
        <p:graphicFrame>
          <p:nvGraphicFramePr>
            <p:cNvPr id="28678" name="Object 3">
              <a:extLst>
                <a:ext uri="{FF2B5EF4-FFF2-40B4-BE49-F238E27FC236}">
                  <a16:creationId xmlns:a16="http://schemas.microsoft.com/office/drawing/2014/main" id="{D2820429-1A69-3542-3523-EFFBCB00CFD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6" y="1389"/>
            <a:ext cx="949" cy="8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3" imgW="1676400" imgH="1739900" progId="Excel.Sheet.8">
                    <p:embed/>
                  </p:oleObj>
                </mc:Choice>
                <mc:Fallback>
                  <p:oleObj name="Worksheet" r:id="rId3" imgW="1676400" imgH="1739900" progId="Excel.Sheet.8">
                    <p:embed/>
                    <p:pic>
                      <p:nvPicPr>
                        <p:cNvPr id="28678" name="Object 3">
                          <a:extLst>
                            <a:ext uri="{FF2B5EF4-FFF2-40B4-BE49-F238E27FC236}">
                              <a16:creationId xmlns:a16="http://schemas.microsoft.com/office/drawing/2014/main" id="{D2820429-1A69-3542-3523-EFFBCB00CFD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" y="1389"/>
                          <a:ext cx="949" cy="8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79" name="Text Box 4">
              <a:extLst>
                <a:ext uri="{FF2B5EF4-FFF2-40B4-BE49-F238E27FC236}">
                  <a16:creationId xmlns:a16="http://schemas.microsoft.com/office/drawing/2014/main" id="{88A0EAAB-69CE-3817-38D6-FCDCC9D873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" y="1162"/>
              <a:ext cx="106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0099FF"/>
                </a:buClr>
                <a:buSzPct val="85000"/>
                <a:buFont typeface="Monotype Sorts" pitchFamily="2" charset="2"/>
                <a:buBlip>
                  <a:blip r:embed="rId5"/>
                </a:buBlip>
                <a:defRPr kumimoji="1" sz="28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99FF"/>
                </a:buClr>
                <a:buSzPct val="60000"/>
                <a:buFont typeface="Monotype Sorts" pitchFamily="2" charset="2"/>
                <a:buBlip>
                  <a:blip r:embed="rId5"/>
                </a:buBlip>
                <a:defRPr kumimoji="1" sz="24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0099FF"/>
                </a:buClr>
                <a:buFont typeface="Wingdings" pitchFamily="2" charset="2"/>
                <a:buChar char="ü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0099FF"/>
                </a:buClr>
                <a:buChar char="•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it-IT" sz="2000" b="0">
                  <a:latin typeface="Times New Roman" panose="02020603050405020304" pitchFamily="18" charset="0"/>
                </a:rPr>
                <a:t>Database TDB</a:t>
              </a:r>
            </a:p>
          </p:txBody>
        </p:sp>
        <p:graphicFrame>
          <p:nvGraphicFramePr>
            <p:cNvPr id="28680" name="Object 5">
              <a:extLst>
                <a:ext uri="{FF2B5EF4-FFF2-40B4-BE49-F238E27FC236}">
                  <a16:creationId xmlns:a16="http://schemas.microsoft.com/office/drawing/2014/main" id="{2B76AD55-B02B-2BE0-0679-734E9874FD2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45" y="1207"/>
            <a:ext cx="977" cy="10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6" imgW="1625600" imgH="2082800" progId="Excel.Sheet.8">
                    <p:embed/>
                  </p:oleObj>
                </mc:Choice>
                <mc:Fallback>
                  <p:oleObj name="Worksheet" r:id="rId6" imgW="1625600" imgH="2082800" progId="Excel.Sheet.8">
                    <p:embed/>
                    <p:pic>
                      <p:nvPicPr>
                        <p:cNvPr id="28680" name="Object 5">
                          <a:extLst>
                            <a:ext uri="{FF2B5EF4-FFF2-40B4-BE49-F238E27FC236}">
                              <a16:creationId xmlns:a16="http://schemas.microsoft.com/office/drawing/2014/main" id="{2B76AD55-B02B-2BE0-0679-734E9874FD2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5" y="1207"/>
                          <a:ext cx="977" cy="10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1" name="Object 6">
              <a:extLst>
                <a:ext uri="{FF2B5EF4-FFF2-40B4-BE49-F238E27FC236}">
                  <a16:creationId xmlns:a16="http://schemas.microsoft.com/office/drawing/2014/main" id="{776AF6EE-0C72-5DB1-28DD-98115D5A184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78" y="1253"/>
            <a:ext cx="1055" cy="8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8" imgW="1625600" imgH="1739900" progId="Excel.Sheet.8">
                    <p:embed/>
                  </p:oleObj>
                </mc:Choice>
                <mc:Fallback>
                  <p:oleObj name="Worksheet" r:id="rId8" imgW="1625600" imgH="1739900" progId="Excel.Sheet.8">
                    <p:embed/>
                    <p:pic>
                      <p:nvPicPr>
                        <p:cNvPr id="28681" name="Object 6">
                          <a:extLst>
                            <a:ext uri="{FF2B5EF4-FFF2-40B4-BE49-F238E27FC236}">
                              <a16:creationId xmlns:a16="http://schemas.microsoft.com/office/drawing/2014/main" id="{776AF6EE-0C72-5DB1-28DD-98115D5A184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8" y="1253"/>
                          <a:ext cx="1055" cy="8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2" name="Text Box 7">
              <a:extLst>
                <a:ext uri="{FF2B5EF4-FFF2-40B4-BE49-F238E27FC236}">
                  <a16:creationId xmlns:a16="http://schemas.microsoft.com/office/drawing/2014/main" id="{DAFD83A6-0ABB-40BC-24DE-5001A18B1E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9" y="1499"/>
              <a:ext cx="7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0099FF"/>
                </a:buClr>
                <a:buSzPct val="85000"/>
                <a:buFont typeface="Monotype Sorts" pitchFamily="2" charset="2"/>
                <a:buBlip>
                  <a:blip r:embed="rId5"/>
                </a:buBlip>
                <a:defRPr kumimoji="1" sz="28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99FF"/>
                </a:buClr>
                <a:buSzPct val="60000"/>
                <a:buFont typeface="Monotype Sorts" pitchFamily="2" charset="2"/>
                <a:buBlip>
                  <a:blip r:embed="rId5"/>
                </a:buBlip>
                <a:defRPr kumimoji="1" sz="24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0099FF"/>
                </a:buClr>
                <a:buFont typeface="Wingdings" pitchFamily="2" charset="2"/>
                <a:buChar char="ü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0099FF"/>
                </a:buClr>
                <a:buChar char="•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it-IT" sz="2000" b="0">
                  <a:latin typeface="Times New Roman" panose="02020603050405020304" pitchFamily="18" charset="0"/>
                </a:rPr>
                <a:t>Scan TDB</a:t>
              </a:r>
            </a:p>
          </p:txBody>
        </p:sp>
        <p:sp>
          <p:nvSpPr>
            <p:cNvPr id="28683" name="Line 8">
              <a:extLst>
                <a:ext uri="{FF2B5EF4-FFF2-40B4-BE49-F238E27FC236}">
                  <a16:creationId xmlns:a16="http://schemas.microsoft.com/office/drawing/2014/main" id="{BD1B913F-347B-6F62-66CC-7855FB416B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5" y="1797"/>
              <a:ext cx="52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8684" name="Text Box 9">
              <a:extLst>
                <a:ext uri="{FF2B5EF4-FFF2-40B4-BE49-F238E27FC236}">
                  <a16:creationId xmlns:a16="http://schemas.microsoft.com/office/drawing/2014/main" id="{565DAD1F-19B3-8BBA-8227-87440F15F4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7" y="1207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0099FF"/>
                </a:buClr>
                <a:buSzPct val="85000"/>
                <a:buFont typeface="Monotype Sorts" pitchFamily="2" charset="2"/>
                <a:buBlip>
                  <a:blip r:embed="rId5"/>
                </a:buBlip>
                <a:defRPr kumimoji="1" sz="28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99FF"/>
                </a:buClr>
                <a:buSzPct val="60000"/>
                <a:buFont typeface="Monotype Sorts" pitchFamily="2" charset="2"/>
                <a:buBlip>
                  <a:blip r:embed="rId5"/>
                </a:buBlip>
                <a:defRPr kumimoji="1" sz="24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0099FF"/>
                </a:buClr>
                <a:buFont typeface="Wingdings" pitchFamily="2" charset="2"/>
                <a:buChar char="ü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0099FF"/>
                </a:buClr>
                <a:buChar char="•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it-IT" sz="2400" b="0" i="1">
                  <a:latin typeface="Times New Roman" panose="02020603050405020304" pitchFamily="18" charset="0"/>
                </a:rPr>
                <a:t>C</a:t>
              </a:r>
              <a:r>
                <a:rPr kumimoji="0" lang="en-US" altLang="it-IT" sz="2400" b="0" i="1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8685" name="Text Box 10">
              <a:extLst>
                <a:ext uri="{FF2B5EF4-FFF2-40B4-BE49-F238E27FC236}">
                  <a16:creationId xmlns:a16="http://schemas.microsoft.com/office/drawing/2014/main" id="{B74C3D08-B831-13AA-6560-F40D2FE418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0" y="1253"/>
              <a:ext cx="2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0099FF"/>
                </a:buClr>
                <a:buSzPct val="85000"/>
                <a:buFont typeface="Monotype Sorts" pitchFamily="2" charset="2"/>
                <a:buBlip>
                  <a:blip r:embed="rId5"/>
                </a:buBlip>
                <a:defRPr kumimoji="1" sz="28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99FF"/>
                </a:buClr>
                <a:buSzPct val="60000"/>
                <a:buFont typeface="Monotype Sorts" pitchFamily="2" charset="2"/>
                <a:buBlip>
                  <a:blip r:embed="rId5"/>
                </a:buBlip>
                <a:defRPr kumimoji="1" sz="24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0099FF"/>
                </a:buClr>
                <a:buFont typeface="Wingdings" pitchFamily="2" charset="2"/>
                <a:buChar char="ü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0099FF"/>
                </a:buClr>
                <a:buChar char="•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it-IT" sz="2400" b="0" i="1">
                  <a:latin typeface="Times New Roman" panose="02020603050405020304" pitchFamily="18" charset="0"/>
                </a:rPr>
                <a:t>L</a:t>
              </a:r>
              <a:r>
                <a:rPr kumimoji="0" lang="en-US" altLang="it-IT" sz="2400" b="0" i="1" baseline="-25000">
                  <a:latin typeface="Times New Roman" panose="02020603050405020304" pitchFamily="18" charset="0"/>
                </a:rPr>
                <a:t>1</a:t>
              </a:r>
            </a:p>
          </p:txBody>
        </p:sp>
        <p:graphicFrame>
          <p:nvGraphicFramePr>
            <p:cNvPr id="28686" name="Object 11">
              <a:extLst>
                <a:ext uri="{FF2B5EF4-FFF2-40B4-BE49-F238E27FC236}">
                  <a16:creationId xmlns:a16="http://schemas.microsoft.com/office/drawing/2014/main" id="{F8CD89E3-399A-619A-FEC5-3E1A63DAEF1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86" y="2387"/>
            <a:ext cx="582" cy="1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10" imgW="1003300" imgH="2425700" progId="Excel.Sheet.8">
                    <p:embed/>
                  </p:oleObj>
                </mc:Choice>
                <mc:Fallback>
                  <p:oleObj name="Worksheet" r:id="rId10" imgW="1003300" imgH="2425700" progId="Excel.Sheet.8">
                    <p:embed/>
                    <p:pic>
                      <p:nvPicPr>
                        <p:cNvPr id="28686" name="Object 11">
                          <a:extLst>
                            <a:ext uri="{FF2B5EF4-FFF2-40B4-BE49-F238E27FC236}">
                              <a16:creationId xmlns:a16="http://schemas.microsoft.com/office/drawing/2014/main" id="{F8CD89E3-399A-619A-FEC5-3E1A63DAEF1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6" y="2387"/>
                          <a:ext cx="582" cy="1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7" name="Object 12">
              <a:extLst>
                <a:ext uri="{FF2B5EF4-FFF2-40B4-BE49-F238E27FC236}">
                  <a16:creationId xmlns:a16="http://schemas.microsoft.com/office/drawing/2014/main" id="{93BDD9F6-5B73-248E-5779-75BC56D1D6E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90" y="2387"/>
            <a:ext cx="915" cy="1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12" imgW="1587500" imgH="2425700" progId="Excel.Sheet.8">
                    <p:embed/>
                  </p:oleObj>
                </mc:Choice>
                <mc:Fallback>
                  <p:oleObj name="Worksheet" r:id="rId12" imgW="1587500" imgH="2425700" progId="Excel.Sheet.8">
                    <p:embed/>
                    <p:pic>
                      <p:nvPicPr>
                        <p:cNvPr id="28687" name="Object 12">
                          <a:extLst>
                            <a:ext uri="{FF2B5EF4-FFF2-40B4-BE49-F238E27FC236}">
                              <a16:creationId xmlns:a16="http://schemas.microsoft.com/office/drawing/2014/main" id="{93BDD9F6-5B73-248E-5779-75BC56D1D6E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0" y="2387"/>
                          <a:ext cx="915" cy="1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8" name="Object 13">
              <a:extLst>
                <a:ext uri="{FF2B5EF4-FFF2-40B4-BE49-F238E27FC236}">
                  <a16:creationId xmlns:a16="http://schemas.microsoft.com/office/drawing/2014/main" id="{9E01493C-56F7-92ED-B04C-11B02E36655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57" y="2387"/>
            <a:ext cx="975" cy="10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14" imgW="1587500" imgH="1739900" progId="Excel.Sheet.8">
                    <p:embed/>
                  </p:oleObj>
                </mc:Choice>
                <mc:Fallback>
                  <p:oleObj name="Worksheet" r:id="rId14" imgW="1587500" imgH="1739900" progId="Excel.Sheet.8">
                    <p:embed/>
                    <p:pic>
                      <p:nvPicPr>
                        <p:cNvPr id="28688" name="Object 13">
                          <a:extLst>
                            <a:ext uri="{FF2B5EF4-FFF2-40B4-BE49-F238E27FC236}">
                              <a16:creationId xmlns:a16="http://schemas.microsoft.com/office/drawing/2014/main" id="{9E01493C-56F7-92ED-B04C-11B02E36655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2387"/>
                          <a:ext cx="975" cy="10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9" name="Text Box 14">
              <a:extLst>
                <a:ext uri="{FF2B5EF4-FFF2-40B4-BE49-F238E27FC236}">
                  <a16:creationId xmlns:a16="http://schemas.microsoft.com/office/drawing/2014/main" id="{3BFA38F1-F597-2AA4-0D96-F97399ECF7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" y="2432"/>
              <a:ext cx="2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0099FF"/>
                </a:buClr>
                <a:buSzPct val="85000"/>
                <a:buFont typeface="Monotype Sorts" pitchFamily="2" charset="2"/>
                <a:buBlip>
                  <a:blip r:embed="rId5"/>
                </a:buBlip>
                <a:defRPr kumimoji="1" sz="28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99FF"/>
                </a:buClr>
                <a:buSzPct val="60000"/>
                <a:buFont typeface="Monotype Sorts" pitchFamily="2" charset="2"/>
                <a:buBlip>
                  <a:blip r:embed="rId5"/>
                </a:buBlip>
                <a:defRPr kumimoji="1" sz="24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0099FF"/>
                </a:buClr>
                <a:buFont typeface="Wingdings" pitchFamily="2" charset="2"/>
                <a:buChar char="ü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0099FF"/>
                </a:buClr>
                <a:buChar char="•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it-IT" sz="2400" b="0" i="1">
                  <a:latin typeface="Times New Roman" panose="02020603050405020304" pitchFamily="18" charset="0"/>
                </a:rPr>
                <a:t>L</a:t>
              </a:r>
              <a:r>
                <a:rPr kumimoji="0" lang="en-US" altLang="it-IT" sz="2400" b="0" i="1" baseline="-25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8690" name="Text Box 15">
              <a:extLst>
                <a:ext uri="{FF2B5EF4-FFF2-40B4-BE49-F238E27FC236}">
                  <a16:creationId xmlns:a16="http://schemas.microsoft.com/office/drawing/2014/main" id="{56708DC8-FF85-E4F0-5205-40407CF008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3" y="2432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0099FF"/>
                </a:buClr>
                <a:buSzPct val="85000"/>
                <a:buFont typeface="Monotype Sorts" pitchFamily="2" charset="2"/>
                <a:buBlip>
                  <a:blip r:embed="rId5"/>
                </a:buBlip>
                <a:defRPr kumimoji="1" sz="28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99FF"/>
                </a:buClr>
                <a:buSzPct val="60000"/>
                <a:buFont typeface="Monotype Sorts" pitchFamily="2" charset="2"/>
                <a:buBlip>
                  <a:blip r:embed="rId5"/>
                </a:buBlip>
                <a:defRPr kumimoji="1" sz="24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0099FF"/>
                </a:buClr>
                <a:buFont typeface="Wingdings" pitchFamily="2" charset="2"/>
                <a:buChar char="ü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0099FF"/>
                </a:buClr>
                <a:buChar char="•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it-IT" sz="2400" b="0" i="1">
                  <a:latin typeface="Times New Roman" panose="02020603050405020304" pitchFamily="18" charset="0"/>
                </a:rPr>
                <a:t>C</a:t>
              </a:r>
              <a:r>
                <a:rPr kumimoji="0" lang="en-US" altLang="it-IT" sz="2400" b="0" i="1" baseline="-25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8691" name="Text Box 16">
              <a:extLst>
                <a:ext uri="{FF2B5EF4-FFF2-40B4-BE49-F238E27FC236}">
                  <a16:creationId xmlns:a16="http://schemas.microsoft.com/office/drawing/2014/main" id="{BE5A2D68-9ECF-5789-32FC-1CCE6213E0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9" y="2432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0099FF"/>
                </a:buClr>
                <a:buSzPct val="85000"/>
                <a:buFont typeface="Monotype Sorts" pitchFamily="2" charset="2"/>
                <a:buBlip>
                  <a:blip r:embed="rId5"/>
                </a:buBlip>
                <a:defRPr kumimoji="1" sz="28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99FF"/>
                </a:buClr>
                <a:buSzPct val="60000"/>
                <a:buFont typeface="Monotype Sorts" pitchFamily="2" charset="2"/>
                <a:buBlip>
                  <a:blip r:embed="rId5"/>
                </a:buBlip>
                <a:defRPr kumimoji="1" sz="24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0099FF"/>
                </a:buClr>
                <a:buFont typeface="Wingdings" pitchFamily="2" charset="2"/>
                <a:buChar char="ü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0099FF"/>
                </a:buClr>
                <a:buChar char="•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it-IT" sz="2400" b="0" i="1">
                  <a:latin typeface="Times New Roman" panose="02020603050405020304" pitchFamily="18" charset="0"/>
                </a:rPr>
                <a:t>C</a:t>
              </a:r>
              <a:r>
                <a:rPr kumimoji="0" lang="en-US" altLang="it-IT" sz="2400" b="0" i="1" baseline="-25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8692" name="Line 17">
              <a:extLst>
                <a:ext uri="{FF2B5EF4-FFF2-40B4-BE49-F238E27FC236}">
                  <a16:creationId xmlns:a16="http://schemas.microsoft.com/office/drawing/2014/main" id="{26EA0AD4-11BF-A3D1-4E77-246F7EBA97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79" y="3022"/>
              <a:ext cx="70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8693" name="Text Box 18">
              <a:extLst>
                <a:ext uri="{FF2B5EF4-FFF2-40B4-BE49-F238E27FC236}">
                  <a16:creationId xmlns:a16="http://schemas.microsoft.com/office/drawing/2014/main" id="{8B5AC087-C496-291F-5314-F388625FF1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2750"/>
              <a:ext cx="7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0099FF"/>
                </a:buClr>
                <a:buSzPct val="85000"/>
                <a:buFont typeface="Monotype Sorts" pitchFamily="2" charset="2"/>
                <a:buBlip>
                  <a:blip r:embed="rId5"/>
                </a:buBlip>
                <a:defRPr kumimoji="1" sz="28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99FF"/>
                </a:buClr>
                <a:buSzPct val="60000"/>
                <a:buFont typeface="Monotype Sorts" pitchFamily="2" charset="2"/>
                <a:buBlip>
                  <a:blip r:embed="rId5"/>
                </a:buBlip>
                <a:defRPr kumimoji="1" sz="24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0099FF"/>
                </a:buClr>
                <a:buFont typeface="Wingdings" pitchFamily="2" charset="2"/>
                <a:buChar char="ü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0099FF"/>
                </a:buClr>
                <a:buChar char="•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it-IT" sz="2000" b="0">
                  <a:latin typeface="Times New Roman" panose="02020603050405020304" pitchFamily="18" charset="0"/>
                </a:rPr>
                <a:t>Scan TDB</a:t>
              </a:r>
            </a:p>
          </p:txBody>
        </p:sp>
        <p:sp>
          <p:nvSpPr>
            <p:cNvPr id="28694" name="AutoShape 19">
              <a:extLst>
                <a:ext uri="{FF2B5EF4-FFF2-40B4-BE49-F238E27FC236}">
                  <a16:creationId xmlns:a16="http://schemas.microsoft.com/office/drawing/2014/main" id="{99442CC1-D463-45EA-A17A-5DC8D6FCA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2193"/>
              <a:ext cx="395" cy="291"/>
            </a:xfrm>
            <a:prstGeom prst="curvedLeftArrow">
              <a:avLst>
                <a:gd name="adj1" fmla="val 27291"/>
                <a:gd name="adj2" fmla="val 54582"/>
                <a:gd name="adj3" fmla="val 33333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0099FF"/>
                </a:buClr>
                <a:buSzPct val="85000"/>
                <a:buFont typeface="Monotype Sorts" pitchFamily="2" charset="2"/>
                <a:buBlip>
                  <a:blip r:embed="rId5"/>
                </a:buBlip>
                <a:defRPr kumimoji="1" sz="28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99FF"/>
                </a:buClr>
                <a:buSzPct val="60000"/>
                <a:buFont typeface="Monotype Sorts" pitchFamily="2" charset="2"/>
                <a:buBlip>
                  <a:blip r:embed="rId5"/>
                </a:buBlip>
                <a:defRPr kumimoji="1" sz="24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0099FF"/>
                </a:buClr>
                <a:buFont typeface="Wingdings" pitchFamily="2" charset="2"/>
                <a:buChar char="ü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0099FF"/>
                </a:buClr>
                <a:buChar char="•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it-IT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8695" name="Line 20">
              <a:extLst>
                <a:ext uri="{FF2B5EF4-FFF2-40B4-BE49-F238E27FC236}">
                  <a16:creationId xmlns:a16="http://schemas.microsoft.com/office/drawing/2014/main" id="{FB7D8B4F-2B33-7893-9D13-6584CB2B9A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7" y="3968"/>
              <a:ext cx="106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8696" name="Text Box 21">
              <a:extLst>
                <a:ext uri="{FF2B5EF4-FFF2-40B4-BE49-F238E27FC236}">
                  <a16:creationId xmlns:a16="http://schemas.microsoft.com/office/drawing/2014/main" id="{8A8D42C1-61EA-8FBB-3F9C-3BAA89DFF4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" y="3748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0099FF"/>
                </a:buClr>
                <a:buSzPct val="85000"/>
                <a:buFont typeface="Monotype Sorts" pitchFamily="2" charset="2"/>
                <a:buBlip>
                  <a:blip r:embed="rId5"/>
                </a:buBlip>
                <a:defRPr kumimoji="1" sz="28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99FF"/>
                </a:buClr>
                <a:buSzPct val="60000"/>
                <a:buFont typeface="Monotype Sorts" pitchFamily="2" charset="2"/>
                <a:buBlip>
                  <a:blip r:embed="rId5"/>
                </a:buBlip>
                <a:defRPr kumimoji="1" sz="24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0099FF"/>
                </a:buClr>
                <a:buFont typeface="Wingdings" pitchFamily="2" charset="2"/>
                <a:buChar char="ü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0099FF"/>
                </a:buClr>
                <a:buChar char="•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it-IT" sz="2400" b="0" i="1">
                  <a:latin typeface="Times New Roman" panose="02020603050405020304" pitchFamily="18" charset="0"/>
                </a:rPr>
                <a:t>C</a:t>
              </a:r>
              <a:r>
                <a:rPr kumimoji="0" lang="en-US" altLang="it-IT" sz="2400" b="0" i="1" baseline="-25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8697" name="Text Box 22">
              <a:extLst>
                <a:ext uri="{FF2B5EF4-FFF2-40B4-BE49-F238E27FC236}">
                  <a16:creationId xmlns:a16="http://schemas.microsoft.com/office/drawing/2014/main" id="{E456FC34-EEE2-EAB2-5ADC-EE06AFA89F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9" y="3748"/>
              <a:ext cx="2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0099FF"/>
                </a:buClr>
                <a:buSzPct val="85000"/>
                <a:buFont typeface="Monotype Sorts" pitchFamily="2" charset="2"/>
                <a:buBlip>
                  <a:blip r:embed="rId5"/>
                </a:buBlip>
                <a:defRPr kumimoji="1" sz="28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99FF"/>
                </a:buClr>
                <a:buSzPct val="60000"/>
                <a:buFont typeface="Monotype Sorts" pitchFamily="2" charset="2"/>
                <a:buBlip>
                  <a:blip r:embed="rId5"/>
                </a:buBlip>
                <a:defRPr kumimoji="1" sz="24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0099FF"/>
                </a:buClr>
                <a:buFont typeface="Wingdings" pitchFamily="2" charset="2"/>
                <a:buChar char="ü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0099FF"/>
                </a:buClr>
                <a:buChar char="•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it-IT" sz="2400" b="0" i="1">
                  <a:latin typeface="Times New Roman" panose="02020603050405020304" pitchFamily="18" charset="0"/>
                </a:rPr>
                <a:t>L</a:t>
              </a:r>
              <a:r>
                <a:rPr kumimoji="0" lang="en-US" altLang="it-IT" sz="2400" b="0" i="1" baseline="-25000">
                  <a:latin typeface="Times New Roman" panose="02020603050405020304" pitchFamily="18" charset="0"/>
                </a:rPr>
                <a:t>3</a:t>
              </a:r>
            </a:p>
          </p:txBody>
        </p:sp>
        <p:graphicFrame>
          <p:nvGraphicFramePr>
            <p:cNvPr id="28698" name="Object 23">
              <a:extLst>
                <a:ext uri="{FF2B5EF4-FFF2-40B4-BE49-F238E27FC236}">
                  <a16:creationId xmlns:a16="http://schemas.microsoft.com/office/drawing/2014/main" id="{FA78E560-5049-2492-E79B-AA492ABF3C9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93" y="3722"/>
            <a:ext cx="651" cy="4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16" imgW="1003300" imgH="723900" progId="Excel.Sheet.8">
                    <p:embed/>
                  </p:oleObj>
                </mc:Choice>
                <mc:Fallback>
                  <p:oleObj name="Worksheet" r:id="rId16" imgW="1003300" imgH="723900" progId="Excel.Sheet.8">
                    <p:embed/>
                    <p:pic>
                      <p:nvPicPr>
                        <p:cNvPr id="28698" name="Object 23">
                          <a:extLst>
                            <a:ext uri="{FF2B5EF4-FFF2-40B4-BE49-F238E27FC236}">
                              <a16:creationId xmlns:a16="http://schemas.microsoft.com/office/drawing/2014/main" id="{FA78E560-5049-2492-E79B-AA492ABF3C9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3" y="3722"/>
                          <a:ext cx="651" cy="4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9" name="Text Box 24">
              <a:extLst>
                <a:ext uri="{FF2B5EF4-FFF2-40B4-BE49-F238E27FC236}">
                  <a16:creationId xmlns:a16="http://schemas.microsoft.com/office/drawing/2014/main" id="{14FDFBD7-ED76-BF8F-CE74-4F6D28AF1D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5" y="3724"/>
              <a:ext cx="7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0099FF"/>
                </a:buClr>
                <a:buSzPct val="85000"/>
                <a:buFont typeface="Monotype Sorts" pitchFamily="2" charset="2"/>
                <a:buBlip>
                  <a:blip r:embed="rId5"/>
                </a:buBlip>
                <a:defRPr kumimoji="1" sz="28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99FF"/>
                </a:buClr>
                <a:buSzPct val="60000"/>
                <a:buFont typeface="Monotype Sorts" pitchFamily="2" charset="2"/>
                <a:buBlip>
                  <a:blip r:embed="rId5"/>
                </a:buBlip>
                <a:defRPr kumimoji="1" sz="24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0099FF"/>
                </a:buClr>
                <a:buFont typeface="Wingdings" pitchFamily="2" charset="2"/>
                <a:buChar char="ü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0099FF"/>
                </a:buClr>
                <a:buChar char="•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it-IT" sz="2000" b="0">
                  <a:latin typeface="Times New Roman" panose="02020603050405020304" pitchFamily="18" charset="0"/>
                </a:rPr>
                <a:t>Scan TDB</a:t>
              </a:r>
            </a:p>
          </p:txBody>
        </p:sp>
        <p:graphicFrame>
          <p:nvGraphicFramePr>
            <p:cNvPr id="28700" name="Object 25">
              <a:extLst>
                <a:ext uri="{FF2B5EF4-FFF2-40B4-BE49-F238E27FC236}">
                  <a16:creationId xmlns:a16="http://schemas.microsoft.com/office/drawing/2014/main" id="{07D7E150-C809-880B-5B4C-978A0B577C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71" y="3719"/>
            <a:ext cx="1012" cy="4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18" imgW="1587500" imgH="711200" progId="Excel.Sheet.8">
                    <p:embed/>
                  </p:oleObj>
                </mc:Choice>
                <mc:Fallback>
                  <p:oleObj name="Worksheet" r:id="rId18" imgW="1587500" imgH="711200" progId="Excel.Sheet.8">
                    <p:embed/>
                    <p:pic>
                      <p:nvPicPr>
                        <p:cNvPr id="28700" name="Object 25">
                          <a:extLst>
                            <a:ext uri="{FF2B5EF4-FFF2-40B4-BE49-F238E27FC236}">
                              <a16:creationId xmlns:a16="http://schemas.microsoft.com/office/drawing/2014/main" id="{07D7E150-C809-880B-5B4C-978A0B577C9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1" y="3719"/>
                          <a:ext cx="1012" cy="4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01" name="AutoShape 26">
              <a:extLst>
                <a:ext uri="{FF2B5EF4-FFF2-40B4-BE49-F238E27FC236}">
                  <a16:creationId xmlns:a16="http://schemas.microsoft.com/office/drawing/2014/main" id="{67F75BC6-82B8-CAA3-A24F-4A70E6906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3451"/>
              <a:ext cx="116" cy="291"/>
            </a:xfrm>
            <a:prstGeom prst="curvedRightArrow">
              <a:avLst>
                <a:gd name="adj1" fmla="val 56619"/>
                <a:gd name="adj2" fmla="val 113237"/>
                <a:gd name="adj3" fmla="val 33333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0099FF"/>
                </a:buClr>
                <a:buSzPct val="85000"/>
                <a:buFont typeface="Monotype Sorts" pitchFamily="2" charset="2"/>
                <a:buBlip>
                  <a:blip r:embed="rId5"/>
                </a:buBlip>
                <a:defRPr kumimoji="1" sz="28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99FF"/>
                </a:buClr>
                <a:buSzPct val="60000"/>
                <a:buFont typeface="Monotype Sorts" pitchFamily="2" charset="2"/>
                <a:buBlip>
                  <a:blip r:embed="rId5"/>
                </a:buBlip>
                <a:defRPr kumimoji="1" sz="2400"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0099FF"/>
                </a:buClr>
                <a:buFont typeface="Wingdings" pitchFamily="2" charset="2"/>
                <a:buChar char="ü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0099FF"/>
                </a:buClr>
                <a:buChar char="•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FF"/>
                </a:buClr>
                <a:buChar char="–"/>
                <a:defRPr kumimoji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it-IT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8702" name="Line 27">
              <a:extLst>
                <a:ext uri="{FF2B5EF4-FFF2-40B4-BE49-F238E27FC236}">
                  <a16:creationId xmlns:a16="http://schemas.microsoft.com/office/drawing/2014/main" id="{F77D117A-EA0C-DCBF-2465-7C33A526A1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9" y="1752"/>
              <a:ext cx="33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8703" name="Line 28">
              <a:extLst>
                <a:ext uri="{FF2B5EF4-FFF2-40B4-BE49-F238E27FC236}">
                  <a16:creationId xmlns:a16="http://schemas.microsoft.com/office/drawing/2014/main" id="{BB272252-BDAD-CEF4-DB6D-D24F83BB8F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91" y="3022"/>
              <a:ext cx="2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59101" name="Rectangle 29">
            <a:extLst>
              <a:ext uri="{FF2B5EF4-FFF2-40B4-BE49-F238E27FC236}">
                <a16:creationId xmlns:a16="http://schemas.microsoft.com/office/drawing/2014/main" id="{A327F6CE-1721-4C49-A551-E769125612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i="1">
                <a:latin typeface="Arial" charset="0"/>
                <a:ea typeface="+mj-ea"/>
                <a:cs typeface="+mj-cs"/>
              </a:rPr>
              <a:t>Apriori Execution Example  </a:t>
            </a:r>
            <a:r>
              <a:rPr lang="it-IT" sz="2000" i="1">
                <a:latin typeface="Arial" charset="0"/>
              </a:rPr>
              <a:t>(min_sup = 2)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Rule Generation</a:t>
            </a:r>
          </a:p>
        </p:txBody>
      </p:sp>
      <p:sp>
        <p:nvSpPr>
          <p:cNvPr id="1275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Given a frequent itemset L, find all non-empty subsets f </a:t>
            </a:r>
            <a:r>
              <a:rPr lang="en-US" altLang="en-US">
                <a:sym typeface="Symbol" pitchFamily="18" charset="2"/>
              </a:rPr>
              <a:t> L such that f  L – f satisfies the minimum confidence requirement</a:t>
            </a:r>
          </a:p>
          <a:p>
            <a:pPr lvl="1"/>
            <a:r>
              <a:rPr lang="en-US" altLang="en-US">
                <a:sym typeface="Symbol" pitchFamily="18" charset="2"/>
              </a:rPr>
              <a:t>If {A,B,C,D} is a frequent itemset, candidate rules:</a:t>
            </a:r>
          </a:p>
          <a:p>
            <a:pPr lvl="2">
              <a:buFont typeface="Wingdings" pitchFamily="2" charset="2"/>
              <a:buNone/>
            </a:pPr>
            <a:r>
              <a:rPr lang="en-US" altLang="en-US">
                <a:sym typeface="Symbol" pitchFamily="18" charset="2"/>
              </a:rPr>
              <a:t>ABC D, 	ABD C, 	ACD B, 	BCD A, </a:t>
            </a:r>
            <a:br>
              <a:rPr lang="en-US" altLang="en-US">
                <a:sym typeface="Symbol" pitchFamily="18" charset="2"/>
              </a:rPr>
            </a:br>
            <a:r>
              <a:rPr lang="en-US" altLang="en-US">
                <a:sym typeface="Symbol" pitchFamily="18" charset="2"/>
              </a:rPr>
              <a:t>A BCD,	B ACD,	C ABD, 	D ABC</a:t>
            </a:r>
            <a:br>
              <a:rPr lang="en-US" altLang="en-US">
                <a:sym typeface="Symbol" pitchFamily="18" charset="2"/>
              </a:rPr>
            </a:br>
            <a:r>
              <a:rPr lang="en-US" altLang="en-US">
                <a:sym typeface="Symbol" pitchFamily="18" charset="2"/>
              </a:rPr>
              <a:t>AB CD,	AC  BD, 	AD  BC, 	BC AD, </a:t>
            </a:r>
            <a:br>
              <a:rPr lang="en-US" altLang="en-US">
                <a:sym typeface="Symbol" pitchFamily="18" charset="2"/>
              </a:rPr>
            </a:br>
            <a:r>
              <a:rPr lang="en-US" altLang="en-US">
                <a:sym typeface="Symbol" pitchFamily="18" charset="2"/>
              </a:rPr>
              <a:t>BD AC, 	CD AB,	</a:t>
            </a:r>
            <a:br>
              <a:rPr lang="en-US" altLang="en-US">
                <a:sym typeface="Symbol" pitchFamily="18" charset="2"/>
              </a:rPr>
            </a:br>
            <a:endParaRPr lang="en-US" altLang="en-US" sz="1000">
              <a:sym typeface="Symbol" pitchFamily="18" charset="2"/>
            </a:endParaRPr>
          </a:p>
          <a:p>
            <a:r>
              <a:rPr lang="en-US" altLang="en-US"/>
              <a:t>If |L| = k, then there are 2</a:t>
            </a:r>
            <a:r>
              <a:rPr lang="en-US" altLang="en-US" baseline="30000"/>
              <a:t>k</a:t>
            </a:r>
            <a:r>
              <a:rPr lang="en-US" altLang="en-US"/>
              <a:t> – 2 candidate association rules (ignoring L </a:t>
            </a:r>
            <a:r>
              <a:rPr lang="en-US" altLang="en-US">
                <a:sym typeface="Symbol" pitchFamily="18" charset="2"/>
              </a:rPr>
              <a:t>  and   L)</a:t>
            </a:r>
          </a:p>
        </p:txBody>
      </p:sp>
    </p:spTree>
    <p:extLst>
      <p:ext uri="{BB962C8B-B14F-4D97-AF65-F5344CB8AC3E}">
        <p14:creationId xmlns:p14="http://schemas.microsoft.com/office/powerpoint/2010/main" val="3265829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5907" grpId="0" build="p" bldLvl="2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Rule Generation</a:t>
            </a:r>
          </a:p>
        </p:txBody>
      </p:sp>
      <p:sp>
        <p:nvSpPr>
          <p:cNvPr id="1276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sym typeface="Symbol" pitchFamily="18" charset="2"/>
              </a:rPr>
              <a:t>In general, confidence does not have an anti-monotone property</a:t>
            </a:r>
          </a:p>
          <a:p>
            <a:pPr lvl="1">
              <a:buFont typeface="Arial" charset="0"/>
              <a:buNone/>
            </a:pPr>
            <a:r>
              <a:rPr lang="en-US" altLang="en-US" dirty="0">
                <a:sym typeface="Symbol" pitchFamily="18" charset="2"/>
              </a:rPr>
              <a:t>	c(ABC D) can be larger or smaller than c(AB D)</a:t>
            </a:r>
          </a:p>
          <a:p>
            <a:pPr lvl="3"/>
            <a:endParaRPr lang="en-US" altLang="en-US" dirty="0">
              <a:sym typeface="Symbol" pitchFamily="18" charset="2"/>
            </a:endParaRPr>
          </a:p>
          <a:p>
            <a:r>
              <a:rPr lang="en-US" altLang="en-US" dirty="0">
                <a:sym typeface="Symbol" pitchFamily="18" charset="2"/>
              </a:rPr>
              <a:t>But confidence of rules generated from the same itemset has an anti-monotone property</a:t>
            </a:r>
          </a:p>
          <a:p>
            <a:pPr lvl="1"/>
            <a:r>
              <a:rPr lang="en-US" altLang="en-US" dirty="0">
                <a:sym typeface="Symbol" pitchFamily="18" charset="2"/>
              </a:rPr>
              <a:t>E.g., Suppose {A,B,C,D} is a frequent 4-itemset:</a:t>
            </a:r>
            <a:br>
              <a:rPr lang="en-US" altLang="en-US" dirty="0">
                <a:sym typeface="Symbol" pitchFamily="18" charset="2"/>
              </a:rPr>
            </a:br>
            <a:r>
              <a:rPr lang="en-US" altLang="en-US" dirty="0">
                <a:sym typeface="Symbol" pitchFamily="18" charset="2"/>
              </a:rPr>
              <a:t> </a:t>
            </a:r>
            <a:br>
              <a:rPr lang="en-US" altLang="en-US" dirty="0">
                <a:sym typeface="Symbol" pitchFamily="18" charset="2"/>
              </a:rPr>
            </a:br>
            <a:r>
              <a:rPr lang="en-US" altLang="en-US" dirty="0">
                <a:sym typeface="Symbol" pitchFamily="18" charset="2"/>
              </a:rPr>
              <a:t>		c(ABC  D)  c(AB  CD)  c(A  BCD)</a:t>
            </a:r>
          </a:p>
          <a:p>
            <a:pPr lvl="1">
              <a:buFont typeface="Arial" charset="0"/>
              <a:buNone/>
            </a:pPr>
            <a:r>
              <a:rPr lang="en-US" altLang="en-US" dirty="0">
                <a:sym typeface="Symbol" pitchFamily="18" charset="2"/>
              </a:rPr>
              <a:t> </a:t>
            </a:r>
          </a:p>
          <a:p>
            <a:pPr lvl="1"/>
            <a:r>
              <a:rPr lang="en-US" altLang="en-US" dirty="0">
                <a:sym typeface="Symbol" pitchFamily="18" charset="2"/>
              </a:rPr>
              <a:t> Confidence is anti-monotone </a:t>
            </a:r>
            <a:r>
              <a:rPr lang="en-US" altLang="en-US" dirty="0" err="1">
                <a:sym typeface="Symbol" pitchFamily="18" charset="2"/>
              </a:rPr>
              <a:t>w.r.t.</a:t>
            </a:r>
            <a:r>
              <a:rPr lang="en-US" altLang="en-US" dirty="0">
                <a:sym typeface="Symbol" pitchFamily="18" charset="2"/>
              </a:rPr>
              <a:t> number of items on the RHS of the rule</a:t>
            </a:r>
          </a:p>
        </p:txBody>
      </p:sp>
    </p:spTree>
    <p:extLst>
      <p:ext uri="{BB962C8B-B14F-4D97-AF65-F5344CB8AC3E}">
        <p14:creationId xmlns:p14="http://schemas.microsoft.com/office/powerpoint/2010/main" val="2821405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6931" grpId="0" build="p" bldLvl="2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Rule Generation for Apriori Algorithm</a:t>
            </a:r>
          </a:p>
        </p:txBody>
      </p:sp>
      <p:graphicFrame>
        <p:nvGraphicFramePr>
          <p:cNvPr id="41987" name="Object 2"/>
          <p:cNvGraphicFramePr>
            <a:graphicFrameLocks noChangeAspect="1"/>
          </p:cNvGraphicFramePr>
          <p:nvPr/>
        </p:nvGraphicFramePr>
        <p:xfrm>
          <a:off x="2438400" y="1419226"/>
          <a:ext cx="7620000" cy="429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671306" imgH="4782859" progId="Visio.Drawing.6">
                  <p:embed/>
                </p:oleObj>
              </mc:Choice>
              <mc:Fallback>
                <p:oleObj name="Visio" r:id="rId2" imgW="8671306" imgH="4782859" progId="Visio.Drawing.6">
                  <p:embed/>
                  <p:pic>
                    <p:nvPicPr>
                      <p:cNvPr id="4198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419226"/>
                        <a:ext cx="7620000" cy="429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1981200" y="1066800"/>
            <a:ext cx="2025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>
                <a:solidFill>
                  <a:srgbClr val="CC3300"/>
                </a:solidFill>
                <a:latin typeface="Times New Roman" pitchFamily="18" charset="0"/>
              </a:rPr>
              <a:t>Lattice of rules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905000" y="1419226"/>
            <a:ext cx="8153400" cy="4784725"/>
            <a:chOff x="96" y="894"/>
            <a:chExt cx="5136" cy="3014"/>
          </a:xfrm>
        </p:grpSpPr>
        <p:graphicFrame>
          <p:nvGraphicFramePr>
            <p:cNvPr id="41992" name="Object 3"/>
            <p:cNvGraphicFramePr>
              <a:graphicFrameLocks noChangeAspect="1"/>
            </p:cNvGraphicFramePr>
            <p:nvPr/>
          </p:nvGraphicFramePr>
          <p:xfrm>
            <a:off x="432" y="894"/>
            <a:ext cx="4800" cy="27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8671306" imgH="4782859" progId="Visio.Drawing.6">
                    <p:embed/>
                  </p:oleObj>
                </mc:Choice>
                <mc:Fallback>
                  <p:oleObj name="Visio" r:id="rId4" imgW="8671306" imgH="4782859" progId="Visio.Drawing.6">
                    <p:embed/>
                    <p:pic>
                      <p:nvPicPr>
                        <p:cNvPr id="41992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894"/>
                          <a:ext cx="4800" cy="27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993" name="Freeform 7"/>
            <p:cNvSpPr>
              <a:spLocks/>
            </p:cNvSpPr>
            <p:nvPr/>
          </p:nvSpPr>
          <p:spPr bwMode="auto">
            <a:xfrm>
              <a:off x="320" y="1064"/>
              <a:ext cx="3712" cy="2808"/>
            </a:xfrm>
            <a:custGeom>
              <a:avLst/>
              <a:gdLst>
                <a:gd name="T0" fmla="*/ 256 w 3712"/>
                <a:gd name="T1" fmla="*/ 376 h 2808"/>
                <a:gd name="T2" fmla="*/ 736 w 3712"/>
                <a:gd name="T3" fmla="*/ 88 h 2808"/>
                <a:gd name="T4" fmla="*/ 2176 w 3712"/>
                <a:gd name="T5" fmla="*/ 904 h 2808"/>
                <a:gd name="T6" fmla="*/ 2656 w 3712"/>
                <a:gd name="T7" fmla="*/ 1768 h 2808"/>
                <a:gd name="T8" fmla="*/ 3520 w 3712"/>
                <a:gd name="T9" fmla="*/ 2296 h 2808"/>
                <a:gd name="T10" fmla="*/ 3376 w 3712"/>
                <a:gd name="T11" fmla="*/ 2584 h 2808"/>
                <a:gd name="T12" fmla="*/ 1504 w 3712"/>
                <a:gd name="T13" fmla="*/ 2776 h 2808"/>
                <a:gd name="T14" fmla="*/ 352 w 3712"/>
                <a:gd name="T15" fmla="*/ 2392 h 2808"/>
                <a:gd name="T16" fmla="*/ 16 w 3712"/>
                <a:gd name="T17" fmla="*/ 1288 h 2808"/>
                <a:gd name="T18" fmla="*/ 256 w 3712"/>
                <a:gd name="T19" fmla="*/ 376 h 28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712"/>
                <a:gd name="T31" fmla="*/ 0 h 2808"/>
                <a:gd name="T32" fmla="*/ 3712 w 3712"/>
                <a:gd name="T33" fmla="*/ 2808 h 280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712" h="2808">
                  <a:moveTo>
                    <a:pt x="256" y="376"/>
                  </a:moveTo>
                  <a:cubicBezTo>
                    <a:pt x="376" y="176"/>
                    <a:pt x="416" y="0"/>
                    <a:pt x="736" y="88"/>
                  </a:cubicBezTo>
                  <a:cubicBezTo>
                    <a:pt x="1056" y="176"/>
                    <a:pt x="1856" y="624"/>
                    <a:pt x="2176" y="904"/>
                  </a:cubicBezTo>
                  <a:cubicBezTo>
                    <a:pt x="2496" y="1184"/>
                    <a:pt x="2432" y="1536"/>
                    <a:pt x="2656" y="1768"/>
                  </a:cubicBezTo>
                  <a:cubicBezTo>
                    <a:pt x="2880" y="2000"/>
                    <a:pt x="3400" y="2160"/>
                    <a:pt x="3520" y="2296"/>
                  </a:cubicBezTo>
                  <a:cubicBezTo>
                    <a:pt x="3640" y="2432"/>
                    <a:pt x="3712" y="2504"/>
                    <a:pt x="3376" y="2584"/>
                  </a:cubicBezTo>
                  <a:cubicBezTo>
                    <a:pt x="3040" y="2664"/>
                    <a:pt x="2008" y="2808"/>
                    <a:pt x="1504" y="2776"/>
                  </a:cubicBezTo>
                  <a:cubicBezTo>
                    <a:pt x="1000" y="2744"/>
                    <a:pt x="600" y="2640"/>
                    <a:pt x="352" y="2392"/>
                  </a:cubicBezTo>
                  <a:cubicBezTo>
                    <a:pt x="104" y="2144"/>
                    <a:pt x="32" y="1624"/>
                    <a:pt x="16" y="1288"/>
                  </a:cubicBezTo>
                  <a:cubicBezTo>
                    <a:pt x="0" y="952"/>
                    <a:pt x="136" y="576"/>
                    <a:pt x="256" y="376"/>
                  </a:cubicBezTo>
                  <a:close/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4" name="Text Box 8"/>
            <p:cNvSpPr txBox="1">
              <a:spLocks noChangeArrowheads="1"/>
            </p:cNvSpPr>
            <p:nvPr/>
          </p:nvSpPr>
          <p:spPr bwMode="auto">
            <a:xfrm>
              <a:off x="96" y="3504"/>
              <a:ext cx="72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/>
                <a:t>Pruned Rules</a:t>
              </a:r>
            </a:p>
          </p:txBody>
        </p:sp>
      </p:grpSp>
      <p:sp>
        <p:nvSpPr>
          <p:cNvPr id="41990" name="Line 9"/>
          <p:cNvSpPr>
            <a:spLocks noChangeShapeType="1"/>
          </p:cNvSpPr>
          <p:nvPr/>
        </p:nvSpPr>
        <p:spPr bwMode="auto">
          <a:xfrm>
            <a:off x="2590800" y="2286000"/>
            <a:ext cx="9144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1" name="Text Box 10"/>
          <p:cNvSpPr txBox="1">
            <a:spLocks noChangeArrowheads="1"/>
          </p:cNvSpPr>
          <p:nvPr/>
        </p:nvSpPr>
        <p:spPr bwMode="auto">
          <a:xfrm>
            <a:off x="1828800" y="1600200"/>
            <a:ext cx="13716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Low Confidence Rule</a:t>
            </a:r>
          </a:p>
        </p:txBody>
      </p:sp>
    </p:spTree>
    <p:extLst>
      <p:ext uri="{BB962C8B-B14F-4D97-AF65-F5344CB8AC3E}">
        <p14:creationId xmlns:p14="http://schemas.microsoft.com/office/powerpoint/2010/main" val="4224219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Maximal Frequent Itemset</a:t>
            </a:r>
          </a:p>
        </p:txBody>
      </p:sp>
      <p:graphicFrame>
        <p:nvGraphicFramePr>
          <p:cNvPr id="481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512001"/>
              </p:ext>
            </p:extLst>
          </p:nvPr>
        </p:nvGraphicFramePr>
        <p:xfrm>
          <a:off x="2697626" y="1836517"/>
          <a:ext cx="7140575" cy="487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9687611" imgH="7157416" progId="Visio.Drawing.6">
                  <p:embed/>
                </p:oleObj>
              </mc:Choice>
              <mc:Fallback>
                <p:oleObj name="Visio" r:id="rId2" imgW="9687611" imgH="7157416" progId="Visio.Drawing.6">
                  <p:embed/>
                  <p:pic>
                    <p:nvPicPr>
                      <p:cNvPr id="481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7626" y="1836517"/>
                        <a:ext cx="7140575" cy="487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2" name="Text Box 4"/>
          <p:cNvSpPr txBox="1">
            <a:spLocks noChangeArrowheads="1"/>
          </p:cNvSpPr>
          <p:nvPr/>
        </p:nvSpPr>
        <p:spPr bwMode="auto">
          <a:xfrm>
            <a:off x="8806325" y="6210079"/>
            <a:ext cx="1111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Border</a:t>
            </a:r>
          </a:p>
        </p:txBody>
      </p:sp>
      <p:sp>
        <p:nvSpPr>
          <p:cNvPr id="48133" name="Text Box 5"/>
          <p:cNvSpPr txBox="1">
            <a:spLocks noChangeArrowheads="1"/>
          </p:cNvSpPr>
          <p:nvPr/>
        </p:nvSpPr>
        <p:spPr bwMode="auto">
          <a:xfrm>
            <a:off x="2221375" y="5922741"/>
            <a:ext cx="11112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Infrequent Itemsets</a:t>
            </a:r>
          </a:p>
        </p:txBody>
      </p:sp>
      <p:sp>
        <p:nvSpPr>
          <p:cNvPr id="48134" name="Text Box 6"/>
          <p:cNvSpPr txBox="1">
            <a:spLocks noChangeArrowheads="1"/>
          </p:cNvSpPr>
          <p:nvPr/>
        </p:nvSpPr>
        <p:spPr bwMode="auto">
          <a:xfrm>
            <a:off x="2380125" y="2409604"/>
            <a:ext cx="11128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Maximal Itemsets</a:t>
            </a:r>
          </a:p>
        </p:txBody>
      </p:sp>
      <p:sp>
        <p:nvSpPr>
          <p:cNvPr id="48135" name="Line 7"/>
          <p:cNvSpPr>
            <a:spLocks noChangeShapeType="1"/>
          </p:cNvSpPr>
          <p:nvPr/>
        </p:nvSpPr>
        <p:spPr bwMode="auto">
          <a:xfrm flipH="1">
            <a:off x="2777000" y="4919441"/>
            <a:ext cx="158750" cy="1074738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36" name="Line 8"/>
          <p:cNvSpPr>
            <a:spLocks noChangeShapeType="1"/>
          </p:cNvSpPr>
          <p:nvPr/>
        </p:nvSpPr>
        <p:spPr bwMode="auto">
          <a:xfrm flipH="1" flipV="1">
            <a:off x="3253250" y="2839817"/>
            <a:ext cx="1030288" cy="646113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37" name="Line 9"/>
          <p:cNvSpPr>
            <a:spLocks noChangeShapeType="1"/>
          </p:cNvSpPr>
          <p:nvPr/>
        </p:nvSpPr>
        <p:spPr bwMode="auto">
          <a:xfrm flipH="1">
            <a:off x="3253250" y="4848005"/>
            <a:ext cx="1030288" cy="1146175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38" name="Line 10"/>
          <p:cNvSpPr>
            <a:spLocks noChangeShapeType="1"/>
          </p:cNvSpPr>
          <p:nvPr/>
        </p:nvSpPr>
        <p:spPr bwMode="auto">
          <a:xfrm flipH="1">
            <a:off x="3332625" y="5851305"/>
            <a:ext cx="635000" cy="287337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39" name="Line 11"/>
          <p:cNvSpPr>
            <a:spLocks noChangeShapeType="1"/>
          </p:cNvSpPr>
          <p:nvPr/>
        </p:nvSpPr>
        <p:spPr bwMode="auto">
          <a:xfrm flipH="1" flipV="1">
            <a:off x="3173876" y="6281516"/>
            <a:ext cx="2697163" cy="287338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40" name="Line 12"/>
          <p:cNvSpPr>
            <a:spLocks noChangeShapeType="1"/>
          </p:cNvSpPr>
          <p:nvPr/>
        </p:nvSpPr>
        <p:spPr bwMode="auto">
          <a:xfrm flipH="1" flipV="1">
            <a:off x="3094501" y="2911254"/>
            <a:ext cx="2632075" cy="1668462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41" name="Line 13"/>
          <p:cNvSpPr>
            <a:spLocks noChangeShapeType="1"/>
          </p:cNvSpPr>
          <p:nvPr/>
        </p:nvSpPr>
        <p:spPr bwMode="auto">
          <a:xfrm flipH="1">
            <a:off x="3015126" y="4848005"/>
            <a:ext cx="555625" cy="1074737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42" name="Text Box 14"/>
          <p:cNvSpPr txBox="1">
            <a:spLocks noChangeArrowheads="1"/>
          </p:cNvSpPr>
          <p:nvPr/>
        </p:nvSpPr>
        <p:spPr bwMode="auto">
          <a:xfrm>
            <a:off x="1916575" y="1363442"/>
            <a:ext cx="8305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/>
              <a:t>An </a:t>
            </a:r>
            <a:r>
              <a:rPr lang="en-US" altLang="en-US" sz="2000" dirty="0" err="1"/>
              <a:t>itemset</a:t>
            </a:r>
            <a:r>
              <a:rPr lang="en-US" altLang="en-US" sz="2000" dirty="0"/>
              <a:t> is maximal frequent if it is frequent and  none of its immediate supersets is frequent</a:t>
            </a:r>
          </a:p>
        </p:txBody>
      </p:sp>
    </p:spTree>
    <p:extLst>
      <p:ext uri="{BB962C8B-B14F-4D97-AF65-F5344CB8AC3E}">
        <p14:creationId xmlns:p14="http://schemas.microsoft.com/office/powerpoint/2010/main" val="10185491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Closed Itemset</a:t>
            </a:r>
          </a:p>
        </p:txBody>
      </p:sp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dirty="0"/>
              <a:t>An </a:t>
            </a:r>
            <a:r>
              <a:rPr lang="en-US" altLang="en-US" sz="2400" dirty="0" err="1"/>
              <a:t>itemset</a:t>
            </a:r>
            <a:r>
              <a:rPr lang="en-US" altLang="en-US" sz="2400" dirty="0"/>
              <a:t> X is closed if none of its immediate supersets has the same support as the </a:t>
            </a:r>
            <a:r>
              <a:rPr lang="en-US" altLang="en-US" sz="2400" dirty="0" err="1"/>
              <a:t>itemset</a:t>
            </a:r>
            <a:r>
              <a:rPr lang="en-US" altLang="en-US" sz="2400" dirty="0"/>
              <a:t> X.</a:t>
            </a:r>
          </a:p>
          <a:p>
            <a:r>
              <a:rPr lang="en-US" altLang="en-US" sz="2400" dirty="0">
                <a:solidFill>
                  <a:srgbClr val="FF0000"/>
                </a:solidFill>
              </a:rPr>
              <a:t>X is not closed if at least one of its immediate supersets has support count as X.</a:t>
            </a:r>
          </a:p>
          <a:p>
            <a:pPr>
              <a:buFont typeface="Monotype Sorts" pitchFamily="2" charset="2"/>
              <a:buNone/>
            </a:pPr>
            <a:endParaRPr lang="en-US" altLang="en-US" sz="2000" dirty="0"/>
          </a:p>
        </p:txBody>
      </p:sp>
      <p:graphicFrame>
        <p:nvGraphicFramePr>
          <p:cNvPr id="61444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362200" y="3551238"/>
          <a:ext cx="2032000" cy="178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988871" imgH="1744914" progId="Excel.Sheet.8">
                  <p:embed/>
                </p:oleObj>
              </mc:Choice>
              <mc:Fallback>
                <p:oleObj name="Worksheet" r:id="rId2" imgW="1988871" imgH="1744914" progId="Excel.Sheet.8">
                  <p:embed/>
                  <p:pic>
                    <p:nvPicPr>
                      <p:cNvPr id="614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551238"/>
                        <a:ext cx="2032000" cy="178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5" name="Object 5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5486400" y="2982914"/>
          <a:ext cx="2260600" cy="326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2209698" imgH="3192747" progId="Excel.Sheet.8">
                  <p:embed/>
                </p:oleObj>
              </mc:Choice>
              <mc:Fallback>
                <p:oleObj name="Worksheet" r:id="rId4" imgW="2209698" imgH="3192747" progId="Excel.Sheet.8">
                  <p:embed/>
                  <p:pic>
                    <p:nvPicPr>
                      <p:cNvPr id="614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982914"/>
                        <a:ext cx="2260600" cy="3265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6" name="Object 6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8077200" y="3665538"/>
          <a:ext cx="2209800" cy="174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2209698" imgH="1744914" progId="Excel.Sheet.8">
                  <p:embed/>
                </p:oleObj>
              </mc:Choice>
              <mc:Fallback>
                <p:oleObj name="Worksheet" r:id="rId6" imgW="2209698" imgH="1744914" progId="Excel.Sheet.8">
                  <p:embed/>
                  <p:pic>
                    <p:nvPicPr>
                      <p:cNvPr id="6144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3665538"/>
                        <a:ext cx="2209800" cy="174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22909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Maximal vs Closed </a:t>
            </a:r>
            <a:r>
              <a:rPr lang="en-US" altLang="en-US" dirty="0" err="1"/>
              <a:t>Itemsets</a:t>
            </a:r>
            <a:endParaRPr lang="en-US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258" y="1828800"/>
            <a:ext cx="7787431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3754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Pattern Evaluation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Association rule algorithms can produce large number of rules </a:t>
            </a:r>
          </a:p>
          <a:p>
            <a:pPr lvl="1">
              <a:buFont typeface="Arial" charset="0"/>
              <a:buNone/>
            </a:pPr>
            <a:endParaRPr lang="en-US" altLang="en-US" dirty="0"/>
          </a:p>
          <a:p>
            <a:pPr lvl="1">
              <a:buFont typeface="Arial" charset="0"/>
              <a:buNone/>
            </a:pPr>
            <a:endParaRPr lang="en-US" altLang="en-US" dirty="0"/>
          </a:p>
          <a:p>
            <a:r>
              <a:rPr lang="en-US" altLang="en-US" dirty="0"/>
              <a:t>Interestingness measures can be used to prune/rank the patterns </a:t>
            </a:r>
          </a:p>
          <a:p>
            <a:pPr lvl="1"/>
            <a:r>
              <a:rPr lang="en-US" altLang="en-US" dirty="0"/>
              <a:t>In the original formulation, support &amp; confidence are the only measures used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Computing Interestingness Measure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84163" indent="-284163"/>
            <a:r>
              <a:rPr lang="en-US" altLang="en-US" sz="2400"/>
              <a:t>Given X </a:t>
            </a:r>
            <a:r>
              <a:rPr lang="en-US" altLang="en-US" sz="2400">
                <a:sym typeface="Symbol" pitchFamily="18" charset="2"/>
              </a:rPr>
              <a:t> Y or {X,Y}, i</a:t>
            </a:r>
            <a:r>
              <a:rPr lang="en-US" altLang="en-US" sz="2400"/>
              <a:t>nformation needed to compute interestingness can be obtained from a contingency table</a:t>
            </a:r>
          </a:p>
        </p:txBody>
      </p:sp>
      <p:graphicFrame>
        <p:nvGraphicFramePr>
          <p:cNvPr id="1337348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06522"/>
              </p:ext>
            </p:extLst>
          </p:nvPr>
        </p:nvGraphicFramePr>
        <p:xfrm>
          <a:off x="2045825" y="2981324"/>
          <a:ext cx="3581400" cy="1676400"/>
        </p:xfrm>
        <a:graphic>
          <a:graphicData uri="http://schemas.openxmlformats.org/drawingml/2006/table">
            <a:tbl>
              <a:tblPr/>
              <a:tblGrid>
                <a:gridCol w="89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  <a:r>
                        <a:rPr kumimoji="0" 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8879" name="Text Box 31"/>
          <p:cNvSpPr txBox="1">
            <a:spLocks noChangeArrowheads="1"/>
          </p:cNvSpPr>
          <p:nvPr/>
        </p:nvSpPr>
        <p:spPr bwMode="auto">
          <a:xfrm>
            <a:off x="1893425" y="2519362"/>
            <a:ext cx="419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2000">
                <a:solidFill>
                  <a:srgbClr val="CC0000"/>
                </a:solidFill>
              </a:rPr>
              <a:t>Contingency table</a:t>
            </a:r>
            <a:endParaRPr lang="en-US" altLang="en-US" sz="2400">
              <a:sym typeface="Symbol" pitchFamily="18" charset="2"/>
            </a:endParaRPr>
          </a:p>
        </p:txBody>
      </p:sp>
      <p:grpSp>
        <p:nvGrpSpPr>
          <p:cNvPr id="78880" name="Group 32"/>
          <p:cNvGrpSpPr>
            <a:grpSpLocks/>
          </p:cNvGrpSpPr>
          <p:nvPr/>
        </p:nvGrpSpPr>
        <p:grpSpPr bwMode="auto">
          <a:xfrm>
            <a:off x="6313025" y="2976563"/>
            <a:ext cx="4114800" cy="1570038"/>
            <a:chOff x="1152" y="3024"/>
            <a:chExt cx="2592" cy="989"/>
          </a:xfrm>
        </p:grpSpPr>
        <p:sp>
          <p:nvSpPr>
            <p:cNvPr id="78885" name="Text Box 33"/>
            <p:cNvSpPr txBox="1">
              <a:spLocks noChangeArrowheads="1"/>
            </p:cNvSpPr>
            <p:nvPr/>
          </p:nvSpPr>
          <p:spPr bwMode="auto">
            <a:xfrm>
              <a:off x="1152" y="3024"/>
              <a:ext cx="2592" cy="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2" charset="2"/>
                <a:buNone/>
              </a:pPr>
              <a:r>
                <a:rPr lang="en-US" altLang="en-US" sz="2400"/>
                <a:t>f</a:t>
              </a:r>
              <a:r>
                <a:rPr lang="en-US" altLang="en-US" sz="2000" baseline="-25000"/>
                <a:t>11</a:t>
              </a:r>
              <a:r>
                <a:rPr lang="en-US" altLang="en-US" sz="2400"/>
                <a:t>: support of X and Y</a:t>
              </a:r>
              <a:br>
                <a:rPr lang="en-US" altLang="en-US" sz="2400"/>
              </a:br>
              <a:r>
                <a:rPr lang="en-US" altLang="en-US" sz="2400"/>
                <a:t>f</a:t>
              </a:r>
              <a:r>
                <a:rPr lang="en-US" altLang="en-US" sz="2000" baseline="-25000"/>
                <a:t>10</a:t>
              </a:r>
              <a:r>
                <a:rPr lang="en-US" altLang="en-US" sz="2400"/>
                <a:t>: support of X and Y</a:t>
              </a:r>
              <a:br>
                <a:rPr lang="en-US" altLang="en-US" sz="2400"/>
              </a:br>
              <a:r>
                <a:rPr lang="en-US" altLang="en-US" sz="2400"/>
                <a:t>f</a:t>
              </a:r>
              <a:r>
                <a:rPr lang="en-US" altLang="en-US" sz="2000" baseline="-25000"/>
                <a:t>01</a:t>
              </a:r>
              <a:r>
                <a:rPr lang="en-US" altLang="en-US" sz="2400"/>
                <a:t>: support of X and Y</a:t>
              </a:r>
              <a:br>
                <a:rPr lang="en-US" altLang="en-US" sz="2400"/>
              </a:br>
              <a:r>
                <a:rPr lang="en-US" altLang="en-US" sz="2400"/>
                <a:t>f</a:t>
              </a:r>
              <a:r>
                <a:rPr lang="en-US" altLang="en-US" sz="2000" baseline="-25000"/>
                <a:t>00</a:t>
              </a:r>
              <a:r>
                <a:rPr lang="en-US" altLang="en-US" sz="2400"/>
                <a:t>: support of X and Y</a:t>
              </a:r>
            </a:p>
          </p:txBody>
        </p:sp>
        <p:sp>
          <p:nvSpPr>
            <p:cNvPr id="78886" name="Line 34"/>
            <p:cNvSpPr>
              <a:spLocks noChangeShapeType="1"/>
            </p:cNvSpPr>
            <p:nvPr/>
          </p:nvSpPr>
          <p:spPr bwMode="auto">
            <a:xfrm>
              <a:off x="2928" y="331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887" name="Line 35"/>
            <p:cNvSpPr>
              <a:spLocks noChangeShapeType="1"/>
            </p:cNvSpPr>
            <p:nvPr/>
          </p:nvSpPr>
          <p:spPr bwMode="auto">
            <a:xfrm>
              <a:off x="2400" y="374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888" name="Line 36"/>
            <p:cNvSpPr>
              <a:spLocks noChangeShapeType="1"/>
            </p:cNvSpPr>
            <p:nvPr/>
          </p:nvSpPr>
          <p:spPr bwMode="auto">
            <a:xfrm>
              <a:off x="2389" y="351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889" name="Line 37"/>
            <p:cNvSpPr>
              <a:spLocks noChangeShapeType="1"/>
            </p:cNvSpPr>
            <p:nvPr/>
          </p:nvSpPr>
          <p:spPr bwMode="auto">
            <a:xfrm>
              <a:off x="2928" y="374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8881" name="Text Box 38"/>
          <p:cNvSpPr txBox="1">
            <a:spLocks noChangeArrowheads="1"/>
          </p:cNvSpPr>
          <p:nvPr/>
        </p:nvSpPr>
        <p:spPr bwMode="auto">
          <a:xfrm>
            <a:off x="5551025" y="5110162"/>
            <a:ext cx="4876800" cy="1382713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2400">
                <a:solidFill>
                  <a:srgbClr val="FF0000"/>
                </a:solidFill>
              </a:rPr>
              <a:t>Used to define various measures</a:t>
            </a:r>
          </a:p>
          <a:p>
            <a:pPr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u"/>
            </a:pPr>
            <a:r>
              <a:rPr lang="en-US" altLang="en-US" sz="2400"/>
              <a:t> support, confidence, Gini,</a:t>
            </a:r>
            <a:br>
              <a:rPr lang="en-US" altLang="en-US" sz="2400"/>
            </a:br>
            <a:r>
              <a:rPr lang="en-US" altLang="en-US" sz="2400"/>
              <a:t>   entropy, etc.</a:t>
            </a:r>
          </a:p>
        </p:txBody>
      </p:sp>
      <p:sp>
        <p:nvSpPr>
          <p:cNvPr id="78882" name="Line 39"/>
          <p:cNvSpPr>
            <a:spLocks noChangeShapeType="1"/>
          </p:cNvSpPr>
          <p:nvPr/>
        </p:nvSpPr>
        <p:spPr bwMode="auto">
          <a:xfrm flipH="1" flipV="1">
            <a:off x="4255625" y="4657724"/>
            <a:ext cx="1295400" cy="762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83" name="Line 40"/>
          <p:cNvSpPr>
            <a:spLocks noChangeShapeType="1"/>
          </p:cNvSpPr>
          <p:nvPr/>
        </p:nvSpPr>
        <p:spPr bwMode="auto">
          <a:xfrm flipH="1">
            <a:off x="4187625" y="3027686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84" name="Line 41"/>
          <p:cNvSpPr>
            <a:spLocks noChangeShapeType="1"/>
          </p:cNvSpPr>
          <p:nvPr/>
        </p:nvSpPr>
        <p:spPr bwMode="auto">
          <a:xfrm>
            <a:off x="2426825" y="3864018"/>
            <a:ext cx="152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Drawback of Confidence</a:t>
            </a:r>
          </a:p>
        </p:txBody>
      </p:sp>
      <p:sp>
        <p:nvSpPr>
          <p:cNvPr id="1339424" name="Text Box 32"/>
          <p:cNvSpPr txBox="1">
            <a:spLocks noChangeArrowheads="1"/>
          </p:cNvSpPr>
          <p:nvPr/>
        </p:nvSpPr>
        <p:spPr bwMode="auto">
          <a:xfrm>
            <a:off x="2400300" y="4207840"/>
            <a:ext cx="7391400" cy="2523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latin typeface="Tahoma" pitchFamily="34" charset="0"/>
              </a:rPr>
              <a:t>           </a:t>
            </a:r>
            <a:r>
              <a:rPr lang="en-US" altLang="en-US" sz="2400" dirty="0">
                <a:solidFill>
                  <a:srgbClr val="CC3300"/>
                </a:solidFill>
                <a:latin typeface="Tahoma" pitchFamily="34" charset="0"/>
              </a:rPr>
              <a:t>Association Rule: Tea </a:t>
            </a:r>
            <a:r>
              <a:rPr lang="en-US" altLang="en-US" sz="2400" dirty="0">
                <a:solidFill>
                  <a:srgbClr val="CC3300"/>
                </a:solidFill>
                <a:latin typeface="Tahoma" pitchFamily="34" charset="0"/>
                <a:sym typeface="Symbol" pitchFamily="18" charset="2"/>
              </a:rPr>
              <a:t> Coffee</a:t>
            </a:r>
            <a:br>
              <a:rPr lang="en-US" altLang="en-US" sz="2400" dirty="0">
                <a:solidFill>
                  <a:srgbClr val="CC3300"/>
                </a:solidFill>
                <a:latin typeface="Tahoma" pitchFamily="34" charset="0"/>
                <a:sym typeface="Symbol" pitchFamily="18" charset="2"/>
              </a:rPr>
            </a:br>
            <a:endParaRPr lang="en-US" altLang="en-US" sz="2400" dirty="0">
              <a:solidFill>
                <a:srgbClr val="CC3300"/>
              </a:solidFill>
              <a:latin typeface="Tahoma" pitchFamily="34" charset="0"/>
            </a:endParaRP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latin typeface="Tahoma" pitchFamily="34" charset="0"/>
              </a:rPr>
              <a:t>Confidence </a:t>
            </a:r>
            <a:r>
              <a:rPr lang="en-US" altLang="en-US" sz="2000" dirty="0">
                <a:latin typeface="Tahoma" pitchFamily="34" charset="0"/>
                <a:sym typeface="Symbol" pitchFamily="18" charset="2"/>
              </a:rPr>
              <a:t></a:t>
            </a:r>
            <a:r>
              <a:rPr lang="en-US" altLang="en-US" sz="2000" dirty="0">
                <a:latin typeface="Tahoma" pitchFamily="34" charset="0"/>
              </a:rPr>
              <a:t> P(</a:t>
            </a:r>
            <a:r>
              <a:rPr lang="en-US" altLang="en-US" sz="2000" dirty="0" err="1">
                <a:latin typeface="Tahoma" pitchFamily="34" charset="0"/>
              </a:rPr>
              <a:t>Coffee|Tea</a:t>
            </a:r>
            <a:r>
              <a:rPr lang="en-US" altLang="en-US" sz="2000" dirty="0">
                <a:latin typeface="Tahoma" pitchFamily="34" charset="0"/>
              </a:rPr>
              <a:t>) = 150/200 = </a:t>
            </a:r>
            <a:r>
              <a:rPr lang="en-US" altLang="en-US" sz="2000" dirty="0">
                <a:solidFill>
                  <a:srgbClr val="FF0000"/>
                </a:solidFill>
                <a:latin typeface="Tahoma" pitchFamily="34" charset="0"/>
              </a:rPr>
              <a:t>0.75</a:t>
            </a: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latin typeface="Tahoma" pitchFamily="34" charset="0"/>
              </a:rPr>
              <a:t>Confidence &gt; 50%, meaning people who drink tea are more likely to drink coffee than not drink coffee</a:t>
            </a: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latin typeface="Tahoma" pitchFamily="34" charset="0"/>
              </a:rPr>
              <a:t>So rule seems reasonable</a:t>
            </a:r>
          </a:p>
        </p:txBody>
      </p:sp>
      <p:graphicFrame>
        <p:nvGraphicFramePr>
          <p:cNvPr id="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256693"/>
              </p:ext>
            </p:extLst>
          </p:nvPr>
        </p:nvGraphicFramePr>
        <p:xfrm>
          <a:off x="1790700" y="1459878"/>
          <a:ext cx="3836988" cy="2682874"/>
        </p:xfrm>
        <a:graphic>
          <a:graphicData uri="http://schemas.openxmlformats.org/drawingml/2006/table">
            <a:tbl>
              <a:tblPr/>
              <a:tblGrid>
                <a:gridCol w="959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9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9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92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18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Customers</a:t>
                      </a:r>
                    </a:p>
                  </a:txBody>
                  <a:tcPr marL="91435" marR="91435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Tea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Coffee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C1</a:t>
                      </a:r>
                    </a:p>
                  </a:txBody>
                  <a:tcPr marL="91435" marR="91435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C2</a:t>
                      </a:r>
                    </a:p>
                  </a:txBody>
                  <a:tcPr marL="91435" marR="91435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C3</a:t>
                      </a:r>
                    </a:p>
                  </a:txBody>
                  <a:tcPr marL="91435" marR="91435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3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C4</a:t>
                      </a:r>
                    </a:p>
                  </a:txBody>
                  <a:tcPr marL="91435" marR="91435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3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marL="91435" marR="91435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652" y="1601165"/>
            <a:ext cx="3708049" cy="1828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942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Drawback of Confidence</a:t>
            </a:r>
          </a:p>
        </p:txBody>
      </p:sp>
      <p:graphicFrame>
        <p:nvGraphicFramePr>
          <p:cNvPr id="134041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018783"/>
              </p:ext>
            </p:extLst>
          </p:nvPr>
        </p:nvGraphicFramePr>
        <p:xfrm>
          <a:off x="2590800" y="1543291"/>
          <a:ext cx="4038600" cy="1971676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257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Coffee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Coffee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Tea</a:t>
                      </a: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Tea</a:t>
                      </a: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650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0926" name="Line 30"/>
          <p:cNvSpPr>
            <a:spLocks noChangeShapeType="1"/>
          </p:cNvSpPr>
          <p:nvPr/>
        </p:nvSpPr>
        <p:spPr bwMode="auto">
          <a:xfrm>
            <a:off x="4724400" y="1924291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27" name="Line 31"/>
          <p:cNvSpPr>
            <a:spLocks noChangeShapeType="1"/>
          </p:cNvSpPr>
          <p:nvPr/>
        </p:nvSpPr>
        <p:spPr bwMode="auto">
          <a:xfrm>
            <a:off x="2895600" y="2762491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28" name="Text Box 32"/>
          <p:cNvSpPr txBox="1">
            <a:spLocks noChangeArrowheads="1"/>
          </p:cNvSpPr>
          <p:nvPr/>
        </p:nvSpPr>
        <p:spPr bwMode="auto">
          <a:xfrm>
            <a:off x="2209800" y="3768966"/>
            <a:ext cx="7391400" cy="12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latin typeface="Tahoma" pitchFamily="34" charset="0"/>
              </a:rPr>
              <a:t>           </a:t>
            </a:r>
            <a:r>
              <a:rPr lang="en-US" altLang="en-US" sz="2400" dirty="0">
                <a:solidFill>
                  <a:srgbClr val="CC3300"/>
                </a:solidFill>
                <a:latin typeface="Tahoma" pitchFamily="34" charset="0"/>
              </a:rPr>
              <a:t>Association Rule: Tea </a:t>
            </a:r>
            <a:r>
              <a:rPr lang="en-US" altLang="en-US" sz="2400" dirty="0">
                <a:solidFill>
                  <a:srgbClr val="CC3300"/>
                </a:solidFill>
                <a:latin typeface="Tahoma" pitchFamily="34" charset="0"/>
                <a:sym typeface="Symbol" pitchFamily="18" charset="2"/>
              </a:rPr>
              <a:t> Coffee</a:t>
            </a:r>
            <a:br>
              <a:rPr lang="en-US" altLang="en-US" sz="2400" dirty="0">
                <a:solidFill>
                  <a:srgbClr val="CC3300"/>
                </a:solidFill>
                <a:latin typeface="Tahoma" pitchFamily="34" charset="0"/>
                <a:sym typeface="Symbol" pitchFamily="18" charset="2"/>
              </a:rPr>
            </a:br>
            <a:endParaRPr lang="en-US" altLang="en-US" sz="2400" dirty="0">
              <a:solidFill>
                <a:srgbClr val="CC3300"/>
              </a:solidFill>
              <a:latin typeface="Tahoma" pitchFamily="34" charset="0"/>
            </a:endParaRP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latin typeface="Tahoma" pitchFamily="34" charset="0"/>
              </a:rPr>
              <a:t>Confidence= P(</a:t>
            </a:r>
            <a:r>
              <a:rPr lang="en-US" altLang="en-US" sz="2000" dirty="0" err="1">
                <a:latin typeface="Tahoma" pitchFamily="34" charset="0"/>
              </a:rPr>
              <a:t>Coffee|Tea</a:t>
            </a:r>
            <a:r>
              <a:rPr lang="en-US" altLang="en-US" sz="2000" dirty="0">
                <a:latin typeface="Tahoma" pitchFamily="34" charset="0"/>
              </a:rPr>
              <a:t>) = 150/200 = </a:t>
            </a:r>
            <a:r>
              <a:rPr lang="en-US" altLang="en-US" sz="2000" dirty="0">
                <a:solidFill>
                  <a:srgbClr val="FF0000"/>
                </a:solidFill>
                <a:latin typeface="Tahoma" pitchFamily="34" charset="0"/>
              </a:rPr>
              <a:t>0.75</a:t>
            </a:r>
          </a:p>
        </p:txBody>
      </p:sp>
      <p:sp>
        <p:nvSpPr>
          <p:cNvPr id="80929" name="Line 33"/>
          <p:cNvSpPr>
            <a:spLocks noChangeShapeType="1"/>
          </p:cNvSpPr>
          <p:nvPr/>
        </p:nvSpPr>
        <p:spPr bwMode="auto">
          <a:xfrm>
            <a:off x="5029200" y="5962891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30" name="Text Box 34"/>
          <p:cNvSpPr txBox="1">
            <a:spLocks noChangeArrowheads="1"/>
          </p:cNvSpPr>
          <p:nvPr/>
        </p:nvSpPr>
        <p:spPr bwMode="auto">
          <a:xfrm>
            <a:off x="2362200" y="5200892"/>
            <a:ext cx="7391400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latin typeface="Tahoma" pitchFamily="34" charset="0"/>
              </a:rPr>
              <a:t>but P(Coffee) = </a:t>
            </a:r>
            <a:r>
              <a:rPr lang="en-US" altLang="en-US" sz="2000" dirty="0">
                <a:solidFill>
                  <a:srgbClr val="FF0000"/>
                </a:solidFill>
                <a:latin typeface="Tahoma" pitchFamily="34" charset="0"/>
              </a:rPr>
              <a:t>0.8</a:t>
            </a:r>
            <a:r>
              <a:rPr lang="en-US" altLang="en-US" sz="2000" dirty="0">
                <a:latin typeface="Tahoma" pitchFamily="34" charset="0"/>
              </a:rPr>
              <a:t>, which means knowing </a:t>
            </a:r>
            <a:r>
              <a:rPr lang="en-US" altLang="en-US" sz="2000" dirty="0">
                <a:latin typeface="Tahoma" pitchFamily="34" charset="0"/>
                <a:sym typeface="Symbol" pitchFamily="18" charset="2"/>
              </a:rPr>
              <a:t>that a person drinks tea reduces the probability that the person drinks coffee!</a:t>
            </a: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 typeface="Symbol" pitchFamily="18" charset="2"/>
              <a:buChar char="Þ"/>
            </a:pPr>
            <a:r>
              <a:rPr lang="en-US" altLang="en-US" sz="2000" dirty="0">
                <a:latin typeface="Tahoma" pitchFamily="34" charset="0"/>
              </a:rPr>
              <a:t> Note that P(</a:t>
            </a:r>
            <a:r>
              <a:rPr lang="en-US" altLang="en-US" sz="2000" dirty="0" err="1">
                <a:latin typeface="Tahoma" pitchFamily="34" charset="0"/>
              </a:rPr>
              <a:t>Coffee|Tea</a:t>
            </a:r>
            <a:r>
              <a:rPr lang="en-US" altLang="en-US" sz="2000" dirty="0">
                <a:latin typeface="Tahoma" pitchFamily="34" charset="0"/>
              </a:rPr>
              <a:t>) = 650/800 = 0.8125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Measure for Association Rules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So, what kind of rules do we really want?</a:t>
            </a:r>
          </a:p>
          <a:p>
            <a:pPr lvl="1"/>
            <a:r>
              <a:rPr lang="en-US" altLang="en-US"/>
              <a:t>Confidence(X </a:t>
            </a:r>
            <a:r>
              <a:rPr lang="en-US" altLang="en-US">
                <a:sym typeface="Symbol" pitchFamily="18" charset="2"/>
              </a:rPr>
              <a:t> Y)</a:t>
            </a:r>
            <a:r>
              <a:rPr lang="en-US" altLang="en-US"/>
              <a:t> should be sufficiently high </a:t>
            </a:r>
          </a:p>
          <a:p>
            <a:pPr lvl="2"/>
            <a:r>
              <a:rPr lang="en-US" altLang="en-US"/>
              <a:t> To ensure that people who buy X will more likely buy Y than not buy Y</a:t>
            </a:r>
          </a:p>
          <a:p>
            <a:pPr lvl="1"/>
            <a:endParaRPr lang="en-US" altLang="en-US"/>
          </a:p>
          <a:p>
            <a:pPr lvl="1"/>
            <a:r>
              <a:rPr lang="en-US" altLang="en-US"/>
              <a:t>Confidence(X </a:t>
            </a:r>
            <a:r>
              <a:rPr lang="en-US" altLang="en-US">
                <a:sym typeface="Symbol" pitchFamily="18" charset="2"/>
              </a:rPr>
              <a:t> Y) &gt; support(Y) </a:t>
            </a:r>
          </a:p>
          <a:p>
            <a:pPr lvl="2"/>
            <a:r>
              <a:rPr lang="en-US" altLang="en-US">
                <a:sym typeface="Symbol" pitchFamily="18" charset="2"/>
              </a:rPr>
              <a:t> Otherwise, rule will be misleading because having item X actually reduces the chance of having item Y in the same transaction</a:t>
            </a:r>
          </a:p>
          <a:p>
            <a:pPr lvl="2"/>
            <a:r>
              <a:rPr lang="en-US" altLang="en-US">
                <a:sym typeface="Symbol" pitchFamily="18" charset="2"/>
              </a:rPr>
              <a:t> Is there any measure that capture this constraint?</a:t>
            </a:r>
          </a:p>
          <a:p>
            <a:pPr lvl="3"/>
            <a:r>
              <a:rPr lang="en-US" altLang="en-US">
                <a:sym typeface="Symbol" pitchFamily="18" charset="2"/>
              </a:rPr>
              <a:t>Answer: Yes. There are many of them. 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Statistical Relationship between X and Y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criterion </a:t>
            </a:r>
            <a:br>
              <a:rPr lang="en-US" altLang="en-US" dirty="0"/>
            </a:br>
            <a:r>
              <a:rPr lang="en-US" altLang="en-US" dirty="0"/>
              <a:t>	confidence(X </a:t>
            </a:r>
            <a:r>
              <a:rPr lang="en-US" altLang="en-US" dirty="0">
                <a:sym typeface="Symbol" pitchFamily="18" charset="2"/>
              </a:rPr>
              <a:t> Y) = support(Y) </a:t>
            </a:r>
            <a:br>
              <a:rPr lang="en-US" altLang="en-US" dirty="0">
                <a:sym typeface="Symbol" pitchFamily="18" charset="2"/>
              </a:rPr>
            </a:br>
            <a:endParaRPr lang="en-US" altLang="en-US" dirty="0">
              <a:sym typeface="Symbol" pitchFamily="18" charset="2"/>
            </a:endParaRPr>
          </a:p>
          <a:p>
            <a:pPr>
              <a:buFont typeface="Monotype Sorts" pitchFamily="2" charset="2"/>
              <a:buNone/>
            </a:pPr>
            <a:r>
              <a:rPr lang="en-US" altLang="en-US" dirty="0">
                <a:sym typeface="Symbol" pitchFamily="18" charset="2"/>
              </a:rPr>
              <a:t>	is equivalent to:</a:t>
            </a:r>
          </a:p>
          <a:p>
            <a:pPr lvl="1"/>
            <a:r>
              <a:rPr lang="en-US" altLang="en-US" dirty="0">
                <a:sym typeface="Symbol" pitchFamily="18" charset="2"/>
              </a:rPr>
              <a:t>P(Y|X) = P(Y)</a:t>
            </a:r>
          </a:p>
          <a:p>
            <a:pPr lvl="1"/>
            <a:r>
              <a:rPr lang="en-US" altLang="en-US" dirty="0">
                <a:sym typeface="Symbol" pitchFamily="18" charset="2"/>
              </a:rPr>
              <a:t>P(X,Y) = P(X)  P(Y) (X and Y are independent)</a:t>
            </a:r>
          </a:p>
          <a:p>
            <a:pPr lvl="1">
              <a:buFont typeface="Arial" charset="0"/>
              <a:buNone/>
            </a:pPr>
            <a:r>
              <a:rPr lang="en-US" altLang="en-US" dirty="0">
                <a:sym typeface="Symbol" pitchFamily="18" charset="2"/>
              </a:rPr>
              <a:t>	</a:t>
            </a:r>
          </a:p>
          <a:p>
            <a:pPr lvl="1">
              <a:buFont typeface="Arial" charset="0"/>
              <a:buNone/>
            </a:pPr>
            <a:r>
              <a:rPr lang="en-US" altLang="en-US" dirty="0">
                <a:sym typeface="Symbol" pitchFamily="18" charset="2"/>
              </a:rPr>
              <a:t>If P(X,Y) &gt; P(X) </a:t>
            </a:r>
            <a:r>
              <a:rPr lang="en-US" altLang="en-US" sz="2000" dirty="0">
                <a:sym typeface="Symbol" pitchFamily="18" charset="2"/>
              </a:rPr>
              <a:t></a:t>
            </a:r>
            <a:r>
              <a:rPr lang="en-US" altLang="en-US" dirty="0">
                <a:sym typeface="Symbol" pitchFamily="18" charset="2"/>
              </a:rPr>
              <a:t> P(Y) : X &amp; Y are positively correlated</a:t>
            </a:r>
          </a:p>
          <a:p>
            <a:pPr lvl="1">
              <a:buFont typeface="Arial" charset="0"/>
              <a:buNone/>
            </a:pPr>
            <a:endParaRPr lang="en-US" altLang="en-US" dirty="0">
              <a:sym typeface="Symbol" pitchFamily="18" charset="2"/>
            </a:endParaRPr>
          </a:p>
          <a:p>
            <a:pPr lvl="1">
              <a:buFont typeface="Arial" charset="0"/>
              <a:buNone/>
            </a:pPr>
            <a:r>
              <a:rPr lang="en-US" altLang="en-US" dirty="0">
                <a:sym typeface="Symbol" pitchFamily="18" charset="2"/>
              </a:rPr>
              <a:t>If P(X,Y) &lt; P(X)  P(Y) : X &amp; Y are negatively correlated</a:t>
            </a:r>
          </a:p>
          <a:p>
            <a:pPr lvl="1">
              <a:buFont typeface="Arial" charset="0"/>
              <a:buNone/>
            </a:pPr>
            <a:endParaRPr lang="en-US" altLang="en-US" dirty="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/>
              <a:t>Measures that take into account statistical dependence</a:t>
            </a:r>
          </a:p>
        </p:txBody>
      </p:sp>
      <p:grpSp>
        <p:nvGrpSpPr>
          <p:cNvPr id="83972" name="Group 1"/>
          <p:cNvGrpSpPr>
            <a:grpSpLocks/>
          </p:cNvGrpSpPr>
          <p:nvPr/>
        </p:nvGrpSpPr>
        <p:grpSpPr bwMode="auto">
          <a:xfrm>
            <a:off x="2276476" y="1644650"/>
            <a:ext cx="7694613" cy="3873500"/>
            <a:chOff x="763587" y="2254250"/>
            <a:chExt cx="7694613" cy="3873500"/>
          </a:xfrm>
        </p:grpSpPr>
        <p:graphicFrame>
          <p:nvGraphicFramePr>
            <p:cNvPr id="83973" name="Object 4"/>
            <p:cNvGraphicFramePr>
              <a:graphicFrameLocks noChangeAspect="1"/>
            </p:cNvGraphicFramePr>
            <p:nvPr/>
          </p:nvGraphicFramePr>
          <p:xfrm>
            <a:off x="763587" y="2254250"/>
            <a:ext cx="7464425" cy="3873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035160" imgH="1574640" progId="Equation.3">
                    <p:embed/>
                  </p:oleObj>
                </mc:Choice>
                <mc:Fallback>
                  <p:oleObj name="Equation" r:id="rId2" imgW="3035160" imgH="1574640" progId="Equation.3">
                    <p:embed/>
                    <p:pic>
                      <p:nvPicPr>
                        <p:cNvPr id="83973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3587" y="2254250"/>
                          <a:ext cx="7464425" cy="3873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3974" name="AutoShape 5"/>
            <p:cNvSpPr>
              <a:spLocks/>
            </p:cNvSpPr>
            <p:nvPr/>
          </p:nvSpPr>
          <p:spPr bwMode="auto">
            <a:xfrm>
              <a:off x="4419600" y="2362200"/>
              <a:ext cx="533400" cy="1905000"/>
            </a:xfrm>
            <a:prstGeom prst="rightBrace">
              <a:avLst>
                <a:gd name="adj1" fmla="val 29762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83975" name="Text Box 6"/>
            <p:cNvSpPr txBox="1">
              <a:spLocks noChangeArrowheads="1"/>
            </p:cNvSpPr>
            <p:nvPr/>
          </p:nvSpPr>
          <p:spPr bwMode="auto">
            <a:xfrm>
              <a:off x="5105400" y="2819400"/>
              <a:ext cx="33528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/>
                <a:t>lift is used for rules while interest is used for itemsets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Lift/Interest</a:t>
            </a:r>
          </a:p>
        </p:txBody>
      </p:sp>
      <p:graphicFrame>
        <p:nvGraphicFramePr>
          <p:cNvPr id="134553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78268"/>
              </p:ext>
            </p:extLst>
          </p:nvPr>
        </p:nvGraphicFramePr>
        <p:xfrm>
          <a:off x="2532926" y="1578016"/>
          <a:ext cx="4038600" cy="1971676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257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Coffee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Coffee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Tea</a:t>
                      </a: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Tea</a:t>
                      </a: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650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5022" name="Line 30"/>
          <p:cNvSpPr>
            <a:spLocks noChangeShapeType="1"/>
          </p:cNvSpPr>
          <p:nvPr/>
        </p:nvSpPr>
        <p:spPr bwMode="auto">
          <a:xfrm>
            <a:off x="4666526" y="1959016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023" name="Line 31"/>
          <p:cNvSpPr>
            <a:spLocks noChangeShapeType="1"/>
          </p:cNvSpPr>
          <p:nvPr/>
        </p:nvSpPr>
        <p:spPr bwMode="auto">
          <a:xfrm>
            <a:off x="2837726" y="2797216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024" name="Text Box 32"/>
          <p:cNvSpPr txBox="1">
            <a:spLocks noChangeArrowheads="1"/>
          </p:cNvSpPr>
          <p:nvPr/>
        </p:nvSpPr>
        <p:spPr bwMode="auto">
          <a:xfrm>
            <a:off x="2151926" y="3803691"/>
            <a:ext cx="8077200" cy="2523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latin typeface="Tahoma" pitchFamily="34" charset="0"/>
              </a:rPr>
              <a:t>           </a:t>
            </a:r>
            <a:r>
              <a:rPr lang="en-US" altLang="en-US" sz="2400" dirty="0">
                <a:solidFill>
                  <a:srgbClr val="CC3300"/>
                </a:solidFill>
                <a:latin typeface="Tahoma" pitchFamily="34" charset="0"/>
              </a:rPr>
              <a:t>Association Rule: Tea </a:t>
            </a:r>
            <a:r>
              <a:rPr lang="en-US" altLang="en-US" sz="2400" dirty="0">
                <a:solidFill>
                  <a:srgbClr val="CC3300"/>
                </a:solidFill>
                <a:latin typeface="Tahoma" pitchFamily="34" charset="0"/>
                <a:sym typeface="Symbol" pitchFamily="18" charset="2"/>
              </a:rPr>
              <a:t> Coffee</a:t>
            </a:r>
            <a:br>
              <a:rPr lang="en-US" altLang="en-US" sz="2400" dirty="0">
                <a:solidFill>
                  <a:srgbClr val="CC3300"/>
                </a:solidFill>
                <a:latin typeface="Tahoma" pitchFamily="34" charset="0"/>
                <a:sym typeface="Symbol" pitchFamily="18" charset="2"/>
              </a:rPr>
            </a:br>
            <a:endParaRPr lang="en-US" altLang="en-US" sz="2400" dirty="0">
              <a:solidFill>
                <a:srgbClr val="CC3300"/>
              </a:solidFill>
              <a:latin typeface="Tahoma" pitchFamily="34" charset="0"/>
            </a:endParaRP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latin typeface="Tahoma" pitchFamily="34" charset="0"/>
              </a:rPr>
              <a:t>Confidence= P(</a:t>
            </a:r>
            <a:r>
              <a:rPr lang="en-US" altLang="en-US" sz="2000" dirty="0" err="1">
                <a:latin typeface="Tahoma" pitchFamily="34" charset="0"/>
              </a:rPr>
              <a:t>Coffee|Tea</a:t>
            </a:r>
            <a:r>
              <a:rPr lang="en-US" altLang="en-US" sz="2000" dirty="0">
                <a:latin typeface="Tahoma" pitchFamily="34" charset="0"/>
              </a:rPr>
              <a:t>) = </a:t>
            </a:r>
            <a:r>
              <a:rPr lang="en-US" altLang="en-US" sz="2000" dirty="0">
                <a:solidFill>
                  <a:srgbClr val="FF0000"/>
                </a:solidFill>
                <a:latin typeface="Tahoma" pitchFamily="34" charset="0"/>
              </a:rPr>
              <a:t>0.75</a:t>
            </a: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latin typeface="Tahoma" pitchFamily="34" charset="0"/>
              </a:rPr>
              <a:t>but P(Coffee) = </a:t>
            </a:r>
            <a:r>
              <a:rPr lang="en-US" altLang="en-US" sz="2000" dirty="0">
                <a:solidFill>
                  <a:srgbClr val="FF0000"/>
                </a:solidFill>
                <a:latin typeface="Tahoma" pitchFamily="34" charset="0"/>
              </a:rPr>
              <a:t>0.8</a:t>
            </a: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 typeface="Symbol" pitchFamily="18" charset="2"/>
              <a:buChar char="Þ"/>
            </a:pPr>
            <a:r>
              <a:rPr lang="en-US" altLang="en-US" sz="2000" dirty="0">
                <a:latin typeface="Tahoma" pitchFamily="34" charset="0"/>
                <a:sym typeface="Symbol" pitchFamily="18" charset="2"/>
              </a:rPr>
              <a:t> Interest =</a:t>
            </a:r>
            <a:r>
              <a:rPr lang="en-US" altLang="en-US" sz="2000" dirty="0">
                <a:latin typeface="Tahoma" pitchFamily="34" charset="0"/>
              </a:rPr>
              <a:t> 0.15 / (0.2×0.8) = 0.9375 (&lt; 1, therefore is negatively associated)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Multidimensional AR</a:t>
            </a:r>
            <a:endParaRPr lang="it-IT">
              <a:solidFill>
                <a:schemeClr val="accent1"/>
              </a:solidFill>
              <a:cs typeface="+mj-cs"/>
            </a:endParaRP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1919536" y="1419052"/>
            <a:ext cx="8229600" cy="6518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Comic Sans MS" charset="0"/>
              </a:rPr>
              <a:t>Associations between values of different attributes </a:t>
            </a:r>
            <a:r>
              <a:rPr lang="it-IT">
                <a:latin typeface="Comic Sans MS" charset="0"/>
              </a:rPr>
              <a:t>:</a:t>
            </a:r>
          </a:p>
          <a:p>
            <a:pPr>
              <a:lnSpc>
                <a:spcPct val="40000"/>
              </a:lnSpc>
              <a:spcBef>
                <a:spcPct val="50000"/>
              </a:spcBef>
              <a:defRPr/>
            </a:pPr>
            <a:r>
              <a:rPr lang="it-IT" b="1"/>
              <a:t>	</a:t>
            </a:r>
            <a:endParaRPr lang="it-IT"/>
          </a:p>
        </p:txBody>
      </p:sp>
      <p:graphicFrame>
        <p:nvGraphicFramePr>
          <p:cNvPr id="57349" name="Object 4"/>
          <p:cNvGraphicFramePr>
            <a:graphicFrameLocks noChangeAspect="1"/>
          </p:cNvGraphicFramePr>
          <p:nvPr/>
        </p:nvGraphicFramePr>
        <p:xfrm>
          <a:off x="3260304" y="2029940"/>
          <a:ext cx="5788025" cy="795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" imgW="5792724" imgH="7953756" progId="Word.Document.8">
                  <p:embed/>
                </p:oleObj>
              </mc:Choice>
              <mc:Fallback>
                <p:oleObj name="Documento" r:id="rId2" imgW="5792724" imgH="7953756" progId="Word.Document.8">
                  <p:embed/>
                  <p:pic>
                    <p:nvPicPr>
                      <p:cNvPr id="5734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0304" y="2029940"/>
                        <a:ext cx="5788025" cy="795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1676400" y="4676602"/>
            <a:ext cx="8153400" cy="1649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dirty="0">
                <a:latin typeface="Comic Sans MS" charset="0"/>
              </a:rPr>
              <a:t>RULES:</a:t>
            </a:r>
            <a:endParaRPr lang="it-IT" dirty="0">
              <a:latin typeface="Comic Sans MS" charset="0"/>
            </a:endParaRPr>
          </a:p>
          <a:p>
            <a:pPr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b="1" dirty="0">
                <a:latin typeface="Comic Sans MS" charset="0"/>
              </a:rPr>
              <a:t>nationality</a:t>
            </a:r>
            <a:r>
              <a:rPr lang="it-IT" dirty="0">
                <a:latin typeface="Comic Sans MS" charset="0"/>
              </a:rPr>
              <a:t> = </a:t>
            </a:r>
            <a:r>
              <a:rPr lang="en-US" dirty="0">
                <a:latin typeface="Comic Sans MS" charset="0"/>
              </a:rPr>
              <a:t>French</a:t>
            </a:r>
            <a:r>
              <a:rPr lang="it-IT" dirty="0">
                <a:latin typeface="Comic Sans MS" charset="0"/>
              </a:rPr>
              <a:t> </a:t>
            </a:r>
            <a:r>
              <a:rPr lang="en-US" dirty="0">
                <a:latin typeface="Comic Sans MS" charset="0"/>
              </a:rPr>
              <a:t> </a:t>
            </a:r>
            <a:r>
              <a:rPr kumimoji="1" lang="en-US" b="1" dirty="0">
                <a:latin typeface="Comic Sans MS" charset="0"/>
                <a:sym typeface="Symbol" charset="0"/>
              </a:rPr>
              <a:t></a:t>
            </a:r>
            <a:r>
              <a:rPr lang="it-IT" dirty="0">
                <a:latin typeface="Comic Sans MS" charset="0"/>
              </a:rPr>
              <a:t> </a:t>
            </a:r>
            <a:r>
              <a:rPr lang="en-US" b="1" dirty="0">
                <a:latin typeface="Comic Sans MS" charset="0"/>
              </a:rPr>
              <a:t>income</a:t>
            </a:r>
            <a:r>
              <a:rPr lang="it-IT" dirty="0">
                <a:latin typeface="Comic Sans MS" charset="0"/>
              </a:rPr>
              <a:t> = </a:t>
            </a:r>
            <a:r>
              <a:rPr lang="en-US" dirty="0">
                <a:latin typeface="Comic Sans MS" charset="0"/>
              </a:rPr>
              <a:t>high</a:t>
            </a:r>
            <a:r>
              <a:rPr lang="it-IT" dirty="0">
                <a:latin typeface="Comic Sans MS" charset="0"/>
              </a:rPr>
              <a:t> [50%, 100%]</a:t>
            </a:r>
            <a:endParaRPr lang="en-US" dirty="0">
              <a:latin typeface="Comic Sans MS" charset="0"/>
            </a:endParaRPr>
          </a:p>
          <a:p>
            <a:pPr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b="1" dirty="0">
                <a:latin typeface="Comic Sans MS" charset="0"/>
              </a:rPr>
              <a:t>income</a:t>
            </a:r>
            <a:r>
              <a:rPr lang="it-IT" dirty="0">
                <a:latin typeface="Comic Sans MS" charset="0"/>
              </a:rPr>
              <a:t> = </a:t>
            </a:r>
            <a:r>
              <a:rPr lang="en-US" dirty="0">
                <a:latin typeface="Comic Sans MS" charset="0"/>
              </a:rPr>
              <a:t>high</a:t>
            </a:r>
            <a:r>
              <a:rPr lang="it-IT" dirty="0">
                <a:latin typeface="Comic Sans MS" charset="0"/>
              </a:rPr>
              <a:t> </a:t>
            </a:r>
            <a:r>
              <a:rPr lang="en-US" dirty="0">
                <a:latin typeface="Comic Sans MS" charset="0"/>
              </a:rPr>
              <a:t>	 </a:t>
            </a:r>
            <a:r>
              <a:rPr kumimoji="1" lang="en-US" b="1" dirty="0">
                <a:latin typeface="Comic Sans MS" charset="0"/>
                <a:sym typeface="Symbol" charset="0"/>
              </a:rPr>
              <a:t></a:t>
            </a:r>
            <a:r>
              <a:rPr lang="it-IT" dirty="0">
                <a:latin typeface="Comic Sans MS" charset="0"/>
              </a:rPr>
              <a:t> </a:t>
            </a:r>
            <a:r>
              <a:rPr lang="en-US" b="1" dirty="0">
                <a:latin typeface="Comic Sans MS" charset="0"/>
              </a:rPr>
              <a:t>nationality</a:t>
            </a:r>
            <a:r>
              <a:rPr lang="it-IT" dirty="0">
                <a:latin typeface="Comic Sans MS" charset="0"/>
              </a:rPr>
              <a:t> = </a:t>
            </a:r>
            <a:r>
              <a:rPr lang="en-US" dirty="0">
                <a:latin typeface="Comic Sans MS" charset="0"/>
              </a:rPr>
              <a:t>French </a:t>
            </a:r>
            <a:r>
              <a:rPr lang="it-IT" dirty="0">
                <a:latin typeface="Comic Sans MS" charset="0"/>
              </a:rPr>
              <a:t>[50%, 75%]</a:t>
            </a:r>
            <a:endParaRPr lang="en-US" dirty="0">
              <a:latin typeface="Comic Sans MS" charset="0"/>
            </a:endParaRPr>
          </a:p>
          <a:p>
            <a:pPr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b="1" dirty="0">
                <a:latin typeface="Comic Sans MS" charset="0"/>
              </a:rPr>
              <a:t>age</a:t>
            </a:r>
            <a:r>
              <a:rPr lang="en-US" dirty="0">
                <a:latin typeface="Comic Sans MS" charset="0"/>
              </a:rPr>
              <a:t> </a:t>
            </a:r>
            <a:r>
              <a:rPr lang="it-IT" dirty="0">
                <a:latin typeface="Comic Sans MS" charset="0"/>
              </a:rPr>
              <a:t>= 5</a:t>
            </a:r>
            <a:r>
              <a:rPr lang="en-US" dirty="0">
                <a:latin typeface="Comic Sans MS" charset="0"/>
              </a:rPr>
              <a:t>0 		</a:t>
            </a:r>
            <a:r>
              <a:rPr kumimoji="1" lang="en-US" b="1" dirty="0">
                <a:latin typeface="Comic Sans MS" charset="0"/>
                <a:sym typeface="Symbol" charset="0"/>
              </a:rPr>
              <a:t></a:t>
            </a:r>
            <a:r>
              <a:rPr lang="it-IT" dirty="0">
                <a:latin typeface="Comic Sans MS" charset="0"/>
              </a:rPr>
              <a:t> </a:t>
            </a:r>
            <a:r>
              <a:rPr lang="en-US" b="1" dirty="0">
                <a:latin typeface="Comic Sans MS" charset="0"/>
              </a:rPr>
              <a:t>nationality</a:t>
            </a:r>
            <a:r>
              <a:rPr lang="it-IT" dirty="0">
                <a:latin typeface="Comic Sans MS" charset="0"/>
              </a:rPr>
              <a:t> = </a:t>
            </a:r>
            <a:r>
              <a:rPr lang="en-US" dirty="0">
                <a:latin typeface="Comic Sans MS" charset="0"/>
              </a:rPr>
              <a:t>Italian </a:t>
            </a:r>
            <a:r>
              <a:rPr lang="it-IT" dirty="0">
                <a:latin typeface="Comic Sans MS" charset="0"/>
              </a:rPr>
              <a:t>[33%, 100%]</a:t>
            </a:r>
          </a:p>
          <a:p>
            <a:pPr>
              <a:lnSpc>
                <a:spcPct val="80000"/>
              </a:lnSpc>
              <a:spcBef>
                <a:spcPct val="50000"/>
              </a:spcBef>
              <a:defRPr/>
            </a:pPr>
            <a:endParaRPr lang="it-IT" dirty="0"/>
          </a:p>
        </p:txBody>
      </p:sp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IntroML, 2022  Reg. Ass. &amp; Patter Mining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61</a:t>
            </a:fld>
            <a:endParaRPr lang="en-US" b="1" i="1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EF9DE144-AE3C-5F4E-88B8-82C2805DEB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Continuous and Categorical Attributes</a:t>
            </a:r>
          </a:p>
        </p:txBody>
      </p:sp>
      <p:sp>
        <p:nvSpPr>
          <p:cNvPr id="9218" name="Text Box 57">
            <a:extLst>
              <a:ext uri="{FF2B5EF4-FFF2-40B4-BE49-F238E27FC236}">
                <a16:creationId xmlns:a16="http://schemas.microsoft.com/office/drawing/2014/main" id="{1643A9E4-16CF-444D-9848-107EA665D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203" y="5475791"/>
            <a:ext cx="76962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Example of Association Rule: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       {Gender=Male</a:t>
            </a:r>
            <a:r>
              <a:rPr lang="en-US" altLang="en-US" sz="2000">
                <a:sym typeface="Symbol" pitchFamily="2" charset="2"/>
              </a:rPr>
              <a:t>, Age  [21,30)}  {No of hours online  10}</a:t>
            </a:r>
          </a:p>
        </p:txBody>
      </p:sp>
      <p:sp>
        <p:nvSpPr>
          <p:cNvPr id="9219" name="Text Box 58">
            <a:extLst>
              <a:ext uri="{FF2B5EF4-FFF2-40B4-BE49-F238E27FC236}">
                <a16:creationId xmlns:a16="http://schemas.microsoft.com/office/drawing/2014/main" id="{FF5D53C7-B67E-0442-90A5-1035956101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203" y="1497516"/>
            <a:ext cx="7696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How to apply association analysis to non-asymmetric binary variables?</a:t>
            </a:r>
            <a:endParaRPr lang="en-US" altLang="en-US" sz="2000">
              <a:sym typeface="Symbol" pitchFamily="2" charset="2"/>
            </a:endParaRPr>
          </a:p>
        </p:txBody>
      </p:sp>
      <p:pic>
        <p:nvPicPr>
          <p:cNvPr id="9220" name="Picture 59">
            <a:extLst>
              <a:ext uri="{FF2B5EF4-FFF2-40B4-BE49-F238E27FC236}">
                <a16:creationId xmlns:a16="http://schemas.microsoft.com/office/drawing/2014/main" id="{6E1FD697-0699-3E4B-8446-B9F2085BB3F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03003" y="2527804"/>
            <a:ext cx="6477000" cy="2740025"/>
          </a:xfrm>
          <a:noFill/>
        </p:spPr>
      </p:pic>
    </p:spTree>
    <p:extLst>
      <p:ext uri="{BB962C8B-B14F-4D97-AF65-F5344CB8AC3E}">
        <p14:creationId xmlns:p14="http://schemas.microsoft.com/office/powerpoint/2010/main" val="322938336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>
            <a:extLst>
              <a:ext uri="{FF2B5EF4-FFF2-40B4-BE49-F238E27FC236}">
                <a16:creationId xmlns:a16="http://schemas.microsoft.com/office/drawing/2014/main" id="{10BCDE47-5591-9D4F-9C57-6BC4ACC34D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Handling Categorical Attributes</a:t>
            </a:r>
          </a:p>
        </p:txBody>
      </p:sp>
      <p:sp>
        <p:nvSpPr>
          <p:cNvPr id="10242" name="Rectangle 6">
            <a:extLst>
              <a:ext uri="{FF2B5EF4-FFF2-40B4-BE49-F238E27FC236}">
                <a16:creationId xmlns:a16="http://schemas.microsoft.com/office/drawing/2014/main" id="{3C0049C8-22EF-F84C-BEBE-AB3E9368F5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Example: Internet Usage Data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pPr lvl="1">
              <a:buFont typeface="Arial" panose="020B0604020202020204" pitchFamily="34" charset="0"/>
              <a:buNone/>
            </a:pPr>
            <a:r>
              <a:rPr lang="en-US" altLang="en-US"/>
              <a:t>{Level of Education=Graduate, </a:t>
            </a:r>
            <a:r>
              <a:rPr lang="en-US" altLang="en-US">
                <a:sym typeface="Symbol" pitchFamily="2" charset="2"/>
              </a:rPr>
              <a:t>Online Banking=Yes} </a:t>
            </a:r>
            <a:br>
              <a:rPr lang="en-US" altLang="en-US">
                <a:sym typeface="Symbol" pitchFamily="2" charset="2"/>
              </a:rPr>
            </a:br>
            <a:r>
              <a:rPr lang="en-US" altLang="en-US">
                <a:sym typeface="Symbol" pitchFamily="2" charset="2"/>
              </a:rPr>
              <a:t> {Privacy Concerns = Yes}</a:t>
            </a:r>
          </a:p>
        </p:txBody>
      </p:sp>
      <p:pic>
        <p:nvPicPr>
          <p:cNvPr id="10243" name="Picture 4">
            <a:extLst>
              <a:ext uri="{FF2B5EF4-FFF2-40B4-BE49-F238E27FC236}">
                <a16:creationId xmlns:a16="http://schemas.microsoft.com/office/drawing/2014/main" id="{16D6F2F7-D52C-A44E-98F7-B3B7BAC8251C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69939" y="2525210"/>
            <a:ext cx="7162800" cy="2420938"/>
          </a:xfrm>
          <a:noFill/>
        </p:spPr>
      </p:pic>
    </p:spTree>
    <p:extLst>
      <p:ext uri="{BB962C8B-B14F-4D97-AF65-F5344CB8AC3E}">
        <p14:creationId xmlns:p14="http://schemas.microsoft.com/office/powerpoint/2010/main" val="113281475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cs typeface="+mj-cs"/>
              </a:rPr>
              <a:t>Single-dimensional </a:t>
            </a:r>
            <a:r>
              <a:rPr lang="en-US" dirty="0" err="1">
                <a:cs typeface="+mj-cs"/>
              </a:rPr>
              <a:t>vs</a:t>
            </a:r>
            <a:r>
              <a:rPr lang="en-US" dirty="0">
                <a:cs typeface="+mj-cs"/>
              </a:rPr>
              <a:t> Multi-dimensional AR</a:t>
            </a:r>
            <a:endParaRPr lang="it-IT" dirty="0">
              <a:cs typeface="+mj-cs"/>
            </a:endParaRPr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1752600" y="1447801"/>
            <a:ext cx="8686800" cy="3567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b="1">
                <a:solidFill>
                  <a:schemeClr val="tx2"/>
                </a:solidFill>
                <a:latin typeface="Comic Sans MS" charset="0"/>
              </a:rPr>
              <a:t>Multi-dimensional</a:t>
            </a:r>
            <a:r>
              <a:rPr lang="it-IT" b="1">
                <a:latin typeface="Comic Sans MS" charset="0"/>
              </a:rPr>
              <a:t> 			 </a:t>
            </a:r>
            <a:r>
              <a:rPr kumimoji="1" lang="en-US" b="1">
                <a:solidFill>
                  <a:schemeClr val="tx2"/>
                </a:solidFill>
                <a:latin typeface="Comic Sans MS" charset="0"/>
              </a:rPr>
              <a:t>Single-dimensional</a:t>
            </a:r>
            <a:r>
              <a:rPr kumimoji="1" lang="en-US" sz="3200" b="1">
                <a:solidFill>
                  <a:schemeClr val="tx2"/>
                </a:solidFill>
                <a:latin typeface="Comic Sans MS" charset="0"/>
              </a:rPr>
              <a:t> </a:t>
            </a:r>
            <a:endParaRPr lang="it-IT">
              <a:latin typeface="Comic Sans MS" charset="0"/>
            </a:endParaRPr>
          </a:p>
          <a:p>
            <a:pPr>
              <a:lnSpc>
                <a:spcPct val="30000"/>
              </a:lnSpc>
              <a:spcBef>
                <a:spcPct val="50000"/>
              </a:spcBef>
              <a:defRPr/>
            </a:pPr>
            <a:endParaRPr lang="it-IT" sz="2000">
              <a:latin typeface="Comic Sans MS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it-IT" sz="2000">
                <a:solidFill>
                  <a:srgbClr val="0099FF"/>
                </a:solidFill>
                <a:latin typeface="Comic Sans MS" charset="0"/>
              </a:rPr>
              <a:t>&lt;1, </a:t>
            </a:r>
            <a:r>
              <a:rPr lang="en-US" sz="2000">
                <a:solidFill>
                  <a:srgbClr val="0099FF"/>
                </a:solidFill>
                <a:latin typeface="Comic Sans MS" charset="0"/>
              </a:rPr>
              <a:t>Italian</a:t>
            </a:r>
            <a:r>
              <a:rPr lang="it-IT" sz="2000">
                <a:solidFill>
                  <a:srgbClr val="0099FF"/>
                </a:solidFill>
                <a:latin typeface="Comic Sans MS" charset="0"/>
              </a:rPr>
              <a:t>, 50, </a:t>
            </a:r>
            <a:r>
              <a:rPr lang="en-US" sz="2000">
                <a:solidFill>
                  <a:srgbClr val="0099FF"/>
                </a:solidFill>
                <a:latin typeface="Comic Sans MS" charset="0"/>
              </a:rPr>
              <a:t>low</a:t>
            </a:r>
            <a:r>
              <a:rPr lang="it-IT" sz="2000">
                <a:solidFill>
                  <a:srgbClr val="0099FF"/>
                </a:solidFill>
                <a:latin typeface="Comic Sans MS" charset="0"/>
              </a:rPr>
              <a:t>&gt;			&lt;1, {na</a:t>
            </a:r>
            <a:r>
              <a:rPr lang="en-US" sz="2000">
                <a:solidFill>
                  <a:srgbClr val="0099FF"/>
                </a:solidFill>
                <a:latin typeface="Comic Sans MS" charset="0"/>
              </a:rPr>
              <a:t>t</a:t>
            </a:r>
            <a:r>
              <a:rPr lang="it-IT" sz="2000">
                <a:solidFill>
                  <a:srgbClr val="0099FF"/>
                </a:solidFill>
                <a:latin typeface="Comic Sans MS" charset="0"/>
              </a:rPr>
              <a:t>/</a:t>
            </a:r>
            <a:r>
              <a:rPr lang="en-US" sz="2000">
                <a:solidFill>
                  <a:srgbClr val="0099FF"/>
                </a:solidFill>
                <a:latin typeface="Comic Sans MS" charset="0"/>
              </a:rPr>
              <a:t>I</a:t>
            </a:r>
            <a:r>
              <a:rPr lang="it-IT" sz="2000">
                <a:solidFill>
                  <a:srgbClr val="0099FF"/>
                </a:solidFill>
                <a:latin typeface="Comic Sans MS" charset="0"/>
              </a:rPr>
              <a:t>ta, </a:t>
            </a:r>
            <a:r>
              <a:rPr lang="en-US" sz="2000">
                <a:solidFill>
                  <a:srgbClr val="0099FF"/>
                </a:solidFill>
                <a:latin typeface="Comic Sans MS" charset="0"/>
              </a:rPr>
              <a:t>age</a:t>
            </a:r>
            <a:r>
              <a:rPr lang="it-IT" sz="2000">
                <a:solidFill>
                  <a:srgbClr val="0099FF"/>
                </a:solidFill>
                <a:latin typeface="Comic Sans MS" charset="0"/>
              </a:rPr>
              <a:t>/50, </a:t>
            </a:r>
            <a:r>
              <a:rPr lang="en-US" sz="2000">
                <a:solidFill>
                  <a:srgbClr val="0099FF"/>
                </a:solidFill>
                <a:latin typeface="Comic Sans MS" charset="0"/>
              </a:rPr>
              <a:t>inc</a:t>
            </a:r>
            <a:r>
              <a:rPr lang="it-IT" sz="2000">
                <a:solidFill>
                  <a:srgbClr val="0099FF"/>
                </a:solidFill>
                <a:latin typeface="Comic Sans MS" charset="0"/>
              </a:rPr>
              <a:t>/</a:t>
            </a:r>
            <a:r>
              <a:rPr lang="en-US" sz="2000">
                <a:solidFill>
                  <a:srgbClr val="0099FF"/>
                </a:solidFill>
                <a:latin typeface="Comic Sans MS" charset="0"/>
              </a:rPr>
              <a:t>low</a:t>
            </a:r>
            <a:r>
              <a:rPr lang="it-IT" sz="2000">
                <a:solidFill>
                  <a:srgbClr val="0099FF"/>
                </a:solidFill>
                <a:latin typeface="Comic Sans MS" charset="0"/>
              </a:rPr>
              <a:t>}&gt;</a:t>
            </a:r>
            <a:endParaRPr lang="it-IT">
              <a:solidFill>
                <a:srgbClr val="0099FF"/>
              </a:solidFill>
              <a:latin typeface="Comic Sans MS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it-IT" sz="2000">
                <a:solidFill>
                  <a:srgbClr val="0099FF"/>
                </a:solidFill>
                <a:latin typeface="Comic Sans MS" charset="0"/>
              </a:rPr>
              <a:t>&lt;2, </a:t>
            </a:r>
            <a:r>
              <a:rPr lang="en-US" sz="2000">
                <a:solidFill>
                  <a:srgbClr val="0099FF"/>
                </a:solidFill>
                <a:latin typeface="Comic Sans MS" charset="0"/>
              </a:rPr>
              <a:t>French</a:t>
            </a:r>
            <a:r>
              <a:rPr lang="it-IT" sz="2000">
                <a:solidFill>
                  <a:srgbClr val="0099FF"/>
                </a:solidFill>
                <a:latin typeface="Comic Sans MS" charset="0"/>
              </a:rPr>
              <a:t>, 45, </a:t>
            </a:r>
            <a:r>
              <a:rPr lang="en-US" sz="2000">
                <a:solidFill>
                  <a:srgbClr val="0099FF"/>
                </a:solidFill>
                <a:latin typeface="Comic Sans MS" charset="0"/>
              </a:rPr>
              <a:t>high</a:t>
            </a:r>
            <a:r>
              <a:rPr lang="it-IT" sz="2000">
                <a:solidFill>
                  <a:srgbClr val="0099FF"/>
                </a:solidFill>
                <a:latin typeface="Comic Sans MS" charset="0"/>
              </a:rPr>
              <a:t>&gt;			&lt;2, {na</a:t>
            </a:r>
            <a:r>
              <a:rPr lang="en-US" sz="2000">
                <a:solidFill>
                  <a:srgbClr val="0099FF"/>
                </a:solidFill>
                <a:latin typeface="Comic Sans MS" charset="0"/>
              </a:rPr>
              <a:t>t</a:t>
            </a:r>
            <a:r>
              <a:rPr lang="it-IT" sz="2000">
                <a:solidFill>
                  <a:srgbClr val="0099FF"/>
                </a:solidFill>
                <a:latin typeface="Comic Sans MS" charset="0"/>
              </a:rPr>
              <a:t>/</a:t>
            </a:r>
            <a:r>
              <a:rPr lang="en-US" sz="2000">
                <a:solidFill>
                  <a:srgbClr val="0099FF"/>
                </a:solidFill>
                <a:latin typeface="Comic Sans MS" charset="0"/>
              </a:rPr>
              <a:t>Fre</a:t>
            </a:r>
            <a:r>
              <a:rPr lang="it-IT" sz="2000">
                <a:solidFill>
                  <a:srgbClr val="0099FF"/>
                </a:solidFill>
                <a:latin typeface="Comic Sans MS" charset="0"/>
              </a:rPr>
              <a:t>, </a:t>
            </a:r>
            <a:r>
              <a:rPr lang="en-US" sz="2000">
                <a:solidFill>
                  <a:srgbClr val="0099FF"/>
                </a:solidFill>
                <a:latin typeface="Comic Sans MS" charset="0"/>
              </a:rPr>
              <a:t>age</a:t>
            </a:r>
            <a:r>
              <a:rPr lang="it-IT" sz="2000">
                <a:solidFill>
                  <a:srgbClr val="0099FF"/>
                </a:solidFill>
                <a:latin typeface="Comic Sans MS" charset="0"/>
              </a:rPr>
              <a:t>/45, </a:t>
            </a:r>
            <a:r>
              <a:rPr lang="en-US" sz="2000">
                <a:solidFill>
                  <a:srgbClr val="0099FF"/>
                </a:solidFill>
                <a:latin typeface="Comic Sans MS" charset="0"/>
              </a:rPr>
              <a:t>inc</a:t>
            </a:r>
            <a:r>
              <a:rPr lang="it-IT" sz="2000">
                <a:solidFill>
                  <a:srgbClr val="0099FF"/>
                </a:solidFill>
                <a:latin typeface="Comic Sans MS" charset="0"/>
              </a:rPr>
              <a:t>/</a:t>
            </a:r>
            <a:r>
              <a:rPr lang="en-US" sz="2000">
                <a:solidFill>
                  <a:srgbClr val="0099FF"/>
                </a:solidFill>
                <a:latin typeface="Comic Sans MS" charset="0"/>
              </a:rPr>
              <a:t>high</a:t>
            </a:r>
            <a:r>
              <a:rPr lang="it-IT" sz="2000">
                <a:solidFill>
                  <a:srgbClr val="0099FF"/>
                </a:solidFill>
                <a:latin typeface="Comic Sans MS" charset="0"/>
              </a:rPr>
              <a:t>}&gt;</a:t>
            </a:r>
            <a:endParaRPr lang="it-IT" sz="2000">
              <a:latin typeface="Comic Sans MS" charset="0"/>
            </a:endParaRPr>
          </a:p>
          <a:p>
            <a:pPr>
              <a:spcBef>
                <a:spcPct val="50000"/>
              </a:spcBef>
              <a:defRPr/>
            </a:pPr>
            <a:endParaRPr lang="it-IT" sz="2000">
              <a:latin typeface="Comic Sans MS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it-IT" sz="2000">
                <a:latin typeface="Comic Sans MS" charset="0"/>
              </a:rPr>
              <a:t>Schema: &lt;ID, a?, b?, c?, d?&gt;</a:t>
            </a:r>
          </a:p>
          <a:p>
            <a:pPr>
              <a:spcBef>
                <a:spcPct val="50000"/>
              </a:spcBef>
              <a:defRPr/>
            </a:pPr>
            <a:r>
              <a:rPr lang="it-IT" sz="2000">
                <a:solidFill>
                  <a:srgbClr val="0099FF"/>
                </a:solidFill>
                <a:latin typeface="Comic Sans MS" charset="0"/>
              </a:rPr>
              <a:t>&lt;1, </a:t>
            </a:r>
            <a:r>
              <a:rPr lang="en-US" sz="2000">
                <a:solidFill>
                  <a:srgbClr val="0099FF"/>
                </a:solidFill>
                <a:latin typeface="Comic Sans MS" charset="0"/>
              </a:rPr>
              <a:t>yes</a:t>
            </a:r>
            <a:r>
              <a:rPr lang="it-IT" sz="2000">
                <a:solidFill>
                  <a:srgbClr val="0099FF"/>
                </a:solidFill>
                <a:latin typeface="Comic Sans MS" charset="0"/>
              </a:rPr>
              <a:t>, </a:t>
            </a:r>
            <a:r>
              <a:rPr lang="en-US" sz="2000">
                <a:solidFill>
                  <a:srgbClr val="0099FF"/>
                </a:solidFill>
                <a:latin typeface="Comic Sans MS" charset="0"/>
              </a:rPr>
              <a:t>yes</a:t>
            </a:r>
            <a:r>
              <a:rPr lang="it-IT" sz="2000">
                <a:solidFill>
                  <a:srgbClr val="0099FF"/>
                </a:solidFill>
                <a:latin typeface="Comic Sans MS" charset="0"/>
              </a:rPr>
              <a:t>, no, no&gt;				&lt;1, {a, b}&gt;</a:t>
            </a:r>
          </a:p>
          <a:p>
            <a:pPr>
              <a:spcBef>
                <a:spcPct val="50000"/>
              </a:spcBef>
              <a:defRPr/>
            </a:pPr>
            <a:r>
              <a:rPr lang="it-IT" sz="2000">
                <a:solidFill>
                  <a:srgbClr val="0099FF"/>
                </a:solidFill>
                <a:latin typeface="Comic Sans MS" charset="0"/>
              </a:rPr>
              <a:t>&lt;2, </a:t>
            </a:r>
            <a:r>
              <a:rPr lang="en-US" sz="2000">
                <a:solidFill>
                  <a:srgbClr val="0099FF"/>
                </a:solidFill>
                <a:latin typeface="Comic Sans MS" charset="0"/>
              </a:rPr>
              <a:t>yes</a:t>
            </a:r>
            <a:r>
              <a:rPr lang="it-IT" sz="2000">
                <a:solidFill>
                  <a:srgbClr val="0099FF"/>
                </a:solidFill>
                <a:latin typeface="Comic Sans MS" charset="0"/>
              </a:rPr>
              <a:t>, no, </a:t>
            </a:r>
            <a:r>
              <a:rPr lang="en-US" sz="2000">
                <a:solidFill>
                  <a:srgbClr val="0099FF"/>
                </a:solidFill>
                <a:latin typeface="Comic Sans MS" charset="0"/>
              </a:rPr>
              <a:t>yes</a:t>
            </a:r>
            <a:r>
              <a:rPr lang="it-IT" sz="2000">
                <a:solidFill>
                  <a:srgbClr val="0099FF"/>
                </a:solidFill>
                <a:latin typeface="Comic Sans MS" charset="0"/>
              </a:rPr>
              <a:t>, no&gt;				&lt;2, {a, c}&gt;</a:t>
            </a:r>
          </a:p>
        </p:txBody>
      </p:sp>
      <p:sp>
        <p:nvSpPr>
          <p:cNvPr id="20485" name="AutoShape 5"/>
          <p:cNvSpPr>
            <a:spLocks noChangeArrowheads="1"/>
          </p:cNvSpPr>
          <p:nvPr/>
        </p:nvSpPr>
        <p:spPr bwMode="auto">
          <a:xfrm>
            <a:off x="4800600" y="2438400"/>
            <a:ext cx="1295400" cy="457200"/>
          </a:xfrm>
          <a:prstGeom prst="rightArrow">
            <a:avLst>
              <a:gd name="adj1" fmla="val 50000"/>
              <a:gd name="adj2" fmla="val 708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486" name="AutoShape 6"/>
          <p:cNvSpPr>
            <a:spLocks noChangeArrowheads="1"/>
          </p:cNvSpPr>
          <p:nvPr/>
        </p:nvSpPr>
        <p:spPr bwMode="auto">
          <a:xfrm>
            <a:off x="4724400" y="4191000"/>
            <a:ext cx="1371600" cy="457200"/>
          </a:xfrm>
          <a:prstGeom prst="lef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IntroML, 2022  Reg. Ass. &amp; Patter Mining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64</a:t>
            </a:fld>
            <a:endParaRPr lang="en-US" b="1" i="1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EE5C5D33-1D5F-A84B-B544-36C15DE0C4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Handling Categorical Attributes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8CA930FD-13E1-FD4F-8B6D-5153D033D3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Introduce a new “item” for each distinct attribute-value pair</a:t>
            </a:r>
          </a:p>
        </p:txBody>
      </p:sp>
      <p:pic>
        <p:nvPicPr>
          <p:cNvPr id="11267" name="Picture 4">
            <a:extLst>
              <a:ext uri="{FF2B5EF4-FFF2-40B4-BE49-F238E27FC236}">
                <a16:creationId xmlns:a16="http://schemas.microsoft.com/office/drawing/2014/main" id="{34BA92CE-E878-604D-9CC8-1D09238533D7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0" y="2590800"/>
            <a:ext cx="7696200" cy="2795588"/>
          </a:xfrm>
          <a:noFill/>
        </p:spPr>
      </p:pic>
    </p:spTree>
    <p:extLst>
      <p:ext uri="{BB962C8B-B14F-4D97-AF65-F5344CB8AC3E}">
        <p14:creationId xmlns:p14="http://schemas.microsoft.com/office/powerpoint/2010/main" val="218345086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>
            <a:extLst>
              <a:ext uri="{FF2B5EF4-FFF2-40B4-BE49-F238E27FC236}">
                <a16:creationId xmlns:a16="http://schemas.microsoft.com/office/drawing/2014/main" id="{32133B99-B885-A541-BB2F-21CB1338E2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Handling Categorical Attributes</a:t>
            </a:r>
          </a:p>
        </p:txBody>
      </p:sp>
      <p:sp>
        <p:nvSpPr>
          <p:cNvPr id="12290" name="Rectangle 3">
            <a:extLst>
              <a:ext uri="{FF2B5EF4-FFF2-40B4-BE49-F238E27FC236}">
                <a16:creationId xmlns:a16="http://schemas.microsoft.com/office/drawing/2014/main" id="{23E5CD9C-4FF0-764B-9B2F-C50E465A68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Some attributes can have many possible values</a:t>
            </a:r>
          </a:p>
          <a:p>
            <a:pPr lvl="1"/>
            <a:r>
              <a:rPr lang="en-US" altLang="en-US"/>
              <a:t> Many of their attribute values have very low support</a:t>
            </a:r>
          </a:p>
          <a:p>
            <a:pPr lvl="2"/>
            <a:r>
              <a:rPr lang="en-US" altLang="en-US"/>
              <a:t> Potential solution: Aggregate the low-support attribute values</a:t>
            </a:r>
          </a:p>
        </p:txBody>
      </p:sp>
      <p:pic>
        <p:nvPicPr>
          <p:cNvPr id="12291" name="Picture 4">
            <a:extLst>
              <a:ext uri="{FF2B5EF4-FFF2-40B4-BE49-F238E27FC236}">
                <a16:creationId xmlns:a16="http://schemas.microsoft.com/office/drawing/2014/main" id="{4ECD1424-A835-464A-A668-CC096024E572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7"/>
          <a:stretch>
            <a:fillRect/>
          </a:stretch>
        </p:blipFill>
        <p:spPr>
          <a:xfrm>
            <a:off x="3505200" y="3165475"/>
            <a:ext cx="5181600" cy="3692525"/>
          </a:xfrm>
          <a:noFill/>
        </p:spPr>
      </p:pic>
    </p:spTree>
    <p:extLst>
      <p:ext uri="{BB962C8B-B14F-4D97-AF65-F5344CB8AC3E}">
        <p14:creationId xmlns:p14="http://schemas.microsoft.com/office/powerpoint/2010/main" val="125762441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E175F8E6-8839-444B-8D00-37CE731910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Handling Continuous Attributes</a:t>
            </a:r>
          </a:p>
        </p:txBody>
      </p:sp>
      <p:sp>
        <p:nvSpPr>
          <p:cNvPr id="14338" name="Rectangle 3">
            <a:extLst>
              <a:ext uri="{FF2B5EF4-FFF2-40B4-BE49-F238E27FC236}">
                <a16:creationId xmlns:a16="http://schemas.microsoft.com/office/drawing/2014/main" id="{2D7A0B06-EBBC-904F-885E-4869A4165C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sym typeface="Symbol" pitchFamily="2" charset="2"/>
              </a:rPr>
              <a:t>Different methods:</a:t>
            </a:r>
          </a:p>
          <a:p>
            <a:pPr lvl="1"/>
            <a:r>
              <a:rPr lang="en-US" altLang="en-US">
                <a:sym typeface="Symbol" pitchFamily="2" charset="2"/>
              </a:rPr>
              <a:t>Discretization-based</a:t>
            </a:r>
          </a:p>
          <a:p>
            <a:pPr lvl="1"/>
            <a:r>
              <a:rPr lang="en-US" altLang="en-US">
                <a:sym typeface="Symbol" pitchFamily="2" charset="2"/>
              </a:rPr>
              <a:t>Statistics-based</a:t>
            </a:r>
          </a:p>
          <a:p>
            <a:pPr lvl="1"/>
            <a:r>
              <a:rPr lang="en-US" altLang="en-US">
                <a:sym typeface="Symbol" pitchFamily="2" charset="2"/>
              </a:rPr>
              <a:t>Non-discretization based</a:t>
            </a:r>
          </a:p>
          <a:p>
            <a:pPr lvl="2"/>
            <a:r>
              <a:rPr lang="en-US" altLang="en-US">
                <a:sym typeface="Symbol" pitchFamily="2" charset="2"/>
              </a:rPr>
              <a:t> minApriori</a:t>
            </a:r>
          </a:p>
          <a:p>
            <a:pPr lvl="2"/>
            <a:endParaRPr lang="en-US" altLang="en-US">
              <a:sym typeface="Symbol" pitchFamily="2" charset="2"/>
            </a:endParaRPr>
          </a:p>
          <a:p>
            <a:r>
              <a:rPr lang="en-US" altLang="en-US"/>
              <a:t>Different kinds of rules can be produced:</a:t>
            </a:r>
          </a:p>
          <a:p>
            <a:pPr lvl="1"/>
            <a:r>
              <a:rPr lang="en-US" altLang="en-US"/>
              <a:t>{Age</a:t>
            </a:r>
            <a:r>
              <a:rPr lang="en-US" altLang="en-US">
                <a:sym typeface="Symbol" pitchFamily="2" charset="2"/>
              </a:rPr>
              <a:t>[21,30), No of hours online[10,20)}</a:t>
            </a:r>
            <a:br>
              <a:rPr lang="en-US" altLang="en-US">
                <a:sym typeface="Symbol" pitchFamily="2" charset="2"/>
              </a:rPr>
            </a:br>
            <a:r>
              <a:rPr lang="en-US" altLang="en-US">
                <a:sym typeface="Symbol" pitchFamily="2" charset="2"/>
              </a:rPr>
              <a:t> {Chat Online =Yes}</a:t>
            </a:r>
          </a:p>
          <a:p>
            <a:pPr lvl="1"/>
            <a:r>
              <a:rPr lang="en-US" altLang="en-US">
                <a:sym typeface="Symbol" pitchFamily="2" charset="2"/>
              </a:rPr>
              <a:t>{Age[21,30), Chat Online = Yes}</a:t>
            </a:r>
            <a:br>
              <a:rPr lang="en-US" altLang="en-US">
                <a:sym typeface="Symbol" pitchFamily="2" charset="2"/>
              </a:rPr>
            </a:br>
            <a:r>
              <a:rPr lang="en-US" altLang="en-US">
                <a:sym typeface="Symbol" pitchFamily="2" charset="2"/>
              </a:rPr>
              <a:t> No of hours online: =14, =4</a:t>
            </a:r>
          </a:p>
          <a:p>
            <a:pPr lvl="2"/>
            <a:endParaRPr lang="en-US" altLang="en-US">
              <a:sym typeface="Symbol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12543543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>
                <a:cs typeface="+mj-cs"/>
              </a:rPr>
              <a:t>Quantitative </a:t>
            </a:r>
            <a:r>
              <a:rPr lang="en-US">
                <a:cs typeface="+mj-cs"/>
              </a:rPr>
              <a:t>Attributes</a:t>
            </a:r>
            <a:endParaRPr lang="it-IT">
              <a:cs typeface="+mj-cs"/>
            </a:endParaRPr>
          </a:p>
        </p:txBody>
      </p:sp>
      <p:sp>
        <p:nvSpPr>
          <p:cNvPr id="59396" name="Rectangle 1027"/>
          <p:cNvSpPr>
            <a:spLocks noGrp="1" noChangeArrowheads="1"/>
          </p:cNvSpPr>
          <p:nvPr>
            <p:ph sz="quarter" idx="1"/>
          </p:nvPr>
        </p:nvSpPr>
        <p:spPr>
          <a:xfrm>
            <a:off x="2135560" y="1412776"/>
            <a:ext cx="7696200" cy="1143000"/>
          </a:xfrm>
        </p:spPr>
        <p:txBody>
          <a:bodyPr/>
          <a:lstStyle/>
          <a:p>
            <a:r>
              <a:rPr lang="it-IT" sz="2400" dirty="0">
                <a:latin typeface="Comic Sans MS" charset="0"/>
                <a:ea typeface="ＭＳ Ｐゴシック" charset="0"/>
              </a:rPr>
              <a:t>Quantitative </a:t>
            </a:r>
            <a:r>
              <a:rPr lang="it-IT" sz="2400" dirty="0" err="1">
                <a:latin typeface="Comic Sans MS" charset="0"/>
                <a:ea typeface="ＭＳ Ｐゴシック" charset="0"/>
              </a:rPr>
              <a:t>attributes</a:t>
            </a:r>
            <a:r>
              <a:rPr lang="it-IT" sz="2400" dirty="0">
                <a:latin typeface="Comic Sans MS" charset="0"/>
                <a:ea typeface="ＭＳ Ｐゴシック" charset="0"/>
              </a:rPr>
              <a:t> (e.g. </a:t>
            </a:r>
            <a:r>
              <a:rPr lang="it-IT" sz="2400" dirty="0" err="1">
                <a:latin typeface="Comic Sans MS" charset="0"/>
                <a:ea typeface="ＭＳ Ｐゴシック" charset="0"/>
              </a:rPr>
              <a:t>age</a:t>
            </a:r>
            <a:r>
              <a:rPr lang="it-IT" sz="2400" dirty="0">
                <a:latin typeface="Comic Sans MS" charset="0"/>
                <a:ea typeface="ＭＳ Ｐゴシック" charset="0"/>
              </a:rPr>
              <a:t>, </a:t>
            </a:r>
            <a:r>
              <a:rPr lang="it-IT" sz="2400" dirty="0" err="1">
                <a:latin typeface="Comic Sans MS" charset="0"/>
                <a:ea typeface="ＭＳ Ｐゴシック" charset="0"/>
              </a:rPr>
              <a:t>income</a:t>
            </a:r>
            <a:r>
              <a:rPr lang="it-IT" sz="2400" dirty="0">
                <a:latin typeface="Comic Sans MS" charset="0"/>
                <a:ea typeface="ＭＳ Ｐゴシック" charset="0"/>
              </a:rPr>
              <a:t>)</a:t>
            </a:r>
          </a:p>
          <a:p>
            <a:r>
              <a:rPr lang="it-IT" sz="2400" dirty="0" err="1">
                <a:latin typeface="Comic Sans MS" charset="0"/>
                <a:ea typeface="ＭＳ Ｐゴシック" charset="0"/>
              </a:rPr>
              <a:t>Categorical</a:t>
            </a:r>
            <a:r>
              <a:rPr lang="it-IT" sz="2400" dirty="0">
                <a:latin typeface="Comic Sans MS" charset="0"/>
                <a:ea typeface="ＭＳ Ｐゴシック" charset="0"/>
              </a:rPr>
              <a:t> </a:t>
            </a:r>
            <a:r>
              <a:rPr lang="it-IT" sz="2400" dirty="0" err="1">
                <a:latin typeface="Comic Sans MS" charset="0"/>
                <a:ea typeface="ＭＳ Ｐゴシック" charset="0"/>
              </a:rPr>
              <a:t>attributes</a:t>
            </a:r>
            <a:r>
              <a:rPr lang="it-IT" sz="2400" dirty="0">
                <a:latin typeface="Comic Sans MS" charset="0"/>
                <a:ea typeface="ＭＳ Ｐゴシック" charset="0"/>
              </a:rPr>
              <a:t> (e.g. </a:t>
            </a:r>
            <a:r>
              <a:rPr lang="en-US" sz="2400" dirty="0">
                <a:latin typeface="Comic Sans MS" charset="0"/>
                <a:ea typeface="ＭＳ Ｐゴシック" charset="0"/>
              </a:rPr>
              <a:t>color</a:t>
            </a:r>
            <a:r>
              <a:rPr lang="it-IT" sz="2400" dirty="0">
                <a:latin typeface="Comic Sans MS" charset="0"/>
                <a:ea typeface="ＭＳ Ｐゴシック" charset="0"/>
              </a:rPr>
              <a:t> of car)</a:t>
            </a:r>
            <a:endParaRPr lang="en-US" sz="2400" dirty="0">
              <a:latin typeface="Comic Sans MS" charset="0"/>
              <a:ea typeface="ＭＳ Ｐゴシック" charset="0"/>
            </a:endParaRPr>
          </a:p>
        </p:txBody>
      </p:sp>
      <p:sp>
        <p:nvSpPr>
          <p:cNvPr id="152581" name="Rectangle 1029"/>
          <p:cNvSpPr>
            <a:spLocks noChangeArrowheads="1"/>
          </p:cNvSpPr>
          <p:nvPr/>
        </p:nvSpPr>
        <p:spPr bwMode="auto">
          <a:xfrm>
            <a:off x="2133600" y="4572001"/>
            <a:ext cx="7924800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 dirty="0">
                <a:solidFill>
                  <a:schemeClr val="accent1"/>
                </a:solidFill>
                <a:latin typeface="Comic Sans MS" charset="0"/>
              </a:rPr>
              <a:t>Problem:</a:t>
            </a:r>
            <a:r>
              <a:rPr lang="en-US" b="1" dirty="0">
                <a:latin typeface="Comic Sans MS" charset="0"/>
              </a:rPr>
              <a:t> too many distinct values</a:t>
            </a:r>
          </a:p>
          <a:p>
            <a:pPr>
              <a:spcBef>
                <a:spcPct val="50000"/>
              </a:spcBef>
              <a:defRPr/>
            </a:pPr>
            <a:r>
              <a:rPr lang="en-US" b="1" dirty="0">
                <a:solidFill>
                  <a:schemeClr val="accent1"/>
                </a:solidFill>
                <a:latin typeface="Comic Sans MS" charset="0"/>
              </a:rPr>
              <a:t>Solution:</a:t>
            </a:r>
            <a:r>
              <a:rPr lang="en-US" b="1" dirty="0">
                <a:latin typeface="Comic Sans MS" charset="0"/>
              </a:rPr>
              <a:t> transform quantitative attributes in categorical ones via </a:t>
            </a:r>
            <a:r>
              <a:rPr lang="en-US" b="1" dirty="0">
                <a:solidFill>
                  <a:schemeClr val="accent1"/>
                </a:solidFill>
                <a:latin typeface="Comic Sans MS" charset="0"/>
              </a:rPr>
              <a:t>discretization</a:t>
            </a:r>
            <a:r>
              <a:rPr lang="it-IT" b="1" dirty="0">
                <a:latin typeface="Comic Sans MS" charset="0"/>
              </a:rPr>
              <a:t>. </a:t>
            </a:r>
            <a:endParaRPr lang="en-US" b="1" dirty="0">
              <a:latin typeface="Comic Sans MS" charset="0"/>
            </a:endParaRPr>
          </a:p>
        </p:txBody>
      </p:sp>
      <p:graphicFrame>
        <p:nvGraphicFramePr>
          <p:cNvPr id="59398" name="Object 1031"/>
          <p:cNvGraphicFramePr>
            <a:graphicFrameLocks noChangeAspect="1"/>
          </p:cNvGraphicFramePr>
          <p:nvPr/>
        </p:nvGraphicFramePr>
        <p:xfrm>
          <a:off x="2207568" y="2564904"/>
          <a:ext cx="6336704" cy="26556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" imgW="5792724" imgH="2429256" progId="Word.Document.8">
                  <p:embed/>
                </p:oleObj>
              </mc:Choice>
              <mc:Fallback>
                <p:oleObj name="Documento" r:id="rId2" imgW="5792724" imgH="2429256" progId="Word.Document.8">
                  <p:embed/>
                  <p:pic>
                    <p:nvPicPr>
                      <p:cNvPr id="59398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2564904"/>
                        <a:ext cx="6336704" cy="26556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egnaposto data 1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rtlCol="0" anchor="ctr" anchorCtr="0"/>
          <a:lstStyle>
            <a:defPPr>
              <a:defRPr lang="it-IT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7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rtlCol="0" anchor="ctr"/>
          <a:lstStyle>
            <a:defPPr>
              <a:defRPr lang="it-IT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en-US"/>
              <a:t>IntroML, 2022  Reg. Ass. &amp; Patter Mining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6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rtlCol="0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68</a:t>
            </a:fld>
            <a:endParaRPr lang="en-US" b="1" i="1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>
                <a:cs typeface="+mj-cs"/>
              </a:rPr>
              <a:t>Quantitative Association Rules</a:t>
            </a:r>
          </a:p>
        </p:txBody>
      </p:sp>
      <p:graphicFrame>
        <p:nvGraphicFramePr>
          <p:cNvPr id="60420" name="Object 4"/>
          <p:cNvGraphicFramePr>
            <a:graphicFrameLocks noChangeAspect="1"/>
          </p:cNvGraphicFramePr>
          <p:nvPr/>
        </p:nvGraphicFramePr>
        <p:xfrm>
          <a:off x="2590800" y="1769988"/>
          <a:ext cx="5767388" cy="245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" imgW="5779008" imgH="2452116" progId="Word.Document.8">
                  <p:embed/>
                </p:oleObj>
              </mc:Choice>
              <mc:Fallback>
                <p:oleObj name="Documento" r:id="rId2" imgW="5779008" imgH="2452116" progId="Word.Document.8">
                  <p:embed/>
                  <p:pic>
                    <p:nvPicPr>
                      <p:cNvPr id="604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769988"/>
                        <a:ext cx="5767388" cy="245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557" name="Rectangle 5"/>
          <p:cNvSpPr>
            <a:spLocks noChangeArrowheads="1"/>
          </p:cNvSpPr>
          <p:nvPr/>
        </p:nvSpPr>
        <p:spPr bwMode="auto">
          <a:xfrm>
            <a:off x="2057400" y="4468714"/>
            <a:ext cx="8305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it-IT" b="1" dirty="0">
                <a:latin typeface="Comic Sans MS" charset="0"/>
              </a:rPr>
              <a:t>[Age: 30..39] and [</a:t>
            </a:r>
            <a:r>
              <a:rPr lang="it-IT" b="1" dirty="0" err="1">
                <a:latin typeface="Comic Sans MS" charset="0"/>
              </a:rPr>
              <a:t>Married</a:t>
            </a:r>
            <a:r>
              <a:rPr lang="it-IT" b="1" dirty="0">
                <a:latin typeface="Comic Sans MS" charset="0"/>
              </a:rPr>
              <a:t>: Yes] </a:t>
            </a:r>
            <a:r>
              <a:rPr kumimoji="1" lang="en-US" b="1" dirty="0">
                <a:latin typeface="Comic Sans MS" charset="0"/>
                <a:sym typeface="Symbol" charset="0"/>
              </a:rPr>
              <a:t></a:t>
            </a:r>
            <a:r>
              <a:rPr lang="it-IT" b="1" dirty="0">
                <a:latin typeface="Comic Sans MS" charset="0"/>
              </a:rPr>
              <a:t> [NumCars:2]</a:t>
            </a:r>
            <a:br>
              <a:rPr lang="en-US" b="1" dirty="0">
                <a:latin typeface="Comic Sans MS" charset="0"/>
              </a:rPr>
            </a:br>
            <a:endParaRPr lang="it-IT" b="1" dirty="0">
              <a:latin typeface="Comic Sans MS" charset="0"/>
            </a:endParaRPr>
          </a:p>
          <a:p>
            <a:pPr>
              <a:defRPr/>
            </a:pPr>
            <a:r>
              <a:rPr lang="it-IT" dirty="0" err="1">
                <a:latin typeface="Comic Sans MS" charset="0"/>
              </a:rPr>
              <a:t>support</a:t>
            </a:r>
            <a:r>
              <a:rPr lang="it-IT" dirty="0">
                <a:latin typeface="Comic Sans MS" charset="0"/>
              </a:rPr>
              <a:t> = 40% </a:t>
            </a:r>
          </a:p>
          <a:p>
            <a:pPr>
              <a:defRPr/>
            </a:pPr>
            <a:r>
              <a:rPr lang="it-IT" dirty="0" err="1">
                <a:latin typeface="Comic Sans MS" charset="0"/>
              </a:rPr>
              <a:t>confidence</a:t>
            </a:r>
            <a:r>
              <a:rPr lang="it-IT" dirty="0">
                <a:latin typeface="Comic Sans MS" charset="0"/>
              </a:rPr>
              <a:t> = 100%</a:t>
            </a:r>
          </a:p>
        </p:txBody>
      </p:sp>
      <p:sp>
        <p:nvSpPr>
          <p:cNvPr id="2" name="Segnaposto data 1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rtlCol="0" anchor="ctr" anchorCtr="0"/>
          <a:lstStyle>
            <a:defPPr>
              <a:defRPr lang="it-IT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7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rtlCol="0" anchor="ctr"/>
          <a:lstStyle>
            <a:defPPr>
              <a:defRPr lang="it-IT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en-US"/>
              <a:t>IntroML, 2022  Reg. Ass. &amp; Patter Mining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6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rtlCol="0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69</a:t>
            </a:fld>
            <a:endParaRPr lang="en-US" b="1" i="1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>
                <a:cs typeface="+mj-cs"/>
              </a:rPr>
              <a:t>Discretization of q</a:t>
            </a:r>
            <a:r>
              <a:rPr lang="it-IT">
                <a:cs typeface="+mj-cs"/>
              </a:rPr>
              <a:t>uantitative attributes</a:t>
            </a:r>
            <a:endParaRPr lang="en-US">
              <a:cs typeface="+mj-cs"/>
            </a:endParaRP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1775520" y="1628801"/>
            <a:ext cx="8686800" cy="12997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 dirty="0">
                <a:solidFill>
                  <a:schemeClr val="accent1"/>
                </a:solidFill>
                <a:latin typeface="Comic Sans MS" charset="0"/>
              </a:rPr>
              <a:t>Solution</a:t>
            </a:r>
            <a:r>
              <a:rPr lang="it-IT" dirty="0">
                <a:latin typeface="Comic Sans MS" charset="0"/>
              </a:rPr>
              <a:t>: </a:t>
            </a:r>
            <a:r>
              <a:rPr lang="en-US" dirty="0">
                <a:latin typeface="Comic Sans MS" charset="0"/>
              </a:rPr>
              <a:t>each value is replaced by the interval to which it belongs</a:t>
            </a:r>
            <a:r>
              <a:rPr lang="it-IT" dirty="0">
                <a:latin typeface="Comic Sans MS" charset="0"/>
              </a:rPr>
              <a:t>.</a:t>
            </a:r>
          </a:p>
          <a:p>
            <a:pPr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b="1" dirty="0">
                <a:latin typeface="Comic Sans MS" charset="0"/>
              </a:rPr>
              <a:t>height</a:t>
            </a:r>
            <a:r>
              <a:rPr lang="en-US" dirty="0">
                <a:latin typeface="Comic Sans MS" charset="0"/>
              </a:rPr>
              <a:t>:  </a:t>
            </a:r>
            <a:r>
              <a:rPr lang="it-IT" dirty="0">
                <a:latin typeface="Comic Sans MS" charset="0"/>
              </a:rPr>
              <a:t>0-150cm, </a:t>
            </a:r>
            <a:r>
              <a:rPr lang="en-US" dirty="0">
                <a:latin typeface="Comic Sans MS" charset="0"/>
              </a:rPr>
              <a:t> </a:t>
            </a:r>
            <a:r>
              <a:rPr lang="it-IT" dirty="0">
                <a:latin typeface="Comic Sans MS" charset="0"/>
              </a:rPr>
              <a:t>151-170cm, 171-180cm, </a:t>
            </a:r>
            <a:r>
              <a:rPr lang="en-US" dirty="0">
                <a:latin typeface="Comic Sans MS" charset="0"/>
              </a:rPr>
              <a:t> </a:t>
            </a:r>
            <a:r>
              <a:rPr lang="it-IT" dirty="0">
                <a:latin typeface="Comic Sans MS" charset="0"/>
              </a:rPr>
              <a:t>&gt;180cm</a:t>
            </a:r>
          </a:p>
          <a:p>
            <a:pPr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b="1" dirty="0">
                <a:latin typeface="Comic Sans MS" charset="0"/>
              </a:rPr>
              <a:t>weight</a:t>
            </a:r>
            <a:r>
              <a:rPr lang="en-US" dirty="0">
                <a:latin typeface="Comic Sans MS" charset="0"/>
              </a:rPr>
              <a:t>: </a:t>
            </a:r>
            <a:r>
              <a:rPr lang="it-IT" dirty="0">
                <a:latin typeface="Comic Sans MS" charset="0"/>
              </a:rPr>
              <a:t>0-40kg, </a:t>
            </a:r>
            <a:r>
              <a:rPr lang="en-US" dirty="0">
                <a:latin typeface="Comic Sans MS" charset="0"/>
              </a:rPr>
              <a:t> </a:t>
            </a:r>
            <a:r>
              <a:rPr lang="it-IT" dirty="0">
                <a:latin typeface="Comic Sans MS" charset="0"/>
              </a:rPr>
              <a:t>41-60kg, </a:t>
            </a:r>
            <a:r>
              <a:rPr lang="en-US" dirty="0">
                <a:latin typeface="Comic Sans MS" charset="0"/>
              </a:rPr>
              <a:t> </a:t>
            </a:r>
            <a:r>
              <a:rPr lang="it-IT" dirty="0">
                <a:latin typeface="Comic Sans MS" charset="0"/>
              </a:rPr>
              <a:t>60-80kg, </a:t>
            </a:r>
            <a:r>
              <a:rPr lang="en-US" dirty="0">
                <a:latin typeface="Comic Sans MS" charset="0"/>
              </a:rPr>
              <a:t>	 </a:t>
            </a:r>
            <a:r>
              <a:rPr lang="it-IT" dirty="0">
                <a:latin typeface="Comic Sans MS" charset="0"/>
              </a:rPr>
              <a:t>&gt;80kg</a:t>
            </a:r>
          </a:p>
          <a:p>
            <a:pPr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b="1" dirty="0">
                <a:latin typeface="Comic Sans MS" charset="0"/>
              </a:rPr>
              <a:t>income</a:t>
            </a:r>
            <a:r>
              <a:rPr lang="en-US" dirty="0">
                <a:latin typeface="Comic Sans MS" charset="0"/>
              </a:rPr>
              <a:t>: </a:t>
            </a:r>
            <a:r>
              <a:rPr lang="it-IT" dirty="0">
                <a:latin typeface="Comic Sans MS" charset="0"/>
              </a:rPr>
              <a:t>0-10ML, 11-20ML, 20-25ML, 25-30ML, &gt;30ML</a:t>
            </a:r>
          </a:p>
        </p:txBody>
      </p:sp>
      <p:graphicFrame>
        <p:nvGraphicFramePr>
          <p:cNvPr id="61445" name="Object 4"/>
          <p:cNvGraphicFramePr>
            <a:graphicFrameLocks noChangeAspect="1"/>
          </p:cNvGraphicFramePr>
          <p:nvPr/>
        </p:nvGraphicFramePr>
        <p:xfrm>
          <a:off x="2495601" y="3573017"/>
          <a:ext cx="5802313" cy="239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" imgW="5812536" imgH="2409444" progId="Word.Document.8">
                  <p:embed/>
                </p:oleObj>
              </mc:Choice>
              <mc:Fallback>
                <p:oleObj name="Documento" r:id="rId2" imgW="5812536" imgH="2409444" progId="Word.Document.8">
                  <p:embed/>
                  <p:pic>
                    <p:nvPicPr>
                      <p:cNvPr id="6144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1" y="3573017"/>
                        <a:ext cx="5802313" cy="239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1847528" y="5733256"/>
            <a:ext cx="622638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accent1"/>
                </a:solidFill>
                <a:latin typeface="Comic Sans MS" charset="0"/>
              </a:rPr>
              <a:t>Problem</a:t>
            </a:r>
            <a:r>
              <a:rPr lang="it-IT" dirty="0">
                <a:latin typeface="Comic Sans MS" charset="0"/>
              </a:rPr>
              <a:t>: </a:t>
            </a:r>
            <a:r>
              <a:rPr lang="en-US" dirty="0">
                <a:latin typeface="Comic Sans MS" charset="0"/>
              </a:rPr>
              <a:t>the discretization may be useless</a:t>
            </a:r>
            <a:r>
              <a:rPr lang="it-IT" dirty="0">
                <a:latin typeface="Comic Sans MS" charset="0"/>
              </a:rPr>
              <a:t> (</a:t>
            </a:r>
            <a:r>
              <a:rPr lang="en-US" dirty="0">
                <a:latin typeface="Comic Sans MS" charset="0"/>
              </a:rPr>
              <a:t>see </a:t>
            </a:r>
            <a:r>
              <a:rPr lang="en-US" b="1" dirty="0">
                <a:latin typeface="Comic Sans MS" charset="0"/>
              </a:rPr>
              <a:t>weight</a:t>
            </a:r>
            <a:r>
              <a:rPr lang="it-IT" dirty="0">
                <a:latin typeface="Comic Sans MS" charset="0"/>
              </a:rPr>
              <a:t>).</a:t>
            </a:r>
          </a:p>
        </p:txBody>
      </p:sp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IntroML, 2022  Reg. Ass. &amp; Patter Mining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70</a:t>
            </a:fld>
            <a:endParaRPr lang="en-US" b="1" i="1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653203BE-A8D0-0847-A31C-5D94EFAC1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Discretization-based Methods</a:t>
            </a:r>
          </a:p>
        </p:txBody>
      </p:sp>
      <p:pic>
        <p:nvPicPr>
          <p:cNvPr id="15362" name="Picture 4">
            <a:extLst>
              <a:ext uri="{FF2B5EF4-FFF2-40B4-BE49-F238E27FC236}">
                <a16:creationId xmlns:a16="http://schemas.microsoft.com/office/drawing/2014/main" id="{B08F8EDE-3E22-0C4C-B1F1-9F2ABF44AF24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35753" y="1446211"/>
            <a:ext cx="5599113" cy="2368550"/>
          </a:xfrm>
          <a:noFill/>
        </p:spPr>
      </p:pic>
      <p:pic>
        <p:nvPicPr>
          <p:cNvPr id="15363" name="Picture 6">
            <a:extLst>
              <a:ext uri="{FF2B5EF4-FFF2-40B4-BE49-F238E27FC236}">
                <a16:creationId xmlns:a16="http://schemas.microsoft.com/office/drawing/2014/main" id="{4D96C0DF-3BD2-7F48-8051-B402F1BB30F8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59553" y="4189412"/>
            <a:ext cx="5800725" cy="2303463"/>
          </a:xfrm>
          <a:noFill/>
        </p:spPr>
      </p:pic>
      <p:sp>
        <p:nvSpPr>
          <p:cNvPr id="15364" name="AutoShape 8">
            <a:extLst>
              <a:ext uri="{FF2B5EF4-FFF2-40B4-BE49-F238E27FC236}">
                <a16:creationId xmlns:a16="http://schemas.microsoft.com/office/drawing/2014/main" id="{C4177196-006F-9842-9565-270196645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6552" y="2970211"/>
            <a:ext cx="990600" cy="2133600"/>
          </a:xfrm>
          <a:prstGeom prst="curvedRightArrow">
            <a:avLst>
              <a:gd name="adj1" fmla="val 43077"/>
              <a:gd name="adj2" fmla="val 86154"/>
              <a:gd name="adj3" fmla="val 33333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427541744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914400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How to choose intervals?</a:t>
            </a:r>
            <a:endParaRPr lang="it-IT">
              <a:cs typeface="+mj-cs"/>
            </a:endParaRP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2057400" y="1295400"/>
            <a:ext cx="79248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FontTx/>
              <a:buAutoNum type="arabicPeriod"/>
              <a:defRPr/>
            </a:pPr>
            <a:r>
              <a:rPr lang="en-US" b="1" dirty="0">
                <a:latin typeface="Comic Sans MS" charset="0"/>
              </a:rPr>
              <a:t>Interval with a fixed “reasonable” granularity</a:t>
            </a:r>
            <a:br>
              <a:rPr lang="en-US" b="1" dirty="0">
                <a:latin typeface="Comic Sans MS" charset="0"/>
              </a:rPr>
            </a:br>
            <a:r>
              <a:rPr lang="it-IT" b="1" dirty="0">
                <a:latin typeface="Comic Sans MS" charset="0"/>
              </a:rPr>
              <a:t> </a:t>
            </a:r>
            <a:r>
              <a:rPr lang="en-US" b="1" dirty="0">
                <a:latin typeface="Comic Sans MS" charset="0"/>
              </a:rPr>
              <a:t>Ex. </a:t>
            </a:r>
            <a:r>
              <a:rPr lang="it-IT" b="1" dirty="0" err="1">
                <a:solidFill>
                  <a:srgbClr val="FF0000"/>
                </a:solidFill>
                <a:latin typeface="Comic Sans MS" charset="0"/>
              </a:rPr>
              <a:t>interval</a:t>
            </a:r>
            <a:r>
              <a:rPr lang="en-US" b="1" dirty="0">
                <a:solidFill>
                  <a:srgbClr val="FF0000"/>
                </a:solidFill>
                <a:latin typeface="Comic Sans MS" charset="0"/>
              </a:rPr>
              <a:t>s</a:t>
            </a:r>
            <a:r>
              <a:rPr lang="it-IT" b="1" dirty="0">
                <a:solidFill>
                  <a:srgbClr val="FF0000"/>
                </a:solidFill>
                <a:latin typeface="Comic Sans MS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mic Sans MS" charset="0"/>
              </a:rPr>
              <a:t>of </a:t>
            </a:r>
            <a:r>
              <a:rPr lang="it-IT" b="1" dirty="0">
                <a:solidFill>
                  <a:srgbClr val="FF0000"/>
                </a:solidFill>
                <a:latin typeface="Comic Sans MS" charset="0"/>
              </a:rPr>
              <a:t> 10 cm </a:t>
            </a:r>
            <a:r>
              <a:rPr lang="en-US" b="1" dirty="0">
                <a:solidFill>
                  <a:srgbClr val="FF0000"/>
                </a:solidFill>
                <a:latin typeface="Comic Sans MS" charset="0"/>
              </a:rPr>
              <a:t>for height</a:t>
            </a:r>
            <a:r>
              <a:rPr lang="it-IT" b="1" dirty="0">
                <a:solidFill>
                  <a:srgbClr val="FF0000"/>
                </a:solidFill>
                <a:latin typeface="Comic Sans MS" charset="0"/>
              </a:rPr>
              <a:t>.</a:t>
            </a:r>
          </a:p>
          <a:p>
            <a:pPr>
              <a:spcBef>
                <a:spcPct val="50000"/>
              </a:spcBef>
              <a:buFontTx/>
              <a:buAutoNum type="arabicPeriod"/>
              <a:defRPr/>
            </a:pPr>
            <a:r>
              <a:rPr lang="it-IT" b="1" dirty="0" err="1">
                <a:latin typeface="Comic Sans MS" charset="0"/>
              </a:rPr>
              <a:t>Interval</a:t>
            </a:r>
            <a:r>
              <a:rPr lang="en-US" b="1" dirty="0">
                <a:latin typeface="Comic Sans MS" charset="0"/>
              </a:rPr>
              <a:t> size is defined</a:t>
            </a:r>
            <a:r>
              <a:rPr lang="it-IT" b="1" dirty="0">
                <a:latin typeface="Comic Sans MS" charset="0"/>
              </a:rPr>
              <a:t> </a:t>
            </a:r>
            <a:r>
              <a:rPr lang="en-US" b="1" dirty="0">
                <a:latin typeface="Comic Sans MS" charset="0"/>
              </a:rPr>
              <a:t>by some </a:t>
            </a:r>
            <a:r>
              <a:rPr lang="it-IT" b="1" dirty="0" err="1">
                <a:latin typeface="Comic Sans MS" charset="0"/>
              </a:rPr>
              <a:t>dom</a:t>
            </a:r>
            <a:r>
              <a:rPr lang="en-US" b="1" dirty="0" err="1">
                <a:latin typeface="Comic Sans MS" charset="0"/>
              </a:rPr>
              <a:t>ain</a:t>
            </a:r>
            <a:r>
              <a:rPr lang="en-US" b="1" dirty="0">
                <a:latin typeface="Comic Sans MS" charset="0"/>
              </a:rPr>
              <a:t> dependent criterion </a:t>
            </a:r>
            <a:br>
              <a:rPr lang="en-US" b="1" dirty="0">
                <a:latin typeface="Comic Sans MS" charset="0"/>
              </a:rPr>
            </a:br>
            <a:r>
              <a:rPr lang="it-IT" dirty="0">
                <a:solidFill>
                  <a:srgbClr val="FF0000"/>
                </a:solidFill>
                <a:latin typeface="Comic Sans MS" charset="0"/>
              </a:rPr>
              <a:t>E</a:t>
            </a:r>
            <a:r>
              <a:rPr lang="en-US" dirty="0">
                <a:solidFill>
                  <a:srgbClr val="FF0000"/>
                </a:solidFill>
                <a:latin typeface="Comic Sans MS" charset="0"/>
              </a:rPr>
              <a:t>x</a:t>
            </a:r>
            <a:r>
              <a:rPr lang="it-IT" dirty="0">
                <a:solidFill>
                  <a:srgbClr val="FF0000"/>
                </a:solidFill>
                <a:latin typeface="Comic Sans MS" charset="0"/>
              </a:rPr>
              <a:t>.: 0-20ML, 21-22ML, 23-24ML, 25-26ML, &gt;26ML</a:t>
            </a:r>
            <a:endParaRPr lang="en-US" dirty="0">
              <a:solidFill>
                <a:srgbClr val="FF0000"/>
              </a:solidFill>
              <a:latin typeface="Comic Sans MS" charset="0"/>
            </a:endParaRPr>
          </a:p>
          <a:p>
            <a:pPr>
              <a:spcBef>
                <a:spcPct val="50000"/>
              </a:spcBef>
              <a:buFontTx/>
              <a:buAutoNum type="arabicPeriod"/>
              <a:defRPr/>
            </a:pPr>
            <a:r>
              <a:rPr lang="en-US" b="1" dirty="0">
                <a:latin typeface="Comic Sans MS" charset="0"/>
              </a:rPr>
              <a:t>Interval size determined by analyzing data, studying the distribution or using clustering</a:t>
            </a:r>
          </a:p>
          <a:p>
            <a:pPr>
              <a:spcBef>
                <a:spcPct val="50000"/>
              </a:spcBef>
              <a:buFontTx/>
              <a:buAutoNum type="arabicPeriod"/>
              <a:defRPr/>
            </a:pPr>
            <a:endParaRPr lang="it-IT" b="1" dirty="0">
              <a:latin typeface="Comic Sans MS" charset="0"/>
            </a:endParaRPr>
          </a:p>
          <a:p>
            <a:pPr>
              <a:spcBef>
                <a:spcPct val="50000"/>
              </a:spcBef>
              <a:buFontTx/>
              <a:buAutoNum type="arabicPeriod"/>
              <a:defRPr/>
            </a:pPr>
            <a:endParaRPr lang="it-IT" dirty="0">
              <a:latin typeface="Comic Sans MS" charset="0"/>
            </a:endParaRPr>
          </a:p>
        </p:txBody>
      </p:sp>
      <p:graphicFrame>
        <p:nvGraphicFramePr>
          <p:cNvPr id="62469" name="Object 4"/>
          <p:cNvGraphicFramePr>
            <a:graphicFrameLocks noChangeAspect="1"/>
          </p:cNvGraphicFramePr>
          <p:nvPr/>
        </p:nvGraphicFramePr>
        <p:xfrm>
          <a:off x="2365375" y="3930650"/>
          <a:ext cx="4991100" cy="302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glio di lavoro" r:id="rId2" imgW="8356600" imgH="1765300" progId="Excel.Sheet.8">
                  <p:embed followColorScheme="full"/>
                </p:oleObj>
              </mc:Choice>
              <mc:Fallback>
                <p:oleObj name="Foglio di lavoro" r:id="rId2" imgW="8356600" imgH="1765300" progId="Excel.Sheet.8">
                  <p:embed followColorScheme="full"/>
                  <p:pic>
                    <p:nvPicPr>
                      <p:cNvPr id="6246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375" y="3930650"/>
                        <a:ext cx="4991100" cy="302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6781800" y="5029201"/>
            <a:ext cx="2590800" cy="884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lnSpc>
                <a:spcPct val="60000"/>
              </a:lnSpc>
              <a:spcBef>
                <a:spcPct val="50000"/>
              </a:spcBef>
              <a:defRPr/>
            </a:pPr>
            <a:r>
              <a:rPr lang="it-IT" b="1">
                <a:solidFill>
                  <a:srgbClr val="FF0000"/>
                </a:solidFill>
                <a:latin typeface="Comic Sans MS" charset="0"/>
              </a:rPr>
              <a:t>50 - 58 kg</a:t>
            </a:r>
          </a:p>
          <a:p>
            <a:pPr lvl="1">
              <a:lnSpc>
                <a:spcPct val="60000"/>
              </a:lnSpc>
              <a:spcBef>
                <a:spcPct val="50000"/>
              </a:spcBef>
              <a:defRPr/>
            </a:pPr>
            <a:r>
              <a:rPr lang="it-IT" b="1">
                <a:solidFill>
                  <a:srgbClr val="FF0000"/>
                </a:solidFill>
                <a:latin typeface="Comic Sans MS" charset="0"/>
              </a:rPr>
              <a:t>59-67 kg</a:t>
            </a:r>
          </a:p>
          <a:p>
            <a:pPr lvl="1">
              <a:lnSpc>
                <a:spcPct val="60000"/>
              </a:lnSpc>
              <a:spcBef>
                <a:spcPct val="50000"/>
              </a:spcBef>
              <a:defRPr/>
            </a:pPr>
            <a:r>
              <a:rPr lang="it-IT" b="1">
                <a:solidFill>
                  <a:srgbClr val="FF0000"/>
                </a:solidFill>
                <a:latin typeface="Comic Sans MS" charset="0"/>
              </a:rPr>
              <a:t>&gt; 68 kg</a:t>
            </a:r>
          </a:p>
        </p:txBody>
      </p:sp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IntroML, 2022  Reg. Ass. &amp; Patter Mining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72</a:t>
            </a:fld>
            <a:endParaRPr lang="en-US" b="1" i="1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Multilevel AR</a:t>
            </a:r>
          </a:p>
        </p:txBody>
      </p:sp>
      <p:sp>
        <p:nvSpPr>
          <p:cNvPr id="66564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828800" y="1652736"/>
            <a:ext cx="8610600" cy="4800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Comic Sans MS" charset="0"/>
                <a:ea typeface="ＭＳ Ｐゴシック" charset="0"/>
              </a:rPr>
              <a:t>Is difficult to find interesting patterns at a </a:t>
            </a:r>
            <a:r>
              <a:rPr lang="en-US" sz="2400" dirty="0">
                <a:solidFill>
                  <a:srgbClr val="0099FF"/>
                </a:solidFill>
                <a:latin typeface="Comic Sans MS" charset="0"/>
                <a:ea typeface="ＭＳ Ｐゴシック" charset="0"/>
              </a:rPr>
              <a:t>too primitive level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Comic Sans MS" charset="0"/>
                <a:ea typeface="ＭＳ Ｐゴシック" charset="0"/>
              </a:rPr>
              <a:t>high support = too few rules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Comic Sans MS" charset="0"/>
                <a:ea typeface="ＭＳ Ｐゴシック" charset="0"/>
              </a:rPr>
              <a:t>low support = too many rules, most uninteresting</a:t>
            </a:r>
          </a:p>
          <a:p>
            <a:r>
              <a:rPr lang="en-US" sz="2400" dirty="0">
                <a:latin typeface="Comic Sans MS" charset="0"/>
                <a:ea typeface="ＭＳ Ｐゴシック" charset="0"/>
              </a:rPr>
              <a:t>Approach: reason at suitable level of abstraction</a:t>
            </a:r>
          </a:p>
          <a:p>
            <a:r>
              <a:rPr lang="en-US" sz="2400" dirty="0">
                <a:latin typeface="Comic Sans MS" charset="0"/>
                <a:ea typeface="ＭＳ Ｐゴシック" charset="0"/>
              </a:rPr>
              <a:t>A common form of background knowledge is that an attribute may be generalized  or specialized according to a </a:t>
            </a:r>
            <a:r>
              <a:rPr lang="en-US" sz="2400" dirty="0">
                <a:solidFill>
                  <a:schemeClr val="accent1"/>
                </a:solidFill>
                <a:latin typeface="Comic Sans MS" charset="0"/>
                <a:ea typeface="ＭＳ Ｐゴシック" charset="0"/>
              </a:rPr>
              <a:t>hierarchy of concepts</a:t>
            </a:r>
            <a:endParaRPr lang="en-US" i="1" dirty="0">
              <a:latin typeface="Comic Sans MS" charset="0"/>
              <a:ea typeface="ＭＳ Ｐゴシック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latin typeface="Comic Sans MS" charset="0"/>
                <a:ea typeface="ＭＳ Ｐゴシック" charset="0"/>
              </a:rPr>
              <a:t>Dimensions and levels can be efficiently encoded in transactions </a:t>
            </a:r>
            <a:endParaRPr lang="en-US" i="1" dirty="0">
              <a:latin typeface="Comic Sans MS" charset="0"/>
              <a:ea typeface="ＭＳ Ｐゴシック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accent1"/>
                </a:solidFill>
                <a:latin typeface="Comic Sans MS" charset="0"/>
                <a:ea typeface="ＭＳ Ｐゴシック" charset="0"/>
              </a:rPr>
              <a:t>Multilevel Association Rules</a:t>
            </a:r>
            <a:r>
              <a:rPr lang="en-US" sz="2400" dirty="0">
                <a:latin typeface="Comic Sans MS" charset="0"/>
                <a:ea typeface="ＭＳ Ｐゴシック" charset="0"/>
              </a:rPr>
              <a:t> : rules which combine associations with hierarchy of concepts</a:t>
            </a:r>
          </a:p>
        </p:txBody>
      </p:sp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IntroML, 2022  Reg. Ass. &amp; Patter Mining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73</a:t>
            </a:fld>
            <a:endParaRPr lang="en-US" b="1" i="1"/>
          </a:p>
        </p:txBody>
      </p:sp>
    </p:spTree>
    <p:extLst>
      <p:ext uri="{BB962C8B-B14F-4D97-AF65-F5344CB8AC3E}">
        <p14:creationId xmlns:p14="http://schemas.microsoft.com/office/powerpoint/2010/main" val="269267063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2355B936-2D44-E24B-A77E-4EEC6A818E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Concept Hierarchies</a:t>
            </a:r>
          </a:p>
        </p:txBody>
      </p:sp>
      <p:graphicFrame>
        <p:nvGraphicFramePr>
          <p:cNvPr id="30722" name="Object 3">
            <a:extLst>
              <a:ext uri="{FF2B5EF4-FFF2-40B4-BE49-F238E27FC236}">
                <a16:creationId xmlns:a16="http://schemas.microsoft.com/office/drawing/2014/main" id="{2D3AA32E-AF01-564E-939E-92B5F85C52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1371600"/>
          <a:ext cx="8458200" cy="461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2712600" imgH="34175700" progId="Visio.Drawing.6">
                  <p:embed/>
                </p:oleObj>
              </mc:Choice>
              <mc:Fallback>
                <p:oleObj name="VISIO" r:id="rId2" imgW="62712600" imgH="34175700" progId="Visio.Drawing.6">
                  <p:embed/>
                  <p:pic>
                    <p:nvPicPr>
                      <p:cNvPr id="30722" name="Object 3">
                        <a:extLst>
                          <a:ext uri="{FF2B5EF4-FFF2-40B4-BE49-F238E27FC236}">
                            <a16:creationId xmlns:a16="http://schemas.microsoft.com/office/drawing/2014/main" id="{2D3AA32E-AF01-564E-939E-92B5F85C52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371600"/>
                        <a:ext cx="8458200" cy="461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980436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5E0609D9-8C32-AA40-8334-77B8EB925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Multi-level Association Rules</a:t>
            </a:r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426D3F3E-AA09-F34D-A35C-474220694D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Why should we incorporate concept hierarchy?</a:t>
            </a:r>
          </a:p>
          <a:p>
            <a:pPr lvl="1"/>
            <a:r>
              <a:rPr lang="en-US" altLang="en-US"/>
              <a:t>Rules at lower levels may not have enough support to appear in any frequent itemsets</a:t>
            </a:r>
          </a:p>
          <a:p>
            <a:pPr lvl="1"/>
            <a:endParaRPr lang="en-US" altLang="en-US"/>
          </a:p>
          <a:p>
            <a:pPr lvl="1"/>
            <a:r>
              <a:rPr lang="en-US" altLang="en-US"/>
              <a:t>Rules at lower levels of the hierarchy are overly specific </a:t>
            </a:r>
          </a:p>
          <a:p>
            <a:pPr lvl="2"/>
            <a:r>
              <a:rPr lang="en-US" altLang="en-US"/>
              <a:t> e.g., 	skim milk </a:t>
            </a:r>
            <a:r>
              <a:rPr lang="en-US" altLang="en-US">
                <a:sym typeface="Symbol" pitchFamily="2" charset="2"/>
              </a:rPr>
              <a:t> white bread, 2% milk  wheat bread,</a:t>
            </a:r>
            <a:br>
              <a:rPr lang="en-US" altLang="en-US">
                <a:sym typeface="Symbol" pitchFamily="2" charset="2"/>
              </a:rPr>
            </a:br>
            <a:r>
              <a:rPr lang="en-US" altLang="en-US">
                <a:sym typeface="Symbol" pitchFamily="2" charset="2"/>
              </a:rPr>
              <a:t>	skim milk  wheat bread, etc.</a:t>
            </a:r>
            <a:br>
              <a:rPr lang="en-US" altLang="en-US">
                <a:sym typeface="Symbol" pitchFamily="2" charset="2"/>
              </a:rPr>
            </a:br>
            <a:r>
              <a:rPr lang="en-US" altLang="en-US">
                <a:sym typeface="Symbol" pitchFamily="2" charset="2"/>
              </a:rPr>
              <a:t>are indicative of association between milk and bread</a:t>
            </a:r>
          </a:p>
          <a:p>
            <a:pPr lvl="2">
              <a:buFont typeface="Wingdings" pitchFamily="2" charset="2"/>
              <a:buNone/>
            </a:pPr>
            <a:endParaRPr lang="en-US" altLang="en-US">
              <a:sym typeface="Symbol" pitchFamily="2" charset="2"/>
            </a:endParaRPr>
          </a:p>
          <a:p>
            <a:pPr lvl="1"/>
            <a:r>
              <a:rPr lang="en-US" altLang="en-US"/>
              <a:t>Rules at higher level of hierarchy may be too generic</a:t>
            </a:r>
          </a:p>
        </p:txBody>
      </p:sp>
    </p:spTree>
    <p:extLst>
      <p:ext uri="{BB962C8B-B14F-4D97-AF65-F5344CB8AC3E}">
        <p14:creationId xmlns:p14="http://schemas.microsoft.com/office/powerpoint/2010/main" val="409804164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D91AF805-BC0D-A843-B391-09DCBD90F5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Multi-level Association Rules</a:t>
            </a: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EE041AA3-6C12-E448-854D-1CD6F7B66C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Approach 1: Extend current association rule formulation by augmenting each transaction with higher level items</a:t>
            </a:r>
          </a:p>
          <a:p>
            <a:pPr lvl="1">
              <a:buFont typeface="Arial" panose="020B0604020202020204" pitchFamily="34" charset="0"/>
              <a:buNone/>
            </a:pPr>
            <a:endParaRPr lang="en-US" altLang="en-US" dirty="0"/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dirty="0"/>
              <a:t>Original Transaction: {skim milk, wheat bread} 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dirty="0"/>
              <a:t>Augmented Transaction:</a:t>
            </a:r>
            <a:br>
              <a:rPr lang="en-US" altLang="en-US" dirty="0"/>
            </a:br>
            <a:r>
              <a:rPr lang="en-US" altLang="en-US" dirty="0"/>
              <a:t> {skim milk, wheat bread, milk, bread, food}</a:t>
            </a:r>
          </a:p>
          <a:p>
            <a:pPr lvl="1">
              <a:buFont typeface="Arial" panose="020B0604020202020204" pitchFamily="34" charset="0"/>
              <a:buNone/>
            </a:pPr>
            <a:endParaRPr lang="en-US" altLang="en-US" dirty="0"/>
          </a:p>
          <a:p>
            <a:r>
              <a:rPr lang="en-US" altLang="en-US" dirty="0"/>
              <a:t>Issues:</a:t>
            </a:r>
          </a:p>
          <a:p>
            <a:pPr lvl="1"/>
            <a:r>
              <a:rPr lang="en-US" altLang="en-US" dirty="0"/>
              <a:t>Items that reside at higher levels have much higher support counts </a:t>
            </a:r>
          </a:p>
          <a:p>
            <a:pPr lvl="1"/>
            <a:r>
              <a:rPr lang="en-US" altLang="en-US" dirty="0"/>
              <a:t>if support threshold is low, too many frequent patterns involving items from the higher levels</a:t>
            </a:r>
          </a:p>
          <a:p>
            <a:pPr lvl="1"/>
            <a:r>
              <a:rPr lang="en-US" altLang="en-US" dirty="0"/>
              <a:t>Increased dimensionality of the data</a:t>
            </a:r>
          </a:p>
        </p:txBody>
      </p:sp>
    </p:spTree>
    <p:extLst>
      <p:ext uri="{BB962C8B-B14F-4D97-AF65-F5344CB8AC3E}">
        <p14:creationId xmlns:p14="http://schemas.microsoft.com/office/powerpoint/2010/main" val="240819192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3636219D-FBD1-A648-8A9E-4C67964C4C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Multi-level Association Rules</a:t>
            </a:r>
          </a:p>
        </p:txBody>
      </p:sp>
      <p:sp>
        <p:nvSpPr>
          <p:cNvPr id="34818" name="Rectangle 3">
            <a:extLst>
              <a:ext uri="{FF2B5EF4-FFF2-40B4-BE49-F238E27FC236}">
                <a16:creationId xmlns:a16="http://schemas.microsoft.com/office/drawing/2014/main" id="{B47EBDEC-4B83-1C4E-BF5D-C4C85B1906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199" y="1825625"/>
            <a:ext cx="10863805" cy="4351338"/>
          </a:xfrm>
        </p:spPr>
        <p:txBody>
          <a:bodyPr/>
          <a:lstStyle/>
          <a:p>
            <a:r>
              <a:rPr lang="en-US" altLang="en-US" dirty="0"/>
              <a:t>Approach 2:</a:t>
            </a:r>
          </a:p>
          <a:p>
            <a:pPr lvl="1"/>
            <a:r>
              <a:rPr lang="en-US" altLang="en-US" sz="2800" dirty="0"/>
              <a:t>Generate frequent patterns at highest level first </a:t>
            </a:r>
          </a:p>
          <a:p>
            <a:pPr lvl="1"/>
            <a:r>
              <a:rPr lang="en-US" altLang="en-US" sz="2800" dirty="0"/>
              <a:t>Then, generate frequent patterns at the next highest level, and so on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Issues:</a:t>
            </a:r>
          </a:p>
          <a:p>
            <a:pPr lvl="1"/>
            <a:r>
              <a:rPr lang="en-US" altLang="en-US" dirty="0"/>
              <a:t>I/O requirements will increase dramatically because we need to perform more passes over the data</a:t>
            </a:r>
          </a:p>
          <a:p>
            <a:pPr lvl="1"/>
            <a:r>
              <a:rPr lang="en-US" altLang="en-US" dirty="0"/>
              <a:t>May miss some potentially interesting cross-level association patterns</a:t>
            </a:r>
          </a:p>
        </p:txBody>
      </p:sp>
    </p:spTree>
    <p:extLst>
      <p:ext uri="{BB962C8B-B14F-4D97-AF65-F5344CB8AC3E}">
        <p14:creationId xmlns:p14="http://schemas.microsoft.com/office/powerpoint/2010/main" val="258345771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Reasoning with AR</a:t>
            </a:r>
            <a:endParaRPr lang="it-IT" b="0">
              <a:cs typeface="+mj-cs"/>
            </a:endParaRPr>
          </a:p>
        </p:txBody>
      </p:sp>
      <p:sp>
        <p:nvSpPr>
          <p:cNvPr id="737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919536" y="1988840"/>
            <a:ext cx="8534400" cy="5334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chemeClr val="accent1"/>
                </a:solidFill>
                <a:latin typeface="Comic Sans MS" charset="0"/>
                <a:ea typeface="ＭＳ Ｐゴシック" charset="0"/>
              </a:rPr>
              <a:t>Significance</a:t>
            </a:r>
            <a:r>
              <a:rPr lang="en-US" sz="2400" dirty="0">
                <a:latin typeface="Comic Sans MS" charset="0"/>
                <a:ea typeface="ＭＳ Ｐゴシック" charset="0"/>
              </a:rPr>
              <a:t>:</a:t>
            </a:r>
          </a:p>
          <a:p>
            <a:pPr>
              <a:lnSpc>
                <a:spcPct val="30000"/>
              </a:lnSpc>
              <a:spcBef>
                <a:spcPct val="50000"/>
              </a:spcBef>
              <a:buFont typeface="Monotype Sorts" charset="0"/>
              <a:buNone/>
            </a:pPr>
            <a:r>
              <a:rPr lang="it-IT" b="0" dirty="0">
                <a:latin typeface="Comic Sans MS" charset="0"/>
                <a:ea typeface="ＭＳ Ｐゴシック" charset="0"/>
              </a:rPr>
              <a:t>	</a:t>
            </a:r>
            <a:r>
              <a:rPr lang="it-IT" sz="2400" dirty="0" err="1">
                <a:latin typeface="Comic Sans MS" charset="0"/>
                <a:ea typeface="ＭＳ Ｐゴシック" charset="0"/>
              </a:rPr>
              <a:t>Example</a:t>
            </a:r>
            <a:r>
              <a:rPr lang="it-IT" sz="2400" dirty="0">
                <a:solidFill>
                  <a:srgbClr val="0099FF"/>
                </a:solidFill>
                <a:latin typeface="Comic Sans MS" charset="0"/>
                <a:ea typeface="ＭＳ Ｐゴシック" charset="0"/>
              </a:rPr>
              <a:t>:</a:t>
            </a:r>
            <a:r>
              <a:rPr lang="it-IT" b="0" dirty="0">
                <a:solidFill>
                  <a:srgbClr val="0099FF"/>
                </a:solidFill>
                <a:latin typeface="Comic Sans MS" charset="0"/>
                <a:ea typeface="ＭＳ Ｐゴシック" charset="0"/>
              </a:rPr>
              <a:t> </a:t>
            </a:r>
            <a:r>
              <a:rPr lang="it-IT" sz="2400" dirty="0">
                <a:solidFill>
                  <a:srgbClr val="0099FF"/>
                </a:solidFill>
                <a:latin typeface="Comic Sans MS" charset="0"/>
                <a:ea typeface="ＭＳ Ｐゴシック" charset="0"/>
              </a:rPr>
              <a:t>	&lt;1, {a, b}&gt;</a:t>
            </a:r>
          </a:p>
          <a:p>
            <a:pPr>
              <a:lnSpc>
                <a:spcPct val="50000"/>
              </a:lnSpc>
              <a:spcBef>
                <a:spcPct val="50000"/>
              </a:spcBef>
              <a:buFont typeface="Monotype Sorts" charset="0"/>
              <a:buNone/>
            </a:pPr>
            <a:r>
              <a:rPr lang="it-IT" sz="2400" dirty="0">
                <a:solidFill>
                  <a:srgbClr val="0099FF"/>
                </a:solidFill>
                <a:latin typeface="Comic Sans MS" charset="0"/>
                <a:ea typeface="ＭＳ Ｐゴシック" charset="0"/>
              </a:rPr>
              <a:t>			&lt;2, {a} &gt;</a:t>
            </a:r>
          </a:p>
          <a:p>
            <a:pPr>
              <a:lnSpc>
                <a:spcPct val="30000"/>
              </a:lnSpc>
              <a:spcBef>
                <a:spcPct val="50000"/>
              </a:spcBef>
              <a:buFont typeface="Monotype Sorts" charset="0"/>
              <a:buNone/>
            </a:pPr>
            <a:r>
              <a:rPr lang="it-IT" sz="2400" dirty="0">
                <a:solidFill>
                  <a:srgbClr val="0099FF"/>
                </a:solidFill>
                <a:latin typeface="Comic Sans MS" charset="0"/>
                <a:ea typeface="ＭＳ Ｐゴシック" charset="0"/>
              </a:rPr>
              <a:t>			&lt;3, {a, b, c}&gt;</a:t>
            </a:r>
          </a:p>
          <a:p>
            <a:pPr>
              <a:lnSpc>
                <a:spcPct val="30000"/>
              </a:lnSpc>
              <a:spcBef>
                <a:spcPct val="50000"/>
              </a:spcBef>
              <a:buFont typeface="Monotype Sorts" charset="0"/>
              <a:buNone/>
            </a:pPr>
            <a:r>
              <a:rPr lang="it-IT" sz="2400" dirty="0">
                <a:solidFill>
                  <a:srgbClr val="0099FF"/>
                </a:solidFill>
                <a:latin typeface="Comic Sans MS" charset="0"/>
                <a:ea typeface="ＭＳ Ｐゴシック" charset="0"/>
              </a:rPr>
              <a:t>			&lt;4, {b, d}&gt;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 typeface="Monotype Sorts" charset="0"/>
              <a:buNone/>
            </a:pPr>
            <a:r>
              <a:rPr lang="it-IT" sz="2400" dirty="0">
                <a:solidFill>
                  <a:srgbClr val="0099FF"/>
                </a:solidFill>
                <a:latin typeface="Comic Sans MS" charset="0"/>
                <a:ea typeface="ＭＳ Ｐゴシック" charset="0"/>
              </a:rPr>
              <a:t>	{b} </a:t>
            </a:r>
            <a:r>
              <a:rPr lang="en-US" sz="2400" dirty="0">
                <a:solidFill>
                  <a:srgbClr val="0099FF"/>
                </a:solidFill>
                <a:latin typeface="Comic Sans MS" charset="0"/>
                <a:ea typeface="ＭＳ Ｐゴシック" charset="0"/>
                <a:sym typeface="Symbol" charset="0"/>
              </a:rPr>
              <a:t></a:t>
            </a:r>
            <a:r>
              <a:rPr lang="it-IT" sz="2400" dirty="0">
                <a:solidFill>
                  <a:srgbClr val="0099FF"/>
                </a:solidFill>
                <a:latin typeface="Comic Sans MS" charset="0"/>
                <a:ea typeface="ＭＳ Ｐゴシック" charset="0"/>
              </a:rPr>
              <a:t> {a}</a:t>
            </a:r>
            <a:r>
              <a:rPr lang="it-IT" sz="2400" dirty="0">
                <a:solidFill>
                  <a:schemeClr val="tx2"/>
                </a:solidFill>
                <a:latin typeface="Comic Sans MS" charset="0"/>
                <a:ea typeface="ＭＳ Ｐゴシック" charset="0"/>
              </a:rPr>
              <a:t> </a:t>
            </a:r>
            <a:r>
              <a:rPr lang="it-IT" sz="2400" dirty="0" err="1">
                <a:solidFill>
                  <a:schemeClr val="tx2"/>
                </a:solidFill>
                <a:latin typeface="Comic Sans MS" charset="0"/>
                <a:ea typeface="ＭＳ Ｐゴシック" charset="0"/>
              </a:rPr>
              <a:t>has</a:t>
            </a:r>
            <a:r>
              <a:rPr lang="it-IT" sz="2400" dirty="0">
                <a:solidFill>
                  <a:schemeClr val="tx2"/>
                </a:solidFill>
                <a:latin typeface="Comic Sans MS" charset="0"/>
                <a:ea typeface="ＭＳ Ｐゴシック" charset="0"/>
              </a:rPr>
              <a:t> </a:t>
            </a:r>
            <a:r>
              <a:rPr lang="it-IT" sz="2400" dirty="0" err="1">
                <a:solidFill>
                  <a:schemeClr val="tx2"/>
                </a:solidFill>
                <a:latin typeface="Comic Sans MS" charset="0"/>
                <a:ea typeface="ＭＳ Ｐゴシック" charset="0"/>
              </a:rPr>
              <a:t>confidence</a:t>
            </a:r>
            <a:r>
              <a:rPr lang="it-IT" sz="2400" dirty="0">
                <a:solidFill>
                  <a:schemeClr val="tx2"/>
                </a:solidFill>
                <a:latin typeface="Comic Sans MS" charset="0"/>
                <a:ea typeface="ＭＳ Ｐゴシック" charset="0"/>
              </a:rPr>
              <a:t> (66%)(2/3), </a:t>
            </a:r>
            <a:r>
              <a:rPr lang="it-IT" sz="2400" dirty="0" err="1">
                <a:solidFill>
                  <a:schemeClr val="tx2"/>
                </a:solidFill>
                <a:latin typeface="Comic Sans MS" charset="0"/>
                <a:ea typeface="ＭＳ Ｐゴシック" charset="0"/>
              </a:rPr>
              <a:t>but</a:t>
            </a:r>
            <a:r>
              <a:rPr lang="it-IT" sz="2400" dirty="0">
                <a:solidFill>
                  <a:schemeClr val="tx2"/>
                </a:solidFill>
                <a:latin typeface="Comic Sans MS" charset="0"/>
                <a:ea typeface="ＭＳ Ｐゴシック" charset="0"/>
              </a:rPr>
              <a:t> </a:t>
            </a:r>
            <a:r>
              <a:rPr lang="it-IT" sz="2400" dirty="0" err="1">
                <a:solidFill>
                  <a:schemeClr val="tx2"/>
                </a:solidFill>
                <a:latin typeface="Comic Sans MS" charset="0"/>
                <a:ea typeface="ＭＳ Ｐゴシック" charset="0"/>
              </a:rPr>
              <a:t>is</a:t>
            </a:r>
            <a:r>
              <a:rPr lang="it-IT" sz="2400" dirty="0">
                <a:solidFill>
                  <a:schemeClr val="tx2"/>
                </a:solidFill>
                <a:latin typeface="Comic Sans MS" charset="0"/>
                <a:ea typeface="ＭＳ Ｐゴシック" charset="0"/>
              </a:rPr>
              <a:t> </a:t>
            </a:r>
            <a:r>
              <a:rPr lang="it-IT" sz="2400" dirty="0" err="1">
                <a:solidFill>
                  <a:schemeClr val="tx2"/>
                </a:solidFill>
                <a:latin typeface="Comic Sans MS" charset="0"/>
                <a:ea typeface="ＭＳ Ｐゴシック" charset="0"/>
              </a:rPr>
              <a:t>not</a:t>
            </a:r>
            <a:r>
              <a:rPr lang="it-IT" sz="2400" dirty="0">
                <a:solidFill>
                  <a:schemeClr val="tx2"/>
                </a:solidFill>
                <a:latin typeface="Comic Sans MS" charset="0"/>
                <a:ea typeface="ＭＳ Ｐゴシック" charset="0"/>
              </a:rPr>
              <a:t> </a:t>
            </a:r>
            <a:r>
              <a:rPr lang="it-IT" sz="2400" dirty="0" err="1">
                <a:solidFill>
                  <a:schemeClr val="tx2"/>
                </a:solidFill>
                <a:latin typeface="Comic Sans MS" charset="0"/>
                <a:ea typeface="ＭＳ Ｐゴシック" charset="0"/>
              </a:rPr>
              <a:t>significant</a:t>
            </a:r>
            <a:r>
              <a:rPr lang="it-IT" sz="2400" dirty="0">
                <a:solidFill>
                  <a:schemeClr val="tx2"/>
                </a:solidFill>
                <a:latin typeface="Comic Sans MS" charset="0"/>
                <a:ea typeface="ＭＳ Ｐゴシック" charset="0"/>
              </a:rPr>
              <a:t>  </a:t>
            </a:r>
            <a:r>
              <a:rPr lang="it-IT" sz="2400" dirty="0" err="1">
                <a:solidFill>
                  <a:schemeClr val="tx2"/>
                </a:solidFill>
                <a:latin typeface="Comic Sans MS" charset="0"/>
                <a:ea typeface="ＭＳ Ｐゴシック" charset="0"/>
              </a:rPr>
              <a:t>as</a:t>
            </a:r>
            <a:r>
              <a:rPr lang="it-IT" sz="2400" dirty="0">
                <a:solidFill>
                  <a:schemeClr val="tx2"/>
                </a:solidFill>
                <a:latin typeface="Comic Sans MS" charset="0"/>
                <a:ea typeface="ＭＳ Ｐゴシック" charset="0"/>
              </a:rPr>
              <a:t> </a:t>
            </a:r>
            <a:r>
              <a:rPr lang="it-IT" sz="2400" dirty="0" err="1">
                <a:solidFill>
                  <a:srgbClr val="0099FF"/>
                </a:solidFill>
                <a:latin typeface="Comic Sans MS" charset="0"/>
                <a:ea typeface="ＭＳ Ｐゴシック" charset="0"/>
              </a:rPr>
              <a:t>support</a:t>
            </a:r>
            <a:r>
              <a:rPr lang="it-IT" sz="2400" dirty="0">
                <a:solidFill>
                  <a:srgbClr val="0099FF"/>
                </a:solidFill>
                <a:latin typeface="Comic Sans MS" charset="0"/>
                <a:ea typeface="ＭＳ Ｐゴシック" charset="0"/>
              </a:rPr>
              <a:t>({a}) = 75%.</a:t>
            </a:r>
            <a:endParaRPr lang="it-IT" dirty="0">
              <a:solidFill>
                <a:schemeClr val="tx2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IntroML, 2022  Reg. Ass. &amp; Patter Mining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78</a:t>
            </a:fld>
            <a:endParaRPr lang="en-US" b="1" i="1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Beyond Support and Confidence</a:t>
            </a:r>
          </a:p>
        </p:txBody>
      </p:sp>
      <p:sp>
        <p:nvSpPr>
          <p:cNvPr id="7475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991544" y="1340769"/>
            <a:ext cx="8415338" cy="52879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omic Sans MS" charset="0"/>
                <a:ea typeface="ＭＳ Ｐゴシック" charset="0"/>
              </a:rPr>
              <a:t>Example 1: (</a:t>
            </a:r>
            <a:r>
              <a:rPr lang="en-US" sz="2400" dirty="0" err="1">
                <a:latin typeface="Comic Sans MS" charset="0"/>
                <a:ea typeface="ＭＳ Ｐゴシック" charset="0"/>
              </a:rPr>
              <a:t>Aggarwal</a:t>
            </a:r>
            <a:r>
              <a:rPr lang="en-US" sz="2400" dirty="0">
                <a:latin typeface="Comic Sans MS" charset="0"/>
                <a:ea typeface="ＭＳ Ｐゴシック" charset="0"/>
              </a:rPr>
              <a:t> &amp; Yu, PODS98)</a:t>
            </a:r>
            <a:br>
              <a:rPr lang="en-US" dirty="0">
                <a:latin typeface="Comic Sans MS" charset="0"/>
                <a:ea typeface="ＭＳ Ｐゴシック" charset="0"/>
              </a:rPr>
            </a:br>
            <a:br>
              <a:rPr lang="en-US" dirty="0">
                <a:latin typeface="Comic Sans MS" charset="0"/>
                <a:ea typeface="ＭＳ Ｐゴシック" charset="0"/>
              </a:rPr>
            </a:br>
            <a:br>
              <a:rPr lang="en-US" dirty="0">
                <a:latin typeface="Comic Sans MS" charset="0"/>
                <a:ea typeface="ＭＳ Ｐゴシック" charset="0"/>
              </a:rPr>
            </a:br>
            <a:br>
              <a:rPr lang="en-US" dirty="0">
                <a:latin typeface="Comic Sans MS" charset="0"/>
                <a:ea typeface="ＭＳ Ｐゴシック" charset="0"/>
              </a:rPr>
            </a:br>
            <a:endParaRPr lang="en-US" dirty="0">
              <a:latin typeface="Comic Sans MS" charset="0"/>
              <a:ea typeface="ＭＳ Ｐゴシック" charset="0"/>
            </a:endParaRPr>
          </a:p>
          <a:p>
            <a:r>
              <a:rPr lang="en-US" sz="2400" dirty="0">
                <a:latin typeface="Tahoma" charset="0"/>
              </a:rPr>
              <a:t>Confidence= P(</a:t>
            </a:r>
            <a:r>
              <a:rPr lang="en-US" sz="2400" dirty="0" err="1">
                <a:latin typeface="Tahoma" charset="0"/>
              </a:rPr>
              <a:t>Coffee|Tea</a:t>
            </a:r>
            <a:r>
              <a:rPr lang="en-US" sz="2400" dirty="0">
                <a:latin typeface="Tahoma" charset="0"/>
              </a:rPr>
              <a:t>) = </a:t>
            </a:r>
            <a:r>
              <a:rPr lang="en-US" sz="2400" dirty="0">
                <a:solidFill>
                  <a:srgbClr val="FF0000"/>
                </a:solidFill>
                <a:latin typeface="Tahoma" charset="0"/>
              </a:rPr>
              <a:t>0.80</a:t>
            </a:r>
          </a:p>
          <a:p>
            <a:r>
              <a:rPr lang="en-US" sz="2400" dirty="0">
                <a:latin typeface="Tahoma" charset="0"/>
              </a:rPr>
              <a:t>P(Coffee) = </a:t>
            </a:r>
            <a:r>
              <a:rPr lang="en-US" sz="2400" dirty="0">
                <a:solidFill>
                  <a:srgbClr val="FF0000"/>
                </a:solidFill>
                <a:latin typeface="Tahoma" charset="0"/>
              </a:rPr>
              <a:t>0.9</a:t>
            </a:r>
            <a:endParaRPr lang="it-IT" sz="2400" dirty="0">
              <a:latin typeface="Comic Sans MS" charset="0"/>
              <a:ea typeface="ＭＳ Ｐゴシック" charset="0"/>
            </a:endParaRPr>
          </a:p>
          <a:p>
            <a:r>
              <a:rPr lang="it-IT" sz="2400" dirty="0">
                <a:latin typeface="Comic Sans MS" charset="0"/>
                <a:ea typeface="ＭＳ Ｐゴシック" charset="0"/>
              </a:rPr>
              <a:t>LIFT</a:t>
            </a:r>
            <a:r>
              <a:rPr lang="en-US" sz="2400" dirty="0">
                <a:latin typeface="Tahoma" charset="0"/>
                <a:sym typeface="Symbol" charset="0"/>
              </a:rPr>
              <a:t> =</a:t>
            </a:r>
            <a:r>
              <a:rPr lang="en-US" sz="2400" dirty="0">
                <a:latin typeface="Tahoma" charset="0"/>
              </a:rPr>
              <a:t> 0.8/0.9= 0.8888 (&lt; 1, therefore is negatively associated)</a:t>
            </a:r>
          </a:p>
          <a:p>
            <a:endParaRPr lang="it-IT" sz="2400" dirty="0">
              <a:latin typeface="Comic Sans MS" charset="0"/>
              <a:ea typeface="ＭＳ Ｐゴシック" charset="0"/>
            </a:endParaRPr>
          </a:p>
          <a:p>
            <a:endParaRPr lang="en-US" dirty="0">
              <a:latin typeface="Comic Sans MS" charset="0"/>
              <a:ea typeface="ＭＳ Ｐゴシック" charset="0"/>
              <a:sym typeface="Symbol" charset="0"/>
            </a:endParaRPr>
          </a:p>
        </p:txBody>
      </p:sp>
      <p:graphicFrame>
        <p:nvGraphicFramePr>
          <p:cNvPr id="74757" name="Object 4"/>
          <p:cNvGraphicFramePr>
            <a:graphicFrameLocks noChangeAspect="1"/>
          </p:cNvGraphicFramePr>
          <p:nvPr/>
        </p:nvGraphicFramePr>
        <p:xfrm>
          <a:off x="2855641" y="1844824"/>
          <a:ext cx="5757863" cy="154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glio di lavoro" r:id="rId2" imgW="2667000" imgH="660400" progId="Excel.Sheet.8">
                  <p:embed/>
                </p:oleObj>
              </mc:Choice>
              <mc:Fallback>
                <p:oleObj name="Foglio di lavoro" r:id="rId2" imgW="2667000" imgH="660400" progId="Excel.Sheet.8">
                  <p:embed/>
                  <p:pic>
                    <p:nvPicPr>
                      <p:cNvPr id="7475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641" y="1844824"/>
                        <a:ext cx="5757863" cy="1544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IntroML, 2022  Reg. Ass. &amp; Patter Mining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79</a:t>
            </a:fld>
            <a:endParaRPr lang="en-US" b="1" i="1"/>
          </a:p>
        </p:txBody>
      </p:sp>
    </p:spTree>
    <p:extLst>
      <p:ext uri="{BB962C8B-B14F-4D97-AF65-F5344CB8AC3E}">
        <p14:creationId xmlns:p14="http://schemas.microsoft.com/office/powerpoint/2010/main" val="140151357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590675" y="312516"/>
            <a:ext cx="9144000" cy="7620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Domain dependent measures</a:t>
            </a:r>
          </a:p>
        </p:txBody>
      </p:sp>
      <p:sp>
        <p:nvSpPr>
          <p:cNvPr id="80900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809750" y="1468439"/>
            <a:ext cx="8705850" cy="5178425"/>
          </a:xfrm>
        </p:spPr>
        <p:txBody>
          <a:bodyPr/>
          <a:lstStyle/>
          <a:p>
            <a:r>
              <a:rPr lang="it-IT" dirty="0" err="1">
                <a:latin typeface="Comic Sans MS" charset="0"/>
                <a:ea typeface="ＭＳ Ｐゴシック" charset="0"/>
              </a:rPr>
              <a:t>Together</a:t>
            </a:r>
            <a:r>
              <a:rPr lang="it-IT" dirty="0">
                <a:latin typeface="Comic Sans MS" charset="0"/>
                <a:ea typeface="ＭＳ Ｐゴシック" charset="0"/>
              </a:rPr>
              <a:t> with </a:t>
            </a:r>
            <a:r>
              <a:rPr lang="it-IT" dirty="0" err="1">
                <a:latin typeface="Comic Sans MS" charset="0"/>
                <a:ea typeface="ＭＳ Ｐゴシック" charset="0"/>
              </a:rPr>
              <a:t>support</a:t>
            </a:r>
            <a:r>
              <a:rPr lang="it-IT" dirty="0">
                <a:latin typeface="Comic Sans MS" charset="0"/>
                <a:ea typeface="ＭＳ Ｐゴシック" charset="0"/>
              </a:rPr>
              <a:t>, </a:t>
            </a:r>
            <a:r>
              <a:rPr lang="it-IT" dirty="0" err="1">
                <a:latin typeface="Comic Sans MS" charset="0"/>
                <a:ea typeface="ＭＳ Ｐゴシック" charset="0"/>
              </a:rPr>
              <a:t>confidence</a:t>
            </a:r>
            <a:r>
              <a:rPr lang="it-IT" dirty="0">
                <a:latin typeface="Comic Sans MS" charset="0"/>
                <a:ea typeface="ＭＳ Ｐゴシック" charset="0"/>
              </a:rPr>
              <a:t>, </a:t>
            </a:r>
            <a:r>
              <a:rPr lang="it-IT" dirty="0" err="1">
                <a:latin typeface="Comic Sans MS" charset="0"/>
                <a:ea typeface="ＭＳ Ｐゴシック" charset="0"/>
              </a:rPr>
              <a:t>interest</a:t>
            </a:r>
            <a:r>
              <a:rPr lang="it-IT" dirty="0">
                <a:latin typeface="Comic Sans MS" charset="0"/>
                <a:ea typeface="ＭＳ Ｐゴシック" charset="0"/>
              </a:rPr>
              <a:t>, …, use </a:t>
            </a:r>
            <a:r>
              <a:rPr lang="it-IT" dirty="0" err="1">
                <a:latin typeface="Comic Sans MS" charset="0"/>
                <a:ea typeface="ＭＳ Ｐゴシック" charset="0"/>
              </a:rPr>
              <a:t>also</a:t>
            </a:r>
            <a:r>
              <a:rPr lang="it-IT" dirty="0">
                <a:latin typeface="Comic Sans MS" charset="0"/>
                <a:ea typeface="ＭＳ Ｐゴシック" charset="0"/>
              </a:rPr>
              <a:t>  (in post-processing) domain-</a:t>
            </a:r>
            <a:r>
              <a:rPr lang="it-IT" dirty="0" err="1">
                <a:latin typeface="Comic Sans MS" charset="0"/>
                <a:ea typeface="ＭＳ Ｐゴシック" charset="0"/>
              </a:rPr>
              <a:t>dependent</a:t>
            </a:r>
            <a:r>
              <a:rPr lang="it-IT" dirty="0">
                <a:latin typeface="Comic Sans MS" charset="0"/>
                <a:ea typeface="ＭＳ Ｐゴシック" charset="0"/>
              </a:rPr>
              <a:t> </a:t>
            </a:r>
            <a:r>
              <a:rPr lang="it-IT" dirty="0" err="1">
                <a:latin typeface="Comic Sans MS" charset="0"/>
                <a:ea typeface="ＭＳ Ｐゴシック" charset="0"/>
              </a:rPr>
              <a:t>measures</a:t>
            </a:r>
            <a:endParaRPr lang="it-IT" dirty="0">
              <a:latin typeface="Comic Sans MS" charset="0"/>
              <a:ea typeface="ＭＳ Ｐゴシック" charset="0"/>
            </a:endParaRPr>
          </a:p>
          <a:p>
            <a:r>
              <a:rPr lang="it-IT" dirty="0">
                <a:latin typeface="Comic Sans MS" charset="0"/>
                <a:ea typeface="ＭＳ Ｐゴシック" charset="0"/>
              </a:rPr>
              <a:t>E.g., use </a:t>
            </a:r>
            <a:r>
              <a:rPr lang="it-IT" dirty="0" err="1">
                <a:latin typeface="Comic Sans MS" charset="0"/>
                <a:ea typeface="ＭＳ Ｐゴシック" charset="0"/>
              </a:rPr>
              <a:t>rule</a:t>
            </a:r>
            <a:r>
              <a:rPr lang="it-IT" dirty="0">
                <a:latin typeface="Comic Sans MS" charset="0"/>
                <a:ea typeface="ＭＳ Ｐゴシック" charset="0"/>
              </a:rPr>
              <a:t> </a:t>
            </a:r>
            <a:r>
              <a:rPr lang="it-IT" dirty="0" err="1">
                <a:latin typeface="Comic Sans MS" charset="0"/>
                <a:ea typeface="ＭＳ Ｐゴシック" charset="0"/>
              </a:rPr>
              <a:t>constraints</a:t>
            </a:r>
            <a:r>
              <a:rPr lang="it-IT" dirty="0">
                <a:latin typeface="Comic Sans MS" charset="0"/>
                <a:ea typeface="ＭＳ Ｐゴシック" charset="0"/>
              </a:rPr>
              <a:t> on </a:t>
            </a:r>
            <a:r>
              <a:rPr lang="it-IT" dirty="0" err="1">
                <a:latin typeface="Comic Sans MS" charset="0"/>
                <a:ea typeface="ＭＳ Ｐゴシック" charset="0"/>
              </a:rPr>
              <a:t>rules</a:t>
            </a:r>
            <a:endParaRPr lang="it-IT" dirty="0">
              <a:latin typeface="Comic Sans MS" charset="0"/>
              <a:ea typeface="ＭＳ Ｐゴシック" charset="0"/>
            </a:endParaRPr>
          </a:p>
          <a:p>
            <a:pPr>
              <a:spcBef>
                <a:spcPct val="50000"/>
              </a:spcBef>
            </a:pPr>
            <a:r>
              <a:rPr lang="it-IT" b="0" dirty="0" err="1">
                <a:latin typeface="Comic Sans MS" charset="0"/>
                <a:ea typeface="ＭＳ Ｐゴシック" charset="0"/>
              </a:rPr>
              <a:t>Example</a:t>
            </a:r>
            <a:r>
              <a:rPr lang="it-IT" b="0" dirty="0">
                <a:latin typeface="Comic Sans MS" charset="0"/>
                <a:ea typeface="ＭＳ Ｐゴシック" charset="0"/>
              </a:rPr>
              <a:t>:  take </a:t>
            </a:r>
            <a:r>
              <a:rPr lang="it-IT" b="0" dirty="0" err="1">
                <a:latin typeface="Comic Sans MS" charset="0"/>
                <a:ea typeface="ＭＳ Ｐゴシック" charset="0"/>
              </a:rPr>
              <a:t>only</a:t>
            </a:r>
            <a:r>
              <a:rPr lang="it-IT" b="0" dirty="0">
                <a:latin typeface="Comic Sans MS" charset="0"/>
                <a:ea typeface="ＭＳ Ｐゴシック" charset="0"/>
              </a:rPr>
              <a:t> </a:t>
            </a:r>
            <a:r>
              <a:rPr lang="it-IT" b="0" dirty="0" err="1">
                <a:latin typeface="Comic Sans MS" charset="0"/>
                <a:ea typeface="ＭＳ Ｐゴシック" charset="0"/>
              </a:rPr>
              <a:t>rules</a:t>
            </a:r>
            <a:r>
              <a:rPr lang="it-IT" b="0" dirty="0">
                <a:latin typeface="Comic Sans MS" charset="0"/>
                <a:ea typeface="ＭＳ Ｐゴシック" charset="0"/>
              </a:rPr>
              <a:t> </a:t>
            </a:r>
            <a:r>
              <a:rPr lang="it-IT" b="0" dirty="0" err="1">
                <a:latin typeface="Comic Sans MS" charset="0"/>
                <a:ea typeface="ＭＳ Ｐゴシック" charset="0"/>
              </a:rPr>
              <a:t>which</a:t>
            </a:r>
            <a:r>
              <a:rPr lang="it-IT" b="0" dirty="0">
                <a:latin typeface="Comic Sans MS" charset="0"/>
                <a:ea typeface="ＭＳ Ｐゴシック" charset="0"/>
              </a:rPr>
              <a:t> are </a:t>
            </a:r>
            <a:r>
              <a:rPr lang="it-IT" b="0" dirty="0" err="1">
                <a:latin typeface="Comic Sans MS" charset="0"/>
                <a:ea typeface="ＭＳ Ｐゴシック" charset="0"/>
              </a:rPr>
              <a:t>significant</a:t>
            </a:r>
            <a:r>
              <a:rPr lang="it-IT" b="0" dirty="0">
                <a:latin typeface="Comic Sans MS" charset="0"/>
                <a:ea typeface="ＭＳ Ｐゴシック" charset="0"/>
              </a:rPr>
              <a:t> with </a:t>
            </a:r>
            <a:r>
              <a:rPr lang="it-IT" b="0" dirty="0" err="1">
                <a:latin typeface="Comic Sans MS" charset="0"/>
                <a:ea typeface="ＭＳ Ｐゴシック" charset="0"/>
              </a:rPr>
              <a:t>respect</a:t>
            </a:r>
            <a:r>
              <a:rPr lang="it-IT" b="0" dirty="0">
                <a:latin typeface="Comic Sans MS" charset="0"/>
                <a:ea typeface="ＭＳ Ｐゴシック" charset="0"/>
              </a:rPr>
              <a:t> </a:t>
            </a:r>
            <a:r>
              <a:rPr lang="it-IT" b="0" dirty="0" err="1">
                <a:latin typeface="Comic Sans MS" charset="0"/>
                <a:ea typeface="ＭＳ Ｐゴシック" charset="0"/>
              </a:rPr>
              <a:t>their</a:t>
            </a:r>
            <a:r>
              <a:rPr lang="it-IT" b="0" dirty="0">
                <a:latin typeface="Comic Sans MS" charset="0"/>
                <a:ea typeface="ＭＳ Ｐゴシック" charset="0"/>
              </a:rPr>
              <a:t> </a:t>
            </a:r>
            <a:r>
              <a:rPr lang="it-IT" b="0" dirty="0" err="1">
                <a:latin typeface="Comic Sans MS" charset="0"/>
                <a:ea typeface="ＭＳ Ｐゴシック" charset="0"/>
              </a:rPr>
              <a:t>economic</a:t>
            </a:r>
            <a:r>
              <a:rPr lang="it-IT" b="0" dirty="0">
                <a:latin typeface="Comic Sans MS" charset="0"/>
                <a:ea typeface="ＭＳ Ｐゴシック" charset="0"/>
              </a:rPr>
              <a:t> </a:t>
            </a:r>
            <a:r>
              <a:rPr lang="it-IT" b="0" dirty="0" err="1">
                <a:latin typeface="Comic Sans MS" charset="0"/>
                <a:ea typeface="ＭＳ Ｐゴシック" charset="0"/>
              </a:rPr>
              <a:t>value</a:t>
            </a:r>
            <a:endParaRPr lang="it-IT" b="0" dirty="0">
              <a:latin typeface="Comic Sans MS" charset="0"/>
              <a:ea typeface="ＭＳ Ｐゴシック" charset="0"/>
            </a:endParaRPr>
          </a:p>
          <a:p>
            <a:pPr>
              <a:spcBef>
                <a:spcPct val="50000"/>
              </a:spcBef>
            </a:pPr>
            <a:r>
              <a:rPr lang="it-IT" b="0" dirty="0">
                <a:latin typeface="Comic Sans MS" charset="0"/>
                <a:ea typeface="ＭＳ Ｐゴシック" charset="0"/>
              </a:rPr>
              <a:t>	</a:t>
            </a:r>
            <a:r>
              <a:rPr lang="en-US" sz="2000" dirty="0">
                <a:latin typeface="Comic Sans MS" charset="0"/>
                <a:ea typeface="ＭＳ Ｐゴシック" charset="0"/>
              </a:rPr>
              <a:t>sum(LHS)+ sum(RHS) &gt; 100  </a:t>
            </a:r>
            <a:endParaRPr lang="it-IT" b="0" dirty="0">
              <a:latin typeface="Comic Sans MS" charset="0"/>
              <a:ea typeface="ＭＳ Ｐゴシック" charset="0"/>
            </a:endParaRPr>
          </a:p>
          <a:p>
            <a:endParaRPr lang="en-US" dirty="0">
              <a:latin typeface="Comic Sans MS" charset="0"/>
              <a:ea typeface="ＭＳ Ｐゴシック" charset="0"/>
            </a:endParaRPr>
          </a:p>
        </p:txBody>
      </p:sp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IntroML, 2022  Reg. Ass. &amp; Patter Mining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80</a:t>
            </a:fld>
            <a:endParaRPr lang="en-US" b="1" i="1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>
                <a:cs typeface="+mj-cs"/>
              </a:rPr>
              <a:t>Rule Constraints</a:t>
            </a:r>
            <a:endParaRPr lang="en-US">
              <a:cs typeface="+mj-cs"/>
            </a:endParaRPr>
          </a:p>
        </p:txBody>
      </p:sp>
      <p:sp>
        <p:nvSpPr>
          <p:cNvPr id="6451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828800" y="1524000"/>
            <a:ext cx="8458200" cy="5029200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</a:pPr>
            <a:r>
              <a:rPr lang="en-US" dirty="0">
                <a:latin typeface="Comic Sans MS" charset="0"/>
                <a:ea typeface="ＭＳ Ｐゴシック" charset="0"/>
              </a:rPr>
              <a:t>Rule form constraints: meta-rule guided mining.</a:t>
            </a:r>
          </a:p>
          <a:p>
            <a:pPr lvl="2">
              <a:lnSpc>
                <a:spcPct val="90000"/>
              </a:lnSpc>
            </a:pPr>
            <a:r>
              <a:rPr lang="en-US" dirty="0">
                <a:latin typeface="Comic Sans MS" charset="0"/>
                <a:ea typeface="ＭＳ Ｐゴシック" charset="0"/>
              </a:rPr>
              <a:t> </a:t>
            </a:r>
            <a:r>
              <a:rPr lang="en-US" sz="1800" dirty="0">
                <a:latin typeface="Comic Sans MS" charset="0"/>
                <a:ea typeface="ＭＳ Ｐゴシック" charset="0"/>
              </a:rPr>
              <a:t>P(x, y) ^ Q(x, w) </a:t>
            </a:r>
            <a:r>
              <a:rPr lang="en-US" sz="1800" dirty="0">
                <a:latin typeface="Symbol" charset="0"/>
                <a:ea typeface="ＭＳ Ｐゴシック" charset="0"/>
              </a:rPr>
              <a:t>®   </a:t>
            </a:r>
            <a:r>
              <a:rPr lang="en-US" sz="1800" dirty="0">
                <a:latin typeface="Comic Sans MS" charset="0"/>
                <a:ea typeface="ＭＳ Ｐゴシック" charset="0"/>
              </a:rPr>
              <a:t>takes(x, “database systems”).</a:t>
            </a:r>
            <a:r>
              <a:rPr lang="en-US" dirty="0">
                <a:latin typeface="Comic Sans MS" charset="0"/>
                <a:ea typeface="ＭＳ Ｐゴシック" charset="0"/>
              </a:rPr>
              <a:t> </a:t>
            </a:r>
          </a:p>
          <a:p>
            <a:pPr lvl="2">
              <a:lnSpc>
                <a:spcPct val="90000"/>
              </a:lnSpc>
            </a:pPr>
            <a:endParaRPr lang="en-US" dirty="0">
              <a:latin typeface="Comic Sans MS" charset="0"/>
              <a:ea typeface="ＭＳ Ｐゴシック" charset="0"/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latin typeface="Comic Sans MS" charset="0"/>
                <a:ea typeface="ＭＳ Ｐゴシック" charset="0"/>
              </a:rPr>
              <a:t>Rule content constraint: constraint-based query optimization </a:t>
            </a:r>
          </a:p>
          <a:p>
            <a:pPr lvl="2">
              <a:lnSpc>
                <a:spcPct val="90000"/>
              </a:lnSpc>
            </a:pPr>
            <a:r>
              <a:rPr lang="en-US" sz="1800" dirty="0">
                <a:latin typeface="Comic Sans MS" charset="0"/>
                <a:ea typeface="ＭＳ Ｐゴシック" charset="0"/>
              </a:rPr>
              <a:t>sum(LHS) &lt; 100 ^ min(LHS) &gt; 20 ^ sum(RHS) &gt; 1000</a:t>
            </a:r>
            <a:r>
              <a:rPr lang="en-US" sz="2800" dirty="0">
                <a:latin typeface="Comic Sans MS" charset="0"/>
                <a:ea typeface="ＭＳ Ｐゴシック" charset="0"/>
              </a:rPr>
              <a:t> </a:t>
            </a:r>
          </a:p>
          <a:p>
            <a:pPr lvl="2">
              <a:lnSpc>
                <a:spcPct val="90000"/>
              </a:lnSpc>
            </a:pPr>
            <a:endParaRPr lang="en-US" sz="2400" dirty="0">
              <a:latin typeface="Comic Sans MS" charset="0"/>
              <a:ea typeface="ＭＳ Ｐゴシック" charset="0"/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latin typeface="Comic Sans MS" charset="0"/>
                <a:ea typeface="ＭＳ Ｐゴシック" charset="0"/>
              </a:rPr>
              <a:t>1-var: A constraint confining only one side (L/R) of the rule, e.g., as shown above. </a:t>
            </a:r>
          </a:p>
          <a:p>
            <a:pPr lvl="1">
              <a:lnSpc>
                <a:spcPct val="90000"/>
              </a:lnSpc>
            </a:pPr>
            <a:endParaRPr lang="en-US" dirty="0">
              <a:latin typeface="Comic Sans MS" charset="0"/>
              <a:ea typeface="ＭＳ Ｐゴシック" charset="0"/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latin typeface="Comic Sans MS" charset="0"/>
                <a:ea typeface="ＭＳ Ｐゴシック" charset="0"/>
              </a:rPr>
              <a:t>2-var: A constraint confining both sides (L and R).</a:t>
            </a:r>
          </a:p>
          <a:p>
            <a:pPr lvl="2">
              <a:lnSpc>
                <a:spcPct val="90000"/>
              </a:lnSpc>
            </a:pPr>
            <a:r>
              <a:rPr lang="en-US" sz="1800" dirty="0">
                <a:latin typeface="Comic Sans MS" charset="0"/>
                <a:ea typeface="ＭＳ Ｐゴシック" charset="0"/>
              </a:rPr>
              <a:t>sum(LHS) &lt; min(RHS) ^ max(RHS) &lt; 5* sum(LHS)</a:t>
            </a:r>
            <a:endParaRPr lang="en-US" dirty="0">
              <a:latin typeface="Comic Sans MS" charset="0"/>
              <a:ea typeface="ＭＳ Ｐゴシック" charset="0"/>
            </a:endParaRPr>
          </a:p>
        </p:txBody>
      </p:sp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IntroML, 2022  Reg. Ass. &amp; Patter Mining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81</a:t>
            </a:fld>
            <a:endParaRPr lang="en-US" b="1" i="1"/>
          </a:p>
        </p:txBody>
      </p:sp>
    </p:spTree>
    <p:extLst>
      <p:ext uri="{BB962C8B-B14F-4D97-AF65-F5344CB8AC3E}">
        <p14:creationId xmlns:p14="http://schemas.microsoft.com/office/powerpoint/2010/main" val="428753496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kumimoji="0" lang="en-AU">
                <a:cs typeface="+mj-cs"/>
              </a:rPr>
              <a:t>Which tools for market basket analysis?</a:t>
            </a:r>
            <a:endParaRPr kumimoji="0" lang="it-IT">
              <a:cs typeface="+mj-cs"/>
            </a:endParaRPr>
          </a:p>
        </p:txBody>
      </p:sp>
      <p:sp>
        <p:nvSpPr>
          <p:cNvPr id="83972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919536" y="1988840"/>
            <a:ext cx="8153400" cy="4495800"/>
          </a:xfrm>
        </p:spPr>
        <p:txBody>
          <a:bodyPr/>
          <a:lstStyle/>
          <a:p>
            <a:r>
              <a:rPr lang="it-IT" dirty="0" err="1">
                <a:latin typeface="Comic Sans MS" charset="0"/>
                <a:ea typeface="ＭＳ Ｐゴシック" charset="0"/>
              </a:rPr>
              <a:t>Association</a:t>
            </a:r>
            <a:r>
              <a:rPr lang="it-IT" dirty="0">
                <a:latin typeface="Comic Sans MS" charset="0"/>
                <a:ea typeface="ＭＳ Ｐゴシック" charset="0"/>
              </a:rPr>
              <a:t> </a:t>
            </a:r>
            <a:r>
              <a:rPr lang="it-IT" dirty="0" err="1">
                <a:latin typeface="Comic Sans MS" charset="0"/>
                <a:ea typeface="ＭＳ Ｐゴシック" charset="0"/>
              </a:rPr>
              <a:t>rule</a:t>
            </a:r>
            <a:r>
              <a:rPr lang="it-IT" dirty="0">
                <a:latin typeface="Comic Sans MS" charset="0"/>
                <a:ea typeface="ＭＳ Ｐゴシック" charset="0"/>
              </a:rPr>
              <a:t> are </a:t>
            </a:r>
            <a:r>
              <a:rPr lang="it-IT" dirty="0" err="1">
                <a:latin typeface="Comic Sans MS" charset="0"/>
                <a:ea typeface="ＭＳ Ｐゴシック" charset="0"/>
              </a:rPr>
              <a:t>needed</a:t>
            </a:r>
            <a:r>
              <a:rPr lang="it-IT" dirty="0">
                <a:latin typeface="Comic Sans MS" charset="0"/>
                <a:ea typeface="ＭＳ Ｐゴシック" charset="0"/>
              </a:rPr>
              <a:t> </a:t>
            </a:r>
            <a:r>
              <a:rPr lang="it-IT" dirty="0" err="1">
                <a:latin typeface="Comic Sans MS" charset="0"/>
                <a:ea typeface="ＭＳ Ｐゴシック" charset="0"/>
              </a:rPr>
              <a:t>but</a:t>
            </a:r>
            <a:r>
              <a:rPr lang="it-IT" dirty="0">
                <a:latin typeface="Comic Sans MS" charset="0"/>
                <a:ea typeface="ＭＳ Ｐゴシック" charset="0"/>
              </a:rPr>
              <a:t> </a:t>
            </a:r>
            <a:r>
              <a:rPr lang="it-IT" dirty="0" err="1">
                <a:latin typeface="Comic Sans MS" charset="0"/>
                <a:ea typeface="ＭＳ Ｐゴシック" charset="0"/>
              </a:rPr>
              <a:t>insufficient</a:t>
            </a:r>
            <a:endParaRPr lang="it-IT" dirty="0">
              <a:latin typeface="Comic Sans MS" charset="0"/>
              <a:ea typeface="ＭＳ Ｐゴシック" charset="0"/>
            </a:endParaRPr>
          </a:p>
          <a:p>
            <a:endParaRPr lang="it-IT" dirty="0">
              <a:latin typeface="Comic Sans MS" charset="0"/>
              <a:ea typeface="ＭＳ Ｐゴシック" charset="0"/>
            </a:endParaRPr>
          </a:p>
          <a:p>
            <a:r>
              <a:rPr lang="it-IT" dirty="0">
                <a:latin typeface="Comic Sans MS" charset="0"/>
                <a:ea typeface="ＭＳ Ｐゴシック" charset="0"/>
              </a:rPr>
              <a:t>Market </a:t>
            </a:r>
            <a:r>
              <a:rPr lang="it-IT" dirty="0" err="1">
                <a:latin typeface="Comic Sans MS" charset="0"/>
                <a:ea typeface="ＭＳ Ｐゴシック" charset="0"/>
              </a:rPr>
              <a:t>analysts</a:t>
            </a:r>
            <a:r>
              <a:rPr lang="it-IT" dirty="0">
                <a:latin typeface="Comic Sans MS" charset="0"/>
                <a:ea typeface="ＭＳ Ｐゴシック" charset="0"/>
              </a:rPr>
              <a:t> </a:t>
            </a:r>
            <a:r>
              <a:rPr lang="it-IT" dirty="0" err="1">
                <a:latin typeface="Comic Sans MS" charset="0"/>
                <a:ea typeface="ＭＳ Ｐゴシック" charset="0"/>
              </a:rPr>
              <a:t>ask</a:t>
            </a:r>
            <a:r>
              <a:rPr lang="it-IT" dirty="0">
                <a:latin typeface="Comic Sans MS" charset="0"/>
                <a:ea typeface="ＭＳ Ｐゴシック" charset="0"/>
              </a:rPr>
              <a:t> for </a:t>
            </a:r>
            <a:r>
              <a:rPr lang="it-IT" dirty="0">
                <a:solidFill>
                  <a:schemeClr val="accent1"/>
                </a:solidFill>
                <a:latin typeface="Comic Sans MS" charset="0"/>
                <a:ea typeface="ＭＳ Ｐゴシック" charset="0"/>
              </a:rPr>
              <a:t>business </a:t>
            </a:r>
            <a:r>
              <a:rPr lang="it-IT" dirty="0" err="1">
                <a:solidFill>
                  <a:schemeClr val="accent1"/>
                </a:solidFill>
                <a:latin typeface="Comic Sans MS" charset="0"/>
                <a:ea typeface="ＭＳ Ｐゴシック" charset="0"/>
              </a:rPr>
              <a:t>rules</a:t>
            </a:r>
            <a:r>
              <a:rPr lang="it-IT" dirty="0">
                <a:latin typeface="Comic Sans MS" charset="0"/>
                <a:ea typeface="ＭＳ Ｐゴシック" charset="0"/>
              </a:rPr>
              <a:t>:</a:t>
            </a:r>
          </a:p>
          <a:p>
            <a:pPr lvl="1"/>
            <a:r>
              <a:rPr kumimoji="0" lang="en-AU" dirty="0">
                <a:latin typeface="Comic Sans MS" charset="0"/>
                <a:ea typeface="ＭＳ Ｐゴシック" charset="0"/>
              </a:rPr>
              <a:t>Is supermarket assortment adequate for the company’s target class of customers?</a:t>
            </a:r>
          </a:p>
          <a:p>
            <a:pPr lvl="1"/>
            <a:r>
              <a:rPr kumimoji="0" lang="en-AU" dirty="0">
                <a:latin typeface="Comic Sans MS" charset="0"/>
                <a:ea typeface="ＭＳ Ｐゴシック" charset="0"/>
              </a:rPr>
              <a:t>Is a promotional campaign effective in establishing a desired purchasing habit?</a:t>
            </a:r>
            <a:endParaRPr kumimoji="0" lang="it-IT" dirty="0">
              <a:latin typeface="Comic Sans MS" charset="0"/>
              <a:ea typeface="ＭＳ Ｐゴシック" charset="0"/>
            </a:endParaRPr>
          </a:p>
        </p:txBody>
      </p:sp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IntroML, 2022  Reg. Ass. &amp; Patter Mining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82</a:t>
            </a:fld>
            <a:endParaRPr lang="en-US" b="1" i="1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it-IT">
                <a:cs typeface="+mj-cs"/>
              </a:rPr>
              <a:t>Business rules: temporal reasoning on AR</a:t>
            </a:r>
          </a:p>
        </p:txBody>
      </p:sp>
      <p:sp>
        <p:nvSpPr>
          <p:cNvPr id="8499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919536" y="1628800"/>
            <a:ext cx="8382000" cy="6858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Comic Sans MS" charset="0"/>
                <a:ea typeface="ＭＳ Ｐゴシック" charset="0"/>
              </a:rPr>
              <a:t>Which rules are established by a promotion? 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Comic Sans MS" charset="0"/>
                <a:ea typeface="ＭＳ Ｐゴシック" charset="0"/>
              </a:rPr>
              <a:t>How do rules change along time?</a:t>
            </a:r>
          </a:p>
          <a:p>
            <a:pPr>
              <a:lnSpc>
                <a:spcPct val="90000"/>
              </a:lnSpc>
            </a:pPr>
            <a:endParaRPr lang="en-US" sz="2400" dirty="0">
              <a:latin typeface="Comic Sans MS" charset="0"/>
              <a:ea typeface="ＭＳ Ｐゴシック" charset="0"/>
            </a:endParaRPr>
          </a:p>
        </p:txBody>
      </p:sp>
      <p:graphicFrame>
        <p:nvGraphicFramePr>
          <p:cNvPr id="84997" name="Object 4"/>
          <p:cNvGraphicFramePr>
            <a:graphicFrameLocks noChangeAspect="1"/>
          </p:cNvGraphicFramePr>
          <p:nvPr/>
        </p:nvGraphicFramePr>
        <p:xfrm>
          <a:off x="1981200" y="2286000"/>
          <a:ext cx="8153400" cy="427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glio di lavoro" r:id="rId2" imgW="7073900" imgH="3721100" progId="Excel.Sheet.8">
                  <p:embed/>
                </p:oleObj>
              </mc:Choice>
              <mc:Fallback>
                <p:oleObj name="Foglio di lavoro" r:id="rId2" imgW="7073900" imgH="3721100" progId="Excel.Sheet.8">
                  <p:embed/>
                  <p:pic>
                    <p:nvPicPr>
                      <p:cNvPr id="8499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286000"/>
                        <a:ext cx="8153400" cy="427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IntroML, 2022  Reg. Ass. &amp; Patter Mining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83</a:t>
            </a:fld>
            <a:endParaRPr lang="en-US" b="1" i="1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>
                <a:latin typeface="Tahoma" charset="0"/>
                <a:ea typeface="ＭＳ Ｐゴシック" charset="0"/>
                <a:cs typeface="ＭＳ Ｐゴシック" charset="0"/>
              </a:rPr>
            </a:br>
            <a:r>
              <a:rPr lang="en-US">
                <a:latin typeface="Tahoma" charset="0"/>
                <a:ea typeface="ＭＳ Ｐゴシック" charset="0"/>
                <a:cs typeface="ＭＳ Ｐゴシック" charset="0"/>
              </a:rPr>
              <a:t> Atherosclerosis prevention study</a:t>
            </a:r>
          </a:p>
        </p:txBody>
      </p:sp>
      <p:sp>
        <p:nvSpPr>
          <p:cNvPr id="4710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sz="2000">
                <a:latin typeface="Tahoma" charset="0"/>
                <a:ea typeface="ＭＳ Ｐゴシック" charset="0"/>
                <a:cs typeface="ＭＳ Ｐゴシック" charset="0"/>
              </a:rPr>
              <a:t>2nd Department of Medicine, 1st Faculty of Medicine of Charles University and Charles University Hospital, U nemocnice 2, Prague 2 (head. Prof. M. Aschermann, MD, SDr, FESC)</a:t>
            </a:r>
          </a:p>
        </p:txBody>
      </p:sp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47107" name="Footer Placeholder 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IntroML, 2022  Reg. Ass. &amp; Patter Mining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4294967295"/>
          </p:nvPr>
        </p:nvSpPr>
        <p:spPr>
          <a:xfrm>
            <a:off x="11353800" y="228600"/>
            <a:ext cx="838200" cy="381000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chemeClr val="tx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 eaLnBrk="1" latinLnBrk="0" hangingPunct="1"/>
            <a:fld id="{F0C94032-CD4C-4C25-B0C2-CEC720522D92}" type="slidenum">
              <a:rPr lang="en-US" smtClean="0"/>
              <a:pPr eaLnBrk="1" latinLnBrk="0" hangingPunct="1"/>
              <a:t>84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69042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IntroML, 2022  Reg. Ass. &amp; Patter Mining</a:t>
            </a:r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Tahoma" charset="0"/>
                <a:ea typeface="ＭＳ Ｐゴシック" charset="0"/>
                <a:cs typeface="ＭＳ Ｐゴシック" charset="0"/>
              </a:rPr>
              <a:t>Atherosclerosis prevention study:</a:t>
            </a:r>
            <a:endParaRPr lang="en-GB">
              <a:latin typeface="Tahom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81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8229600" cy="4572000"/>
          </a:xfrm>
        </p:spPr>
        <p:txBody>
          <a:bodyPr/>
          <a:lstStyle/>
          <a:p>
            <a:pPr marL="609600" indent="-609600"/>
            <a:r>
              <a:rPr lang="en-US">
                <a:latin typeface="Tahoma" charset="0"/>
                <a:ea typeface="ＭＳ Ｐゴシック" charset="0"/>
                <a:cs typeface="ＭＳ Ｐゴシック" charset="0"/>
              </a:rPr>
              <a:t>The STULONG 1 data set is a real database that keeps information about the study of the development of atherosclerosis risk factors in a population of middle aged men. </a:t>
            </a:r>
          </a:p>
          <a:p>
            <a:pPr marL="990600" lvl="1" indent="-533400"/>
            <a:endParaRPr lang="en-US">
              <a:latin typeface="Tahoma" charset="0"/>
              <a:ea typeface="ＭＳ Ｐゴシック" charset="0"/>
            </a:endParaRPr>
          </a:p>
          <a:p>
            <a:pPr marL="609600" indent="-609600"/>
            <a:r>
              <a:rPr lang="en-US">
                <a:latin typeface="Tahoma" charset="0"/>
                <a:ea typeface="ＭＳ Ｐゴシック" charset="0"/>
                <a:cs typeface="ＭＳ Ｐゴシック" charset="0"/>
              </a:rPr>
              <a:t>Used for Discovery Challenge at PKDD 00-02-03-04</a:t>
            </a:r>
          </a:p>
        </p:txBody>
      </p:sp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85</a:t>
            </a:fld>
            <a:endParaRPr lang="en-US" b="1" i="1"/>
          </a:p>
        </p:txBody>
      </p:sp>
    </p:spTree>
    <p:extLst>
      <p:ext uri="{BB962C8B-B14F-4D97-AF65-F5344CB8AC3E}">
        <p14:creationId xmlns:p14="http://schemas.microsoft.com/office/powerpoint/2010/main" val="387836935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IntroML, 2022  Reg. Ass. &amp; Patter Mining</a:t>
            </a:r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"/>
            <a:ext cx="9144000" cy="614363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2800">
                <a:latin typeface="Tahoma" charset="0"/>
                <a:ea typeface="ＭＳ Ｐゴシック" charset="0"/>
                <a:cs typeface="ＭＳ Ｐゴシック" charset="0"/>
              </a:rPr>
              <a:t>The input data</a:t>
            </a:r>
          </a:p>
        </p:txBody>
      </p:sp>
      <p:graphicFrame>
        <p:nvGraphicFramePr>
          <p:cNvPr id="437251" name="Group 3"/>
          <p:cNvGraphicFramePr>
            <a:graphicFrameLocks noGrp="1"/>
          </p:cNvGraphicFramePr>
          <p:nvPr/>
        </p:nvGraphicFramePr>
        <p:xfrm>
          <a:off x="2514600" y="1371601"/>
          <a:ext cx="7620000" cy="4367213"/>
        </p:xfrm>
        <a:graphic>
          <a:graphicData uri="http://schemas.openxmlformats.org/drawingml/2006/table">
            <a:tbl>
              <a:tblPr/>
              <a:tblGrid>
                <a:gridCol w="3017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1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0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81"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cs-CZ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Data </a:t>
                      </a:r>
                      <a:r>
                        <a:rPr kumimoji="1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from Entry and Exams </a:t>
                      </a:r>
                      <a:endParaRPr kumimoji="1" lang="cs-CZ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08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General </a:t>
                      </a:r>
                      <a:r>
                        <a:rPr kumimoji="1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c</a:t>
                      </a: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haract</a:t>
                      </a:r>
                      <a:r>
                        <a:rPr kumimoji="1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eristics 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Examinations</a:t>
                      </a:r>
                      <a:r>
                        <a:rPr kumimoji="1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 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habits</a:t>
                      </a:r>
                      <a:endParaRPr kumimoji="1" lang="cs-CZ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834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Marital status</a:t>
                      </a:r>
                      <a:endParaRPr kumimoji="1" lang="my-MM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Tra</a:t>
                      </a:r>
                      <a:r>
                        <a:rPr kumimoji="1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nsport to a job </a:t>
                      </a:r>
                      <a:endParaRPr kumimoji="1" lang="my-MM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Physical activity in</a:t>
                      </a:r>
                      <a:r>
                        <a:rPr kumimoji="1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 a job</a:t>
                      </a:r>
                      <a:endParaRPr kumimoji="1" lang="my-MM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Activity after </a:t>
                      </a:r>
                      <a:r>
                        <a:rPr kumimoji="1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a job</a:t>
                      </a: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 </a:t>
                      </a:r>
                      <a:endParaRPr kumimoji="1" lang="my-MM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Education</a:t>
                      </a:r>
                      <a:endParaRPr kumimoji="1" lang="my-MM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Responsibility</a:t>
                      </a:r>
                      <a:endParaRPr kumimoji="1" lang="my-MM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Age</a:t>
                      </a:r>
                      <a:endParaRPr kumimoji="1" lang="my-MM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Weight</a:t>
                      </a:r>
                      <a:endParaRPr kumimoji="1" lang="my-MM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Height</a:t>
                      </a:r>
                      <a:endParaRPr kumimoji="1" lang="cs-CZ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Chest pain</a:t>
                      </a:r>
                      <a:r>
                        <a:rPr kumimoji="1" lang="my-MM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 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Breathlesness </a:t>
                      </a:r>
                      <a:endParaRPr kumimoji="1" lang="my-MM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Cholesterol</a:t>
                      </a:r>
                      <a:endParaRPr kumimoji="1" lang="my-MM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Urine </a:t>
                      </a:r>
                      <a:endParaRPr kumimoji="1" lang="my-MM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Subscapular </a:t>
                      </a:r>
                      <a:endParaRPr kumimoji="1" lang="my-MM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Triceps</a:t>
                      </a:r>
                      <a:endParaRPr kumimoji="1" lang="cs-CZ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Alcohol</a:t>
                      </a:r>
                      <a:endParaRPr kumimoji="1" lang="my-MM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Liquors</a:t>
                      </a:r>
                      <a:endParaRPr kumimoji="1" lang="my-MM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Beer 10</a:t>
                      </a:r>
                      <a:endParaRPr kumimoji="1" lang="my-MM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Beer 12</a:t>
                      </a:r>
                      <a:endParaRPr kumimoji="1" lang="my-MM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Wine </a:t>
                      </a:r>
                      <a:endParaRPr kumimoji="1" lang="cs-CZ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Smoking </a:t>
                      </a:r>
                      <a:endParaRPr kumimoji="1" lang="cs-CZ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Former smoker </a:t>
                      </a:r>
                      <a:r>
                        <a:rPr kumimoji="1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Duration</a:t>
                      </a: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 of smoking</a:t>
                      </a:r>
                      <a:endParaRPr kumimoji="1" lang="my-MM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Tea</a:t>
                      </a:r>
                      <a:endParaRPr kumimoji="1" lang="my-MM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Sugar</a:t>
                      </a:r>
                      <a:endParaRPr kumimoji="1" lang="my-MM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Coffe</a:t>
                      </a:r>
                      <a:r>
                        <a:rPr kumimoji="1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e</a:t>
                      </a:r>
                      <a:endParaRPr kumimoji="1" lang="my-MM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86</a:t>
            </a:fld>
            <a:endParaRPr lang="en-US" b="1" i="1"/>
          </a:p>
        </p:txBody>
      </p:sp>
    </p:spTree>
    <p:extLst>
      <p:ext uri="{BB962C8B-B14F-4D97-AF65-F5344CB8AC3E}">
        <p14:creationId xmlns:p14="http://schemas.microsoft.com/office/powerpoint/2010/main" val="377824904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IntroML, 2022  Reg. Ass. &amp; Patter Mining</a:t>
            </a:r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"/>
            <a:ext cx="9144000" cy="614363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2800">
                <a:latin typeface="Tahoma" charset="0"/>
                <a:ea typeface="ＭＳ Ｐゴシック" charset="0"/>
                <a:cs typeface="ＭＳ Ｐゴシック" charset="0"/>
              </a:rPr>
              <a:t>The input data</a:t>
            </a:r>
          </a:p>
        </p:txBody>
      </p:sp>
      <p:graphicFrame>
        <p:nvGraphicFramePr>
          <p:cNvPr id="438275" name="Group 3"/>
          <p:cNvGraphicFramePr>
            <a:graphicFrameLocks noGrp="1"/>
          </p:cNvGraphicFramePr>
          <p:nvPr>
            <p:ph type="body" idx="1"/>
          </p:nvPr>
        </p:nvGraphicFramePr>
        <p:xfrm>
          <a:off x="2286000" y="1447800"/>
          <a:ext cx="7924800" cy="4860926"/>
        </p:xfrm>
        <a:graphic>
          <a:graphicData uri="http://schemas.openxmlformats.org/drawingml/2006/table">
            <a:tbl>
              <a:tblPr/>
              <a:tblGrid>
                <a:gridCol w="420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DEATH CAUSE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PATIENTS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myocardial infarction</a:t>
                      </a:r>
                      <a:r>
                        <a:rPr kumimoji="1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 80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20.6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coronary heart disease</a:t>
                      </a:r>
                      <a:r>
                        <a:rPr kumimoji="1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 33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  8.5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stroke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 30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  7.7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other causes</a:t>
                      </a:r>
                      <a:r>
                        <a:rPr kumimoji="1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 79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20.3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sudden death</a:t>
                      </a:r>
                      <a:r>
                        <a:rPr kumimoji="1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 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  5.9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unknown</a:t>
                      </a:r>
                      <a:r>
                        <a:rPr kumimoji="1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   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  2.0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tumorous disease</a:t>
                      </a:r>
                      <a:r>
                        <a:rPr kumimoji="1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114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29.3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general atherosclerosis</a:t>
                      </a:r>
                      <a:r>
                        <a:rPr kumimoji="1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 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  5.7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cs-CZ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TOTAL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389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FF"/>
                        </a:buClr>
                        <a:buSzTx/>
                        <a:buFont typeface="Monotype Sorts" charset="0"/>
                        <a:buNone/>
                        <a:tabLst/>
                      </a:pPr>
                      <a:r>
                        <a:rPr kumimoji="1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</a:rPr>
                        <a:t>100.0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87</a:t>
            </a:fld>
            <a:endParaRPr lang="en-US" b="1" i="1"/>
          </a:p>
        </p:txBody>
      </p:sp>
    </p:spTree>
    <p:extLst>
      <p:ext uri="{BB962C8B-B14F-4D97-AF65-F5344CB8AC3E}">
        <p14:creationId xmlns:p14="http://schemas.microsoft.com/office/powerpoint/2010/main" val="71872113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IntroML, 2022  Reg. Ass. &amp; Patter Mining</a:t>
            </a:r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"/>
            <a:ext cx="9144000" cy="614363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2800">
                <a:latin typeface="Tahoma" charset="0"/>
                <a:ea typeface="ＭＳ Ｐゴシック" charset="0"/>
                <a:cs typeface="ＭＳ Ｐゴシック" charset="0"/>
              </a:rPr>
              <a:t>The prepared data</a:t>
            </a:r>
          </a:p>
        </p:txBody>
      </p:sp>
      <p:graphicFrame>
        <p:nvGraphicFramePr>
          <p:cNvPr id="53251" name="Object 3"/>
          <p:cNvGraphicFramePr>
            <a:graphicFrameLocks noChangeAspect="1"/>
          </p:cNvGraphicFramePr>
          <p:nvPr/>
        </p:nvGraphicFramePr>
        <p:xfrm>
          <a:off x="2212976" y="1905000"/>
          <a:ext cx="8088313" cy="452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" imgW="5719572" imgH="3031236" progId="Word.Document.8">
                  <p:embed/>
                </p:oleObj>
              </mc:Choice>
              <mc:Fallback>
                <p:oleObj name="Documento" r:id="rId2" imgW="5719572" imgH="3031236" progId="Word.Document.8">
                  <p:embed/>
                  <p:pic>
                    <p:nvPicPr>
                      <p:cNvPr id="532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2976" y="1905000"/>
                        <a:ext cx="8088313" cy="45275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88</a:t>
            </a:fld>
            <a:endParaRPr lang="en-US" b="1" i="1"/>
          </a:p>
        </p:txBody>
      </p:sp>
    </p:spTree>
    <p:extLst>
      <p:ext uri="{BB962C8B-B14F-4D97-AF65-F5344CB8AC3E}">
        <p14:creationId xmlns:p14="http://schemas.microsoft.com/office/powerpoint/2010/main" val="405539025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IntroML, 2022  Reg. Ass. &amp; Patter Mining</a:t>
            </a:r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2800">
                <a:latin typeface="Tahoma" charset="0"/>
                <a:ea typeface="ＭＳ Ｐゴシック" charset="0"/>
                <a:cs typeface="ＭＳ Ｐゴシック" charset="0"/>
              </a:rPr>
              <a:t>Descriptive Analysis/ Subgroup Discovery</a:t>
            </a:r>
            <a:r>
              <a:rPr lang="it-IT" sz="3600">
                <a:latin typeface="Tahoma" charset="0"/>
                <a:ea typeface="ＭＳ Ｐゴシック" charset="0"/>
                <a:cs typeface="ＭＳ Ｐゴシック" charset="0"/>
              </a:rPr>
              <a:t> /</a:t>
            </a:r>
            <a:r>
              <a:rPr lang="it-IT">
                <a:latin typeface="Tahoma" charset="0"/>
                <a:ea typeface="ＭＳ Ｐゴシック" charset="0"/>
                <a:cs typeface="ＭＳ Ｐゴシック" charset="0"/>
              </a:rPr>
              <a:t>Association Rules</a:t>
            </a:r>
            <a:endParaRPr lang="en-GB">
              <a:latin typeface="Tahom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42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209800" y="1676400"/>
            <a:ext cx="7772400" cy="4114800"/>
          </a:xfrm>
        </p:spPr>
        <p:txBody>
          <a:bodyPr/>
          <a:lstStyle/>
          <a:p>
            <a:pPr marL="533400" indent="-533400">
              <a:buClr>
                <a:schemeClr val="bg1"/>
              </a:buClr>
              <a:buNone/>
            </a:pPr>
            <a:r>
              <a:rPr lang="cs-CZ" sz="2000">
                <a:latin typeface="Tahoma" charset="0"/>
                <a:ea typeface="ＭＳ Ｐゴシック" charset="0"/>
                <a:cs typeface="ＭＳ Ｐゴシック" charset="0"/>
              </a:rPr>
              <a:t>Are there strong relations concerning death cause?</a:t>
            </a:r>
          </a:p>
          <a:p>
            <a:pPr marL="533400" indent="-533400">
              <a:lnSpc>
                <a:spcPct val="200000"/>
              </a:lnSpc>
              <a:buClr>
                <a:schemeClr val="bg1"/>
              </a:buClr>
              <a:buFontTx/>
              <a:buAutoNum type="arabicPeriod"/>
            </a:pPr>
            <a:r>
              <a:rPr lang="en-US" sz="2000">
                <a:latin typeface="Tahoma" charset="0"/>
                <a:ea typeface="ＭＳ Ｐゴシック" charset="0"/>
                <a:cs typeface="ＭＳ Ｐゴシック" charset="0"/>
              </a:rPr>
              <a:t>General characteristics (?</a:t>
            </a:r>
            <a:r>
              <a:rPr lang="cs-CZ" sz="2000">
                <a:latin typeface="Tahoma" charset="0"/>
                <a:ea typeface="ＭＳ Ｐゴシック" charset="0"/>
                <a:cs typeface="ＭＳ Ｐゴシック" charset="0"/>
              </a:rPr>
              <a:t>)</a:t>
            </a:r>
            <a:r>
              <a:rPr lang="en-US" sz="2000">
                <a:latin typeface="Tahoma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400">
                <a:latin typeface="Tahoma" charset="0"/>
                <a:ea typeface="ＭＳ Ｐゴシック" charset="0"/>
                <a:cs typeface="ＭＳ Ｐゴシック" charset="0"/>
                <a:sym typeface="Symbol" charset="0"/>
              </a:rPr>
              <a:t></a:t>
            </a:r>
            <a:r>
              <a:rPr lang="en-US" sz="2000">
                <a:latin typeface="Tahoma" charset="0"/>
                <a:ea typeface="ＭＳ Ｐゴシック" charset="0"/>
                <a:cs typeface="ＭＳ Ｐゴシック" charset="0"/>
              </a:rPr>
              <a:t> Death cause (?) </a:t>
            </a:r>
            <a:endParaRPr lang="cs-CZ" sz="2000">
              <a:latin typeface="Tahoma" charset="0"/>
              <a:ea typeface="ＭＳ Ｐゴシック" charset="0"/>
              <a:cs typeface="ＭＳ Ｐゴシック" charset="0"/>
            </a:endParaRPr>
          </a:p>
          <a:p>
            <a:pPr marL="533400" indent="-533400">
              <a:lnSpc>
                <a:spcPct val="200000"/>
              </a:lnSpc>
              <a:buClr>
                <a:schemeClr val="bg1"/>
              </a:buClr>
              <a:buFontTx/>
              <a:buAutoNum type="arabicPeriod"/>
            </a:pPr>
            <a:r>
              <a:rPr lang="en-US" sz="2000">
                <a:latin typeface="Tahoma" charset="0"/>
                <a:ea typeface="ＭＳ Ｐゴシック" charset="0"/>
                <a:cs typeface="ＭＳ Ｐゴシック" charset="0"/>
              </a:rPr>
              <a:t>Examinations (?</a:t>
            </a:r>
            <a:r>
              <a:rPr lang="cs-CZ" sz="2000">
                <a:latin typeface="Tahoma" charset="0"/>
                <a:ea typeface="ＭＳ Ｐゴシック" charset="0"/>
                <a:cs typeface="ＭＳ Ｐゴシック" charset="0"/>
              </a:rPr>
              <a:t>)</a:t>
            </a:r>
            <a:r>
              <a:rPr lang="my-MM" sz="2000">
                <a:latin typeface="Tahoma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400">
                <a:latin typeface="Tahoma" charset="0"/>
                <a:ea typeface="ＭＳ Ｐゴシック" charset="0"/>
                <a:cs typeface="ＭＳ Ｐゴシック" charset="0"/>
                <a:sym typeface="Symbol" charset="0"/>
              </a:rPr>
              <a:t></a:t>
            </a:r>
            <a:r>
              <a:rPr lang="en-US" sz="2000">
                <a:latin typeface="Tahoma" charset="0"/>
                <a:ea typeface="ＭＳ Ｐゴシック" charset="0"/>
                <a:cs typeface="ＭＳ Ｐゴシック" charset="0"/>
              </a:rPr>
              <a:t> Death cause (?)</a:t>
            </a:r>
            <a:r>
              <a:rPr lang="cs-CZ" sz="2000">
                <a:latin typeface="Tahoma" charset="0"/>
                <a:ea typeface="ＭＳ Ｐゴシック" charset="0"/>
                <a:cs typeface="ＭＳ Ｐゴシック" charset="0"/>
              </a:rPr>
              <a:t> </a:t>
            </a:r>
          </a:p>
          <a:p>
            <a:pPr marL="533400" indent="-533400">
              <a:lnSpc>
                <a:spcPct val="200000"/>
              </a:lnSpc>
              <a:buClr>
                <a:schemeClr val="bg1"/>
              </a:buClr>
              <a:buFontTx/>
              <a:buAutoNum type="arabicPeriod"/>
            </a:pPr>
            <a:r>
              <a:rPr lang="en-US" sz="2000">
                <a:latin typeface="Tahoma" charset="0"/>
                <a:ea typeface="ＭＳ Ｐゴシック" charset="0"/>
                <a:cs typeface="ＭＳ Ｐゴシック" charset="0"/>
              </a:rPr>
              <a:t>Habits (?</a:t>
            </a:r>
            <a:r>
              <a:rPr lang="cs-CZ" sz="2000">
                <a:latin typeface="Tahoma" charset="0"/>
                <a:ea typeface="ＭＳ Ｐゴシック" charset="0"/>
                <a:cs typeface="ＭＳ Ｐゴシック" charset="0"/>
              </a:rPr>
              <a:t>)</a:t>
            </a:r>
            <a:r>
              <a:rPr lang="my-MM" sz="2000">
                <a:latin typeface="Tahoma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400">
                <a:latin typeface="Tahoma" charset="0"/>
                <a:ea typeface="ＭＳ Ｐゴシック" charset="0"/>
                <a:cs typeface="ＭＳ Ｐゴシック" charset="0"/>
                <a:sym typeface="Symbol" charset="0"/>
              </a:rPr>
              <a:t></a:t>
            </a:r>
            <a:r>
              <a:rPr lang="en-US" sz="2000">
                <a:latin typeface="Tahoma" charset="0"/>
                <a:ea typeface="ＭＳ Ｐゴシック" charset="0"/>
                <a:cs typeface="ＭＳ Ｐゴシック" charset="0"/>
              </a:rPr>
              <a:t> Death cause (?</a:t>
            </a:r>
            <a:r>
              <a:rPr lang="cs-CZ" sz="2000">
                <a:latin typeface="Tahoma" charset="0"/>
                <a:ea typeface="ＭＳ Ｐゴシック" charset="0"/>
                <a:cs typeface="ＭＳ Ｐゴシック" charset="0"/>
              </a:rPr>
              <a:t>)</a:t>
            </a:r>
          </a:p>
          <a:p>
            <a:pPr marL="533400" indent="-533400">
              <a:lnSpc>
                <a:spcPct val="200000"/>
              </a:lnSpc>
              <a:buClr>
                <a:schemeClr val="bg1"/>
              </a:buClr>
              <a:buFontTx/>
              <a:buAutoNum type="arabicPeriod"/>
            </a:pPr>
            <a:r>
              <a:rPr lang="en-US" sz="2000">
                <a:latin typeface="Tahoma" charset="0"/>
                <a:ea typeface="ＭＳ Ｐゴシック" charset="0"/>
                <a:cs typeface="ＭＳ Ｐゴシック" charset="0"/>
              </a:rPr>
              <a:t>Combinations</a:t>
            </a:r>
            <a:r>
              <a:rPr lang="cs-CZ" sz="2000">
                <a:latin typeface="Tahom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>
                <a:latin typeface="Tahoma" charset="0"/>
                <a:ea typeface="ＭＳ Ｐゴシック" charset="0"/>
                <a:cs typeface="ＭＳ Ｐゴシック" charset="0"/>
              </a:rPr>
              <a:t>(?</a:t>
            </a:r>
            <a:r>
              <a:rPr lang="cs-CZ" sz="2000">
                <a:latin typeface="Tahoma" charset="0"/>
                <a:ea typeface="ＭＳ Ｐゴシック" charset="0"/>
                <a:cs typeface="ＭＳ Ｐゴシック" charset="0"/>
              </a:rPr>
              <a:t>)</a:t>
            </a:r>
            <a:r>
              <a:rPr lang="en-US" sz="2000">
                <a:latin typeface="Tahoma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400">
                <a:latin typeface="Tahoma" charset="0"/>
                <a:ea typeface="ＭＳ Ｐゴシック" charset="0"/>
                <a:cs typeface="ＭＳ Ｐゴシック" charset="0"/>
                <a:sym typeface="Symbol" charset="0"/>
              </a:rPr>
              <a:t></a:t>
            </a:r>
            <a:r>
              <a:rPr lang="en-US" sz="2000">
                <a:latin typeface="Tahoma" charset="0"/>
                <a:ea typeface="ＭＳ Ｐゴシック" charset="0"/>
                <a:cs typeface="ＭＳ Ｐゴシック" charset="0"/>
              </a:rPr>
              <a:t> Death cause (?)</a:t>
            </a:r>
            <a:r>
              <a:rPr lang="cs-CZ" sz="2000">
                <a:latin typeface="Tahoma" charset="0"/>
                <a:ea typeface="ＭＳ Ｐゴシック" charset="0"/>
                <a:cs typeface="ＭＳ Ｐゴシック" charset="0"/>
              </a:rPr>
              <a:t> </a:t>
            </a:r>
          </a:p>
          <a:p>
            <a:pPr marL="533400" indent="-533400">
              <a:buNone/>
            </a:pPr>
            <a:endParaRPr lang="en-GB" sz="1800">
              <a:latin typeface="Tahom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89</a:t>
            </a:fld>
            <a:endParaRPr lang="en-US" b="1" i="1"/>
          </a:p>
        </p:txBody>
      </p:sp>
    </p:spTree>
    <p:extLst>
      <p:ext uri="{BB962C8B-B14F-4D97-AF65-F5344CB8AC3E}">
        <p14:creationId xmlns:p14="http://schemas.microsoft.com/office/powerpoint/2010/main" val="299071796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IntroML, 2022  Reg. Ass. &amp; Patter Mining</a:t>
            </a:r>
          </a:p>
        </p:txBody>
      </p:sp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Tahoma" charset="0"/>
                <a:ea typeface="ＭＳ Ｐゴシック" charset="0"/>
                <a:cs typeface="ＭＳ Ｐゴシック" charset="0"/>
              </a:rPr>
              <a:t>Example of extracted rules</a:t>
            </a:r>
          </a:p>
        </p:txBody>
      </p:sp>
      <p:sp>
        <p:nvSpPr>
          <p:cNvPr id="552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C96F03"/>
                </a:solidFill>
                <a:latin typeface="Arial" charset="0"/>
                <a:ea typeface="ＭＳ Ｐゴシック" charset="0"/>
                <a:cs typeface="ＭＳ Ｐゴシック" charset="0"/>
              </a:rPr>
              <a:t>Education(university) &amp; Height&lt;176-180&gt; </a:t>
            </a:r>
            <a:r>
              <a:rPr lang="en-US">
                <a:solidFill>
                  <a:srgbClr val="C96F03"/>
                </a:solidFill>
                <a:latin typeface="Symbol" charset="0"/>
                <a:ea typeface="ＭＳ Ｐゴシック" charset="0"/>
                <a:cs typeface="ＭＳ Ｐゴシック" charset="0"/>
              </a:rPr>
              <a:t>Þ</a:t>
            </a:r>
            <a:r>
              <a:rPr lang="en-US">
                <a:solidFill>
                  <a:srgbClr val="C96F03"/>
                </a:solidFill>
                <a:latin typeface="Arial" charset="0"/>
                <a:ea typeface="ＭＳ Ｐゴシック" charset="0"/>
                <a:cs typeface="ＭＳ Ｐゴシック" charset="0"/>
              </a:rPr>
              <a:t>Death cause (tumouros disease), </a:t>
            </a:r>
            <a:r>
              <a:rPr lang="en-US" i="1">
                <a:solidFill>
                  <a:srgbClr val="C96F03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16 ; 0.62</a:t>
            </a:r>
            <a:endParaRPr lang="en-US">
              <a:solidFill>
                <a:srgbClr val="C96F03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r>
              <a:rPr lang="en-US">
                <a:latin typeface="Times New Roman" charset="0"/>
                <a:ea typeface="ＭＳ Ｐゴシック" charset="0"/>
                <a:cs typeface="ＭＳ Ｐゴシック" charset="0"/>
              </a:rPr>
              <a:t>It means that on tumorous disease have died 16, i.e. 62% of patients with university education and with height 176-180 cm.</a:t>
            </a: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  <a:p>
            <a:endParaRPr lang="en-US">
              <a:latin typeface="Tahom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90</a:t>
            </a:fld>
            <a:endParaRPr lang="en-US" b="1" i="1"/>
          </a:p>
        </p:txBody>
      </p:sp>
    </p:spTree>
    <p:extLst>
      <p:ext uri="{BB962C8B-B14F-4D97-AF65-F5344CB8AC3E}">
        <p14:creationId xmlns:p14="http://schemas.microsoft.com/office/powerpoint/2010/main" val="394984340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IntroML, 2022  Reg. Ass. &amp; Patter Mining</a:t>
            </a:r>
          </a:p>
        </p:txBody>
      </p:sp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Tahoma" charset="0"/>
                <a:ea typeface="ＭＳ Ｐゴシック" charset="0"/>
                <a:cs typeface="ＭＳ Ｐゴシック" charset="0"/>
              </a:rPr>
              <a:t>Example of extracted rules</a:t>
            </a:r>
          </a:p>
        </p:txBody>
      </p:sp>
      <p:sp>
        <p:nvSpPr>
          <p:cNvPr id="5632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C96F03"/>
                </a:solidFill>
                <a:latin typeface="Arial" charset="0"/>
                <a:ea typeface="ＭＳ Ｐゴシック" charset="0"/>
                <a:cs typeface="ＭＳ Ｐゴシック" charset="0"/>
              </a:rPr>
              <a:t>Physical activity in work(he mainly sits) &amp; Height&lt;176-180&gt; </a:t>
            </a:r>
            <a:r>
              <a:rPr lang="en-US">
                <a:solidFill>
                  <a:srgbClr val="C96F03"/>
                </a:solidFill>
                <a:latin typeface="Symbol" charset="0"/>
                <a:ea typeface="ＭＳ Ｐゴシック" charset="0"/>
                <a:cs typeface="ＭＳ Ｐゴシック" charset="0"/>
              </a:rPr>
              <a:t>Þ</a:t>
            </a:r>
            <a:r>
              <a:rPr lang="en-US" i="1">
                <a:solidFill>
                  <a:srgbClr val="C96F03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 </a:t>
            </a:r>
            <a:r>
              <a:rPr lang="en-US">
                <a:solidFill>
                  <a:srgbClr val="C96F03"/>
                </a:solidFill>
                <a:latin typeface="Arial" charset="0"/>
                <a:ea typeface="ＭＳ Ｐゴシック" charset="0"/>
                <a:cs typeface="ＭＳ Ｐゴシック" charset="0"/>
              </a:rPr>
              <a:t>Death cause (tumouros disease), </a:t>
            </a:r>
            <a:r>
              <a:rPr lang="en-US" i="1">
                <a:solidFill>
                  <a:srgbClr val="C96F03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24; 0.52</a:t>
            </a:r>
            <a:endParaRPr lang="en-US">
              <a:solidFill>
                <a:srgbClr val="C96F03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r>
              <a:rPr lang="en-US">
                <a:latin typeface="Times New Roman" charset="0"/>
                <a:ea typeface="ＭＳ Ｐゴシック" charset="0"/>
                <a:cs typeface="ＭＳ Ｐゴシック" charset="0"/>
              </a:rPr>
              <a:t>It means that on tumorous disease have died 24 i.e. 52% of patients that mainly sit in the work and whose height is 176-180 cm.</a:t>
            </a:r>
          </a:p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91</a:t>
            </a:fld>
            <a:endParaRPr lang="en-US" b="1" i="1"/>
          </a:p>
        </p:txBody>
      </p:sp>
    </p:spTree>
    <p:extLst>
      <p:ext uri="{BB962C8B-B14F-4D97-AF65-F5344CB8AC3E}">
        <p14:creationId xmlns:p14="http://schemas.microsoft.com/office/powerpoint/2010/main" val="339445789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IntroML, 2022  Reg. Ass. &amp; Patter Mining</a:t>
            </a:r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Tahoma" charset="0"/>
                <a:ea typeface="ＭＳ Ｐゴシック" charset="0"/>
                <a:cs typeface="ＭＳ Ｐゴシック" charset="0"/>
              </a:rPr>
              <a:t>Example of extracted rules</a:t>
            </a:r>
          </a:p>
        </p:txBody>
      </p:sp>
      <p:sp>
        <p:nvSpPr>
          <p:cNvPr id="573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362200" y="1600200"/>
            <a:ext cx="7772400" cy="4419600"/>
          </a:xfrm>
        </p:spPr>
        <p:txBody>
          <a:bodyPr/>
          <a:lstStyle/>
          <a:p>
            <a:r>
              <a:rPr lang="en-US">
                <a:solidFill>
                  <a:srgbClr val="C96F03"/>
                </a:solidFill>
                <a:latin typeface="Arial" charset="0"/>
                <a:ea typeface="ＭＳ Ｐゴシック" charset="0"/>
                <a:cs typeface="ＭＳ Ｐゴシック" charset="0"/>
              </a:rPr>
              <a:t>Education(university) &amp; Height&lt;176-180&gt; </a:t>
            </a:r>
            <a:br>
              <a:rPr lang="en-US">
                <a:solidFill>
                  <a:srgbClr val="C96F03"/>
                </a:solidFill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>
                <a:solidFill>
                  <a:srgbClr val="C96F03"/>
                </a:solidFill>
                <a:latin typeface="Symbol" charset="0"/>
                <a:ea typeface="ＭＳ Ｐゴシック" charset="0"/>
                <a:cs typeface="ＭＳ Ｐゴシック" charset="0"/>
              </a:rPr>
              <a:t>Þ</a:t>
            </a:r>
            <a:r>
              <a:rPr lang="en-US">
                <a:solidFill>
                  <a:srgbClr val="C96F03"/>
                </a:solidFill>
                <a:latin typeface="Arial" charset="0"/>
                <a:ea typeface="ＭＳ Ｐゴシック" charset="0"/>
                <a:cs typeface="ＭＳ Ｐゴシック" charset="0"/>
              </a:rPr>
              <a:t>Death cause (tumouros disease),               	</a:t>
            </a:r>
            <a:r>
              <a:rPr lang="en-US" i="1">
                <a:solidFill>
                  <a:srgbClr val="C96F03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16; 0.62; +1.1;</a:t>
            </a:r>
            <a:endParaRPr lang="en-US">
              <a:solidFill>
                <a:srgbClr val="C96F03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  <a:p>
            <a:r>
              <a:rPr lang="en-US">
                <a:latin typeface="Times New Roman" charset="0"/>
                <a:ea typeface="ＭＳ Ｐゴシック" charset="0"/>
                <a:cs typeface="ＭＳ Ｐゴシック" charset="0"/>
              </a:rPr>
              <a:t>the relative frequency of patients who died on tumorous disease among patients with university education and with height 176-180 cm is 110 per cent higher than the relative frequency of patients who died on tumorous disease among all the 389 observed patients</a:t>
            </a:r>
          </a:p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92</a:t>
            </a:fld>
            <a:endParaRPr lang="en-US" b="1" i="1"/>
          </a:p>
        </p:txBody>
      </p:sp>
    </p:spTree>
    <p:extLst>
      <p:ext uri="{BB962C8B-B14F-4D97-AF65-F5344CB8AC3E}">
        <p14:creationId xmlns:p14="http://schemas.microsoft.com/office/powerpoint/2010/main" val="309711680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0480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Comic Sans MS" charset="0"/>
                <a:ea typeface="ＭＳ Ｐゴシック" charset="0"/>
              </a:rPr>
              <a:t>MBA in Text / Web Content Mining</a:t>
            </a:r>
          </a:p>
        </p:txBody>
      </p:sp>
      <p:sp>
        <p:nvSpPr>
          <p:cNvPr id="89092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136648" y="1600200"/>
            <a:ext cx="8207824" cy="5141168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latin typeface="Comic Sans MS" charset="0"/>
                <a:ea typeface="ＭＳ Ｐゴシック" charset="0"/>
              </a:rPr>
              <a:t>Documents Associations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latin typeface="Comic Sans MS" charset="0"/>
                <a:ea typeface="ＭＳ Ｐゴシック" charset="0"/>
              </a:rPr>
              <a:t>Find (content-based) associations among documents in a collection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latin typeface="Comic Sans MS" charset="0"/>
                <a:ea typeface="ＭＳ Ｐゴシック" charset="0"/>
              </a:rPr>
              <a:t>Documents correspond to items and words correspond to transactions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latin typeface="Comic Sans MS" charset="0"/>
                <a:ea typeface="ＭＳ Ｐゴシック" charset="0"/>
              </a:rPr>
              <a:t>Frequent </a:t>
            </a:r>
            <a:r>
              <a:rPr lang="en-US" sz="1800" dirty="0" err="1">
                <a:latin typeface="Comic Sans MS" charset="0"/>
                <a:ea typeface="ＭＳ Ｐゴシック" charset="0"/>
              </a:rPr>
              <a:t>itemsets</a:t>
            </a:r>
            <a:r>
              <a:rPr lang="en-US" sz="1800" dirty="0">
                <a:latin typeface="Comic Sans MS" charset="0"/>
                <a:ea typeface="ＭＳ Ｐゴシック" charset="0"/>
              </a:rPr>
              <a:t> are groups of docs in which many words occur in common</a:t>
            </a:r>
          </a:p>
          <a:p>
            <a:pPr lvl="1">
              <a:lnSpc>
                <a:spcPct val="90000"/>
              </a:lnSpc>
            </a:pPr>
            <a:endParaRPr lang="en-US" sz="1800" dirty="0">
              <a:latin typeface="Comic Sans MS" charset="0"/>
              <a:ea typeface="ＭＳ Ｐゴシック" charset="0"/>
            </a:endParaRPr>
          </a:p>
          <a:p>
            <a:pPr lvl="1">
              <a:lnSpc>
                <a:spcPct val="90000"/>
              </a:lnSpc>
            </a:pPr>
            <a:endParaRPr lang="en-US" sz="2000" dirty="0">
              <a:latin typeface="Comic Sans MS" charset="0"/>
              <a:ea typeface="ＭＳ Ｐゴシック" charset="0"/>
            </a:endParaRPr>
          </a:p>
          <a:p>
            <a:pPr lvl="1">
              <a:lnSpc>
                <a:spcPct val="90000"/>
              </a:lnSpc>
            </a:pPr>
            <a:endParaRPr lang="en-US" sz="2000" dirty="0">
              <a:latin typeface="Comic Sans MS" charset="0"/>
              <a:ea typeface="ＭＳ Ｐゴシック" charset="0"/>
            </a:endParaRPr>
          </a:p>
          <a:p>
            <a:pPr lvl="1">
              <a:lnSpc>
                <a:spcPct val="90000"/>
              </a:lnSpc>
            </a:pPr>
            <a:endParaRPr lang="en-US" sz="2000" dirty="0">
              <a:latin typeface="Comic Sans MS" charset="0"/>
              <a:ea typeface="ＭＳ Ｐゴシック" charset="0"/>
            </a:endParaRPr>
          </a:p>
          <a:p>
            <a:pPr lvl="1">
              <a:lnSpc>
                <a:spcPct val="90000"/>
              </a:lnSpc>
            </a:pPr>
            <a:endParaRPr lang="en-US" sz="2000" dirty="0">
              <a:latin typeface="Comic Sans MS" charset="0"/>
              <a:ea typeface="ＭＳ Ｐゴシック" charset="0"/>
            </a:endParaRPr>
          </a:p>
          <a:p>
            <a:pPr lvl="1">
              <a:lnSpc>
                <a:spcPct val="90000"/>
              </a:lnSpc>
            </a:pPr>
            <a:endParaRPr lang="en-US" sz="2000" dirty="0">
              <a:latin typeface="Comic Sans MS" charset="0"/>
              <a:ea typeface="ＭＳ Ｐゴシック" charset="0"/>
            </a:endParaRPr>
          </a:p>
          <a:p>
            <a:pPr lvl="1">
              <a:lnSpc>
                <a:spcPct val="90000"/>
              </a:lnSpc>
            </a:pPr>
            <a:endParaRPr lang="en-US" sz="2000" dirty="0">
              <a:latin typeface="Comic Sans MS" charset="0"/>
              <a:ea typeface="ＭＳ Ｐゴシック" charset="0"/>
            </a:endParaRPr>
          </a:p>
          <a:p>
            <a:pPr>
              <a:lnSpc>
                <a:spcPct val="90000"/>
              </a:lnSpc>
            </a:pPr>
            <a:r>
              <a:rPr lang="en-US" sz="2000" dirty="0">
                <a:latin typeface="Comic Sans MS" charset="0"/>
                <a:ea typeface="ＭＳ Ｐゴシック" charset="0"/>
              </a:rPr>
              <a:t>Term Associations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latin typeface="Comic Sans MS" charset="0"/>
                <a:ea typeface="ＭＳ Ｐゴシック" charset="0"/>
              </a:rPr>
              <a:t>Find associations among words based on their occurrences in documents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latin typeface="Comic Sans MS" charset="0"/>
                <a:ea typeface="ＭＳ Ｐゴシック" charset="0"/>
              </a:rPr>
              <a:t>similar to above, but invert the table (terms as items, and docs as transactions)</a:t>
            </a:r>
          </a:p>
        </p:txBody>
      </p:sp>
      <p:graphicFrame>
        <p:nvGraphicFramePr>
          <p:cNvPr id="89093" name="Object 2">
            <a:hlinkClick r:id="" action="ppaction://ole?verb=0"/>
          </p:cNvPr>
          <p:cNvGraphicFramePr>
            <a:graphicFrameLocks/>
          </p:cNvGraphicFramePr>
          <p:nvPr/>
        </p:nvGraphicFramePr>
        <p:xfrm>
          <a:off x="2351584" y="3356992"/>
          <a:ext cx="6007100" cy="181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glio di lavoro" r:id="rId2" imgW="3611563" imgH="1041400" progId="Excel.Sheet.8">
                  <p:embed/>
                </p:oleObj>
              </mc:Choice>
              <mc:Fallback>
                <p:oleObj name="Foglio di lavoro" r:id="rId2" imgW="3611563" imgH="1041400" progId="Excel.Sheet.8">
                  <p:embed/>
                  <p:pic>
                    <p:nvPicPr>
                      <p:cNvPr id="89093" name="Object 2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4" y="3356992"/>
                        <a:ext cx="6007100" cy="181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IntroML, 2022  Reg. Ass. &amp; Patter Mining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93</a:t>
            </a:fld>
            <a:endParaRPr lang="en-US" b="1" i="1"/>
          </a:p>
        </p:txBody>
      </p:sp>
    </p:spTree>
    <p:extLst>
      <p:ext uri="{BB962C8B-B14F-4D97-AF65-F5344CB8AC3E}">
        <p14:creationId xmlns:p14="http://schemas.microsoft.com/office/powerpoint/2010/main" val="258181449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z="3300" dirty="0"/>
              <a:t> </a:t>
            </a:r>
            <a:r>
              <a:rPr lang="ja-JP" altLang="it-IT" sz="3300" dirty="0">
                <a:latin typeface="Arial"/>
              </a:rPr>
              <a:t>“</a:t>
            </a:r>
            <a:r>
              <a:rPr lang="it-IT" sz="4000" dirty="0">
                <a:solidFill>
                  <a:srgbClr val="FF0000"/>
                </a:solidFill>
              </a:rPr>
              <a:t>COO</a:t>
            </a:r>
            <a:r>
              <a:rPr lang="it-IT" sz="3300" dirty="0"/>
              <a:t>L </a:t>
            </a:r>
            <a:r>
              <a:rPr lang="it-IT" sz="4000" dirty="0">
                <a:solidFill>
                  <a:srgbClr val="FF0000"/>
                </a:solidFill>
              </a:rPr>
              <a:t>P</a:t>
            </a:r>
            <a:r>
              <a:rPr lang="it-IT" sz="3300" dirty="0"/>
              <a:t>ATTERNS</a:t>
            </a:r>
            <a:r>
              <a:rPr lang="ja-JP" altLang="it-IT" sz="3300" dirty="0">
                <a:latin typeface="Arial"/>
              </a:rPr>
              <a:t>”</a:t>
            </a:r>
            <a:br>
              <a:rPr lang="it-IT" dirty="0">
                <a:cs typeface="+mj-cs"/>
              </a:rPr>
            </a:br>
            <a:r>
              <a:rPr lang="it-IT" sz="2000" dirty="0"/>
              <a:t>BMA on retail COOP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22790C1E-2AF7-C1CE-DEAC-02DB2D8126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/>
              <a:t>IntroML, 2022  Reg. Ass. &amp; Patter Mining</a:t>
            </a:r>
            <a:endParaRPr lang="en-US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4294967295"/>
          </p:nvPr>
        </p:nvSpPr>
        <p:spPr>
          <a:xfrm>
            <a:off x="11353800" y="228600"/>
            <a:ext cx="838200" cy="381000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chemeClr val="tx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F0C94032-CD4C-4C25-B0C2-CEC720522D92}" type="slidenum">
              <a:rPr lang="en-US" smtClean="0"/>
              <a:pPr>
                <a:defRPr/>
              </a:pPr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2271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it-IT" dirty="0">
                <a:cs typeface="+mj-cs"/>
              </a:rPr>
              <a:t>Rul</a:t>
            </a:r>
            <a:r>
              <a:rPr lang="it-IT" dirty="0"/>
              <a:t>e </a:t>
            </a:r>
            <a:r>
              <a:rPr lang="it-IT" dirty="0" err="1"/>
              <a:t>extraction</a:t>
            </a:r>
            <a:r>
              <a:rPr lang="it-IT" dirty="0"/>
              <a:t> with </a:t>
            </a:r>
            <a:r>
              <a:rPr lang="it-IT" dirty="0">
                <a:cs typeface="+mj-cs"/>
              </a:rPr>
              <a:t>product </a:t>
            </a:r>
            <a:r>
              <a:rPr lang="it-IT" dirty="0" err="1">
                <a:cs typeface="+mj-cs"/>
              </a:rPr>
              <a:t>Hierarchy</a:t>
            </a:r>
            <a:br>
              <a:rPr lang="it-IT" sz="3500" dirty="0"/>
            </a:br>
            <a:endParaRPr lang="it-IT" sz="2800" dirty="0"/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40108EC9-E0CE-CADD-CBDF-B2E1FC71C03D}"/>
              </a:ext>
            </a:extLst>
          </p:cNvPr>
          <p:cNvGrpSpPr/>
          <p:nvPr/>
        </p:nvGrpSpPr>
        <p:grpSpPr>
          <a:xfrm>
            <a:off x="8610600" y="1981199"/>
            <a:ext cx="1676400" cy="4648200"/>
            <a:chOff x="8763000" y="1981200"/>
            <a:chExt cx="1676400" cy="4648200"/>
          </a:xfrm>
        </p:grpSpPr>
        <p:sp>
          <p:nvSpPr>
            <p:cNvPr id="76804" name="Rectangle 4"/>
            <p:cNvSpPr>
              <a:spLocks noChangeArrowheads="1"/>
            </p:cNvSpPr>
            <p:nvPr/>
          </p:nvSpPr>
          <p:spPr bwMode="auto">
            <a:xfrm>
              <a:off x="8763000" y="5943600"/>
              <a:ext cx="1676400" cy="685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it-IT"/>
                <a:t>Articolo</a:t>
              </a:r>
            </a:p>
          </p:txBody>
        </p:sp>
        <p:sp>
          <p:nvSpPr>
            <p:cNvPr id="76806" name="Rectangle 6"/>
            <p:cNvSpPr>
              <a:spLocks noChangeArrowheads="1"/>
            </p:cNvSpPr>
            <p:nvPr/>
          </p:nvSpPr>
          <p:spPr bwMode="auto">
            <a:xfrm>
              <a:off x="8763000" y="4953000"/>
              <a:ext cx="1676400" cy="685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it-IT"/>
                <a:t>Categoria/</a:t>
              </a:r>
            </a:p>
            <a:p>
              <a:pPr algn="ctr">
                <a:defRPr/>
              </a:pPr>
              <a:r>
                <a:rPr lang="it-IT"/>
                <a:t>Subcategoria</a:t>
              </a:r>
            </a:p>
          </p:txBody>
        </p:sp>
        <p:sp>
          <p:nvSpPr>
            <p:cNvPr id="76807" name="Rectangle 7"/>
            <p:cNvSpPr>
              <a:spLocks noChangeArrowheads="1"/>
            </p:cNvSpPr>
            <p:nvPr/>
          </p:nvSpPr>
          <p:spPr bwMode="auto">
            <a:xfrm>
              <a:off x="8763000" y="3962400"/>
              <a:ext cx="1676400" cy="685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it-IT"/>
                <a:t>Categoria</a:t>
              </a:r>
            </a:p>
          </p:txBody>
        </p:sp>
        <p:sp>
          <p:nvSpPr>
            <p:cNvPr id="76808" name="Rectangle 8"/>
            <p:cNvSpPr>
              <a:spLocks noChangeArrowheads="1"/>
            </p:cNvSpPr>
            <p:nvPr/>
          </p:nvSpPr>
          <p:spPr bwMode="auto">
            <a:xfrm>
              <a:off x="8763000" y="1981200"/>
              <a:ext cx="1676400" cy="685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it-IT" dirty="0"/>
                <a:t>Settore</a:t>
              </a:r>
            </a:p>
          </p:txBody>
        </p:sp>
        <p:sp>
          <p:nvSpPr>
            <p:cNvPr id="76809" name="Rectangle 9"/>
            <p:cNvSpPr>
              <a:spLocks noChangeArrowheads="1"/>
            </p:cNvSpPr>
            <p:nvPr/>
          </p:nvSpPr>
          <p:spPr bwMode="auto">
            <a:xfrm>
              <a:off x="8763000" y="2971800"/>
              <a:ext cx="1676400" cy="685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it-IT" dirty="0"/>
                <a:t>Settore/Reparto</a:t>
              </a:r>
            </a:p>
          </p:txBody>
        </p:sp>
        <p:sp>
          <p:nvSpPr>
            <p:cNvPr id="76810" name="Line 10"/>
            <p:cNvSpPr>
              <a:spLocks noChangeShapeType="1"/>
            </p:cNvSpPr>
            <p:nvPr/>
          </p:nvSpPr>
          <p:spPr bwMode="auto">
            <a:xfrm>
              <a:off x="9601200" y="26670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6811" name="Line 11"/>
            <p:cNvSpPr>
              <a:spLocks noChangeShapeType="1"/>
            </p:cNvSpPr>
            <p:nvPr/>
          </p:nvSpPr>
          <p:spPr bwMode="auto">
            <a:xfrm>
              <a:off x="9601200" y="36576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76812" name="Line 12"/>
          <p:cNvSpPr>
            <a:spLocks noChangeShapeType="1"/>
          </p:cNvSpPr>
          <p:nvPr/>
        </p:nvSpPr>
        <p:spPr bwMode="auto">
          <a:xfrm>
            <a:off x="9601200" y="4648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6813" name="Line 13"/>
          <p:cNvSpPr>
            <a:spLocks noChangeShapeType="1"/>
          </p:cNvSpPr>
          <p:nvPr/>
        </p:nvSpPr>
        <p:spPr bwMode="auto">
          <a:xfrm>
            <a:off x="9601200" y="5638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Segnaposto data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/>
              <a:t>IntroML, 2022  Reg. Ass. &amp; Patter Mining</a:t>
            </a:r>
            <a:endParaRPr lang="en-US" sz="140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95</a:t>
            </a:fld>
            <a:endParaRPr lang="en-US" b="1" i="1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3662EAA-CB15-F16B-A860-A0CA19A58410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1812131"/>
            <a:ext cx="8229600" cy="4986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sz="2400" dirty="0"/>
              <a:t>With </a:t>
            </a:r>
            <a:r>
              <a:rPr lang="it-IT" sz="2400" i="1" dirty="0" err="1"/>
              <a:t>reduced</a:t>
            </a:r>
            <a:r>
              <a:rPr lang="it-IT" sz="2400" i="1" dirty="0"/>
              <a:t> support</a:t>
            </a:r>
            <a:r>
              <a:rPr lang="it-IT" sz="2400" dirty="0"/>
              <a:t>.</a:t>
            </a:r>
          </a:p>
          <a:p>
            <a:pPr>
              <a:defRPr/>
            </a:pPr>
            <a:r>
              <a:rPr lang="it-IT" sz="2400" dirty="0" err="1"/>
              <a:t>Each</a:t>
            </a:r>
            <a:r>
              <a:rPr lang="it-IT" sz="2400" dirty="0"/>
              <a:t> </a:t>
            </a:r>
            <a:r>
              <a:rPr lang="it-IT" sz="2400" dirty="0" err="1"/>
              <a:t>level</a:t>
            </a:r>
            <a:r>
              <a:rPr lang="it-IT" sz="2400" dirty="0"/>
              <a:t> </a:t>
            </a:r>
            <a:r>
              <a:rPr lang="it-IT" sz="2400" dirty="0" err="1"/>
              <a:t>has</a:t>
            </a:r>
            <a:r>
              <a:rPr lang="it-IT" sz="2400" dirty="0"/>
              <a:t> </a:t>
            </a:r>
            <a:r>
              <a:rPr lang="it-IT" sz="2400" dirty="0" err="1"/>
              <a:t>its</a:t>
            </a:r>
            <a:r>
              <a:rPr lang="it-IT" sz="2400" dirty="0"/>
              <a:t> </a:t>
            </a:r>
            <a:r>
              <a:rPr lang="it-IT" sz="2400" dirty="0" err="1"/>
              <a:t>minimal</a:t>
            </a:r>
            <a:r>
              <a:rPr lang="it-IT" sz="2400" dirty="0"/>
              <a:t> support</a:t>
            </a:r>
          </a:p>
          <a:p>
            <a:pPr lvl="1">
              <a:defRPr/>
            </a:pPr>
            <a:r>
              <a:rPr lang="it-IT" sz="2000" dirty="0"/>
              <a:t>Lower the </a:t>
            </a:r>
            <a:r>
              <a:rPr lang="it-IT" sz="2000" dirty="0" err="1"/>
              <a:t>level</a:t>
            </a:r>
            <a:r>
              <a:rPr lang="it-IT" sz="2000" dirty="0"/>
              <a:t>, </a:t>
            </a:r>
            <a:r>
              <a:rPr lang="it-IT" sz="2000" dirty="0" err="1"/>
              <a:t>lower</a:t>
            </a:r>
            <a:r>
              <a:rPr lang="it-IT" sz="2000" dirty="0"/>
              <a:t> the </a:t>
            </a:r>
            <a:r>
              <a:rPr lang="it-IT" sz="2000" dirty="0" err="1"/>
              <a:t>threshold</a:t>
            </a:r>
            <a:endParaRPr lang="it-IT" sz="2000" dirty="0"/>
          </a:p>
          <a:p>
            <a:pPr>
              <a:defRPr/>
            </a:pPr>
            <a:endParaRPr lang="it-IT" sz="2000" dirty="0"/>
          </a:p>
          <a:p>
            <a:pPr>
              <a:defRPr/>
            </a:pPr>
            <a:endParaRPr lang="it-IT" sz="2000" dirty="0"/>
          </a:p>
          <a:p>
            <a:pPr>
              <a:defRPr/>
            </a:pPr>
            <a:endParaRPr lang="it-IT" sz="2000" dirty="0"/>
          </a:p>
          <a:p>
            <a:pPr>
              <a:defRPr/>
            </a:pPr>
            <a:endParaRPr lang="it-IT" sz="2000" dirty="0"/>
          </a:p>
          <a:p>
            <a:pPr>
              <a:defRPr/>
            </a:pPr>
            <a:endParaRPr lang="it-IT" sz="2000" dirty="0"/>
          </a:p>
          <a:p>
            <a:pPr algn="ctr">
              <a:buFont typeface="Wingdings" charset="0"/>
              <a:buNone/>
              <a:defRPr/>
            </a:pPr>
            <a:r>
              <a:rPr lang="it-IT" sz="2000" dirty="0"/>
              <a:t>Regole interessanti </a:t>
            </a:r>
            <a:r>
              <a:rPr lang="it-IT" sz="2000" dirty="0">
                <a:sym typeface="Wingdings" charset="0"/>
              </a:rPr>
              <a:t> Lift maggiore di 1</a:t>
            </a:r>
            <a:endParaRPr lang="it-IT" sz="2000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BB97C818-BC9D-1925-F71D-3BC7BCA45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944" y="3603868"/>
            <a:ext cx="4964112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6576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6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76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it-IT" dirty="0">
                <a:cs typeface="+mj-cs"/>
              </a:rPr>
              <a:t>Evaluation – RA – </a:t>
            </a:r>
            <a:r>
              <a:rPr lang="it-IT" dirty="0" err="1">
                <a:cs typeface="+mj-cs"/>
              </a:rPr>
              <a:t>level</a:t>
            </a:r>
            <a:r>
              <a:rPr lang="it-IT" dirty="0">
                <a:cs typeface="+mj-cs"/>
              </a:rPr>
              <a:t> </a:t>
            </a:r>
            <a:r>
              <a:rPr lang="it-IT" sz="2800" dirty="0"/>
              <a:t>Articoli</a:t>
            </a:r>
            <a:r>
              <a:rPr lang="it-IT" dirty="0">
                <a:cs typeface="+mj-cs"/>
              </a:rPr>
              <a:t> 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399" y="1771893"/>
            <a:ext cx="8789999" cy="4910137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it-IT" sz="1800" dirty="0"/>
              <a:t>[ 10 BICCH.CART.BIBO CIRC.200CC ]  </a:t>
            </a:r>
            <a:r>
              <a:rPr lang="it-IT" sz="1800" dirty="0">
                <a:sym typeface="Wingdings" charset="0"/>
              </a:rPr>
              <a:t></a:t>
            </a:r>
            <a:r>
              <a:rPr lang="it-IT" sz="1800" dirty="0"/>
              <a:t> [ PIATTI CART.BIBO CIRCUS D23X10 ]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it-IT" sz="1600" dirty="0"/>
              <a:t>Support: 0,01 Confidence: 92,5 Lift: 4237,263</a:t>
            </a:r>
          </a:p>
          <a:p>
            <a:pPr eaLnBrk="1" hangingPunct="1">
              <a:lnSpc>
                <a:spcPct val="80000"/>
              </a:lnSpc>
              <a:defRPr/>
            </a:pPr>
            <a:endParaRPr lang="it-IT" sz="1600" dirty="0"/>
          </a:p>
          <a:p>
            <a:pPr eaLnBrk="1" hangingPunct="1">
              <a:lnSpc>
                <a:spcPct val="80000"/>
              </a:lnSpc>
              <a:defRPr/>
            </a:pPr>
            <a:r>
              <a:rPr lang="it-IT" sz="1800" dirty="0"/>
              <a:t>[ TELO 100X150 460 GR/MQ TU ] [ OSPITE 40X60 460 GR/MQ TU ]  </a:t>
            </a:r>
            <a:r>
              <a:rPr lang="it-IT" sz="1800" dirty="0">
                <a:sym typeface="Wingdings" charset="0"/>
              </a:rPr>
              <a:t></a:t>
            </a:r>
            <a:r>
              <a:rPr lang="it-IT" sz="1800" dirty="0"/>
              <a:t> [ ASCIUGAMANO 60X110 460 GR TU ]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it-IT" sz="1600" dirty="0"/>
              <a:t>Support: 0,01 Confidence: 91,4 Lift: 965,993</a:t>
            </a:r>
          </a:p>
          <a:p>
            <a:pPr eaLnBrk="1" hangingPunct="1">
              <a:lnSpc>
                <a:spcPct val="80000"/>
              </a:lnSpc>
              <a:defRPr/>
            </a:pPr>
            <a:endParaRPr lang="it-IT" sz="1600" dirty="0"/>
          </a:p>
          <a:p>
            <a:pPr eaLnBrk="1" hangingPunct="1">
              <a:lnSpc>
                <a:spcPct val="80000"/>
              </a:lnSpc>
              <a:defRPr/>
            </a:pPr>
            <a:r>
              <a:rPr lang="it-IT" sz="1800" dirty="0"/>
              <a:t>[ BOCC.CANI POLLO/TACCH.KG1.23 ] [ BOC/NI GATTO VITELLO SIM.KG415 ] </a:t>
            </a:r>
            <a:r>
              <a:rPr lang="it-IT" sz="1800" dirty="0">
                <a:sym typeface="Wingdings" charset="0"/>
              </a:rPr>
              <a:t></a:t>
            </a:r>
            <a:r>
              <a:rPr lang="it-IT" sz="1800" dirty="0"/>
              <a:t> [ BOCC.GATTI CONIGLIO SIMBA G415 ]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it-IT" sz="1600" dirty="0"/>
              <a:t>Support: 0,01 Confidence: 91,4 Lift: 390,042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it-IT" sz="1600" dirty="0"/>
          </a:p>
          <a:p>
            <a:pPr eaLnBrk="1" hangingPunct="1">
              <a:lnSpc>
                <a:spcPct val="80000"/>
              </a:lnSpc>
              <a:defRPr/>
            </a:pPr>
            <a:r>
              <a:rPr lang="it-IT" sz="1800" dirty="0"/>
              <a:t>[ PIATTO FRUTTA MAZIME B.CO CM21 ] [ PIATTO F.DO MAXIME B.CO CM.17 ] </a:t>
            </a:r>
            <a:r>
              <a:rPr lang="it-IT" sz="1800" dirty="0">
                <a:sym typeface="Wingdings" charset="0"/>
              </a:rPr>
              <a:t></a:t>
            </a:r>
            <a:r>
              <a:rPr lang="it-IT" sz="1800" dirty="0"/>
              <a:t> [ PIATTO P.NO MAXIME B.CO CM.25 ]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it-IT" sz="1600" dirty="0"/>
              <a:t>Support: 0,01 Confidence: 90 Lift: 3052,386</a:t>
            </a:r>
          </a:p>
          <a:p>
            <a:pPr eaLnBrk="1" hangingPunct="1">
              <a:lnSpc>
                <a:spcPct val="80000"/>
              </a:lnSpc>
              <a:defRPr/>
            </a:pPr>
            <a:endParaRPr lang="it-IT" sz="1700" dirty="0"/>
          </a:p>
          <a:p>
            <a:pPr eaLnBrk="1" hangingPunct="1">
              <a:lnSpc>
                <a:spcPct val="80000"/>
              </a:lnSpc>
              <a:defRPr/>
            </a:pPr>
            <a:r>
              <a:rPr lang="it-IT" sz="1800" dirty="0"/>
              <a:t>[ LENZUOLO PIANO 150X280 RIGHE ] [ LENZUOLO ANGOLI 90X200 TU] </a:t>
            </a:r>
            <a:r>
              <a:rPr lang="it-IT" sz="1800" dirty="0">
                <a:sym typeface="Wingdings" charset="0"/>
              </a:rPr>
              <a:t></a:t>
            </a:r>
            <a:r>
              <a:rPr lang="it-IT" sz="1800" dirty="0"/>
              <a:t> [ FEDERA 50X80 STAMPA RIGHE ]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it-IT" sz="1600" dirty="0"/>
              <a:t>Support: 0,01 Confidence: 87,8 Lift: 809,222</a:t>
            </a:r>
          </a:p>
          <a:p>
            <a:pPr eaLnBrk="1" hangingPunct="1">
              <a:lnSpc>
                <a:spcPct val="80000"/>
              </a:lnSpc>
              <a:defRPr/>
            </a:pPr>
            <a:endParaRPr lang="it-IT" sz="1700" dirty="0"/>
          </a:p>
        </p:txBody>
      </p:sp>
      <p:sp>
        <p:nvSpPr>
          <p:cNvPr id="2" name="Segnaposto data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/>
              <a:t>IntroML, 2022  Reg. Ass. &amp; Patter Mining</a:t>
            </a:r>
            <a:endParaRPr lang="en-US" sz="140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96</a:t>
            </a:fld>
            <a:endParaRPr lang="en-US" b="1" i="1"/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8891944F-36D2-60E3-51A2-F97CAEDFDE30}"/>
              </a:ext>
            </a:extLst>
          </p:cNvPr>
          <p:cNvGrpSpPr/>
          <p:nvPr/>
        </p:nvGrpSpPr>
        <p:grpSpPr>
          <a:xfrm>
            <a:off x="10161608" y="1771893"/>
            <a:ext cx="1676400" cy="4648200"/>
            <a:chOff x="8763000" y="1981200"/>
            <a:chExt cx="1676400" cy="4648200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48DF65C3-4B64-9424-D685-D984276DE4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3000" y="5943600"/>
              <a:ext cx="1676400" cy="685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it-IT"/>
                <a:t>Articolo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AD70EBD-38EF-FE6C-C401-19B1CC398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3000" y="4953000"/>
              <a:ext cx="1676400" cy="685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it-IT"/>
                <a:t>Categoria/</a:t>
              </a:r>
            </a:p>
            <a:p>
              <a:pPr algn="ctr">
                <a:defRPr/>
              </a:pPr>
              <a:r>
                <a:rPr lang="it-IT"/>
                <a:t>Subcategoria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4B85424-A816-0A38-8B3E-D7BB03746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3000" y="3962400"/>
              <a:ext cx="1676400" cy="685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it-IT"/>
                <a:t>Categoria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13F39CE-11D1-8C0E-E725-C2C946873D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3000" y="1981200"/>
              <a:ext cx="1676400" cy="685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it-IT" dirty="0"/>
                <a:t>Settore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CBD017E-A8DE-B6B0-7BCB-89A80F079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3000" y="2971800"/>
              <a:ext cx="1676400" cy="685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it-IT" dirty="0"/>
                <a:t>Settore/Reparto</a:t>
              </a:r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CFA6B1A6-99C0-2333-60CC-520B8A1D6E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1200" y="26670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37E2A1C9-E305-6674-319E-E302ABCBEB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1200" y="36576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4448176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it-IT" dirty="0">
                <a:cs typeface="+mj-cs"/>
              </a:rPr>
              <a:t>Evaluation – RA – </a:t>
            </a:r>
            <a:r>
              <a:rPr lang="it-IT" sz="2800" dirty="0"/>
              <a:t>Articoli</a:t>
            </a:r>
            <a:r>
              <a:rPr lang="it-IT" dirty="0">
                <a:cs typeface="+mj-cs"/>
              </a:rPr>
              <a:t> 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79898"/>
            <a:ext cx="8229600" cy="5138737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it-IT" sz="1800" dirty="0"/>
              <a:t>[ GOURM.GOLD DADINI GELLEE G85X8 ] [ GOURMET PERLE FIL.C/MANZO G85 ] </a:t>
            </a:r>
            <a:r>
              <a:rPr lang="it-IT" sz="1800" dirty="0">
                <a:sym typeface="Wingdings" charset="0"/>
              </a:rPr>
              <a:t></a:t>
            </a:r>
            <a:r>
              <a:rPr lang="it-IT" sz="1800" dirty="0"/>
              <a:t>[ GOURMET PERLE FIL.CONIGLIO G85 ]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it-IT" sz="1600" dirty="0"/>
              <a:t>Support: 0,01 Confidence: 87,8 Lift: 492,757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it-IT" sz="1800" dirty="0"/>
              <a:t>[ CUCCHIAIONE ACCIAIO INOX ] [ PALA FRITTO ACCIAIO INOX ] [ FORCHETTONE ACCIAIO INOX ] </a:t>
            </a:r>
            <a:r>
              <a:rPr lang="it-IT" sz="1800" dirty="0">
                <a:sym typeface="Wingdings" charset="0"/>
              </a:rPr>
              <a:t> </a:t>
            </a:r>
            <a:r>
              <a:rPr lang="it-IT" sz="1800" dirty="0"/>
              <a:t>[ SCHIUMAROLA IN ACCIAIO INOX ]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it-IT" sz="1600" dirty="0"/>
              <a:t>Support: 0,01 Confidence: 85,7 Lift: 1912,523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it-IT" sz="1800" dirty="0"/>
              <a:t>[ APER.CAMPARI MIXX PEACH ML275 ] [ APERIT.CAMPARI MIXX LIME ML275 ] [ APERITIVO CAMP.GRADI 6,5 ML275 ]  </a:t>
            </a:r>
            <a:r>
              <a:rPr lang="it-IT" sz="1800" dirty="0">
                <a:sym typeface="Wingdings" charset="0"/>
              </a:rPr>
              <a:t> </a:t>
            </a:r>
            <a:r>
              <a:rPr lang="it-IT" sz="1800" dirty="0"/>
              <a:t>[ CAMPARI MIXX ORANGE ML275 ]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it-IT" sz="1600" dirty="0"/>
              <a:t>Support: 0,01 Confidence: 83,3 Lift: 1314,55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it-IT" sz="1800" dirty="0"/>
              <a:t>[ GASSOSA S. BENEDETTO LT.1.5 ] [ CEDRATA SAN BENEDETTO LT.1.5 ] [ ARANCIATA S.BENEDETTO LT.1,5 ] </a:t>
            </a:r>
            <a:r>
              <a:rPr lang="it-IT" sz="1800" dirty="0">
                <a:sym typeface="Wingdings" charset="0"/>
              </a:rPr>
              <a:t></a:t>
            </a:r>
            <a:r>
              <a:rPr lang="it-IT" sz="1800" dirty="0"/>
              <a:t> [ SPUMA BIONDA LT1.5 S.BENEDETTO ]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it-IT" sz="1600" dirty="0"/>
              <a:t>Support: 0,01 Confidence: 83 Lift: 172,76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it-IT" sz="1800" dirty="0"/>
              <a:t>[ BARAT.OVALE LT1,7 VTR COP.ACC. ] [ BARAT.OVALE LT0,84 VTR COP.ACC ] </a:t>
            </a:r>
            <a:r>
              <a:rPr lang="it-IT" sz="1800" dirty="0">
                <a:sym typeface="Wingdings" charset="0"/>
              </a:rPr>
              <a:t> </a:t>
            </a:r>
            <a:r>
              <a:rPr lang="it-IT" sz="1800" dirty="0"/>
              <a:t>[ BARAT.OVALE LT1,2 VTR COP.ACC. ]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it-IT" sz="1600" dirty="0"/>
              <a:t>Support: 0,01 Confidence: 82,9 Lift: 1993,002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it-IT" sz="1800" dirty="0"/>
              <a:t>[ MOUSSE GAT.COOP MANZ/FEGAT.G85 ] [ MOUSSE GAT.COOP PES/TROTAG85 ] </a:t>
            </a:r>
            <a:r>
              <a:rPr lang="it-IT" sz="1800" dirty="0">
                <a:sym typeface="Wingdings" charset="0"/>
              </a:rPr>
              <a:t></a:t>
            </a:r>
            <a:r>
              <a:rPr lang="it-IT" sz="1800" dirty="0"/>
              <a:t> [ MOUSSE GATTO COOP POL/TAC.G85 ]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it-IT" sz="1600" dirty="0"/>
              <a:t>Support: 0,1 Confidence: 81,7 Lift: 712,617</a:t>
            </a:r>
          </a:p>
          <a:p>
            <a:pPr eaLnBrk="1" hangingPunct="1">
              <a:lnSpc>
                <a:spcPct val="80000"/>
              </a:lnSpc>
              <a:defRPr/>
            </a:pPr>
            <a:endParaRPr lang="it-IT" sz="1700" dirty="0"/>
          </a:p>
        </p:txBody>
      </p:sp>
      <p:sp>
        <p:nvSpPr>
          <p:cNvPr id="2" name="Segnaposto data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/>
              <a:t>IntroML, 2022  Reg. Ass. &amp; Patter Mining</a:t>
            </a:r>
            <a:endParaRPr lang="en-US" sz="140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97</a:t>
            </a:fld>
            <a:endParaRPr lang="en-US" b="1" i="1"/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C721AC41-CEA7-8BD4-FF1C-3600C57F444C}"/>
              </a:ext>
            </a:extLst>
          </p:cNvPr>
          <p:cNvGrpSpPr/>
          <p:nvPr/>
        </p:nvGrpSpPr>
        <p:grpSpPr>
          <a:xfrm>
            <a:off x="10161608" y="1771893"/>
            <a:ext cx="1676400" cy="4648200"/>
            <a:chOff x="8763000" y="1981200"/>
            <a:chExt cx="1676400" cy="4648200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1C4D32F0-22C6-6CBD-3940-EF73A11A67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3000" y="5943600"/>
              <a:ext cx="1676400" cy="685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it-IT"/>
                <a:t>Articolo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7EB2548-B124-A73B-14A1-E26DC1B5E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3000" y="4953000"/>
              <a:ext cx="1676400" cy="685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it-IT"/>
                <a:t>Categoria/</a:t>
              </a:r>
            </a:p>
            <a:p>
              <a:pPr algn="ctr">
                <a:defRPr/>
              </a:pPr>
              <a:r>
                <a:rPr lang="it-IT"/>
                <a:t>Subcategoria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617CD76-FC71-4642-58E6-907374BB2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3000" y="3962400"/>
              <a:ext cx="1676400" cy="685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it-IT"/>
                <a:t>Categoria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AB6FE3A-18A9-5D7D-45A5-475AAFAFB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3000" y="1981200"/>
              <a:ext cx="1676400" cy="685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it-IT" dirty="0"/>
                <a:t>Settore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A7C3026-5006-1AA7-F24A-269B95F8A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3000" y="2971800"/>
              <a:ext cx="1676400" cy="685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it-IT" dirty="0"/>
                <a:t>Settore/Reparto</a:t>
              </a:r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2A5D8475-4DBB-44B6-BF43-B57D11C94A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1200" y="26670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515F5DF9-FC84-FEFF-F09F-7165151670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1200" y="36576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9837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6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6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6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6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6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6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6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6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64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64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64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64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it-IT" dirty="0">
                <a:cs typeface="+mj-cs"/>
              </a:rPr>
              <a:t>Evaluation – RA – </a:t>
            </a:r>
            <a:r>
              <a:rPr lang="it-IT" sz="2800" dirty="0"/>
              <a:t>Subcategorie</a:t>
            </a:r>
            <a:r>
              <a:rPr lang="it-IT" dirty="0">
                <a:cs typeface="+mj-cs"/>
              </a:rPr>
              <a:t> 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525710"/>
            <a:ext cx="8229600" cy="5138737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it-IT" sz="1800" dirty="0"/>
              <a:t>[ BIBITE-ARANCIATE ] [ SNACK SALATI-PATATINE ] [ USA E GETTA TAVOLA-TOVAGLIE-TOVAGLIOLI ] [ USA E GETTA TAVOLA-STOVIGLIE PLASTICA BIANCA ] </a:t>
            </a:r>
            <a:r>
              <a:rPr lang="it-IT" sz="1800" dirty="0">
                <a:sym typeface="Wingdings" charset="0"/>
              </a:rPr>
              <a:t></a:t>
            </a:r>
            <a:r>
              <a:rPr lang="it-IT" sz="1800" dirty="0"/>
              <a:t> [ BIBITE-COLE ]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it-IT" sz="1600" dirty="0"/>
              <a:t>Support: 0,1 Confidence: 88,2 Lift: 11,084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it-IT" sz="1800" dirty="0"/>
              <a:t>[ USA E GETTA TAVOLA-STOV. CARTA COLORATA DECORATA ] [ USA E GETTA TAVOLA-ACCESSORI USA E GETTA ] [ USA E GETTA TAVOLA-STOVIGLIE PLASTICA BIANCA ] </a:t>
            </a:r>
            <a:r>
              <a:rPr lang="it-IT" sz="1800" dirty="0">
                <a:sym typeface="Wingdings" charset="0"/>
              </a:rPr>
              <a:t></a:t>
            </a:r>
            <a:r>
              <a:rPr lang="it-IT" sz="1800" dirty="0"/>
              <a:t> [ USA E GETTA TAVOLA-TOVAGLIE-TOVAGLIOLI ]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it-IT" sz="1600" dirty="0"/>
              <a:t>Support: 0,1 Confidence: 84,7 Lift: 12,767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it-IT" sz="1800" dirty="0"/>
              <a:t>[ USA E GETTA TAVOLA-STOV. CARTA COLORATA DECORATA ] [ USA E GETTA TAVOLA-STOV. PLAST. COLORATA DECORATA ] </a:t>
            </a:r>
            <a:r>
              <a:rPr lang="it-IT" sz="1800" dirty="0">
                <a:sym typeface="Wingdings" charset="0"/>
              </a:rPr>
              <a:t></a:t>
            </a:r>
            <a:r>
              <a:rPr lang="it-IT" sz="1800" dirty="0"/>
              <a:t> [ USA E GETTA TAVOLA-TOVAGLIE-TOVAGLIOLI ]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it-IT" sz="1600" dirty="0"/>
              <a:t>Support: 0,1 Confidence: 82,2 Lift: 12,391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it-IT" sz="1800" dirty="0"/>
              <a:t>[ SNACK SALATI-POP CORN/CEREALI ] [ SNACK SALATI-ESTRUSI ] [ BIBITE-ARANCIATE ] </a:t>
            </a:r>
            <a:r>
              <a:rPr lang="it-IT" sz="1800" dirty="0">
                <a:sym typeface="Wingdings" charset="0"/>
              </a:rPr>
              <a:t></a:t>
            </a:r>
            <a:r>
              <a:rPr lang="it-IT" sz="1800" dirty="0"/>
              <a:t> [ BIBITE-COLE ]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it-IT" sz="1600" dirty="0"/>
              <a:t>Support: 0,1 Confidence: 82,2 Lift: 10,34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it-IT" sz="1800" dirty="0"/>
              <a:t>[ CARAMELLE/PROD. BASE ZUCCH.-ALTRE CARAMELLE ] [ CARAMELLE/PROD. BASE ZUCCH.-CARAM.NORMALI ] [ CARAMELLE/PROD. BASE ZUCCH.-GOMME DA MASTICARE ] </a:t>
            </a:r>
            <a:r>
              <a:rPr lang="it-IT" sz="1800" dirty="0">
                <a:sym typeface="Wingdings" charset="0"/>
              </a:rPr>
              <a:t></a:t>
            </a:r>
            <a:r>
              <a:rPr lang="it-IT" sz="1800" dirty="0"/>
              <a:t> [ PRODOTTI BASE CIOCCOLATO-SNACK ]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it-IT" sz="1600" dirty="0"/>
              <a:t>Support: 0,1 Confidence: 81,2 Lift: 8,693</a:t>
            </a:r>
          </a:p>
          <a:p>
            <a:pPr eaLnBrk="1" hangingPunct="1">
              <a:lnSpc>
                <a:spcPct val="80000"/>
              </a:lnSpc>
              <a:defRPr/>
            </a:pPr>
            <a:endParaRPr lang="it-IT" sz="1700" dirty="0"/>
          </a:p>
        </p:txBody>
      </p:sp>
      <p:sp>
        <p:nvSpPr>
          <p:cNvPr id="2" name="Segnaposto data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/>
              <a:t>IntroML, 2022  Reg. Ass. &amp; Patter Mining</a:t>
            </a:r>
            <a:endParaRPr lang="en-US" sz="140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98</a:t>
            </a:fld>
            <a:endParaRPr lang="en-US" b="1" i="1"/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C048EB57-ADD0-1CDD-E192-4B0E9C6409B8}"/>
              </a:ext>
            </a:extLst>
          </p:cNvPr>
          <p:cNvGrpSpPr/>
          <p:nvPr/>
        </p:nvGrpSpPr>
        <p:grpSpPr>
          <a:xfrm>
            <a:off x="10161608" y="1771893"/>
            <a:ext cx="1676400" cy="4648200"/>
            <a:chOff x="8763000" y="1981200"/>
            <a:chExt cx="1676400" cy="4648200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EEDEAD3E-5944-EBAB-39C9-F463AAFB91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3000" y="5943600"/>
              <a:ext cx="1676400" cy="685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it-IT"/>
                <a:t>Articolo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51B107A-2C46-EA62-91E5-ECBFABAE5B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3000" y="4953000"/>
              <a:ext cx="1676400" cy="685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it-IT"/>
                <a:t>Categoria/</a:t>
              </a:r>
            </a:p>
            <a:p>
              <a:pPr algn="ctr">
                <a:defRPr/>
              </a:pPr>
              <a:r>
                <a:rPr lang="it-IT"/>
                <a:t>Subcategoria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A34CF09-5120-2534-E3BA-7D9FF507B2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3000" y="3962400"/>
              <a:ext cx="1676400" cy="685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it-IT"/>
                <a:t>Categoria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2393BCF-18E9-0DED-C287-28E60DA996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3000" y="1981200"/>
              <a:ext cx="1676400" cy="685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it-IT" dirty="0"/>
                <a:t>Settore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A4FA6C6-CDB6-7456-6F13-868A9A0D44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3000" y="2971800"/>
              <a:ext cx="1676400" cy="685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it-IT" dirty="0"/>
                <a:t>Settore/Reparto</a:t>
              </a:r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B589A433-BF1B-4776-46B5-D34BD73125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1200" y="26670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F6EAD9E3-0ADB-3E04-8E2A-C26CF7032F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1200" y="36576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41370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7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7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7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7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7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7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7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7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75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75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it-IT" dirty="0">
                <a:cs typeface="+mj-cs"/>
              </a:rPr>
              <a:t>Evaluation – RA – </a:t>
            </a:r>
            <a:r>
              <a:rPr lang="it-IT" sz="2800" dirty="0"/>
              <a:t>Categorie</a:t>
            </a:r>
            <a:r>
              <a:rPr lang="it-IT" dirty="0">
                <a:cs typeface="+mj-cs"/>
              </a:rPr>
              <a:t> 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567409"/>
            <a:ext cx="8229600" cy="5138737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it-IT" sz="1800" dirty="0"/>
              <a:t>[ UOVA ] [ OF PREPARATA ] [ VERDURA FRESCA ] [ LATTE ] [ FRUTTA FRESCA ] </a:t>
            </a:r>
            <a:r>
              <a:rPr lang="it-IT" sz="1800" dirty="0">
                <a:sym typeface="Wingdings" charset="0"/>
              </a:rPr>
              <a:t></a:t>
            </a:r>
            <a:r>
              <a:rPr lang="it-IT" sz="1800" dirty="0"/>
              <a:t> [ ORTAGGI ]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it-IT" sz="1600" dirty="0"/>
              <a:t>Support: 0,8 Confidence: 85,2 Lift: 1,893</a:t>
            </a:r>
          </a:p>
          <a:p>
            <a:pPr eaLnBrk="1" hangingPunct="1">
              <a:lnSpc>
                <a:spcPct val="80000"/>
              </a:lnSpc>
              <a:defRPr/>
            </a:pPr>
            <a:endParaRPr lang="it-IT" sz="1600" dirty="0"/>
          </a:p>
          <a:p>
            <a:pPr eaLnBrk="1" hangingPunct="1">
              <a:lnSpc>
                <a:spcPct val="80000"/>
              </a:lnSpc>
              <a:defRPr/>
            </a:pPr>
            <a:r>
              <a:rPr lang="it-IT" sz="1800" dirty="0"/>
              <a:t>[ CAFFE ] [ UOVA ] [ VERDURA FRESCA ] [ FRUTTA FRESCA ] </a:t>
            </a:r>
            <a:r>
              <a:rPr lang="it-IT" sz="1800" dirty="0">
                <a:sym typeface="Wingdings" charset="0"/>
              </a:rPr>
              <a:t></a:t>
            </a:r>
            <a:r>
              <a:rPr lang="it-IT" sz="1800" dirty="0"/>
              <a:t> [ ORTAGGI ]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it-IT" sz="1600" dirty="0"/>
              <a:t>Support: 0,7 Confidence: 84,3 Lift: 1,871</a:t>
            </a:r>
          </a:p>
          <a:p>
            <a:pPr eaLnBrk="1" hangingPunct="1">
              <a:lnSpc>
                <a:spcPct val="80000"/>
              </a:lnSpc>
              <a:defRPr/>
            </a:pPr>
            <a:endParaRPr lang="it-IT" sz="1900" dirty="0"/>
          </a:p>
          <a:p>
            <a:pPr eaLnBrk="1" hangingPunct="1">
              <a:lnSpc>
                <a:spcPct val="80000"/>
              </a:lnSpc>
              <a:defRPr/>
            </a:pPr>
            <a:r>
              <a:rPr lang="it-IT" sz="1800" dirty="0"/>
              <a:t>[ UOVA ] [ GRASSI ] [ VERDURA FRESCA ] [ AVICUNICOLO ] </a:t>
            </a:r>
            <a:r>
              <a:rPr lang="it-IT" sz="1800" dirty="0">
                <a:sym typeface="Wingdings" charset="0"/>
              </a:rPr>
              <a:t></a:t>
            </a:r>
            <a:r>
              <a:rPr lang="it-IT" sz="1800" dirty="0"/>
              <a:t> [ ORTAGGI ]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it-IT" sz="1600" dirty="0"/>
              <a:t>Support: 0,9 Confidence: 83,5 Lift: 1,854</a:t>
            </a:r>
          </a:p>
          <a:p>
            <a:pPr eaLnBrk="1" hangingPunct="1">
              <a:lnSpc>
                <a:spcPct val="80000"/>
              </a:lnSpc>
              <a:defRPr/>
            </a:pPr>
            <a:endParaRPr lang="it-IT" sz="1600" dirty="0"/>
          </a:p>
          <a:p>
            <a:pPr eaLnBrk="1" hangingPunct="1">
              <a:lnSpc>
                <a:spcPct val="80000"/>
              </a:lnSpc>
              <a:defRPr/>
            </a:pPr>
            <a:r>
              <a:rPr lang="it-IT" sz="1800" dirty="0"/>
              <a:t>[ OLIO DI OLIVA ] [ UOVA ] [ SUINO ] </a:t>
            </a:r>
            <a:r>
              <a:rPr lang="it-IT" sz="1800" dirty="0">
                <a:sym typeface="Wingdings" charset="0"/>
              </a:rPr>
              <a:t></a:t>
            </a:r>
            <a:r>
              <a:rPr lang="it-IT" sz="1800" dirty="0"/>
              <a:t> [ BOVINO ]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it-IT" sz="1600" dirty="0"/>
              <a:t>Support: 0,7 Confidence: 78,9 Lift: 1,757</a:t>
            </a:r>
          </a:p>
          <a:p>
            <a:pPr eaLnBrk="1" hangingPunct="1">
              <a:lnSpc>
                <a:spcPct val="80000"/>
              </a:lnSpc>
              <a:defRPr/>
            </a:pPr>
            <a:endParaRPr lang="it-IT" sz="1900" dirty="0"/>
          </a:p>
          <a:p>
            <a:pPr eaLnBrk="1" hangingPunct="1">
              <a:lnSpc>
                <a:spcPct val="80000"/>
              </a:lnSpc>
              <a:defRPr/>
            </a:pPr>
            <a:r>
              <a:rPr lang="it-IT" sz="1800" dirty="0"/>
              <a:t>[ ZUCCHERO ] [ IGIENE CARTA ] [ DETERGENTI SUPERFICI ]  </a:t>
            </a:r>
            <a:r>
              <a:rPr lang="it-IT" sz="1800" dirty="0">
                <a:sym typeface="Wingdings" charset="0"/>
              </a:rPr>
              <a:t></a:t>
            </a:r>
            <a:r>
              <a:rPr lang="it-IT" sz="1800" dirty="0"/>
              <a:t> [ DETERGENZA TESSUTI ]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it-IT" sz="1600" dirty="0"/>
              <a:t>Support: 0,7 Confidence: 76,6 Lift: 2,247</a:t>
            </a:r>
          </a:p>
          <a:p>
            <a:pPr eaLnBrk="1" hangingPunct="1">
              <a:lnSpc>
                <a:spcPct val="80000"/>
              </a:lnSpc>
              <a:defRPr/>
            </a:pPr>
            <a:endParaRPr lang="it-IT" sz="1600" dirty="0"/>
          </a:p>
        </p:txBody>
      </p:sp>
      <p:sp>
        <p:nvSpPr>
          <p:cNvPr id="2" name="Segnaposto data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/>
              <a:t>IntroML, 2022  Reg. Ass. &amp; Patter Mining</a:t>
            </a:r>
            <a:endParaRPr lang="en-US" sz="140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99</a:t>
            </a:fld>
            <a:endParaRPr lang="en-US" b="1" i="1"/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C46AB5F3-C9A2-AD8D-968D-DEACAD6688AF}"/>
              </a:ext>
            </a:extLst>
          </p:cNvPr>
          <p:cNvGrpSpPr/>
          <p:nvPr/>
        </p:nvGrpSpPr>
        <p:grpSpPr>
          <a:xfrm>
            <a:off x="10161608" y="1771893"/>
            <a:ext cx="1676400" cy="4648200"/>
            <a:chOff x="8763000" y="1981200"/>
            <a:chExt cx="1676400" cy="4648200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CF8D8999-3A1A-C826-D8B2-D5E27712AC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3000" y="5943600"/>
              <a:ext cx="1676400" cy="685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it-IT"/>
                <a:t>Articolo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B73B296-2BC7-D63E-F3CC-D92A725139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3000" y="4953000"/>
              <a:ext cx="1676400" cy="685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it-IT"/>
                <a:t>Categoria/</a:t>
              </a:r>
            </a:p>
            <a:p>
              <a:pPr algn="ctr">
                <a:defRPr/>
              </a:pPr>
              <a:r>
                <a:rPr lang="it-IT"/>
                <a:t>Subcategoria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66143B1-842A-ACB3-A76D-29672A32D7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3000" y="3962400"/>
              <a:ext cx="1676400" cy="685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it-IT"/>
                <a:t>Categoria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A4D99F6-BCD5-BE13-685E-E9998C898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3000" y="1981200"/>
              <a:ext cx="1676400" cy="685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it-IT" dirty="0"/>
                <a:t>Settore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ECAAC5-7EDC-0DD7-E875-BAC996C4EA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3000" y="2971800"/>
              <a:ext cx="1676400" cy="685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it-IT" dirty="0"/>
                <a:t>Settore/Reparto</a:t>
              </a:r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ABC3DEB6-6645-7800-C785-2D5FE08571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1200" y="26670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C23B547A-0FFB-BE52-0108-6C8F4BE24F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1200" y="36576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7043785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it-IT" dirty="0">
                <a:cs typeface="+mj-cs"/>
              </a:rPr>
              <a:t>Evaluation –RA– </a:t>
            </a:r>
            <a:r>
              <a:rPr lang="it-IT" sz="2800" dirty="0"/>
              <a:t>Reparti</a:t>
            </a:r>
            <a:endParaRPr lang="it-IT" dirty="0">
              <a:cs typeface="+mj-cs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4283" y="1776656"/>
            <a:ext cx="8229600" cy="4300537"/>
          </a:xfrm>
        </p:spPr>
        <p:txBody>
          <a:bodyPr/>
          <a:lstStyle/>
          <a:p>
            <a:pPr eaLnBrk="1" hangingPunct="1">
              <a:defRPr/>
            </a:pPr>
            <a:r>
              <a:rPr lang="it-IT" sz="2000" dirty="0"/>
              <a:t>FRESCHI-CARNI BIANCHE ] [ FRESCHI-SURGELATI ] [ FRESCHI-GASTRONOMIA ] </a:t>
            </a:r>
            <a:r>
              <a:rPr lang="it-IT" sz="2000" dirty="0">
                <a:sym typeface="Wingdings" charset="0"/>
              </a:rPr>
              <a:t></a:t>
            </a:r>
            <a:r>
              <a:rPr lang="it-IT" sz="2000" dirty="0"/>
              <a:t> [ FRESCHI-CARNI ROSSE ]</a:t>
            </a:r>
          </a:p>
          <a:p>
            <a:pPr lvl="1" eaLnBrk="1" hangingPunct="1">
              <a:defRPr/>
            </a:pPr>
            <a:r>
              <a:rPr lang="it-IT" sz="1800" dirty="0"/>
              <a:t>Support: 5,2 Confidence: 75,5 Lift: 1,217</a:t>
            </a:r>
          </a:p>
          <a:p>
            <a:pPr eaLnBrk="1" hangingPunct="1">
              <a:defRPr/>
            </a:pPr>
            <a:endParaRPr lang="it-IT" dirty="0">
              <a:cs typeface="+mn-cs"/>
            </a:endParaRPr>
          </a:p>
          <a:p>
            <a:pPr eaLnBrk="1" hangingPunct="1">
              <a:defRPr/>
            </a:pPr>
            <a:r>
              <a:rPr lang="it-IT" sz="2400" dirty="0"/>
              <a:t>Al livello di Settore, non sono state trovate regole aventi Lift maggiore di 1.</a:t>
            </a:r>
          </a:p>
          <a:p>
            <a:pPr eaLnBrk="1" hangingPunct="1">
              <a:defRPr/>
            </a:pPr>
            <a:endParaRPr lang="it-IT" sz="2400" dirty="0"/>
          </a:p>
        </p:txBody>
      </p:sp>
      <p:sp>
        <p:nvSpPr>
          <p:cNvPr id="2" name="Segnaposto data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/>
              <a:t>IntroML, 2022  Reg. Ass. &amp; Patter Mining</a:t>
            </a:r>
            <a:endParaRPr lang="en-US" sz="140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100</a:t>
            </a:fld>
            <a:endParaRPr lang="en-US" b="1" i="1"/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1F0456FF-FDE2-3D31-4437-98FB6169F276}"/>
              </a:ext>
            </a:extLst>
          </p:cNvPr>
          <p:cNvGrpSpPr/>
          <p:nvPr/>
        </p:nvGrpSpPr>
        <p:grpSpPr>
          <a:xfrm>
            <a:off x="10161608" y="1771893"/>
            <a:ext cx="1676400" cy="4648200"/>
            <a:chOff x="8763000" y="1981200"/>
            <a:chExt cx="1676400" cy="4648200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7079E32E-B6D5-DA94-5900-D037D56A4A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3000" y="5943600"/>
              <a:ext cx="1676400" cy="685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it-IT"/>
                <a:t>Articolo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376D502-6331-7D2D-D080-D252486463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3000" y="4953000"/>
              <a:ext cx="1676400" cy="685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it-IT"/>
                <a:t>Categoria/</a:t>
              </a:r>
            </a:p>
            <a:p>
              <a:pPr algn="ctr">
                <a:defRPr/>
              </a:pPr>
              <a:r>
                <a:rPr lang="it-IT"/>
                <a:t>Subcategoria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AB9F3AA-1B5A-298A-713D-704719112F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3000" y="3962400"/>
              <a:ext cx="1676400" cy="685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it-IT"/>
                <a:t>Categoria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49BF952-2A10-3ED1-D5F5-B7A29DF45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3000" y="1981200"/>
              <a:ext cx="1676400" cy="685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it-IT" dirty="0"/>
                <a:t>Settore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81FD214-E5CE-EB2E-7B2E-783932048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3000" y="2971800"/>
              <a:ext cx="1676400" cy="685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it-IT" dirty="0"/>
                <a:t>Settore/Reparto</a:t>
              </a:r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63FE23C1-D03E-555E-BAE2-C2D765C71E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1200" y="26670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5705AFDF-FABA-2DDB-078E-D21C340B50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1200" y="36576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7100746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it-IT" dirty="0">
                <a:cs typeface="+mj-cs"/>
              </a:rPr>
              <a:t>Evaluation – </a:t>
            </a:r>
            <a:r>
              <a:rPr lang="it-IT" sz="3200" dirty="0"/>
              <a:t>Profiling </a:t>
            </a:r>
            <a:r>
              <a:rPr lang="it-IT" dirty="0">
                <a:cs typeface="+mj-cs"/>
              </a:rPr>
              <a:t>– </a:t>
            </a:r>
            <a:r>
              <a:rPr lang="it-IT" sz="2800" dirty="0"/>
              <a:t>Articoli 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719264"/>
            <a:ext cx="8229600" cy="4986337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it-IT" sz="2400" dirty="0"/>
              <a:t>Rule</a:t>
            </a:r>
          </a:p>
          <a:p>
            <a:pPr lvl="1" eaLnBrk="1" hangingPunct="1">
              <a:defRPr/>
            </a:pPr>
            <a:r>
              <a:rPr lang="it-IT" sz="2000" dirty="0"/>
              <a:t>[ GOURM.GOLD DADINI GELLEE G85X8 ] [ GOURMET PERLE FIL.C/MANZO G85 ]</a:t>
            </a:r>
            <a:r>
              <a:rPr lang="it-IT" sz="2000" dirty="0">
                <a:sym typeface="Wingdings" charset="0"/>
              </a:rPr>
              <a:t></a:t>
            </a:r>
            <a:r>
              <a:rPr lang="it-IT" sz="2000" dirty="0"/>
              <a:t>[ GOURMET PERLE FIL.CONIGLIO G85]</a:t>
            </a:r>
          </a:p>
          <a:p>
            <a:pPr lvl="1" eaLnBrk="1" hangingPunct="1">
              <a:defRPr/>
            </a:pPr>
            <a:r>
              <a:rPr lang="it-IT" sz="2000" dirty="0" err="1"/>
              <a:t>Support</a:t>
            </a:r>
            <a:r>
              <a:rPr lang="it-IT" sz="2000" dirty="0"/>
              <a:t>: 0,01 </a:t>
            </a:r>
            <a:r>
              <a:rPr lang="it-IT" sz="2000" dirty="0" err="1"/>
              <a:t>Confidence</a:t>
            </a:r>
            <a:r>
              <a:rPr lang="it-IT" sz="2000" dirty="0"/>
              <a:t>: 87,8 Lift: 492,757</a:t>
            </a:r>
          </a:p>
          <a:p>
            <a:pPr eaLnBrk="1" hangingPunct="1">
              <a:defRPr/>
            </a:pP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supported</a:t>
            </a:r>
            <a:r>
              <a:rPr lang="it-IT" sz="2400" dirty="0"/>
              <a:t> by 41 clienti. </a:t>
            </a:r>
          </a:p>
          <a:p>
            <a:pPr eaLnBrk="1" hangingPunct="1">
              <a:defRPr/>
            </a:pPr>
            <a:r>
              <a:rPr lang="it-IT" sz="2400" dirty="0" err="1"/>
              <a:t>Profile</a:t>
            </a:r>
            <a:r>
              <a:rPr lang="it-IT" sz="2400" dirty="0"/>
              <a:t> customer:</a:t>
            </a:r>
          </a:p>
          <a:p>
            <a:pPr lvl="1" eaLnBrk="1" hangingPunct="1">
              <a:defRPr/>
            </a:pPr>
            <a:r>
              <a:rPr lang="it-IT" sz="2000" dirty="0" err="1"/>
              <a:t>Housewives</a:t>
            </a:r>
            <a:r>
              <a:rPr lang="it-IT" sz="2000" dirty="0"/>
              <a:t>, </a:t>
            </a:r>
            <a:r>
              <a:rPr lang="it-IT" sz="2000" dirty="0" err="1"/>
              <a:t>unmarried</a:t>
            </a:r>
            <a:r>
              <a:rPr lang="it-IT" sz="2000" dirty="0"/>
              <a:t>, </a:t>
            </a:r>
            <a:r>
              <a:rPr lang="it-IT" sz="2000" dirty="0" err="1"/>
              <a:t>aged</a:t>
            </a:r>
            <a:r>
              <a:rPr lang="it-IT" sz="2000" dirty="0"/>
              <a:t> </a:t>
            </a:r>
            <a:r>
              <a:rPr lang="it-IT" sz="2000" dirty="0" err="1"/>
              <a:t>between</a:t>
            </a:r>
            <a:r>
              <a:rPr lang="it-IT" sz="2000" dirty="0"/>
              <a:t> 57 and 63, </a:t>
            </a:r>
            <a:r>
              <a:rPr lang="it-IT" sz="2000" dirty="0" err="1"/>
              <a:t>who</a:t>
            </a:r>
            <a:r>
              <a:rPr lang="it-IT" sz="2000" dirty="0"/>
              <a:t> </a:t>
            </a:r>
            <a:r>
              <a:rPr lang="it-IT" sz="2000" dirty="0" err="1"/>
              <a:t>have</a:t>
            </a:r>
            <a:r>
              <a:rPr lang="it-IT" sz="2000" dirty="0"/>
              <a:t> </a:t>
            </a:r>
            <a:r>
              <a:rPr lang="it-IT" sz="2000" dirty="0" err="1"/>
              <a:t>eighth</a:t>
            </a:r>
            <a:r>
              <a:rPr lang="it-IT" sz="2000" dirty="0"/>
              <a:t> grade </a:t>
            </a:r>
            <a:r>
              <a:rPr lang="it-IT" sz="2000" dirty="0" err="1"/>
              <a:t>as</a:t>
            </a:r>
            <a:r>
              <a:rPr lang="it-IT" sz="2000" dirty="0"/>
              <a:t> </a:t>
            </a:r>
            <a:r>
              <a:rPr lang="it-IT" sz="2000" dirty="0" err="1"/>
              <a:t>their</a:t>
            </a:r>
            <a:r>
              <a:rPr lang="it-IT" sz="2000" dirty="0"/>
              <a:t> </a:t>
            </a:r>
            <a:r>
              <a:rPr lang="it-IT" sz="2000" dirty="0" err="1"/>
              <a:t>qualification</a:t>
            </a:r>
            <a:r>
              <a:rPr lang="it-IT" sz="2000" dirty="0"/>
              <a:t>. </a:t>
            </a:r>
          </a:p>
          <a:p>
            <a:pPr lvl="1" eaLnBrk="1" hangingPunct="1">
              <a:defRPr/>
            </a:pPr>
            <a:r>
              <a:rPr lang="it-IT" sz="2000" dirty="0"/>
              <a:t>Single </a:t>
            </a:r>
            <a:r>
              <a:rPr lang="it-IT" sz="2000" dirty="0" err="1"/>
              <a:t>female</a:t>
            </a:r>
            <a:r>
              <a:rPr lang="it-IT" sz="2000" dirty="0"/>
              <a:t> </a:t>
            </a:r>
            <a:r>
              <a:rPr lang="it-IT" sz="2000" dirty="0" err="1"/>
              <a:t>accountants</a:t>
            </a:r>
            <a:r>
              <a:rPr lang="it-IT" sz="2000" dirty="0"/>
              <a:t> </a:t>
            </a:r>
            <a:r>
              <a:rPr lang="it-IT" sz="2000" dirty="0" err="1"/>
              <a:t>aged</a:t>
            </a:r>
            <a:r>
              <a:rPr lang="it-IT" sz="2000" dirty="0"/>
              <a:t> </a:t>
            </a:r>
            <a:r>
              <a:rPr lang="it-IT" sz="2000" dirty="0" err="1"/>
              <a:t>between</a:t>
            </a:r>
            <a:r>
              <a:rPr lang="it-IT" sz="2000" dirty="0"/>
              <a:t> 26 and 29 working </a:t>
            </a:r>
            <a:r>
              <a:rPr lang="it-IT" sz="2000" dirty="0" err="1"/>
              <a:t>as</a:t>
            </a:r>
            <a:r>
              <a:rPr lang="it-IT" sz="2000" dirty="0"/>
              <a:t> </a:t>
            </a:r>
            <a:r>
              <a:rPr lang="it-IT" sz="2000" dirty="0" err="1"/>
              <a:t>employees</a:t>
            </a:r>
            <a:r>
              <a:rPr lang="it-IT" sz="2000" dirty="0"/>
              <a:t> </a:t>
            </a:r>
          </a:p>
          <a:p>
            <a:pPr lvl="1" eaLnBrk="1" hangingPunct="1">
              <a:defRPr/>
            </a:pPr>
            <a:r>
              <a:rPr lang="it-IT" sz="2000" dirty="0" err="1"/>
              <a:t>Retired</a:t>
            </a:r>
            <a:r>
              <a:rPr lang="it-IT" sz="2000" dirty="0"/>
              <a:t> men under the age of 51</a:t>
            </a:r>
          </a:p>
        </p:txBody>
      </p:sp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IntroML, 2022  Reg. Ass. &amp; Patter Mining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101</a:t>
            </a:fld>
            <a:endParaRPr lang="en-US" b="1" i="1"/>
          </a:p>
        </p:txBody>
      </p:sp>
    </p:spTree>
    <p:extLst>
      <p:ext uri="{BB962C8B-B14F-4D97-AF65-F5344CB8AC3E}">
        <p14:creationId xmlns:p14="http://schemas.microsoft.com/office/powerpoint/2010/main" val="256922084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it-IT" dirty="0">
                <a:cs typeface="+mj-cs"/>
              </a:rPr>
              <a:t>Evaluation – Profiling – </a:t>
            </a:r>
            <a:r>
              <a:rPr lang="it-IT" sz="2800" dirty="0"/>
              <a:t>Articoli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719264"/>
            <a:ext cx="8229600" cy="4986337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it-IT" sz="2400" dirty="0"/>
              <a:t>rule</a:t>
            </a:r>
          </a:p>
          <a:p>
            <a:pPr lvl="1" eaLnBrk="1" hangingPunct="1">
              <a:defRPr/>
            </a:pPr>
            <a:r>
              <a:rPr lang="it-IT" sz="2000" dirty="0"/>
              <a:t>[ APER.CAMPARI MIXX PEACH ML275 ] [ APERIT.CAMPARI MIXX LIME ML275] [ APERITIVO CAMP.GRADI 6,5 ML275 ] </a:t>
            </a:r>
            <a:r>
              <a:rPr lang="it-IT" sz="2000" dirty="0">
                <a:sym typeface="Wingdings" charset="0"/>
              </a:rPr>
              <a:t></a:t>
            </a:r>
            <a:r>
              <a:rPr lang="it-IT" sz="2000" dirty="0"/>
              <a:t> [ CAMPARI MIXX ORANGE ML275 ]</a:t>
            </a:r>
          </a:p>
          <a:p>
            <a:pPr lvl="1" eaLnBrk="1" hangingPunct="1">
              <a:defRPr/>
            </a:pPr>
            <a:r>
              <a:rPr lang="it-IT" sz="2000" dirty="0" err="1"/>
              <a:t>Support</a:t>
            </a:r>
            <a:r>
              <a:rPr lang="it-IT" sz="2000" dirty="0"/>
              <a:t>: 0,01 </a:t>
            </a:r>
            <a:r>
              <a:rPr lang="it-IT" sz="2000" dirty="0" err="1"/>
              <a:t>Confidence</a:t>
            </a:r>
            <a:r>
              <a:rPr lang="it-IT" sz="2000" dirty="0"/>
              <a:t>: 83,3 Lift: 1314,55</a:t>
            </a:r>
          </a:p>
          <a:p>
            <a:pPr eaLnBrk="1" hangingPunct="1">
              <a:defRPr/>
            </a:pP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supported</a:t>
            </a:r>
            <a:r>
              <a:rPr lang="it-IT" sz="2400" dirty="0"/>
              <a:t> by 27 clienti. </a:t>
            </a:r>
          </a:p>
          <a:p>
            <a:pPr eaLnBrk="1" hangingPunct="1">
              <a:defRPr/>
            </a:pPr>
            <a:r>
              <a:rPr lang="it-IT" sz="2400" dirty="0"/>
              <a:t>Profilo cliente:</a:t>
            </a:r>
          </a:p>
          <a:p>
            <a:pPr lvl="1" eaLnBrk="1" hangingPunct="1">
              <a:defRPr/>
            </a:pPr>
            <a:r>
              <a:rPr lang="it-IT" sz="2000" dirty="0"/>
              <a:t>Male </a:t>
            </a:r>
            <a:r>
              <a:rPr lang="it-IT" sz="2000" dirty="0" err="1"/>
              <a:t>engineers</a:t>
            </a:r>
            <a:r>
              <a:rPr lang="it-IT" sz="2000" dirty="0"/>
              <a:t> </a:t>
            </a:r>
            <a:r>
              <a:rPr lang="it-IT" sz="2000" dirty="0" err="1"/>
              <a:t>aged</a:t>
            </a:r>
            <a:r>
              <a:rPr lang="it-IT" sz="2000" dirty="0"/>
              <a:t> 26-27</a:t>
            </a:r>
          </a:p>
          <a:p>
            <a:pPr lvl="1" eaLnBrk="1" hangingPunct="1">
              <a:defRPr/>
            </a:pPr>
            <a:r>
              <a:rPr lang="it-IT" sz="2000" dirty="0"/>
              <a:t>Girls </a:t>
            </a:r>
            <a:r>
              <a:rPr lang="it-IT" sz="2000" dirty="0" err="1"/>
              <a:t>aged</a:t>
            </a:r>
            <a:r>
              <a:rPr lang="it-IT" sz="2000" dirty="0"/>
              <a:t> 26 to 30 </a:t>
            </a:r>
            <a:r>
              <a:rPr lang="it-IT" sz="2000" dirty="0" err="1"/>
              <a:t>who</a:t>
            </a:r>
            <a:r>
              <a:rPr lang="it-IT" sz="2000" dirty="0"/>
              <a:t> are self-</a:t>
            </a:r>
            <a:r>
              <a:rPr lang="it-IT" sz="2000" dirty="0" err="1"/>
              <a:t>employed</a:t>
            </a:r>
            <a:r>
              <a:rPr lang="it-IT" sz="2000" dirty="0"/>
              <a:t> and </a:t>
            </a:r>
            <a:r>
              <a:rPr lang="it-IT" sz="2000" dirty="0" err="1"/>
              <a:t>have</a:t>
            </a:r>
            <a:r>
              <a:rPr lang="it-IT" sz="2000" dirty="0"/>
              <a:t> a </a:t>
            </a:r>
            <a:r>
              <a:rPr lang="it-IT" sz="2000" dirty="0" err="1"/>
              <a:t>university</a:t>
            </a:r>
            <a:r>
              <a:rPr lang="it-IT" sz="2000" dirty="0"/>
              <a:t> degree</a:t>
            </a:r>
          </a:p>
          <a:p>
            <a:pPr lvl="1" eaLnBrk="1" hangingPunct="1">
              <a:defRPr/>
            </a:pPr>
            <a:r>
              <a:rPr lang="it-IT" sz="2000" dirty="0"/>
              <a:t>Single </a:t>
            </a:r>
            <a:r>
              <a:rPr lang="it-IT" sz="2000" dirty="0" err="1"/>
              <a:t>employees</a:t>
            </a:r>
            <a:r>
              <a:rPr lang="it-IT" sz="2000" dirty="0"/>
              <a:t> </a:t>
            </a:r>
            <a:r>
              <a:rPr lang="it-IT" sz="2000" dirty="0" err="1"/>
              <a:t>aged</a:t>
            </a:r>
            <a:r>
              <a:rPr lang="it-IT" sz="2000" dirty="0"/>
              <a:t> 26 to 53</a:t>
            </a:r>
          </a:p>
        </p:txBody>
      </p:sp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IntroML, 2022  Reg. Ass. &amp; Patter Mining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102</a:t>
            </a:fld>
            <a:endParaRPr lang="en-US" b="1" i="1"/>
          </a:p>
        </p:txBody>
      </p:sp>
    </p:spTree>
    <p:extLst>
      <p:ext uri="{BB962C8B-B14F-4D97-AF65-F5344CB8AC3E}">
        <p14:creationId xmlns:p14="http://schemas.microsoft.com/office/powerpoint/2010/main" val="55076667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it-IT" dirty="0">
                <a:cs typeface="+mj-cs"/>
              </a:rPr>
              <a:t>Evaluation – Profiling – </a:t>
            </a:r>
            <a:r>
              <a:rPr lang="it-IT" sz="2800" dirty="0"/>
              <a:t>Subcategorie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719264"/>
            <a:ext cx="8229600" cy="4986337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it-IT" sz="2400" dirty="0"/>
              <a:t>rule</a:t>
            </a:r>
          </a:p>
          <a:p>
            <a:pPr lvl="1" eaLnBrk="1" hangingPunct="1">
              <a:defRPr/>
            </a:pPr>
            <a:r>
              <a:rPr lang="it-IT" sz="2000" dirty="0"/>
              <a:t>[ SNACK SALATI-POP CORN/CEREALI ] [ SNACK SALATI-ESTRUSI ] [BIBITE-ARANCIATE ] </a:t>
            </a:r>
            <a:r>
              <a:rPr lang="it-IT" sz="2000" dirty="0">
                <a:sym typeface="Wingdings" charset="0"/>
              </a:rPr>
              <a:t></a:t>
            </a:r>
            <a:r>
              <a:rPr lang="it-IT" sz="2000" dirty="0"/>
              <a:t> [ BIBITE-COLE ]</a:t>
            </a:r>
          </a:p>
          <a:p>
            <a:pPr lvl="1" eaLnBrk="1" hangingPunct="1">
              <a:defRPr/>
            </a:pPr>
            <a:r>
              <a:rPr lang="it-IT" sz="2000" dirty="0" err="1"/>
              <a:t>Support</a:t>
            </a:r>
            <a:r>
              <a:rPr lang="it-IT" sz="2000" dirty="0"/>
              <a:t>: 0,1 </a:t>
            </a:r>
            <a:r>
              <a:rPr lang="it-IT" sz="2000" dirty="0" err="1"/>
              <a:t>Confidence</a:t>
            </a:r>
            <a:r>
              <a:rPr lang="it-IT" sz="2000" dirty="0"/>
              <a:t>: 82,2 Lift: 10,34</a:t>
            </a:r>
          </a:p>
          <a:p>
            <a:pPr eaLnBrk="1" hangingPunct="1">
              <a:defRPr/>
            </a:pP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supported</a:t>
            </a:r>
            <a:r>
              <a:rPr lang="it-IT" sz="2400" dirty="0"/>
              <a:t> by 155 clienti. </a:t>
            </a:r>
          </a:p>
          <a:p>
            <a:pPr eaLnBrk="1" hangingPunct="1">
              <a:defRPr/>
            </a:pPr>
            <a:r>
              <a:rPr lang="it-IT" sz="2400" dirty="0"/>
              <a:t>Profilo cliente:</a:t>
            </a:r>
          </a:p>
          <a:p>
            <a:pPr lvl="1" eaLnBrk="1" hangingPunct="1">
              <a:defRPr/>
            </a:pPr>
            <a:r>
              <a:rPr lang="it-IT" sz="2000" dirty="0" err="1"/>
              <a:t>Unemployed</a:t>
            </a:r>
            <a:r>
              <a:rPr lang="it-IT" sz="2000" dirty="0"/>
              <a:t> girls </a:t>
            </a:r>
            <a:r>
              <a:rPr lang="it-IT" sz="2000" dirty="0" err="1"/>
              <a:t>aged</a:t>
            </a:r>
            <a:r>
              <a:rPr lang="it-IT" sz="2000" dirty="0"/>
              <a:t> 30-34 with a </a:t>
            </a:r>
            <a:r>
              <a:rPr lang="it-IT" sz="2000" dirty="0" err="1"/>
              <a:t>master's</a:t>
            </a:r>
            <a:r>
              <a:rPr lang="it-IT" sz="2000" dirty="0"/>
              <a:t> degree </a:t>
            </a:r>
          </a:p>
          <a:p>
            <a:pPr lvl="1" eaLnBrk="1" hangingPunct="1">
              <a:defRPr/>
            </a:pPr>
            <a:r>
              <a:rPr lang="it-IT" sz="2000" dirty="0" err="1"/>
              <a:t>Widowed</a:t>
            </a:r>
            <a:r>
              <a:rPr lang="it-IT" sz="2000" dirty="0"/>
              <a:t> 57-60 </a:t>
            </a:r>
            <a:r>
              <a:rPr lang="it-IT" sz="2000" dirty="0" err="1"/>
              <a:t>year</a:t>
            </a:r>
            <a:r>
              <a:rPr lang="it-IT" sz="2000" dirty="0"/>
              <a:t> </a:t>
            </a:r>
            <a:r>
              <a:rPr lang="it-IT" sz="2000" dirty="0" err="1"/>
              <a:t>old</a:t>
            </a:r>
            <a:r>
              <a:rPr lang="it-IT" sz="2000" dirty="0"/>
              <a:t> </a:t>
            </a:r>
            <a:r>
              <a:rPr lang="it-IT" sz="2000" dirty="0" err="1"/>
              <a:t>freelancers</a:t>
            </a:r>
            <a:r>
              <a:rPr lang="it-IT" sz="2000" dirty="0"/>
              <a:t> </a:t>
            </a:r>
          </a:p>
          <a:p>
            <a:pPr lvl="1" eaLnBrk="1" hangingPunct="1">
              <a:defRPr/>
            </a:pPr>
            <a:r>
              <a:rPr lang="it-IT" sz="2000" dirty="0" err="1"/>
              <a:t>Married</a:t>
            </a:r>
            <a:r>
              <a:rPr lang="it-IT" sz="2000" dirty="0"/>
              <a:t> men/women </a:t>
            </a:r>
            <a:r>
              <a:rPr lang="it-IT" sz="2000" dirty="0" err="1"/>
              <a:t>aged</a:t>
            </a:r>
            <a:r>
              <a:rPr lang="it-IT" sz="2000" dirty="0"/>
              <a:t> 32-40 and </a:t>
            </a:r>
            <a:r>
              <a:rPr lang="it-IT" sz="2000" dirty="0" err="1"/>
              <a:t>employed</a:t>
            </a:r>
            <a:endParaRPr lang="it-IT" sz="2000" dirty="0"/>
          </a:p>
        </p:txBody>
      </p:sp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IntroML, 2022  Reg. Ass. &amp; Patter Mining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103</a:t>
            </a:fld>
            <a:endParaRPr lang="en-US" b="1" i="1"/>
          </a:p>
        </p:txBody>
      </p:sp>
    </p:spTree>
    <p:extLst>
      <p:ext uri="{BB962C8B-B14F-4D97-AF65-F5344CB8AC3E}">
        <p14:creationId xmlns:p14="http://schemas.microsoft.com/office/powerpoint/2010/main" val="402971900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it-IT" dirty="0">
                <a:cs typeface="+mj-cs"/>
              </a:rPr>
              <a:t>Evaluation – Profiling – </a:t>
            </a:r>
            <a:r>
              <a:rPr lang="it-IT" sz="2800" dirty="0"/>
              <a:t>Subcategorie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719264"/>
            <a:ext cx="8229600" cy="4986337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it-IT" sz="2400" dirty="0"/>
              <a:t>Rule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it-IT" sz="2000" dirty="0"/>
              <a:t>[ USA E GETTA TAVOLA-STOV. CARTA COLORATA DECORATA ] [ USA E GETTA TAVOLA-ACCESSORI USA E GETTA ] [ USA E GETTA TAVOLA-STOVIGLIE PLASTICA BIANCA ]</a:t>
            </a:r>
            <a:r>
              <a:rPr lang="it-IT" sz="2000" dirty="0">
                <a:sym typeface="Wingdings" charset="0"/>
              </a:rPr>
              <a:t></a:t>
            </a:r>
            <a:r>
              <a:rPr lang="it-IT" sz="2000" dirty="0"/>
              <a:t>[ USA E GETTA TAVOLA-TOVAGLIE-TOVAGLIOLI ]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it-IT" sz="2000" dirty="0"/>
              <a:t>Support: 0,1 Confidence: 84,7 Lift: 12,767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it-IT" sz="2400" dirty="0" err="1"/>
              <a:t>Supported</a:t>
            </a:r>
            <a:r>
              <a:rPr lang="it-IT" sz="2400" dirty="0"/>
              <a:t> by158 clienti.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it-IT" sz="2400" dirty="0"/>
              <a:t>Profilo cliente: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it-IT" sz="2000" dirty="0"/>
              <a:t>Single men working for public bodies </a:t>
            </a:r>
            <a:r>
              <a:rPr lang="it-IT" sz="2000" dirty="0" err="1"/>
              <a:t>aged</a:t>
            </a:r>
            <a:r>
              <a:rPr lang="it-IT" sz="2000" dirty="0"/>
              <a:t> 43-45 </a:t>
            </a:r>
            <a:r>
              <a:rPr lang="it-IT" sz="2000" dirty="0" err="1"/>
              <a:t>years</a:t>
            </a:r>
            <a:r>
              <a:rPr lang="it-IT" sz="2000" dirty="0"/>
              <a:t>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it-IT" sz="2000" dirty="0" err="1"/>
              <a:t>Freelancers</a:t>
            </a:r>
            <a:r>
              <a:rPr lang="it-IT" sz="2000" dirty="0"/>
              <a:t> with </a:t>
            </a:r>
            <a:r>
              <a:rPr lang="it-IT" sz="2000" dirty="0" err="1"/>
              <a:t>lower</a:t>
            </a:r>
            <a:r>
              <a:rPr lang="it-IT" sz="2000" dirty="0"/>
              <a:t> </a:t>
            </a:r>
            <a:r>
              <a:rPr lang="it-IT" sz="2000" dirty="0" err="1"/>
              <a:t>secondary</a:t>
            </a:r>
            <a:r>
              <a:rPr lang="it-IT" sz="2000" dirty="0"/>
              <a:t> </a:t>
            </a:r>
            <a:r>
              <a:rPr lang="it-IT" sz="2000" dirty="0" err="1"/>
              <a:t>education</a:t>
            </a:r>
            <a:r>
              <a:rPr lang="it-IT" sz="2000" dirty="0"/>
              <a:t> </a:t>
            </a:r>
            <a:r>
              <a:rPr lang="it-IT" sz="2000" dirty="0" err="1"/>
              <a:t>aged</a:t>
            </a:r>
            <a:r>
              <a:rPr lang="it-IT" sz="2000" dirty="0"/>
              <a:t> 59-60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it-IT" sz="2000" dirty="0" err="1"/>
              <a:t>Married</a:t>
            </a:r>
            <a:r>
              <a:rPr lang="it-IT" sz="2000" dirty="0"/>
              <a:t> career </a:t>
            </a:r>
            <a:r>
              <a:rPr lang="it-IT" sz="2000" dirty="0" err="1"/>
              <a:t>soldiers</a:t>
            </a:r>
            <a:r>
              <a:rPr lang="it-IT" sz="2000" dirty="0"/>
              <a:t> </a:t>
            </a:r>
            <a:r>
              <a:rPr lang="it-IT" sz="2000" dirty="0" err="1"/>
              <a:t>aged</a:t>
            </a:r>
            <a:r>
              <a:rPr lang="it-IT" sz="2000" dirty="0"/>
              <a:t> 38-41</a:t>
            </a:r>
          </a:p>
        </p:txBody>
      </p:sp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Giannotti </a:t>
            </a:r>
            <a:endParaRPr lang="en-US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IntroML, 2022  Reg. Ass. &amp; Patter Mining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it-IT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C307F462-3988-BC4D-81BF-28D7685271D2}" type="slidenum">
              <a:rPr lang="en-US" smtClean="0"/>
              <a:pPr>
                <a:defRPr/>
              </a:pPr>
              <a:t>104</a:t>
            </a:fld>
            <a:endParaRPr lang="en-US" b="1" i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D45A394-F855-C676-85BA-955D38B77B6F}"/>
              </a:ext>
            </a:extLst>
          </p:cNvPr>
          <p:cNvSpPr txBox="1"/>
          <p:nvPr/>
        </p:nvSpPr>
        <p:spPr>
          <a:xfrm>
            <a:off x="3049929" y="3270377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dirty="0">
                <a:effectLst/>
              </a:rPr>
              <a:t> </a:t>
            </a: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3B8983F-8E88-9BE1-D686-8DE07A848843}"/>
              </a:ext>
            </a:extLst>
          </p:cNvPr>
          <p:cNvSpPr txBox="1"/>
          <p:nvPr/>
        </p:nvSpPr>
        <p:spPr>
          <a:xfrm>
            <a:off x="3049929" y="3270377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dirty="0">
                <a:effectLst/>
              </a:rPr>
              <a:t> 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2172068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56805-27B6-9941-9623-EE2991DF1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807" y="2176424"/>
            <a:ext cx="11353800" cy="2261802"/>
          </a:xfrm>
        </p:spPr>
        <p:txBody>
          <a:bodyPr>
            <a:normAutofit/>
          </a:bodyPr>
          <a:lstStyle/>
          <a:p>
            <a:pPr algn="l"/>
            <a:br>
              <a:rPr lang="en-US" sz="7200" b="1" dirty="0"/>
            </a:br>
            <a:r>
              <a:rPr lang="en-US" sz="5400" b="1" dirty="0"/>
              <a:t>Sequential Pattern Mining</a:t>
            </a:r>
            <a:endParaRPr lang="en-US" sz="5800" b="1" dirty="0"/>
          </a:p>
        </p:txBody>
      </p:sp>
      <p:sp>
        <p:nvSpPr>
          <p:cNvPr id="7" name="Sottotitolo 6">
            <a:extLst>
              <a:ext uri="{FF2B5EF4-FFF2-40B4-BE49-F238E27FC236}">
                <a16:creationId xmlns:a16="http://schemas.microsoft.com/office/drawing/2014/main" id="{5F5693D1-C37C-884D-ABF4-994E895B2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807" y="4727461"/>
            <a:ext cx="9144000" cy="1729891"/>
          </a:xfrm>
        </p:spPr>
        <p:txBody>
          <a:bodyPr>
            <a:normAutofit/>
          </a:bodyPr>
          <a:lstStyle/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endParaRPr lang="en-IE" dirty="0"/>
          </a:p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endParaRPr lang="en-IE" sz="1900" dirty="0"/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IE" sz="2000" i="1" dirty="0"/>
              <a:t>Revisited slides from Lecture Notes for Chapter 5 “Introduction to Data Mining”, 2nd Edition by Tan, Steinbach, </a:t>
            </a:r>
            <a:r>
              <a:rPr lang="en-IE" sz="2000" i="1" dirty="0" err="1"/>
              <a:t>Karpatne</a:t>
            </a:r>
            <a:r>
              <a:rPr lang="en-IE" sz="2000" i="1" dirty="0"/>
              <a:t>, Kumar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endParaRPr lang="en-IE" sz="2000" i="1" dirty="0"/>
          </a:p>
        </p:txBody>
      </p: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D6F288DE-7B36-1745-8291-1D66544FBE52}"/>
              </a:ext>
            </a:extLst>
          </p:cNvPr>
          <p:cNvCxnSpPr/>
          <p:nvPr/>
        </p:nvCxnSpPr>
        <p:spPr>
          <a:xfrm>
            <a:off x="0" y="4568262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608196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69477A0D-F266-164E-8A6B-5F9F850D17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Examples of Sequence</a:t>
            </a:r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D53D79DB-5AFF-5B41-AF19-565378F9F3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Sequence of different transactions by a customer at an online store: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sz="1800" dirty="0"/>
              <a:t>  &lt; {Digital </a:t>
            </a:r>
            <a:r>
              <a:rPr lang="en-US" altLang="en-US" sz="1800" dirty="0" err="1"/>
              <a:t>Camera,iPad</a:t>
            </a:r>
            <a:r>
              <a:rPr lang="en-US" altLang="en-US" sz="1800" dirty="0"/>
              <a:t>} {memory card}  {</a:t>
            </a:r>
            <a:r>
              <a:rPr lang="en-US" altLang="en-US" sz="1800" dirty="0" err="1"/>
              <a:t>headphone,iPad</a:t>
            </a:r>
            <a:r>
              <a:rPr lang="en-US" altLang="en-US" sz="1800" dirty="0"/>
              <a:t> cover} &gt;</a:t>
            </a:r>
            <a:endParaRPr lang="en-US" altLang="en-US" dirty="0"/>
          </a:p>
          <a:p>
            <a:pPr lvl="1"/>
            <a:endParaRPr lang="en-US" altLang="en-US" sz="1000" dirty="0"/>
          </a:p>
          <a:p>
            <a:r>
              <a:rPr lang="en-US" altLang="en-US" dirty="0"/>
              <a:t>Sequence of events causing the nuclear accident at 3-mile Island:</a:t>
            </a:r>
            <a:br>
              <a:rPr lang="en-US" altLang="en-US" dirty="0"/>
            </a:br>
            <a:r>
              <a:rPr lang="en-US" altLang="en-US" sz="1400" dirty="0"/>
              <a:t>(http://stellar-</a:t>
            </a:r>
            <a:r>
              <a:rPr lang="en-US" altLang="en-US" sz="1400" dirty="0" err="1"/>
              <a:t>one.com</a:t>
            </a:r>
            <a:r>
              <a:rPr lang="en-US" altLang="en-US" sz="1400" dirty="0"/>
              <a:t>/nuclear/</a:t>
            </a:r>
            <a:r>
              <a:rPr lang="en-US" altLang="en-US" sz="1400" dirty="0" err="1"/>
              <a:t>staff_reports</a:t>
            </a:r>
            <a:r>
              <a:rPr lang="en-US" altLang="en-US" sz="1400" dirty="0"/>
              <a:t>/</a:t>
            </a:r>
            <a:r>
              <a:rPr lang="en-US" altLang="en-US" sz="1400" dirty="0" err="1"/>
              <a:t>summary_SOE_the_initiating_event.htm</a:t>
            </a:r>
            <a:r>
              <a:rPr lang="en-US" altLang="en-US" sz="1400" dirty="0"/>
              <a:t>)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sz="1800" dirty="0"/>
              <a:t>&lt;   {clogged resin} {outlet valve closure} {loss of feedwater} </a:t>
            </a:r>
            <a:br>
              <a:rPr lang="en-US" altLang="en-US" sz="1800" dirty="0"/>
            </a:br>
            <a:r>
              <a:rPr lang="en-US" altLang="en-US" sz="1800" dirty="0"/>
              <a:t>{condenser polisher outlet valve shut} {booster pumps trip} </a:t>
            </a:r>
            <a:br>
              <a:rPr lang="en-US" altLang="en-US" sz="1800" dirty="0"/>
            </a:br>
            <a:r>
              <a:rPr lang="en-US" altLang="en-US" sz="1800" dirty="0"/>
              <a:t>{main </a:t>
            </a:r>
            <a:r>
              <a:rPr lang="en-US" altLang="en-US" sz="1800" dirty="0" err="1"/>
              <a:t>waterpump</a:t>
            </a:r>
            <a:r>
              <a:rPr lang="en-US" altLang="en-US" sz="1800" dirty="0"/>
              <a:t> trips} {main turbine trips} {reactor pressure increases}&gt;</a:t>
            </a:r>
            <a:br>
              <a:rPr lang="en-US" altLang="en-US" sz="1800" dirty="0"/>
            </a:br>
            <a:endParaRPr lang="en-US" altLang="en-US" sz="1600" dirty="0"/>
          </a:p>
          <a:p>
            <a:r>
              <a:rPr lang="en-US" altLang="en-US" dirty="0"/>
              <a:t>Sequence of books checked out at a library: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sz="1800" dirty="0"/>
              <a:t>&lt;{Fellowship of the Ring} {The Two Towers}  {Return of the King}&gt;</a:t>
            </a:r>
          </a:p>
        </p:txBody>
      </p:sp>
    </p:spTree>
    <p:extLst>
      <p:ext uri="{BB962C8B-B14F-4D97-AF65-F5344CB8AC3E}">
        <p14:creationId xmlns:p14="http://schemas.microsoft.com/office/powerpoint/2010/main" val="4021617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build="p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>
            <a:extLst>
              <a:ext uri="{FF2B5EF4-FFF2-40B4-BE49-F238E27FC236}">
                <a16:creationId xmlns:a16="http://schemas.microsoft.com/office/drawing/2014/main" id="{5E614B26-C921-2148-B9EB-8F57BF42C7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dirty="0"/>
              <a:t>From </a:t>
            </a:r>
            <a:r>
              <a:rPr lang="en-US" altLang="en-US" dirty="0" err="1"/>
              <a:t>Itemsets</a:t>
            </a:r>
            <a:r>
              <a:rPr lang="en-US" altLang="en-US" dirty="0"/>
              <a:t> to Sequences</a:t>
            </a: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EA741818-F83F-9D47-9B91-3A51ADD255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r>
              <a:rPr lang="en-US" altLang="en-US" dirty="0"/>
              <a:t>Frequent </a:t>
            </a:r>
            <a:r>
              <a:rPr lang="en-US" altLang="en-US" dirty="0" err="1"/>
              <a:t>itemsets</a:t>
            </a:r>
            <a:r>
              <a:rPr lang="en-US" altLang="en-US" dirty="0"/>
              <a:t> and association rules focus on transactions and the items that appear there</a:t>
            </a:r>
          </a:p>
          <a:p>
            <a:pPr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r>
              <a:rPr lang="en-US" altLang="en-US" dirty="0"/>
              <a:t>Databases of transactions usually have a temporal information</a:t>
            </a:r>
          </a:p>
          <a:p>
            <a:pPr lvl="1">
              <a:buClr>
                <a:srgbClr val="0C7B9C"/>
              </a:buClr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r>
              <a:rPr lang="en-US" altLang="en-US" dirty="0"/>
              <a:t>Sequential patterns exploit it</a:t>
            </a:r>
          </a:p>
          <a:p>
            <a:pPr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r>
              <a:rPr lang="en-US" altLang="en-US" dirty="0"/>
              <a:t>Example data:</a:t>
            </a:r>
          </a:p>
          <a:p>
            <a:pPr lvl="1">
              <a:buClr>
                <a:srgbClr val="0C7B9C"/>
              </a:buClr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r>
              <a:rPr lang="en-US" altLang="en-US" dirty="0"/>
              <a:t>Market basket transactions</a:t>
            </a:r>
          </a:p>
          <a:p>
            <a:pPr lvl="1">
              <a:buClr>
                <a:srgbClr val="0C7B9C"/>
              </a:buClr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r>
              <a:rPr lang="en-US" altLang="en-US" dirty="0"/>
              <a:t>Web server logs</a:t>
            </a:r>
          </a:p>
          <a:p>
            <a:pPr lvl="1">
              <a:buClr>
                <a:srgbClr val="0C7B9C"/>
              </a:buClr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r>
              <a:rPr lang="en-US" altLang="en-US" dirty="0"/>
              <a:t>Tweets</a:t>
            </a:r>
          </a:p>
          <a:p>
            <a:pPr lvl="1">
              <a:buClr>
                <a:srgbClr val="0C7B9C"/>
              </a:buClr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r>
              <a:rPr lang="en-US" altLang="en-US" dirty="0"/>
              <a:t>Workflow production logs</a:t>
            </a:r>
          </a:p>
        </p:txBody>
      </p:sp>
    </p:spTree>
    <p:extLst>
      <p:ext uri="{BB962C8B-B14F-4D97-AF65-F5344CB8AC3E}">
        <p14:creationId xmlns:p14="http://schemas.microsoft.com/office/powerpoint/2010/main" val="19372168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3CADF-3C9C-7D4F-89FD-0891F0476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Frequent Patterns in Complex Domains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35D22-02D6-3B44-A0A2-C0ED63C32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Frequent sequences (a.k.a. Sequential patterns)</a:t>
            </a:r>
          </a:p>
          <a:p>
            <a:pPr>
              <a:defRPr/>
            </a:pPr>
            <a:r>
              <a:rPr lang="en-US" dirty="0"/>
              <a:t>Input: sequences of events (or of groups)</a:t>
            </a:r>
          </a:p>
          <a:p>
            <a:pPr marL="0" indent="0">
              <a:defRPr/>
            </a:pPr>
            <a:endParaRPr lang="en-US" dirty="0"/>
          </a:p>
        </p:txBody>
      </p:sp>
      <p:pic>
        <p:nvPicPr>
          <p:cNvPr id="9220" name="Picture 2">
            <a:extLst>
              <a:ext uri="{FF2B5EF4-FFF2-40B4-BE49-F238E27FC236}">
                <a16:creationId xmlns:a16="http://schemas.microsoft.com/office/drawing/2014/main" id="{3B776B31-1A7F-E243-B0D5-37D915D6B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364" y="2960688"/>
            <a:ext cx="454025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221" name="Picture 4">
            <a:extLst>
              <a:ext uri="{FF2B5EF4-FFF2-40B4-BE49-F238E27FC236}">
                <a16:creationId xmlns:a16="http://schemas.microsoft.com/office/drawing/2014/main" id="{A3D10D3B-B352-6148-B154-B3D06ADF96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400" y="3244851"/>
            <a:ext cx="425450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42B26A18-6993-934A-86F1-DE1B6591A6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2814" y="3900488"/>
            <a:ext cx="403225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223" name="Picture 5">
            <a:extLst>
              <a:ext uri="{FF2B5EF4-FFF2-40B4-BE49-F238E27FC236}">
                <a16:creationId xmlns:a16="http://schemas.microsoft.com/office/drawing/2014/main" id="{F6F48ED1-F16F-3B49-A363-6C65CCDFD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4575" y="3136900"/>
            <a:ext cx="496888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224" name="Picture 3">
            <a:extLst>
              <a:ext uri="{FF2B5EF4-FFF2-40B4-BE49-F238E27FC236}">
                <a16:creationId xmlns:a16="http://schemas.microsoft.com/office/drawing/2014/main" id="{4FF6F87E-2324-E14E-ABB6-36D4DEA63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1939" y="3148014"/>
            <a:ext cx="433387" cy="407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225" name="Picture 8">
            <a:extLst>
              <a:ext uri="{FF2B5EF4-FFF2-40B4-BE49-F238E27FC236}">
                <a16:creationId xmlns:a16="http://schemas.microsoft.com/office/drawing/2014/main" id="{2E7B20D4-F2FC-064A-83F1-DF7FD09B4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613" y="4103688"/>
            <a:ext cx="438150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226" name="Picture 2">
            <a:extLst>
              <a:ext uri="{FF2B5EF4-FFF2-40B4-BE49-F238E27FC236}">
                <a16:creationId xmlns:a16="http://schemas.microsoft.com/office/drawing/2014/main" id="{F7F56DF7-9BDB-224F-B07E-2B85463CD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976" y="3932238"/>
            <a:ext cx="454025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227" name="Picture 10">
            <a:extLst>
              <a:ext uri="{FF2B5EF4-FFF2-40B4-BE49-F238E27FC236}">
                <a16:creationId xmlns:a16="http://schemas.microsoft.com/office/drawing/2014/main" id="{F49EB41E-29C0-FA49-B7CF-53A161340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1013" y="4217989"/>
            <a:ext cx="42545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228" name="Picture 5">
            <a:extLst>
              <a:ext uri="{FF2B5EF4-FFF2-40B4-BE49-F238E27FC236}">
                <a16:creationId xmlns:a16="http://schemas.microsoft.com/office/drawing/2014/main" id="{EBEBAA75-BAF0-184A-A914-F21D76229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2225" y="4211638"/>
            <a:ext cx="496888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229" name="Picture 3">
            <a:extLst>
              <a:ext uri="{FF2B5EF4-FFF2-40B4-BE49-F238E27FC236}">
                <a16:creationId xmlns:a16="http://schemas.microsoft.com/office/drawing/2014/main" id="{BC093FC5-2F8A-3A42-BE08-2C220AD16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150" y="4992689"/>
            <a:ext cx="433388" cy="407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230" name="Picture 6">
            <a:extLst>
              <a:ext uri="{FF2B5EF4-FFF2-40B4-BE49-F238E27FC236}">
                <a16:creationId xmlns:a16="http://schemas.microsoft.com/office/drawing/2014/main" id="{09D26688-939A-BD4D-83DC-3B0EA96B3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764" y="5259388"/>
            <a:ext cx="401637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231" name="Picture 6">
            <a:extLst>
              <a:ext uri="{FF2B5EF4-FFF2-40B4-BE49-F238E27FC236}">
                <a16:creationId xmlns:a16="http://schemas.microsoft.com/office/drawing/2014/main" id="{264739DC-E7CB-7E4B-9E0C-15F3D0574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1450" y="4968875"/>
            <a:ext cx="401638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232" name="Picture 5">
            <a:extLst>
              <a:ext uri="{FF2B5EF4-FFF2-40B4-BE49-F238E27FC236}">
                <a16:creationId xmlns:a16="http://schemas.microsoft.com/office/drawing/2014/main" id="{791EA69F-C703-7743-8AF7-5796DF2DE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0864" y="5281613"/>
            <a:ext cx="496887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233" name="Picture 17">
            <a:extLst>
              <a:ext uri="{FF2B5EF4-FFF2-40B4-BE49-F238E27FC236}">
                <a16:creationId xmlns:a16="http://schemas.microsoft.com/office/drawing/2014/main" id="{45ED4AED-AEE3-3843-8677-D7482F096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6475" y="5065714"/>
            <a:ext cx="42545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234" name="Picture 18">
            <a:extLst>
              <a:ext uri="{FF2B5EF4-FFF2-40B4-BE49-F238E27FC236}">
                <a16:creationId xmlns:a16="http://schemas.microsoft.com/office/drawing/2014/main" id="{4482CA0C-16A8-C847-AF68-93A028D2B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0339" y="5073650"/>
            <a:ext cx="439737" cy="41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235" name="Picture 2">
            <a:extLst>
              <a:ext uri="{FF2B5EF4-FFF2-40B4-BE49-F238E27FC236}">
                <a16:creationId xmlns:a16="http://schemas.microsoft.com/office/drawing/2014/main" id="{DCD92608-222C-004C-A777-37569D6E9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9489" y="6154738"/>
            <a:ext cx="452437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236" name="Picture 5">
            <a:extLst>
              <a:ext uri="{FF2B5EF4-FFF2-40B4-BE49-F238E27FC236}">
                <a16:creationId xmlns:a16="http://schemas.microsoft.com/office/drawing/2014/main" id="{FB7BE404-1DEE-B747-8CEC-6B0DC4411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0989" y="6203951"/>
            <a:ext cx="496887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237" name="Picture 2">
            <a:extLst>
              <a:ext uri="{FF2B5EF4-FFF2-40B4-BE49-F238E27FC236}">
                <a16:creationId xmlns:a16="http://schemas.microsoft.com/office/drawing/2014/main" id="{FF758315-65E7-5B41-BDC4-3FFFB8B33B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814" y="5900738"/>
            <a:ext cx="452437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238" name="Picture 22">
            <a:extLst>
              <a:ext uri="{FF2B5EF4-FFF2-40B4-BE49-F238E27FC236}">
                <a16:creationId xmlns:a16="http://schemas.microsoft.com/office/drawing/2014/main" id="{CCE949E5-F817-1845-A77D-5C7D2D9C8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9850" y="6186488"/>
            <a:ext cx="425450" cy="430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239" name="Picture 5">
            <a:extLst>
              <a:ext uri="{FF2B5EF4-FFF2-40B4-BE49-F238E27FC236}">
                <a16:creationId xmlns:a16="http://schemas.microsoft.com/office/drawing/2014/main" id="{3323334B-04CD-D149-8CBC-19D110355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2489" y="6353175"/>
            <a:ext cx="496887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F195A39-84B0-6746-8D87-F10E351481EA}"/>
              </a:ext>
            </a:extLst>
          </p:cNvPr>
          <p:cNvCxnSpPr/>
          <p:nvPr/>
        </p:nvCxnSpPr>
        <p:spPr>
          <a:xfrm>
            <a:off x="2422525" y="3797300"/>
            <a:ext cx="6846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1C3A37D-6977-2148-8398-35476047227A}"/>
              </a:ext>
            </a:extLst>
          </p:cNvPr>
          <p:cNvCxnSpPr/>
          <p:nvPr/>
        </p:nvCxnSpPr>
        <p:spPr>
          <a:xfrm>
            <a:off x="2454276" y="4732338"/>
            <a:ext cx="684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04B09F8-2EED-9444-B987-6ECFA557B225}"/>
              </a:ext>
            </a:extLst>
          </p:cNvPr>
          <p:cNvCxnSpPr/>
          <p:nvPr/>
        </p:nvCxnSpPr>
        <p:spPr>
          <a:xfrm>
            <a:off x="2433639" y="5795963"/>
            <a:ext cx="684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ight Arrow 28">
            <a:extLst>
              <a:ext uri="{FF2B5EF4-FFF2-40B4-BE49-F238E27FC236}">
                <a16:creationId xmlns:a16="http://schemas.microsoft.com/office/drawing/2014/main" id="{821A7F6C-7D48-E64F-AEAE-7E22CDBFDCC2}"/>
              </a:ext>
            </a:extLst>
          </p:cNvPr>
          <p:cNvSpPr/>
          <p:nvPr/>
        </p:nvSpPr>
        <p:spPr>
          <a:xfrm>
            <a:off x="4503738" y="3221039"/>
            <a:ext cx="469900" cy="295275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AEA82F2C-D9BF-4346-8E1D-AACF8B21F598}"/>
              </a:ext>
            </a:extLst>
          </p:cNvPr>
          <p:cNvSpPr/>
          <p:nvPr/>
        </p:nvSpPr>
        <p:spPr>
          <a:xfrm>
            <a:off x="6440488" y="3221039"/>
            <a:ext cx="469900" cy="295275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/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14E72D23-16BB-544E-8675-4764B03586C5}"/>
              </a:ext>
            </a:extLst>
          </p:cNvPr>
          <p:cNvSpPr/>
          <p:nvPr/>
        </p:nvSpPr>
        <p:spPr>
          <a:xfrm>
            <a:off x="4498975" y="4171951"/>
            <a:ext cx="469900" cy="296863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/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0D3CC027-C03D-1242-ACD0-ADD163B600CF}"/>
              </a:ext>
            </a:extLst>
          </p:cNvPr>
          <p:cNvSpPr/>
          <p:nvPr/>
        </p:nvSpPr>
        <p:spPr>
          <a:xfrm>
            <a:off x="6435725" y="4171951"/>
            <a:ext cx="469900" cy="296863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/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6118980A-73D4-1F46-8AA6-96B42CF758A6}"/>
              </a:ext>
            </a:extLst>
          </p:cNvPr>
          <p:cNvSpPr/>
          <p:nvPr/>
        </p:nvSpPr>
        <p:spPr>
          <a:xfrm>
            <a:off x="4498975" y="5172076"/>
            <a:ext cx="469900" cy="296863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/>
          </a:p>
        </p:txBody>
      </p:sp>
      <p:sp>
        <p:nvSpPr>
          <p:cNvPr id="34" name="Right Arrow 33">
            <a:extLst>
              <a:ext uri="{FF2B5EF4-FFF2-40B4-BE49-F238E27FC236}">
                <a16:creationId xmlns:a16="http://schemas.microsoft.com/office/drawing/2014/main" id="{CA3B4134-3D14-1941-A201-0D21D59279D6}"/>
              </a:ext>
            </a:extLst>
          </p:cNvPr>
          <p:cNvSpPr/>
          <p:nvPr/>
        </p:nvSpPr>
        <p:spPr>
          <a:xfrm>
            <a:off x="6435725" y="5172076"/>
            <a:ext cx="469900" cy="296863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/>
          </a:p>
        </p:txBody>
      </p:sp>
      <p:sp>
        <p:nvSpPr>
          <p:cNvPr id="35" name="Right Arrow 34">
            <a:extLst>
              <a:ext uri="{FF2B5EF4-FFF2-40B4-BE49-F238E27FC236}">
                <a16:creationId xmlns:a16="http://schemas.microsoft.com/office/drawing/2014/main" id="{01A22EDB-27C5-6644-A719-A6E5D2E6A49D}"/>
              </a:ext>
            </a:extLst>
          </p:cNvPr>
          <p:cNvSpPr/>
          <p:nvPr/>
        </p:nvSpPr>
        <p:spPr>
          <a:xfrm>
            <a:off x="4498975" y="6246813"/>
            <a:ext cx="469900" cy="296862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/>
          </a:p>
        </p:txBody>
      </p:sp>
      <p:sp>
        <p:nvSpPr>
          <p:cNvPr id="36" name="Right Arrow 35">
            <a:extLst>
              <a:ext uri="{FF2B5EF4-FFF2-40B4-BE49-F238E27FC236}">
                <a16:creationId xmlns:a16="http://schemas.microsoft.com/office/drawing/2014/main" id="{FFD96858-625F-3641-86AC-E6C8C8C9E67A}"/>
              </a:ext>
            </a:extLst>
          </p:cNvPr>
          <p:cNvSpPr/>
          <p:nvPr/>
        </p:nvSpPr>
        <p:spPr>
          <a:xfrm>
            <a:off x="6435725" y="6246813"/>
            <a:ext cx="469900" cy="296862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/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67F9E560-D1C2-AC45-8BAA-B6F89D579071}"/>
              </a:ext>
            </a:extLst>
          </p:cNvPr>
          <p:cNvSpPr/>
          <p:nvPr/>
        </p:nvSpPr>
        <p:spPr>
          <a:xfrm>
            <a:off x="8281988" y="5154614"/>
            <a:ext cx="469900" cy="295275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/>
          </a:p>
        </p:txBody>
      </p:sp>
      <p:pic>
        <p:nvPicPr>
          <p:cNvPr id="9252" name="Picture 9">
            <a:extLst>
              <a:ext uri="{FF2B5EF4-FFF2-40B4-BE49-F238E27FC236}">
                <a16:creationId xmlns:a16="http://schemas.microsoft.com/office/drawing/2014/main" id="{44922239-9AA1-CC43-8643-455450304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314" y="2860676"/>
            <a:ext cx="909637" cy="91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253" name="Picture 9">
            <a:extLst>
              <a:ext uri="{FF2B5EF4-FFF2-40B4-BE49-F238E27FC236}">
                <a16:creationId xmlns:a16="http://schemas.microsoft.com/office/drawing/2014/main" id="{A662D9B3-2C0C-C142-B86C-661371F5C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314" y="3779839"/>
            <a:ext cx="909637" cy="909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254" name="Picture 9">
            <a:extLst>
              <a:ext uri="{FF2B5EF4-FFF2-40B4-BE49-F238E27FC236}">
                <a16:creationId xmlns:a16="http://schemas.microsoft.com/office/drawing/2014/main" id="{C36ECACB-258E-B843-8BD0-122C7FFD5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314" y="4854575"/>
            <a:ext cx="909637" cy="909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255" name="Picture 9">
            <a:extLst>
              <a:ext uri="{FF2B5EF4-FFF2-40B4-BE49-F238E27FC236}">
                <a16:creationId xmlns:a16="http://schemas.microsoft.com/office/drawing/2014/main" id="{6921BAFA-C040-6947-B5E2-7EFC8F08F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314" y="5827714"/>
            <a:ext cx="909637" cy="909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312467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0868D-7DF4-A648-A6A1-E0CE7C0BB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Frequent Patterns in Complex Domains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121E1-EEE1-EE46-82B4-0988333D4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Objective: identify sequences that occur frequently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59F10D4-2FA3-4048-88DF-BBD0F0D35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733" y="2960102"/>
            <a:ext cx="453096" cy="418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A1851D-6E3F-D545-9795-1BDE8FF290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306" y="3245419"/>
            <a:ext cx="425952" cy="429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BAD41AD2-199E-CE40-BC70-8E6F817C3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3512" y="3899898"/>
            <a:ext cx="401940" cy="432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E4E95A86-C663-9E48-9105-0F89BE30E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4111" y="3137279"/>
            <a:ext cx="496944" cy="418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06015B4C-4C37-FF42-A56F-20AE0E60C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1855" y="3147979"/>
            <a:ext cx="433941" cy="407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F21B1B-C462-2C44-B064-4E8E095B9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061" y="4102945"/>
            <a:ext cx="438594" cy="411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9F55C8CA-674A-7845-A5A1-881030147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4658" y="3932959"/>
            <a:ext cx="453096" cy="418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84625A-F88D-E94E-A72D-1B4ED9F64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1231" y="4218276"/>
            <a:ext cx="425952" cy="429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" name="Picture 5">
            <a:extLst>
              <a:ext uri="{FF2B5EF4-FFF2-40B4-BE49-F238E27FC236}">
                <a16:creationId xmlns:a16="http://schemas.microsoft.com/office/drawing/2014/main" id="{F68AF8EA-15B1-E743-A1A0-9A08D5C099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2583" y="4211331"/>
            <a:ext cx="496944" cy="418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3" name="Picture 3">
            <a:extLst>
              <a:ext uri="{FF2B5EF4-FFF2-40B4-BE49-F238E27FC236}">
                <a16:creationId xmlns:a16="http://schemas.microsoft.com/office/drawing/2014/main" id="{F148CB1F-2A6E-6C4F-B35B-57E92EBC7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069" y="4992514"/>
            <a:ext cx="433941" cy="407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BBDAC192-5E30-7A40-BC72-C0DC3419F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655" y="5258595"/>
            <a:ext cx="401940" cy="432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6" name="Picture 6">
            <a:extLst>
              <a:ext uri="{FF2B5EF4-FFF2-40B4-BE49-F238E27FC236}">
                <a16:creationId xmlns:a16="http://schemas.microsoft.com/office/drawing/2014/main" id="{71A38158-CC08-5543-B594-7D31D43A1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1057" y="4969420"/>
            <a:ext cx="401940" cy="432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7" name="Picture 5">
            <a:extLst>
              <a:ext uri="{FF2B5EF4-FFF2-40B4-BE49-F238E27FC236}">
                <a16:creationId xmlns:a16="http://schemas.microsoft.com/office/drawing/2014/main" id="{2CCC442F-C18F-494D-9093-EEBEA3055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0128" y="5280853"/>
            <a:ext cx="496944" cy="418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AA760B4-E053-874A-AD9D-B1288E7BE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6726" y="5065691"/>
            <a:ext cx="425952" cy="429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C140C39-1047-4D46-B63D-98650C231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0901" y="5074385"/>
            <a:ext cx="438594" cy="411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232C8B9C-32AC-7B49-96A4-137C1F476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9582" y="6155022"/>
            <a:ext cx="453096" cy="418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1" name="Picture 5">
            <a:extLst>
              <a:ext uri="{FF2B5EF4-FFF2-40B4-BE49-F238E27FC236}">
                <a16:creationId xmlns:a16="http://schemas.microsoft.com/office/drawing/2014/main" id="{08C880EC-143F-1146-BC53-0289B7765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1206" y="6203310"/>
            <a:ext cx="496944" cy="418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2" name="Picture 2">
            <a:extLst>
              <a:ext uri="{FF2B5EF4-FFF2-40B4-BE49-F238E27FC236}">
                <a16:creationId xmlns:a16="http://schemas.microsoft.com/office/drawing/2014/main" id="{D6038220-32F8-1D41-A663-4E2D61E94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872" y="5901520"/>
            <a:ext cx="453096" cy="418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0CCB8F6-80A1-6E4D-A478-B0569A293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9445" y="6186837"/>
            <a:ext cx="425952" cy="429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4" name="Picture 5">
            <a:extLst>
              <a:ext uri="{FF2B5EF4-FFF2-40B4-BE49-F238E27FC236}">
                <a16:creationId xmlns:a16="http://schemas.microsoft.com/office/drawing/2014/main" id="{EBF463D7-8F3A-344E-BF19-C5DAB571F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1786" y="6353514"/>
            <a:ext cx="496944" cy="418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B76B32E-7631-DE49-91FC-2F41AD7B799E}"/>
              </a:ext>
            </a:extLst>
          </p:cNvPr>
          <p:cNvCxnSpPr/>
          <p:nvPr/>
        </p:nvCxnSpPr>
        <p:spPr>
          <a:xfrm>
            <a:off x="2422525" y="3797300"/>
            <a:ext cx="6846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8C11207-EFCB-BC4A-A177-250E62D8B940}"/>
              </a:ext>
            </a:extLst>
          </p:cNvPr>
          <p:cNvCxnSpPr/>
          <p:nvPr/>
        </p:nvCxnSpPr>
        <p:spPr>
          <a:xfrm>
            <a:off x="2454276" y="4732338"/>
            <a:ext cx="684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1C481D4-08F2-8D46-9A58-9DEC8F99D9AF}"/>
              </a:ext>
            </a:extLst>
          </p:cNvPr>
          <p:cNvCxnSpPr/>
          <p:nvPr/>
        </p:nvCxnSpPr>
        <p:spPr>
          <a:xfrm>
            <a:off x="2433639" y="5795963"/>
            <a:ext cx="684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ight Arrow 28">
            <a:extLst>
              <a:ext uri="{FF2B5EF4-FFF2-40B4-BE49-F238E27FC236}">
                <a16:creationId xmlns:a16="http://schemas.microsoft.com/office/drawing/2014/main" id="{8B28D661-8885-F940-BBAF-5C071349A8ED}"/>
              </a:ext>
            </a:extLst>
          </p:cNvPr>
          <p:cNvSpPr/>
          <p:nvPr/>
        </p:nvSpPr>
        <p:spPr>
          <a:xfrm>
            <a:off x="4503738" y="3221039"/>
            <a:ext cx="469900" cy="295275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1591D2AF-6EDB-294A-89A7-3DA9140A2F7C}"/>
              </a:ext>
            </a:extLst>
          </p:cNvPr>
          <p:cNvSpPr/>
          <p:nvPr/>
        </p:nvSpPr>
        <p:spPr>
          <a:xfrm>
            <a:off x="6440488" y="3221039"/>
            <a:ext cx="469900" cy="295275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/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57F4AE6C-2A6A-DF43-8420-55EA0C4F2E0C}"/>
              </a:ext>
            </a:extLst>
          </p:cNvPr>
          <p:cNvSpPr/>
          <p:nvPr/>
        </p:nvSpPr>
        <p:spPr>
          <a:xfrm>
            <a:off x="4498975" y="4171951"/>
            <a:ext cx="469900" cy="296863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/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0941E9AB-A4E7-F948-A2E0-7D5BC31B7C98}"/>
              </a:ext>
            </a:extLst>
          </p:cNvPr>
          <p:cNvSpPr/>
          <p:nvPr/>
        </p:nvSpPr>
        <p:spPr>
          <a:xfrm>
            <a:off x="6435725" y="4171951"/>
            <a:ext cx="469900" cy="296863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/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D1956423-4002-3A47-BD9F-547349D5FC78}"/>
              </a:ext>
            </a:extLst>
          </p:cNvPr>
          <p:cNvSpPr/>
          <p:nvPr/>
        </p:nvSpPr>
        <p:spPr>
          <a:xfrm>
            <a:off x="4498975" y="5172076"/>
            <a:ext cx="469900" cy="296863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/>
          </a:p>
        </p:txBody>
      </p:sp>
      <p:sp>
        <p:nvSpPr>
          <p:cNvPr id="34" name="Right Arrow 33">
            <a:extLst>
              <a:ext uri="{FF2B5EF4-FFF2-40B4-BE49-F238E27FC236}">
                <a16:creationId xmlns:a16="http://schemas.microsoft.com/office/drawing/2014/main" id="{D52F1517-0026-FF4C-A04B-1D6472B848B8}"/>
              </a:ext>
            </a:extLst>
          </p:cNvPr>
          <p:cNvSpPr/>
          <p:nvPr/>
        </p:nvSpPr>
        <p:spPr>
          <a:xfrm>
            <a:off x="6435725" y="5172076"/>
            <a:ext cx="469900" cy="296863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/>
          </a:p>
        </p:txBody>
      </p:sp>
      <p:sp>
        <p:nvSpPr>
          <p:cNvPr id="35" name="Right Arrow 34">
            <a:extLst>
              <a:ext uri="{FF2B5EF4-FFF2-40B4-BE49-F238E27FC236}">
                <a16:creationId xmlns:a16="http://schemas.microsoft.com/office/drawing/2014/main" id="{EEAB970B-0A0D-CA46-8ECD-DC55F85C447F}"/>
              </a:ext>
            </a:extLst>
          </p:cNvPr>
          <p:cNvSpPr/>
          <p:nvPr/>
        </p:nvSpPr>
        <p:spPr>
          <a:xfrm>
            <a:off x="4498975" y="6246813"/>
            <a:ext cx="469900" cy="296862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/>
          </a:p>
        </p:txBody>
      </p:sp>
      <p:sp>
        <p:nvSpPr>
          <p:cNvPr id="36" name="Right Arrow 35">
            <a:extLst>
              <a:ext uri="{FF2B5EF4-FFF2-40B4-BE49-F238E27FC236}">
                <a16:creationId xmlns:a16="http://schemas.microsoft.com/office/drawing/2014/main" id="{377AB6BA-3189-3344-AEC3-BA0A8003D609}"/>
              </a:ext>
            </a:extLst>
          </p:cNvPr>
          <p:cNvSpPr/>
          <p:nvPr/>
        </p:nvSpPr>
        <p:spPr>
          <a:xfrm>
            <a:off x="6435725" y="6246813"/>
            <a:ext cx="469900" cy="296862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/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0BEAAC5C-E8AD-E340-B3FF-528351E7BCC9}"/>
              </a:ext>
            </a:extLst>
          </p:cNvPr>
          <p:cNvSpPr/>
          <p:nvPr/>
        </p:nvSpPr>
        <p:spPr>
          <a:xfrm>
            <a:off x="8281988" y="5154614"/>
            <a:ext cx="469900" cy="295275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/>
          </a:p>
        </p:txBody>
      </p:sp>
      <p:pic>
        <p:nvPicPr>
          <p:cNvPr id="10276" name="Picture 9">
            <a:extLst>
              <a:ext uri="{FF2B5EF4-FFF2-40B4-BE49-F238E27FC236}">
                <a16:creationId xmlns:a16="http://schemas.microsoft.com/office/drawing/2014/main" id="{D2C7B542-101A-794C-A955-58AFDB277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314" y="2860676"/>
            <a:ext cx="909637" cy="91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277" name="Picture 9">
            <a:extLst>
              <a:ext uri="{FF2B5EF4-FFF2-40B4-BE49-F238E27FC236}">
                <a16:creationId xmlns:a16="http://schemas.microsoft.com/office/drawing/2014/main" id="{2436E744-6EC7-6643-B352-70B108F9D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314" y="3779839"/>
            <a:ext cx="909637" cy="909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278" name="Picture 9">
            <a:extLst>
              <a:ext uri="{FF2B5EF4-FFF2-40B4-BE49-F238E27FC236}">
                <a16:creationId xmlns:a16="http://schemas.microsoft.com/office/drawing/2014/main" id="{31DC18D2-0278-3144-9258-7A5387D9E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314" y="4854575"/>
            <a:ext cx="909637" cy="909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279" name="Picture 9">
            <a:extLst>
              <a:ext uri="{FF2B5EF4-FFF2-40B4-BE49-F238E27FC236}">
                <a16:creationId xmlns:a16="http://schemas.microsoft.com/office/drawing/2014/main" id="{EBFDEC15-ACE1-1E41-BC71-1B0E9F0AC8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314" y="5827714"/>
            <a:ext cx="909637" cy="909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1" name="Picture 2">
            <a:extLst>
              <a:ext uri="{FF2B5EF4-FFF2-40B4-BE49-F238E27FC236}">
                <a16:creationId xmlns:a16="http://schemas.microsoft.com/office/drawing/2014/main" id="{289063EB-5614-6141-94E8-1073B168B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014" y="2955926"/>
            <a:ext cx="452437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C6C5234-5AA9-E24D-BEC4-7D01078B0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464" y="3240088"/>
            <a:ext cx="427037" cy="430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3" name="Picture 5">
            <a:extLst>
              <a:ext uri="{FF2B5EF4-FFF2-40B4-BE49-F238E27FC236}">
                <a16:creationId xmlns:a16="http://schemas.microsoft.com/office/drawing/2014/main" id="{B49AD63F-B0EB-FC49-8A03-C083A3CC2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6639" y="3132138"/>
            <a:ext cx="496887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4" name="Picture 2">
            <a:extLst>
              <a:ext uri="{FF2B5EF4-FFF2-40B4-BE49-F238E27FC236}">
                <a16:creationId xmlns:a16="http://schemas.microsoft.com/office/drawing/2014/main" id="{64570411-9957-1E49-99A6-0C3241DD5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625" y="3927475"/>
            <a:ext cx="452438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DCC1501D-28EF-A449-8853-F88B5E679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4663" y="4213226"/>
            <a:ext cx="42545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6" name="Picture 5">
            <a:extLst>
              <a:ext uri="{FF2B5EF4-FFF2-40B4-BE49-F238E27FC236}">
                <a16:creationId xmlns:a16="http://schemas.microsoft.com/office/drawing/2014/main" id="{5455A0A6-5159-2549-817E-13E781C26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75" y="4206876"/>
            <a:ext cx="496888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7" name="Picture 5">
            <a:extLst>
              <a:ext uri="{FF2B5EF4-FFF2-40B4-BE49-F238E27FC236}">
                <a16:creationId xmlns:a16="http://schemas.microsoft.com/office/drawing/2014/main" id="{EBEEE147-7FD3-BD49-95EB-7BCCB0D61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4639" y="6199188"/>
            <a:ext cx="496887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8" name="Picture 2">
            <a:extLst>
              <a:ext uri="{FF2B5EF4-FFF2-40B4-BE49-F238E27FC236}">
                <a16:creationId xmlns:a16="http://schemas.microsoft.com/office/drawing/2014/main" id="{DF7C48B7-3252-F343-B1F5-CA40403D64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464" y="5895975"/>
            <a:ext cx="452437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92075391-AC10-BD4D-8AED-7CF7857B8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1914" y="6181726"/>
            <a:ext cx="427037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0" name="Picture 2">
            <a:extLst>
              <a:ext uri="{FF2B5EF4-FFF2-40B4-BE49-F238E27FC236}">
                <a16:creationId xmlns:a16="http://schemas.microsoft.com/office/drawing/2014/main" id="{655EAE7A-ED70-4A49-9841-506BAF9D8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6275" y="2282825"/>
            <a:ext cx="452438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BC1603D3-0E1A-9147-A418-ABA277EFB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8714" y="2278064"/>
            <a:ext cx="427037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2" name="Picture 5">
            <a:extLst>
              <a:ext uri="{FF2B5EF4-FFF2-40B4-BE49-F238E27FC236}">
                <a16:creationId xmlns:a16="http://schemas.microsoft.com/office/drawing/2014/main" id="{F6FD4BE4-6C6B-D447-831A-91F626B12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225" y="2314575"/>
            <a:ext cx="496888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5" name="Right Arrow 64">
            <a:extLst>
              <a:ext uri="{FF2B5EF4-FFF2-40B4-BE49-F238E27FC236}">
                <a16:creationId xmlns:a16="http://schemas.microsoft.com/office/drawing/2014/main" id="{6E0B53A3-FDEA-334E-9632-73F55E977E63}"/>
              </a:ext>
            </a:extLst>
          </p:cNvPr>
          <p:cNvSpPr/>
          <p:nvPr/>
        </p:nvSpPr>
        <p:spPr>
          <a:xfrm>
            <a:off x="6878638" y="2368551"/>
            <a:ext cx="311150" cy="295275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/>
          </a:p>
        </p:txBody>
      </p:sp>
      <p:sp>
        <p:nvSpPr>
          <p:cNvPr id="66" name="Double Brace 65">
            <a:extLst>
              <a:ext uri="{FF2B5EF4-FFF2-40B4-BE49-F238E27FC236}">
                <a16:creationId xmlns:a16="http://schemas.microsoft.com/office/drawing/2014/main" id="{818085C5-51A2-F640-988E-E28EF9394065}"/>
              </a:ext>
            </a:extLst>
          </p:cNvPr>
          <p:cNvSpPr/>
          <p:nvPr/>
        </p:nvSpPr>
        <p:spPr>
          <a:xfrm>
            <a:off x="5630864" y="2351088"/>
            <a:ext cx="1074737" cy="322262"/>
          </a:xfrm>
          <a:prstGeom prst="bracePair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/>
          </a:p>
        </p:txBody>
      </p:sp>
      <p:sp>
        <p:nvSpPr>
          <p:cNvPr id="67" name="Content Placeholder 2">
            <a:extLst>
              <a:ext uri="{FF2B5EF4-FFF2-40B4-BE49-F238E27FC236}">
                <a16:creationId xmlns:a16="http://schemas.microsoft.com/office/drawing/2014/main" id="{9DF3C6BA-BB86-7B4C-804B-DEE3D1C618EF}"/>
              </a:ext>
            </a:extLst>
          </p:cNvPr>
          <p:cNvSpPr txBox="1">
            <a:spLocks/>
          </p:cNvSpPr>
          <p:nvPr/>
        </p:nvSpPr>
        <p:spPr bwMode="auto">
          <a:xfrm>
            <a:off x="2152650" y="2274889"/>
            <a:ext cx="7886700" cy="48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spcBef>
                <a:spcPts val="35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1pPr>
            <a:lvl2pPr marL="685800" indent="-228600">
              <a:spcBef>
                <a:spcPts val="30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2pPr>
            <a:lvl3pPr>
              <a:spcBef>
                <a:spcPts val="25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Sequential pattern:</a:t>
            </a:r>
          </a:p>
        </p:txBody>
      </p:sp>
    </p:spTree>
    <p:extLst>
      <p:ext uri="{BB962C8B-B14F-4D97-AF65-F5344CB8AC3E}">
        <p14:creationId xmlns:p14="http://schemas.microsoft.com/office/powerpoint/2010/main" val="1736184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 animBg="1"/>
      <p:bldP spid="67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5D91E72F-CCC9-8141-AFD5-0011CFD16B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Sequential Pattern Discovery: Examples</a:t>
            </a:r>
          </a:p>
        </p:txBody>
      </p:sp>
      <p:sp>
        <p:nvSpPr>
          <p:cNvPr id="762883" name="Rectangle 3">
            <a:extLst>
              <a:ext uri="{FF2B5EF4-FFF2-40B4-BE49-F238E27FC236}">
                <a16:creationId xmlns:a16="http://schemas.microsoft.com/office/drawing/2014/main" id="{1AD0C48B-09C7-774D-9428-B5F00F0FCA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In telecommunications alarm logs,</a:t>
            </a:r>
            <a:r>
              <a:rPr lang="en-US" sz="2400" dirty="0"/>
              <a:t> 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800" dirty="0" err="1"/>
              <a:t>Inverter_Problem</a:t>
            </a:r>
            <a:r>
              <a:rPr lang="en-US" sz="2800" dirty="0"/>
              <a:t>: </a:t>
            </a:r>
          </a:p>
          <a:p>
            <a:pPr marL="457200" lvl="1" indent="0">
              <a:buNone/>
              <a:defRPr/>
            </a:pPr>
            <a:r>
              <a:rPr lang="en-US" sz="2800" dirty="0"/>
              <a:t>(</a:t>
            </a:r>
            <a:r>
              <a:rPr lang="en-US" sz="2800" dirty="0" err="1"/>
              <a:t>Excessive_Line_Current</a:t>
            </a:r>
            <a:r>
              <a:rPr lang="en-US" sz="2800" dirty="0"/>
              <a:t>) (</a:t>
            </a:r>
            <a:r>
              <a:rPr lang="en-US" sz="2800" dirty="0" err="1"/>
              <a:t>Rectifier_Alarm</a:t>
            </a:r>
            <a:r>
              <a:rPr lang="en-US" sz="2800" dirty="0"/>
              <a:t>) --&gt; (</a:t>
            </a:r>
            <a:r>
              <a:rPr lang="en-US" sz="2800" dirty="0" err="1"/>
              <a:t>Fire_Alarm</a:t>
            </a:r>
            <a:r>
              <a:rPr lang="en-US" sz="2800" dirty="0"/>
              <a:t>)</a:t>
            </a:r>
          </a:p>
          <a:p>
            <a:pPr marL="457200" lvl="1" indent="0">
              <a:buNone/>
              <a:defRPr/>
            </a:pPr>
            <a:endParaRPr lang="en-US" sz="2800" dirty="0"/>
          </a:p>
          <a:p>
            <a:pPr>
              <a:defRPr/>
            </a:pPr>
            <a:r>
              <a:rPr lang="en-US" dirty="0"/>
              <a:t>In point-of-sale transaction sequences,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800" dirty="0"/>
              <a:t>Computer Bookstore:  </a:t>
            </a:r>
          </a:p>
          <a:p>
            <a:pPr lvl="1">
              <a:buFont typeface="Arial" charset="0"/>
              <a:buNone/>
              <a:defRPr/>
            </a:pPr>
            <a:r>
              <a:rPr lang="en-US" sz="2800" dirty="0"/>
              <a:t>	  (</a:t>
            </a:r>
            <a:r>
              <a:rPr lang="en-US" sz="2800" dirty="0" err="1"/>
              <a:t>Intro_To_Visual_C</a:t>
            </a:r>
            <a:r>
              <a:rPr lang="en-US" sz="2800" dirty="0"/>
              <a:t>)  (C++_Primer) --&gt; (</a:t>
            </a:r>
            <a:r>
              <a:rPr lang="en-US" sz="2800" dirty="0" err="1"/>
              <a:t>Perl_for_dummies,Tcl_Tk</a:t>
            </a:r>
            <a:r>
              <a:rPr lang="en-US" sz="2800" dirty="0"/>
              <a:t>)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800" dirty="0"/>
              <a:t>Athletic Apparel Store: </a:t>
            </a:r>
          </a:p>
          <a:p>
            <a:pPr lvl="1">
              <a:buFont typeface="Arial" charset="0"/>
              <a:buNone/>
              <a:defRPr/>
            </a:pPr>
            <a:r>
              <a:rPr lang="en-US" sz="2800" dirty="0"/>
              <a:t>	  (Shoes) (Racket, </a:t>
            </a:r>
            <a:r>
              <a:rPr lang="en-US" sz="2800" dirty="0" err="1"/>
              <a:t>Racketball</a:t>
            </a:r>
            <a:r>
              <a:rPr lang="en-US" sz="2800" dirty="0"/>
              <a:t>) --&gt; (</a:t>
            </a:r>
            <a:r>
              <a:rPr lang="en-US" sz="2800" dirty="0" err="1"/>
              <a:t>Sports_Jacket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94760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2883" grpId="0" build="p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CB5D70D6-3BF0-1F45-9B04-9109A1223D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Sequence Data and Terminology</a:t>
            </a:r>
          </a:p>
        </p:txBody>
      </p:sp>
      <p:graphicFrame>
        <p:nvGraphicFramePr>
          <p:cNvPr id="1466371" name="Group 3">
            <a:extLst>
              <a:ext uri="{FF2B5EF4-FFF2-40B4-BE49-F238E27FC236}">
                <a16:creationId xmlns:a16="http://schemas.microsoft.com/office/drawing/2014/main" id="{1AFA3BF1-9E3A-DC48-AD00-93BBD4AC2B4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598" cy="3530601"/>
        </p:xfrm>
        <a:graphic>
          <a:graphicData uri="http://schemas.openxmlformats.org/drawingml/2006/table">
            <a:tbl>
              <a:tblPr/>
              <a:tblGrid>
                <a:gridCol w="1707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5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5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64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Sequence Database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Sequence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Element (</a:t>
                      </a:r>
                      <a:r>
                        <a:rPr kumimoji="0" 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Transaction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Event</a:t>
                      </a:r>
                      <a:b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</a:t>
                      </a:r>
                      <a:r>
                        <a:rPr kumimoji="0" 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Item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Customer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Purchase history of a given customer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set of items bought by a customer at time 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Books, diary products, CDs, etc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Web Data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Browsing activity of a particular Web visitor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collection of files viewed by a Web visitor after a single mouse click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Home page, index page, contact info, etc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3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Event data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History of events generated by a given sensor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Events triggered by a sensor at time 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Types of alarms generated by sensors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Genome sequences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DNA sequence of a particular species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element of the DNA sequence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Bases A,T,G,C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994" name="Line 35">
            <a:extLst>
              <a:ext uri="{FF2B5EF4-FFF2-40B4-BE49-F238E27FC236}">
                <a16:creationId xmlns:a16="http://schemas.microsoft.com/office/drawing/2014/main" id="{E4B0CEF3-7994-FD43-825D-9FCB475560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4748" y="6727825"/>
            <a:ext cx="632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0995" name="Text Box 36">
            <a:extLst>
              <a:ext uri="{FF2B5EF4-FFF2-40B4-BE49-F238E27FC236}">
                <a16:creationId xmlns:a16="http://schemas.microsoft.com/office/drawing/2014/main" id="{C293BC51-463A-9347-A464-E8DFAF974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3148" y="6346826"/>
            <a:ext cx="152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ahoma" panose="020B0604030504040204" pitchFamily="34" charset="0"/>
              </a:rPr>
              <a:t>Sequence</a:t>
            </a:r>
          </a:p>
        </p:txBody>
      </p:sp>
      <p:sp>
        <p:nvSpPr>
          <p:cNvPr id="40996" name="Line 37">
            <a:extLst>
              <a:ext uri="{FF2B5EF4-FFF2-40B4-BE49-F238E27FC236}">
                <a16:creationId xmlns:a16="http://schemas.microsoft.com/office/drawing/2014/main" id="{DF2DD4AB-1588-134E-8114-8037AC638C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1948" y="6651625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0997" name="Line 38">
            <a:extLst>
              <a:ext uri="{FF2B5EF4-FFF2-40B4-BE49-F238E27FC236}">
                <a16:creationId xmlns:a16="http://schemas.microsoft.com/office/drawing/2014/main" id="{9709B879-2F09-934F-8DFD-1B280E598A6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948" y="6651625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0998" name="Line 39">
            <a:extLst>
              <a:ext uri="{FF2B5EF4-FFF2-40B4-BE49-F238E27FC236}">
                <a16:creationId xmlns:a16="http://schemas.microsoft.com/office/drawing/2014/main" id="{9AF5230D-AA26-6049-8391-12EADC829966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5948" y="6651625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0999" name="Line 40">
            <a:extLst>
              <a:ext uri="{FF2B5EF4-FFF2-40B4-BE49-F238E27FC236}">
                <a16:creationId xmlns:a16="http://schemas.microsoft.com/office/drawing/2014/main" id="{A6DBAAAC-0938-8946-A7C9-5B5C0427FF3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7948" y="6651625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1000" name="Line 41">
            <a:extLst>
              <a:ext uri="{FF2B5EF4-FFF2-40B4-BE49-F238E27FC236}">
                <a16:creationId xmlns:a16="http://schemas.microsoft.com/office/drawing/2014/main" id="{327564E9-4136-0D4F-AB17-9D0C9FB56D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9948" y="6651625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1001" name="Line 42">
            <a:extLst>
              <a:ext uri="{FF2B5EF4-FFF2-40B4-BE49-F238E27FC236}">
                <a16:creationId xmlns:a16="http://schemas.microsoft.com/office/drawing/2014/main" id="{78AF9C46-16C1-D84D-9339-594BBA63ED9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1948" y="6651625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1002" name="Line 43">
            <a:extLst>
              <a:ext uri="{FF2B5EF4-FFF2-40B4-BE49-F238E27FC236}">
                <a16:creationId xmlns:a16="http://schemas.microsoft.com/office/drawing/2014/main" id="{CF240115-F28D-054F-B0B6-5CA28802CAD4}"/>
              </a:ext>
            </a:extLst>
          </p:cNvPr>
          <p:cNvSpPr>
            <a:spLocks noChangeShapeType="1"/>
          </p:cNvSpPr>
          <p:nvPr/>
        </p:nvSpPr>
        <p:spPr bwMode="auto">
          <a:xfrm>
            <a:off x="8063948" y="6651625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1003" name="Line 44">
            <a:extLst>
              <a:ext uri="{FF2B5EF4-FFF2-40B4-BE49-F238E27FC236}">
                <a16:creationId xmlns:a16="http://schemas.microsoft.com/office/drawing/2014/main" id="{89D37BE1-57A8-F64C-AB17-7B7907441D94}"/>
              </a:ext>
            </a:extLst>
          </p:cNvPr>
          <p:cNvSpPr>
            <a:spLocks noChangeShapeType="1"/>
          </p:cNvSpPr>
          <p:nvPr/>
        </p:nvSpPr>
        <p:spPr bwMode="auto">
          <a:xfrm>
            <a:off x="8825948" y="6651625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1004" name="Oval 45">
            <a:extLst>
              <a:ext uri="{FF2B5EF4-FFF2-40B4-BE49-F238E27FC236}">
                <a16:creationId xmlns:a16="http://schemas.microsoft.com/office/drawing/2014/main" id="{7957C87A-A6AA-8C43-B266-C6B17593B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5348" y="5737225"/>
            <a:ext cx="533400" cy="838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ahoma" panose="020B0604030504040204" pitchFamily="34" charset="0"/>
              </a:rPr>
              <a:t>E1</a:t>
            </a:r>
            <a:br>
              <a:rPr lang="en-US" altLang="en-US" sz="2000">
                <a:solidFill>
                  <a:srgbClr val="000000"/>
                </a:solidFill>
                <a:latin typeface="Tahoma" panose="020B0604030504040204" pitchFamily="34" charset="0"/>
              </a:rPr>
            </a:br>
            <a:r>
              <a:rPr lang="en-US" altLang="en-US" sz="2000">
                <a:solidFill>
                  <a:srgbClr val="000000"/>
                </a:solidFill>
                <a:latin typeface="Tahoma" panose="020B0604030504040204" pitchFamily="34" charset="0"/>
              </a:rPr>
              <a:t>E2</a:t>
            </a:r>
          </a:p>
        </p:txBody>
      </p:sp>
      <p:sp>
        <p:nvSpPr>
          <p:cNvPr id="41005" name="Oval 46">
            <a:extLst>
              <a:ext uri="{FF2B5EF4-FFF2-40B4-BE49-F238E27FC236}">
                <a16:creationId xmlns:a16="http://schemas.microsoft.com/office/drawing/2014/main" id="{0324B904-2DE0-3549-9CF2-53F984023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1148" y="5737225"/>
            <a:ext cx="533400" cy="838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ahoma" panose="020B0604030504040204" pitchFamily="34" charset="0"/>
              </a:rPr>
              <a:t>E1</a:t>
            </a:r>
            <a:br>
              <a:rPr lang="en-US" altLang="en-US" sz="2000">
                <a:solidFill>
                  <a:srgbClr val="000000"/>
                </a:solidFill>
                <a:latin typeface="Tahoma" panose="020B0604030504040204" pitchFamily="34" charset="0"/>
              </a:rPr>
            </a:br>
            <a:r>
              <a:rPr lang="en-US" altLang="en-US" sz="2000">
                <a:solidFill>
                  <a:srgbClr val="000000"/>
                </a:solidFill>
                <a:latin typeface="Tahoma" panose="020B0604030504040204" pitchFamily="34" charset="0"/>
              </a:rPr>
              <a:t>E3</a:t>
            </a:r>
          </a:p>
        </p:txBody>
      </p:sp>
      <p:sp>
        <p:nvSpPr>
          <p:cNvPr id="41006" name="Oval 47">
            <a:extLst>
              <a:ext uri="{FF2B5EF4-FFF2-40B4-BE49-F238E27FC236}">
                <a16:creationId xmlns:a16="http://schemas.microsoft.com/office/drawing/2014/main" id="{06E204A1-6780-F445-A715-D6CEB8D15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3148" y="5737225"/>
            <a:ext cx="533400" cy="838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ahoma" panose="020B0604030504040204" pitchFamily="34" charset="0"/>
              </a:rPr>
              <a:t>E2</a:t>
            </a:r>
          </a:p>
        </p:txBody>
      </p:sp>
      <p:sp>
        <p:nvSpPr>
          <p:cNvPr id="41007" name="Oval 48">
            <a:extLst>
              <a:ext uri="{FF2B5EF4-FFF2-40B4-BE49-F238E27FC236}">
                <a16:creationId xmlns:a16="http://schemas.microsoft.com/office/drawing/2014/main" id="{EC4F8D01-F9FA-284A-AF5C-5DF75FD9B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9148" y="5737225"/>
            <a:ext cx="533400" cy="838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ahoma" panose="020B0604030504040204" pitchFamily="34" charset="0"/>
              </a:rPr>
              <a:t>E3</a:t>
            </a:r>
            <a:br>
              <a:rPr lang="en-US" altLang="en-US" sz="2000">
                <a:solidFill>
                  <a:srgbClr val="000000"/>
                </a:solidFill>
                <a:latin typeface="Tahoma" panose="020B0604030504040204" pitchFamily="34" charset="0"/>
              </a:rPr>
            </a:br>
            <a:r>
              <a:rPr lang="en-US" altLang="en-US" sz="2000">
                <a:solidFill>
                  <a:srgbClr val="000000"/>
                </a:solidFill>
                <a:latin typeface="Tahoma" panose="020B0604030504040204" pitchFamily="34" charset="0"/>
              </a:rPr>
              <a:t>E4</a:t>
            </a:r>
          </a:p>
        </p:txBody>
      </p:sp>
      <p:sp>
        <p:nvSpPr>
          <p:cNvPr id="41008" name="Oval 49">
            <a:extLst>
              <a:ext uri="{FF2B5EF4-FFF2-40B4-BE49-F238E27FC236}">
                <a16:creationId xmlns:a16="http://schemas.microsoft.com/office/drawing/2014/main" id="{2F81149C-6185-A741-8C41-71F4168D0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7148" y="5753100"/>
            <a:ext cx="533400" cy="838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ahoma" panose="020B0604030504040204" pitchFamily="34" charset="0"/>
              </a:rPr>
              <a:t>E2</a:t>
            </a:r>
          </a:p>
        </p:txBody>
      </p:sp>
      <p:sp>
        <p:nvSpPr>
          <p:cNvPr id="41009" name="Line 50">
            <a:extLst>
              <a:ext uri="{FF2B5EF4-FFF2-40B4-BE49-F238E27FC236}">
                <a16:creationId xmlns:a16="http://schemas.microsoft.com/office/drawing/2014/main" id="{436E67D7-329D-9A49-B228-0988B5BB4A7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5748" y="5600700"/>
            <a:ext cx="7620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1010" name="Text Box 51">
            <a:extLst>
              <a:ext uri="{FF2B5EF4-FFF2-40B4-BE49-F238E27FC236}">
                <a16:creationId xmlns:a16="http://schemas.microsoft.com/office/drawing/2014/main" id="{BED7389A-3C9A-EF4A-9954-326DC1A8B0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1748" y="5356226"/>
            <a:ext cx="1828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ahoma" panose="020B0604030504040204" pitchFamily="34" charset="0"/>
              </a:rPr>
              <a:t>Element (Transaction)</a:t>
            </a:r>
          </a:p>
        </p:txBody>
      </p:sp>
      <p:sp>
        <p:nvSpPr>
          <p:cNvPr id="41011" name="Line 52">
            <a:extLst>
              <a:ext uri="{FF2B5EF4-FFF2-40B4-BE49-F238E27FC236}">
                <a16:creationId xmlns:a16="http://schemas.microsoft.com/office/drawing/2014/main" id="{7780CBCB-62CF-B348-9EF4-24839D7D8F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40148" y="5753100"/>
            <a:ext cx="5334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1012" name="Text Box 53">
            <a:extLst>
              <a:ext uri="{FF2B5EF4-FFF2-40B4-BE49-F238E27FC236}">
                <a16:creationId xmlns:a16="http://schemas.microsoft.com/office/drawing/2014/main" id="{CF5F6135-E746-FD41-8D8C-C04DE6C003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3548" y="5508626"/>
            <a:ext cx="990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ahoma" panose="020B0604030504040204" pitchFamily="34" charset="0"/>
              </a:rPr>
              <a:t>Event </a:t>
            </a:r>
            <a:br>
              <a:rPr lang="en-US" altLang="en-US" sz="2000">
                <a:solidFill>
                  <a:srgbClr val="000000"/>
                </a:solidFill>
                <a:latin typeface="Tahoma" panose="020B0604030504040204" pitchFamily="34" charset="0"/>
              </a:rPr>
            </a:br>
            <a:r>
              <a:rPr lang="en-US" altLang="en-US" sz="2000">
                <a:solidFill>
                  <a:srgbClr val="000000"/>
                </a:solidFill>
                <a:latin typeface="Tahoma" panose="020B0604030504040204" pitchFamily="34" charset="0"/>
              </a:rPr>
              <a:t>(Item)</a:t>
            </a:r>
          </a:p>
        </p:txBody>
      </p:sp>
    </p:spTree>
    <p:extLst>
      <p:ext uri="{BB962C8B-B14F-4D97-AF65-F5344CB8AC3E}">
        <p14:creationId xmlns:p14="http://schemas.microsoft.com/office/powerpoint/2010/main" val="303889469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>
            <a:extLst>
              <a:ext uri="{FF2B5EF4-FFF2-40B4-BE49-F238E27FC236}">
                <a16:creationId xmlns:a16="http://schemas.microsoft.com/office/drawing/2014/main" id="{DA91F267-6E7C-8949-B5D2-C55C44890F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/>
              <a:t>Sequence Data</a:t>
            </a:r>
          </a:p>
        </p:txBody>
      </p:sp>
      <p:sp>
        <p:nvSpPr>
          <p:cNvPr id="11267" name="Line 2">
            <a:extLst>
              <a:ext uri="{FF2B5EF4-FFF2-40B4-BE49-F238E27FC236}">
                <a16:creationId xmlns:a16="http://schemas.microsoft.com/office/drawing/2014/main" id="{FAC226BD-3887-704D-9958-23442AC7D09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3581400"/>
            <a:ext cx="533400" cy="1588"/>
          </a:xfrm>
          <a:prstGeom prst="line">
            <a:avLst/>
          </a:prstGeom>
          <a:noFill/>
          <a:ln w="38160" cap="sq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grpSp>
        <p:nvGrpSpPr>
          <p:cNvPr id="11268" name="Group 3">
            <a:extLst>
              <a:ext uri="{FF2B5EF4-FFF2-40B4-BE49-F238E27FC236}">
                <a16:creationId xmlns:a16="http://schemas.microsoft.com/office/drawing/2014/main" id="{A355F027-4E77-A442-ACBB-21BF24FA88C4}"/>
              </a:ext>
            </a:extLst>
          </p:cNvPr>
          <p:cNvGrpSpPr>
            <a:grpSpLocks/>
          </p:cNvGrpSpPr>
          <p:nvPr/>
        </p:nvGrpSpPr>
        <p:grpSpPr bwMode="auto">
          <a:xfrm>
            <a:off x="5943601" y="1676400"/>
            <a:ext cx="4494213" cy="4344988"/>
            <a:chOff x="2784" y="1056"/>
            <a:chExt cx="2831" cy="2737"/>
          </a:xfrm>
        </p:grpSpPr>
        <p:graphicFrame>
          <p:nvGraphicFramePr>
            <p:cNvPr id="11328" name="Object 4">
              <a:extLst>
                <a:ext uri="{FF2B5EF4-FFF2-40B4-BE49-F238E27FC236}">
                  <a16:creationId xmlns:a16="http://schemas.microsoft.com/office/drawing/2014/main" id="{94FE4CDC-A9ED-C043-875F-7197451D547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84" y="1056"/>
            <a:ext cx="2831" cy="2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7378700" imgH="7137400" progId="">
                    <p:embed/>
                  </p:oleObj>
                </mc:Choice>
                <mc:Fallback>
                  <p:oleObj r:id="rId3" imgW="7378700" imgH="7137400" progId="">
                    <p:embed/>
                    <p:pic>
                      <p:nvPicPr>
                        <p:cNvPr id="11328" name="Object 4">
                          <a:extLst>
                            <a:ext uri="{FF2B5EF4-FFF2-40B4-BE49-F238E27FC236}">
                              <a16:creationId xmlns:a16="http://schemas.microsoft.com/office/drawing/2014/main" id="{94FE4CDC-A9ED-C043-875F-7197451D547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1056"/>
                          <a:ext cx="2831" cy="27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29" name="Text Box 5">
              <a:extLst>
                <a:ext uri="{FF2B5EF4-FFF2-40B4-BE49-F238E27FC236}">
                  <a16:creationId xmlns:a16="http://schemas.microsoft.com/office/drawing/2014/main" id="{54490649-9059-1942-9586-1FDF5A0D64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056"/>
              <a:ext cx="2831" cy="27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</p:grpSp>
      <p:grpSp>
        <p:nvGrpSpPr>
          <p:cNvPr id="11269" name="Group 6">
            <a:extLst>
              <a:ext uri="{FF2B5EF4-FFF2-40B4-BE49-F238E27FC236}">
                <a16:creationId xmlns:a16="http://schemas.microsoft.com/office/drawing/2014/main" id="{1D47C745-C11A-6D4E-B6FD-F9DD5C7E5C15}"/>
              </a:ext>
            </a:extLst>
          </p:cNvPr>
          <p:cNvGrpSpPr>
            <a:grpSpLocks/>
          </p:cNvGrpSpPr>
          <p:nvPr/>
        </p:nvGrpSpPr>
        <p:grpSpPr bwMode="auto">
          <a:xfrm>
            <a:off x="1752601" y="2590800"/>
            <a:ext cx="3122613" cy="2159000"/>
            <a:chOff x="144" y="1632"/>
            <a:chExt cx="1967" cy="1360"/>
          </a:xfrm>
        </p:grpSpPr>
        <p:sp>
          <p:nvSpPr>
            <p:cNvPr id="11271" name="AutoShape 7">
              <a:extLst>
                <a:ext uri="{FF2B5EF4-FFF2-40B4-BE49-F238E27FC236}">
                  <a16:creationId xmlns:a16="http://schemas.microsoft.com/office/drawing/2014/main" id="{5013F9BA-44D5-AB46-ADF5-B44F36A835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632"/>
              <a:ext cx="1967" cy="1360"/>
            </a:xfrm>
            <a:prstGeom prst="roundRect">
              <a:avLst>
                <a:gd name="adj" fmla="val 69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2" name="Rectangle 8">
              <a:extLst>
                <a:ext uri="{FF2B5EF4-FFF2-40B4-BE49-F238E27FC236}">
                  <a16:creationId xmlns:a16="http://schemas.microsoft.com/office/drawing/2014/main" id="{64F49C70-D930-A449-8FF6-A9FEF9169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" y="1638"/>
              <a:ext cx="1955" cy="150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3" name="Rectangle 9">
              <a:extLst>
                <a:ext uri="{FF2B5EF4-FFF2-40B4-BE49-F238E27FC236}">
                  <a16:creationId xmlns:a16="http://schemas.microsoft.com/office/drawing/2014/main" id="{16D8A82F-65AC-524D-87BD-7A436D056A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" y="1639"/>
              <a:ext cx="377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1pPr>
              <a:lvl2pPr>
                <a:spcBef>
                  <a:spcPts val="30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2pPr>
              <a:lvl3pPr>
                <a:spcBef>
                  <a:spcPts val="2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5pPr>
              <a:lvl6pPr marL="25146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6pPr>
              <a:lvl7pPr marL="29718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7pPr>
              <a:lvl8pPr marL="34290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8pPr>
              <a:lvl9pPr marL="38862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en-US" sz="1500" b="1"/>
                <a:t>Object</a:t>
              </a:r>
            </a:p>
          </p:txBody>
        </p:sp>
        <p:sp>
          <p:nvSpPr>
            <p:cNvPr id="11274" name="Rectangle 10">
              <a:extLst>
                <a:ext uri="{FF2B5EF4-FFF2-40B4-BE49-F238E27FC236}">
                  <a16:creationId xmlns:a16="http://schemas.microsoft.com/office/drawing/2014/main" id="{66FB35D5-65F6-454A-A77C-1B1E5164FC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" y="1639"/>
              <a:ext cx="638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1pPr>
              <a:lvl2pPr>
                <a:spcBef>
                  <a:spcPts val="30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2pPr>
              <a:lvl3pPr>
                <a:spcBef>
                  <a:spcPts val="2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5pPr>
              <a:lvl6pPr marL="25146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6pPr>
              <a:lvl7pPr marL="29718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7pPr>
              <a:lvl8pPr marL="34290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8pPr>
              <a:lvl9pPr marL="38862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en-US" sz="1500" b="1"/>
                <a:t>Timestamp</a:t>
              </a:r>
            </a:p>
          </p:txBody>
        </p:sp>
        <p:sp>
          <p:nvSpPr>
            <p:cNvPr id="11275" name="Rectangle 11">
              <a:extLst>
                <a:ext uri="{FF2B5EF4-FFF2-40B4-BE49-F238E27FC236}">
                  <a16:creationId xmlns:a16="http://schemas.microsoft.com/office/drawing/2014/main" id="{83089037-FAEA-2B49-96DE-5FC884B8C0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6" y="1639"/>
              <a:ext cx="398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1pPr>
              <a:lvl2pPr>
                <a:spcBef>
                  <a:spcPts val="30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2pPr>
              <a:lvl3pPr>
                <a:spcBef>
                  <a:spcPts val="2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5pPr>
              <a:lvl6pPr marL="25146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6pPr>
              <a:lvl7pPr marL="29718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7pPr>
              <a:lvl8pPr marL="34290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8pPr>
              <a:lvl9pPr marL="38862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en-US" sz="1500" b="1"/>
                <a:t>Events</a:t>
              </a:r>
            </a:p>
          </p:txBody>
        </p:sp>
        <p:sp>
          <p:nvSpPr>
            <p:cNvPr id="11276" name="Rectangle 12">
              <a:extLst>
                <a:ext uri="{FF2B5EF4-FFF2-40B4-BE49-F238E27FC236}">
                  <a16:creationId xmlns:a16="http://schemas.microsoft.com/office/drawing/2014/main" id="{E25C9146-0700-ED43-9690-9CF2AC68A3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" y="1793"/>
              <a:ext cx="81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1pPr>
              <a:lvl2pPr>
                <a:spcBef>
                  <a:spcPts val="30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2pPr>
              <a:lvl3pPr>
                <a:spcBef>
                  <a:spcPts val="2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5pPr>
              <a:lvl6pPr marL="25146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6pPr>
              <a:lvl7pPr marL="29718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7pPr>
              <a:lvl8pPr marL="34290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8pPr>
              <a:lvl9pPr marL="38862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en-US" sz="1500"/>
                <a:t>A</a:t>
              </a:r>
            </a:p>
          </p:txBody>
        </p:sp>
        <p:sp>
          <p:nvSpPr>
            <p:cNvPr id="11277" name="Rectangle 13">
              <a:extLst>
                <a:ext uri="{FF2B5EF4-FFF2-40B4-BE49-F238E27FC236}">
                  <a16:creationId xmlns:a16="http://schemas.microsoft.com/office/drawing/2014/main" id="{2B7BE89A-8794-1644-BDEC-AD67349A7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" y="1793"/>
              <a:ext cx="135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1pPr>
              <a:lvl2pPr>
                <a:spcBef>
                  <a:spcPts val="30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2pPr>
              <a:lvl3pPr>
                <a:spcBef>
                  <a:spcPts val="2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5pPr>
              <a:lvl6pPr marL="25146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6pPr>
              <a:lvl7pPr marL="29718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7pPr>
              <a:lvl8pPr marL="34290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8pPr>
              <a:lvl9pPr marL="38862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en-US" sz="1500"/>
                <a:t>10</a:t>
              </a:r>
            </a:p>
          </p:txBody>
        </p:sp>
        <p:sp>
          <p:nvSpPr>
            <p:cNvPr id="11278" name="Rectangle 14">
              <a:extLst>
                <a:ext uri="{FF2B5EF4-FFF2-40B4-BE49-F238E27FC236}">
                  <a16:creationId xmlns:a16="http://schemas.microsoft.com/office/drawing/2014/main" id="{69BDA1F2-858E-E04E-BE13-4F76DA302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5" y="1793"/>
              <a:ext cx="336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1pPr>
              <a:lvl2pPr>
                <a:spcBef>
                  <a:spcPts val="30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2pPr>
              <a:lvl3pPr>
                <a:spcBef>
                  <a:spcPts val="2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5pPr>
              <a:lvl6pPr marL="25146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6pPr>
              <a:lvl7pPr marL="29718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7pPr>
              <a:lvl8pPr marL="34290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8pPr>
              <a:lvl9pPr marL="38862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en-US" sz="1500"/>
                <a:t>2, 3, 5</a:t>
              </a:r>
            </a:p>
          </p:txBody>
        </p:sp>
        <p:sp>
          <p:nvSpPr>
            <p:cNvPr id="11279" name="Rectangle 15">
              <a:extLst>
                <a:ext uri="{FF2B5EF4-FFF2-40B4-BE49-F238E27FC236}">
                  <a16:creationId xmlns:a16="http://schemas.microsoft.com/office/drawing/2014/main" id="{EF4D79EF-D1F7-6248-91DE-C8277177D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" y="1943"/>
              <a:ext cx="81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1pPr>
              <a:lvl2pPr>
                <a:spcBef>
                  <a:spcPts val="30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2pPr>
              <a:lvl3pPr>
                <a:spcBef>
                  <a:spcPts val="2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5pPr>
              <a:lvl6pPr marL="25146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6pPr>
              <a:lvl7pPr marL="29718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7pPr>
              <a:lvl8pPr marL="34290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8pPr>
              <a:lvl9pPr marL="38862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en-US" sz="1500"/>
                <a:t>A</a:t>
              </a:r>
            </a:p>
          </p:txBody>
        </p:sp>
        <p:sp>
          <p:nvSpPr>
            <p:cNvPr id="11280" name="Rectangle 16">
              <a:extLst>
                <a:ext uri="{FF2B5EF4-FFF2-40B4-BE49-F238E27FC236}">
                  <a16:creationId xmlns:a16="http://schemas.microsoft.com/office/drawing/2014/main" id="{8EB502C6-C585-E94D-8579-A8E612057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" y="1943"/>
              <a:ext cx="135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1pPr>
              <a:lvl2pPr>
                <a:spcBef>
                  <a:spcPts val="30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2pPr>
              <a:lvl3pPr>
                <a:spcBef>
                  <a:spcPts val="2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5pPr>
              <a:lvl6pPr marL="25146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6pPr>
              <a:lvl7pPr marL="29718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7pPr>
              <a:lvl8pPr marL="34290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8pPr>
              <a:lvl9pPr marL="38862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en-US" sz="1500"/>
                <a:t>20</a:t>
              </a:r>
            </a:p>
          </p:txBody>
        </p:sp>
        <p:sp>
          <p:nvSpPr>
            <p:cNvPr id="11281" name="Rectangle 17">
              <a:extLst>
                <a:ext uri="{FF2B5EF4-FFF2-40B4-BE49-F238E27FC236}">
                  <a16:creationId xmlns:a16="http://schemas.microsoft.com/office/drawing/2014/main" id="{9DE62CCB-E4CA-3B49-90C3-07E4E2F3A2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6" y="1943"/>
              <a:ext cx="202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1pPr>
              <a:lvl2pPr>
                <a:spcBef>
                  <a:spcPts val="30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2pPr>
              <a:lvl3pPr>
                <a:spcBef>
                  <a:spcPts val="2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5pPr>
              <a:lvl6pPr marL="25146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6pPr>
              <a:lvl7pPr marL="29718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7pPr>
              <a:lvl8pPr marL="34290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8pPr>
              <a:lvl9pPr marL="38862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en-US" sz="1500"/>
                <a:t>6, 1</a:t>
              </a:r>
            </a:p>
          </p:txBody>
        </p:sp>
        <p:sp>
          <p:nvSpPr>
            <p:cNvPr id="11282" name="Rectangle 18">
              <a:extLst>
                <a:ext uri="{FF2B5EF4-FFF2-40B4-BE49-F238E27FC236}">
                  <a16:creationId xmlns:a16="http://schemas.microsoft.com/office/drawing/2014/main" id="{AE97B445-EA8C-2245-BF49-DCD815E642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" y="2093"/>
              <a:ext cx="81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1pPr>
              <a:lvl2pPr>
                <a:spcBef>
                  <a:spcPts val="30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2pPr>
              <a:lvl3pPr>
                <a:spcBef>
                  <a:spcPts val="2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5pPr>
              <a:lvl6pPr marL="25146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6pPr>
              <a:lvl7pPr marL="29718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7pPr>
              <a:lvl8pPr marL="34290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8pPr>
              <a:lvl9pPr marL="38862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en-US" sz="1500"/>
                <a:t>A</a:t>
              </a:r>
            </a:p>
          </p:txBody>
        </p:sp>
        <p:sp>
          <p:nvSpPr>
            <p:cNvPr id="11283" name="Rectangle 19">
              <a:extLst>
                <a:ext uri="{FF2B5EF4-FFF2-40B4-BE49-F238E27FC236}">
                  <a16:creationId xmlns:a16="http://schemas.microsoft.com/office/drawing/2014/main" id="{E0FC209F-E7C9-7C4A-A7BE-3C8E18569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" y="2093"/>
              <a:ext cx="135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1pPr>
              <a:lvl2pPr>
                <a:spcBef>
                  <a:spcPts val="30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2pPr>
              <a:lvl3pPr>
                <a:spcBef>
                  <a:spcPts val="2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5pPr>
              <a:lvl6pPr marL="25146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6pPr>
              <a:lvl7pPr marL="29718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7pPr>
              <a:lvl8pPr marL="34290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8pPr>
              <a:lvl9pPr marL="38862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en-US" sz="1500"/>
                <a:t>23</a:t>
              </a:r>
            </a:p>
          </p:txBody>
        </p:sp>
        <p:sp>
          <p:nvSpPr>
            <p:cNvPr id="11284" name="Rectangle 20">
              <a:extLst>
                <a:ext uri="{FF2B5EF4-FFF2-40B4-BE49-F238E27FC236}">
                  <a16:creationId xmlns:a16="http://schemas.microsoft.com/office/drawing/2014/main" id="{2E32B841-823C-0846-B6D9-A2EB0066C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7" y="2093"/>
              <a:ext cx="68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1pPr>
              <a:lvl2pPr>
                <a:spcBef>
                  <a:spcPts val="30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2pPr>
              <a:lvl3pPr>
                <a:spcBef>
                  <a:spcPts val="2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5pPr>
              <a:lvl6pPr marL="25146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6pPr>
              <a:lvl7pPr marL="29718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7pPr>
              <a:lvl8pPr marL="34290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8pPr>
              <a:lvl9pPr marL="38862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en-US" sz="1500"/>
                <a:t>1</a:t>
              </a:r>
            </a:p>
          </p:txBody>
        </p:sp>
        <p:sp>
          <p:nvSpPr>
            <p:cNvPr id="11285" name="Rectangle 21">
              <a:extLst>
                <a:ext uri="{FF2B5EF4-FFF2-40B4-BE49-F238E27FC236}">
                  <a16:creationId xmlns:a16="http://schemas.microsoft.com/office/drawing/2014/main" id="{38B64DB6-BEA2-D442-94CA-0D00E42EB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" y="2243"/>
              <a:ext cx="81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1pPr>
              <a:lvl2pPr>
                <a:spcBef>
                  <a:spcPts val="30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2pPr>
              <a:lvl3pPr>
                <a:spcBef>
                  <a:spcPts val="2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5pPr>
              <a:lvl6pPr marL="25146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6pPr>
              <a:lvl7pPr marL="29718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7pPr>
              <a:lvl8pPr marL="34290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8pPr>
              <a:lvl9pPr marL="38862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en-US" sz="1500"/>
                <a:t>B</a:t>
              </a:r>
            </a:p>
          </p:txBody>
        </p:sp>
        <p:sp>
          <p:nvSpPr>
            <p:cNvPr id="11286" name="Rectangle 22">
              <a:extLst>
                <a:ext uri="{FF2B5EF4-FFF2-40B4-BE49-F238E27FC236}">
                  <a16:creationId xmlns:a16="http://schemas.microsoft.com/office/drawing/2014/main" id="{A7758167-2E99-394F-AB3E-834DECBF2C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" y="2243"/>
              <a:ext cx="126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1pPr>
              <a:lvl2pPr>
                <a:spcBef>
                  <a:spcPts val="30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2pPr>
              <a:lvl3pPr>
                <a:spcBef>
                  <a:spcPts val="2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5pPr>
              <a:lvl6pPr marL="25146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6pPr>
              <a:lvl7pPr marL="29718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7pPr>
              <a:lvl8pPr marL="34290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8pPr>
              <a:lvl9pPr marL="38862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en-US" sz="1500"/>
                <a:t>11</a:t>
              </a:r>
            </a:p>
          </p:txBody>
        </p:sp>
        <p:sp>
          <p:nvSpPr>
            <p:cNvPr id="11287" name="Rectangle 23">
              <a:extLst>
                <a:ext uri="{FF2B5EF4-FFF2-40B4-BE49-F238E27FC236}">
                  <a16:creationId xmlns:a16="http://schemas.microsoft.com/office/drawing/2014/main" id="{8FA7ABC9-B710-9143-AF2E-A3343E9C53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5" y="2243"/>
              <a:ext cx="336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1pPr>
              <a:lvl2pPr>
                <a:spcBef>
                  <a:spcPts val="30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2pPr>
              <a:lvl3pPr>
                <a:spcBef>
                  <a:spcPts val="2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5pPr>
              <a:lvl6pPr marL="25146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6pPr>
              <a:lvl7pPr marL="29718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7pPr>
              <a:lvl8pPr marL="34290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8pPr>
              <a:lvl9pPr marL="38862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en-US" sz="1500"/>
                <a:t>4, 5, 6</a:t>
              </a:r>
            </a:p>
          </p:txBody>
        </p:sp>
        <p:sp>
          <p:nvSpPr>
            <p:cNvPr id="11288" name="Rectangle 24">
              <a:extLst>
                <a:ext uri="{FF2B5EF4-FFF2-40B4-BE49-F238E27FC236}">
                  <a16:creationId xmlns:a16="http://schemas.microsoft.com/office/drawing/2014/main" id="{DF902E11-A85F-5040-BEAD-12BA5B47F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" y="2392"/>
              <a:ext cx="81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1pPr>
              <a:lvl2pPr>
                <a:spcBef>
                  <a:spcPts val="30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2pPr>
              <a:lvl3pPr>
                <a:spcBef>
                  <a:spcPts val="2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5pPr>
              <a:lvl6pPr marL="25146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6pPr>
              <a:lvl7pPr marL="29718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7pPr>
              <a:lvl8pPr marL="34290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8pPr>
              <a:lvl9pPr marL="38862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en-US" sz="1500"/>
                <a:t>B</a:t>
              </a:r>
            </a:p>
          </p:txBody>
        </p:sp>
        <p:sp>
          <p:nvSpPr>
            <p:cNvPr id="11289" name="Rectangle 25">
              <a:extLst>
                <a:ext uri="{FF2B5EF4-FFF2-40B4-BE49-F238E27FC236}">
                  <a16:creationId xmlns:a16="http://schemas.microsoft.com/office/drawing/2014/main" id="{C9F70B9A-E9DA-CB4D-8E6B-C9202D25A0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" y="2392"/>
              <a:ext cx="135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1pPr>
              <a:lvl2pPr>
                <a:spcBef>
                  <a:spcPts val="30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2pPr>
              <a:lvl3pPr>
                <a:spcBef>
                  <a:spcPts val="2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5pPr>
              <a:lvl6pPr marL="25146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6pPr>
              <a:lvl7pPr marL="29718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7pPr>
              <a:lvl8pPr marL="34290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8pPr>
              <a:lvl9pPr marL="38862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en-US" sz="1500"/>
                <a:t>17</a:t>
              </a:r>
            </a:p>
          </p:txBody>
        </p:sp>
        <p:sp>
          <p:nvSpPr>
            <p:cNvPr id="11290" name="Rectangle 26">
              <a:extLst>
                <a:ext uri="{FF2B5EF4-FFF2-40B4-BE49-F238E27FC236}">
                  <a16:creationId xmlns:a16="http://schemas.microsoft.com/office/drawing/2014/main" id="{3E55099A-E564-064F-BC11-9B52A65EE9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7" y="2392"/>
              <a:ext cx="68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1pPr>
              <a:lvl2pPr>
                <a:spcBef>
                  <a:spcPts val="30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2pPr>
              <a:lvl3pPr>
                <a:spcBef>
                  <a:spcPts val="2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5pPr>
              <a:lvl6pPr marL="25146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6pPr>
              <a:lvl7pPr marL="29718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7pPr>
              <a:lvl8pPr marL="34290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8pPr>
              <a:lvl9pPr marL="38862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en-US" sz="1500"/>
                <a:t>2</a:t>
              </a:r>
            </a:p>
          </p:txBody>
        </p:sp>
        <p:sp>
          <p:nvSpPr>
            <p:cNvPr id="11291" name="Rectangle 27">
              <a:extLst>
                <a:ext uri="{FF2B5EF4-FFF2-40B4-BE49-F238E27FC236}">
                  <a16:creationId xmlns:a16="http://schemas.microsoft.com/office/drawing/2014/main" id="{DEC0C32F-CED8-4942-A9D6-8973556BB9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" y="2542"/>
              <a:ext cx="81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1pPr>
              <a:lvl2pPr>
                <a:spcBef>
                  <a:spcPts val="30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2pPr>
              <a:lvl3pPr>
                <a:spcBef>
                  <a:spcPts val="2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5pPr>
              <a:lvl6pPr marL="25146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6pPr>
              <a:lvl7pPr marL="29718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7pPr>
              <a:lvl8pPr marL="34290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8pPr>
              <a:lvl9pPr marL="38862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en-US" sz="1500"/>
                <a:t>B</a:t>
              </a:r>
            </a:p>
          </p:txBody>
        </p:sp>
        <p:sp>
          <p:nvSpPr>
            <p:cNvPr id="11292" name="Rectangle 28">
              <a:extLst>
                <a:ext uri="{FF2B5EF4-FFF2-40B4-BE49-F238E27FC236}">
                  <a16:creationId xmlns:a16="http://schemas.microsoft.com/office/drawing/2014/main" id="{B632EE28-A316-D440-AF53-C14CD67D3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" y="2542"/>
              <a:ext cx="135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1pPr>
              <a:lvl2pPr>
                <a:spcBef>
                  <a:spcPts val="30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2pPr>
              <a:lvl3pPr>
                <a:spcBef>
                  <a:spcPts val="2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5pPr>
              <a:lvl6pPr marL="25146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6pPr>
              <a:lvl7pPr marL="29718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7pPr>
              <a:lvl8pPr marL="34290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8pPr>
              <a:lvl9pPr marL="38862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en-US" sz="1500"/>
                <a:t>21</a:t>
              </a:r>
            </a:p>
          </p:txBody>
        </p:sp>
        <p:sp>
          <p:nvSpPr>
            <p:cNvPr id="11293" name="Rectangle 29">
              <a:extLst>
                <a:ext uri="{FF2B5EF4-FFF2-40B4-BE49-F238E27FC236}">
                  <a16:creationId xmlns:a16="http://schemas.microsoft.com/office/drawing/2014/main" id="{584C2420-1AC1-8644-8EC2-37DB949B6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5" y="2542"/>
              <a:ext cx="471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1pPr>
              <a:lvl2pPr>
                <a:spcBef>
                  <a:spcPts val="30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2pPr>
              <a:lvl3pPr>
                <a:spcBef>
                  <a:spcPts val="2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5pPr>
              <a:lvl6pPr marL="25146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6pPr>
              <a:lvl7pPr marL="29718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7pPr>
              <a:lvl8pPr marL="34290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8pPr>
              <a:lvl9pPr marL="38862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en-US" sz="1500"/>
                <a:t>7, 8, 1, 2</a:t>
              </a:r>
            </a:p>
          </p:txBody>
        </p:sp>
        <p:sp>
          <p:nvSpPr>
            <p:cNvPr id="11294" name="Rectangle 30">
              <a:extLst>
                <a:ext uri="{FF2B5EF4-FFF2-40B4-BE49-F238E27FC236}">
                  <a16:creationId xmlns:a16="http://schemas.microsoft.com/office/drawing/2014/main" id="{64F8394A-9D90-F94F-BC85-02085BE4EA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" y="2692"/>
              <a:ext cx="81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1pPr>
              <a:lvl2pPr>
                <a:spcBef>
                  <a:spcPts val="30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2pPr>
              <a:lvl3pPr>
                <a:spcBef>
                  <a:spcPts val="2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5pPr>
              <a:lvl6pPr marL="25146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6pPr>
              <a:lvl7pPr marL="29718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7pPr>
              <a:lvl8pPr marL="34290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8pPr>
              <a:lvl9pPr marL="38862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en-US" sz="1500"/>
                <a:t>B</a:t>
              </a:r>
            </a:p>
          </p:txBody>
        </p:sp>
        <p:sp>
          <p:nvSpPr>
            <p:cNvPr id="11295" name="Rectangle 31">
              <a:extLst>
                <a:ext uri="{FF2B5EF4-FFF2-40B4-BE49-F238E27FC236}">
                  <a16:creationId xmlns:a16="http://schemas.microsoft.com/office/drawing/2014/main" id="{C859003D-C070-7644-A352-B13C3C7CF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" y="2692"/>
              <a:ext cx="135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1pPr>
              <a:lvl2pPr>
                <a:spcBef>
                  <a:spcPts val="30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2pPr>
              <a:lvl3pPr>
                <a:spcBef>
                  <a:spcPts val="2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5pPr>
              <a:lvl6pPr marL="25146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6pPr>
              <a:lvl7pPr marL="29718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7pPr>
              <a:lvl8pPr marL="34290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8pPr>
              <a:lvl9pPr marL="38862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en-US" sz="1500"/>
                <a:t>28</a:t>
              </a:r>
            </a:p>
          </p:txBody>
        </p:sp>
        <p:sp>
          <p:nvSpPr>
            <p:cNvPr id="11296" name="Rectangle 32">
              <a:extLst>
                <a:ext uri="{FF2B5EF4-FFF2-40B4-BE49-F238E27FC236}">
                  <a16:creationId xmlns:a16="http://schemas.microsoft.com/office/drawing/2014/main" id="{5166553D-D3A5-B546-A11C-853CE1AEB9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6" y="2692"/>
              <a:ext cx="202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1pPr>
              <a:lvl2pPr>
                <a:spcBef>
                  <a:spcPts val="30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2pPr>
              <a:lvl3pPr>
                <a:spcBef>
                  <a:spcPts val="2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5pPr>
              <a:lvl6pPr marL="25146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6pPr>
              <a:lvl7pPr marL="29718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7pPr>
              <a:lvl8pPr marL="34290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8pPr>
              <a:lvl9pPr marL="38862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en-US" sz="1500"/>
                <a:t>1, 6</a:t>
              </a:r>
            </a:p>
          </p:txBody>
        </p:sp>
        <p:sp>
          <p:nvSpPr>
            <p:cNvPr id="11297" name="Rectangle 33">
              <a:extLst>
                <a:ext uri="{FF2B5EF4-FFF2-40B4-BE49-F238E27FC236}">
                  <a16:creationId xmlns:a16="http://schemas.microsoft.com/office/drawing/2014/main" id="{E69FE1BB-DE4A-144A-AC34-EDF5DCC8F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" y="2842"/>
              <a:ext cx="88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1pPr>
              <a:lvl2pPr>
                <a:spcBef>
                  <a:spcPts val="30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2pPr>
              <a:lvl3pPr>
                <a:spcBef>
                  <a:spcPts val="2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5pPr>
              <a:lvl6pPr marL="25146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6pPr>
              <a:lvl7pPr marL="29718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7pPr>
              <a:lvl8pPr marL="34290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8pPr>
              <a:lvl9pPr marL="38862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en-US" sz="1500"/>
                <a:t>C</a:t>
              </a:r>
            </a:p>
          </p:txBody>
        </p:sp>
        <p:sp>
          <p:nvSpPr>
            <p:cNvPr id="11298" name="Rectangle 34">
              <a:extLst>
                <a:ext uri="{FF2B5EF4-FFF2-40B4-BE49-F238E27FC236}">
                  <a16:creationId xmlns:a16="http://schemas.microsoft.com/office/drawing/2014/main" id="{ED41C573-1CF6-B148-892C-0FE5D7EE3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" y="2842"/>
              <a:ext cx="135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1pPr>
              <a:lvl2pPr>
                <a:spcBef>
                  <a:spcPts val="30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2pPr>
              <a:lvl3pPr>
                <a:spcBef>
                  <a:spcPts val="2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5pPr>
              <a:lvl6pPr marL="25146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6pPr>
              <a:lvl7pPr marL="29718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7pPr>
              <a:lvl8pPr marL="34290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8pPr>
              <a:lvl9pPr marL="38862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en-US" sz="1500"/>
                <a:t>14</a:t>
              </a:r>
            </a:p>
          </p:txBody>
        </p:sp>
        <p:sp>
          <p:nvSpPr>
            <p:cNvPr id="11299" name="Rectangle 35">
              <a:extLst>
                <a:ext uri="{FF2B5EF4-FFF2-40B4-BE49-F238E27FC236}">
                  <a16:creationId xmlns:a16="http://schemas.microsoft.com/office/drawing/2014/main" id="{1BA4EFF1-12DA-CE4D-91E6-3D1D8347D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5" y="2842"/>
              <a:ext cx="336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1pPr>
              <a:lvl2pPr>
                <a:spcBef>
                  <a:spcPts val="30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2pPr>
              <a:lvl3pPr>
                <a:spcBef>
                  <a:spcPts val="25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DejaVu Sans" charset="0"/>
                  <a:cs typeface="DejaVu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5pPr>
              <a:lvl6pPr marL="25146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6pPr>
              <a:lvl7pPr marL="29718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7pPr>
              <a:lvl8pPr marL="34290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8pPr>
              <a:lvl9pPr marL="38862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Times New Roman" panose="02020603050405020304" pitchFamily="18" charset="0"/>
                  <a:ea typeface="DejaVu Sans" charset="0"/>
                  <a:cs typeface="DejaVu Sans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en-US" sz="1500"/>
                <a:t>1, 8, 7</a:t>
              </a:r>
            </a:p>
          </p:txBody>
        </p:sp>
        <p:sp>
          <p:nvSpPr>
            <p:cNvPr id="11300" name="Line 36">
              <a:extLst>
                <a:ext uri="{FF2B5EF4-FFF2-40B4-BE49-F238E27FC236}">
                  <a16:creationId xmlns:a16="http://schemas.microsoft.com/office/drawing/2014/main" id="{738B9240-7DC3-754F-B978-8F12BB1914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1632"/>
              <a:ext cx="0" cy="1359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1301" name="Rectangle 37">
              <a:extLst>
                <a:ext uri="{FF2B5EF4-FFF2-40B4-BE49-F238E27FC236}">
                  <a16:creationId xmlns:a16="http://schemas.microsoft.com/office/drawing/2014/main" id="{F4993F7E-EBE0-C04E-87DF-2735C4F679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632"/>
              <a:ext cx="11" cy="135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302" name="Line 38">
              <a:extLst>
                <a:ext uri="{FF2B5EF4-FFF2-40B4-BE49-F238E27FC236}">
                  <a16:creationId xmlns:a16="http://schemas.microsoft.com/office/drawing/2014/main" id="{8A4539C3-8AA1-2942-873B-5D05BD3B75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9" y="1644"/>
              <a:ext cx="0" cy="1347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1303" name="Rectangle 39">
              <a:extLst>
                <a:ext uri="{FF2B5EF4-FFF2-40B4-BE49-F238E27FC236}">
                  <a16:creationId xmlns:a16="http://schemas.microsoft.com/office/drawing/2014/main" id="{567275BC-B890-FF45-9896-6E3DE1A52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9" y="1644"/>
              <a:ext cx="11" cy="134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304" name="Line 40">
              <a:extLst>
                <a:ext uri="{FF2B5EF4-FFF2-40B4-BE49-F238E27FC236}">
                  <a16:creationId xmlns:a16="http://schemas.microsoft.com/office/drawing/2014/main" id="{53DF6875-3289-584B-A2B6-7C21D9D48E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8" y="1644"/>
              <a:ext cx="0" cy="1347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1305" name="Rectangle 41">
              <a:extLst>
                <a:ext uri="{FF2B5EF4-FFF2-40B4-BE49-F238E27FC236}">
                  <a16:creationId xmlns:a16="http://schemas.microsoft.com/office/drawing/2014/main" id="{4AC09238-B11B-BC48-B030-05686DF67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8" y="1644"/>
              <a:ext cx="10" cy="134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306" name="Line 42">
              <a:extLst>
                <a:ext uri="{FF2B5EF4-FFF2-40B4-BE49-F238E27FC236}">
                  <a16:creationId xmlns:a16="http://schemas.microsoft.com/office/drawing/2014/main" id="{1B6AE094-2F6C-454B-88E6-4028A5514C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9" y="1644"/>
              <a:ext cx="0" cy="1347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1307" name="Rectangle 43">
              <a:extLst>
                <a:ext uri="{FF2B5EF4-FFF2-40B4-BE49-F238E27FC236}">
                  <a16:creationId xmlns:a16="http://schemas.microsoft.com/office/drawing/2014/main" id="{FB43A6A4-79C6-3644-8E0D-5D10E0AB9D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9" y="1644"/>
              <a:ext cx="11" cy="134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308" name="Line 44">
              <a:extLst>
                <a:ext uri="{FF2B5EF4-FFF2-40B4-BE49-F238E27FC236}">
                  <a16:creationId xmlns:a16="http://schemas.microsoft.com/office/drawing/2014/main" id="{F6B8CF50-153E-F649-AA8A-0EE4EB1AB0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" y="1632"/>
              <a:ext cx="1954" cy="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1309" name="Rectangle 45">
              <a:extLst>
                <a:ext uri="{FF2B5EF4-FFF2-40B4-BE49-F238E27FC236}">
                  <a16:creationId xmlns:a16="http://schemas.microsoft.com/office/drawing/2014/main" id="{1592C076-84BA-F848-8374-E988B152E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" y="1632"/>
              <a:ext cx="1954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310" name="Line 46">
              <a:extLst>
                <a:ext uri="{FF2B5EF4-FFF2-40B4-BE49-F238E27FC236}">
                  <a16:creationId xmlns:a16="http://schemas.microsoft.com/office/drawing/2014/main" id="{64CC9582-0763-8641-BED6-7855BF7A36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" y="1782"/>
              <a:ext cx="1954" cy="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1311" name="Rectangle 47">
              <a:extLst>
                <a:ext uri="{FF2B5EF4-FFF2-40B4-BE49-F238E27FC236}">
                  <a16:creationId xmlns:a16="http://schemas.microsoft.com/office/drawing/2014/main" id="{193FA37F-4957-2343-A058-938F65E26C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" y="1782"/>
              <a:ext cx="1954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312" name="Line 48">
              <a:extLst>
                <a:ext uri="{FF2B5EF4-FFF2-40B4-BE49-F238E27FC236}">
                  <a16:creationId xmlns:a16="http://schemas.microsoft.com/office/drawing/2014/main" id="{8D2D439E-5320-4B4E-85F0-F9EABD32E7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" y="1932"/>
              <a:ext cx="1954" cy="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1313" name="Rectangle 49">
              <a:extLst>
                <a:ext uri="{FF2B5EF4-FFF2-40B4-BE49-F238E27FC236}">
                  <a16:creationId xmlns:a16="http://schemas.microsoft.com/office/drawing/2014/main" id="{C9970867-CDE3-304B-92D1-81A3BEBBAB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" y="1932"/>
              <a:ext cx="1954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314" name="Line 50">
              <a:extLst>
                <a:ext uri="{FF2B5EF4-FFF2-40B4-BE49-F238E27FC236}">
                  <a16:creationId xmlns:a16="http://schemas.microsoft.com/office/drawing/2014/main" id="{83A0E4F2-DA66-DF4C-AF54-D827F6CAB9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" y="2081"/>
              <a:ext cx="1954" cy="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1315" name="Rectangle 51">
              <a:extLst>
                <a:ext uri="{FF2B5EF4-FFF2-40B4-BE49-F238E27FC236}">
                  <a16:creationId xmlns:a16="http://schemas.microsoft.com/office/drawing/2014/main" id="{E4739DC9-CC5D-7D43-B872-3EFC4296A7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" y="2081"/>
              <a:ext cx="1954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316" name="Line 52">
              <a:extLst>
                <a:ext uri="{FF2B5EF4-FFF2-40B4-BE49-F238E27FC236}">
                  <a16:creationId xmlns:a16="http://schemas.microsoft.com/office/drawing/2014/main" id="{D3F41E6E-D4FD-7B4B-AA54-715F9CB76A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" y="2231"/>
              <a:ext cx="1954" cy="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1317" name="Rectangle 53">
              <a:extLst>
                <a:ext uri="{FF2B5EF4-FFF2-40B4-BE49-F238E27FC236}">
                  <a16:creationId xmlns:a16="http://schemas.microsoft.com/office/drawing/2014/main" id="{047E1CE0-CF3F-C349-9C13-245A340EE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" y="2231"/>
              <a:ext cx="1954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318" name="Line 54">
              <a:extLst>
                <a:ext uri="{FF2B5EF4-FFF2-40B4-BE49-F238E27FC236}">
                  <a16:creationId xmlns:a16="http://schemas.microsoft.com/office/drawing/2014/main" id="{C0CEBE51-7955-234A-9DB6-43E4EF6FF9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" y="2381"/>
              <a:ext cx="1954" cy="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1319" name="Rectangle 55">
              <a:extLst>
                <a:ext uri="{FF2B5EF4-FFF2-40B4-BE49-F238E27FC236}">
                  <a16:creationId xmlns:a16="http://schemas.microsoft.com/office/drawing/2014/main" id="{C35ABD63-644B-3F41-A579-DC31773D13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" y="2381"/>
              <a:ext cx="1954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320" name="Line 56">
              <a:extLst>
                <a:ext uri="{FF2B5EF4-FFF2-40B4-BE49-F238E27FC236}">
                  <a16:creationId xmlns:a16="http://schemas.microsoft.com/office/drawing/2014/main" id="{B15D0911-DE28-164D-B6E8-6034E0B34F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" y="2531"/>
              <a:ext cx="1954" cy="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1321" name="Rectangle 57">
              <a:extLst>
                <a:ext uri="{FF2B5EF4-FFF2-40B4-BE49-F238E27FC236}">
                  <a16:creationId xmlns:a16="http://schemas.microsoft.com/office/drawing/2014/main" id="{B626BD65-3450-614B-9834-5826EB5933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" y="2531"/>
              <a:ext cx="1954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322" name="Line 58">
              <a:extLst>
                <a:ext uri="{FF2B5EF4-FFF2-40B4-BE49-F238E27FC236}">
                  <a16:creationId xmlns:a16="http://schemas.microsoft.com/office/drawing/2014/main" id="{29039AEE-3EB5-0B40-9AA4-6E35F50BE0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" y="2680"/>
              <a:ext cx="1954" cy="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1323" name="Rectangle 59">
              <a:extLst>
                <a:ext uri="{FF2B5EF4-FFF2-40B4-BE49-F238E27FC236}">
                  <a16:creationId xmlns:a16="http://schemas.microsoft.com/office/drawing/2014/main" id="{9775C20B-301F-0B46-9196-3A3DAD7DA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" y="2680"/>
              <a:ext cx="1954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324" name="Line 60">
              <a:extLst>
                <a:ext uri="{FF2B5EF4-FFF2-40B4-BE49-F238E27FC236}">
                  <a16:creationId xmlns:a16="http://schemas.microsoft.com/office/drawing/2014/main" id="{807A8776-767E-F14F-8776-7A87CF1BB6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" y="2830"/>
              <a:ext cx="1954" cy="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1325" name="Rectangle 61">
              <a:extLst>
                <a:ext uri="{FF2B5EF4-FFF2-40B4-BE49-F238E27FC236}">
                  <a16:creationId xmlns:a16="http://schemas.microsoft.com/office/drawing/2014/main" id="{423B0640-0F0A-034D-88A9-714F6F25E4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" y="2830"/>
              <a:ext cx="1954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326" name="Line 62">
              <a:extLst>
                <a:ext uri="{FF2B5EF4-FFF2-40B4-BE49-F238E27FC236}">
                  <a16:creationId xmlns:a16="http://schemas.microsoft.com/office/drawing/2014/main" id="{656C54CD-494C-9544-BA08-B0BA8B748B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" y="2980"/>
              <a:ext cx="1954" cy="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1327" name="Rectangle 63">
              <a:extLst>
                <a:ext uri="{FF2B5EF4-FFF2-40B4-BE49-F238E27FC236}">
                  <a16:creationId xmlns:a16="http://schemas.microsoft.com/office/drawing/2014/main" id="{845FCA92-DB0D-A04F-B50C-84A59416D9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" y="2980"/>
              <a:ext cx="1954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</p:grpSp>
      <p:sp>
        <p:nvSpPr>
          <p:cNvPr id="11270" name="Text Box 64">
            <a:extLst>
              <a:ext uri="{FF2B5EF4-FFF2-40B4-BE49-F238E27FC236}">
                <a16:creationId xmlns:a16="http://schemas.microsoft.com/office/drawing/2014/main" id="{9F07F4B2-F68B-5B40-9E23-F6A979A79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2057400"/>
            <a:ext cx="25146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35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1pPr>
            <a:lvl2pPr>
              <a:spcBef>
                <a:spcPts val="30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2pPr>
            <a:lvl3pPr>
              <a:spcBef>
                <a:spcPts val="25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pPr>
              <a:spcBef>
                <a:spcPts val="1125"/>
              </a:spcBef>
              <a:spcAft>
                <a:spcPct val="0"/>
              </a:spcAft>
              <a:buClrTx/>
            </a:pPr>
            <a:r>
              <a:rPr lang="en-US" altLang="en-US" sz="1800" b="1"/>
              <a:t>Sequence Database:</a:t>
            </a:r>
          </a:p>
        </p:txBody>
      </p:sp>
    </p:spTree>
    <p:extLst>
      <p:ext uri="{BB962C8B-B14F-4D97-AF65-F5344CB8AC3E}">
        <p14:creationId xmlns:p14="http://schemas.microsoft.com/office/powerpoint/2010/main" val="293707511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>
            <a:extLst>
              <a:ext uri="{FF2B5EF4-FFF2-40B4-BE49-F238E27FC236}">
                <a16:creationId xmlns:a16="http://schemas.microsoft.com/office/drawing/2014/main" id="{1B0B376A-85CB-DA41-ADB8-AA08F89990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/>
              <a:t>Formal Definition of a Sequence</a:t>
            </a:r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3892003C-5ADF-FA43-9A67-D1BEA07510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Clr>
                <a:srgbClr val="0C7B9C"/>
              </a:buClr>
              <a:buSzPct val="75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dirty="0"/>
              <a:t>A sequence is an ordered list of transactions</a:t>
            </a:r>
          </a:p>
          <a:p>
            <a:pPr marL="339725" indent="-338138">
              <a:spcBef>
                <a:spcPts val="225"/>
              </a:spcBef>
              <a:spcAft>
                <a:spcPct val="0"/>
              </a:spcAft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endParaRPr lang="en-US" altLang="en-US" sz="900" dirty="0"/>
          </a:p>
          <a:p>
            <a:pPr marL="339725" indent="-338138">
              <a:spcBef>
                <a:spcPts val="250"/>
              </a:spcBef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dirty="0"/>
              <a:t>				</a:t>
            </a:r>
            <a:r>
              <a:rPr lang="en-US" altLang="en-US" i="1" dirty="0"/>
              <a:t>s = &lt; </a:t>
            </a:r>
            <a:r>
              <a:rPr lang="en-US" altLang="en-US" sz="2000" i="1" dirty="0"/>
              <a:t>e</a:t>
            </a:r>
            <a:r>
              <a:rPr lang="en-US" altLang="en-US" sz="2000" i="1" baseline="-25000" dirty="0"/>
              <a:t>1 </a:t>
            </a:r>
            <a:r>
              <a:rPr lang="en-US" altLang="en-US" sz="2000" i="1" dirty="0"/>
              <a:t>e</a:t>
            </a:r>
            <a:r>
              <a:rPr lang="en-US" altLang="en-US" sz="2000" i="1" baseline="-25000" dirty="0"/>
              <a:t>2</a:t>
            </a:r>
            <a:r>
              <a:rPr lang="en-US" altLang="en-US" sz="2000" i="1" dirty="0"/>
              <a:t> e</a:t>
            </a:r>
            <a:r>
              <a:rPr lang="en-US" altLang="en-US" sz="2000" i="1" baseline="-25000" dirty="0"/>
              <a:t>3</a:t>
            </a:r>
            <a:r>
              <a:rPr lang="en-US" altLang="en-US" sz="2000" i="1" dirty="0"/>
              <a:t> … </a:t>
            </a:r>
            <a:r>
              <a:rPr lang="en-US" altLang="en-US" i="1" dirty="0"/>
              <a:t>&gt;</a:t>
            </a:r>
          </a:p>
          <a:p>
            <a:pPr marL="339725" indent="-338138">
              <a:spcBef>
                <a:spcPts val="225"/>
              </a:spcBef>
              <a:spcAft>
                <a:spcPct val="0"/>
              </a:spcAft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endParaRPr lang="en-US" altLang="en-US" sz="900" dirty="0"/>
          </a:p>
          <a:p>
            <a:pPr lvl="1">
              <a:buClr>
                <a:srgbClr val="0C7B9C"/>
              </a:buClr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dirty="0"/>
              <a:t>Each transaction is attributed to a specific time or location</a:t>
            </a:r>
          </a:p>
          <a:p>
            <a:pPr lvl="1">
              <a:buClr>
                <a:srgbClr val="0C7B9C"/>
              </a:buClr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dirty="0"/>
              <a:t>Each transaction contains a collection of items</a:t>
            </a:r>
          </a:p>
          <a:p>
            <a:pPr marL="339725" indent="-338138">
              <a:spcBef>
                <a:spcPts val="225"/>
              </a:spcBef>
              <a:spcAft>
                <a:spcPct val="0"/>
              </a:spcAft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endParaRPr lang="en-US" altLang="en-US" sz="900" dirty="0"/>
          </a:p>
          <a:p>
            <a:pPr marL="339725" indent="-338138">
              <a:spcBef>
                <a:spcPts val="300"/>
              </a:spcBef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dirty="0"/>
              <a:t>				</a:t>
            </a:r>
            <a:r>
              <a:rPr lang="en-US" altLang="en-US" i="1" dirty="0" err="1"/>
              <a:t>e</a:t>
            </a:r>
            <a:r>
              <a:rPr lang="en-US" altLang="en-US" i="1" baseline="-25000" dirty="0" err="1"/>
              <a:t>i</a:t>
            </a:r>
            <a:r>
              <a:rPr lang="en-US" altLang="en-US" i="1" dirty="0"/>
              <a:t> = {i</a:t>
            </a:r>
            <a:r>
              <a:rPr lang="en-US" altLang="en-US" i="1" baseline="-25000" dirty="0"/>
              <a:t>1</a:t>
            </a:r>
            <a:r>
              <a:rPr lang="en-US" altLang="en-US" i="1" dirty="0"/>
              <a:t>, i</a:t>
            </a:r>
            <a:r>
              <a:rPr lang="en-US" altLang="en-US" i="1" baseline="-25000" dirty="0"/>
              <a:t>2</a:t>
            </a:r>
            <a:r>
              <a:rPr lang="en-US" altLang="en-US" i="1" dirty="0"/>
              <a:t>, …, </a:t>
            </a:r>
            <a:r>
              <a:rPr lang="en-US" altLang="en-US" i="1" dirty="0" err="1"/>
              <a:t>i</a:t>
            </a:r>
            <a:r>
              <a:rPr lang="en-US" altLang="en-US" i="1" baseline="-25000" dirty="0" err="1"/>
              <a:t>k</a:t>
            </a:r>
            <a:r>
              <a:rPr lang="en-US" altLang="en-US" i="1" dirty="0"/>
              <a:t>}</a:t>
            </a:r>
          </a:p>
          <a:p>
            <a:pPr marL="339725" indent="-338138">
              <a:spcBef>
                <a:spcPts val="225"/>
              </a:spcBef>
              <a:spcAft>
                <a:spcPct val="0"/>
              </a:spcAft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endParaRPr lang="en-US" altLang="en-US" sz="900" dirty="0"/>
          </a:p>
          <a:p>
            <a:pPr marL="339725" indent="-338138">
              <a:spcBef>
                <a:spcPts val="200"/>
              </a:spcBef>
              <a:spcAft>
                <a:spcPct val="0"/>
              </a:spcAft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endParaRPr lang="en-US" altLang="en-US" sz="800" dirty="0"/>
          </a:p>
          <a:p>
            <a:pPr>
              <a:buClr>
                <a:srgbClr val="0C7B9C"/>
              </a:buClr>
              <a:buSzPct val="75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dirty="0"/>
              <a:t>We “measure” sequences with two different notions:</a:t>
            </a:r>
          </a:p>
          <a:p>
            <a:pPr lvl="1">
              <a:buClr>
                <a:srgbClr val="0C7B9C"/>
              </a:buClr>
              <a:buSzPct val="75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dirty="0"/>
              <a:t>Length of a sequence: |s| is given by the number of transactions of the sequence</a:t>
            </a:r>
          </a:p>
          <a:p>
            <a:pPr marL="630237" lvl="1" indent="-171450">
              <a:spcBef>
                <a:spcPts val="200"/>
              </a:spcBef>
              <a:spcAft>
                <a:spcPct val="0"/>
              </a:spcAft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endParaRPr lang="en-US" altLang="en-US" sz="400" dirty="0"/>
          </a:p>
          <a:p>
            <a:pPr lvl="1">
              <a:buClr>
                <a:srgbClr val="0C7B9C"/>
              </a:buClr>
              <a:buSzPct val="75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dirty="0"/>
              <a:t>Size of a sequence: a k-sequence is a sequence that contains </a:t>
            </a:r>
            <a:r>
              <a:rPr lang="en-US" altLang="en-US" i="1" dirty="0"/>
              <a:t>k</a:t>
            </a:r>
            <a:r>
              <a:rPr lang="en-US" altLang="en-US" dirty="0"/>
              <a:t> items</a:t>
            </a:r>
          </a:p>
        </p:txBody>
      </p:sp>
    </p:spTree>
    <p:extLst>
      <p:ext uri="{BB962C8B-B14F-4D97-AF65-F5344CB8AC3E}">
        <p14:creationId xmlns:p14="http://schemas.microsoft.com/office/powerpoint/2010/main" val="424426531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">
            <a:extLst>
              <a:ext uri="{FF2B5EF4-FFF2-40B4-BE49-F238E27FC236}">
                <a16:creationId xmlns:a16="http://schemas.microsoft.com/office/drawing/2014/main" id="{8A142B47-F06C-8B4D-9D40-977FCF641D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/>
              <a:t>Formal Definition of a Sequence</a:t>
            </a:r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2CE49510-2FE4-044E-8F22-B639E2C28E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0C7B9C"/>
              </a:buClr>
              <a:buSzPct val="75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3200" dirty="0"/>
              <a:t>Example</a:t>
            </a:r>
          </a:p>
          <a:p>
            <a:pPr marL="339725" indent="-338138">
              <a:spcBef>
                <a:spcPts val="225"/>
              </a:spcBef>
              <a:spcAft>
                <a:spcPct val="0"/>
              </a:spcAft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endParaRPr lang="en-US" altLang="en-US" sz="1000" dirty="0"/>
          </a:p>
          <a:p>
            <a:pPr marL="339725" indent="-338138">
              <a:spcBef>
                <a:spcPts val="250"/>
              </a:spcBef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3200" dirty="0"/>
              <a:t>				s = &lt;   </a:t>
            </a:r>
            <a:r>
              <a:rPr lang="en-US" altLang="en-US" sz="2400" dirty="0"/>
              <a:t>{A,B},   {B,E,F},   {A},   {E,F,H}   &gt;</a:t>
            </a:r>
          </a:p>
          <a:p>
            <a:pPr marL="1587" indent="0">
              <a:spcBef>
                <a:spcPts val="250"/>
              </a:spcBef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endParaRPr lang="en-US" altLang="en-US" sz="900" dirty="0"/>
          </a:p>
          <a:p>
            <a:pPr marL="857250" lvl="1" indent="-457200">
              <a:buClr>
                <a:srgbClr val="0C7B9C"/>
              </a:buClr>
              <a:buSzPct val="75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2800" dirty="0"/>
              <a:t>Length of s: |s| = 4 transactions</a:t>
            </a:r>
          </a:p>
          <a:p>
            <a:pPr marL="857250" lvl="1" indent="-457200">
              <a:buClr>
                <a:srgbClr val="0C7B9C"/>
              </a:buClr>
              <a:buSzPct val="75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2800" dirty="0"/>
              <a:t>s is a 9-sequence as it contains 9 items</a:t>
            </a:r>
          </a:p>
          <a:p>
            <a:pPr marL="857250" lvl="1" indent="-457200">
              <a:buClr>
                <a:srgbClr val="0C7B9C"/>
              </a:buClr>
              <a:buSzPct val="75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2800" dirty="0"/>
              <a:t>Times associated to elements:</a:t>
            </a:r>
          </a:p>
          <a:p>
            <a:pPr lvl="2" indent="-342900">
              <a:buClr>
                <a:srgbClr val="0C7B9C"/>
              </a:buClr>
              <a:buSzPct val="75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2400" dirty="0"/>
              <a:t>{A,B} </a:t>
            </a:r>
            <a:r>
              <a:rPr lang="en-US" altLang="en-US" sz="2400" dirty="0">
                <a:sym typeface="Wingdings" panose="05000000000000000000" pitchFamily="2" charset="2"/>
              </a:rPr>
              <a:t> time=0</a:t>
            </a:r>
            <a:endParaRPr lang="en-US" altLang="en-US" sz="2400" dirty="0"/>
          </a:p>
          <a:p>
            <a:pPr lvl="2" indent="-342900">
              <a:buClr>
                <a:srgbClr val="0C7B9C"/>
              </a:buClr>
              <a:buSzPct val="75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2400" dirty="0"/>
              <a:t>{B,E,F} </a:t>
            </a:r>
            <a:r>
              <a:rPr lang="en-US" altLang="en-US" sz="2400" dirty="0">
                <a:sym typeface="Wingdings" panose="05000000000000000000" pitchFamily="2" charset="2"/>
              </a:rPr>
              <a:t> time = 120</a:t>
            </a:r>
            <a:endParaRPr lang="en-US" altLang="en-US" sz="2400" dirty="0"/>
          </a:p>
          <a:p>
            <a:pPr lvl="2" indent="-342900">
              <a:buClr>
                <a:srgbClr val="0C7B9C"/>
              </a:buClr>
              <a:buSzPct val="75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2400" dirty="0"/>
              <a:t>{A} </a:t>
            </a:r>
            <a:r>
              <a:rPr lang="en-US" altLang="en-US" sz="2400" dirty="0">
                <a:sym typeface="Wingdings" panose="05000000000000000000" pitchFamily="2" charset="2"/>
              </a:rPr>
              <a:t> time = 130</a:t>
            </a:r>
            <a:endParaRPr lang="en-US" altLang="en-US" sz="2400" dirty="0"/>
          </a:p>
          <a:p>
            <a:pPr lvl="2" indent="-342900">
              <a:buClr>
                <a:srgbClr val="0C7B9C"/>
              </a:buClr>
              <a:buSzPct val="75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2400" dirty="0"/>
              <a:t>{E,F,H} </a:t>
            </a:r>
            <a:r>
              <a:rPr lang="en-US" altLang="en-US" sz="2400" dirty="0">
                <a:sym typeface="Wingdings" panose="05000000000000000000" pitchFamily="2" charset="2"/>
              </a:rPr>
              <a:t> time = 200</a:t>
            </a:r>
            <a:endParaRPr lang="en-US" altLang="en-US" sz="900" dirty="0">
              <a:sym typeface="Wingdings" panose="05000000000000000000" pitchFamily="2" charset="2"/>
            </a:endParaRPr>
          </a:p>
          <a:p>
            <a:pPr marL="0" indent="0">
              <a:buClr>
                <a:srgbClr val="0C7B9C"/>
              </a:buClr>
              <a:buSzPct val="75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81648973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>
            <a:extLst>
              <a:ext uri="{FF2B5EF4-FFF2-40B4-BE49-F238E27FC236}">
                <a16:creationId xmlns:a16="http://schemas.microsoft.com/office/drawing/2014/main" id="{DE981EC5-CD3A-1E45-8AC0-CAB9130A08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dirty="0"/>
              <a:t>Sequences without Explicit Time Info</a:t>
            </a:r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CCEC84F3-1226-524B-A0EF-E7B19928F0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0C7B9C"/>
              </a:buClr>
              <a:buSzPct val="75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3200" dirty="0"/>
              <a:t>Default: time of element = position in the sequence</a:t>
            </a:r>
          </a:p>
          <a:p>
            <a:pPr>
              <a:buClr>
                <a:srgbClr val="0C7B9C"/>
              </a:buClr>
              <a:buSzPct val="75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3200" dirty="0"/>
              <a:t>Example</a:t>
            </a:r>
          </a:p>
          <a:p>
            <a:pPr marL="339725" indent="-338138">
              <a:spcBef>
                <a:spcPts val="225"/>
              </a:spcBef>
              <a:spcAft>
                <a:spcPct val="0"/>
              </a:spcAft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endParaRPr lang="en-US" altLang="en-US" sz="1000" dirty="0"/>
          </a:p>
          <a:p>
            <a:pPr marL="339725" indent="-338138">
              <a:spcBef>
                <a:spcPts val="250"/>
              </a:spcBef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3200" dirty="0"/>
              <a:t>				s = &lt;   </a:t>
            </a:r>
            <a:r>
              <a:rPr lang="en-US" altLang="en-US" sz="2400" dirty="0"/>
              <a:t>{A,C},   {E},   {A,F},   {E,G,H}   &gt;</a:t>
            </a:r>
          </a:p>
          <a:p>
            <a:pPr marL="1587" indent="0">
              <a:spcBef>
                <a:spcPts val="250"/>
              </a:spcBef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endParaRPr lang="en-US" altLang="en-US" sz="900" dirty="0"/>
          </a:p>
          <a:p>
            <a:pPr marL="857250" lvl="1" indent="-457200">
              <a:buClr>
                <a:srgbClr val="0C7B9C"/>
              </a:buClr>
              <a:buSzPct val="75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2800" dirty="0"/>
              <a:t>Default times associated to transactions:</a:t>
            </a:r>
          </a:p>
          <a:p>
            <a:pPr lvl="2" indent="-342900">
              <a:buClr>
                <a:srgbClr val="0C7B9C"/>
              </a:buClr>
              <a:buSzPct val="75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2400" dirty="0"/>
              <a:t>{A,C} </a:t>
            </a:r>
            <a:r>
              <a:rPr lang="en-US" altLang="en-US" sz="2400" dirty="0">
                <a:sym typeface="Wingdings" panose="05000000000000000000" pitchFamily="2" charset="2"/>
              </a:rPr>
              <a:t> time=0</a:t>
            </a:r>
            <a:endParaRPr lang="en-US" altLang="en-US" sz="2400" dirty="0"/>
          </a:p>
          <a:p>
            <a:pPr lvl="2" indent="-342900">
              <a:buClr>
                <a:srgbClr val="0C7B9C"/>
              </a:buClr>
              <a:buSzPct val="75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2400" dirty="0"/>
              <a:t>{E} </a:t>
            </a:r>
            <a:r>
              <a:rPr lang="en-US" altLang="en-US" sz="2400" dirty="0">
                <a:sym typeface="Wingdings" panose="05000000000000000000" pitchFamily="2" charset="2"/>
              </a:rPr>
              <a:t> time = 1</a:t>
            </a:r>
            <a:endParaRPr lang="en-US" altLang="en-US" sz="2400" dirty="0"/>
          </a:p>
          <a:p>
            <a:pPr lvl="2" indent="-342900">
              <a:buClr>
                <a:srgbClr val="0C7B9C"/>
              </a:buClr>
              <a:buSzPct val="75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2400" dirty="0"/>
              <a:t>{A,F} </a:t>
            </a:r>
            <a:r>
              <a:rPr lang="en-US" altLang="en-US" sz="2400" dirty="0">
                <a:sym typeface="Wingdings" panose="05000000000000000000" pitchFamily="2" charset="2"/>
              </a:rPr>
              <a:t> time = 2</a:t>
            </a:r>
            <a:endParaRPr lang="en-US" altLang="en-US" sz="2400" dirty="0"/>
          </a:p>
          <a:p>
            <a:pPr lvl="2" indent="-342900">
              <a:buClr>
                <a:srgbClr val="0C7B9C"/>
              </a:buClr>
              <a:buSzPct val="75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2400" dirty="0"/>
              <a:t>{E,G,H} </a:t>
            </a:r>
            <a:r>
              <a:rPr lang="en-US" altLang="en-US" sz="2400" dirty="0">
                <a:sym typeface="Wingdings" panose="05000000000000000000" pitchFamily="2" charset="2"/>
              </a:rPr>
              <a:t> time = 3</a:t>
            </a:r>
            <a:endParaRPr lang="en-US" altLang="en-US" sz="900" dirty="0">
              <a:sym typeface="Wingdings" panose="05000000000000000000" pitchFamily="2" charset="2"/>
            </a:endParaRPr>
          </a:p>
          <a:p>
            <a:pPr marL="0" indent="0">
              <a:buClr>
                <a:srgbClr val="0C7B9C"/>
              </a:buClr>
              <a:buSzPct val="75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529494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">
            <a:extLst>
              <a:ext uri="{FF2B5EF4-FFF2-40B4-BE49-F238E27FC236}">
                <a16:creationId xmlns:a16="http://schemas.microsoft.com/office/drawing/2014/main" id="{BC3E7A7C-7E00-9B44-99B9-EB53A5BD45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/>
              <a:t>Examples of Sequence</a:t>
            </a: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D6789C9B-AEB1-B545-9342-7F86BB51B0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dirty="0"/>
              <a:t>Web sequence:</a:t>
            </a:r>
            <a:br>
              <a:rPr lang="en-US" altLang="en-US" dirty="0"/>
            </a:br>
            <a:endParaRPr lang="en-US" altLang="en-US" dirty="0"/>
          </a:p>
          <a:p>
            <a:pPr marL="288925" indent="-287338">
              <a:spcBef>
                <a:spcPts val="225"/>
              </a:spcBef>
              <a:buNone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sz="1800" dirty="0"/>
              <a:t>  &lt; {Homepage}  {Electronics}  {Digital Cameras}  {Canon Digital Camera} {Shopping Cart}  {Order Confirmation}  {Return to Shopping} &gt;</a:t>
            </a:r>
          </a:p>
          <a:p>
            <a:pPr marL="288925" indent="-287338">
              <a:spcBef>
                <a:spcPts val="125"/>
              </a:spcBef>
              <a:buNone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endParaRPr lang="en-US" altLang="en-US" sz="1000" dirty="0"/>
          </a:p>
          <a:p>
            <a:pPr>
              <a:spcBef>
                <a:spcPts val="175"/>
              </a:spcBef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dirty="0"/>
              <a:t>Sequence of events causing the nuclear accident at 3-mile Island:</a:t>
            </a:r>
            <a:br>
              <a:rPr lang="en-US" altLang="en-US" dirty="0"/>
            </a:br>
            <a:r>
              <a:rPr lang="en-US" altLang="en-US" sz="1400" dirty="0"/>
              <a:t>(http://stellar-one.com/nuclear/staff_reports/summary_SOE_the_initiating_event.htm)</a:t>
            </a:r>
          </a:p>
          <a:p>
            <a:pPr marL="288925" indent="-287338">
              <a:spcBef>
                <a:spcPts val="225"/>
              </a:spcBef>
              <a:buNone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sz="1800" dirty="0"/>
              <a:t>&lt;   {clogged resin </a:t>
            </a:r>
            <a:r>
              <a:rPr lang="en-US" altLang="en-US" sz="1800" b="1" dirty="0"/>
              <a:t>&amp;</a:t>
            </a:r>
            <a:r>
              <a:rPr lang="en-US" altLang="en-US" sz="1800" dirty="0"/>
              <a:t> outlet valve closure} {loss of </a:t>
            </a:r>
            <a:r>
              <a:rPr lang="en-US" altLang="en-US" sz="1800" dirty="0" err="1"/>
              <a:t>feedwater</a:t>
            </a:r>
            <a:r>
              <a:rPr lang="en-US" altLang="en-US" sz="1800" dirty="0"/>
              <a:t>} </a:t>
            </a:r>
            <a:br>
              <a:rPr lang="en-US" altLang="en-US" sz="1800" dirty="0"/>
            </a:br>
            <a:r>
              <a:rPr lang="en-US" altLang="en-US" sz="1800" dirty="0"/>
              <a:t>{condenser polisher outlet valve shut} {booster pumps trip} </a:t>
            </a:r>
            <a:br>
              <a:rPr lang="en-US" altLang="en-US" sz="1800" dirty="0"/>
            </a:br>
            <a:r>
              <a:rPr lang="en-US" altLang="en-US" sz="1800" dirty="0"/>
              <a:t>{main </a:t>
            </a:r>
            <a:r>
              <a:rPr lang="en-US" altLang="en-US" sz="1800" dirty="0" err="1"/>
              <a:t>waterpump</a:t>
            </a:r>
            <a:r>
              <a:rPr lang="en-US" altLang="en-US" sz="1800" dirty="0"/>
              <a:t> trips </a:t>
            </a:r>
            <a:r>
              <a:rPr lang="en-US" altLang="en-US" sz="1800" b="1" dirty="0"/>
              <a:t>&amp;</a:t>
            </a:r>
            <a:r>
              <a:rPr lang="en-US" altLang="en-US" sz="1800" dirty="0"/>
              <a:t> main turbine trips </a:t>
            </a:r>
            <a:r>
              <a:rPr lang="en-US" altLang="en-US" sz="1800" b="1" dirty="0"/>
              <a:t>&amp;</a:t>
            </a:r>
            <a:r>
              <a:rPr lang="en-US" altLang="en-US" sz="1800" dirty="0"/>
              <a:t> reactor pressure increases}&gt;</a:t>
            </a:r>
            <a:br>
              <a:rPr lang="en-US" altLang="en-US" sz="1800" dirty="0"/>
            </a:br>
            <a:endParaRPr lang="en-US" altLang="en-US" sz="1800" dirty="0"/>
          </a:p>
          <a:p>
            <a:pPr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dirty="0"/>
              <a:t>Sequence of books checked out at a library:</a:t>
            </a:r>
          </a:p>
          <a:p>
            <a:pPr marL="288925" indent="-287338">
              <a:spcBef>
                <a:spcPts val="225"/>
              </a:spcBef>
              <a:buNone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sz="1800" dirty="0"/>
              <a:t>&lt;{Fellowship of the Ring} {The Two Towers}  {Return of the King}&gt;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22CE53-5A95-B04F-A906-21AB74974383}"/>
              </a:ext>
            </a:extLst>
          </p:cNvPr>
          <p:cNvSpPr txBox="1"/>
          <p:nvPr/>
        </p:nvSpPr>
        <p:spPr>
          <a:xfrm>
            <a:off x="7391400" y="2097089"/>
            <a:ext cx="24384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Singleton elements</a:t>
            </a:r>
          </a:p>
        </p:txBody>
      </p:sp>
      <p:cxnSp>
        <p:nvCxnSpPr>
          <p:cNvPr id="21509" name="Straight Arrow Connector 3">
            <a:extLst>
              <a:ext uri="{FF2B5EF4-FFF2-40B4-BE49-F238E27FC236}">
                <a16:creationId xmlns:a16="http://schemas.microsoft.com/office/drawing/2014/main" id="{388B9353-BFCF-3E44-A350-FA7C43FB6B6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400800" y="2325689"/>
            <a:ext cx="990600" cy="304800"/>
          </a:xfrm>
          <a:prstGeom prst="straightConnector1">
            <a:avLst/>
          </a:prstGeom>
          <a:noFill/>
          <a:ln w="9525" algn="ctr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E4ACD9D-D627-6948-A7B8-673516041510}"/>
              </a:ext>
            </a:extLst>
          </p:cNvPr>
          <p:cNvSpPr txBox="1"/>
          <p:nvPr/>
        </p:nvSpPr>
        <p:spPr>
          <a:xfrm>
            <a:off x="7113105" y="5948363"/>
            <a:ext cx="2438400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Singleton elements</a:t>
            </a:r>
          </a:p>
        </p:txBody>
      </p:sp>
      <p:cxnSp>
        <p:nvCxnSpPr>
          <p:cNvPr id="21511" name="Straight Arrow Connector 7">
            <a:extLst>
              <a:ext uri="{FF2B5EF4-FFF2-40B4-BE49-F238E27FC236}">
                <a16:creationId xmlns:a16="http://schemas.microsoft.com/office/drawing/2014/main" id="{53082596-F7B3-D24E-80B4-CA27AD59BBE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893905" y="5784850"/>
            <a:ext cx="1219200" cy="392113"/>
          </a:xfrm>
          <a:prstGeom prst="straightConnector1">
            <a:avLst/>
          </a:prstGeom>
          <a:noFill/>
          <a:ln w="9525" algn="ctr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C6F415C-A162-4A4E-97B8-095682303155}"/>
              </a:ext>
            </a:extLst>
          </p:cNvPr>
          <p:cNvSpPr txBox="1"/>
          <p:nvPr/>
        </p:nvSpPr>
        <p:spPr>
          <a:xfrm>
            <a:off x="7848600" y="4724401"/>
            <a:ext cx="24384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Complex elements</a:t>
            </a:r>
          </a:p>
        </p:txBody>
      </p:sp>
      <p:cxnSp>
        <p:nvCxnSpPr>
          <p:cNvPr id="21513" name="Straight Arrow Connector 10">
            <a:extLst>
              <a:ext uri="{FF2B5EF4-FFF2-40B4-BE49-F238E27FC236}">
                <a16:creationId xmlns:a16="http://schemas.microsoft.com/office/drawing/2014/main" id="{E3874083-D14A-5D4F-987B-A486AD19E7AF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391400" y="4724401"/>
            <a:ext cx="457200" cy="228600"/>
          </a:xfrm>
          <a:prstGeom prst="straightConnector1">
            <a:avLst/>
          </a:prstGeom>
          <a:noFill/>
          <a:ln w="9525" algn="ctr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1421101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>
            <a:extLst>
              <a:ext uri="{FF2B5EF4-FFF2-40B4-BE49-F238E27FC236}">
                <a16:creationId xmlns:a16="http://schemas.microsoft.com/office/drawing/2014/main" id="{E8154D48-1D3A-DA43-9B2A-03B46B27C7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ea typeface="PMingLiU" panose="02020500000000000000" pitchFamily="18" charset="-120"/>
              </a:rPr>
              <a:t>Formal Definition of a Subsequence</a:t>
            </a: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C6CBCD47-5793-6F47-A6AF-13427B9C40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300"/>
              </a:spcBef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r>
              <a:rPr lang="en-US" altLang="en-US" sz="2400" dirty="0"/>
              <a:t>A sequence &lt;a</a:t>
            </a:r>
            <a:r>
              <a:rPr lang="en-US" altLang="en-US" sz="2400" baseline="-25000" dirty="0"/>
              <a:t>1 </a:t>
            </a:r>
            <a:r>
              <a:rPr lang="en-US" altLang="en-US" sz="2400" dirty="0"/>
              <a:t>a</a:t>
            </a:r>
            <a:r>
              <a:rPr lang="en-US" altLang="en-US" sz="2400" baseline="-25000" dirty="0"/>
              <a:t>2 </a:t>
            </a:r>
            <a:r>
              <a:rPr lang="en-US" altLang="en-US" sz="2400" dirty="0"/>
              <a:t>… a</a:t>
            </a:r>
            <a:r>
              <a:rPr lang="en-US" altLang="en-US" sz="2400" baseline="-25000" dirty="0"/>
              <a:t>n</a:t>
            </a:r>
            <a:r>
              <a:rPr lang="en-US" altLang="en-US" sz="2400" dirty="0"/>
              <a:t>&gt; is contained in another sequence &lt;b</a:t>
            </a:r>
            <a:r>
              <a:rPr lang="en-US" altLang="en-US" sz="2400" baseline="-25000" dirty="0"/>
              <a:t>1 </a:t>
            </a:r>
            <a:r>
              <a:rPr lang="en-US" altLang="en-US" sz="2400" dirty="0"/>
              <a:t>b</a:t>
            </a:r>
            <a:r>
              <a:rPr lang="en-US" altLang="en-US" sz="2400" baseline="-25000" dirty="0"/>
              <a:t>2 </a:t>
            </a:r>
            <a:r>
              <a:rPr lang="en-US" altLang="en-US" sz="2400" dirty="0"/>
              <a:t>… </a:t>
            </a:r>
            <a:r>
              <a:rPr lang="en-US" altLang="en-US" sz="2400" dirty="0" err="1"/>
              <a:t>b</a:t>
            </a:r>
            <a:r>
              <a:rPr lang="en-US" altLang="en-US" sz="2400" baseline="-25000" dirty="0" err="1"/>
              <a:t>m</a:t>
            </a:r>
            <a:r>
              <a:rPr lang="en-US" altLang="en-US" sz="2400" dirty="0"/>
              <a:t>&gt; (m </a:t>
            </a:r>
            <a:r>
              <a:rPr lang="en-US" altLang="en-US" sz="2400" dirty="0">
                <a:cs typeface="Arial" panose="020B0604020202020204" pitchFamily="34" charset="0"/>
              </a:rPr>
              <a:t>≥</a:t>
            </a:r>
            <a:r>
              <a:rPr lang="en-US" altLang="en-US" sz="2400" dirty="0"/>
              <a:t> n) if there exist integers i</a:t>
            </a:r>
            <a:r>
              <a:rPr lang="en-US" altLang="en-US" sz="2400" baseline="-25000" dirty="0"/>
              <a:t>1 </a:t>
            </a:r>
            <a:r>
              <a:rPr lang="en-US" altLang="en-US" sz="2400" dirty="0"/>
              <a:t>&lt; i</a:t>
            </a:r>
            <a:r>
              <a:rPr lang="en-US" altLang="en-US" sz="2400" baseline="-25000" dirty="0"/>
              <a:t>2 </a:t>
            </a:r>
            <a:r>
              <a:rPr lang="en-US" altLang="en-US" sz="2400" dirty="0"/>
              <a:t>&lt; … &lt; i</a:t>
            </a:r>
            <a:r>
              <a:rPr lang="en-US" altLang="en-US" sz="2400" baseline="-25000" dirty="0"/>
              <a:t>n</a:t>
            </a:r>
            <a:r>
              <a:rPr lang="en-US" altLang="en-US" sz="2400" dirty="0"/>
              <a:t> such that a</a:t>
            </a:r>
            <a:r>
              <a:rPr lang="en-US" altLang="en-US" sz="2400" baseline="-25000" dirty="0"/>
              <a:t>1 </a:t>
            </a:r>
            <a:r>
              <a:rPr lang="en-US" altLang="en-US" sz="2400" dirty="0">
                <a:latin typeface="Symbol" pitchFamily="2" charset="2"/>
                <a:ea typeface="Symbol" pitchFamily="2" charset="2"/>
                <a:cs typeface="Symbol" pitchFamily="2" charset="2"/>
              </a:rPr>
              <a:t></a:t>
            </a:r>
            <a:r>
              <a:rPr lang="en-US" altLang="en-US" sz="2400" dirty="0">
                <a:ea typeface="SimSun" panose="02010600030101010101" pitchFamily="2" charset="-122"/>
              </a:rPr>
              <a:t> </a:t>
            </a:r>
            <a:r>
              <a:rPr lang="en-US" altLang="en-US" sz="2400" dirty="0"/>
              <a:t>b</a:t>
            </a:r>
            <a:r>
              <a:rPr lang="en-US" altLang="en-US" sz="2400" baseline="-25000" dirty="0"/>
              <a:t>i1 </a:t>
            </a:r>
            <a:r>
              <a:rPr lang="en-US" altLang="en-US" sz="2400" dirty="0">
                <a:ea typeface="SimSun" panose="02010600030101010101" pitchFamily="2" charset="-122"/>
              </a:rPr>
              <a:t>, </a:t>
            </a:r>
            <a:r>
              <a:rPr lang="en-US" altLang="en-US" sz="2400" dirty="0"/>
              <a:t>a</a:t>
            </a:r>
            <a:r>
              <a:rPr lang="en-US" altLang="en-US" sz="2400" baseline="-25000" dirty="0"/>
              <a:t>2</a:t>
            </a:r>
            <a:r>
              <a:rPr lang="en-US" altLang="en-US" sz="2400" dirty="0">
                <a:ea typeface="SimSun" panose="02010600030101010101" pitchFamily="2" charset="-122"/>
              </a:rPr>
              <a:t> </a:t>
            </a:r>
            <a:r>
              <a:rPr lang="en-US" altLang="en-US" sz="2400" dirty="0">
                <a:latin typeface="Symbol" pitchFamily="2" charset="2"/>
                <a:ea typeface="Symbol" pitchFamily="2" charset="2"/>
                <a:cs typeface="Symbol" pitchFamily="2" charset="2"/>
              </a:rPr>
              <a:t></a:t>
            </a:r>
            <a:r>
              <a:rPr lang="en-US" altLang="en-US" sz="2400" dirty="0">
                <a:ea typeface="SimSun" panose="02010600030101010101" pitchFamily="2" charset="-122"/>
              </a:rPr>
              <a:t> </a:t>
            </a:r>
            <a:r>
              <a:rPr lang="en-US" altLang="en-US" sz="2400" dirty="0"/>
              <a:t>b</a:t>
            </a:r>
            <a:r>
              <a:rPr lang="en-US" altLang="en-US" sz="2400" baseline="-25000" dirty="0"/>
              <a:t>i1</a:t>
            </a:r>
            <a:r>
              <a:rPr lang="en-US" altLang="en-US" sz="2400" dirty="0">
                <a:ea typeface="SimSun" panose="02010600030101010101" pitchFamily="2" charset="-122"/>
              </a:rPr>
              <a:t>, …, </a:t>
            </a:r>
            <a:r>
              <a:rPr lang="en-US" altLang="en-US" sz="2400" dirty="0"/>
              <a:t>a</a:t>
            </a:r>
            <a:r>
              <a:rPr lang="en-US" altLang="en-US" sz="2400" baseline="-25000" dirty="0"/>
              <a:t>n</a:t>
            </a:r>
            <a:r>
              <a:rPr lang="en-US" altLang="en-US" sz="2400" dirty="0">
                <a:ea typeface="SimSun" panose="02010600030101010101" pitchFamily="2" charset="-122"/>
              </a:rPr>
              <a:t> </a:t>
            </a:r>
            <a:r>
              <a:rPr lang="en-US" altLang="en-US" sz="2400" dirty="0">
                <a:latin typeface="Symbol" pitchFamily="2" charset="2"/>
                <a:ea typeface="Symbol" pitchFamily="2" charset="2"/>
                <a:cs typeface="Symbol" pitchFamily="2" charset="2"/>
              </a:rPr>
              <a:t></a:t>
            </a:r>
            <a:r>
              <a:rPr lang="en-US" altLang="en-US" sz="2400" dirty="0">
                <a:ea typeface="SimSun" panose="02010600030101010101" pitchFamily="2" charset="-122"/>
              </a:rPr>
              <a:t> </a:t>
            </a:r>
            <a:r>
              <a:rPr lang="en-US" altLang="en-US" sz="2400" dirty="0"/>
              <a:t>b</a:t>
            </a:r>
            <a:r>
              <a:rPr lang="en-US" altLang="en-US" sz="2400" baseline="-25000" dirty="0"/>
              <a:t>in</a:t>
            </a:r>
            <a:r>
              <a:rPr lang="en-US" altLang="en-US" sz="2400" dirty="0">
                <a:ea typeface="SimSun" panose="02010600030101010101" pitchFamily="2" charset="-122"/>
              </a:rPr>
              <a:t> </a:t>
            </a:r>
          </a:p>
          <a:p>
            <a:pPr marL="287338" indent="-287338">
              <a:spcBef>
                <a:spcPts val="300"/>
              </a:spcBef>
              <a:buNone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endParaRPr lang="en-US" altLang="en-US" sz="2400" dirty="0"/>
          </a:p>
        </p:txBody>
      </p:sp>
      <p:graphicFrame>
        <p:nvGraphicFramePr>
          <p:cNvPr id="9219" name="Group 3">
            <a:extLst>
              <a:ext uri="{FF2B5EF4-FFF2-40B4-BE49-F238E27FC236}">
                <a16:creationId xmlns:a16="http://schemas.microsoft.com/office/drawing/2014/main" id="{8A6F1707-427B-4548-A3DC-7B098C056DB6}"/>
              </a:ext>
            </a:extLst>
          </p:cNvPr>
          <p:cNvGraphicFramePr>
            <a:graphicFrameLocks noGrp="1"/>
          </p:cNvGraphicFramePr>
          <p:nvPr/>
        </p:nvGraphicFramePr>
        <p:xfrm>
          <a:off x="1828800" y="4943060"/>
          <a:ext cx="8535988" cy="1905000"/>
        </p:xfrm>
        <a:graphic>
          <a:graphicData uri="http://schemas.openxmlformats.org/drawingml/2006/table">
            <a:tbl>
              <a:tblPr/>
              <a:tblGrid>
                <a:gridCol w="3248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9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>
                      <a:lvl1pPr>
                        <a:spcBef>
                          <a:spcPts val="3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1pPr>
                      <a:lvl2pPr>
                        <a:spcBef>
                          <a:spcPts val="30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2pPr>
                      <a:lvl3pPr>
                        <a:spcBef>
                          <a:spcPts val="2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81000"/>
                        </a:lnSpc>
                        <a:spcBef>
                          <a:spcPts val="250"/>
                        </a:spcBef>
                        <a:spcAft>
                          <a:spcPts val="40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rPr>
                        <a:t>Data sequence</a:t>
                      </a:r>
                    </a:p>
                  </a:txBody>
                  <a:tcPr marL="90000" marR="90000" marT="145459" marB="46800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3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1pPr>
                      <a:lvl2pPr>
                        <a:spcBef>
                          <a:spcPts val="30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2pPr>
                      <a:lvl3pPr>
                        <a:spcBef>
                          <a:spcPts val="2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81000"/>
                        </a:lnSpc>
                        <a:spcBef>
                          <a:spcPts val="250"/>
                        </a:spcBef>
                        <a:spcAft>
                          <a:spcPts val="40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rPr>
                        <a:t>Subsequence</a:t>
                      </a:r>
                    </a:p>
                  </a:txBody>
                  <a:tcPr marL="90000" marR="90000" marT="145459" marB="4680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3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1pPr>
                      <a:lvl2pPr>
                        <a:spcBef>
                          <a:spcPts val="30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2pPr>
                      <a:lvl3pPr>
                        <a:spcBef>
                          <a:spcPts val="2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81000"/>
                        </a:lnSpc>
                        <a:spcBef>
                          <a:spcPts val="250"/>
                        </a:spcBef>
                        <a:spcAft>
                          <a:spcPts val="40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rPr>
                        <a:t>Contain?</a:t>
                      </a:r>
                    </a:p>
                  </a:txBody>
                  <a:tcPr marL="90000" marR="90000" marT="145459" marB="4680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>
                      <a:lvl1pPr>
                        <a:spcBef>
                          <a:spcPts val="3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1pPr>
                      <a:lvl2pPr>
                        <a:spcBef>
                          <a:spcPts val="30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2pPr>
                      <a:lvl3pPr>
                        <a:spcBef>
                          <a:spcPts val="2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81000"/>
                        </a:lnSpc>
                        <a:spcBef>
                          <a:spcPts val="250"/>
                        </a:spcBef>
                        <a:spcAft>
                          <a:spcPts val="40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rPr>
                        <a:t>&lt; {2,4} {3,5,6} {8} &gt;</a:t>
                      </a:r>
                    </a:p>
                  </a:txBody>
                  <a:tcPr marL="90000" marR="90000" marT="145459" marB="46800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3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1pPr>
                      <a:lvl2pPr>
                        <a:spcBef>
                          <a:spcPts val="30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2pPr>
                      <a:lvl3pPr>
                        <a:spcBef>
                          <a:spcPts val="2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81000"/>
                        </a:lnSpc>
                        <a:spcBef>
                          <a:spcPts val="250"/>
                        </a:spcBef>
                        <a:spcAft>
                          <a:spcPts val="40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rPr>
                        <a:t>&lt; {2} {3,5} &gt;</a:t>
                      </a:r>
                    </a:p>
                  </a:txBody>
                  <a:tcPr marL="90000" marR="90000" marT="145459" marB="4680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3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1pPr>
                      <a:lvl2pPr>
                        <a:spcBef>
                          <a:spcPts val="30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2pPr>
                      <a:lvl3pPr>
                        <a:spcBef>
                          <a:spcPts val="2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81000"/>
                        </a:lnSpc>
                        <a:spcBef>
                          <a:spcPts val="250"/>
                        </a:spcBef>
                        <a:spcAft>
                          <a:spcPts val="40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rPr>
                        <a:t>Yes</a:t>
                      </a:r>
                    </a:p>
                  </a:txBody>
                  <a:tcPr marL="90000" marR="90000" marT="145459" marB="4680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>
                      <a:lvl1pPr>
                        <a:spcBef>
                          <a:spcPts val="3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1pPr>
                      <a:lvl2pPr>
                        <a:spcBef>
                          <a:spcPts val="30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2pPr>
                      <a:lvl3pPr>
                        <a:spcBef>
                          <a:spcPts val="2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81000"/>
                        </a:lnSpc>
                        <a:spcBef>
                          <a:spcPts val="250"/>
                        </a:spcBef>
                        <a:spcAft>
                          <a:spcPts val="40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rPr>
                        <a:t>&lt; {1,2} {3,4} &gt; </a:t>
                      </a:r>
                    </a:p>
                  </a:txBody>
                  <a:tcPr marL="90000" marR="90000" marT="145459" marB="46800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3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1pPr>
                      <a:lvl2pPr>
                        <a:spcBef>
                          <a:spcPts val="30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2pPr>
                      <a:lvl3pPr>
                        <a:spcBef>
                          <a:spcPts val="2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81000"/>
                        </a:lnSpc>
                        <a:spcBef>
                          <a:spcPts val="250"/>
                        </a:spcBef>
                        <a:spcAft>
                          <a:spcPts val="40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rPr>
                        <a:t>&lt; {1} {2} &gt;</a:t>
                      </a:r>
                    </a:p>
                  </a:txBody>
                  <a:tcPr marL="90000" marR="90000" marT="145459" marB="4680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3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1pPr>
                      <a:lvl2pPr>
                        <a:spcBef>
                          <a:spcPts val="30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2pPr>
                      <a:lvl3pPr>
                        <a:spcBef>
                          <a:spcPts val="2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81000"/>
                        </a:lnSpc>
                        <a:spcBef>
                          <a:spcPts val="250"/>
                        </a:spcBef>
                        <a:spcAft>
                          <a:spcPts val="40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rPr>
                        <a:t>No</a:t>
                      </a:r>
                    </a:p>
                  </a:txBody>
                  <a:tcPr marL="90000" marR="90000" marT="145459" marB="4680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>
                      <a:lvl1pPr>
                        <a:spcBef>
                          <a:spcPts val="3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1pPr>
                      <a:lvl2pPr>
                        <a:spcBef>
                          <a:spcPts val="30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2pPr>
                      <a:lvl3pPr>
                        <a:spcBef>
                          <a:spcPts val="2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81000"/>
                        </a:lnSpc>
                        <a:spcBef>
                          <a:spcPts val="250"/>
                        </a:spcBef>
                        <a:spcAft>
                          <a:spcPts val="40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rPr>
                        <a:t>&lt; {2,4} {2,4} {2,5} &gt;</a:t>
                      </a:r>
                    </a:p>
                  </a:txBody>
                  <a:tcPr marL="90000" marR="90000" marT="145459" marB="46800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3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1pPr>
                      <a:lvl2pPr>
                        <a:spcBef>
                          <a:spcPts val="30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2pPr>
                      <a:lvl3pPr>
                        <a:spcBef>
                          <a:spcPts val="2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81000"/>
                        </a:lnSpc>
                        <a:spcBef>
                          <a:spcPts val="250"/>
                        </a:spcBef>
                        <a:spcAft>
                          <a:spcPts val="40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rPr>
                        <a:t>&lt; {2} {4} &gt;</a:t>
                      </a:r>
                    </a:p>
                  </a:txBody>
                  <a:tcPr marL="90000" marR="90000" marT="145459" marB="4680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3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1pPr>
                      <a:lvl2pPr>
                        <a:spcBef>
                          <a:spcPts val="30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2pPr>
                      <a:lvl3pPr>
                        <a:spcBef>
                          <a:spcPts val="2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81000"/>
                        </a:lnSpc>
                        <a:spcBef>
                          <a:spcPts val="250"/>
                        </a:spcBef>
                        <a:spcAft>
                          <a:spcPts val="40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rPr>
                        <a:t>Yes</a:t>
                      </a:r>
                    </a:p>
                  </a:txBody>
                  <a:tcPr marL="90000" marR="90000" marT="145459" marB="4680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CEF1381F-9F95-0748-A736-CB81D0E7EF02}"/>
              </a:ext>
            </a:extLst>
          </p:cNvPr>
          <p:cNvSpPr/>
          <p:nvPr/>
        </p:nvSpPr>
        <p:spPr bwMode="auto">
          <a:xfrm>
            <a:off x="2362200" y="2563399"/>
            <a:ext cx="1219200" cy="56832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{A}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BF0E840-94A4-EB41-8FBE-463C253CFDC8}"/>
              </a:ext>
            </a:extLst>
          </p:cNvPr>
          <p:cNvSpPr/>
          <p:nvPr/>
        </p:nvSpPr>
        <p:spPr bwMode="auto">
          <a:xfrm>
            <a:off x="3810000" y="2563399"/>
            <a:ext cx="1295400" cy="56832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{B,C}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91E7136-8C13-6443-A270-844A3A9589D7}"/>
              </a:ext>
            </a:extLst>
          </p:cNvPr>
          <p:cNvSpPr/>
          <p:nvPr/>
        </p:nvSpPr>
        <p:spPr bwMode="auto">
          <a:xfrm>
            <a:off x="5410200" y="2563399"/>
            <a:ext cx="1295400" cy="56832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{D}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C2DB594-521C-7F4B-8345-A77F3B1DA6C4}"/>
              </a:ext>
            </a:extLst>
          </p:cNvPr>
          <p:cNvSpPr/>
          <p:nvPr/>
        </p:nvSpPr>
        <p:spPr bwMode="auto">
          <a:xfrm>
            <a:off x="1554163" y="3706399"/>
            <a:ext cx="1219200" cy="56832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{D}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C18C6DA-1429-9448-9457-B10C1ED17629}"/>
              </a:ext>
            </a:extLst>
          </p:cNvPr>
          <p:cNvSpPr/>
          <p:nvPr/>
        </p:nvSpPr>
        <p:spPr bwMode="auto">
          <a:xfrm>
            <a:off x="3027363" y="3706399"/>
            <a:ext cx="1295400" cy="56832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{A,C}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ECA3176-20AD-C54F-BF9A-9B4CA7B048F5}"/>
              </a:ext>
            </a:extLst>
          </p:cNvPr>
          <p:cNvSpPr/>
          <p:nvPr/>
        </p:nvSpPr>
        <p:spPr bwMode="auto">
          <a:xfrm>
            <a:off x="4575176" y="3723860"/>
            <a:ext cx="1362075" cy="566738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{A,B,C}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B4FCEEB-1BBF-3941-9671-950B8401420F}"/>
              </a:ext>
            </a:extLst>
          </p:cNvPr>
          <p:cNvSpPr/>
          <p:nvPr/>
        </p:nvSpPr>
        <p:spPr bwMode="auto">
          <a:xfrm>
            <a:off x="6122988" y="3706399"/>
            <a:ext cx="1219200" cy="56832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{F}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20832B28-A1C4-3E4A-94A8-02FC26791289}"/>
              </a:ext>
            </a:extLst>
          </p:cNvPr>
          <p:cNvSpPr/>
          <p:nvPr/>
        </p:nvSpPr>
        <p:spPr bwMode="auto">
          <a:xfrm>
            <a:off x="7596188" y="3706399"/>
            <a:ext cx="1295400" cy="56832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{B,E}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188ABEC-CFA3-F246-A290-C062D768AB4B}"/>
              </a:ext>
            </a:extLst>
          </p:cNvPr>
          <p:cNvSpPr/>
          <p:nvPr/>
        </p:nvSpPr>
        <p:spPr bwMode="auto">
          <a:xfrm>
            <a:off x="9144000" y="3706399"/>
            <a:ext cx="1295400" cy="56832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{D}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5B253F8-571C-7E4B-B10B-6F1576FC219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24200" y="3131724"/>
            <a:ext cx="304800" cy="51593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8FC3951-BD1D-9242-A955-860A4E45DA3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702176" y="3131724"/>
            <a:ext cx="327025" cy="5746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BBAC75B-19C6-9A47-801C-F89C949DDFAD}"/>
              </a:ext>
            </a:extLst>
          </p:cNvPr>
          <p:cNvCxnSpPr>
            <a:cxnSpLocks noChangeShapeType="1"/>
            <a:stCxn id="50" idx="5"/>
            <a:endCxn id="56" idx="1"/>
          </p:cNvCxnSpPr>
          <p:nvPr/>
        </p:nvCxnSpPr>
        <p:spPr bwMode="auto">
          <a:xfrm>
            <a:off x="6515100" y="3047585"/>
            <a:ext cx="2819400" cy="7429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19D36FE6-C649-DC4F-A5B9-6F2B04626BE9}"/>
              </a:ext>
            </a:extLst>
          </p:cNvPr>
          <p:cNvSpPr/>
          <p:nvPr/>
        </p:nvSpPr>
        <p:spPr bwMode="auto">
          <a:xfrm>
            <a:off x="2743200" y="2674524"/>
            <a:ext cx="457200" cy="396875"/>
          </a:xfrm>
          <a:prstGeom prst="ellipse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741FA313-01BE-1D47-A966-C05FDFE1D15C}"/>
              </a:ext>
            </a:extLst>
          </p:cNvPr>
          <p:cNvSpPr/>
          <p:nvPr/>
        </p:nvSpPr>
        <p:spPr bwMode="auto">
          <a:xfrm>
            <a:off x="3287713" y="3817524"/>
            <a:ext cx="457200" cy="396875"/>
          </a:xfrm>
          <a:prstGeom prst="ellipse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2934258-702B-FE40-8B38-74562A76BE29}"/>
              </a:ext>
            </a:extLst>
          </p:cNvPr>
          <p:cNvSpPr/>
          <p:nvPr/>
        </p:nvSpPr>
        <p:spPr bwMode="auto">
          <a:xfrm>
            <a:off x="4033838" y="2650711"/>
            <a:ext cx="766762" cy="396875"/>
          </a:xfrm>
          <a:prstGeom prst="ellipse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C7D0BB1-D63B-CD46-BE96-A8A7A528EB63}"/>
              </a:ext>
            </a:extLst>
          </p:cNvPr>
          <p:cNvSpPr/>
          <p:nvPr/>
        </p:nvSpPr>
        <p:spPr bwMode="auto">
          <a:xfrm>
            <a:off x="5105400" y="3800061"/>
            <a:ext cx="577850" cy="398463"/>
          </a:xfrm>
          <a:prstGeom prst="ellipse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0F82B743-2E53-1542-B997-436F735C58B3}"/>
              </a:ext>
            </a:extLst>
          </p:cNvPr>
          <p:cNvSpPr/>
          <p:nvPr/>
        </p:nvSpPr>
        <p:spPr bwMode="auto">
          <a:xfrm>
            <a:off x="5829300" y="2641186"/>
            <a:ext cx="457200" cy="396875"/>
          </a:xfrm>
          <a:prstGeom prst="ellipse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F378A86-9D5C-F24E-A90B-CCB675DDA38E}"/>
              </a:ext>
            </a:extLst>
          </p:cNvPr>
          <p:cNvSpPr/>
          <p:nvPr/>
        </p:nvSpPr>
        <p:spPr bwMode="auto">
          <a:xfrm>
            <a:off x="9551988" y="3782599"/>
            <a:ext cx="457200" cy="396875"/>
          </a:xfrm>
          <a:prstGeom prst="ellipse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23596" name="Straight Arrow Connector 13">
            <a:extLst>
              <a:ext uri="{FF2B5EF4-FFF2-40B4-BE49-F238E27FC236}">
                <a16:creationId xmlns:a16="http://schemas.microsoft.com/office/drawing/2014/main" id="{6474A116-24E1-824F-8F43-5DDA7E47954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00200" y="4485860"/>
            <a:ext cx="89916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97" name="Straight Connector 15">
            <a:extLst>
              <a:ext uri="{FF2B5EF4-FFF2-40B4-BE49-F238E27FC236}">
                <a16:creationId xmlns:a16="http://schemas.microsoft.com/office/drawing/2014/main" id="{82841223-044E-724F-B472-AD495E2C492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163763" y="4409660"/>
            <a:ext cx="0" cy="1524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98" name="Straight Connector 75">
            <a:extLst>
              <a:ext uri="{FF2B5EF4-FFF2-40B4-BE49-F238E27FC236}">
                <a16:creationId xmlns:a16="http://schemas.microsoft.com/office/drawing/2014/main" id="{0BE6F224-AB3A-0E4E-8B4F-90FC225DB7B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75063" y="4409660"/>
            <a:ext cx="0" cy="1524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99" name="Straight Connector 76">
            <a:extLst>
              <a:ext uri="{FF2B5EF4-FFF2-40B4-BE49-F238E27FC236}">
                <a16:creationId xmlns:a16="http://schemas.microsoft.com/office/drawing/2014/main" id="{06E7B6ED-F270-9F4A-BD6E-403094FA5E2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256213" y="4392198"/>
            <a:ext cx="0" cy="1524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600" name="Straight Connector 77">
            <a:extLst>
              <a:ext uri="{FF2B5EF4-FFF2-40B4-BE49-F238E27FC236}">
                <a16:creationId xmlns:a16="http://schemas.microsoft.com/office/drawing/2014/main" id="{DFB578F7-BCB5-3246-BA58-6981514BFB2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32588" y="4409660"/>
            <a:ext cx="0" cy="1524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601" name="Straight Connector 78">
            <a:extLst>
              <a:ext uri="{FF2B5EF4-FFF2-40B4-BE49-F238E27FC236}">
                <a16:creationId xmlns:a16="http://schemas.microsoft.com/office/drawing/2014/main" id="{969446ED-DAD7-6A42-957E-7E170643DC7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243888" y="4409660"/>
            <a:ext cx="0" cy="1524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602" name="Straight Connector 79">
            <a:extLst>
              <a:ext uri="{FF2B5EF4-FFF2-40B4-BE49-F238E27FC236}">
                <a16:creationId xmlns:a16="http://schemas.microsoft.com/office/drawing/2014/main" id="{96331616-F387-3848-81A4-036EC7759E3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9825038" y="4392198"/>
            <a:ext cx="0" cy="1524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6EB224A0-2F2C-8345-8D06-5C386448FE59}"/>
              </a:ext>
            </a:extLst>
          </p:cNvPr>
          <p:cNvSpPr/>
          <p:nvPr/>
        </p:nvSpPr>
        <p:spPr>
          <a:xfrm>
            <a:off x="3546475" y="4528724"/>
            <a:ext cx="298450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160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AECEB70-243B-6F4A-91EF-08437715A568}"/>
              </a:ext>
            </a:extLst>
          </p:cNvPr>
          <p:cNvSpPr/>
          <p:nvPr/>
        </p:nvSpPr>
        <p:spPr>
          <a:xfrm>
            <a:off x="5080000" y="4528724"/>
            <a:ext cx="298450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160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6E56678-D9BF-2D40-AB1A-63179DD07CA7}"/>
              </a:ext>
            </a:extLst>
          </p:cNvPr>
          <p:cNvSpPr/>
          <p:nvPr/>
        </p:nvSpPr>
        <p:spPr>
          <a:xfrm>
            <a:off x="6611938" y="4528724"/>
            <a:ext cx="298450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160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351F72B-AA75-A342-9A1C-0B8B6298B578}"/>
              </a:ext>
            </a:extLst>
          </p:cNvPr>
          <p:cNvSpPr/>
          <p:nvPr/>
        </p:nvSpPr>
        <p:spPr>
          <a:xfrm>
            <a:off x="8143875" y="4528724"/>
            <a:ext cx="298450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US" sz="1600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E5F9087-B0CA-AE49-A96C-B4916B4ED550}"/>
              </a:ext>
            </a:extLst>
          </p:cNvPr>
          <p:cNvSpPr/>
          <p:nvPr/>
        </p:nvSpPr>
        <p:spPr>
          <a:xfrm>
            <a:off x="9675813" y="4528724"/>
            <a:ext cx="298450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1600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7C12494-0961-3A4E-8C83-4D0644736FA3}"/>
              </a:ext>
            </a:extLst>
          </p:cNvPr>
          <p:cNvSpPr/>
          <p:nvPr/>
        </p:nvSpPr>
        <p:spPr>
          <a:xfrm>
            <a:off x="2014538" y="4528724"/>
            <a:ext cx="298450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1600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9A7935B-4934-2847-BA3B-61CE0FEFF8D3}"/>
              </a:ext>
            </a:extLst>
          </p:cNvPr>
          <p:cNvSpPr/>
          <p:nvPr/>
        </p:nvSpPr>
        <p:spPr>
          <a:xfrm>
            <a:off x="3255964" y="3228560"/>
            <a:ext cx="6142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1</a:t>
            </a:r>
            <a:endParaRPr lang="en-US" sz="1600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7330E8D-88CE-AB4D-93A5-CEA259C1FC05}"/>
              </a:ext>
            </a:extLst>
          </p:cNvPr>
          <p:cNvSpPr/>
          <p:nvPr/>
        </p:nvSpPr>
        <p:spPr>
          <a:xfrm>
            <a:off x="4881564" y="3171410"/>
            <a:ext cx="6142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2</a:t>
            </a:r>
            <a:endParaRPr lang="en-US" sz="1600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6222062-9478-FF43-BBFE-8F14CB819E45}"/>
              </a:ext>
            </a:extLst>
          </p:cNvPr>
          <p:cNvSpPr/>
          <p:nvPr/>
        </p:nvSpPr>
        <p:spPr>
          <a:xfrm>
            <a:off x="6629401" y="3171410"/>
            <a:ext cx="6142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5</a:t>
            </a:r>
            <a:endParaRPr lang="en-US" sz="1600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0DB8E836-EF9C-7449-8902-43BD3ADFA6AF}"/>
              </a:ext>
            </a:extLst>
          </p:cNvPr>
          <p:cNvSpPr/>
          <p:nvPr/>
        </p:nvSpPr>
        <p:spPr>
          <a:xfrm>
            <a:off x="8892692" y="5533610"/>
            <a:ext cx="887896" cy="3063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Rettangolo 39">
            <a:extLst>
              <a:ext uri="{FF2B5EF4-FFF2-40B4-BE49-F238E27FC236}">
                <a16:creationId xmlns:a16="http://schemas.microsoft.com/office/drawing/2014/main" id="{33D0829B-24A5-044D-817D-E9880B6ABD06}"/>
              </a:ext>
            </a:extLst>
          </p:cNvPr>
          <p:cNvSpPr/>
          <p:nvPr/>
        </p:nvSpPr>
        <p:spPr>
          <a:xfrm>
            <a:off x="8903804" y="5941460"/>
            <a:ext cx="887896" cy="3063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96729D81-DBFA-4A48-920D-3BD422EA662F}"/>
              </a:ext>
            </a:extLst>
          </p:cNvPr>
          <p:cNvSpPr/>
          <p:nvPr/>
        </p:nvSpPr>
        <p:spPr>
          <a:xfrm>
            <a:off x="8928515" y="6450770"/>
            <a:ext cx="887896" cy="3063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884892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87" grpId="0"/>
      <p:bldP spid="88" grpId="0"/>
      <p:bldP spid="89" grpId="0"/>
      <p:bldP spid="3" grpId="0" animBg="1"/>
      <p:bldP spid="40" grpId="0" animBg="1"/>
      <p:bldP spid="41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>
            <a:extLst>
              <a:ext uri="{FF2B5EF4-FFF2-40B4-BE49-F238E27FC236}">
                <a16:creationId xmlns:a16="http://schemas.microsoft.com/office/drawing/2014/main" id="{53ABD87C-56E3-C543-BE3F-9EC7C7B691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dirty="0">
                <a:ea typeface="PMingLiU" panose="02020500000000000000" pitchFamily="18" charset="-120"/>
              </a:rPr>
              <a:t>Formal Definition of Sequential Pattern</a:t>
            </a: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5F8FB4AB-BAE7-F142-A679-B95F2355FB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300"/>
              </a:spcBef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r>
              <a:rPr lang="en-US" altLang="en-US" sz="2000" dirty="0"/>
              <a:t>The </a:t>
            </a:r>
            <a:r>
              <a:rPr lang="en-US" altLang="en-US" sz="2000" b="1" dirty="0"/>
              <a:t>support</a:t>
            </a:r>
            <a:r>
              <a:rPr lang="en-US" altLang="en-US" sz="2000" dirty="0"/>
              <a:t> of a subsequence  </a:t>
            </a:r>
            <a:r>
              <a:rPr lang="en-US" altLang="en-US" sz="2000" i="1" dirty="0"/>
              <a:t>w</a:t>
            </a:r>
            <a:r>
              <a:rPr lang="en-US" altLang="en-US" sz="2000" dirty="0"/>
              <a:t>  </a:t>
            </a:r>
            <a:r>
              <a:rPr lang="en-US" altLang="en-US" sz="1800" dirty="0"/>
              <a:t>is the fraction of data sequences that contain w</a:t>
            </a:r>
          </a:p>
          <a:p>
            <a:pPr marL="287338" indent="-287338">
              <a:buClr>
                <a:srgbClr val="0C7B9C"/>
              </a:buClr>
              <a:buSzPct val="75000"/>
              <a:buFont typeface="Monotype Sorts" pitchFamily="2" charset="2"/>
              <a:buChar char="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endParaRPr lang="en-US" altLang="en-US" sz="2400" dirty="0"/>
          </a:p>
          <a:p>
            <a:pPr marL="287338" indent="-287338">
              <a:buClr>
                <a:srgbClr val="0C7B9C"/>
              </a:buClr>
              <a:buSzPct val="75000"/>
              <a:buFont typeface="Monotype Sorts" pitchFamily="2" charset="2"/>
              <a:buChar char="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endParaRPr lang="en-US" altLang="en-US" sz="2400" dirty="0"/>
          </a:p>
          <a:p>
            <a:pPr marL="287338" indent="-287338">
              <a:buClr>
                <a:srgbClr val="0C7B9C"/>
              </a:buClr>
              <a:buSzPct val="75000"/>
              <a:buFont typeface="Monotype Sorts" pitchFamily="2" charset="2"/>
              <a:buChar char="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endParaRPr lang="en-US" altLang="en-US" sz="2400" dirty="0"/>
          </a:p>
          <a:p>
            <a:pPr marL="287338" indent="-287338">
              <a:buClr>
                <a:srgbClr val="0C7B9C"/>
              </a:buClr>
              <a:buSzPct val="75000"/>
              <a:buFont typeface="Monotype Sorts" pitchFamily="2" charset="2"/>
              <a:buChar char="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endParaRPr lang="en-US" altLang="en-US" sz="24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45F6C91-BE18-3145-AC9D-EEB95E7476AB}"/>
              </a:ext>
            </a:extLst>
          </p:cNvPr>
          <p:cNvSpPr/>
          <p:nvPr/>
        </p:nvSpPr>
        <p:spPr bwMode="auto">
          <a:xfrm>
            <a:off x="1604963" y="4745795"/>
            <a:ext cx="1219200" cy="42545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{D}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AD03A98-17D7-5342-B746-EA31F6E7E95A}"/>
              </a:ext>
            </a:extLst>
          </p:cNvPr>
          <p:cNvSpPr/>
          <p:nvPr/>
        </p:nvSpPr>
        <p:spPr bwMode="auto">
          <a:xfrm>
            <a:off x="3076575" y="4745795"/>
            <a:ext cx="1295400" cy="42545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{B,C}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602C40A-58E3-6B44-8B85-A9243C5EC479}"/>
              </a:ext>
            </a:extLst>
          </p:cNvPr>
          <p:cNvSpPr/>
          <p:nvPr/>
        </p:nvSpPr>
        <p:spPr bwMode="auto">
          <a:xfrm>
            <a:off x="6173788" y="4745795"/>
            <a:ext cx="1219200" cy="42545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{F}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6C37796-F0C1-8041-9255-47046C85365B}"/>
              </a:ext>
            </a:extLst>
          </p:cNvPr>
          <p:cNvSpPr/>
          <p:nvPr/>
        </p:nvSpPr>
        <p:spPr bwMode="auto">
          <a:xfrm>
            <a:off x="4611688" y="4780720"/>
            <a:ext cx="1295400" cy="427038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{D}</a:t>
            </a:r>
          </a:p>
        </p:txBody>
      </p:sp>
      <p:cxnSp>
        <p:nvCxnSpPr>
          <p:cNvPr id="25608" name="Straight Arrow Connector 13">
            <a:extLst>
              <a:ext uri="{FF2B5EF4-FFF2-40B4-BE49-F238E27FC236}">
                <a16:creationId xmlns:a16="http://schemas.microsoft.com/office/drawing/2014/main" id="{666409B0-CEC0-BC47-895E-4AA2B4110BE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51000" y="5355395"/>
            <a:ext cx="89916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09" name="Straight Connector 14">
            <a:extLst>
              <a:ext uri="{FF2B5EF4-FFF2-40B4-BE49-F238E27FC236}">
                <a16:creationId xmlns:a16="http://schemas.microsoft.com/office/drawing/2014/main" id="{0B4FABF0-C4DA-8C4F-B80B-53E8853B27A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214563" y="5279195"/>
            <a:ext cx="0" cy="1524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10" name="Straight Connector 15">
            <a:extLst>
              <a:ext uri="{FF2B5EF4-FFF2-40B4-BE49-F238E27FC236}">
                <a16:creationId xmlns:a16="http://schemas.microsoft.com/office/drawing/2014/main" id="{09687A99-448E-4C4C-B5D2-9A379088851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724275" y="5279195"/>
            <a:ext cx="0" cy="1524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11" name="Straight Connector 16">
            <a:extLst>
              <a:ext uri="{FF2B5EF4-FFF2-40B4-BE49-F238E27FC236}">
                <a16:creationId xmlns:a16="http://schemas.microsoft.com/office/drawing/2014/main" id="{2DD73638-CD06-7148-BF1A-CBC52D3F50E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307013" y="5261733"/>
            <a:ext cx="0" cy="1524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12" name="Straight Connector 17">
            <a:extLst>
              <a:ext uri="{FF2B5EF4-FFF2-40B4-BE49-F238E27FC236}">
                <a16:creationId xmlns:a16="http://schemas.microsoft.com/office/drawing/2014/main" id="{101ECD7F-A953-0F40-85AC-D69D0710039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83388" y="5279195"/>
            <a:ext cx="0" cy="1524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13" name="Straight Connector 18">
            <a:extLst>
              <a:ext uri="{FF2B5EF4-FFF2-40B4-BE49-F238E27FC236}">
                <a16:creationId xmlns:a16="http://schemas.microsoft.com/office/drawing/2014/main" id="{8965DBC0-1E4F-9A40-8914-BA2A71F40C4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293100" y="5279195"/>
            <a:ext cx="0" cy="1524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14" name="Straight Connector 19">
            <a:extLst>
              <a:ext uri="{FF2B5EF4-FFF2-40B4-BE49-F238E27FC236}">
                <a16:creationId xmlns:a16="http://schemas.microsoft.com/office/drawing/2014/main" id="{50F6EE9C-DE3A-4246-B71F-82045502B67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9875838" y="5261733"/>
            <a:ext cx="0" cy="1524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51221186-6C34-2644-BC65-AB4886A72A2B}"/>
              </a:ext>
            </a:extLst>
          </p:cNvPr>
          <p:cNvSpPr/>
          <p:nvPr/>
        </p:nvSpPr>
        <p:spPr>
          <a:xfrm>
            <a:off x="3597275" y="5398259"/>
            <a:ext cx="298450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16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BC66E5-63AC-AE4B-83BE-F7790FAA7D42}"/>
              </a:ext>
            </a:extLst>
          </p:cNvPr>
          <p:cNvSpPr/>
          <p:nvPr/>
        </p:nvSpPr>
        <p:spPr>
          <a:xfrm>
            <a:off x="5129213" y="5398259"/>
            <a:ext cx="298450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16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6E114F-FBA8-0841-86FE-A2D1BE90357C}"/>
              </a:ext>
            </a:extLst>
          </p:cNvPr>
          <p:cNvSpPr/>
          <p:nvPr/>
        </p:nvSpPr>
        <p:spPr>
          <a:xfrm>
            <a:off x="6661150" y="5398259"/>
            <a:ext cx="298450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16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609ADD-FD28-064D-AD4C-8BC4A3CA1C87}"/>
              </a:ext>
            </a:extLst>
          </p:cNvPr>
          <p:cNvSpPr/>
          <p:nvPr/>
        </p:nvSpPr>
        <p:spPr>
          <a:xfrm>
            <a:off x="8194675" y="5398259"/>
            <a:ext cx="298450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US" sz="16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59D49E0-D6DC-9A47-96C7-1B3B0A81F3F7}"/>
              </a:ext>
            </a:extLst>
          </p:cNvPr>
          <p:cNvSpPr/>
          <p:nvPr/>
        </p:nvSpPr>
        <p:spPr>
          <a:xfrm>
            <a:off x="9726613" y="5398259"/>
            <a:ext cx="298450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16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E9EFAF-DE0A-0C4E-BEA0-0764AE97422C}"/>
              </a:ext>
            </a:extLst>
          </p:cNvPr>
          <p:cNvSpPr/>
          <p:nvPr/>
        </p:nvSpPr>
        <p:spPr>
          <a:xfrm>
            <a:off x="2065338" y="5398259"/>
            <a:ext cx="298450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160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57989C-8361-6544-8F2A-A9B11E2D5509}"/>
              </a:ext>
            </a:extLst>
          </p:cNvPr>
          <p:cNvSpPr/>
          <p:nvPr/>
        </p:nvSpPr>
        <p:spPr bwMode="auto">
          <a:xfrm>
            <a:off x="1593850" y="4171120"/>
            <a:ext cx="1219200" cy="42545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{D}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1C1EC4B-943B-4A4D-A07A-EA9B65C05B6B}"/>
              </a:ext>
            </a:extLst>
          </p:cNvPr>
          <p:cNvSpPr/>
          <p:nvPr/>
        </p:nvSpPr>
        <p:spPr bwMode="auto">
          <a:xfrm>
            <a:off x="3067050" y="4171120"/>
            <a:ext cx="1295400" cy="42545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{A,C}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780B2CB-9BD8-0A41-9A2C-FA6DFBEB368A}"/>
              </a:ext>
            </a:extLst>
          </p:cNvPr>
          <p:cNvSpPr/>
          <p:nvPr/>
        </p:nvSpPr>
        <p:spPr bwMode="auto">
          <a:xfrm>
            <a:off x="4614864" y="4188583"/>
            <a:ext cx="1362075" cy="42545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{B,C}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E1CC93E-3A3D-F943-ADF6-08CC28D32EDB}"/>
              </a:ext>
            </a:extLst>
          </p:cNvPr>
          <p:cNvSpPr/>
          <p:nvPr/>
        </p:nvSpPr>
        <p:spPr bwMode="auto">
          <a:xfrm>
            <a:off x="7635875" y="4171120"/>
            <a:ext cx="1295400" cy="42545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{B,E}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077EE6B-6452-A144-B32F-1D5940723D49}"/>
              </a:ext>
            </a:extLst>
          </p:cNvPr>
          <p:cNvSpPr/>
          <p:nvPr/>
        </p:nvSpPr>
        <p:spPr bwMode="auto">
          <a:xfrm>
            <a:off x="6127750" y="4188583"/>
            <a:ext cx="1295400" cy="42545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{D}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9CC5702-9FEF-8E46-B8E3-280E626943C8}"/>
              </a:ext>
            </a:extLst>
          </p:cNvPr>
          <p:cNvSpPr/>
          <p:nvPr/>
        </p:nvSpPr>
        <p:spPr bwMode="auto">
          <a:xfrm>
            <a:off x="3327400" y="4260020"/>
            <a:ext cx="457200" cy="298450"/>
          </a:xfrm>
          <a:prstGeom prst="ellipse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A917981-D127-9540-86BF-F380B3B6CE83}"/>
              </a:ext>
            </a:extLst>
          </p:cNvPr>
          <p:cNvSpPr/>
          <p:nvPr/>
        </p:nvSpPr>
        <p:spPr bwMode="auto">
          <a:xfrm>
            <a:off x="4881563" y="4287008"/>
            <a:ext cx="768350" cy="298450"/>
          </a:xfrm>
          <a:prstGeom prst="ellipse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43007CD-9DA7-EC44-9A14-8419B31B2027}"/>
              </a:ext>
            </a:extLst>
          </p:cNvPr>
          <p:cNvSpPr/>
          <p:nvPr/>
        </p:nvSpPr>
        <p:spPr bwMode="auto">
          <a:xfrm>
            <a:off x="6535738" y="4304470"/>
            <a:ext cx="457200" cy="298450"/>
          </a:xfrm>
          <a:prstGeom prst="ellipse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CF7EE98-C7A5-AC46-9A7A-CAC6DAF687C8}"/>
              </a:ext>
            </a:extLst>
          </p:cNvPr>
          <p:cNvSpPr/>
          <p:nvPr/>
        </p:nvSpPr>
        <p:spPr bwMode="auto">
          <a:xfrm>
            <a:off x="1592263" y="3582158"/>
            <a:ext cx="1219200" cy="42545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{D}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FEC0731-81E0-8149-9909-7B3B40056474}"/>
              </a:ext>
            </a:extLst>
          </p:cNvPr>
          <p:cNvSpPr/>
          <p:nvPr/>
        </p:nvSpPr>
        <p:spPr bwMode="auto">
          <a:xfrm>
            <a:off x="3063875" y="3582158"/>
            <a:ext cx="1295400" cy="42545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{A}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68146F7-EAD0-1A45-B38D-A2BC64DC0F04}"/>
              </a:ext>
            </a:extLst>
          </p:cNvPr>
          <p:cNvSpPr/>
          <p:nvPr/>
        </p:nvSpPr>
        <p:spPr bwMode="auto">
          <a:xfrm>
            <a:off x="4611688" y="3599620"/>
            <a:ext cx="1363662" cy="42545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{A,B,D}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534AACE-1D11-1240-A2DF-67CE77B9D9EA}"/>
              </a:ext>
            </a:extLst>
          </p:cNvPr>
          <p:cNvSpPr/>
          <p:nvPr/>
        </p:nvSpPr>
        <p:spPr bwMode="auto">
          <a:xfrm>
            <a:off x="6161088" y="3582158"/>
            <a:ext cx="1219200" cy="42545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{D}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4349A0A-3AEA-0944-9B30-A12493544B38}"/>
              </a:ext>
            </a:extLst>
          </p:cNvPr>
          <p:cNvSpPr/>
          <p:nvPr/>
        </p:nvSpPr>
        <p:spPr bwMode="auto">
          <a:xfrm>
            <a:off x="1560513" y="3021770"/>
            <a:ext cx="1219200" cy="42545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{D}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6269D18-6E5A-7E45-B4DD-54F94BEDE923}"/>
              </a:ext>
            </a:extLst>
          </p:cNvPr>
          <p:cNvSpPr/>
          <p:nvPr/>
        </p:nvSpPr>
        <p:spPr bwMode="auto">
          <a:xfrm>
            <a:off x="3033713" y="3021770"/>
            <a:ext cx="1295400" cy="42545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{A,C}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CD8D3E7-DB71-0A41-B0B8-FFFF1E986E4D}"/>
              </a:ext>
            </a:extLst>
          </p:cNvPr>
          <p:cNvSpPr/>
          <p:nvPr/>
        </p:nvSpPr>
        <p:spPr bwMode="auto">
          <a:xfrm>
            <a:off x="4581526" y="3039233"/>
            <a:ext cx="1362075" cy="42545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{A,B,C}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87994D4-D53A-1547-8807-2DD88B787DE4}"/>
              </a:ext>
            </a:extLst>
          </p:cNvPr>
          <p:cNvSpPr/>
          <p:nvPr/>
        </p:nvSpPr>
        <p:spPr bwMode="auto">
          <a:xfrm>
            <a:off x="6129338" y="3021770"/>
            <a:ext cx="1219200" cy="42545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{F}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9993220-548D-4E44-82D3-F90A5CB604AB}"/>
              </a:ext>
            </a:extLst>
          </p:cNvPr>
          <p:cNvSpPr/>
          <p:nvPr/>
        </p:nvSpPr>
        <p:spPr bwMode="auto">
          <a:xfrm>
            <a:off x="7439025" y="3031295"/>
            <a:ext cx="1295400" cy="42545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{D}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99A0989-EB58-9E42-AB3B-312B6D3A0499}"/>
              </a:ext>
            </a:extLst>
          </p:cNvPr>
          <p:cNvSpPr/>
          <p:nvPr/>
        </p:nvSpPr>
        <p:spPr bwMode="auto">
          <a:xfrm>
            <a:off x="3294063" y="3110670"/>
            <a:ext cx="457200" cy="298450"/>
          </a:xfrm>
          <a:prstGeom prst="ellipse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4AC6AC8-AD42-544C-B69A-9D36099E2397}"/>
              </a:ext>
            </a:extLst>
          </p:cNvPr>
          <p:cNvSpPr/>
          <p:nvPr/>
        </p:nvSpPr>
        <p:spPr bwMode="auto">
          <a:xfrm>
            <a:off x="4946650" y="3121783"/>
            <a:ext cx="768350" cy="298450"/>
          </a:xfrm>
          <a:prstGeom prst="ellipse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0BFE7CF-C5C7-4446-B611-819EF39411CD}"/>
              </a:ext>
            </a:extLst>
          </p:cNvPr>
          <p:cNvSpPr/>
          <p:nvPr/>
        </p:nvSpPr>
        <p:spPr bwMode="auto">
          <a:xfrm>
            <a:off x="7847013" y="3110670"/>
            <a:ext cx="457200" cy="298450"/>
          </a:xfrm>
          <a:prstGeom prst="ellipse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590C95FA-D0D3-0E47-8948-AD1185C64C04}"/>
              </a:ext>
            </a:extLst>
          </p:cNvPr>
          <p:cNvSpPr/>
          <p:nvPr/>
        </p:nvSpPr>
        <p:spPr bwMode="auto">
          <a:xfrm>
            <a:off x="5307013" y="2238405"/>
            <a:ext cx="915988" cy="3857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{A}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16016EB-5F40-2747-92DC-D449C9EAB449}"/>
              </a:ext>
            </a:extLst>
          </p:cNvPr>
          <p:cNvSpPr/>
          <p:nvPr/>
        </p:nvSpPr>
        <p:spPr bwMode="auto">
          <a:xfrm>
            <a:off x="6327777" y="2227292"/>
            <a:ext cx="973137" cy="38735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{B,C}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D951CCA-3DD0-FC4A-8F86-411952BBAB50}"/>
              </a:ext>
            </a:extLst>
          </p:cNvPr>
          <p:cNvSpPr/>
          <p:nvPr/>
        </p:nvSpPr>
        <p:spPr bwMode="auto">
          <a:xfrm>
            <a:off x="7366002" y="2225704"/>
            <a:ext cx="973137" cy="38735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{D}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FA6EDC-E7E7-1A4D-8B57-A32E0C9937CB}"/>
              </a:ext>
            </a:extLst>
          </p:cNvPr>
          <p:cNvSpPr/>
          <p:nvPr/>
        </p:nvSpPr>
        <p:spPr>
          <a:xfrm>
            <a:off x="3338513" y="2233642"/>
            <a:ext cx="17496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altLang="en-US" dirty="0"/>
              <a:t>subsequence  w:</a:t>
            </a:r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35D4DA1-CD41-B042-B4D2-874DE4176D3B}"/>
              </a:ext>
            </a:extLst>
          </p:cNvPr>
          <p:cNvSpPr/>
          <p:nvPr/>
        </p:nvSpPr>
        <p:spPr>
          <a:xfrm>
            <a:off x="1592263" y="2472495"/>
            <a:ext cx="1789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altLang="en-US" dirty="0"/>
              <a:t>Input sequences: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FC1671-1ED5-6843-A0D6-540272F74E5E}"/>
              </a:ext>
            </a:extLst>
          </p:cNvPr>
          <p:cNvSpPr txBox="1"/>
          <p:nvPr/>
        </p:nvSpPr>
        <p:spPr>
          <a:xfrm>
            <a:off x="9491664" y="3021770"/>
            <a:ext cx="598487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b="1" dirty="0">
                <a:solidFill>
                  <a:srgbClr val="00B050"/>
                </a:solidFill>
              </a:rPr>
              <a:t>V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44DAC1D-86E1-0D49-8CAF-EDDD4A31FB54}"/>
              </a:ext>
            </a:extLst>
          </p:cNvPr>
          <p:cNvSpPr txBox="1"/>
          <p:nvPr/>
        </p:nvSpPr>
        <p:spPr>
          <a:xfrm>
            <a:off x="9486900" y="4196520"/>
            <a:ext cx="598488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b="1" dirty="0">
                <a:solidFill>
                  <a:srgbClr val="00B050"/>
                </a:solidFill>
              </a:rPr>
              <a:t>V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0DF1C75-D316-7146-B6E9-B691F2B823AB}"/>
              </a:ext>
            </a:extLst>
          </p:cNvPr>
          <p:cNvSpPr txBox="1"/>
          <p:nvPr/>
        </p:nvSpPr>
        <p:spPr>
          <a:xfrm>
            <a:off x="9486900" y="4729920"/>
            <a:ext cx="598488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96BAEA1-1895-804F-A8E4-8EB8CA990E55}"/>
              </a:ext>
            </a:extLst>
          </p:cNvPr>
          <p:cNvSpPr txBox="1"/>
          <p:nvPr/>
        </p:nvSpPr>
        <p:spPr>
          <a:xfrm>
            <a:off x="9491664" y="3621845"/>
            <a:ext cx="598487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99CB4CC-DE7C-754D-9F77-66D0B91A83FE}"/>
              </a:ext>
            </a:extLst>
          </p:cNvPr>
          <p:cNvSpPr/>
          <p:nvPr/>
        </p:nvSpPr>
        <p:spPr>
          <a:xfrm>
            <a:off x="7239001" y="5728458"/>
            <a:ext cx="30572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altLang="en-US" b="1" dirty="0"/>
              <a:t>support</a:t>
            </a:r>
            <a:r>
              <a:rPr lang="en-US" altLang="en-US" dirty="0"/>
              <a:t> of w: 2/4 = 0.50 (50%)</a:t>
            </a:r>
            <a:endParaRPr lang="en-US" dirty="0"/>
          </a:p>
        </p:txBody>
      </p:sp>
      <p:sp>
        <p:nvSpPr>
          <p:cNvPr id="57" name="Rectangle 2">
            <a:extLst>
              <a:ext uri="{FF2B5EF4-FFF2-40B4-BE49-F238E27FC236}">
                <a16:creationId xmlns:a16="http://schemas.microsoft.com/office/drawing/2014/main" id="{4E98A58F-71C2-4F46-A896-C11282D6D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6936" y="5811837"/>
            <a:ext cx="8318500" cy="1106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360" tIns="44280" rIns="90360" bIns="44280"/>
          <a:lstStyle>
            <a:lvl1pPr marL="287338" indent="-287338">
              <a:spcBef>
                <a:spcPts val="35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1pPr>
            <a:lvl2pPr marL="687388" indent="-287338">
              <a:spcBef>
                <a:spcPts val="30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2pPr>
            <a:lvl3pPr>
              <a:spcBef>
                <a:spcPts val="25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pPr marL="342900" indent="-342900">
              <a:lnSpc>
                <a:spcPct val="90000"/>
              </a:lnSpc>
              <a:spcBef>
                <a:spcPts val="300"/>
              </a:spcBef>
              <a:buClr>
                <a:srgbClr val="0C7B9C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2000" dirty="0"/>
              <a:t>A </a:t>
            </a:r>
            <a:r>
              <a:rPr lang="en-US" altLang="en-US" sz="2000" b="1" dirty="0"/>
              <a:t>sequential pattern</a:t>
            </a:r>
            <a:r>
              <a:rPr lang="en-US" altLang="en-US" sz="2000" dirty="0"/>
              <a:t> </a:t>
            </a:r>
          </a:p>
          <a:p>
            <a:pPr marL="685800" lvl="1" indent="-285750">
              <a:lnSpc>
                <a:spcPct val="90000"/>
              </a:lnSpc>
              <a:buClr>
                <a:srgbClr val="0C7B9C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1800" dirty="0"/>
              <a:t>is a </a:t>
            </a:r>
            <a:r>
              <a:rPr lang="en-US" altLang="en-US" sz="1800" b="1" dirty="0"/>
              <a:t>frequent</a:t>
            </a:r>
            <a:r>
              <a:rPr lang="en-US" altLang="en-US" sz="1800" dirty="0"/>
              <a:t> subsequence </a:t>
            </a:r>
          </a:p>
          <a:p>
            <a:pPr marL="685800" lvl="1" indent="-285750">
              <a:lnSpc>
                <a:spcPct val="90000"/>
              </a:lnSpc>
              <a:buClr>
                <a:srgbClr val="0C7B9C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1800" dirty="0"/>
              <a:t>i.e., a subsequence whose support is </a:t>
            </a:r>
            <a:r>
              <a:rPr lang="en-US" altLang="en-US" sz="1800" dirty="0">
                <a:cs typeface="Arial" panose="020B0604020202020204" pitchFamily="34" charset="0"/>
              </a:rPr>
              <a:t>≥ </a:t>
            </a:r>
            <a:r>
              <a:rPr lang="en-US" altLang="en-US" sz="1800" b="1" i="1" dirty="0" err="1">
                <a:cs typeface="Arial" panose="020B0604020202020204" pitchFamily="34" charset="0"/>
              </a:rPr>
              <a:t>minsup</a:t>
            </a:r>
            <a:endParaRPr lang="en-US" altLang="en-US" sz="1800" b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32948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10" grpId="0" animBg="1"/>
      <p:bldP spid="21" grpId="0"/>
      <p:bldP spid="22" grpId="0"/>
      <p:bldP spid="23" grpId="0"/>
      <p:bldP spid="24" grpId="0"/>
      <p:bldP spid="25" grpId="0"/>
      <p:bldP spid="26" grpId="0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5" grpId="0" animBg="1"/>
      <p:bldP spid="46" grpId="0" animBg="1"/>
      <p:bldP spid="47" grpId="0" animBg="1"/>
      <p:bldP spid="48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2" grpId="0"/>
      <p:bldP spid="61" grpId="0"/>
      <p:bldP spid="3" grpId="0"/>
      <p:bldP spid="63" grpId="0"/>
      <p:bldP spid="64" grpId="0"/>
      <p:bldP spid="65" grpId="0"/>
      <p:bldP spid="66" grpId="0"/>
      <p:bldP spid="57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">
            <a:extLst>
              <a:ext uri="{FF2B5EF4-FFF2-40B4-BE49-F238E27FC236}">
                <a16:creationId xmlns:a16="http://schemas.microsoft.com/office/drawing/2014/main" id="{A354CC5D-3A2D-B142-9BDA-AE083D0669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dirty="0">
                <a:ea typeface="PMingLiU" panose="02020500000000000000" pitchFamily="18" charset="-120"/>
              </a:rPr>
              <a:t>Formal Definition of Sequential Pattern</a:t>
            </a: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43E11AEC-E4CE-B446-A9E7-8C12A5560C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300"/>
              </a:spcBef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r>
              <a:rPr lang="en-US" altLang="en-US" sz="2400" dirty="0"/>
              <a:t>Remark: a subsequence (i.e. a candidate pattern) might be mapped into a sequence in several different ways</a:t>
            </a:r>
          </a:p>
          <a:p>
            <a:pPr lvl="1" indent="-285750"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r>
              <a:rPr lang="en-US" altLang="en-US" sz="1800" dirty="0"/>
              <a:t>Each mapping is an </a:t>
            </a:r>
            <a:r>
              <a:rPr lang="en-US" altLang="en-US" sz="1800" b="1" dirty="0"/>
              <a:t>instance</a:t>
            </a:r>
            <a:r>
              <a:rPr lang="en-US" altLang="en-US" sz="1800" dirty="0"/>
              <a:t> of the subsequence</a:t>
            </a:r>
          </a:p>
          <a:p>
            <a:pPr lvl="1" indent="-285750"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r>
              <a:rPr lang="en-US" altLang="en-US" sz="1800" dirty="0"/>
              <a:t>In mining sequential patterns we need to find only one instance</a:t>
            </a:r>
            <a:endParaRPr lang="en-US" altLang="en-US" dirty="0"/>
          </a:p>
          <a:p>
            <a:pPr marL="287338" indent="-287338">
              <a:buClr>
                <a:srgbClr val="0C7B9C"/>
              </a:buClr>
              <a:buSzPct val="75000"/>
              <a:buFont typeface="Monotype Sorts" pitchFamily="2" charset="2"/>
              <a:buChar char="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endParaRPr lang="en-US" altLang="en-US" sz="2400" dirty="0"/>
          </a:p>
          <a:p>
            <a:pPr marL="287338" indent="-287338">
              <a:buClr>
                <a:srgbClr val="0C7B9C"/>
              </a:buClr>
              <a:buSzPct val="75000"/>
              <a:buFont typeface="Monotype Sorts" pitchFamily="2" charset="2"/>
              <a:buChar char="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endParaRPr lang="en-US" altLang="en-US" sz="2400" dirty="0"/>
          </a:p>
          <a:p>
            <a:pPr marL="287338" indent="-287338">
              <a:buClr>
                <a:srgbClr val="0C7B9C"/>
              </a:buClr>
              <a:buSzPct val="75000"/>
              <a:buFont typeface="Monotype Sorts" pitchFamily="2" charset="2"/>
              <a:buChar char="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endParaRPr lang="en-US" altLang="en-US" sz="240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2130C8F6-9553-4341-BDA7-9CCCEF9C5974}"/>
              </a:ext>
            </a:extLst>
          </p:cNvPr>
          <p:cNvSpPr/>
          <p:nvPr/>
        </p:nvSpPr>
        <p:spPr bwMode="auto">
          <a:xfrm>
            <a:off x="7727950" y="2473912"/>
            <a:ext cx="755650" cy="4699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{A}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B3A6DED-D1F6-054B-8DB2-5CBF2A1CFD12}"/>
              </a:ext>
            </a:extLst>
          </p:cNvPr>
          <p:cNvSpPr/>
          <p:nvPr/>
        </p:nvSpPr>
        <p:spPr bwMode="auto">
          <a:xfrm>
            <a:off x="9190038" y="2473912"/>
            <a:ext cx="803275" cy="4699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{B}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C804EC2-D913-1F47-A20B-4087B2F961CD}"/>
              </a:ext>
            </a:extLst>
          </p:cNvPr>
          <p:cNvSpPr/>
          <p:nvPr/>
        </p:nvSpPr>
        <p:spPr bwMode="auto">
          <a:xfrm>
            <a:off x="10790238" y="2473912"/>
            <a:ext cx="803275" cy="4699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{D}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FF5BFAB-2054-C347-B650-A3A3A72C452B}"/>
              </a:ext>
            </a:extLst>
          </p:cNvPr>
          <p:cNvSpPr/>
          <p:nvPr/>
        </p:nvSpPr>
        <p:spPr bwMode="auto">
          <a:xfrm>
            <a:off x="1630363" y="3703639"/>
            <a:ext cx="1219200" cy="56832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{D}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CBC7C6E4-519E-6246-A267-BF0FAC328666}"/>
              </a:ext>
            </a:extLst>
          </p:cNvPr>
          <p:cNvSpPr/>
          <p:nvPr/>
        </p:nvSpPr>
        <p:spPr bwMode="auto">
          <a:xfrm>
            <a:off x="3103563" y="3703639"/>
            <a:ext cx="1295400" cy="56832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{A,C}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C0BD1C2A-B7EA-964A-A0C7-D2B7729FFBA2}"/>
              </a:ext>
            </a:extLst>
          </p:cNvPr>
          <p:cNvSpPr/>
          <p:nvPr/>
        </p:nvSpPr>
        <p:spPr bwMode="auto">
          <a:xfrm>
            <a:off x="4651376" y="3721100"/>
            <a:ext cx="1362075" cy="566738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{A,B,C}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8038B717-8C0A-6440-94D9-677C3A505A3F}"/>
              </a:ext>
            </a:extLst>
          </p:cNvPr>
          <p:cNvSpPr/>
          <p:nvPr/>
        </p:nvSpPr>
        <p:spPr bwMode="auto">
          <a:xfrm>
            <a:off x="6199188" y="3703639"/>
            <a:ext cx="1219200" cy="56832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{F}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E4F955F-3A66-E448-A28F-67B7B1DBB919}"/>
              </a:ext>
            </a:extLst>
          </p:cNvPr>
          <p:cNvSpPr/>
          <p:nvPr/>
        </p:nvSpPr>
        <p:spPr bwMode="auto">
          <a:xfrm>
            <a:off x="7672388" y="3703639"/>
            <a:ext cx="1295400" cy="56832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{B,E}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F29EB6E4-C394-A742-9445-72BB865DEC85}"/>
              </a:ext>
            </a:extLst>
          </p:cNvPr>
          <p:cNvSpPr/>
          <p:nvPr/>
        </p:nvSpPr>
        <p:spPr bwMode="auto">
          <a:xfrm>
            <a:off x="9220200" y="3703639"/>
            <a:ext cx="1295400" cy="56832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{D}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E2F41C95-1D1A-224B-9526-8F4E295C18B3}"/>
              </a:ext>
            </a:extLst>
          </p:cNvPr>
          <p:cNvSpPr/>
          <p:nvPr/>
        </p:nvSpPr>
        <p:spPr bwMode="auto">
          <a:xfrm>
            <a:off x="3363913" y="3814764"/>
            <a:ext cx="457200" cy="396875"/>
          </a:xfrm>
          <a:prstGeom prst="ellipse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83BB6247-8C46-BD48-B34D-86E3B03A44FB}"/>
              </a:ext>
            </a:extLst>
          </p:cNvPr>
          <p:cNvSpPr/>
          <p:nvPr/>
        </p:nvSpPr>
        <p:spPr bwMode="auto">
          <a:xfrm>
            <a:off x="5137150" y="3797301"/>
            <a:ext cx="357188" cy="398463"/>
          </a:xfrm>
          <a:prstGeom prst="ellipse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B40AE0E1-6FDF-CC4B-A292-D755FB4C3580}"/>
              </a:ext>
            </a:extLst>
          </p:cNvPr>
          <p:cNvSpPr/>
          <p:nvPr/>
        </p:nvSpPr>
        <p:spPr bwMode="auto">
          <a:xfrm>
            <a:off x="9628188" y="3779839"/>
            <a:ext cx="457200" cy="396875"/>
          </a:xfrm>
          <a:prstGeom prst="ellipse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27664" name="Straight Arrow Connector 13">
            <a:extLst>
              <a:ext uri="{FF2B5EF4-FFF2-40B4-BE49-F238E27FC236}">
                <a16:creationId xmlns:a16="http://schemas.microsoft.com/office/drawing/2014/main" id="{8AAA0DB6-3342-7946-8F7D-1FDFA64698F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1475" y="6496050"/>
            <a:ext cx="89916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665" name="Straight Connector 15">
            <a:extLst>
              <a:ext uri="{FF2B5EF4-FFF2-40B4-BE49-F238E27FC236}">
                <a16:creationId xmlns:a16="http://schemas.microsoft.com/office/drawing/2014/main" id="{3B091C75-8B55-8A49-A1FF-72EB21374B0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205038" y="6419850"/>
            <a:ext cx="0" cy="1524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666" name="Straight Connector 75">
            <a:extLst>
              <a:ext uri="{FF2B5EF4-FFF2-40B4-BE49-F238E27FC236}">
                <a16:creationId xmlns:a16="http://schemas.microsoft.com/office/drawing/2014/main" id="{3D75BA19-D715-1A41-9FA3-3A0858F9E44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716338" y="6419850"/>
            <a:ext cx="0" cy="1524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667" name="Straight Connector 76">
            <a:extLst>
              <a:ext uri="{FF2B5EF4-FFF2-40B4-BE49-F238E27FC236}">
                <a16:creationId xmlns:a16="http://schemas.microsoft.com/office/drawing/2014/main" id="{702FEE5B-79B2-0C4E-BC50-6F030E6A651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297488" y="6402388"/>
            <a:ext cx="0" cy="1524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668" name="Straight Connector 77">
            <a:extLst>
              <a:ext uri="{FF2B5EF4-FFF2-40B4-BE49-F238E27FC236}">
                <a16:creationId xmlns:a16="http://schemas.microsoft.com/office/drawing/2014/main" id="{7AFE9508-8845-D340-8531-77740B08CA1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73863" y="6419850"/>
            <a:ext cx="0" cy="1524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669" name="Straight Connector 78">
            <a:extLst>
              <a:ext uri="{FF2B5EF4-FFF2-40B4-BE49-F238E27FC236}">
                <a16:creationId xmlns:a16="http://schemas.microsoft.com/office/drawing/2014/main" id="{4D7FA625-6E8F-304C-9324-A6D0EECC580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285163" y="6419850"/>
            <a:ext cx="0" cy="1524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670" name="Straight Connector 79">
            <a:extLst>
              <a:ext uri="{FF2B5EF4-FFF2-40B4-BE49-F238E27FC236}">
                <a16:creationId xmlns:a16="http://schemas.microsoft.com/office/drawing/2014/main" id="{172B946B-E7CF-1349-A1F2-10EC2C49C02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9866313" y="6402388"/>
            <a:ext cx="0" cy="1524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40CF3A3F-990A-F240-9D9A-C7B6F7955F6F}"/>
              </a:ext>
            </a:extLst>
          </p:cNvPr>
          <p:cNvSpPr/>
          <p:nvPr/>
        </p:nvSpPr>
        <p:spPr>
          <a:xfrm>
            <a:off x="3587750" y="6538914"/>
            <a:ext cx="298450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1600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70F8FA1-CA8B-F644-A21D-952E69F22528}"/>
              </a:ext>
            </a:extLst>
          </p:cNvPr>
          <p:cNvSpPr/>
          <p:nvPr/>
        </p:nvSpPr>
        <p:spPr>
          <a:xfrm>
            <a:off x="5121275" y="6538914"/>
            <a:ext cx="298450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1600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17E658A-135B-EB4E-B768-31E450135FD7}"/>
              </a:ext>
            </a:extLst>
          </p:cNvPr>
          <p:cNvSpPr/>
          <p:nvPr/>
        </p:nvSpPr>
        <p:spPr>
          <a:xfrm>
            <a:off x="6653213" y="6538914"/>
            <a:ext cx="298450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1600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39E398A-B680-9347-834D-52F20EF20DE4}"/>
              </a:ext>
            </a:extLst>
          </p:cNvPr>
          <p:cNvSpPr/>
          <p:nvPr/>
        </p:nvSpPr>
        <p:spPr>
          <a:xfrm>
            <a:off x="8185150" y="6538914"/>
            <a:ext cx="298450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US" sz="1600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A7BFE5C-FF34-C540-9CC6-FF3833A65FF7}"/>
              </a:ext>
            </a:extLst>
          </p:cNvPr>
          <p:cNvSpPr/>
          <p:nvPr/>
        </p:nvSpPr>
        <p:spPr>
          <a:xfrm>
            <a:off x="9717088" y="6538914"/>
            <a:ext cx="298450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1600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CFE52B1-BA00-2F4A-8BCA-63671CCE120A}"/>
              </a:ext>
            </a:extLst>
          </p:cNvPr>
          <p:cNvSpPr/>
          <p:nvPr/>
        </p:nvSpPr>
        <p:spPr>
          <a:xfrm>
            <a:off x="2055813" y="6538914"/>
            <a:ext cx="298450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sz="1600" dirty="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82E273E8-F79C-BD49-85C2-F39B9127BE10}"/>
              </a:ext>
            </a:extLst>
          </p:cNvPr>
          <p:cNvSpPr/>
          <p:nvPr/>
        </p:nvSpPr>
        <p:spPr bwMode="auto">
          <a:xfrm>
            <a:off x="1630363" y="4745039"/>
            <a:ext cx="1219200" cy="56832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{D}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5F2D1E3C-BB6C-9942-BDBD-390838D08328}"/>
              </a:ext>
            </a:extLst>
          </p:cNvPr>
          <p:cNvSpPr/>
          <p:nvPr/>
        </p:nvSpPr>
        <p:spPr bwMode="auto">
          <a:xfrm>
            <a:off x="3103563" y="4745039"/>
            <a:ext cx="1295400" cy="56832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{A,C}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DE401099-8D18-9046-9063-B35663E6404F}"/>
              </a:ext>
            </a:extLst>
          </p:cNvPr>
          <p:cNvSpPr/>
          <p:nvPr/>
        </p:nvSpPr>
        <p:spPr bwMode="auto">
          <a:xfrm>
            <a:off x="4651376" y="4762500"/>
            <a:ext cx="1362075" cy="566738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{A,B,C}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6DC2E0DB-38B0-AD41-BCC2-1C4E834C3CE2}"/>
              </a:ext>
            </a:extLst>
          </p:cNvPr>
          <p:cNvSpPr/>
          <p:nvPr/>
        </p:nvSpPr>
        <p:spPr bwMode="auto">
          <a:xfrm>
            <a:off x="6199188" y="4745039"/>
            <a:ext cx="1219200" cy="56832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{F}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07A6021C-1008-EB4D-87A5-78C09DFF7B79}"/>
              </a:ext>
            </a:extLst>
          </p:cNvPr>
          <p:cNvSpPr/>
          <p:nvPr/>
        </p:nvSpPr>
        <p:spPr bwMode="auto">
          <a:xfrm>
            <a:off x="7672388" y="4745039"/>
            <a:ext cx="1295400" cy="56832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{B,E}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B21C299F-1D82-7C47-8A6F-A25BB3DDDCAF}"/>
              </a:ext>
            </a:extLst>
          </p:cNvPr>
          <p:cNvSpPr/>
          <p:nvPr/>
        </p:nvSpPr>
        <p:spPr bwMode="auto">
          <a:xfrm>
            <a:off x="9220200" y="4745039"/>
            <a:ext cx="1295400" cy="56832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{D}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CDED08E2-CE70-FC46-BF55-7FC838BB2975}"/>
              </a:ext>
            </a:extLst>
          </p:cNvPr>
          <p:cNvSpPr/>
          <p:nvPr/>
        </p:nvSpPr>
        <p:spPr bwMode="auto">
          <a:xfrm>
            <a:off x="3363913" y="4856164"/>
            <a:ext cx="457200" cy="396875"/>
          </a:xfrm>
          <a:prstGeom prst="ellipse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5F6E67AF-54D3-3C4B-8B13-52932D243AA9}"/>
              </a:ext>
            </a:extLst>
          </p:cNvPr>
          <p:cNvSpPr/>
          <p:nvPr/>
        </p:nvSpPr>
        <p:spPr bwMode="auto">
          <a:xfrm>
            <a:off x="8002589" y="4816476"/>
            <a:ext cx="358775" cy="398463"/>
          </a:xfrm>
          <a:prstGeom prst="ellipse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B2285A94-9853-8A42-AD6F-DF4116A9BDEB}"/>
              </a:ext>
            </a:extLst>
          </p:cNvPr>
          <p:cNvSpPr/>
          <p:nvPr/>
        </p:nvSpPr>
        <p:spPr bwMode="auto">
          <a:xfrm>
            <a:off x="9628188" y="4821239"/>
            <a:ext cx="457200" cy="396875"/>
          </a:xfrm>
          <a:prstGeom prst="ellipse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C513ECF7-1951-9E4D-B92E-48798D65FEB5}"/>
              </a:ext>
            </a:extLst>
          </p:cNvPr>
          <p:cNvSpPr/>
          <p:nvPr/>
        </p:nvSpPr>
        <p:spPr bwMode="auto">
          <a:xfrm>
            <a:off x="1630363" y="5735639"/>
            <a:ext cx="1219200" cy="56832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{D}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60DD1BB4-30EC-B842-86D7-F8EFCD0E9F4A}"/>
              </a:ext>
            </a:extLst>
          </p:cNvPr>
          <p:cNvSpPr/>
          <p:nvPr/>
        </p:nvSpPr>
        <p:spPr bwMode="auto">
          <a:xfrm>
            <a:off x="3103563" y="5735639"/>
            <a:ext cx="1295400" cy="56832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{A,C}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811FF1DD-0F74-E445-AFD1-AF80A6F7F228}"/>
              </a:ext>
            </a:extLst>
          </p:cNvPr>
          <p:cNvSpPr/>
          <p:nvPr/>
        </p:nvSpPr>
        <p:spPr bwMode="auto">
          <a:xfrm>
            <a:off x="4651376" y="5753100"/>
            <a:ext cx="1362075" cy="566738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{A,B,C}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F7D58393-62DC-4742-93E3-FD22F96F843E}"/>
              </a:ext>
            </a:extLst>
          </p:cNvPr>
          <p:cNvSpPr/>
          <p:nvPr/>
        </p:nvSpPr>
        <p:spPr bwMode="auto">
          <a:xfrm>
            <a:off x="6199188" y="5735639"/>
            <a:ext cx="1219200" cy="56832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{F}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6A19F429-567D-5847-B82E-8C624DB165B6}"/>
              </a:ext>
            </a:extLst>
          </p:cNvPr>
          <p:cNvSpPr/>
          <p:nvPr/>
        </p:nvSpPr>
        <p:spPr bwMode="auto">
          <a:xfrm>
            <a:off x="7672388" y="5735639"/>
            <a:ext cx="1295400" cy="56832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{B,E}</a:t>
            </a: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0D368626-7CFF-7543-85DF-DF76802182C8}"/>
              </a:ext>
            </a:extLst>
          </p:cNvPr>
          <p:cNvSpPr/>
          <p:nvPr/>
        </p:nvSpPr>
        <p:spPr bwMode="auto">
          <a:xfrm>
            <a:off x="9220200" y="5735639"/>
            <a:ext cx="1295400" cy="56832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{D}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E82636D8-715C-8747-8566-68713829322E}"/>
              </a:ext>
            </a:extLst>
          </p:cNvPr>
          <p:cNvSpPr/>
          <p:nvPr/>
        </p:nvSpPr>
        <p:spPr bwMode="auto">
          <a:xfrm>
            <a:off x="4897438" y="5846764"/>
            <a:ext cx="457200" cy="396875"/>
          </a:xfrm>
          <a:prstGeom prst="ellipse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454C0591-3AF1-5B47-BD41-C776E3860F3D}"/>
              </a:ext>
            </a:extLst>
          </p:cNvPr>
          <p:cNvSpPr/>
          <p:nvPr/>
        </p:nvSpPr>
        <p:spPr bwMode="auto">
          <a:xfrm>
            <a:off x="8002589" y="5810251"/>
            <a:ext cx="358775" cy="398463"/>
          </a:xfrm>
          <a:prstGeom prst="ellipse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65B01367-9957-4D41-ABD7-98E3EDC78AD2}"/>
              </a:ext>
            </a:extLst>
          </p:cNvPr>
          <p:cNvSpPr/>
          <p:nvPr/>
        </p:nvSpPr>
        <p:spPr bwMode="auto">
          <a:xfrm>
            <a:off x="9628188" y="5811839"/>
            <a:ext cx="457200" cy="396875"/>
          </a:xfrm>
          <a:prstGeom prst="ellipse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6402B46-FDD3-FA41-AFF6-2AAB0B50BD3A}"/>
              </a:ext>
            </a:extLst>
          </p:cNvPr>
          <p:cNvSpPr/>
          <p:nvPr/>
        </p:nvSpPr>
        <p:spPr>
          <a:xfrm>
            <a:off x="1600201" y="3371850"/>
            <a:ext cx="166904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0000"/>
              </a:buClr>
              <a:buSzPct val="100000"/>
              <a:defRPr/>
            </a:pP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1, I</a:t>
            </a: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2, I</a:t>
            </a: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5</a:t>
            </a:r>
            <a:endParaRPr lang="en-US" sz="1600" dirty="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968BD4D4-5523-494E-8509-F95E17BA0C86}"/>
              </a:ext>
            </a:extLst>
          </p:cNvPr>
          <p:cNvSpPr/>
          <p:nvPr/>
        </p:nvSpPr>
        <p:spPr>
          <a:xfrm>
            <a:off x="1600201" y="4432300"/>
            <a:ext cx="166904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0000"/>
              </a:buClr>
              <a:buSzPct val="100000"/>
              <a:defRPr/>
            </a:pP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1, I</a:t>
            </a: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4, I</a:t>
            </a: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5</a:t>
            </a:r>
            <a:endParaRPr lang="en-US" sz="1600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3BEE0BC4-248D-5341-898E-52CE4CCB9A62}"/>
              </a:ext>
            </a:extLst>
          </p:cNvPr>
          <p:cNvSpPr/>
          <p:nvPr/>
        </p:nvSpPr>
        <p:spPr>
          <a:xfrm>
            <a:off x="1606551" y="5446713"/>
            <a:ext cx="166904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0000"/>
              </a:buClr>
              <a:buSzPct val="100000"/>
              <a:defRPr/>
            </a:pP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2, I</a:t>
            </a: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4, I</a:t>
            </a: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5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481153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78" grpId="0" animBg="1"/>
      <p:bldP spid="80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/>
      <p:bldP spid="116" grpId="0"/>
      <p:bldP spid="117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">
            <a:extLst>
              <a:ext uri="{FF2B5EF4-FFF2-40B4-BE49-F238E27FC236}">
                <a16:creationId xmlns:a16="http://schemas.microsoft.com/office/drawing/2014/main" id="{267D0582-19BD-E449-9208-50B3A35930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dirty="0">
                <a:ea typeface="PMingLiU" panose="02020500000000000000" pitchFamily="18" charset="-120"/>
              </a:rPr>
              <a:t>Exercise 1</a:t>
            </a:r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073B17C3-A7A8-5B47-AFCE-233F1565B1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87338" indent="-287338">
              <a:buClr>
                <a:srgbClr val="0C7B9C"/>
              </a:buClr>
              <a:buSzPct val="75000"/>
              <a:buFont typeface="Monotype Sorts" charset="2"/>
              <a:buChar char="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dirty="0"/>
              <a:t>find instances/occurrence of the following patterns </a:t>
            </a:r>
          </a:p>
          <a:p>
            <a:pPr marL="288925" indent="-287338">
              <a:buNone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endParaRPr lang="en-US" altLang="en-US" dirty="0"/>
          </a:p>
          <a:p>
            <a:pPr marL="288925" indent="-287338">
              <a:buNone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endParaRPr lang="en-US" altLang="en-US" dirty="0"/>
          </a:p>
          <a:p>
            <a:pPr marL="288925" indent="-287338">
              <a:buNone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endParaRPr lang="en-US" altLang="en-US" dirty="0"/>
          </a:p>
          <a:p>
            <a:pPr marL="288925" indent="-287338">
              <a:buNone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endParaRPr lang="en-US" altLang="en-US" dirty="0"/>
          </a:p>
          <a:p>
            <a:pPr marL="287338" indent="-287338">
              <a:buClr>
                <a:srgbClr val="0C7B9C"/>
              </a:buClr>
              <a:buSzPct val="75000"/>
              <a:buFont typeface="Monotype Sorts" charset="2"/>
              <a:buChar char="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dirty="0"/>
              <a:t>in the input sequence below</a:t>
            </a:r>
          </a:p>
        </p:txBody>
      </p:sp>
      <p:graphicFrame>
        <p:nvGraphicFramePr>
          <p:cNvPr id="29700" name="Object 3">
            <a:extLst>
              <a:ext uri="{FF2B5EF4-FFF2-40B4-BE49-F238E27FC236}">
                <a16:creationId xmlns:a16="http://schemas.microsoft.com/office/drawing/2014/main" id="{7090A35B-4F94-2740-A063-53F03A6915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1012" y="4862513"/>
          <a:ext cx="11050588" cy="194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134100" imgH="1092200" progId="">
                  <p:embed/>
                </p:oleObj>
              </mc:Choice>
              <mc:Fallback>
                <p:oleObj r:id="rId3" imgW="6134100" imgH="1092200" progId="">
                  <p:embed/>
                  <p:pic>
                    <p:nvPicPr>
                      <p:cNvPr id="29700" name="Object 3">
                        <a:extLst>
                          <a:ext uri="{FF2B5EF4-FFF2-40B4-BE49-F238E27FC236}">
                            <a16:creationId xmlns:a16="http://schemas.microsoft.com/office/drawing/2014/main" id="{7090A35B-4F94-2740-A063-53F03A6915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012" y="4862513"/>
                        <a:ext cx="11050588" cy="194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Group 4">
            <a:extLst>
              <a:ext uri="{FF2B5EF4-FFF2-40B4-BE49-F238E27FC236}">
                <a16:creationId xmlns:a16="http://schemas.microsoft.com/office/drawing/2014/main" id="{ABEA9EC2-CDA9-CB48-9CA0-9C91D3311291}"/>
              </a:ext>
            </a:extLst>
          </p:cNvPr>
          <p:cNvGraphicFramePr>
            <a:graphicFrameLocks noGrp="1"/>
          </p:cNvGraphicFramePr>
          <p:nvPr/>
        </p:nvGraphicFramePr>
        <p:xfrm>
          <a:off x="2967039" y="2271713"/>
          <a:ext cx="6334125" cy="2149476"/>
        </p:xfrm>
        <a:graphic>
          <a:graphicData uri="http://schemas.openxmlformats.org/drawingml/2006/table">
            <a:tbl>
              <a:tblPr/>
              <a:tblGrid>
                <a:gridCol w="633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5138">
                <a:tc>
                  <a:txBody>
                    <a:bodyPr/>
                    <a:lstStyle>
                      <a:lvl1pPr>
                        <a:spcBef>
                          <a:spcPts val="3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1pPr>
                      <a:lvl2pPr>
                        <a:spcBef>
                          <a:spcPts val="30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2pPr>
                      <a:lvl3pPr>
                        <a:spcBef>
                          <a:spcPts val="2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rPr>
                        <a:t>&lt;{C}{H}{C}&gt;</a:t>
                      </a:r>
                    </a:p>
                  </a:txBody>
                  <a:tcPr marL="36000" marR="36000" marT="150200" marB="360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38">
                <a:tc>
                  <a:txBody>
                    <a:bodyPr/>
                    <a:lstStyle>
                      <a:lvl1pPr>
                        <a:spcBef>
                          <a:spcPts val="3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1pPr>
                      <a:lvl2pPr>
                        <a:spcBef>
                          <a:spcPts val="30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2pPr>
                      <a:lvl3pPr>
                        <a:spcBef>
                          <a:spcPts val="2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rPr>
                        <a:t>&lt;{A} {F} &gt;</a:t>
                      </a:r>
                    </a:p>
                  </a:txBody>
                  <a:tcPr marL="36000" marR="36000" marT="150200" marB="360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138">
                <a:tc>
                  <a:txBody>
                    <a:bodyPr/>
                    <a:lstStyle>
                      <a:lvl1pPr>
                        <a:spcBef>
                          <a:spcPts val="3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1pPr>
                      <a:lvl2pPr>
                        <a:spcBef>
                          <a:spcPts val="30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2pPr>
                      <a:lvl3pPr>
                        <a:spcBef>
                          <a:spcPts val="2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rPr>
                        <a:t>&lt;{A}{A}{D}&gt;</a:t>
                      </a:r>
                    </a:p>
                  </a:txBody>
                  <a:tcPr marL="36000" marR="36000" marT="150200" marB="360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062">
                <a:tc>
                  <a:txBody>
                    <a:bodyPr/>
                    <a:lstStyle>
                      <a:lvl1pPr>
                        <a:spcBef>
                          <a:spcPts val="3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1pPr>
                      <a:lvl2pPr>
                        <a:spcBef>
                          <a:spcPts val="30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2pPr>
                      <a:lvl3pPr>
                        <a:spcBef>
                          <a:spcPts val="2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rPr>
                        <a:t>&lt;{A}{A,B}{F}&gt;</a:t>
                      </a:r>
                    </a:p>
                    <a:p>
                      <a:pPr marL="0" marR="0" lvl="0" indent="0" algn="l" defTabSz="457200" rtl="0" eaLnBrk="1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jaVu Sans" charset="0"/>
                        <a:cs typeface="DejaVu Sans" charset="0"/>
                      </a:endParaRPr>
                    </a:p>
                  </a:txBody>
                  <a:tcPr marL="36000" marR="36000" marT="150200" marB="360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5655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">
            <a:extLst>
              <a:ext uri="{FF2B5EF4-FFF2-40B4-BE49-F238E27FC236}">
                <a16:creationId xmlns:a16="http://schemas.microsoft.com/office/drawing/2014/main" id="{AA925DE4-85E3-144E-BB75-267DE9CAF8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dirty="0">
                <a:ea typeface="PMingLiU" panose="02020500000000000000" pitchFamily="18" charset="-120"/>
              </a:rPr>
              <a:t>Exercise 2</a:t>
            </a: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9C73629C-66E7-D947-81F5-342E5E04C0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87338" indent="-287338">
              <a:buClr>
                <a:srgbClr val="0C7B9C"/>
              </a:buClr>
              <a:buSzPct val="75000"/>
              <a:buFont typeface="Monotype Sorts" charset="2"/>
              <a:buChar char="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/>
              <a:t>find instances/occurrence of the following patterns </a:t>
            </a:r>
          </a:p>
          <a:p>
            <a:pPr marL="288925" indent="-287338">
              <a:buNone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endParaRPr lang="en-US" altLang="en-US"/>
          </a:p>
          <a:p>
            <a:pPr marL="288925" indent="-287338">
              <a:buNone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endParaRPr lang="en-US" altLang="en-US"/>
          </a:p>
          <a:p>
            <a:pPr marL="288925" indent="-287338">
              <a:buNone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endParaRPr lang="en-US" altLang="en-US"/>
          </a:p>
          <a:p>
            <a:pPr marL="288925" indent="-287338">
              <a:buNone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endParaRPr lang="en-US" altLang="en-US"/>
          </a:p>
          <a:p>
            <a:pPr marL="287338" indent="-287338">
              <a:buClr>
                <a:srgbClr val="0C7B9C"/>
              </a:buClr>
              <a:buSzPct val="75000"/>
              <a:buFont typeface="Monotype Sorts" charset="2"/>
              <a:buChar char="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/>
              <a:t>in the input sequence below</a:t>
            </a:r>
          </a:p>
        </p:txBody>
      </p:sp>
      <p:graphicFrame>
        <p:nvGraphicFramePr>
          <p:cNvPr id="31748" name="Object 3">
            <a:extLst>
              <a:ext uri="{FF2B5EF4-FFF2-40B4-BE49-F238E27FC236}">
                <a16:creationId xmlns:a16="http://schemas.microsoft.com/office/drawing/2014/main" id="{272F9B24-F323-BE41-8667-ACCB3D9558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22375" y="5100639"/>
          <a:ext cx="10166350" cy="178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134100" imgH="1079500" progId="">
                  <p:embed/>
                </p:oleObj>
              </mc:Choice>
              <mc:Fallback>
                <p:oleObj r:id="rId3" imgW="6134100" imgH="1079500" progId="">
                  <p:embed/>
                  <p:pic>
                    <p:nvPicPr>
                      <p:cNvPr id="31748" name="Object 3">
                        <a:extLst>
                          <a:ext uri="{FF2B5EF4-FFF2-40B4-BE49-F238E27FC236}">
                            <a16:creationId xmlns:a16="http://schemas.microsoft.com/office/drawing/2014/main" id="{272F9B24-F323-BE41-8667-ACCB3D9558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2375" y="5100639"/>
                        <a:ext cx="10166350" cy="178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9" name="Text Box 4">
            <a:extLst>
              <a:ext uri="{FF2B5EF4-FFF2-40B4-BE49-F238E27FC236}">
                <a16:creationId xmlns:a16="http://schemas.microsoft.com/office/drawing/2014/main" id="{84ACC510-A6F4-574F-A2DB-7C6F0F0CD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2995" y="2264948"/>
            <a:ext cx="2690813" cy="191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spcBef>
                <a:spcPts val="35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1pPr>
            <a:lvl2pPr>
              <a:spcBef>
                <a:spcPts val="30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2pPr>
            <a:lvl3pPr>
              <a:spcBef>
                <a:spcPts val="25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pPr algn="just" defTabSz="45720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200" dirty="0">
                <a:latin typeface="Times New Roman" panose="02020603050405020304" pitchFamily="18" charset="0"/>
              </a:rPr>
              <a:t>&lt;{C}{H}{C}&gt;</a:t>
            </a:r>
          </a:p>
          <a:p>
            <a:pPr algn="just" defTabSz="45720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200" dirty="0">
                <a:latin typeface="Times New Roman" panose="02020603050405020304" pitchFamily="18" charset="0"/>
              </a:rPr>
              <a:t>&lt;{A} {B} &gt;</a:t>
            </a:r>
          </a:p>
          <a:p>
            <a:pPr algn="just" defTabSz="45720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200" dirty="0">
                <a:latin typeface="Times New Roman" panose="02020603050405020304" pitchFamily="18" charset="0"/>
              </a:rPr>
              <a:t>&lt;{C}{C}{E}&gt;</a:t>
            </a:r>
          </a:p>
          <a:p>
            <a:pPr algn="just" defTabSz="45720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200" dirty="0">
                <a:latin typeface="Times New Roman" panose="02020603050405020304" pitchFamily="18" charset="0"/>
              </a:rPr>
              <a:t>&lt;{A}{E}&gt;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2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32816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">
            <a:extLst>
              <a:ext uri="{FF2B5EF4-FFF2-40B4-BE49-F238E27FC236}">
                <a16:creationId xmlns:a16="http://schemas.microsoft.com/office/drawing/2014/main" id="{EE3CF578-848B-0C4E-9100-C1ED82A8C0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dirty="0">
                <a:ea typeface="PMingLiU" panose="02020500000000000000" pitchFamily="18" charset="-120"/>
              </a:rPr>
              <a:t>Sequential Pattern Mining: Definition</a:t>
            </a: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62EE9930-CAD3-514A-973B-FDDC7F7A13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r>
              <a:rPr lang="en-US" altLang="en-US" sz="3600" dirty="0"/>
              <a:t>Given: </a:t>
            </a:r>
          </a:p>
          <a:p>
            <a:pPr lvl="1">
              <a:buClr>
                <a:srgbClr val="0C7B9C"/>
              </a:buClr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r>
              <a:rPr lang="en-US" altLang="en-US" sz="3200" dirty="0"/>
              <a:t>a database of sequences </a:t>
            </a:r>
          </a:p>
          <a:p>
            <a:pPr lvl="1">
              <a:buClr>
                <a:srgbClr val="0C7B9C"/>
              </a:buClr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r>
              <a:rPr lang="en-US" altLang="en-US" sz="3200" dirty="0"/>
              <a:t>a user-specified minimum support threshold, </a:t>
            </a:r>
            <a:r>
              <a:rPr lang="en-US" altLang="en-US" sz="3200" i="1" dirty="0" err="1"/>
              <a:t>minsup</a:t>
            </a:r>
            <a:endParaRPr lang="en-US" altLang="en-US" sz="3200" i="1" dirty="0"/>
          </a:p>
          <a:p>
            <a:pPr marL="287338" indent="-287338">
              <a:buNone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endParaRPr lang="en-US" altLang="en-US" sz="3600" dirty="0"/>
          </a:p>
          <a:p>
            <a:pPr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r>
              <a:rPr lang="en-US" altLang="en-US" sz="3600" dirty="0"/>
              <a:t>Task:</a:t>
            </a:r>
          </a:p>
          <a:p>
            <a:pPr lvl="1">
              <a:buClr>
                <a:srgbClr val="0C7B9C"/>
              </a:buClr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r>
              <a:rPr lang="en-US" altLang="en-US" sz="3200" dirty="0"/>
              <a:t>Find all subsequences with support </a:t>
            </a:r>
            <a:r>
              <a:rPr lang="en-US" altLang="en-US" sz="3200" dirty="0">
                <a:cs typeface="Arial" panose="020B0604020202020204" pitchFamily="34" charset="0"/>
              </a:rPr>
              <a:t>≥ </a:t>
            </a:r>
            <a:r>
              <a:rPr lang="en-US" altLang="en-US" sz="3200" i="1" dirty="0" err="1"/>
              <a:t>minsup</a:t>
            </a:r>
            <a:endParaRPr lang="en-US" altLang="en-US" sz="3200" i="1" dirty="0"/>
          </a:p>
        </p:txBody>
      </p:sp>
    </p:spTree>
    <p:extLst>
      <p:ext uri="{BB962C8B-B14F-4D97-AF65-F5344CB8AC3E}">
        <p14:creationId xmlns:p14="http://schemas.microsoft.com/office/powerpoint/2010/main" val="240407297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">
            <a:extLst>
              <a:ext uri="{FF2B5EF4-FFF2-40B4-BE49-F238E27FC236}">
                <a16:creationId xmlns:a16="http://schemas.microsoft.com/office/drawing/2014/main" id="{3F8E281A-50E3-814E-A1DA-7C8E12795A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dirty="0">
                <a:ea typeface="PMingLiU" panose="02020500000000000000" pitchFamily="18" charset="-120"/>
              </a:rPr>
              <a:t>Sequential Pattern Mining: Challenge</a:t>
            </a:r>
          </a:p>
        </p:txBody>
      </p:sp>
      <p:sp>
        <p:nvSpPr>
          <p:cNvPr id="11266" name="Rectangle 2">
            <a:extLst>
              <a:ext uri="{FF2B5EF4-FFF2-40B4-BE49-F238E27FC236}">
                <a16:creationId xmlns:a16="http://schemas.microsoft.com/office/drawing/2014/main" id="{8929CC71-1706-B445-A4AD-CA3E4A4F93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dirty="0"/>
              <a:t>Trivial approach: generate all possible k-subsequences, for k=1,2,3,… and compute support</a:t>
            </a:r>
          </a:p>
          <a:p>
            <a:pPr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dirty="0"/>
              <a:t>Combinatorial explosion!</a:t>
            </a:r>
          </a:p>
          <a:p>
            <a:pPr marL="742950" lvl="1" indent="-342900"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dirty="0"/>
              <a:t>With frequent </a:t>
            </a:r>
            <a:r>
              <a:rPr lang="en-US" altLang="en-US" dirty="0" err="1"/>
              <a:t>itemsets</a:t>
            </a:r>
            <a:r>
              <a:rPr lang="en-US" altLang="en-US" dirty="0"/>
              <a:t> mining we had: </a:t>
            </a:r>
          </a:p>
          <a:p>
            <a:pPr lvl="2" indent="-342900"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endParaRPr lang="en-US" altLang="en-US" dirty="0"/>
          </a:p>
          <a:p>
            <a:pPr lvl="2" indent="-342900"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dirty="0"/>
              <a:t>N. of k-subsets =                        </a:t>
            </a:r>
            <a:r>
              <a:rPr lang="en-US" altLang="en-US" sz="1800" i="1" dirty="0"/>
              <a:t>n = n. of distinct items in the data</a:t>
            </a:r>
          </a:p>
          <a:p>
            <a:pPr lvl="2" indent="-342900"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endParaRPr lang="en-US" altLang="en-US" dirty="0"/>
          </a:p>
          <a:p>
            <a:pPr marL="742950" lvl="1" indent="-342900"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dirty="0"/>
              <a:t>With sequential patterns:</a:t>
            </a:r>
          </a:p>
          <a:p>
            <a:pPr lvl="2" indent="-342900"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dirty="0"/>
              <a:t>N. of k-subsequences = </a:t>
            </a:r>
          </a:p>
          <a:p>
            <a:pPr lvl="2" indent="-342900"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dirty="0"/>
              <a:t>The same item can be repeated:</a:t>
            </a:r>
          </a:p>
          <a:p>
            <a:pPr marL="2000250" lvl="4" indent="-285750"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dirty="0">
                <a:latin typeface="+mn-lt"/>
              </a:rPr>
              <a:t>&lt; {A} {A} {B} {A} … &gt;</a:t>
            </a:r>
          </a:p>
        </p:txBody>
      </p:sp>
      <p:graphicFrame>
        <p:nvGraphicFramePr>
          <p:cNvPr id="35844" name="Object 14">
            <a:extLst>
              <a:ext uri="{FF2B5EF4-FFF2-40B4-BE49-F238E27FC236}">
                <a16:creationId xmlns:a16="http://schemas.microsoft.com/office/drawing/2014/main" id="{8D1D6773-8F6A-7842-92EE-7CDE4F90B9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90122" y="3670853"/>
          <a:ext cx="48895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146800" imgH="10820400" progId="Equation.3">
                  <p:embed/>
                </p:oleObj>
              </mc:Choice>
              <mc:Fallback>
                <p:oleObj name="Equation" r:id="rId3" imgW="6146800" imgH="10820400" progId="Equation.3">
                  <p:embed/>
                  <p:pic>
                    <p:nvPicPr>
                      <p:cNvPr id="35844" name="Object 14">
                        <a:extLst>
                          <a:ext uri="{FF2B5EF4-FFF2-40B4-BE49-F238E27FC236}">
                            <a16:creationId xmlns:a16="http://schemas.microsoft.com/office/drawing/2014/main" id="{8D1D6773-8F6A-7842-92EE-7CDE4F90B9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0122" y="3670853"/>
                        <a:ext cx="48895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14">
            <a:extLst>
              <a:ext uri="{FF2B5EF4-FFF2-40B4-BE49-F238E27FC236}">
                <a16:creationId xmlns:a16="http://schemas.microsoft.com/office/drawing/2014/main" id="{D8C8B750-9920-664A-8BC9-1BE2A21FCF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66272" y="4906618"/>
          <a:ext cx="327025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102100" imgH="4686300" progId="Equation.3">
                  <p:embed/>
                </p:oleObj>
              </mc:Choice>
              <mc:Fallback>
                <p:oleObj name="Equation" r:id="rId5" imgW="4102100" imgH="4686300" progId="Equation.3">
                  <p:embed/>
                  <p:pic>
                    <p:nvPicPr>
                      <p:cNvPr id="35845" name="Object 14">
                        <a:extLst>
                          <a:ext uri="{FF2B5EF4-FFF2-40B4-BE49-F238E27FC236}">
                            <a16:creationId xmlns:a16="http://schemas.microsoft.com/office/drawing/2014/main" id="{D8C8B750-9920-664A-8BC9-1BE2A21FCF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6272" y="4906618"/>
                        <a:ext cx="327025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8363821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">
            <a:extLst>
              <a:ext uri="{FF2B5EF4-FFF2-40B4-BE49-F238E27FC236}">
                <a16:creationId xmlns:a16="http://schemas.microsoft.com/office/drawing/2014/main" id="{3F787DE0-C01F-F847-A2BE-742599B362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dirty="0">
                <a:ea typeface="PMingLiU" panose="02020500000000000000" pitchFamily="18" charset="-120"/>
              </a:rPr>
              <a:t>Generalized Sequential Pattern (GSP)</a:t>
            </a: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DF9AA7EE-BA9D-5947-906E-D31246CCC3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spcBef>
                <a:spcPts val="250"/>
              </a:spcBef>
              <a:buClr>
                <a:srgbClr val="0C7B9C"/>
              </a:buClr>
              <a:buSzPct val="75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2400" b="1" dirty="0"/>
              <a:t>Follows the same structure of </a:t>
            </a:r>
            <a:r>
              <a:rPr lang="en-US" altLang="en-US" sz="2400" b="1" dirty="0" err="1"/>
              <a:t>Apriori</a:t>
            </a:r>
            <a:endParaRPr lang="en-US" altLang="en-US" sz="2400" b="1" dirty="0"/>
          </a:p>
          <a:p>
            <a:pPr lvl="1">
              <a:lnSpc>
                <a:spcPct val="80000"/>
              </a:lnSpc>
              <a:spcBef>
                <a:spcPts val="225"/>
              </a:spcBef>
              <a:buClr>
                <a:srgbClr val="0C7B9C"/>
              </a:buClr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2000" dirty="0"/>
              <a:t>Start from short patterns and find longer ones at each iteration</a:t>
            </a:r>
            <a:endParaRPr lang="en-US" altLang="en-US" b="1" dirty="0"/>
          </a:p>
          <a:p>
            <a:pPr>
              <a:lnSpc>
                <a:spcPct val="80000"/>
              </a:lnSpc>
              <a:spcBef>
                <a:spcPts val="250"/>
              </a:spcBef>
              <a:buClr>
                <a:srgbClr val="0C7B9C"/>
              </a:buClr>
              <a:buSzPct val="75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endParaRPr lang="en-US" altLang="en-US" sz="2400" b="1" dirty="0"/>
          </a:p>
          <a:p>
            <a:pPr>
              <a:lnSpc>
                <a:spcPct val="80000"/>
              </a:lnSpc>
              <a:spcBef>
                <a:spcPts val="250"/>
              </a:spcBef>
              <a:buClr>
                <a:srgbClr val="0C7B9C"/>
              </a:buClr>
              <a:buSzPct val="75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2400" b="1" dirty="0"/>
              <a:t>Based on “</a:t>
            </a:r>
            <a:r>
              <a:rPr lang="en-US" altLang="en-US" sz="2400" b="1" dirty="0" err="1"/>
              <a:t>Apriori</a:t>
            </a:r>
            <a:r>
              <a:rPr lang="en-US" altLang="en-US" sz="2400" b="1" dirty="0"/>
              <a:t> principle” or “anti-monotonicity of support”</a:t>
            </a:r>
          </a:p>
          <a:p>
            <a:pPr lvl="1">
              <a:lnSpc>
                <a:spcPct val="80000"/>
              </a:lnSpc>
              <a:spcBef>
                <a:spcPts val="225"/>
              </a:spcBef>
              <a:buClr>
                <a:srgbClr val="0C7B9C"/>
              </a:buClr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2000" dirty="0"/>
              <a:t>If one sequence S1 is contained in sequence S2, then the support of S2 cannot be larger than that of S1:</a:t>
            </a:r>
          </a:p>
          <a:p>
            <a:pPr marL="514350" indent="-457200">
              <a:lnSpc>
                <a:spcPct val="80000"/>
              </a:lnSpc>
              <a:spcBef>
                <a:spcPts val="225"/>
              </a:spcBef>
              <a:buClr>
                <a:srgbClr val="0C7B9C"/>
              </a:buClr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endParaRPr lang="en-US" altLang="en-US" dirty="0"/>
          </a:p>
          <a:p>
            <a:pPr>
              <a:lnSpc>
                <a:spcPct val="80000"/>
              </a:lnSpc>
              <a:spcBef>
                <a:spcPts val="250"/>
              </a:spcBef>
              <a:buClr>
                <a:srgbClr val="0C7B9C"/>
              </a:buClr>
              <a:buSzPct val="75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2400" b="1" dirty="0"/>
              <a:t>Intuitive proof</a:t>
            </a:r>
            <a:endParaRPr lang="en-US" altLang="en-US" sz="2400" dirty="0"/>
          </a:p>
          <a:p>
            <a:pPr marL="914400" lvl="1" indent="-342900">
              <a:lnSpc>
                <a:spcPct val="80000"/>
              </a:lnSpc>
              <a:spcBef>
                <a:spcPts val="225"/>
              </a:spcBef>
              <a:buClr>
                <a:srgbClr val="0C7B9C"/>
              </a:buClr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dirty="0"/>
              <a:t>Any input sequence that contains S2 will also contain S1</a:t>
            </a:r>
          </a:p>
          <a:p>
            <a:pPr marL="57150" indent="0">
              <a:lnSpc>
                <a:spcPct val="80000"/>
              </a:lnSpc>
              <a:spcBef>
                <a:spcPts val="225"/>
              </a:spcBef>
              <a:buClr>
                <a:srgbClr val="0C7B9C"/>
              </a:buClr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endParaRPr lang="en-US" altLang="en-US" sz="2400" b="1" dirty="0"/>
          </a:p>
        </p:txBody>
      </p:sp>
      <p:graphicFrame>
        <p:nvGraphicFramePr>
          <p:cNvPr id="41988" name="Object 14">
            <a:extLst>
              <a:ext uri="{FF2B5EF4-FFF2-40B4-BE49-F238E27FC236}">
                <a16:creationId xmlns:a16="http://schemas.microsoft.com/office/drawing/2014/main" id="{21733E02-BBB1-944F-B07C-ECD3D48F9F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79243" y="3494882"/>
          <a:ext cx="326072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957500" imgH="4978400" progId="Equation.3">
                  <p:embed/>
                </p:oleObj>
              </mc:Choice>
              <mc:Fallback>
                <p:oleObj name="Equation" r:id="rId3" imgW="40957500" imgH="4978400" progId="Equation.3">
                  <p:embed/>
                  <p:pic>
                    <p:nvPicPr>
                      <p:cNvPr id="41988" name="Object 14">
                        <a:extLst>
                          <a:ext uri="{FF2B5EF4-FFF2-40B4-BE49-F238E27FC236}">
                            <a16:creationId xmlns:a16="http://schemas.microsoft.com/office/drawing/2014/main" id="{21733E02-BBB1-944F-B07C-ECD3D48F9F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9243" y="3494882"/>
                        <a:ext cx="3260725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uppo 13">
            <a:extLst>
              <a:ext uri="{FF2B5EF4-FFF2-40B4-BE49-F238E27FC236}">
                <a16:creationId xmlns:a16="http://schemas.microsoft.com/office/drawing/2014/main" id="{F90C1B49-C717-C24E-833E-40E7D821F622}"/>
              </a:ext>
            </a:extLst>
          </p:cNvPr>
          <p:cNvGrpSpPr/>
          <p:nvPr/>
        </p:nvGrpSpPr>
        <p:grpSpPr>
          <a:xfrm>
            <a:off x="3900488" y="4802188"/>
            <a:ext cx="3286125" cy="803275"/>
            <a:chOff x="3900488" y="4802188"/>
            <a:chExt cx="3286125" cy="803275"/>
          </a:xfrm>
        </p:grpSpPr>
        <p:cxnSp>
          <p:nvCxnSpPr>
            <p:cNvPr id="41998" name="Straight Arrow Connector 13">
              <a:extLst>
                <a:ext uri="{FF2B5EF4-FFF2-40B4-BE49-F238E27FC236}">
                  <a16:creationId xmlns:a16="http://schemas.microsoft.com/office/drawing/2014/main" id="{EE51B0CA-F136-A24A-80FF-AB3CA24A0C0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75264" y="5229225"/>
              <a:ext cx="280987" cy="2921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999" name="Straight Arrow Connector 14">
              <a:extLst>
                <a:ext uri="{FF2B5EF4-FFF2-40B4-BE49-F238E27FC236}">
                  <a16:creationId xmlns:a16="http://schemas.microsoft.com/office/drawing/2014/main" id="{4AAFA41D-F787-B74C-92DE-420036E0552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715125" y="5229225"/>
              <a:ext cx="471488" cy="37623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C22372A-92E6-AA40-A3E9-34C76EA02C5F}"/>
                </a:ext>
              </a:extLst>
            </p:cNvPr>
            <p:cNvSpPr/>
            <p:nvPr/>
          </p:nvSpPr>
          <p:spPr bwMode="auto">
            <a:xfrm>
              <a:off x="4419601" y="4802188"/>
              <a:ext cx="1069975" cy="468312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 algn="ctr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r>
                <a:rPr lang="en-US" sz="1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{B}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9FC3E89-B64A-9B45-A584-57701E437ED5}"/>
                </a:ext>
              </a:extLst>
            </p:cNvPr>
            <p:cNvSpPr/>
            <p:nvPr/>
          </p:nvSpPr>
          <p:spPr bwMode="auto">
            <a:xfrm>
              <a:off x="6019801" y="4802188"/>
              <a:ext cx="1069975" cy="468312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 algn="ctr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r>
                <a:rPr lang="en-US" sz="1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{D}</a:t>
              </a:r>
            </a:p>
          </p:txBody>
        </p:sp>
        <p:graphicFrame>
          <p:nvGraphicFramePr>
            <p:cNvPr id="42010" name="Object 14">
              <a:extLst>
                <a:ext uri="{FF2B5EF4-FFF2-40B4-BE49-F238E27FC236}">
                  <a16:creationId xmlns:a16="http://schemas.microsoft.com/office/drawing/2014/main" id="{49DABA7B-3936-CD48-9684-F22B8970CC4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00488" y="4851400"/>
            <a:ext cx="303212" cy="395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3797300" imgH="4978400" progId="Equation.3">
                    <p:embed/>
                  </p:oleObj>
                </mc:Choice>
                <mc:Fallback>
                  <p:oleObj name="Equation" r:id="rId5" imgW="3797300" imgH="4978400" progId="Equation.3">
                    <p:embed/>
                    <p:pic>
                      <p:nvPicPr>
                        <p:cNvPr id="42010" name="Object 14">
                          <a:extLst>
                            <a:ext uri="{FF2B5EF4-FFF2-40B4-BE49-F238E27FC236}">
                              <a16:creationId xmlns:a16="http://schemas.microsoft.com/office/drawing/2014/main" id="{49DABA7B-3936-CD48-9684-F22B8970CC4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0488" y="4851400"/>
                          <a:ext cx="303212" cy="395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uppo 3">
            <a:extLst>
              <a:ext uri="{FF2B5EF4-FFF2-40B4-BE49-F238E27FC236}">
                <a16:creationId xmlns:a16="http://schemas.microsoft.com/office/drawing/2014/main" id="{2A282682-7BCC-8247-8B25-81DFDA09B4A8}"/>
              </a:ext>
            </a:extLst>
          </p:cNvPr>
          <p:cNvGrpSpPr/>
          <p:nvPr/>
        </p:nvGrpSpPr>
        <p:grpSpPr>
          <a:xfrm>
            <a:off x="3370264" y="5541963"/>
            <a:ext cx="6119812" cy="776287"/>
            <a:chOff x="3370264" y="5541963"/>
            <a:chExt cx="6119812" cy="77628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9BD1C94-8FA1-F045-B426-EA603409D284}"/>
                </a:ext>
              </a:extLst>
            </p:cNvPr>
            <p:cNvSpPr/>
            <p:nvPr/>
          </p:nvSpPr>
          <p:spPr bwMode="auto">
            <a:xfrm>
              <a:off x="3805238" y="5541963"/>
              <a:ext cx="1008062" cy="4699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 algn="ctr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r>
                <a:rPr lang="en-US" sz="1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{A}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3851DA1-3CC7-F44A-B468-12C6DFB218E0}"/>
                </a:ext>
              </a:extLst>
            </p:cNvPr>
            <p:cNvSpPr/>
            <p:nvPr/>
          </p:nvSpPr>
          <p:spPr bwMode="auto">
            <a:xfrm>
              <a:off x="5259388" y="5541963"/>
              <a:ext cx="1071562" cy="4699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 algn="ctr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r>
                <a:rPr lang="en-US" sz="1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{B,C}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07D276-1221-C04B-BC9C-E5A437E4B066}"/>
                </a:ext>
              </a:extLst>
            </p:cNvPr>
            <p:cNvSpPr/>
            <p:nvPr/>
          </p:nvSpPr>
          <p:spPr bwMode="auto">
            <a:xfrm>
              <a:off x="6859588" y="5541963"/>
              <a:ext cx="1071562" cy="4699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 algn="ctr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r>
                <a:rPr lang="en-US" sz="1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{D}</a:t>
              </a:r>
            </a:p>
          </p:txBody>
        </p:sp>
        <p:cxnSp>
          <p:nvCxnSpPr>
            <p:cNvPr id="42000" name="Straight Arrow Connector 15">
              <a:extLst>
                <a:ext uri="{FF2B5EF4-FFF2-40B4-BE49-F238E27FC236}">
                  <a16:creationId xmlns:a16="http://schemas.microsoft.com/office/drawing/2014/main" id="{B980F1FE-3F08-2248-B467-BDDFA483D711}"/>
                </a:ext>
              </a:extLst>
            </p:cNvPr>
            <p:cNvCxnSpPr>
              <a:cxnSpLocks noChangeShapeType="1"/>
              <a:stCxn id="7" idx="5"/>
              <a:endCxn id="13" idx="1"/>
            </p:cNvCxnSpPr>
            <p:nvPr/>
          </p:nvCxnSpPr>
          <p:spPr bwMode="auto">
            <a:xfrm>
              <a:off x="7773989" y="5943600"/>
              <a:ext cx="1716087" cy="37465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020E658-6B58-644E-9484-16891BC7256E}"/>
                </a:ext>
              </a:extLst>
            </p:cNvPr>
            <p:cNvSpPr/>
            <p:nvPr/>
          </p:nvSpPr>
          <p:spPr bwMode="auto">
            <a:xfrm>
              <a:off x="5502276" y="5614989"/>
              <a:ext cx="288925" cy="327025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0DCA473-7501-6F4A-A5A0-8A5D7337FA30}"/>
                </a:ext>
              </a:extLst>
            </p:cNvPr>
            <p:cNvSpPr/>
            <p:nvPr/>
          </p:nvSpPr>
          <p:spPr bwMode="auto">
            <a:xfrm>
              <a:off x="7205664" y="5605464"/>
              <a:ext cx="377825" cy="327025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42008" name="Straight Arrow Connector 35">
              <a:extLst>
                <a:ext uri="{FF2B5EF4-FFF2-40B4-BE49-F238E27FC236}">
                  <a16:creationId xmlns:a16="http://schemas.microsoft.com/office/drawing/2014/main" id="{FA8AA4D6-6C57-6C40-948A-C08BB43D1F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448300" y="6021389"/>
              <a:ext cx="198438" cy="22383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09" name="Straight Arrow Connector 37">
              <a:extLst>
                <a:ext uri="{FF2B5EF4-FFF2-40B4-BE49-F238E27FC236}">
                  <a16:creationId xmlns:a16="http://schemas.microsoft.com/office/drawing/2014/main" id="{539FC454-3B96-BD4E-900A-D3D077074AA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905250" y="6027739"/>
              <a:ext cx="198438" cy="22383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aphicFrame>
          <p:nvGraphicFramePr>
            <p:cNvPr id="42011" name="Object 14">
              <a:extLst>
                <a:ext uri="{FF2B5EF4-FFF2-40B4-BE49-F238E27FC236}">
                  <a16:creationId xmlns:a16="http://schemas.microsoft.com/office/drawing/2014/main" id="{EC8CB8EB-46B3-E14C-B0FE-7B67CE2D77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70264" y="5572125"/>
            <a:ext cx="327025" cy="395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4102100" imgH="4978400" progId="Equation.3">
                    <p:embed/>
                  </p:oleObj>
                </mc:Choice>
                <mc:Fallback>
                  <p:oleObj name="Equation" r:id="rId7" imgW="4102100" imgH="4978400" progId="Equation.3">
                    <p:embed/>
                    <p:pic>
                      <p:nvPicPr>
                        <p:cNvPr id="42011" name="Object 14">
                          <a:extLst>
                            <a:ext uri="{FF2B5EF4-FFF2-40B4-BE49-F238E27FC236}">
                              <a16:creationId xmlns:a16="http://schemas.microsoft.com/office/drawing/2014/main" id="{EC8CB8EB-46B3-E14C-B0FE-7B67CE2D776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0264" y="5572125"/>
                          <a:ext cx="327025" cy="395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uppo 2">
            <a:extLst>
              <a:ext uri="{FF2B5EF4-FFF2-40B4-BE49-F238E27FC236}">
                <a16:creationId xmlns:a16="http://schemas.microsoft.com/office/drawing/2014/main" id="{B56AAA61-25F5-AE48-ADDE-E4A40EA42559}"/>
              </a:ext>
            </a:extLst>
          </p:cNvPr>
          <p:cNvGrpSpPr/>
          <p:nvPr/>
        </p:nvGrpSpPr>
        <p:grpSpPr>
          <a:xfrm>
            <a:off x="1560513" y="5954714"/>
            <a:ext cx="8842376" cy="779461"/>
            <a:chOff x="1560513" y="5954714"/>
            <a:chExt cx="8842376" cy="779461"/>
          </a:xfrm>
        </p:grpSpPr>
        <p:grpSp>
          <p:nvGrpSpPr>
            <p:cNvPr id="2" name="Gruppo 1">
              <a:extLst>
                <a:ext uri="{FF2B5EF4-FFF2-40B4-BE49-F238E27FC236}">
                  <a16:creationId xmlns:a16="http://schemas.microsoft.com/office/drawing/2014/main" id="{C6B5749A-2696-9B4F-8700-49687CCA26B7}"/>
                </a:ext>
              </a:extLst>
            </p:cNvPr>
            <p:cNvGrpSpPr/>
            <p:nvPr/>
          </p:nvGrpSpPr>
          <p:grpSpPr>
            <a:xfrm>
              <a:off x="1736726" y="6248400"/>
              <a:ext cx="8666163" cy="485775"/>
              <a:chOff x="1736726" y="6248400"/>
              <a:chExt cx="8666163" cy="485775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13E956C-A6B0-3F42-9E59-18553062A283}"/>
                  </a:ext>
                </a:extLst>
              </p:cNvPr>
              <p:cNvSpPr/>
              <p:nvPr/>
            </p:nvSpPr>
            <p:spPr bwMode="auto">
              <a:xfrm>
                <a:off x="1736726" y="6248400"/>
                <a:ext cx="1006475" cy="469900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algn="ctr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  <a:defRPr/>
                </a:pPr>
                <a:r>
                  <a:rPr lang="en-US" sz="16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{D}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6043700-B976-2844-A2F0-AA038DE42246}"/>
                  </a:ext>
                </a:extLst>
              </p:cNvPr>
              <p:cNvSpPr/>
              <p:nvPr/>
            </p:nvSpPr>
            <p:spPr bwMode="auto">
              <a:xfrm>
                <a:off x="3216276" y="6248400"/>
                <a:ext cx="1069975" cy="469900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algn="ctr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  <a:defRPr/>
                </a:pPr>
                <a:r>
                  <a:rPr lang="en-US" sz="16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{A,C}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1DFA802-A133-BD4C-812B-8F4B0B52BD98}"/>
                  </a:ext>
                </a:extLst>
              </p:cNvPr>
              <p:cNvSpPr/>
              <p:nvPr/>
            </p:nvSpPr>
            <p:spPr bwMode="auto">
              <a:xfrm>
                <a:off x="4768850" y="6265863"/>
                <a:ext cx="1250950" cy="468312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algn="ctr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  <a:defRPr/>
                </a:pPr>
                <a:r>
                  <a:rPr lang="en-US" sz="16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{A,B,C}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292551F-B0D2-2D40-AE05-68BB8084B097}"/>
                  </a:ext>
                </a:extLst>
              </p:cNvPr>
              <p:cNvSpPr/>
              <p:nvPr/>
            </p:nvSpPr>
            <p:spPr bwMode="auto">
              <a:xfrm>
                <a:off x="6305551" y="6248400"/>
                <a:ext cx="1006475" cy="469900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algn="ctr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  <a:defRPr/>
                </a:pPr>
                <a:r>
                  <a:rPr lang="en-US" sz="16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{F}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291D4BE-2A7A-F54C-B30B-F966861EA524}"/>
                  </a:ext>
                </a:extLst>
              </p:cNvPr>
              <p:cNvSpPr/>
              <p:nvPr/>
            </p:nvSpPr>
            <p:spPr bwMode="auto">
              <a:xfrm>
                <a:off x="7785101" y="6248400"/>
                <a:ext cx="1069975" cy="469900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algn="ctr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  <a:defRPr/>
                </a:pPr>
                <a:r>
                  <a:rPr lang="en-US" sz="16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{B,E}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2C4DB593-832D-914D-8A08-40AB7E3F402A}"/>
                  </a:ext>
                </a:extLst>
              </p:cNvPr>
              <p:cNvSpPr/>
              <p:nvPr/>
            </p:nvSpPr>
            <p:spPr bwMode="auto">
              <a:xfrm>
                <a:off x="9332914" y="6248400"/>
                <a:ext cx="1069975" cy="469900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algn="ctr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  <a:defRPr/>
                </a:pPr>
                <a:r>
                  <a:rPr lang="en-US" sz="16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{D}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1819F2DA-A0B0-994C-AA1A-A5AE97D7B2AC}"/>
                  </a:ext>
                </a:extLst>
              </p:cNvPr>
              <p:cNvSpPr/>
              <p:nvPr/>
            </p:nvSpPr>
            <p:spPr bwMode="auto">
              <a:xfrm>
                <a:off x="3403601" y="6345238"/>
                <a:ext cx="377825" cy="328612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  <a:defRPr/>
                </a:pPr>
                <a:endParaRPr lang="en-US" sz="2000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E8E30CBF-685F-2940-851F-504F93CBC86C}"/>
                  </a:ext>
                </a:extLst>
              </p:cNvPr>
              <p:cNvSpPr/>
              <p:nvPr/>
            </p:nvSpPr>
            <p:spPr bwMode="auto">
              <a:xfrm>
                <a:off x="5232400" y="6327775"/>
                <a:ext cx="476250" cy="3302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  <a:defRPr/>
                </a:pPr>
                <a:endParaRPr lang="en-US" sz="2000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ECAB4D76-E0FA-3540-AF6C-2E64E214D4D6}"/>
                  </a:ext>
                </a:extLst>
              </p:cNvPr>
              <p:cNvSpPr/>
              <p:nvPr/>
            </p:nvSpPr>
            <p:spPr bwMode="auto">
              <a:xfrm>
                <a:off x="9667876" y="6310313"/>
                <a:ext cx="377825" cy="328612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  <a:defRPr/>
                </a:pPr>
                <a:endParaRPr lang="en-US" sz="2000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6388" name="TextBox 16387">
              <a:extLst>
                <a:ext uri="{FF2B5EF4-FFF2-40B4-BE49-F238E27FC236}">
                  <a16:creationId xmlns:a16="http://schemas.microsoft.com/office/drawing/2014/main" id="{E3053347-79E2-0249-B911-3CBC05529954}"/>
                </a:ext>
              </a:extLst>
            </p:cNvPr>
            <p:cNvSpPr txBox="1"/>
            <p:nvPr/>
          </p:nvSpPr>
          <p:spPr>
            <a:xfrm>
              <a:off x="1560513" y="5954714"/>
              <a:ext cx="1522412" cy="30638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400" i="1" dirty="0"/>
                <a:t>Input sequence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742956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uiExpand="1" build="p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">
            <a:extLst>
              <a:ext uri="{FF2B5EF4-FFF2-40B4-BE49-F238E27FC236}">
                <a16:creationId xmlns:a16="http://schemas.microsoft.com/office/drawing/2014/main" id="{FEBF3B80-4156-2E4A-BB71-7C54E84C17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dirty="0">
                <a:ea typeface="PMingLiU" panose="02020500000000000000" pitchFamily="18" charset="-120"/>
              </a:rPr>
              <a:t>Generalized Sequential Pattern (GSP)</a:t>
            </a: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EC20C657-B263-3148-92FB-F9ED98551D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spcBef>
                <a:spcPts val="250"/>
              </a:spcBef>
              <a:buClr>
                <a:srgbClr val="0C7B9C"/>
              </a:buClr>
              <a:buSzPct val="75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2400" b="1" dirty="0"/>
              <a:t>Follows the same structure of </a:t>
            </a:r>
            <a:r>
              <a:rPr lang="en-US" altLang="en-US" sz="2400" b="1" dirty="0" err="1"/>
              <a:t>Apriori</a:t>
            </a:r>
            <a:endParaRPr lang="en-US" altLang="en-US" sz="2400" b="1" dirty="0"/>
          </a:p>
          <a:p>
            <a:pPr lvl="1">
              <a:lnSpc>
                <a:spcPct val="80000"/>
              </a:lnSpc>
              <a:spcBef>
                <a:spcPts val="225"/>
              </a:spcBef>
              <a:buClr>
                <a:srgbClr val="0C7B9C"/>
              </a:buClr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2000" dirty="0"/>
              <a:t>Start from short patterns and find longer ones at each iteration</a:t>
            </a:r>
            <a:endParaRPr lang="en-US" altLang="en-US" b="1" dirty="0"/>
          </a:p>
          <a:p>
            <a:pPr lvl="1" indent="-285750">
              <a:lnSpc>
                <a:spcPct val="80000"/>
              </a:lnSpc>
              <a:spcBef>
                <a:spcPts val="250"/>
              </a:spcBef>
              <a:buClr>
                <a:srgbClr val="0C7B9C"/>
              </a:buClr>
              <a:buSzPct val="75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endParaRPr lang="en-US" altLang="en-US" sz="1800" b="1" dirty="0"/>
          </a:p>
          <a:p>
            <a:pPr>
              <a:lnSpc>
                <a:spcPct val="80000"/>
              </a:lnSpc>
              <a:spcBef>
                <a:spcPts val="250"/>
              </a:spcBef>
              <a:buClr>
                <a:srgbClr val="0C7B9C"/>
              </a:buClr>
              <a:buSzPct val="75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2400" b="1" dirty="0"/>
              <a:t>Step 1</a:t>
            </a:r>
            <a:r>
              <a:rPr lang="en-US" altLang="en-US" sz="2400" dirty="0"/>
              <a:t>: </a:t>
            </a:r>
          </a:p>
          <a:p>
            <a:pPr lvl="1">
              <a:lnSpc>
                <a:spcPct val="80000"/>
              </a:lnSpc>
              <a:spcBef>
                <a:spcPts val="225"/>
              </a:spcBef>
              <a:buClr>
                <a:srgbClr val="0C7B9C"/>
              </a:buClr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2000" dirty="0"/>
              <a:t>Make the first pass over the sequence database D to yield all the 1-transaction frequent sequences</a:t>
            </a:r>
          </a:p>
          <a:p>
            <a:pPr marL="173037" indent="-171450">
              <a:lnSpc>
                <a:spcPct val="80000"/>
              </a:lnSpc>
              <a:spcBef>
                <a:spcPts val="200"/>
              </a:spcBef>
              <a:spcAft>
                <a:spcPct val="0"/>
              </a:spcAft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endParaRPr lang="en-US" altLang="en-US" sz="900" dirty="0"/>
          </a:p>
          <a:p>
            <a:pPr>
              <a:lnSpc>
                <a:spcPct val="80000"/>
              </a:lnSpc>
              <a:spcBef>
                <a:spcPts val="250"/>
              </a:spcBef>
              <a:buClr>
                <a:srgbClr val="0C7B9C"/>
              </a:buClr>
              <a:buSzPct val="75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2400" b="1" dirty="0"/>
              <a:t>Step 2</a:t>
            </a:r>
            <a:r>
              <a:rPr lang="en-US" altLang="en-US" sz="2400" dirty="0"/>
              <a:t>: </a:t>
            </a:r>
            <a:r>
              <a:rPr lang="en-US" altLang="en-US" sz="2000" dirty="0"/>
              <a:t>Repeat until no new frequent sequences are found:</a:t>
            </a:r>
          </a:p>
          <a:p>
            <a:pPr lvl="1">
              <a:lnSpc>
                <a:spcPct val="80000"/>
              </a:lnSpc>
              <a:spcBef>
                <a:spcPts val="225"/>
              </a:spcBef>
              <a:buClr>
                <a:srgbClr val="0C7B9C"/>
              </a:buClr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2000" b="1" dirty="0"/>
              <a:t>Candidate Generation</a:t>
            </a:r>
            <a:r>
              <a:rPr lang="en-US" altLang="en-US" sz="2000" dirty="0"/>
              <a:t>: </a:t>
            </a:r>
          </a:p>
          <a:p>
            <a:pPr lvl="2">
              <a:lnSpc>
                <a:spcPct val="80000"/>
              </a:lnSpc>
              <a:spcBef>
                <a:spcPts val="200"/>
              </a:spcBef>
              <a:buClr>
                <a:srgbClr val="0C7B9C"/>
              </a:buClr>
              <a:buSzPct val="70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1800" dirty="0"/>
              <a:t>Merge pairs of frequent subsequences found in the (k-1)</a:t>
            </a:r>
            <a:r>
              <a:rPr lang="en-US" altLang="en-US" sz="1800" i="1" dirty="0" err="1"/>
              <a:t>th</a:t>
            </a:r>
            <a:r>
              <a:rPr lang="en-US" altLang="en-US" sz="1800" dirty="0"/>
              <a:t> pass to generate candidate sequences that contain k items </a:t>
            </a:r>
          </a:p>
          <a:p>
            <a:pPr marL="173037" indent="-171450">
              <a:lnSpc>
                <a:spcPct val="80000"/>
              </a:lnSpc>
              <a:spcBef>
                <a:spcPts val="175"/>
              </a:spcBef>
              <a:spcAft>
                <a:spcPct val="0"/>
              </a:spcAft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endParaRPr lang="en-US" altLang="en-US" sz="800" dirty="0"/>
          </a:p>
          <a:p>
            <a:pPr lvl="1">
              <a:lnSpc>
                <a:spcPct val="80000"/>
              </a:lnSpc>
              <a:spcBef>
                <a:spcPts val="225"/>
              </a:spcBef>
              <a:buClr>
                <a:srgbClr val="0C7B9C"/>
              </a:buClr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2000" b="1" dirty="0"/>
              <a:t>Candidate Pruning</a:t>
            </a:r>
            <a:r>
              <a:rPr lang="en-US" altLang="en-US" sz="2000" dirty="0"/>
              <a:t>:</a:t>
            </a:r>
          </a:p>
          <a:p>
            <a:pPr lvl="2">
              <a:lnSpc>
                <a:spcPct val="80000"/>
              </a:lnSpc>
              <a:spcBef>
                <a:spcPts val="200"/>
              </a:spcBef>
              <a:buClr>
                <a:srgbClr val="0C7B9C"/>
              </a:buClr>
              <a:buSzPct val="70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1800" dirty="0"/>
              <a:t>Prune candidate </a:t>
            </a:r>
            <a:r>
              <a:rPr lang="en-US" altLang="en-US" sz="1800" i="1" dirty="0"/>
              <a:t>k</a:t>
            </a:r>
            <a:r>
              <a:rPr lang="en-US" altLang="en-US" sz="1800" dirty="0"/>
              <a:t>-sequences that contain infrequent (</a:t>
            </a:r>
            <a:r>
              <a:rPr lang="en-US" altLang="en-US" sz="1800" i="1" dirty="0"/>
              <a:t>k-1)</a:t>
            </a:r>
            <a:r>
              <a:rPr lang="en-US" altLang="en-US" sz="1800" dirty="0"/>
              <a:t>-subsequences</a:t>
            </a:r>
          </a:p>
          <a:p>
            <a:pPr marL="173037" indent="-171450">
              <a:lnSpc>
                <a:spcPct val="80000"/>
              </a:lnSpc>
              <a:spcBef>
                <a:spcPts val="175"/>
              </a:spcBef>
              <a:spcAft>
                <a:spcPct val="0"/>
              </a:spcAft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endParaRPr lang="en-US" altLang="en-US" sz="800" dirty="0"/>
          </a:p>
          <a:p>
            <a:pPr lvl="1">
              <a:lnSpc>
                <a:spcPct val="80000"/>
              </a:lnSpc>
              <a:spcBef>
                <a:spcPts val="225"/>
              </a:spcBef>
              <a:buClr>
                <a:srgbClr val="0C7B9C"/>
              </a:buClr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2000" b="1" dirty="0"/>
              <a:t>Support Counting</a:t>
            </a:r>
            <a:r>
              <a:rPr lang="en-US" altLang="en-US" sz="2000" dirty="0"/>
              <a:t>:</a:t>
            </a:r>
          </a:p>
          <a:p>
            <a:pPr lvl="2">
              <a:lnSpc>
                <a:spcPct val="80000"/>
              </a:lnSpc>
              <a:spcBef>
                <a:spcPts val="200"/>
              </a:spcBef>
              <a:buClr>
                <a:srgbClr val="0C7B9C"/>
              </a:buClr>
              <a:buSzPct val="70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1800" dirty="0"/>
              <a:t>Make a new pass over the sequence database D to find the support for these candidate sequences</a:t>
            </a:r>
          </a:p>
          <a:p>
            <a:pPr marL="173037" indent="-171450">
              <a:lnSpc>
                <a:spcPct val="80000"/>
              </a:lnSpc>
              <a:spcBef>
                <a:spcPts val="175"/>
              </a:spcBef>
              <a:spcAft>
                <a:spcPct val="0"/>
              </a:spcAft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endParaRPr lang="en-US" altLang="en-US" sz="800" dirty="0"/>
          </a:p>
          <a:p>
            <a:pPr lvl="1">
              <a:lnSpc>
                <a:spcPct val="80000"/>
              </a:lnSpc>
              <a:spcBef>
                <a:spcPts val="225"/>
              </a:spcBef>
              <a:buClr>
                <a:srgbClr val="0C7B9C"/>
              </a:buClr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2000" b="1" dirty="0"/>
              <a:t>Candidate Elimination</a:t>
            </a:r>
            <a:r>
              <a:rPr lang="en-US" altLang="en-US" sz="2000" dirty="0"/>
              <a:t>:</a:t>
            </a:r>
          </a:p>
          <a:p>
            <a:pPr lvl="2">
              <a:lnSpc>
                <a:spcPct val="80000"/>
              </a:lnSpc>
              <a:spcBef>
                <a:spcPts val="200"/>
              </a:spcBef>
              <a:buClr>
                <a:srgbClr val="0C7B9C"/>
              </a:buClr>
              <a:buSzPct val="70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1800" dirty="0"/>
              <a:t>Eliminate candidate </a:t>
            </a:r>
            <a:r>
              <a:rPr lang="en-US" altLang="en-US" sz="1800" i="1" dirty="0"/>
              <a:t>k</a:t>
            </a:r>
            <a:r>
              <a:rPr lang="en-US" altLang="en-US" sz="1800" dirty="0"/>
              <a:t>-sequences whose actual support is less than </a:t>
            </a:r>
            <a:r>
              <a:rPr lang="en-US" altLang="en-US" sz="1800" i="1" dirty="0" err="1"/>
              <a:t>minsup</a:t>
            </a:r>
            <a:endParaRPr lang="en-US" altLang="en-US" sz="1800" i="1" dirty="0"/>
          </a:p>
        </p:txBody>
      </p:sp>
    </p:spTree>
    <p:extLst>
      <p:ext uri="{BB962C8B-B14F-4D97-AF65-F5344CB8AC3E}">
        <p14:creationId xmlns:p14="http://schemas.microsoft.com/office/powerpoint/2010/main" val="372334992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uiExpand="1" build="p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">
            <a:extLst>
              <a:ext uri="{FF2B5EF4-FFF2-40B4-BE49-F238E27FC236}">
                <a16:creationId xmlns:a16="http://schemas.microsoft.com/office/drawing/2014/main" id="{7DF34DF1-6C6A-1648-A7AC-B9D75A96DB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/>
              <a:t>Extracting Sequential Patterns</a:t>
            </a:r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8F052B40-7812-F24D-8185-9D57E3AD67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Clr>
                <a:srgbClr val="0C7B9C"/>
              </a:buClr>
              <a:buSzPct val="75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dirty="0"/>
              <a:t>Given </a:t>
            </a:r>
            <a:r>
              <a:rPr lang="en-US" altLang="en-US" i="1" dirty="0"/>
              <a:t>n</a:t>
            </a:r>
            <a:r>
              <a:rPr lang="en-US" altLang="en-US" dirty="0"/>
              <a:t> items:   i</a:t>
            </a:r>
            <a:r>
              <a:rPr lang="en-US" altLang="en-US" baseline="-25000" dirty="0"/>
              <a:t>1</a:t>
            </a:r>
            <a:r>
              <a:rPr lang="en-US" altLang="en-US" dirty="0"/>
              <a:t>, i</a:t>
            </a:r>
            <a:r>
              <a:rPr lang="en-US" altLang="en-US" baseline="-25000" dirty="0"/>
              <a:t>2</a:t>
            </a:r>
            <a:r>
              <a:rPr lang="en-US" altLang="en-US" dirty="0"/>
              <a:t>, i</a:t>
            </a:r>
            <a:r>
              <a:rPr lang="en-US" altLang="en-US" baseline="-25000" dirty="0"/>
              <a:t>3</a:t>
            </a:r>
            <a:r>
              <a:rPr lang="en-US" altLang="en-US" dirty="0"/>
              <a:t>, …, i</a:t>
            </a:r>
            <a:r>
              <a:rPr lang="en-US" altLang="en-US" baseline="-25000" dirty="0"/>
              <a:t>n</a:t>
            </a:r>
          </a:p>
          <a:p>
            <a:pPr marL="173037" indent="-171450">
              <a:spcBef>
                <a:spcPts val="200"/>
              </a:spcBef>
              <a:spcAft>
                <a:spcPct val="0"/>
              </a:spcAft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endParaRPr lang="en-US" altLang="en-US" sz="800" dirty="0"/>
          </a:p>
          <a:p>
            <a:pPr marL="742950" lvl="1" indent="-342900">
              <a:buClr>
                <a:srgbClr val="0C7B9C"/>
              </a:buClr>
              <a:buSzPct val="75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dirty="0"/>
              <a:t>Candidate 1-subsequences: </a:t>
            </a:r>
          </a:p>
          <a:p>
            <a:pPr marL="339725" indent="-338138" algn="ctr">
              <a:spcBef>
                <a:spcPts val="250"/>
              </a:spcBef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2000" dirty="0"/>
              <a:t>	&lt;{i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}&gt;, &lt;{i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}&gt;, &lt;{i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}&gt;, …, &lt;{i</a:t>
            </a:r>
            <a:r>
              <a:rPr lang="en-US" altLang="en-US" sz="2000" baseline="-25000" dirty="0"/>
              <a:t>n</a:t>
            </a:r>
            <a:r>
              <a:rPr lang="en-US" altLang="en-US" sz="2000" dirty="0"/>
              <a:t>}&gt;</a:t>
            </a:r>
          </a:p>
          <a:p>
            <a:pPr marL="339725" indent="-338138">
              <a:spcBef>
                <a:spcPts val="200"/>
              </a:spcBef>
              <a:spcAft>
                <a:spcPct val="0"/>
              </a:spcAft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endParaRPr lang="en-US" altLang="en-US" sz="800" dirty="0"/>
          </a:p>
          <a:p>
            <a:pPr marL="742950" lvl="1" indent="-342900">
              <a:buClr>
                <a:srgbClr val="0C7B9C"/>
              </a:buClr>
              <a:buSzPct val="75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dirty="0"/>
              <a:t>Candidate 2-subsequences:</a:t>
            </a:r>
          </a:p>
          <a:p>
            <a:pPr marL="339725" indent="-338138" algn="ctr">
              <a:spcBef>
                <a:spcPts val="250"/>
              </a:spcBef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2000" dirty="0"/>
              <a:t>	&lt;{i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i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}&gt;, &lt;{i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i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}&gt;, …, &lt;{i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} 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}&gt;, &lt;{i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} {i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}&gt;, …, &lt;{i</a:t>
            </a:r>
            <a:r>
              <a:rPr lang="en-US" altLang="en-US" sz="2000" baseline="-25000" dirty="0"/>
              <a:t>n-1</a:t>
            </a:r>
            <a:r>
              <a:rPr lang="en-US" altLang="en-US" sz="2000" dirty="0"/>
              <a:t>} {i</a:t>
            </a:r>
            <a:r>
              <a:rPr lang="en-US" altLang="en-US" sz="2000" baseline="-25000" dirty="0"/>
              <a:t>n</a:t>
            </a:r>
            <a:r>
              <a:rPr lang="en-US" altLang="en-US" sz="2000" dirty="0"/>
              <a:t>}&gt;</a:t>
            </a:r>
          </a:p>
          <a:p>
            <a:pPr marL="339725" indent="-338138">
              <a:spcBef>
                <a:spcPts val="200"/>
              </a:spcBef>
              <a:spcAft>
                <a:spcPct val="0"/>
              </a:spcAft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endParaRPr lang="en-US" altLang="en-US" sz="800" dirty="0"/>
          </a:p>
          <a:p>
            <a:pPr marL="742950" lvl="1" indent="-342900">
              <a:buClr>
                <a:srgbClr val="0C7B9C"/>
              </a:buClr>
              <a:buSzPct val="75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dirty="0"/>
              <a:t>Candidate 3-subsequences:</a:t>
            </a:r>
          </a:p>
          <a:p>
            <a:pPr marL="339725" indent="-338138" algn="ctr">
              <a:spcBef>
                <a:spcPts val="250"/>
              </a:spcBef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2000" dirty="0"/>
              <a:t>	&lt;{i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i</a:t>
            </a:r>
            <a:r>
              <a:rPr lang="en-US" altLang="en-US" sz="2000" baseline="-25000" dirty="0"/>
              <a:t>2 </a:t>
            </a:r>
            <a:r>
              <a:rPr lang="en-US" altLang="en-US" sz="2000" dirty="0"/>
              <a:t>, i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}&gt;, &lt;{i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i</a:t>
            </a:r>
            <a:r>
              <a:rPr lang="en-US" altLang="en-US" sz="2000" baseline="-25000" dirty="0"/>
              <a:t>2 </a:t>
            </a:r>
            <a:r>
              <a:rPr lang="en-US" altLang="en-US" sz="2000" dirty="0"/>
              <a:t>, i</a:t>
            </a:r>
            <a:r>
              <a:rPr lang="en-US" altLang="en-US" sz="2000" baseline="-25000" dirty="0"/>
              <a:t>4</a:t>
            </a:r>
            <a:r>
              <a:rPr lang="en-US" altLang="en-US" sz="2000" dirty="0"/>
              <a:t>}&gt;, …, &lt;{i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i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} 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}&gt;, &lt;{i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i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} {i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}&gt;, …,</a:t>
            </a:r>
          </a:p>
          <a:p>
            <a:pPr marL="339725" indent="-338138" algn="ctr">
              <a:spcBef>
                <a:spcPts val="250"/>
              </a:spcBef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2000" dirty="0"/>
              <a:t>	&lt;{i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} {i</a:t>
            </a:r>
            <a:r>
              <a:rPr lang="en-US" altLang="en-US" sz="2000" baseline="-25000" dirty="0"/>
              <a:t>1 </a:t>
            </a:r>
            <a:r>
              <a:rPr lang="en-US" altLang="en-US" sz="2000" dirty="0"/>
              <a:t>, i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}&gt;, &lt;{i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} {i</a:t>
            </a:r>
            <a:r>
              <a:rPr lang="en-US" altLang="en-US" sz="2000" baseline="-25000" dirty="0"/>
              <a:t>1 </a:t>
            </a:r>
            <a:r>
              <a:rPr lang="en-US" altLang="en-US" sz="2000" dirty="0"/>
              <a:t>, i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}&gt;, …, &lt;{i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} 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} 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}&gt;, &lt;{i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} 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} {i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}&gt;, …</a:t>
            </a:r>
          </a:p>
          <a:p>
            <a:pPr marL="338138" indent="-338138">
              <a:buClr>
                <a:srgbClr val="0C7B9C"/>
              </a:buClr>
              <a:buSzPct val="75000"/>
              <a:buFont typeface="Monotype Sorts" charset="2"/>
              <a:buChar char="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endParaRPr lang="en-US" altLang="en-US" dirty="0"/>
          </a:p>
          <a:p>
            <a:pPr>
              <a:buClr>
                <a:srgbClr val="0C7B9C"/>
              </a:buClr>
              <a:buSzPct val="75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dirty="0"/>
              <a:t>Remark: items within a transaction are ordered</a:t>
            </a:r>
          </a:p>
          <a:p>
            <a:pPr marL="0" indent="0" algn="ctr">
              <a:buClr>
                <a:srgbClr val="0C7B9C"/>
              </a:buClr>
              <a:buSzPct val="75000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altLang="en-US" sz="2000" dirty="0"/>
              <a:t>YES: &lt;{i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i</a:t>
            </a:r>
            <a:r>
              <a:rPr lang="en-US" altLang="en-US" sz="2000" baseline="-25000" dirty="0"/>
              <a:t>2 </a:t>
            </a:r>
            <a:r>
              <a:rPr lang="en-US" altLang="en-US" sz="2000" dirty="0"/>
              <a:t>, i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}&gt;        NO: &lt;{i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, i</a:t>
            </a:r>
            <a:r>
              <a:rPr lang="en-US" altLang="en-US" sz="2000" baseline="-25000" dirty="0"/>
              <a:t>1 </a:t>
            </a:r>
            <a:r>
              <a:rPr lang="en-US" altLang="en-US" sz="2000" dirty="0"/>
              <a:t>, i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}&gt;</a:t>
            </a:r>
          </a:p>
          <a:p>
            <a:pPr marL="338138" indent="-338138">
              <a:buClr>
                <a:srgbClr val="0C7B9C"/>
              </a:buClr>
              <a:buSzPct val="75000"/>
              <a:buFont typeface="Monotype Sorts" charset="2"/>
              <a:buChar char="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endParaRPr lang="en-US" altLang="en-US" dirty="0"/>
          </a:p>
          <a:p>
            <a:pPr marL="458787" indent="-457200">
              <a:spcBef>
                <a:spcPts val="250"/>
              </a:spcBef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71224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build="p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">
            <a:extLst>
              <a:ext uri="{FF2B5EF4-FFF2-40B4-BE49-F238E27FC236}">
                <a16:creationId xmlns:a16="http://schemas.microsoft.com/office/drawing/2014/main" id="{6BE30D32-81EB-8B4B-AABD-1F29B6734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/>
              <a:t>Candidate Generation</a:t>
            </a:r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47408393-FC7C-2841-ADA6-3F1D038878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2912" y="1473750"/>
            <a:ext cx="10966175" cy="5231849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300"/>
              </a:spcBef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sz="2400" dirty="0"/>
              <a:t>Base case (k=2): </a:t>
            </a:r>
          </a:p>
          <a:p>
            <a:pPr lvl="1">
              <a:spcBef>
                <a:spcPts val="250"/>
              </a:spcBef>
              <a:buClr>
                <a:srgbClr val="0C7B9C"/>
              </a:buClr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sz="2000" dirty="0"/>
              <a:t>Merging two frequent 1-sequences &lt;{i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}&gt;  and &lt;{i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}&gt; will produce two candidate 2-sequences:             &lt;{i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} {i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}&gt;  and   &lt;{i</a:t>
            </a:r>
            <a:r>
              <a:rPr lang="en-US" altLang="en-US" sz="2000" baseline="-25000" dirty="0"/>
              <a:t>1 </a:t>
            </a:r>
            <a:r>
              <a:rPr lang="en-US" altLang="en-US" sz="2000" dirty="0"/>
              <a:t>i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}&gt;</a:t>
            </a:r>
          </a:p>
          <a:p>
            <a:pPr lvl="1">
              <a:spcBef>
                <a:spcPts val="250"/>
              </a:spcBef>
              <a:buClr>
                <a:srgbClr val="0C7B9C"/>
              </a:buClr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sz="2000" dirty="0"/>
              <a:t>Special case: i</a:t>
            </a:r>
            <a:r>
              <a:rPr lang="en-US" altLang="en-US" sz="2000" baseline="-25000" dirty="0"/>
              <a:t>1 </a:t>
            </a:r>
            <a:r>
              <a:rPr lang="en-US" altLang="en-US" sz="2000" dirty="0"/>
              <a:t>can be merged with itself: &lt;{i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} 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}&gt; </a:t>
            </a:r>
          </a:p>
          <a:p>
            <a:pPr marL="288925" indent="-287338">
              <a:spcBef>
                <a:spcPts val="200"/>
              </a:spcBef>
              <a:spcAft>
                <a:spcPct val="0"/>
              </a:spcAft>
              <a:buNone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endParaRPr lang="en-US" altLang="en-US" sz="800" dirty="0"/>
          </a:p>
          <a:p>
            <a:pPr>
              <a:spcBef>
                <a:spcPts val="300"/>
              </a:spcBef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sz="2400" dirty="0"/>
              <a:t>General case (k&gt;2):</a:t>
            </a:r>
          </a:p>
          <a:p>
            <a:pPr lvl="1">
              <a:spcBef>
                <a:spcPts val="250"/>
              </a:spcBef>
              <a:buClr>
                <a:srgbClr val="0C7B9C"/>
              </a:buClr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dirty="0"/>
              <a:t>A frequent (</a:t>
            </a:r>
            <a:r>
              <a:rPr lang="en-US" altLang="en-US" i="1" dirty="0"/>
              <a:t>k-1)</a:t>
            </a:r>
            <a:r>
              <a:rPr lang="en-US" altLang="en-US" dirty="0"/>
              <a:t>-sequence w</a:t>
            </a:r>
            <a:r>
              <a:rPr lang="en-US" altLang="en-US" baseline="-25000" dirty="0"/>
              <a:t>1</a:t>
            </a:r>
            <a:r>
              <a:rPr lang="en-US" altLang="en-US" dirty="0"/>
              <a:t> is merged with another frequent </a:t>
            </a:r>
            <a:br>
              <a:rPr lang="en-US" altLang="en-US" dirty="0"/>
            </a:br>
            <a:r>
              <a:rPr lang="en-US" altLang="en-US" dirty="0"/>
              <a:t>(</a:t>
            </a:r>
            <a:r>
              <a:rPr lang="en-US" altLang="en-US" i="1" dirty="0"/>
              <a:t>k-1)</a:t>
            </a:r>
            <a:r>
              <a:rPr lang="en-US" altLang="en-US" dirty="0"/>
              <a:t>-sequence w</a:t>
            </a:r>
            <a:r>
              <a:rPr lang="en-US" altLang="en-US" baseline="-25000" dirty="0"/>
              <a:t>2</a:t>
            </a:r>
            <a:r>
              <a:rPr lang="en-US" altLang="en-US" dirty="0"/>
              <a:t> to produce a candidate </a:t>
            </a:r>
            <a:r>
              <a:rPr lang="en-US" altLang="en-US" i="1" dirty="0"/>
              <a:t>k</a:t>
            </a:r>
            <a:r>
              <a:rPr lang="en-US" altLang="en-US" dirty="0"/>
              <a:t>-sequence if the subsequence obtained by removing the </a:t>
            </a:r>
            <a:r>
              <a:rPr lang="en-US" altLang="en-US" b="1" dirty="0"/>
              <a:t>first event</a:t>
            </a:r>
            <a:r>
              <a:rPr lang="en-US" altLang="en-US" dirty="0"/>
              <a:t> </a:t>
            </a:r>
            <a:r>
              <a:rPr lang="en-US" altLang="en-US" b="1" dirty="0"/>
              <a:t>in w</a:t>
            </a:r>
            <a:r>
              <a:rPr lang="en-US" altLang="en-US" b="1" baseline="-25000" dirty="0"/>
              <a:t>1</a:t>
            </a:r>
            <a:r>
              <a:rPr lang="en-US" altLang="en-US" b="1" dirty="0"/>
              <a:t> </a:t>
            </a:r>
            <a:r>
              <a:rPr lang="en-US" altLang="en-US" dirty="0"/>
              <a:t>is the same as the one obtained by removing the </a:t>
            </a:r>
            <a:r>
              <a:rPr lang="en-US" altLang="en-US" b="1" dirty="0"/>
              <a:t>last event in w</a:t>
            </a:r>
            <a:r>
              <a:rPr lang="en-US" altLang="en-US" b="1" baseline="-25000" dirty="0"/>
              <a:t>2</a:t>
            </a:r>
          </a:p>
          <a:p>
            <a:pPr marL="1200150" lvl="2" indent="-342900">
              <a:buClr>
                <a:srgbClr val="0C7B9C"/>
              </a:buClr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sz="2400" dirty="0"/>
              <a:t>The resulting candidate after merging is given by the sequence w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 extended with the last event of w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. </a:t>
            </a:r>
          </a:p>
          <a:p>
            <a:pPr lvl="3" indent="-285750">
              <a:buClr>
                <a:srgbClr val="0C7B9C"/>
              </a:buClr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dirty="0"/>
              <a:t>Simplest case:         &lt;{d}{a}{b}&gt; + &lt;{a}{b}{c}&gt; = &lt;{d}{a}{b}{c}&gt;</a:t>
            </a:r>
          </a:p>
          <a:p>
            <a:pPr lvl="3" indent="-285750">
              <a:buClr>
                <a:srgbClr val="0C7B9C"/>
              </a:buClr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dirty="0"/>
              <a:t>If last two events in w</a:t>
            </a:r>
            <a:r>
              <a:rPr lang="en-US" altLang="en-US" baseline="-25000" dirty="0"/>
              <a:t>2</a:t>
            </a:r>
            <a:r>
              <a:rPr lang="en-US" altLang="en-US" dirty="0"/>
              <a:t> belong to the same element =&gt; last event in w</a:t>
            </a:r>
            <a:r>
              <a:rPr lang="en-US" altLang="en-US" baseline="-25000" dirty="0"/>
              <a:t>2</a:t>
            </a:r>
            <a:r>
              <a:rPr lang="en-US" altLang="en-US" dirty="0"/>
              <a:t> becomes part of the last element in w</a:t>
            </a:r>
            <a:r>
              <a:rPr lang="en-US" altLang="en-US" baseline="-25000" dirty="0"/>
              <a:t>1</a:t>
            </a:r>
            <a:r>
              <a:rPr lang="en-US" altLang="en-US" dirty="0"/>
              <a:t>:        &lt;{d}{a}{b}&gt; + &lt;{a}{</a:t>
            </a:r>
            <a:r>
              <a:rPr lang="en-US" altLang="en-US" dirty="0" err="1"/>
              <a:t>b,c</a:t>
            </a:r>
            <a:r>
              <a:rPr lang="en-US" altLang="en-US" dirty="0"/>
              <a:t>}&gt; = &lt;{d}{a}{</a:t>
            </a:r>
            <a:r>
              <a:rPr lang="en-US" altLang="en-US" dirty="0" err="1"/>
              <a:t>b,c</a:t>
            </a:r>
            <a:r>
              <a:rPr lang="en-US" altLang="en-US" dirty="0"/>
              <a:t>}&gt;</a:t>
            </a:r>
            <a:endParaRPr lang="en-US" altLang="en-US" baseline="-25000" dirty="0"/>
          </a:p>
          <a:p>
            <a:pPr lvl="3" indent="-285750">
              <a:buClr>
                <a:srgbClr val="0C7B9C"/>
              </a:buClr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dirty="0"/>
              <a:t>Otherwise, the last event in w</a:t>
            </a:r>
            <a:r>
              <a:rPr lang="en-US" altLang="en-US" baseline="-25000" dirty="0"/>
              <a:t>2</a:t>
            </a:r>
            <a:r>
              <a:rPr lang="en-US" altLang="en-US" dirty="0"/>
              <a:t> becomes a separate element appended to the end of w</a:t>
            </a:r>
            <a:r>
              <a:rPr lang="en-US" altLang="en-US" baseline="-25000" dirty="0"/>
              <a:t>1</a:t>
            </a:r>
            <a:r>
              <a:rPr lang="en-US" altLang="en-US" dirty="0"/>
              <a:t>:                                                  &lt;{</a:t>
            </a:r>
            <a:r>
              <a:rPr lang="en-US" altLang="en-US" dirty="0" err="1"/>
              <a:t>a,d</a:t>
            </a:r>
            <a:r>
              <a:rPr lang="en-US" altLang="en-US" dirty="0"/>
              <a:t>}{b}&gt; + &lt;{d}{b}{c}&gt; = &lt;{</a:t>
            </a:r>
            <a:r>
              <a:rPr lang="en-US" altLang="en-US" dirty="0" err="1"/>
              <a:t>a,d</a:t>
            </a:r>
            <a:r>
              <a:rPr lang="en-US" altLang="en-US" dirty="0"/>
              <a:t>}{b}{c}&gt;</a:t>
            </a:r>
            <a:endParaRPr lang="en-US" altLang="en-US" baseline="-25000" dirty="0"/>
          </a:p>
          <a:p>
            <a:pPr marL="857250" lvl="1" indent="-342900">
              <a:spcBef>
                <a:spcPts val="450"/>
              </a:spcBef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sz="2000" dirty="0"/>
              <a:t>Special case: check if w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can be merged with itself</a:t>
            </a:r>
          </a:p>
          <a:p>
            <a:pPr lvl="2">
              <a:spcBef>
                <a:spcPts val="450"/>
              </a:spcBef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sz="1600" dirty="0"/>
              <a:t>Works when it contains only one event type: &lt; {a} {a}&gt; + &lt;{a} {a}&gt; = &lt; {a} {a} {a}&gt;</a:t>
            </a:r>
          </a:p>
        </p:txBody>
      </p:sp>
    </p:spTree>
    <p:extLst>
      <p:ext uri="{BB962C8B-B14F-4D97-AF65-F5344CB8AC3E}">
        <p14:creationId xmlns:p14="http://schemas.microsoft.com/office/powerpoint/2010/main" val="40540284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">
            <a:extLst>
              <a:ext uri="{FF2B5EF4-FFF2-40B4-BE49-F238E27FC236}">
                <a16:creationId xmlns:a16="http://schemas.microsoft.com/office/drawing/2014/main" id="{0A43C42E-5D14-4D4E-AE0B-6547016451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/>
              <a:t>Candidate Generation Examples</a:t>
            </a: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098FABA0-C01C-544A-8414-6B89102D1F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50"/>
              </a:spcBef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sz="2000" dirty="0"/>
              <a:t>Merging the sequences w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=&lt;{1} {2 3} {4}&gt; and w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=&lt;{2 3} {4 5}&gt; </a:t>
            </a:r>
          </a:p>
          <a:p>
            <a:pPr>
              <a:spcBef>
                <a:spcPts val="250"/>
              </a:spcBef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sz="2000" dirty="0"/>
              <a:t>will produce the candidate sequence &lt; {1} {2 3} {4 5}&gt; because the last two items in w</a:t>
            </a:r>
            <a:r>
              <a:rPr lang="en-US" altLang="en-US" sz="2000" baseline="-25000" dirty="0"/>
              <a:t>2 </a:t>
            </a:r>
            <a:r>
              <a:rPr lang="en-US" altLang="en-US" sz="2000" dirty="0"/>
              <a:t>(4 and 5) belong to the same transaction</a:t>
            </a:r>
          </a:p>
          <a:p>
            <a:pPr marL="288925" indent="-287338">
              <a:spcBef>
                <a:spcPts val="250"/>
              </a:spcBef>
              <a:buNone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endParaRPr lang="en-US" altLang="en-US" sz="2000" dirty="0"/>
          </a:p>
          <a:p>
            <a:pPr>
              <a:spcBef>
                <a:spcPts val="250"/>
              </a:spcBef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sz="2000" dirty="0"/>
              <a:t>Merging the sequences w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=&lt;{1} {2 3} {4}&gt; and w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=&lt;{2 3} {4} {5}&gt; </a:t>
            </a:r>
          </a:p>
          <a:p>
            <a:pPr>
              <a:spcBef>
                <a:spcPts val="250"/>
              </a:spcBef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sz="2000" dirty="0"/>
              <a:t>will produce the candidate sequence &lt; {1} {2 3} {4} {5}&gt; because the last two items in w</a:t>
            </a:r>
            <a:r>
              <a:rPr lang="en-US" altLang="en-US" sz="2000" baseline="-25000" dirty="0"/>
              <a:t>2 </a:t>
            </a:r>
            <a:r>
              <a:rPr lang="en-US" altLang="en-US" sz="2000" dirty="0"/>
              <a:t>(4 and 5) do not belong to the same transaction</a:t>
            </a:r>
          </a:p>
          <a:p>
            <a:pPr marL="288925" indent="-287338">
              <a:spcBef>
                <a:spcPts val="250"/>
              </a:spcBef>
              <a:buNone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endParaRPr lang="en-US" altLang="en-US" sz="2000" dirty="0"/>
          </a:p>
          <a:p>
            <a:pPr>
              <a:spcBef>
                <a:spcPts val="250"/>
              </a:spcBef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sz="2000" dirty="0"/>
              <a:t>Can we merge w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=&lt;{1} {2 6} {4}&gt; and w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=&lt;{1} {2} {4 5}&gt; ?</a:t>
            </a:r>
          </a:p>
          <a:p>
            <a:pPr>
              <a:spcBef>
                <a:spcPts val="250"/>
              </a:spcBef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sz="2000" dirty="0"/>
              <a:t>We </a:t>
            </a:r>
            <a:r>
              <a:rPr lang="en-US" altLang="en-US" sz="2000" b="1" dirty="0"/>
              <a:t>do not have</a:t>
            </a:r>
            <a:r>
              <a:rPr lang="en-US" altLang="en-US" sz="2000" dirty="0"/>
              <a:t> to merge the sequences w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=&lt;{1} {2 6} {4}&gt; and w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=&lt;{1} {2} {4 5}&gt; </a:t>
            </a:r>
            <a:br>
              <a:rPr lang="en-US" altLang="en-US" sz="2000" dirty="0"/>
            </a:br>
            <a:r>
              <a:rPr lang="en-US" altLang="en-US" sz="2000" dirty="0"/>
              <a:t>to produce the candidate &lt; {1} {2 6} {4 5}&gt; </a:t>
            </a:r>
          </a:p>
          <a:p>
            <a:pPr>
              <a:spcBef>
                <a:spcPts val="250"/>
              </a:spcBef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sz="2000" dirty="0"/>
              <a:t>Notice that if the latter is a viable candidate, it will be obtained by merging w1 with &lt; {2 6} {4 5}&gt;</a:t>
            </a:r>
          </a:p>
        </p:txBody>
      </p:sp>
    </p:spTree>
    <p:extLst>
      <p:ext uri="{BB962C8B-B14F-4D97-AF65-F5344CB8AC3E}">
        <p14:creationId xmlns:p14="http://schemas.microsoft.com/office/powerpoint/2010/main" val="13456639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build="p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">
            <a:extLst>
              <a:ext uri="{FF2B5EF4-FFF2-40B4-BE49-F238E27FC236}">
                <a16:creationId xmlns:a16="http://schemas.microsoft.com/office/drawing/2014/main" id="{6CC10FE7-E213-AC45-8356-15B693FA71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dirty="0"/>
              <a:t>Candidate Pruning</a:t>
            </a: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92B32423-D1BE-304C-9527-3D2C4D7B1B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50"/>
              </a:spcBef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r>
              <a:rPr lang="en-US" altLang="en-US" dirty="0"/>
              <a:t>Based on </a:t>
            </a:r>
            <a:r>
              <a:rPr lang="en-US" altLang="en-US" dirty="0" err="1"/>
              <a:t>Apriori</a:t>
            </a:r>
            <a:r>
              <a:rPr lang="en-US" altLang="en-US" dirty="0"/>
              <a:t> principle:</a:t>
            </a:r>
          </a:p>
          <a:p>
            <a:pPr marL="742950" lvl="1" indent="-342900">
              <a:spcBef>
                <a:spcPts val="250"/>
              </a:spcBef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r>
              <a:rPr lang="en-US" altLang="en-US" sz="2000" dirty="0"/>
              <a:t>If a k-sequence W contains a (k-1)-subsequence that is not frequent, then W is not frequent and can be pruned</a:t>
            </a:r>
          </a:p>
          <a:p>
            <a:pPr>
              <a:spcBef>
                <a:spcPts val="250"/>
              </a:spcBef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r>
              <a:rPr lang="en-US" altLang="en-US" dirty="0"/>
              <a:t>Method:</a:t>
            </a:r>
          </a:p>
          <a:p>
            <a:pPr marL="742950" lvl="1" indent="-342900">
              <a:spcBef>
                <a:spcPts val="250"/>
              </a:spcBef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r>
              <a:rPr lang="en-US" altLang="en-US" sz="2000" dirty="0"/>
              <a:t>Enumerate all (k-1)-subsequence:</a:t>
            </a:r>
          </a:p>
          <a:p>
            <a:pPr marL="1085850" lvl="2" indent="-285750"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r>
              <a:rPr lang="en-US" altLang="en-US" sz="1600" dirty="0"/>
              <a:t>{</a:t>
            </a:r>
            <a:r>
              <a:rPr lang="en-US" altLang="en-US" sz="1600" dirty="0" err="1"/>
              <a:t>a,b</a:t>
            </a:r>
            <a:r>
              <a:rPr lang="en-US" altLang="en-US" sz="1600" dirty="0"/>
              <a:t>}{c}{d}  </a:t>
            </a:r>
            <a:r>
              <a:rPr lang="en-US" altLang="en-US" sz="1600" dirty="0">
                <a:sym typeface="Wingdings" pitchFamily="2" charset="2"/>
              </a:rPr>
              <a:t> </a:t>
            </a:r>
            <a:r>
              <a:rPr lang="en-US" altLang="en-US" sz="1600" dirty="0"/>
              <a:t>{b}{c}{d} , {a}{c}{d} , {</a:t>
            </a:r>
            <a:r>
              <a:rPr lang="en-US" altLang="en-US" sz="1600" dirty="0" err="1"/>
              <a:t>a,b</a:t>
            </a:r>
            <a:r>
              <a:rPr lang="en-US" altLang="en-US" sz="1600" dirty="0"/>
              <a:t>}{d} , {</a:t>
            </a:r>
            <a:r>
              <a:rPr lang="en-US" altLang="en-US" sz="1600" dirty="0" err="1"/>
              <a:t>a,b</a:t>
            </a:r>
            <a:r>
              <a:rPr lang="en-US" altLang="en-US" sz="1600" dirty="0"/>
              <a:t>}{c}</a:t>
            </a:r>
          </a:p>
          <a:p>
            <a:pPr marL="742950" lvl="1" indent="-342900"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r>
              <a:rPr lang="en-US" altLang="en-US" sz="2000" dirty="0"/>
              <a:t>Each subsequence generated by cancelling 1 item in W</a:t>
            </a:r>
          </a:p>
          <a:p>
            <a:pPr marL="1085850" lvl="2" indent="-285750"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r>
              <a:rPr lang="en-US" altLang="en-US" sz="1600" dirty="0"/>
              <a:t>Number of (k-1)-subsequences = k</a:t>
            </a:r>
          </a:p>
          <a:p>
            <a:pPr marL="742950" lvl="1" indent="-342900"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r>
              <a:rPr lang="en-US" altLang="en-US" sz="2000" dirty="0"/>
              <a:t>Remark: candidates are generated by merging two “mother” (k-1)-subsequences that we know to be frequent</a:t>
            </a:r>
          </a:p>
          <a:p>
            <a:pPr marL="1085850" lvl="2" indent="-285750"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r>
              <a:rPr lang="en-US" altLang="en-US" sz="1600" dirty="0"/>
              <a:t>Correspond to remove the first event or the last one</a:t>
            </a:r>
          </a:p>
          <a:p>
            <a:pPr marL="1085850" lvl="2" indent="-285750"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r>
              <a:rPr lang="en-US" altLang="en-US" sz="1600" dirty="0"/>
              <a:t>Number of significant (k-1)-subsequences to test = k – 2</a:t>
            </a:r>
          </a:p>
          <a:p>
            <a:pPr marL="1085850" lvl="2" indent="-285750"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</a:pPr>
            <a:r>
              <a:rPr lang="en-US" altLang="en-US" sz="1600" dirty="0"/>
              <a:t>Special cases: at step k=2 the pruning has no utility, since the only (k-1)-subsequences are the “mother” ones</a:t>
            </a:r>
          </a:p>
        </p:txBody>
      </p:sp>
    </p:spTree>
    <p:extLst>
      <p:ext uri="{BB962C8B-B14F-4D97-AF65-F5344CB8AC3E}">
        <p14:creationId xmlns:p14="http://schemas.microsoft.com/office/powerpoint/2010/main" val="189875252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build="p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">
            <a:extLst>
              <a:ext uri="{FF2B5EF4-FFF2-40B4-BE49-F238E27FC236}">
                <a16:creationId xmlns:a16="http://schemas.microsoft.com/office/drawing/2014/main" id="{6CC081BD-CF40-AC4F-AE11-6572259908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/>
              <a:t>GSP Example</a:t>
            </a:r>
          </a:p>
        </p:txBody>
      </p:sp>
      <p:graphicFrame>
        <p:nvGraphicFramePr>
          <p:cNvPr id="54275" name="Object 2">
            <a:extLst>
              <a:ext uri="{FF2B5EF4-FFF2-40B4-BE49-F238E27FC236}">
                <a16:creationId xmlns:a16="http://schemas.microsoft.com/office/drawing/2014/main" id="{9D17ECFD-04CE-904E-A20A-81A403EAA7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1" y="1676401"/>
          <a:ext cx="8272463" cy="342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636000" imgH="3581400" progId="">
                  <p:embed/>
                </p:oleObj>
              </mc:Choice>
              <mc:Fallback>
                <p:oleObj r:id="rId3" imgW="8636000" imgH="3581400" progId="">
                  <p:embed/>
                  <p:pic>
                    <p:nvPicPr>
                      <p:cNvPr id="54275" name="Object 2">
                        <a:extLst>
                          <a:ext uri="{FF2B5EF4-FFF2-40B4-BE49-F238E27FC236}">
                            <a16:creationId xmlns:a16="http://schemas.microsoft.com/office/drawing/2014/main" id="{9D17ECFD-04CE-904E-A20A-81A403EAA7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1" y="1676401"/>
                        <a:ext cx="8272463" cy="342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985521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">
            <a:extLst>
              <a:ext uri="{FF2B5EF4-FFF2-40B4-BE49-F238E27FC236}">
                <a16:creationId xmlns:a16="http://schemas.microsoft.com/office/drawing/2014/main" id="{414F8298-6FE0-9A48-853F-764BE5B1D8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/>
              <a:t>GSP Exercise</a:t>
            </a: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5AE137E2-CF6D-0042-913B-EEC0D99728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dirty="0"/>
              <a:t>Given the following dataset of sequences</a:t>
            </a:r>
          </a:p>
          <a:p>
            <a:pPr marL="458787" indent="-457200"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endParaRPr lang="en-US" altLang="en-US" dirty="0"/>
          </a:p>
          <a:p>
            <a:pPr marL="458787" indent="-457200"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endParaRPr lang="en-US" altLang="en-US" dirty="0"/>
          </a:p>
          <a:p>
            <a:pPr marL="458787" indent="-457200"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endParaRPr lang="en-US" altLang="en-US" dirty="0"/>
          </a:p>
          <a:p>
            <a:pPr marL="458787" indent="-457200"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endParaRPr lang="en-US" altLang="en-US" dirty="0"/>
          </a:p>
          <a:p>
            <a:pPr marL="458787" indent="-457200"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endParaRPr lang="en-US" altLang="en-US" dirty="0"/>
          </a:p>
          <a:p>
            <a:pPr marL="458787" indent="-457200"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endParaRPr lang="en-US" altLang="en-US" dirty="0"/>
          </a:p>
          <a:p>
            <a:pPr>
              <a:buClr>
                <a:srgbClr val="0C7B9C"/>
              </a:buClr>
              <a:buSzPct val="75000"/>
              <a:tabLst>
                <a:tab pos="287338" algn="l"/>
                <a:tab pos="400050" algn="l"/>
                <a:tab pos="857250" algn="l"/>
                <a:tab pos="1314450" algn="l"/>
                <a:tab pos="1771650" algn="l"/>
                <a:tab pos="2228850" algn="l"/>
                <a:tab pos="2686050" algn="l"/>
                <a:tab pos="3143250" algn="l"/>
                <a:tab pos="3600450" algn="l"/>
                <a:tab pos="4057650" algn="l"/>
                <a:tab pos="4514850" algn="l"/>
                <a:tab pos="4972050" algn="l"/>
                <a:tab pos="5429250" algn="l"/>
                <a:tab pos="5886450" algn="l"/>
                <a:tab pos="6343650" algn="l"/>
                <a:tab pos="6800850" algn="l"/>
                <a:tab pos="7258050" algn="l"/>
                <a:tab pos="7715250" algn="l"/>
                <a:tab pos="8172450" algn="l"/>
                <a:tab pos="8629650" algn="l"/>
                <a:tab pos="9086850" algn="l"/>
              </a:tabLst>
              <a:defRPr/>
            </a:pPr>
            <a:r>
              <a:rPr lang="en-US" altLang="en-US" dirty="0"/>
              <a:t>Generate sequential patterns if </a:t>
            </a:r>
            <a:r>
              <a:rPr lang="en-US" altLang="en-US" dirty="0" err="1"/>
              <a:t>min_sup</a:t>
            </a:r>
            <a:r>
              <a:rPr lang="en-US" altLang="en-US" dirty="0"/>
              <a:t> = 35%</a:t>
            </a:r>
          </a:p>
        </p:txBody>
      </p:sp>
      <p:graphicFrame>
        <p:nvGraphicFramePr>
          <p:cNvPr id="56324" name="Object 3">
            <a:extLst>
              <a:ext uri="{FF2B5EF4-FFF2-40B4-BE49-F238E27FC236}">
                <a16:creationId xmlns:a16="http://schemas.microsoft.com/office/drawing/2014/main" id="{7DE9AF7D-FD1E-6D4D-B871-4E37913FFD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01807" y="2561259"/>
          <a:ext cx="6931025" cy="193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908300" imgH="825500" progId="">
                  <p:embed/>
                </p:oleObj>
              </mc:Choice>
              <mc:Fallback>
                <p:oleObj r:id="rId3" imgW="2908300" imgH="825500" progId="">
                  <p:embed/>
                  <p:pic>
                    <p:nvPicPr>
                      <p:cNvPr id="56324" name="Object 3">
                        <a:extLst>
                          <a:ext uri="{FF2B5EF4-FFF2-40B4-BE49-F238E27FC236}">
                            <a16:creationId xmlns:a16="http://schemas.microsoft.com/office/drawing/2014/main" id="{7DE9AF7D-FD1E-6D4D-B871-4E37913FFD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807" y="2561259"/>
                        <a:ext cx="6931025" cy="193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126633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">
            <a:extLst>
              <a:ext uri="{FF2B5EF4-FFF2-40B4-BE49-F238E27FC236}">
                <a16:creationId xmlns:a16="http://schemas.microsoft.com/office/drawing/2014/main" id="{C91CAE6D-5E62-0E4F-8115-6CA011E0C5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dirty="0"/>
              <a:t>GSP Exercise - Solution</a:t>
            </a:r>
          </a:p>
        </p:txBody>
      </p:sp>
      <p:graphicFrame>
        <p:nvGraphicFramePr>
          <p:cNvPr id="58371" name="Object 2">
            <a:extLst>
              <a:ext uri="{FF2B5EF4-FFF2-40B4-BE49-F238E27FC236}">
                <a16:creationId xmlns:a16="http://schemas.microsoft.com/office/drawing/2014/main" id="{22EF368B-5A75-7E44-8CAF-DEBBD361C8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27337" y="3533503"/>
          <a:ext cx="6537325" cy="315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022600" imgH="1473200" progId="">
                  <p:embed/>
                </p:oleObj>
              </mc:Choice>
              <mc:Fallback>
                <p:oleObj r:id="rId3" imgW="3022600" imgH="1473200" progId="">
                  <p:embed/>
                  <p:pic>
                    <p:nvPicPr>
                      <p:cNvPr id="58371" name="Object 2">
                        <a:extLst>
                          <a:ext uri="{FF2B5EF4-FFF2-40B4-BE49-F238E27FC236}">
                            <a16:creationId xmlns:a16="http://schemas.microsoft.com/office/drawing/2014/main" id="{22EF368B-5A75-7E44-8CAF-DEBBD361C8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7337" y="3533503"/>
                        <a:ext cx="6537325" cy="315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4F37266-6EE5-4E45-9D3E-9BF4D44683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30486" y="1493837"/>
          <a:ext cx="6931025" cy="193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908300" imgH="825500" progId="">
                  <p:embed/>
                </p:oleObj>
              </mc:Choice>
              <mc:Fallback>
                <p:oleObj r:id="rId5" imgW="2908300" imgH="825500" progId="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4F37266-6EE5-4E45-9D3E-9BF4D44683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0486" y="1493837"/>
                        <a:ext cx="6931025" cy="193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763962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>
            <a:extLst>
              <a:ext uri="{FF2B5EF4-FFF2-40B4-BE49-F238E27FC236}">
                <a16:creationId xmlns:a16="http://schemas.microsoft.com/office/drawing/2014/main" id="{BF3513A5-8C6C-964F-8978-2481D890C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Timing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813EC-DB3B-B447-ABBD-8806F9B96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sz="2400" dirty="0"/>
              <a:t>Motivation by examples:</a:t>
            </a:r>
          </a:p>
          <a:p>
            <a:pPr marL="457200" indent="-457200">
              <a:defRPr/>
            </a:pPr>
            <a:r>
              <a:rPr lang="en-US" sz="2400" dirty="0"/>
              <a:t>Sequential Pattern {milk} </a:t>
            </a:r>
            <a:r>
              <a:rPr lang="en-US" sz="2400" dirty="0">
                <a:sym typeface="Wingdings" panose="05000000000000000000" pitchFamily="2" charset="2"/>
              </a:rPr>
              <a:t> {cookies} </a:t>
            </a:r>
          </a:p>
          <a:p>
            <a:pPr marL="857250" lvl="1" indent="-457200">
              <a:defRPr/>
            </a:pPr>
            <a:r>
              <a:rPr lang="en-US" sz="2000" dirty="0">
                <a:sym typeface="Wingdings" panose="05000000000000000000" pitchFamily="2" charset="2"/>
              </a:rPr>
              <a:t>It might suggest that cookies are bought to better enjoy milk</a:t>
            </a:r>
          </a:p>
          <a:p>
            <a:pPr marL="857250" lvl="1" indent="-457200">
              <a:defRPr/>
            </a:pPr>
            <a:r>
              <a:rPr lang="en-US" sz="2000" dirty="0">
                <a:sym typeface="Wingdings" panose="05000000000000000000" pitchFamily="2" charset="2"/>
              </a:rPr>
              <a:t>Yet, we might obtain it even if all customers by milk and </a:t>
            </a:r>
            <a:r>
              <a:rPr lang="en-US" sz="2000" b="1" dirty="0">
                <a:sym typeface="Wingdings" panose="05000000000000000000" pitchFamily="2" charset="2"/>
              </a:rPr>
              <a:t>after 6 months</a:t>
            </a:r>
            <a:r>
              <a:rPr lang="en-US" sz="2000" dirty="0">
                <a:sym typeface="Wingdings" panose="05000000000000000000" pitchFamily="2" charset="2"/>
              </a:rPr>
              <a:t> buy cookies, in which case our interpretation is wrong</a:t>
            </a:r>
          </a:p>
          <a:p>
            <a:pPr marL="457200" indent="-457200">
              <a:defRPr/>
            </a:pPr>
            <a:r>
              <a:rPr lang="en-US" sz="2400" dirty="0">
                <a:sym typeface="Wingdings" panose="05000000000000000000" pitchFamily="2" charset="2"/>
              </a:rPr>
              <a:t>{cheese A}  {cheese B}</a:t>
            </a:r>
          </a:p>
          <a:p>
            <a:pPr marL="857250" lvl="1" indent="-457200">
              <a:defRPr/>
            </a:pPr>
            <a:r>
              <a:rPr lang="en-US" sz="2000" dirty="0">
                <a:sym typeface="Wingdings" panose="05000000000000000000" pitchFamily="2" charset="2"/>
              </a:rPr>
              <a:t>Does it mean that buying and eating cheese A induces the customer to try also cheese B (e.g. by the same brand)?</a:t>
            </a:r>
          </a:p>
          <a:p>
            <a:pPr marL="857250" lvl="1" indent="-457200">
              <a:defRPr/>
            </a:pPr>
            <a:r>
              <a:rPr lang="en-US" sz="2000" dirty="0">
                <a:sym typeface="Wingdings" panose="05000000000000000000" pitchFamily="2" charset="2"/>
              </a:rPr>
              <a:t>Maybe, yet if they are bought within 20 minutes it is like that they were to be bought together (and the customer forgot it)</a:t>
            </a:r>
          </a:p>
          <a:p>
            <a:pPr marL="457200" indent="-457200">
              <a:defRPr/>
            </a:pPr>
            <a:r>
              <a:rPr lang="en-US" sz="2400" dirty="0">
                <a:sym typeface="Wingdings" panose="05000000000000000000" pitchFamily="2" charset="2"/>
              </a:rPr>
              <a:t>{buy PC}  {buy printer}{ask for repair}</a:t>
            </a:r>
          </a:p>
          <a:p>
            <a:pPr marL="857250" lvl="1" indent="-457200">
              <a:defRPr/>
            </a:pPr>
            <a:r>
              <a:rPr lang="en-US" sz="2000" dirty="0">
                <a:sym typeface="Wingdings" panose="05000000000000000000" pitchFamily="2" charset="2"/>
              </a:rPr>
              <a:t>Is it a good or bad sign?</a:t>
            </a:r>
          </a:p>
          <a:p>
            <a:pPr marL="857250" lvl="1" indent="-457200">
              <a:defRPr/>
            </a:pPr>
            <a:r>
              <a:rPr lang="en-US" sz="2000" dirty="0">
                <a:sym typeface="Wingdings" panose="05000000000000000000" pitchFamily="2" charset="2"/>
              </a:rPr>
              <a:t>It depends on how much time the whole process took:</a:t>
            </a:r>
          </a:p>
          <a:p>
            <a:pPr marL="1257300" lvl="2" indent="-457200">
              <a:defRPr/>
            </a:pPr>
            <a:r>
              <a:rPr lang="en-US" sz="1800" dirty="0">
                <a:sym typeface="Wingdings" panose="05000000000000000000" pitchFamily="2" charset="2"/>
              </a:rPr>
              <a:t>Short time =&gt; issues,  Long time =&gt; OK, normal life cycle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0404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1">
            <a:extLst>
              <a:ext uri="{FF2B5EF4-FFF2-40B4-BE49-F238E27FC236}">
                <a16:creationId xmlns:a16="http://schemas.microsoft.com/office/drawing/2014/main" id="{73139671-BF14-6045-9666-B4E9460CAB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dirty="0"/>
              <a:t>Timing Constraints</a:t>
            </a:r>
          </a:p>
        </p:txBody>
      </p:sp>
      <p:sp>
        <p:nvSpPr>
          <p:cNvPr id="61443" name="Content Placeholder 1">
            <a:extLst>
              <a:ext uri="{FF2B5EF4-FFF2-40B4-BE49-F238E27FC236}">
                <a16:creationId xmlns:a16="http://schemas.microsoft.com/office/drawing/2014/main" id="{CE98E5A4-FC94-AF44-8B42-49C8E54F7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407" y="1507332"/>
            <a:ext cx="10515600" cy="4351338"/>
          </a:xfrm>
        </p:spPr>
        <p:txBody>
          <a:bodyPr/>
          <a:lstStyle/>
          <a:p>
            <a:pPr marL="457200" indent="-457200"/>
            <a:r>
              <a:rPr lang="en-US" altLang="en-US" sz="2400" dirty="0"/>
              <a:t>Define 3 types of constraint on the instances to consider</a:t>
            </a:r>
          </a:p>
          <a:p>
            <a:pPr marL="857250" lvl="1" indent="-457200"/>
            <a:r>
              <a:rPr lang="en-US" altLang="en-US" sz="2000" dirty="0"/>
              <a:t>E.g. ask that the pattern instances last no more than 30 days</a:t>
            </a:r>
          </a:p>
        </p:txBody>
      </p:sp>
      <p:sp>
        <p:nvSpPr>
          <p:cNvPr id="61444" name="Rectangle 2">
            <a:extLst>
              <a:ext uri="{FF2B5EF4-FFF2-40B4-BE49-F238E27FC236}">
                <a16:creationId xmlns:a16="http://schemas.microsoft.com/office/drawing/2014/main" id="{B608CFEA-00E2-4643-BB30-DD71F20FA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2248" y="2476499"/>
            <a:ext cx="3086100" cy="1593850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>
            <a:outerShdw dist="107933" dir="2700000" algn="ctr" rotWithShape="0">
              <a:srgbClr val="000000"/>
            </a:outerShdw>
          </a:effec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2000"/>
          </a:p>
        </p:txBody>
      </p:sp>
      <p:sp>
        <p:nvSpPr>
          <p:cNvPr id="61445" name="Text Box 3">
            <a:extLst>
              <a:ext uri="{FF2B5EF4-FFF2-40B4-BE49-F238E27FC236}">
                <a16:creationId xmlns:a16="http://schemas.microsoft.com/office/drawing/2014/main" id="{FE1DB493-8DDB-7847-BBA6-300C0A1EC9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1298" y="2505074"/>
            <a:ext cx="3128718" cy="463846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35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1pPr>
            <a:lvl2pPr>
              <a:spcBef>
                <a:spcPts val="30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2pPr>
            <a:lvl3pPr>
              <a:spcBef>
                <a:spcPts val="25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{A   B}     {C}    {D   E}</a:t>
            </a:r>
          </a:p>
        </p:txBody>
      </p:sp>
      <p:sp>
        <p:nvSpPr>
          <p:cNvPr id="61446" name="Text Box 4">
            <a:extLst>
              <a:ext uri="{FF2B5EF4-FFF2-40B4-BE49-F238E27FC236}">
                <a16:creationId xmlns:a16="http://schemas.microsoft.com/office/drawing/2014/main" id="{CC064389-84B1-5E47-AE46-2509881450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4462" y="3571874"/>
            <a:ext cx="598539" cy="27918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35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1pPr>
            <a:lvl2pPr>
              <a:spcBef>
                <a:spcPts val="30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2pPr>
            <a:lvl3pPr>
              <a:spcBef>
                <a:spcPts val="25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pPr>
              <a:spcBef>
                <a:spcPct val="0"/>
              </a:spcBef>
              <a:spcAft>
                <a:spcPts val="875"/>
              </a:spcAft>
              <a:buClrTx/>
            </a:pPr>
            <a:r>
              <a:rPr lang="en-US" altLang="en-US" sz="1200" b="1">
                <a:solidFill>
                  <a:srgbClr val="0000FF"/>
                </a:solidFill>
              </a:rPr>
              <a:t>&lt;= m</a:t>
            </a:r>
            <a:r>
              <a:rPr lang="en-US" altLang="en-US" sz="1200" b="1" baseline="-25000">
                <a:solidFill>
                  <a:srgbClr val="0000FF"/>
                </a:solidFill>
              </a:rPr>
              <a:t>s</a:t>
            </a:r>
          </a:p>
        </p:txBody>
      </p:sp>
      <p:sp>
        <p:nvSpPr>
          <p:cNvPr id="61447" name="Text Box 5">
            <a:extLst>
              <a:ext uri="{FF2B5EF4-FFF2-40B4-BE49-F238E27FC236}">
                <a16:creationId xmlns:a16="http://schemas.microsoft.com/office/drawing/2014/main" id="{9EDCBB80-0795-7746-A714-A89E6A89E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836" y="3019424"/>
            <a:ext cx="552052" cy="27918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35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1pPr>
            <a:lvl2pPr>
              <a:spcBef>
                <a:spcPts val="30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2pPr>
            <a:lvl3pPr>
              <a:spcBef>
                <a:spcPts val="25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pPr>
              <a:spcBef>
                <a:spcPct val="0"/>
              </a:spcBef>
              <a:spcAft>
                <a:spcPts val="875"/>
              </a:spcAft>
              <a:buClrTx/>
            </a:pPr>
            <a:r>
              <a:rPr lang="en-US" altLang="en-US" sz="1200" b="1">
                <a:solidFill>
                  <a:srgbClr val="0000FF"/>
                </a:solidFill>
              </a:rPr>
              <a:t>&lt;= x</a:t>
            </a:r>
            <a:r>
              <a:rPr lang="en-US" altLang="en-US" sz="1200" b="1" baseline="-25000">
                <a:solidFill>
                  <a:srgbClr val="0000FF"/>
                </a:solidFill>
              </a:rPr>
              <a:t>g</a:t>
            </a:r>
          </a:p>
        </p:txBody>
      </p:sp>
      <p:sp>
        <p:nvSpPr>
          <p:cNvPr id="61448" name="Text Box 6">
            <a:extLst>
              <a:ext uri="{FF2B5EF4-FFF2-40B4-BE49-F238E27FC236}">
                <a16:creationId xmlns:a16="http://schemas.microsoft.com/office/drawing/2014/main" id="{4BA1B6B5-EBC7-214F-944F-F7D102C7E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6748" y="3019424"/>
            <a:ext cx="471902" cy="27918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35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1pPr>
            <a:lvl2pPr>
              <a:spcBef>
                <a:spcPts val="30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2pPr>
            <a:lvl3pPr>
              <a:spcBef>
                <a:spcPts val="25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200" b="1">
                <a:solidFill>
                  <a:srgbClr val="0000FF"/>
                </a:solidFill>
              </a:rPr>
              <a:t> &gt;n</a:t>
            </a:r>
            <a:r>
              <a:rPr lang="en-US" altLang="en-US" sz="1200" b="1" baseline="-25000">
                <a:solidFill>
                  <a:srgbClr val="0000FF"/>
                </a:solidFill>
              </a:rPr>
              <a:t>g</a:t>
            </a:r>
          </a:p>
        </p:txBody>
      </p:sp>
      <p:sp>
        <p:nvSpPr>
          <p:cNvPr id="61449" name="Freeform 7">
            <a:extLst>
              <a:ext uri="{FF2B5EF4-FFF2-40B4-BE49-F238E27FC236}">
                <a16:creationId xmlns:a16="http://schemas.microsoft.com/office/drawing/2014/main" id="{C943E9B4-E2D1-8242-BFB6-6786D93000EE}"/>
              </a:ext>
            </a:extLst>
          </p:cNvPr>
          <p:cNvSpPr>
            <a:spLocks/>
          </p:cNvSpPr>
          <p:nvPr/>
        </p:nvSpPr>
        <p:spPr bwMode="auto">
          <a:xfrm>
            <a:off x="2182262" y="3844925"/>
            <a:ext cx="2771775" cy="1587"/>
          </a:xfrm>
          <a:custGeom>
            <a:avLst/>
            <a:gdLst>
              <a:gd name="T0" fmla="*/ 0 w 9314"/>
              <a:gd name="T1" fmla="*/ 0 h 1"/>
              <a:gd name="T2" fmla="*/ 2147483646 w 9314"/>
              <a:gd name="T3" fmla="*/ 0 h 1"/>
              <a:gd name="T4" fmla="*/ 0 w 9314"/>
              <a:gd name="T5" fmla="*/ 0 h 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314" h="1">
                <a:moveTo>
                  <a:pt x="0" y="0"/>
                </a:moveTo>
                <a:lnTo>
                  <a:pt x="9313" y="0"/>
                </a:lnTo>
                <a:lnTo>
                  <a:pt x="0" y="0"/>
                </a:lnTo>
              </a:path>
            </a:pathLst>
          </a:cu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1450" name="Freeform 8">
            <a:extLst>
              <a:ext uri="{FF2B5EF4-FFF2-40B4-BE49-F238E27FC236}">
                <a16:creationId xmlns:a16="http://schemas.microsoft.com/office/drawing/2014/main" id="{8A9B3CBC-1C46-C04D-9710-72CBD6089B1F}"/>
              </a:ext>
            </a:extLst>
          </p:cNvPr>
          <p:cNvSpPr>
            <a:spLocks/>
          </p:cNvSpPr>
          <p:nvPr/>
        </p:nvSpPr>
        <p:spPr bwMode="auto">
          <a:xfrm>
            <a:off x="2196549" y="3311525"/>
            <a:ext cx="1636713" cy="1587"/>
          </a:xfrm>
          <a:custGeom>
            <a:avLst/>
            <a:gdLst>
              <a:gd name="T0" fmla="*/ 0 w 5504"/>
              <a:gd name="T1" fmla="*/ 0 h 1"/>
              <a:gd name="T2" fmla="*/ 2147483646 w 5504"/>
              <a:gd name="T3" fmla="*/ 0 h 1"/>
              <a:gd name="T4" fmla="*/ 0 w 5504"/>
              <a:gd name="T5" fmla="*/ 0 h 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504" h="1">
                <a:moveTo>
                  <a:pt x="0" y="0"/>
                </a:moveTo>
                <a:lnTo>
                  <a:pt x="5503" y="0"/>
                </a:lnTo>
                <a:lnTo>
                  <a:pt x="0" y="0"/>
                </a:lnTo>
              </a:path>
            </a:pathLst>
          </a:cu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1451" name="Freeform 9">
            <a:extLst>
              <a:ext uri="{FF2B5EF4-FFF2-40B4-BE49-F238E27FC236}">
                <a16:creationId xmlns:a16="http://schemas.microsoft.com/office/drawing/2014/main" id="{EC385C5F-9D28-0D43-8FED-2640B3B4BE39}"/>
              </a:ext>
            </a:extLst>
          </p:cNvPr>
          <p:cNvSpPr>
            <a:spLocks/>
          </p:cNvSpPr>
          <p:nvPr/>
        </p:nvSpPr>
        <p:spPr bwMode="auto">
          <a:xfrm>
            <a:off x="3836436" y="3305174"/>
            <a:ext cx="400050" cy="6350"/>
          </a:xfrm>
          <a:custGeom>
            <a:avLst/>
            <a:gdLst>
              <a:gd name="T0" fmla="*/ 0 w 1483"/>
              <a:gd name="T1" fmla="*/ 2147483646 h 19"/>
              <a:gd name="T2" fmla="*/ 2147483646 w 1483"/>
              <a:gd name="T3" fmla="*/ 0 h 19"/>
              <a:gd name="T4" fmla="*/ 0 w 1483"/>
              <a:gd name="T5" fmla="*/ 2147483646 h 1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83" h="19">
                <a:moveTo>
                  <a:pt x="0" y="18"/>
                </a:moveTo>
                <a:lnTo>
                  <a:pt x="1482" y="0"/>
                </a:lnTo>
                <a:lnTo>
                  <a:pt x="0" y="18"/>
                </a:lnTo>
              </a:path>
            </a:pathLst>
          </a:cu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1452" name="Freeform 10">
            <a:extLst>
              <a:ext uri="{FF2B5EF4-FFF2-40B4-BE49-F238E27FC236}">
                <a16:creationId xmlns:a16="http://schemas.microsoft.com/office/drawing/2014/main" id="{142C3023-CD74-F041-9CAA-5612660FF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2262" y="2822574"/>
            <a:ext cx="1587" cy="1022350"/>
          </a:xfrm>
          <a:custGeom>
            <a:avLst/>
            <a:gdLst>
              <a:gd name="T0" fmla="*/ 0 w 1"/>
              <a:gd name="T1" fmla="*/ 0 h 3128"/>
              <a:gd name="T2" fmla="*/ 0 w 1"/>
              <a:gd name="T3" fmla="*/ 2147483646 h 3128"/>
              <a:gd name="T4" fmla="*/ 0 w 1"/>
              <a:gd name="T5" fmla="*/ 0 h 312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" h="3128">
                <a:moveTo>
                  <a:pt x="0" y="0"/>
                </a:moveTo>
                <a:lnTo>
                  <a:pt x="0" y="3127"/>
                </a:lnTo>
                <a:lnTo>
                  <a:pt x="0" y="0"/>
                </a:lnTo>
              </a:path>
            </a:pathLst>
          </a:cu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1453" name="Freeform 11">
            <a:extLst>
              <a:ext uri="{FF2B5EF4-FFF2-40B4-BE49-F238E27FC236}">
                <a16:creationId xmlns:a16="http://schemas.microsoft.com/office/drawing/2014/main" id="{08C8785F-A95C-5C43-82C4-6D3D0033A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6437" y="3041650"/>
            <a:ext cx="1587" cy="471487"/>
          </a:xfrm>
          <a:custGeom>
            <a:avLst/>
            <a:gdLst>
              <a:gd name="T0" fmla="*/ 0 w 1"/>
              <a:gd name="T1" fmla="*/ 2147483646 h 1443"/>
              <a:gd name="T2" fmla="*/ 0 w 1"/>
              <a:gd name="T3" fmla="*/ 0 h 1443"/>
              <a:gd name="T4" fmla="*/ 0 w 1"/>
              <a:gd name="T5" fmla="*/ 2147483646 h 144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" h="1443">
                <a:moveTo>
                  <a:pt x="0" y="1442"/>
                </a:moveTo>
                <a:lnTo>
                  <a:pt x="0" y="0"/>
                </a:lnTo>
                <a:lnTo>
                  <a:pt x="0" y="1442"/>
                </a:lnTo>
              </a:path>
            </a:pathLst>
          </a:cu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1454" name="Freeform 12">
            <a:extLst>
              <a:ext uri="{FF2B5EF4-FFF2-40B4-BE49-F238E27FC236}">
                <a16:creationId xmlns:a16="http://schemas.microsoft.com/office/drawing/2014/main" id="{C426020C-C79E-A047-A3C2-7D1609F8F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548" y="2981325"/>
            <a:ext cx="1588" cy="1023937"/>
          </a:xfrm>
          <a:custGeom>
            <a:avLst/>
            <a:gdLst>
              <a:gd name="T0" fmla="*/ 0 w 1"/>
              <a:gd name="T1" fmla="*/ 0 h 3128"/>
              <a:gd name="T2" fmla="*/ 0 w 1"/>
              <a:gd name="T3" fmla="*/ 2147483646 h 3128"/>
              <a:gd name="T4" fmla="*/ 0 w 1"/>
              <a:gd name="T5" fmla="*/ 0 h 312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" h="3128">
                <a:moveTo>
                  <a:pt x="0" y="0"/>
                </a:moveTo>
                <a:lnTo>
                  <a:pt x="0" y="3127"/>
                </a:lnTo>
                <a:lnTo>
                  <a:pt x="0" y="0"/>
                </a:lnTo>
              </a:path>
            </a:pathLst>
          </a:cu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1455" name="Text Box 13">
            <a:extLst>
              <a:ext uri="{FF2B5EF4-FFF2-40B4-BE49-F238E27FC236}">
                <a16:creationId xmlns:a16="http://schemas.microsoft.com/office/drawing/2014/main" id="{0405A154-1F6A-7147-8955-15D8784B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6948" y="2260599"/>
            <a:ext cx="4999038" cy="1992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35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1pPr>
            <a:lvl2pPr>
              <a:spcBef>
                <a:spcPts val="30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2pPr>
            <a:lvl3pPr>
              <a:spcBef>
                <a:spcPts val="25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pPr>
              <a:spcBef>
                <a:spcPts val="225"/>
              </a:spcBef>
              <a:spcAft>
                <a:spcPts val="1125"/>
              </a:spcAft>
              <a:buClrTx/>
            </a:pPr>
            <a:r>
              <a:rPr lang="en-US" altLang="en-US" sz="1600" b="1" dirty="0" err="1"/>
              <a:t>x</a:t>
            </a:r>
            <a:r>
              <a:rPr lang="en-US" altLang="en-US" sz="1600" b="1" baseline="-25000" dirty="0" err="1"/>
              <a:t>g</a:t>
            </a:r>
            <a:r>
              <a:rPr lang="en-US" altLang="en-US" sz="1600" b="1" dirty="0"/>
              <a:t>: max-gap   		</a:t>
            </a:r>
            <a:r>
              <a:rPr lang="en-US" altLang="en-US" sz="1600" b="1" dirty="0">
                <a:sym typeface="Wingdings" pitchFamily="2" charset="2"/>
              </a:rPr>
              <a:t></a:t>
            </a:r>
            <a:endParaRPr lang="en-US" altLang="en-US" sz="1600" b="1" dirty="0"/>
          </a:p>
          <a:p>
            <a:pPr>
              <a:spcBef>
                <a:spcPts val="225"/>
              </a:spcBef>
              <a:spcAft>
                <a:spcPts val="1125"/>
              </a:spcAft>
              <a:buClrTx/>
            </a:pPr>
            <a:endParaRPr lang="en-US" altLang="en-US" sz="1600" b="1" dirty="0"/>
          </a:p>
          <a:p>
            <a:pPr>
              <a:spcBef>
                <a:spcPts val="225"/>
              </a:spcBef>
              <a:spcAft>
                <a:spcPts val="1125"/>
              </a:spcAft>
              <a:buClrTx/>
            </a:pPr>
            <a:r>
              <a:rPr lang="en-US" altLang="en-US" sz="1600" b="1" dirty="0"/>
              <a:t>n</a:t>
            </a:r>
            <a:r>
              <a:rPr lang="en-US" altLang="en-US" sz="1600" b="1" baseline="-25000" dirty="0"/>
              <a:t>g</a:t>
            </a:r>
            <a:r>
              <a:rPr lang="en-US" altLang="en-US" sz="1600" b="1" dirty="0"/>
              <a:t>: min-gap		</a:t>
            </a:r>
            <a:r>
              <a:rPr lang="en-US" altLang="en-US" sz="1600" b="1" dirty="0">
                <a:sym typeface="Wingdings" pitchFamily="2" charset="2"/>
              </a:rPr>
              <a:t> </a:t>
            </a:r>
            <a:endParaRPr lang="en-US" altLang="en-US" sz="1600" b="1" dirty="0"/>
          </a:p>
          <a:p>
            <a:pPr>
              <a:spcBef>
                <a:spcPts val="225"/>
              </a:spcBef>
              <a:spcAft>
                <a:spcPts val="1125"/>
              </a:spcAft>
              <a:buClrTx/>
            </a:pPr>
            <a:endParaRPr lang="en-US" altLang="en-US" sz="1600" b="1" dirty="0"/>
          </a:p>
          <a:p>
            <a:pPr>
              <a:spcBef>
                <a:spcPts val="225"/>
              </a:spcBef>
              <a:spcAft>
                <a:spcPts val="1125"/>
              </a:spcAft>
              <a:buClrTx/>
            </a:pPr>
            <a:r>
              <a:rPr lang="en-US" altLang="en-US" sz="1600" b="1" dirty="0" err="1"/>
              <a:t>m</a:t>
            </a:r>
            <a:r>
              <a:rPr lang="en-US" altLang="en-US" sz="1600" b="1" baseline="-25000" dirty="0" err="1"/>
              <a:t>s</a:t>
            </a:r>
            <a:r>
              <a:rPr lang="en-US" altLang="en-US" sz="1600" b="1" dirty="0"/>
              <a:t>: maximum span</a:t>
            </a:r>
            <a:r>
              <a:rPr lang="en-US" altLang="en-US" sz="1600" b="1" dirty="0">
                <a:sym typeface="Wingdings" pitchFamily="2" charset="2"/>
              </a:rPr>
              <a:t> </a:t>
            </a:r>
            <a:endParaRPr lang="en-US" altLang="en-US" sz="1600" b="1" dirty="0"/>
          </a:p>
        </p:txBody>
      </p:sp>
      <p:graphicFrame>
        <p:nvGraphicFramePr>
          <p:cNvPr id="22542" name="Group 14">
            <a:extLst>
              <a:ext uri="{FF2B5EF4-FFF2-40B4-BE49-F238E27FC236}">
                <a16:creationId xmlns:a16="http://schemas.microsoft.com/office/drawing/2014/main" id="{6243F45F-8E20-0D48-9AA6-917D1DAE758A}"/>
              </a:ext>
            </a:extLst>
          </p:cNvPr>
          <p:cNvGraphicFramePr>
            <a:graphicFrameLocks noGrp="1"/>
          </p:cNvGraphicFramePr>
          <p:nvPr/>
        </p:nvGraphicFramePr>
        <p:xfrm>
          <a:off x="1935164" y="4953000"/>
          <a:ext cx="8320087" cy="1811340"/>
        </p:xfrm>
        <a:graphic>
          <a:graphicData uri="http://schemas.openxmlformats.org/drawingml/2006/table">
            <a:tbl>
              <a:tblPr/>
              <a:tblGrid>
                <a:gridCol w="356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5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5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9880">
                <a:tc>
                  <a:txBody>
                    <a:bodyPr/>
                    <a:lstStyle>
                      <a:lvl1pPr>
                        <a:spcBef>
                          <a:spcPts val="3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1pPr>
                      <a:lvl2pPr>
                        <a:spcBef>
                          <a:spcPts val="30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2pPr>
                      <a:lvl3pPr>
                        <a:spcBef>
                          <a:spcPts val="2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81000"/>
                        </a:lnSpc>
                        <a:spcBef>
                          <a:spcPts val="250"/>
                        </a:spcBef>
                        <a:spcAft>
                          <a:spcPts val="40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rPr>
                        <a:t>Data sequence</a:t>
                      </a:r>
                    </a:p>
                  </a:txBody>
                  <a:tcPr marL="90000" marR="90000" marT="145510" marB="46816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3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1pPr>
                      <a:lvl2pPr>
                        <a:spcBef>
                          <a:spcPts val="30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2pPr>
                      <a:lvl3pPr>
                        <a:spcBef>
                          <a:spcPts val="2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81000"/>
                        </a:lnSpc>
                        <a:spcBef>
                          <a:spcPts val="250"/>
                        </a:spcBef>
                        <a:spcAft>
                          <a:spcPts val="40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rPr>
                        <a:t>Subsequence</a:t>
                      </a:r>
                    </a:p>
                  </a:txBody>
                  <a:tcPr marL="90000" marR="90000" marT="145510" marB="46816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3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1pPr>
                      <a:lvl2pPr>
                        <a:spcBef>
                          <a:spcPts val="30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2pPr>
                      <a:lvl3pPr>
                        <a:spcBef>
                          <a:spcPts val="2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81000"/>
                        </a:lnSpc>
                        <a:spcBef>
                          <a:spcPts val="250"/>
                        </a:spcBef>
                        <a:spcAft>
                          <a:spcPts val="40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rPr>
                        <a:t>Contain?</a:t>
                      </a:r>
                    </a:p>
                  </a:txBody>
                  <a:tcPr marL="90000" marR="90000" marT="145510" marB="46816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365">
                <a:tc>
                  <a:txBody>
                    <a:bodyPr/>
                    <a:lstStyle>
                      <a:lvl1pPr>
                        <a:spcBef>
                          <a:spcPts val="3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1pPr>
                      <a:lvl2pPr>
                        <a:spcBef>
                          <a:spcPts val="30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2pPr>
                      <a:lvl3pPr>
                        <a:spcBef>
                          <a:spcPts val="2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81000"/>
                        </a:lnSpc>
                        <a:spcBef>
                          <a:spcPts val="225"/>
                        </a:spcBef>
                        <a:spcAft>
                          <a:spcPts val="40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rPr>
                        <a:t>&lt; {2,4} {3,5,6} {4,7} {4,5} {8} &gt;</a:t>
                      </a:r>
                    </a:p>
                  </a:txBody>
                  <a:tcPr marL="90000" marR="90000" marT="135641" marB="46816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3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1pPr>
                      <a:lvl2pPr>
                        <a:spcBef>
                          <a:spcPts val="30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2pPr>
                      <a:lvl3pPr>
                        <a:spcBef>
                          <a:spcPts val="2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81000"/>
                        </a:lnSpc>
                        <a:spcBef>
                          <a:spcPts val="225"/>
                        </a:spcBef>
                        <a:spcAft>
                          <a:spcPts val="40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rPr>
                        <a:t>&lt; {6} {5} &gt;</a:t>
                      </a:r>
                    </a:p>
                  </a:txBody>
                  <a:tcPr marL="90000" marR="90000" marT="135641" marB="46816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3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1pPr>
                      <a:lvl2pPr>
                        <a:spcBef>
                          <a:spcPts val="30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2pPr>
                      <a:lvl3pPr>
                        <a:spcBef>
                          <a:spcPts val="2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81000"/>
                        </a:lnSpc>
                        <a:spcBef>
                          <a:spcPts val="225"/>
                        </a:spcBef>
                        <a:spcAft>
                          <a:spcPts val="40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rPr>
                        <a:t>Yes</a:t>
                      </a:r>
                    </a:p>
                  </a:txBody>
                  <a:tcPr marL="90000" marR="90000" marT="135641" marB="46816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365">
                <a:tc>
                  <a:txBody>
                    <a:bodyPr/>
                    <a:lstStyle>
                      <a:lvl1pPr>
                        <a:spcBef>
                          <a:spcPts val="3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1pPr>
                      <a:lvl2pPr>
                        <a:spcBef>
                          <a:spcPts val="30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2pPr>
                      <a:lvl3pPr>
                        <a:spcBef>
                          <a:spcPts val="2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81000"/>
                        </a:lnSpc>
                        <a:spcBef>
                          <a:spcPts val="225"/>
                        </a:spcBef>
                        <a:spcAft>
                          <a:spcPts val="40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rPr>
                        <a:t>&lt; {1} {2} {3} {4} {5}&gt;</a:t>
                      </a:r>
                    </a:p>
                  </a:txBody>
                  <a:tcPr marL="90000" marR="90000" marT="135641" marB="46816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3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1pPr>
                      <a:lvl2pPr>
                        <a:spcBef>
                          <a:spcPts val="30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2pPr>
                      <a:lvl3pPr>
                        <a:spcBef>
                          <a:spcPts val="2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81000"/>
                        </a:lnSpc>
                        <a:spcBef>
                          <a:spcPts val="225"/>
                        </a:spcBef>
                        <a:spcAft>
                          <a:spcPts val="40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rPr>
                        <a:t>&lt; {1} {4} &gt;</a:t>
                      </a:r>
                    </a:p>
                  </a:txBody>
                  <a:tcPr marL="90000" marR="90000" marT="135641" marB="46816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3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1pPr>
                      <a:lvl2pPr>
                        <a:spcBef>
                          <a:spcPts val="30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2pPr>
                      <a:lvl3pPr>
                        <a:spcBef>
                          <a:spcPts val="2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81000"/>
                        </a:lnSpc>
                        <a:spcBef>
                          <a:spcPts val="225"/>
                        </a:spcBef>
                        <a:spcAft>
                          <a:spcPts val="40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rPr>
                        <a:t>No</a:t>
                      </a:r>
                    </a:p>
                  </a:txBody>
                  <a:tcPr marL="90000" marR="90000" marT="135641" marB="46816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365">
                <a:tc>
                  <a:txBody>
                    <a:bodyPr/>
                    <a:lstStyle>
                      <a:lvl1pPr>
                        <a:spcBef>
                          <a:spcPts val="3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1pPr>
                      <a:lvl2pPr>
                        <a:spcBef>
                          <a:spcPts val="30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2pPr>
                      <a:lvl3pPr>
                        <a:spcBef>
                          <a:spcPts val="2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81000"/>
                        </a:lnSpc>
                        <a:spcBef>
                          <a:spcPts val="225"/>
                        </a:spcBef>
                        <a:spcAft>
                          <a:spcPts val="40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rPr>
                        <a:t>&lt; {1} {2,3} {3,4} {4,5}&gt;</a:t>
                      </a:r>
                    </a:p>
                  </a:txBody>
                  <a:tcPr marL="90000" marR="90000" marT="135641" marB="46816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3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1pPr>
                      <a:lvl2pPr>
                        <a:spcBef>
                          <a:spcPts val="30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2pPr>
                      <a:lvl3pPr>
                        <a:spcBef>
                          <a:spcPts val="2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81000"/>
                        </a:lnSpc>
                        <a:spcBef>
                          <a:spcPts val="225"/>
                        </a:spcBef>
                        <a:spcAft>
                          <a:spcPts val="40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rPr>
                        <a:t>&lt; {2} {3} {5} &gt; </a:t>
                      </a:r>
                    </a:p>
                  </a:txBody>
                  <a:tcPr marL="90000" marR="90000" marT="135641" marB="46816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3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1pPr>
                      <a:lvl2pPr>
                        <a:spcBef>
                          <a:spcPts val="30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2pPr>
                      <a:lvl3pPr>
                        <a:spcBef>
                          <a:spcPts val="2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81000"/>
                        </a:lnSpc>
                        <a:spcBef>
                          <a:spcPts val="225"/>
                        </a:spcBef>
                        <a:spcAft>
                          <a:spcPts val="40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rPr>
                        <a:t>Yes</a:t>
                      </a:r>
                    </a:p>
                  </a:txBody>
                  <a:tcPr marL="90000" marR="90000" marT="135641" marB="46816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365">
                <a:tc>
                  <a:txBody>
                    <a:bodyPr/>
                    <a:lstStyle>
                      <a:lvl1pPr>
                        <a:spcBef>
                          <a:spcPts val="3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1pPr>
                      <a:lvl2pPr>
                        <a:spcBef>
                          <a:spcPts val="30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2pPr>
                      <a:lvl3pPr>
                        <a:spcBef>
                          <a:spcPts val="2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81000"/>
                        </a:lnSpc>
                        <a:spcBef>
                          <a:spcPts val="225"/>
                        </a:spcBef>
                        <a:spcAft>
                          <a:spcPts val="40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rPr>
                        <a:t>&lt; {1,2} {3} {2,3} {3,4} {2,4} {4,5}&gt;</a:t>
                      </a:r>
                    </a:p>
                  </a:txBody>
                  <a:tcPr marL="90000" marR="90000" marT="135641" marB="46816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3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1pPr>
                      <a:lvl2pPr>
                        <a:spcBef>
                          <a:spcPts val="30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2pPr>
                      <a:lvl3pPr>
                        <a:spcBef>
                          <a:spcPts val="2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81000"/>
                        </a:lnSpc>
                        <a:spcBef>
                          <a:spcPts val="225"/>
                        </a:spcBef>
                        <a:spcAft>
                          <a:spcPts val="40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rPr>
                        <a:t>&lt; {1,2} {5} &gt;</a:t>
                      </a:r>
                    </a:p>
                  </a:txBody>
                  <a:tcPr marL="90000" marR="90000" marT="135641" marB="46816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3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1pPr>
                      <a:lvl2pPr>
                        <a:spcBef>
                          <a:spcPts val="30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2pPr>
                      <a:lvl3pPr>
                        <a:spcBef>
                          <a:spcPts val="250"/>
                        </a:spcBef>
                        <a:spcAft>
                          <a:spcPts val="400"/>
                        </a:spcAft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jaVu Sans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81000"/>
                        </a:lnSpc>
                        <a:spcBef>
                          <a:spcPts val="225"/>
                        </a:spcBef>
                        <a:spcAft>
                          <a:spcPts val="40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jaVu Sans" charset="0"/>
                          <a:cs typeface="DejaVu Sans" charset="0"/>
                        </a:rPr>
                        <a:t>No</a:t>
                      </a:r>
                    </a:p>
                  </a:txBody>
                  <a:tcPr marL="90000" marR="90000" marT="135641" marB="46816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1482" name="Text Box 68">
            <a:extLst>
              <a:ext uri="{FF2B5EF4-FFF2-40B4-BE49-F238E27FC236}">
                <a16:creationId xmlns:a16="http://schemas.microsoft.com/office/drawing/2014/main" id="{33C84ABF-EB28-ED44-9A4E-13C0E65012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352926"/>
            <a:ext cx="8351838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35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1pPr>
            <a:lvl2pPr>
              <a:spcBef>
                <a:spcPts val="30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2pPr>
            <a:lvl3pPr>
              <a:spcBef>
                <a:spcPts val="25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pPr>
              <a:spcBef>
                <a:spcPts val="225"/>
              </a:spcBef>
              <a:spcAft>
                <a:spcPts val="1125"/>
              </a:spcAft>
              <a:buClrTx/>
            </a:pPr>
            <a:r>
              <a:rPr lang="en-US" altLang="en-US" sz="1600" b="1" dirty="0" err="1"/>
              <a:t>x</a:t>
            </a:r>
            <a:r>
              <a:rPr lang="en-US" altLang="en-US" sz="1600" b="1" baseline="-25000" dirty="0" err="1"/>
              <a:t>g</a:t>
            </a:r>
            <a:r>
              <a:rPr lang="en-US" altLang="en-US" sz="1600" b="1" dirty="0"/>
              <a:t> = 2, n</a:t>
            </a:r>
            <a:r>
              <a:rPr lang="en-US" altLang="en-US" sz="1600" b="1" baseline="-25000" dirty="0"/>
              <a:t>g</a:t>
            </a:r>
            <a:r>
              <a:rPr lang="en-US" altLang="en-US" sz="1600" b="1" dirty="0"/>
              <a:t> = 0, </a:t>
            </a:r>
            <a:r>
              <a:rPr lang="en-US" altLang="en-US" sz="1600" b="1" dirty="0" err="1"/>
              <a:t>m</a:t>
            </a:r>
            <a:r>
              <a:rPr lang="en-US" altLang="en-US" sz="1600" b="1" baseline="-25000" dirty="0" err="1"/>
              <a:t>s</a:t>
            </a:r>
            <a:r>
              <a:rPr lang="en-US" altLang="en-US" sz="1600" b="1" dirty="0"/>
              <a:t>= 4             </a:t>
            </a:r>
            <a:r>
              <a:rPr lang="en-US" altLang="en-US" sz="1600" dirty="0">
                <a:sym typeface="Wingdings" pitchFamily="2" charset="2"/>
              </a:rPr>
              <a:t> 	consecutive transactions at most distance 2</a:t>
            </a:r>
            <a:br>
              <a:rPr lang="en-US" altLang="en-US" sz="1600" dirty="0">
                <a:sym typeface="Wingdings" pitchFamily="2" charset="2"/>
              </a:rPr>
            </a:br>
            <a:r>
              <a:rPr lang="en-US" altLang="en-US" sz="1600" dirty="0">
                <a:sym typeface="Wingdings" pitchFamily="2" charset="2"/>
              </a:rPr>
              <a:t>								&amp; overall duration at most 4 time units</a:t>
            </a:r>
            <a:endParaRPr lang="en-US" altLang="en-US" sz="1600" dirty="0"/>
          </a:p>
        </p:txBody>
      </p:sp>
      <p:sp>
        <p:nvSpPr>
          <p:cNvPr id="61483" name="Freeform 69">
            <a:extLst>
              <a:ext uri="{FF2B5EF4-FFF2-40B4-BE49-F238E27FC236}">
                <a16:creationId xmlns:a16="http://schemas.microsoft.com/office/drawing/2014/main" id="{4B354064-9244-5446-B868-112807502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3948" y="3030536"/>
            <a:ext cx="1588" cy="471488"/>
          </a:xfrm>
          <a:custGeom>
            <a:avLst/>
            <a:gdLst>
              <a:gd name="T0" fmla="*/ 0 w 1"/>
              <a:gd name="T1" fmla="*/ 2147483646 h 1443"/>
              <a:gd name="T2" fmla="*/ 0 w 1"/>
              <a:gd name="T3" fmla="*/ 0 h 1443"/>
              <a:gd name="T4" fmla="*/ 0 w 1"/>
              <a:gd name="T5" fmla="*/ 2147483646 h 144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" h="1443">
                <a:moveTo>
                  <a:pt x="0" y="1442"/>
                </a:moveTo>
                <a:lnTo>
                  <a:pt x="0" y="0"/>
                </a:lnTo>
                <a:lnTo>
                  <a:pt x="0" y="1442"/>
                </a:lnTo>
              </a:path>
            </a:pathLst>
          </a:cu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1484" name="Text Box 13">
            <a:extLst>
              <a:ext uri="{FF2B5EF4-FFF2-40B4-BE49-F238E27FC236}">
                <a16:creationId xmlns:a16="http://schemas.microsoft.com/office/drawing/2014/main" id="{3E6B1B60-D84A-7B48-9751-73E199ADF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2122488"/>
            <a:ext cx="3048000" cy="2595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35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1pPr>
            <a:lvl2pPr>
              <a:spcBef>
                <a:spcPts val="30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2pPr>
            <a:lvl3pPr>
              <a:spcBef>
                <a:spcPts val="25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pPr>
              <a:spcBef>
                <a:spcPts val="225"/>
              </a:spcBef>
              <a:spcAft>
                <a:spcPts val="1125"/>
              </a:spcAft>
              <a:buClrTx/>
            </a:pPr>
            <a:r>
              <a:rPr lang="en-US" altLang="en-US" sz="1400" dirty="0"/>
              <a:t>Each transaction of the pattern instance must be </a:t>
            </a:r>
            <a:r>
              <a:rPr lang="en-US" altLang="en-US" sz="1400" b="1" dirty="0"/>
              <a:t>at most </a:t>
            </a:r>
            <a:r>
              <a:rPr lang="en-US" altLang="en-US" sz="1400" dirty="0" err="1"/>
              <a:t>x</a:t>
            </a:r>
            <a:r>
              <a:rPr lang="en-US" altLang="en-US" sz="1400" baseline="-25000" dirty="0" err="1"/>
              <a:t>g</a:t>
            </a:r>
            <a:r>
              <a:rPr lang="en-US" altLang="en-US" sz="1400" dirty="0"/>
              <a:t> time after the previous one</a:t>
            </a:r>
            <a:endParaRPr lang="en-US" altLang="en-US" sz="1600" dirty="0"/>
          </a:p>
          <a:p>
            <a:pPr>
              <a:spcBef>
                <a:spcPts val="225"/>
              </a:spcBef>
              <a:spcAft>
                <a:spcPts val="1125"/>
              </a:spcAft>
              <a:buClrTx/>
            </a:pPr>
            <a:r>
              <a:rPr lang="en-US" altLang="en-US" sz="1400" dirty="0"/>
              <a:t>Each transaction of the pattern instance must be </a:t>
            </a:r>
            <a:r>
              <a:rPr lang="en-US" altLang="en-US" sz="1400" b="1" dirty="0"/>
              <a:t>at least </a:t>
            </a:r>
            <a:r>
              <a:rPr lang="en-US" altLang="en-US" sz="1400" dirty="0"/>
              <a:t>n</a:t>
            </a:r>
            <a:r>
              <a:rPr lang="en-US" altLang="en-US" sz="1400" baseline="-25000" dirty="0"/>
              <a:t>g</a:t>
            </a:r>
            <a:r>
              <a:rPr lang="en-US" altLang="en-US" sz="1400" dirty="0"/>
              <a:t> time after the previous one</a:t>
            </a:r>
          </a:p>
          <a:p>
            <a:pPr>
              <a:spcBef>
                <a:spcPts val="225"/>
              </a:spcBef>
              <a:spcAft>
                <a:spcPts val="1125"/>
              </a:spcAft>
              <a:buClrTx/>
            </a:pPr>
            <a:r>
              <a:rPr lang="en-US" altLang="en-US" sz="1400" dirty="0"/>
              <a:t>The overall duration of the pattern instance must be at most </a:t>
            </a:r>
            <a:r>
              <a:rPr lang="en-US" altLang="en-US" sz="1400" b="1" dirty="0" err="1"/>
              <a:t>m</a:t>
            </a:r>
            <a:r>
              <a:rPr lang="en-US" altLang="en-US" sz="1400" b="1" baseline="-25000" dirty="0" err="1"/>
              <a:t>s</a:t>
            </a:r>
            <a:r>
              <a:rPr lang="en-US" altLang="en-US" sz="1600" dirty="0"/>
              <a:t> </a:t>
            </a:r>
            <a:endParaRPr lang="en-US" altLang="en-US" sz="1800" dirty="0"/>
          </a:p>
          <a:p>
            <a:pPr>
              <a:spcBef>
                <a:spcPts val="225"/>
              </a:spcBef>
              <a:spcAft>
                <a:spcPts val="1125"/>
              </a:spcAft>
              <a:buClrTx/>
            </a:pPr>
            <a:endParaRPr lang="en-US" altLang="en-US" sz="1600" b="1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3B7BF7B5-EDDA-A24A-9486-A7D8778B40C5}"/>
              </a:ext>
            </a:extLst>
          </p:cNvPr>
          <p:cNvSpPr/>
          <p:nvPr/>
        </p:nvSpPr>
        <p:spPr>
          <a:xfrm>
            <a:off x="8799927" y="5350668"/>
            <a:ext cx="887896" cy="3063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209B756E-7A06-8F45-BB16-7F6AAF23DE03}"/>
              </a:ext>
            </a:extLst>
          </p:cNvPr>
          <p:cNvSpPr/>
          <p:nvPr/>
        </p:nvSpPr>
        <p:spPr>
          <a:xfrm>
            <a:off x="8799927" y="5716569"/>
            <a:ext cx="887896" cy="3063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7C921234-22F1-304E-9496-5B592E8D108F}"/>
              </a:ext>
            </a:extLst>
          </p:cNvPr>
          <p:cNvSpPr/>
          <p:nvPr/>
        </p:nvSpPr>
        <p:spPr>
          <a:xfrm>
            <a:off x="8799927" y="6061521"/>
            <a:ext cx="887896" cy="3063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23AEFC70-34A1-D547-AAB7-C9E3922F0335}"/>
              </a:ext>
            </a:extLst>
          </p:cNvPr>
          <p:cNvSpPr/>
          <p:nvPr/>
        </p:nvSpPr>
        <p:spPr>
          <a:xfrm>
            <a:off x="8812455" y="6428581"/>
            <a:ext cx="887896" cy="3063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222910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  <p:bldP spid="61444" grpId="0" animBg="1"/>
      <p:bldP spid="61445" grpId="0" animBg="1"/>
      <p:bldP spid="61446" grpId="0" animBg="1"/>
      <p:bldP spid="61447" grpId="0" animBg="1"/>
      <p:bldP spid="61448" grpId="0" animBg="1"/>
      <p:bldP spid="61449" grpId="0" animBg="1"/>
      <p:bldP spid="61450" grpId="0" animBg="1"/>
      <p:bldP spid="61451" grpId="0" animBg="1"/>
      <p:bldP spid="61452" grpId="0" animBg="1"/>
      <p:bldP spid="61453" grpId="0" animBg="1"/>
      <p:bldP spid="61454" grpId="0" animBg="1"/>
      <p:bldP spid="61455" grpId="0"/>
      <p:bldP spid="61482" grpId="0"/>
      <p:bldP spid="61483" grpId="0" animBg="1"/>
      <p:bldP spid="61484" grpId="0"/>
      <p:bldP spid="20" grpId="0" animBg="1"/>
      <p:bldP spid="21" grpId="0" animBg="1"/>
      <p:bldP spid="22" grpId="0" animBg="1"/>
      <p:bldP spid="23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C3A3AC-3479-954B-8863-B2FCBFDCB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References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446C7E5-9491-8A4A-86AB-1AA2743CB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21605" cy="4351338"/>
          </a:xfrm>
        </p:spPr>
        <p:txBody>
          <a:bodyPr/>
          <a:lstStyle/>
          <a:p>
            <a:r>
              <a:rPr lang="en-US" noProof="0" dirty="0"/>
              <a:t>Regression. Chapter 5. Introduction to Data Mining.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7D9B74AC-792C-F540-A9A1-BBFC4C85F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0" y="2341563"/>
            <a:ext cx="3048000" cy="38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6602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utorial_template" id="{EADC5050-CE47-8043-A115-557F9EDEC139}" vid="{327DA43B-6BAE-AF4B-A031-340A272D65B2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B2F56ABDEDC3044B30E8C8676A91964" ma:contentTypeVersion="3" ma:contentTypeDescription="Creare un nuovo documento." ma:contentTypeScope="" ma:versionID="b2f94b8e34c7ac8eea718ce208f72eaa">
  <xsd:schema xmlns:xsd="http://www.w3.org/2001/XMLSchema" xmlns:xs="http://www.w3.org/2001/XMLSchema" xmlns:p="http://schemas.microsoft.com/office/2006/metadata/properties" xmlns:ns2="e17268a9-c167-4582-b3fd-10fdf2b0972b" targetNamespace="http://schemas.microsoft.com/office/2006/metadata/properties" ma:root="true" ma:fieldsID="2766200863a59431bcf671668b910c15" ns2:_="">
    <xsd:import namespace="e17268a9-c167-4582-b3fd-10fdf2b097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7268a9-c167-4582-b3fd-10fdf2b097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C337FAC-3730-4222-B17B-9641B6B7A824}"/>
</file>

<file path=customXml/itemProps2.xml><?xml version="1.0" encoding="utf-8"?>
<ds:datastoreItem xmlns:ds="http://schemas.openxmlformats.org/officeDocument/2006/customXml" ds:itemID="{2A022783-F4FE-4212-9D2D-93E3581E16D2}"/>
</file>

<file path=customXml/itemProps3.xml><?xml version="1.0" encoding="utf-8"?>
<ds:datastoreItem xmlns:ds="http://schemas.openxmlformats.org/officeDocument/2006/customXml" ds:itemID="{377EB136-CD58-4C67-A841-C2355C719D10}"/>
</file>

<file path=docProps/app.xml><?xml version="1.0" encoding="utf-8"?>
<Properties xmlns="http://schemas.openxmlformats.org/officeDocument/2006/extended-properties" xmlns:vt="http://schemas.openxmlformats.org/officeDocument/2006/docPropsVTypes">
  <Template>Tema di Office</Template>
  <TotalTime>17187</TotalTime>
  <Words>10139</Words>
  <Application>Microsoft Macintosh PowerPoint</Application>
  <PresentationFormat>Widescreen</PresentationFormat>
  <Paragraphs>1430</Paragraphs>
  <Slides>135</Slides>
  <Notes>29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12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8</vt:i4>
      </vt:variant>
      <vt:variant>
        <vt:lpstr>Titoli diapositive</vt:lpstr>
      </vt:variant>
      <vt:variant>
        <vt:i4>135</vt:i4>
      </vt:variant>
    </vt:vector>
  </HeadingPairs>
  <TitlesOfParts>
    <vt:vector size="156" baseType="lpstr">
      <vt:lpstr>PMingLiU</vt:lpstr>
      <vt:lpstr>SimSun</vt:lpstr>
      <vt:lpstr>Arial</vt:lpstr>
      <vt:lpstr>Calibri</vt:lpstr>
      <vt:lpstr>Calibri Light</vt:lpstr>
      <vt:lpstr>Century-BoldCondensed</vt:lpstr>
      <vt:lpstr>Comic Sans MS</vt:lpstr>
      <vt:lpstr>Monotype Sorts</vt:lpstr>
      <vt:lpstr>Symbol</vt:lpstr>
      <vt:lpstr>Tahoma</vt:lpstr>
      <vt:lpstr>Times New Roman</vt:lpstr>
      <vt:lpstr>Wingdings</vt:lpstr>
      <vt:lpstr>Tema di Office</vt:lpstr>
      <vt:lpstr>Document</vt:lpstr>
      <vt:lpstr>Immagine bitmap</vt:lpstr>
      <vt:lpstr>Equation</vt:lpstr>
      <vt:lpstr>VISIO</vt:lpstr>
      <vt:lpstr>Visio</vt:lpstr>
      <vt:lpstr>Worksheet</vt:lpstr>
      <vt:lpstr>Documento</vt:lpstr>
      <vt:lpstr>Foglio di lavoro</vt:lpstr>
      <vt:lpstr>DATA MINING 1 Pattern Mining &amp; Association Rule Mining</vt:lpstr>
      <vt:lpstr>Association Rules  - Module Outline</vt:lpstr>
      <vt:lpstr>Market Basket Analysis: The Context</vt:lpstr>
      <vt:lpstr>Market Basket Analysis: The Context</vt:lpstr>
      <vt:lpstr>Goal of MBA</vt:lpstr>
      <vt:lpstr>MBA: applicable to many other contexts</vt:lpstr>
      <vt:lpstr>Association Rules</vt:lpstr>
      <vt:lpstr>Useful, trivial, unexplicable</vt:lpstr>
      <vt:lpstr>Association Rule Mining</vt:lpstr>
      <vt:lpstr>Definition: Frequent Itemset</vt:lpstr>
      <vt:lpstr>Definition: Association Rule</vt:lpstr>
      <vt:lpstr>Association Rules: measures Meaning</vt:lpstr>
      <vt:lpstr>Presentazione standard di PowerPoint</vt:lpstr>
      <vt:lpstr>Association Rules – the effect</vt:lpstr>
      <vt:lpstr>Valid Rules and minsup and min conf</vt:lpstr>
      <vt:lpstr>Association Rules – the parameters  and </vt:lpstr>
      <vt:lpstr>Other measures: INTEREST</vt:lpstr>
      <vt:lpstr>Association Rules – visualization</vt:lpstr>
      <vt:lpstr>Presentazione standard di PowerPoint</vt:lpstr>
      <vt:lpstr>Association Rule Mining Task</vt:lpstr>
      <vt:lpstr>Mining Association Rules</vt:lpstr>
      <vt:lpstr>Mining Association Rules</vt:lpstr>
      <vt:lpstr>Exercise1</vt:lpstr>
      <vt:lpstr>Exercise2</vt:lpstr>
      <vt:lpstr>Exercise3</vt:lpstr>
      <vt:lpstr>Exercise4</vt:lpstr>
      <vt:lpstr>Basic Apriori Algorithm</vt:lpstr>
      <vt:lpstr>Frequent Itemset Generation</vt:lpstr>
      <vt:lpstr>Frequent Itemset Generation</vt:lpstr>
      <vt:lpstr>Frequent Itemset Generation Strategies</vt:lpstr>
      <vt:lpstr>Reducing Number of Candidates</vt:lpstr>
      <vt:lpstr>Illustrating Apriori Principle</vt:lpstr>
      <vt:lpstr>Illustrating Apriori Principle</vt:lpstr>
      <vt:lpstr>Illustrating Apriori Principle</vt:lpstr>
      <vt:lpstr>Illustrating Apriori Principle</vt:lpstr>
      <vt:lpstr>Illustrating Apriori Principle</vt:lpstr>
      <vt:lpstr>Illustrating Apriori Principle</vt:lpstr>
      <vt:lpstr>Illustrating Apriori Principle</vt:lpstr>
      <vt:lpstr>Illustrating Apriori Principle</vt:lpstr>
      <vt:lpstr>Basic Apriori Algorithm</vt:lpstr>
      <vt:lpstr>Apriori Algorithm</vt:lpstr>
      <vt:lpstr>Candidate Generation: Fk-1 x Fk-1 Method</vt:lpstr>
      <vt:lpstr>Candidate Pruning</vt:lpstr>
      <vt:lpstr>Illustrating Apriori Principle</vt:lpstr>
      <vt:lpstr>Support Counting of Candidate Itemsets</vt:lpstr>
      <vt:lpstr>Apriori Execution Example  (min_sup = 2)</vt:lpstr>
      <vt:lpstr>Rule Generation</vt:lpstr>
      <vt:lpstr>Rule Generation</vt:lpstr>
      <vt:lpstr>Rule Generation for Apriori Algorithm</vt:lpstr>
      <vt:lpstr>Maximal Frequent Itemset</vt:lpstr>
      <vt:lpstr>Closed Itemset</vt:lpstr>
      <vt:lpstr>Maximal vs Closed Itemsets</vt:lpstr>
      <vt:lpstr>Pattern Evaluation</vt:lpstr>
      <vt:lpstr>Computing Interestingness Measure</vt:lpstr>
      <vt:lpstr>Drawback of Confidence</vt:lpstr>
      <vt:lpstr>Drawback of Confidence</vt:lpstr>
      <vt:lpstr>Measure for Association Rules</vt:lpstr>
      <vt:lpstr>Statistical Relationship between X and Y</vt:lpstr>
      <vt:lpstr>Measures that take into account statistical dependence</vt:lpstr>
      <vt:lpstr>Example: Lift/Interest</vt:lpstr>
      <vt:lpstr>Multidimensional AR</vt:lpstr>
      <vt:lpstr>Continuous and Categorical Attributes</vt:lpstr>
      <vt:lpstr>Handling Categorical Attributes</vt:lpstr>
      <vt:lpstr>Single-dimensional vs Multi-dimensional AR</vt:lpstr>
      <vt:lpstr>Handling Categorical Attributes</vt:lpstr>
      <vt:lpstr>Handling Categorical Attributes</vt:lpstr>
      <vt:lpstr>Handling Continuous Attributes</vt:lpstr>
      <vt:lpstr>Quantitative Attributes</vt:lpstr>
      <vt:lpstr>Quantitative Association Rules</vt:lpstr>
      <vt:lpstr>Discretization of quantitative attributes</vt:lpstr>
      <vt:lpstr>Discretization-based Methods</vt:lpstr>
      <vt:lpstr>How to choose intervals?</vt:lpstr>
      <vt:lpstr>Multilevel AR</vt:lpstr>
      <vt:lpstr>Concept Hierarchies</vt:lpstr>
      <vt:lpstr>Multi-level Association Rules</vt:lpstr>
      <vt:lpstr>Multi-level Association Rules</vt:lpstr>
      <vt:lpstr>Multi-level Association Rules</vt:lpstr>
      <vt:lpstr>Reasoning with AR</vt:lpstr>
      <vt:lpstr>Beyond Support and Confidence</vt:lpstr>
      <vt:lpstr>Domain dependent measures</vt:lpstr>
      <vt:lpstr>Rule Constraints</vt:lpstr>
      <vt:lpstr>Which tools for market basket analysis?</vt:lpstr>
      <vt:lpstr>Business rules: temporal reasoning on AR</vt:lpstr>
      <vt:lpstr>  Atherosclerosis prevention study</vt:lpstr>
      <vt:lpstr>Atherosclerosis prevention study:</vt:lpstr>
      <vt:lpstr>The input data</vt:lpstr>
      <vt:lpstr>The input data</vt:lpstr>
      <vt:lpstr>The prepared data</vt:lpstr>
      <vt:lpstr>Descriptive Analysis/ Subgroup Discovery /Association Rules</vt:lpstr>
      <vt:lpstr>Example of extracted rules</vt:lpstr>
      <vt:lpstr>Example of extracted rules</vt:lpstr>
      <vt:lpstr>Example of extracted rules</vt:lpstr>
      <vt:lpstr>MBA in Text / Web Content Mining</vt:lpstr>
      <vt:lpstr> “COOL PATTERNS” BMA on retail COOP</vt:lpstr>
      <vt:lpstr>Rule extraction with product Hierarchy </vt:lpstr>
      <vt:lpstr>Evaluation – RA – level Articoli </vt:lpstr>
      <vt:lpstr>Evaluation – RA – Articoli </vt:lpstr>
      <vt:lpstr>Evaluation – RA – Subcategorie </vt:lpstr>
      <vt:lpstr>Evaluation – RA – Categorie </vt:lpstr>
      <vt:lpstr>Evaluation –RA– Reparti</vt:lpstr>
      <vt:lpstr>Evaluation – Profiling – Articoli </vt:lpstr>
      <vt:lpstr>Evaluation – Profiling – Articoli</vt:lpstr>
      <vt:lpstr>Evaluation – Profiling – Subcategorie</vt:lpstr>
      <vt:lpstr>Evaluation – Profiling – Subcategorie</vt:lpstr>
      <vt:lpstr> Sequential Pattern Mining</vt:lpstr>
      <vt:lpstr>Examples of Sequence</vt:lpstr>
      <vt:lpstr>From Itemsets to Sequences</vt:lpstr>
      <vt:lpstr>Frequent Patterns in Complex Domains</vt:lpstr>
      <vt:lpstr>Frequent Patterns in Complex Domains</vt:lpstr>
      <vt:lpstr>Sequential Pattern Discovery: Examples</vt:lpstr>
      <vt:lpstr>Sequence Data and Terminology</vt:lpstr>
      <vt:lpstr>Sequence Data</vt:lpstr>
      <vt:lpstr>Formal Definition of a Sequence</vt:lpstr>
      <vt:lpstr>Formal Definition of a Sequence</vt:lpstr>
      <vt:lpstr>Sequences without Explicit Time Info</vt:lpstr>
      <vt:lpstr>Examples of Sequence</vt:lpstr>
      <vt:lpstr>Formal Definition of a Subsequence</vt:lpstr>
      <vt:lpstr>Formal Definition of Sequential Pattern</vt:lpstr>
      <vt:lpstr>Formal Definition of Sequential Pattern</vt:lpstr>
      <vt:lpstr>Exercise 1</vt:lpstr>
      <vt:lpstr>Exercise 2</vt:lpstr>
      <vt:lpstr>Sequential Pattern Mining: Definition</vt:lpstr>
      <vt:lpstr>Sequential Pattern Mining: Challenge</vt:lpstr>
      <vt:lpstr>Generalized Sequential Pattern (GSP)</vt:lpstr>
      <vt:lpstr>Generalized Sequential Pattern (GSP)</vt:lpstr>
      <vt:lpstr>Extracting Sequential Patterns</vt:lpstr>
      <vt:lpstr>Candidate Generation</vt:lpstr>
      <vt:lpstr>Candidate Generation Examples</vt:lpstr>
      <vt:lpstr>Candidate Pruning</vt:lpstr>
      <vt:lpstr>GSP Example</vt:lpstr>
      <vt:lpstr>GSP Exercise</vt:lpstr>
      <vt:lpstr>GSP Exercise - Solution</vt:lpstr>
      <vt:lpstr>Timing Constraints</vt:lpstr>
      <vt:lpstr>Timing Constraints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Costabello, Luca</dc:creator>
  <cp:lastModifiedBy>FG-ITALY</cp:lastModifiedBy>
  <cp:revision>543</cp:revision>
  <cp:lastPrinted>2019-01-27T07:43:21Z</cp:lastPrinted>
  <dcterms:created xsi:type="dcterms:W3CDTF">2018-12-18T18:14:00Z</dcterms:created>
  <dcterms:modified xsi:type="dcterms:W3CDTF">2026-03-24T09:01:29Z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0x010100BB2F56ABDEDC3044B30E8C8676A91964</vt:lpwstr>
  </property>
</Properties>
</file>