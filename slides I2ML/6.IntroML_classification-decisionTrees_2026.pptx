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media/image110.jpg" ContentType="image/jpeg"/>
  <Override PartName="/ppt/media/image111.jpg" ContentType="image/jpeg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4" r:id="rId4"/>
  </p:sldMasterIdLst>
  <p:notesMasterIdLst>
    <p:notesMasterId r:id="rId135"/>
  </p:notesMasterIdLst>
  <p:handoutMasterIdLst>
    <p:handoutMasterId r:id="rId136"/>
  </p:handoutMasterIdLst>
  <p:sldIdLst>
    <p:sldId id="1168" r:id="rId5"/>
    <p:sldId id="1425" r:id="rId6"/>
    <p:sldId id="1503" r:id="rId7"/>
    <p:sldId id="1504" r:id="rId8"/>
    <p:sldId id="1505" r:id="rId9"/>
    <p:sldId id="1514" r:id="rId10"/>
    <p:sldId id="1515" r:id="rId11"/>
    <p:sldId id="284" r:id="rId12"/>
    <p:sldId id="258" r:id="rId13"/>
    <p:sldId id="257" r:id="rId14"/>
    <p:sldId id="1554" r:id="rId15"/>
    <p:sldId id="260" r:id="rId16"/>
    <p:sldId id="261" r:id="rId17"/>
    <p:sldId id="262" r:id="rId18"/>
    <p:sldId id="1556" r:id="rId19"/>
    <p:sldId id="263" r:id="rId20"/>
    <p:sldId id="464" r:id="rId21"/>
    <p:sldId id="448" r:id="rId22"/>
    <p:sldId id="449" r:id="rId23"/>
    <p:sldId id="1422" r:id="rId24"/>
    <p:sldId id="600" r:id="rId25"/>
    <p:sldId id="1394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304" r:id="rId35"/>
    <p:sldId id="470" r:id="rId36"/>
    <p:sldId id="473" r:id="rId37"/>
    <p:sldId id="538" r:id="rId38"/>
    <p:sldId id="1395" r:id="rId39"/>
    <p:sldId id="450" r:id="rId40"/>
    <p:sldId id="518" r:id="rId41"/>
    <p:sldId id="1421" r:id="rId42"/>
    <p:sldId id="1363" r:id="rId43"/>
    <p:sldId id="543" r:id="rId44"/>
    <p:sldId id="1364" r:id="rId45"/>
    <p:sldId id="1365" r:id="rId46"/>
    <p:sldId id="1366" r:id="rId47"/>
    <p:sldId id="586" r:id="rId48"/>
    <p:sldId id="1367" r:id="rId49"/>
    <p:sldId id="588" r:id="rId50"/>
    <p:sldId id="602" r:id="rId51"/>
    <p:sldId id="1368" r:id="rId52"/>
    <p:sldId id="1397" r:id="rId53"/>
    <p:sldId id="591" r:id="rId54"/>
    <p:sldId id="629" r:id="rId55"/>
    <p:sldId id="630" r:id="rId56"/>
    <p:sldId id="626" r:id="rId57"/>
    <p:sldId id="523" r:id="rId58"/>
    <p:sldId id="1398" r:id="rId59"/>
    <p:sldId id="1369" r:id="rId60"/>
    <p:sldId id="1399" r:id="rId61"/>
    <p:sldId id="1400" r:id="rId62"/>
    <p:sldId id="594" r:id="rId63"/>
    <p:sldId id="525" r:id="rId64"/>
    <p:sldId id="1370" r:id="rId65"/>
    <p:sldId id="1371" r:id="rId66"/>
    <p:sldId id="557" r:id="rId67"/>
    <p:sldId id="1516" r:id="rId68"/>
    <p:sldId id="1401" r:id="rId69"/>
    <p:sldId id="603" r:id="rId70"/>
    <p:sldId id="527" r:id="rId71"/>
    <p:sldId id="613" r:id="rId72"/>
    <p:sldId id="556" r:id="rId73"/>
    <p:sldId id="528" r:id="rId74"/>
    <p:sldId id="1402" r:id="rId75"/>
    <p:sldId id="1403" r:id="rId76"/>
    <p:sldId id="1404" r:id="rId77"/>
    <p:sldId id="622" r:id="rId78"/>
    <p:sldId id="623" r:id="rId79"/>
    <p:sldId id="624" r:id="rId80"/>
    <p:sldId id="625" r:id="rId81"/>
    <p:sldId id="618" r:id="rId82"/>
    <p:sldId id="533" r:id="rId83"/>
    <p:sldId id="558" r:id="rId84"/>
    <p:sldId id="1423" r:id="rId85"/>
    <p:sldId id="534" r:id="rId86"/>
    <p:sldId id="1405" r:id="rId87"/>
    <p:sldId id="639" r:id="rId88"/>
    <p:sldId id="1406" r:id="rId89"/>
    <p:sldId id="1407" r:id="rId90"/>
    <p:sldId id="541" r:id="rId91"/>
    <p:sldId id="559" r:id="rId92"/>
    <p:sldId id="542" r:id="rId93"/>
    <p:sldId id="610" r:id="rId94"/>
    <p:sldId id="575" r:id="rId95"/>
    <p:sldId id="1408" r:id="rId96"/>
    <p:sldId id="646" r:id="rId97"/>
    <p:sldId id="1409" r:id="rId98"/>
    <p:sldId id="647" r:id="rId99"/>
    <p:sldId id="648" r:id="rId100"/>
    <p:sldId id="615" r:id="rId101"/>
    <p:sldId id="1415" r:id="rId102"/>
    <p:sldId id="701" r:id="rId103"/>
    <p:sldId id="710" r:id="rId104"/>
    <p:sldId id="709" r:id="rId105"/>
    <p:sldId id="702" r:id="rId106"/>
    <p:sldId id="703" r:id="rId107"/>
    <p:sldId id="704" r:id="rId108"/>
    <p:sldId id="705" r:id="rId109"/>
    <p:sldId id="706" r:id="rId110"/>
    <p:sldId id="707" r:id="rId111"/>
    <p:sldId id="708" r:id="rId112"/>
    <p:sldId id="693" r:id="rId113"/>
    <p:sldId id="692" r:id="rId114"/>
    <p:sldId id="1416" r:id="rId115"/>
    <p:sldId id="711" r:id="rId116"/>
    <p:sldId id="712" r:id="rId117"/>
    <p:sldId id="1417" r:id="rId118"/>
    <p:sldId id="713" r:id="rId119"/>
    <p:sldId id="695" r:id="rId120"/>
    <p:sldId id="714" r:id="rId121"/>
    <p:sldId id="715" r:id="rId122"/>
    <p:sldId id="716" r:id="rId123"/>
    <p:sldId id="1418" r:id="rId124"/>
    <p:sldId id="697" r:id="rId125"/>
    <p:sldId id="717" r:id="rId126"/>
    <p:sldId id="718" r:id="rId127"/>
    <p:sldId id="699" r:id="rId128"/>
    <p:sldId id="700" r:id="rId129"/>
    <p:sldId id="1331" r:id="rId130"/>
    <p:sldId id="1557" r:id="rId131"/>
    <p:sldId id="1559" r:id="rId132"/>
    <p:sldId id="1558" r:id="rId133"/>
    <p:sldId id="1208" r:id="rId13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193"/>
    <a:srgbClr val="0096FF"/>
    <a:srgbClr val="00FB92"/>
    <a:srgbClr val="FF2F92"/>
    <a:srgbClr val="FF8AD8"/>
    <a:srgbClr val="FF8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Stile chi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Stile chiaro 2 - Color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93D81CF-94F2-401A-BA57-92F5A7B2D0C5}" styleName="Stile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91" autoAdjust="0"/>
    <p:restoredTop sz="86377" autoAdjust="0"/>
  </p:normalViewPr>
  <p:slideViewPr>
    <p:cSldViewPr snapToGrid="0" snapToObjects="1">
      <p:cViewPr varScale="1">
        <p:scale>
          <a:sx n="104" d="100"/>
          <a:sy n="104" d="100"/>
        </p:scale>
        <p:origin x="1848" y="20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5" d="100"/>
        <a:sy n="145" d="100"/>
      </p:scale>
      <p:origin x="0" y="0"/>
    </p:cViewPr>
  </p:sorterViewPr>
  <p:notesViewPr>
    <p:cSldViewPr snapToGrid="0" snapToObjects="1">
      <p:cViewPr varScale="1">
        <p:scale>
          <a:sx n="80" d="100"/>
          <a:sy n="80" d="100"/>
        </p:scale>
        <p:origin x="-3462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viewProps" Target="viewProps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28" Type="http://schemas.openxmlformats.org/officeDocument/2006/relationships/slide" Target="slides/slide124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134" Type="http://schemas.openxmlformats.org/officeDocument/2006/relationships/slide" Target="slides/slide130.xml"/><Relationship Id="rId139" Type="http://schemas.openxmlformats.org/officeDocument/2006/relationships/theme" Target="theme/theme1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slide" Target="slides/slide120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4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35" Type="http://schemas.openxmlformats.org/officeDocument/2006/relationships/notesMaster" Target="notesMasters/notesMaster1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slide" Target="slides/slide127.xml"/><Relationship Id="rId136" Type="http://schemas.openxmlformats.org/officeDocument/2006/relationships/handoutMaster" Target="handoutMasters/handoutMaster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slide" Target="slides/slide128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slide" Target="slides/slide12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F6E6D-E6D8-4C83-A38E-BFB06991A8DA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E01FBA-0126-406C-BE32-94E8E0811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49041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7AB91D-D08F-F14D-AE19-84E96A5339C3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F71684-922B-C647-B005-6CA642B2C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92404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LADAR is Laser Detection and Ranging</a:t>
            </a:r>
          </a:p>
          <a:p>
            <a:r>
              <a:rPr lang="en-US" dirty="0"/>
              <a:t>Light radar by uses light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72822-39EC-4284-92EC-8BB2119733A9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Misclassification</a:t>
            </a:r>
            <a:r>
              <a:rPr lang="it-IT" dirty="0"/>
              <a:t> </a:t>
            </a:r>
            <a:r>
              <a:rPr lang="it-IT" dirty="0" err="1"/>
              <a:t>Error</a:t>
            </a:r>
            <a:r>
              <a:rPr lang="it-IT" dirty="0"/>
              <a:t> cresce e cala linearmente, Gini polinomiale quadratico, e </a:t>
            </a:r>
            <a:r>
              <a:rPr lang="it-IT" dirty="0" err="1"/>
              <a:t>Entropy</a:t>
            </a:r>
            <a:r>
              <a:rPr lang="it-IT" dirty="0"/>
              <a:t> esponenziale</a:t>
            </a:r>
          </a:p>
        </p:txBody>
      </p:sp>
    </p:spTree>
    <p:extLst>
      <p:ext uri="{BB962C8B-B14F-4D97-AF65-F5344CB8AC3E}">
        <p14:creationId xmlns:p14="http://schemas.microsoft.com/office/powerpoint/2010/main" val="495429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139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Misclassification</a:t>
            </a:r>
            <a:r>
              <a:rPr lang="it-IT" dirty="0"/>
              <a:t> </a:t>
            </a:r>
            <a:r>
              <a:rPr lang="it-IT" dirty="0" err="1"/>
              <a:t>Error</a:t>
            </a:r>
            <a:r>
              <a:rPr lang="it-IT" dirty="0"/>
              <a:t> cresce e cala linearmente, Gini polinomiale quadratico, e </a:t>
            </a:r>
            <a:r>
              <a:rPr lang="it-IT" dirty="0" err="1"/>
              <a:t>Entropy</a:t>
            </a:r>
            <a:r>
              <a:rPr lang="it-IT" dirty="0"/>
              <a:t> esponenziale</a:t>
            </a:r>
          </a:p>
        </p:txBody>
      </p:sp>
    </p:spTree>
    <p:extLst>
      <p:ext uri="{BB962C8B-B14F-4D97-AF65-F5344CB8AC3E}">
        <p14:creationId xmlns:p14="http://schemas.microsoft.com/office/powerpoint/2010/main" val="2598065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3111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453318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6343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DBE0CA-5111-D04D-8D12-935552D94F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36BC96A-9426-4A41-862F-AE5D98B4FE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CDEE8EA-B811-484E-9AD4-125197A0E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9E66D-B003-4C4E-864A-E43A8D2280BD}" type="datetime1">
              <a:rPr lang="it-IT" smtClean="0"/>
              <a:t>13/04/2026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0A87B73-2633-AA49-BD18-F8F801EAC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</a:p>
        </p:txBody>
      </p:sp>
    </p:spTree>
    <p:extLst>
      <p:ext uri="{BB962C8B-B14F-4D97-AF65-F5344CB8AC3E}">
        <p14:creationId xmlns:p14="http://schemas.microsoft.com/office/powerpoint/2010/main" val="1225103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C0DF7A-92CF-2848-9DB4-1B5627B91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942309D-38BE-FB4A-A153-E7BF232DC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2A7E30A-C665-904E-811B-93A46D9D5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8F26437-C4B7-604C-861E-5D3C0D33BE5F}" type="datetime1">
              <a:rPr lang="it-IT" smtClean="0"/>
              <a:t>13/04/2026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06F7EE2-4B79-B948-8ACA-1A13A30CB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97C08697-B432-D649-AD79-87B7574B2E35}"/>
              </a:ext>
            </a:extLst>
          </p:cNvPr>
          <p:cNvCxnSpPr/>
          <p:nvPr userDrawn="1"/>
        </p:nvCxnSpPr>
        <p:spPr>
          <a:xfrm>
            <a:off x="0" y="1332881"/>
            <a:ext cx="1135380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5926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BB1760-1D6E-514E-BBBA-90A5FFA11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00AE6B2-F4ED-8C4E-84AB-8DC3DD570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D395726-958D-3549-89E0-A190673A4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1C28B9B-7C80-B543-BDBB-A92A7AEFD72F}" type="datetime1">
              <a:rPr lang="it-IT" smtClean="0"/>
              <a:t>13/04/2026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4EACAE3-5BD7-D34D-91E6-6EB901BE9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EF479E78-DA7B-C944-8244-979118C4A42C}"/>
              </a:ext>
            </a:extLst>
          </p:cNvPr>
          <p:cNvCxnSpPr/>
          <p:nvPr userDrawn="1"/>
        </p:nvCxnSpPr>
        <p:spPr>
          <a:xfrm>
            <a:off x="0" y="4568262"/>
            <a:ext cx="1135380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9265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7BC0BA-3DD1-6F4D-958D-0CFF774B7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821535-ED3B-1E4C-9BBE-4E2F63316E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6C8D277-1C2D-6A43-9A64-CF03C6DAD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A6A55CF-0328-2042-8867-0545FCFCD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8C9651-A614-D546-8E5D-E84C7A0F43D0}" type="datetime1">
              <a:rPr lang="it-IT" smtClean="0"/>
              <a:t>13/04/2026</a:t>
            </a:fld>
            <a:endParaRPr lang="en-US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3E56001-C03F-CE40-B8BD-AD028CAD3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3EA728E4-6B64-4E40-811F-04DF1CBB7D31}"/>
              </a:ext>
            </a:extLst>
          </p:cNvPr>
          <p:cNvCxnSpPr/>
          <p:nvPr userDrawn="1"/>
        </p:nvCxnSpPr>
        <p:spPr>
          <a:xfrm>
            <a:off x="0" y="1332881"/>
            <a:ext cx="1135380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2931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F6ABA12-78D7-6048-8681-A36AC099A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C04B37B-2090-8D41-B9BF-D88C3E98E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BDC3BAF-954D-8E4C-A6EB-B3ADEB1C2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BB0CDEC-EF4F-6540-9159-D69B5F79B7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698BE13-F69E-1A45-8586-E81C6FD52E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20F0C53D-183A-FC4B-9702-71A74ADCB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4F22444-9F01-A64E-BA90-B0526793B5AE}" type="datetime1">
              <a:rPr lang="it-IT" smtClean="0"/>
              <a:t>13/04/2026</a:t>
            </a:fld>
            <a:endParaRPr lang="en-US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835C857-F677-FE40-AFFD-96E8C3DFD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0891173D-1780-9E40-A31D-CFB5D057907D}"/>
              </a:ext>
            </a:extLst>
          </p:cNvPr>
          <p:cNvCxnSpPr/>
          <p:nvPr userDrawn="1"/>
        </p:nvCxnSpPr>
        <p:spPr>
          <a:xfrm>
            <a:off x="0" y="1332881"/>
            <a:ext cx="1135380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9116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4FAAE9-4446-224F-A5F9-DD4D37B4D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932027A-979A-0147-B957-23F6E4E45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1E2C575-4E74-CB45-AA63-265EDD3F4832}" type="datetime1">
              <a:rPr lang="it-IT" smtClean="0"/>
              <a:t>13/04/2026</a:t>
            </a:fld>
            <a:endParaRPr lang="en-US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569AC3D-0D57-8446-B251-CDE0E3A6B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04EB78F9-ACE7-AD48-AC0A-3615A1AC3B39}"/>
              </a:ext>
            </a:extLst>
          </p:cNvPr>
          <p:cNvCxnSpPr/>
          <p:nvPr userDrawn="1"/>
        </p:nvCxnSpPr>
        <p:spPr>
          <a:xfrm>
            <a:off x="0" y="1332881"/>
            <a:ext cx="1135380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7670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D7CCD44-38AF-2748-9927-0AF5DEAF6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87C649-8927-E144-A3AA-F7E863ABE54D}" type="datetime1">
              <a:rPr lang="it-IT" smtClean="0"/>
              <a:t>13/04/2026</a:t>
            </a:fld>
            <a:endParaRPr lang="en-US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90ECF18-5B6D-0E46-8351-479B96D48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160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F3A5D9-CE4F-6F49-B7F4-45A75BFFD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AACBE50-3DDC-5D47-8266-FF7265729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50F3E9B-90C3-E044-9151-5A48304D7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96F02DC-9538-7B4C-8AEC-00FD62F10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DCE9C45-2ACA-2146-A9BA-1A8801DF3D90}" type="datetime1">
              <a:rPr lang="it-IT" smtClean="0"/>
              <a:t>13/04/2026</a:t>
            </a:fld>
            <a:endParaRPr lang="en-US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61039E8-E9EA-1F47-A455-118B30785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744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29C229-E370-0C4E-84BE-990E328ED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3911D92-876D-1D49-8C85-0314159E6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A241640-23F2-9847-A7E4-8FDAE2B6A1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EFE7DC9-F86D-4C42-BBB5-65A619654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957C8EA-2611-3F4A-8E99-618C2757CF42}" type="datetime1">
              <a:rPr lang="it-IT" smtClean="0"/>
              <a:t>13/04/2026</a:t>
            </a:fld>
            <a:endParaRPr lang="en-US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1B8BFF4-DFD9-E941-A9EA-E6FD29ECC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411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79B98E-8402-EE4F-A656-DCC6A48EA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C7ED7AD-51E7-F740-93FD-1025332C0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C297406-BB99-2640-B389-5F24A3DC8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D2041F-5EF3-3145-A49B-0814F547AEF9}" type="datetime1">
              <a:rPr lang="it-IT" smtClean="0"/>
              <a:t>13/04/2026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F519D53-C423-8F45-AA29-CDE0650DB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112DD419-0A67-9744-B3B9-809AFC711840}"/>
              </a:ext>
            </a:extLst>
          </p:cNvPr>
          <p:cNvCxnSpPr/>
          <p:nvPr userDrawn="1"/>
        </p:nvCxnSpPr>
        <p:spPr>
          <a:xfrm>
            <a:off x="0" y="1332881"/>
            <a:ext cx="11353800" cy="0"/>
          </a:xfrm>
          <a:prstGeom prst="line">
            <a:avLst/>
          </a:prstGeom>
          <a:ln w="76200">
            <a:solidFill>
              <a:srgbClr val="00FB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8936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A99B30F2-9DD7-A449-8E34-650F9CFCFC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69B78D2-A881-6F42-89DA-8AC00B238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7511472-DCCA-1F4E-80B9-8E99EC281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D0F37EA-E13C-9545-99A5-5937716205AB}" type="datetime1">
              <a:rPr lang="it-IT" smtClean="0"/>
              <a:t>13/04/2026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CA25BF8-9292-B945-8562-F53E73BEA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334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52400"/>
            <a:ext cx="11040533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48217" y="1143000"/>
            <a:ext cx="5444067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484" y="1143000"/>
            <a:ext cx="5444067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6912AA19-543F-0C4D-B30E-705307E425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88FE169F-F229-7B48-9D98-5DCA5F2232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8C4B8C-6B23-E143-9946-3031804F1879}" type="slidenum">
              <a:rPr lang="en-US" altLang="en-IT"/>
              <a:pPr>
                <a:defRPr/>
              </a:pPr>
              <a:t>‹#›</a:t>
            </a:fld>
            <a:endParaRPr lang="en-US" altLang="en-IT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04236D8-66D7-DC4A-B7B9-683453FCCC1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7B492D-E3BD-0740-B9BC-B11982F8EADD}" type="datetime1">
              <a:rPr lang="en-US" altLang="en-IT"/>
              <a:pPr>
                <a:defRPr/>
              </a:pPr>
              <a:t>4/13/2026</a:t>
            </a:fld>
            <a:endParaRPr lang="en-US" altLang="en-IT"/>
          </a:p>
        </p:txBody>
      </p:sp>
    </p:spTree>
    <p:extLst>
      <p:ext uri="{BB962C8B-B14F-4D97-AF65-F5344CB8AC3E}">
        <p14:creationId xmlns:p14="http://schemas.microsoft.com/office/powerpoint/2010/main" val="11702625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197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B931ADDB-CF09-4C4A-A381-EBEAEC869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F631CBA-384C-8F47-AD02-D9465EAF8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6AB79F8-8BC7-EA4F-A539-66731CC399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994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422C14-3BC9-D542-B4D4-B9E4C141C801}" type="datetime1">
              <a:rPr lang="it-IT" smtClean="0"/>
              <a:t>13/04/2026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82DF6E6-74CD-BD43-9A7F-E93E6BAD2F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946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Wurzburg, Germany, ECML-PKDD 2019, Tutorial on XKDD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527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7" r:id="rId12"/>
    <p:sldLayoutId id="2147483698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emf"/><Relationship Id="rId4" Type="http://schemas.openxmlformats.org/officeDocument/2006/relationships/oleObject" Target="../embeddings/oleObject13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emf"/><Relationship Id="rId4" Type="http://schemas.openxmlformats.org/officeDocument/2006/relationships/oleObject" Target="../embeddings/oleObject13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emf"/><Relationship Id="rId4" Type="http://schemas.openxmlformats.org/officeDocument/2006/relationships/oleObject" Target="../embeddings/oleObject13.bin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emf"/><Relationship Id="rId4" Type="http://schemas.openxmlformats.org/officeDocument/2006/relationships/oleObject" Target="../embeddings/oleObject13.bin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7" Type="http://schemas.openxmlformats.org/officeDocument/2006/relationships/image" Target="../media/image43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42.emf"/><Relationship Id="rId4" Type="http://schemas.openxmlformats.org/officeDocument/2006/relationships/oleObject" Target="../embeddings/oleObject15.bin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7" Type="http://schemas.openxmlformats.org/officeDocument/2006/relationships/image" Target="../media/image46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45.emf"/><Relationship Id="rId4" Type="http://schemas.openxmlformats.org/officeDocument/2006/relationships/oleObject" Target="../embeddings/oleObject18.bin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9.e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emf"/><Relationship Id="rId4" Type="http://schemas.openxmlformats.org/officeDocument/2006/relationships/oleObject" Target="../embeddings/oleObject23.bin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7" Type="http://schemas.openxmlformats.org/officeDocument/2006/relationships/image" Target="../media/image54.e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53.emf"/><Relationship Id="rId4" Type="http://schemas.openxmlformats.org/officeDocument/2006/relationships/oleObject" Target="../embeddings/oleObject25.bin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3" Type="http://schemas.openxmlformats.org/officeDocument/2006/relationships/image" Target="../media/image56.emf"/><Relationship Id="rId7" Type="http://schemas.openxmlformats.org/officeDocument/2006/relationships/image" Target="../media/image58.e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60.emf"/><Relationship Id="rId5" Type="http://schemas.openxmlformats.org/officeDocument/2006/relationships/image" Target="../media/image57.emf"/><Relationship Id="rId10" Type="http://schemas.openxmlformats.org/officeDocument/2006/relationships/oleObject" Target="../embeddings/oleObject31.bin"/><Relationship Id="rId4" Type="http://schemas.openxmlformats.org/officeDocument/2006/relationships/oleObject" Target="../embeddings/oleObject28.bin"/><Relationship Id="rId9" Type="http://schemas.openxmlformats.org/officeDocument/2006/relationships/image" Target="../media/image59.e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3" Type="http://schemas.openxmlformats.org/officeDocument/2006/relationships/image" Target="../media/image52.emf"/><Relationship Id="rId7" Type="http://schemas.openxmlformats.org/officeDocument/2006/relationships/image" Target="../media/image62.e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64.emf"/><Relationship Id="rId5" Type="http://schemas.openxmlformats.org/officeDocument/2006/relationships/image" Target="../media/image61.emf"/><Relationship Id="rId10" Type="http://schemas.openxmlformats.org/officeDocument/2006/relationships/oleObject" Target="../embeddings/oleObject35.bin"/><Relationship Id="rId4" Type="http://schemas.openxmlformats.org/officeDocument/2006/relationships/oleObject" Target="../embeddings/oleObject32.bin"/><Relationship Id="rId9" Type="http://schemas.openxmlformats.org/officeDocument/2006/relationships/image" Target="../media/image63.emf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image" Target="../media/image65.emf"/><Relationship Id="rId7" Type="http://schemas.openxmlformats.org/officeDocument/2006/relationships/image" Target="../media/image67.e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8.bin"/><Relationship Id="rId5" Type="http://schemas.openxmlformats.org/officeDocument/2006/relationships/image" Target="../media/image66.emf"/><Relationship Id="rId4" Type="http://schemas.openxmlformats.org/officeDocument/2006/relationships/oleObject" Target="../embeddings/oleObject37.bin"/><Relationship Id="rId9" Type="http://schemas.openxmlformats.org/officeDocument/2006/relationships/image" Target="../media/image52.e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emf"/><Relationship Id="rId4" Type="http://schemas.openxmlformats.org/officeDocument/2006/relationships/oleObject" Target="../embeddings/oleObject41.bin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7" Type="http://schemas.openxmlformats.org/officeDocument/2006/relationships/image" Target="../media/image73.e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4.bin"/><Relationship Id="rId5" Type="http://schemas.openxmlformats.org/officeDocument/2006/relationships/image" Target="../media/image72.emf"/><Relationship Id="rId4" Type="http://schemas.openxmlformats.org/officeDocument/2006/relationships/oleObject" Target="../embeddings/oleObject43.bin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2" Type="http://schemas.openxmlformats.org/officeDocument/2006/relationships/oleObject" Target="../embeddings/oleObject45.bin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3" Type="http://schemas.openxmlformats.org/officeDocument/2006/relationships/image" Target="../media/image65.emf"/><Relationship Id="rId7" Type="http://schemas.openxmlformats.org/officeDocument/2006/relationships/image" Target="../media/image67.e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9.bin"/><Relationship Id="rId5" Type="http://schemas.openxmlformats.org/officeDocument/2006/relationships/image" Target="../media/image66.emf"/><Relationship Id="rId4" Type="http://schemas.openxmlformats.org/officeDocument/2006/relationships/oleObject" Target="../embeddings/oleObject48.bin"/><Relationship Id="rId9" Type="http://schemas.openxmlformats.org/officeDocument/2006/relationships/image" Target="../media/image76.emf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emf"/><Relationship Id="rId4" Type="http://schemas.openxmlformats.org/officeDocument/2006/relationships/oleObject" Target="../embeddings/oleObject50.bin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emf"/><Relationship Id="rId2" Type="http://schemas.openxmlformats.org/officeDocument/2006/relationships/oleObject" Target="../embeddings/oleObject52.bin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emf"/><Relationship Id="rId2" Type="http://schemas.openxmlformats.org/officeDocument/2006/relationships/oleObject" Target="../embeddings/oleObject5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emf"/><Relationship Id="rId4" Type="http://schemas.openxmlformats.org/officeDocument/2006/relationships/oleObject" Target="../embeddings/oleObject55.bin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3" Type="http://schemas.openxmlformats.org/officeDocument/2006/relationships/image" Target="../media/image79.emf"/><Relationship Id="rId7" Type="http://schemas.openxmlformats.org/officeDocument/2006/relationships/image" Target="../media/image71.emf"/><Relationship Id="rId2" Type="http://schemas.openxmlformats.org/officeDocument/2006/relationships/oleObject" Target="../embeddings/oleObject5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2.bin"/><Relationship Id="rId11" Type="http://schemas.openxmlformats.org/officeDocument/2006/relationships/image" Target="../media/image73.emf"/><Relationship Id="rId5" Type="http://schemas.openxmlformats.org/officeDocument/2006/relationships/image" Target="../media/image80.emf"/><Relationship Id="rId10" Type="http://schemas.openxmlformats.org/officeDocument/2006/relationships/oleObject" Target="../embeddings/oleObject44.bin"/><Relationship Id="rId4" Type="http://schemas.openxmlformats.org/officeDocument/2006/relationships/oleObject" Target="../embeddings/oleObject55.bin"/><Relationship Id="rId9" Type="http://schemas.openxmlformats.org/officeDocument/2006/relationships/image" Target="../media/image72.emf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emf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6.emf"/><Relationship Id="rId5" Type="http://schemas.openxmlformats.org/officeDocument/2006/relationships/oleObject" Target="../embeddings/oleObject57.bin"/><Relationship Id="rId10" Type="http://schemas.openxmlformats.org/officeDocument/2006/relationships/image" Target="../media/image54.emf"/><Relationship Id="rId4" Type="http://schemas.openxmlformats.org/officeDocument/2006/relationships/image" Target="../media/image65.emf"/><Relationship Id="rId9" Type="http://schemas.openxmlformats.org/officeDocument/2006/relationships/oleObject" Target="../embeddings/oleObject26.bin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emf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2.emf"/><Relationship Id="rId4" Type="http://schemas.openxmlformats.org/officeDocument/2006/relationships/oleObject" Target="../embeddings/oleObject60.bin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emf"/><Relationship Id="rId7" Type="http://schemas.openxmlformats.org/officeDocument/2006/relationships/image" Target="../media/image83.emf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61.bin"/><Relationship Id="rId5" Type="http://schemas.openxmlformats.org/officeDocument/2006/relationships/image" Target="../media/image82.emf"/><Relationship Id="rId4" Type="http://schemas.openxmlformats.org/officeDocument/2006/relationships/oleObject" Target="../embeddings/oleObject60.bin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emf"/><Relationship Id="rId2" Type="http://schemas.openxmlformats.org/officeDocument/2006/relationships/oleObject" Target="../embeddings/oleObject62.bin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emf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2.emf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emf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4.emf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emf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1.emf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3.emf"/><Relationship Id="rId4" Type="http://schemas.openxmlformats.org/officeDocument/2006/relationships/image" Target="../media/image98.emf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6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emf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emf"/><Relationship Id="rId2" Type="http://schemas.openxmlformats.org/officeDocument/2006/relationships/oleObject" Target="../embeddings/oleObject63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2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emf"/><Relationship Id="rId2" Type="http://schemas.openxmlformats.org/officeDocument/2006/relationships/oleObject" Target="../embeddings/oleObject64.bin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emf"/><Relationship Id="rId7" Type="http://schemas.openxmlformats.org/officeDocument/2006/relationships/image" Target="../media/image106.emf"/><Relationship Id="rId2" Type="http://schemas.openxmlformats.org/officeDocument/2006/relationships/oleObject" Target="../embeddings/oleObject6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7.bin"/><Relationship Id="rId5" Type="http://schemas.openxmlformats.org/officeDocument/2006/relationships/image" Target="../media/image105.emf"/><Relationship Id="rId4" Type="http://schemas.openxmlformats.org/officeDocument/2006/relationships/oleObject" Target="../embeddings/oleObject66.bin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emf"/><Relationship Id="rId2" Type="http://schemas.openxmlformats.org/officeDocument/2006/relationships/oleObject" Target="../embeddings/oleObject68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8.emf"/><Relationship Id="rId4" Type="http://schemas.openxmlformats.org/officeDocument/2006/relationships/oleObject" Target="../embeddings/oleObject69.bin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emf"/><Relationship Id="rId2" Type="http://schemas.openxmlformats.org/officeDocument/2006/relationships/oleObject" Target="../embeddings/oleObject70.bin"/><Relationship Id="rId1" Type="http://schemas.openxmlformats.org/officeDocument/2006/relationships/slideLayout" Target="../slideLayouts/slideLayout6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1.jpg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B56805-27B6-9941-9623-EE2991DF1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807" y="2176424"/>
            <a:ext cx="10693993" cy="2261802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9193"/>
                </a:solidFill>
              </a:rPr>
              <a:t>D</a:t>
            </a:r>
            <a:r>
              <a:rPr lang="en-US" b="1" dirty="0"/>
              <a:t>ATA</a:t>
            </a:r>
            <a:r>
              <a:rPr lang="en-US" b="1" dirty="0">
                <a:solidFill>
                  <a:srgbClr val="00FB92"/>
                </a:solidFill>
              </a:rPr>
              <a:t> </a:t>
            </a:r>
            <a:r>
              <a:rPr lang="en-US" b="1" dirty="0">
                <a:solidFill>
                  <a:srgbClr val="009193"/>
                </a:solidFill>
              </a:rPr>
              <a:t>M</a:t>
            </a:r>
            <a:r>
              <a:rPr lang="en-US" b="1" dirty="0"/>
              <a:t>INING &amp; </a:t>
            </a:r>
            <a:r>
              <a:rPr lang="en-US" b="1" dirty="0">
                <a:solidFill>
                  <a:srgbClr val="009193"/>
                </a:solidFill>
              </a:rPr>
              <a:t>M</a:t>
            </a:r>
            <a:r>
              <a:rPr lang="en-US" b="1" dirty="0"/>
              <a:t>ACHINE </a:t>
            </a:r>
            <a:r>
              <a:rPr lang="en-US" b="1" dirty="0">
                <a:solidFill>
                  <a:srgbClr val="009193"/>
                </a:solidFill>
              </a:rPr>
              <a:t>L</a:t>
            </a:r>
            <a:r>
              <a:rPr lang="en-US" b="1" dirty="0"/>
              <a:t>EARNING: </a:t>
            </a:r>
            <a:br>
              <a:rPr lang="en-US" sz="7200" b="1" dirty="0"/>
            </a:br>
            <a:r>
              <a:rPr lang="en-US" sz="9800" b="1" dirty="0"/>
              <a:t>Machine Learning</a:t>
            </a:r>
            <a:endParaRPr lang="en-US" sz="2800" b="1" dirty="0"/>
          </a:p>
        </p:txBody>
      </p:sp>
      <p:sp>
        <p:nvSpPr>
          <p:cNvPr id="7" name="Sottotitolo 6">
            <a:extLst>
              <a:ext uri="{FF2B5EF4-FFF2-40B4-BE49-F238E27FC236}">
                <a16:creationId xmlns:a16="http://schemas.microsoft.com/office/drawing/2014/main" id="{5F5693D1-C37C-884D-ABF4-994E895B2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806" y="4727461"/>
            <a:ext cx="11783447" cy="1724851"/>
          </a:xfrm>
        </p:spPr>
        <p:txBody>
          <a:bodyPr>
            <a:normAutofit fontScale="85000" lnSpcReduction="10000"/>
          </a:bodyPr>
          <a:lstStyle/>
          <a:p>
            <a:pPr lvl="0"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IE" dirty="0" err="1"/>
              <a:t>Fosca</a:t>
            </a:r>
            <a:r>
              <a:rPr lang="en-IE" dirty="0"/>
              <a:t> Giannotti</a:t>
            </a:r>
          </a:p>
          <a:p>
            <a:pPr lvl="0" algn="l">
              <a:lnSpc>
                <a:spcPct val="100000"/>
              </a:lnSpc>
              <a:spcBef>
                <a:spcPts val="0"/>
              </a:spcBef>
              <a:defRPr/>
            </a:pPr>
            <a:endParaRPr lang="en-IE" dirty="0"/>
          </a:p>
          <a:p>
            <a:pPr lvl="0"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IE" sz="2000" dirty="0"/>
              <a:t>Revisited slides from Lecture Notes for Chapter 7 “Introduction to Data Mining”, 2nd Edition by Tan, Steinbach, </a:t>
            </a:r>
            <a:r>
              <a:rPr lang="en-IE" sz="2000" dirty="0" err="1"/>
              <a:t>Karpatne</a:t>
            </a:r>
            <a:r>
              <a:rPr lang="en-IE" sz="2000" dirty="0"/>
              <a:t>, Kumar</a:t>
            </a:r>
          </a:p>
          <a:p>
            <a:pPr lvl="0" algn="l">
              <a:lnSpc>
                <a:spcPct val="100000"/>
              </a:lnSpc>
              <a:spcBef>
                <a:spcPts val="0"/>
              </a:spcBef>
              <a:defRPr/>
            </a:pPr>
            <a:endParaRPr lang="en-IE" sz="2000" dirty="0"/>
          </a:p>
          <a:p>
            <a:pPr algn="l">
              <a:spcBef>
                <a:spcPts val="0"/>
              </a:spcBef>
              <a:defRPr/>
            </a:pPr>
            <a:r>
              <a:rPr lang="en-IE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Revisited slides  from Lecture Notes for Chapter 19  “AI : a modern approach”, 4th Edition by </a:t>
            </a:r>
            <a:r>
              <a:rPr lang="it-IT" sz="2000" dirty="0">
                <a:solidFill>
                  <a:srgbClr val="333333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 Stuart Russell and </a:t>
            </a:r>
            <a:r>
              <a:rPr lang="it-IT" sz="2000" dirty="0" err="1">
                <a:solidFill>
                  <a:srgbClr val="333333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Narvig</a:t>
            </a:r>
            <a:r>
              <a:rPr lang="it-IT" sz="2000" dirty="0">
                <a:solidFill>
                  <a:srgbClr val="333333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 </a:t>
            </a:r>
          </a:p>
          <a:p>
            <a:pPr algn="l">
              <a:spcBef>
                <a:spcPts val="0"/>
              </a:spcBef>
              <a:defRPr/>
            </a:pPr>
            <a:r>
              <a:rPr lang="en-IE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Slides </a:t>
            </a: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Prepared by Said </a:t>
            </a:r>
            <a:r>
              <a:rPr lang="en-US" sz="20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Kerrache</a:t>
            </a:r>
            <a:r>
              <a:rPr lang="en-US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  <a:endParaRPr lang="en-IE" sz="2000" dirty="0"/>
          </a:p>
          <a:p>
            <a:pPr lvl="0" algn="l">
              <a:lnSpc>
                <a:spcPct val="100000"/>
              </a:lnSpc>
              <a:spcBef>
                <a:spcPts val="0"/>
              </a:spcBef>
              <a:defRPr/>
            </a:pPr>
            <a:endParaRPr lang="en-IE" sz="2000" dirty="0"/>
          </a:p>
          <a:p>
            <a:pPr lvl="0" algn="l">
              <a:lnSpc>
                <a:spcPct val="100000"/>
              </a:lnSpc>
              <a:spcBef>
                <a:spcPts val="0"/>
              </a:spcBef>
              <a:defRPr/>
            </a:pPr>
            <a:endParaRPr lang="en-IE" dirty="0" err="1"/>
          </a:p>
        </p:txBody>
      </p:sp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D6F288DE-7B36-1745-8291-1D66544FBE52}"/>
              </a:ext>
            </a:extLst>
          </p:cNvPr>
          <p:cNvCxnSpPr/>
          <p:nvPr/>
        </p:nvCxnSpPr>
        <p:spPr>
          <a:xfrm>
            <a:off x="0" y="4568262"/>
            <a:ext cx="1135380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8171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E4B739-3B93-2B41-9D48-2F71DACB1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Supervised</a:t>
            </a:r>
            <a:r>
              <a:rPr lang="it-IT" dirty="0"/>
              <a:t> Learning 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3E5260C-29DC-504E-9BD7-11E02E259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31719"/>
          </a:xfrm>
        </p:spPr>
        <p:txBody>
          <a:bodyPr>
            <a:normAutofit/>
          </a:bodyPr>
          <a:lstStyle/>
          <a:p>
            <a:r>
              <a:rPr lang="en-US" dirty="0"/>
              <a:t>Supervised learning refers to problems where the value of a target attribute should be predicted based on the values of other attributes. </a:t>
            </a:r>
          </a:p>
          <a:p>
            <a:r>
              <a:rPr lang="en-US" dirty="0"/>
              <a:t>Problems with a categorical target attribute are called classification, problems with a numerical target attribute are called regression.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A847E2A8-F202-0C48-702A-6BADE4A44136}"/>
              </a:ext>
            </a:extLst>
          </p:cNvPr>
          <p:cNvSpPr/>
          <p:nvPr/>
        </p:nvSpPr>
        <p:spPr>
          <a:xfrm>
            <a:off x="4218432" y="4834763"/>
            <a:ext cx="1682496" cy="1658112"/>
          </a:xfrm>
          <a:prstGeom prst="rect">
            <a:avLst/>
          </a:prstGeom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2D2994D4-A276-452A-D0A8-4CA714A8B871}"/>
              </a:ext>
            </a:extLst>
          </p:cNvPr>
          <p:cNvSpPr/>
          <p:nvPr/>
        </p:nvSpPr>
        <p:spPr>
          <a:xfrm>
            <a:off x="5986272" y="4834763"/>
            <a:ext cx="304802" cy="1658112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64919FF-EFB3-B68A-1E52-87EFEBC6F571}"/>
              </a:ext>
            </a:extLst>
          </p:cNvPr>
          <p:cNvSpPr txBox="1"/>
          <p:nvPr/>
        </p:nvSpPr>
        <p:spPr>
          <a:xfrm>
            <a:off x="6931153" y="4860252"/>
            <a:ext cx="1580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Target Variable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7B76C0A-5EB9-0F98-3D93-ED9BA0988FD8}"/>
              </a:ext>
            </a:extLst>
          </p:cNvPr>
          <p:cNvSpPr txBox="1"/>
          <p:nvPr/>
        </p:nvSpPr>
        <p:spPr>
          <a:xfrm>
            <a:off x="1443881" y="4787925"/>
            <a:ext cx="2016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Attributes/Features</a:t>
            </a:r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F498243C-9168-FB8D-A376-ED1AE2884F85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451882" y="5157257"/>
            <a:ext cx="2098195" cy="5973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C8719094-52B9-E6B7-06AD-1F7A9AE4E42D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6291074" y="5229584"/>
            <a:ext cx="1430392" cy="193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9868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52B8581-B00C-3268-1640-2104CA7D4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Machine Learning?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A2DF7F6-9977-C525-71F8-A005533AC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Machine Learning (ML) is the science (and art) of programming computers that can learn from data.</a:t>
            </a:r>
          </a:p>
        </p:txBody>
      </p:sp>
      <p:pic>
        <p:nvPicPr>
          <p:cNvPr id="5" name="Immagine 4" descr="Immagine che contiene testo&#10;&#10;Descrizione generata automaticamente">
            <a:extLst>
              <a:ext uri="{FF2B5EF4-FFF2-40B4-BE49-F238E27FC236}">
                <a16:creationId xmlns:a16="http://schemas.microsoft.com/office/drawing/2014/main" id="{01848C88-928C-6277-98EF-693271419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86" y="2938307"/>
            <a:ext cx="11048214" cy="3554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460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52B8581-B00C-3268-1640-2104CA7D4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Machine Learning?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A2DF7F6-9977-C525-71F8-A005533AC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Machine Learning (ML) is the science (and art) of programming computers that can learn from data.</a:t>
            </a:r>
          </a:p>
        </p:txBody>
      </p:sp>
      <p:pic>
        <p:nvPicPr>
          <p:cNvPr id="6" name="Immagine 5" descr="Immagine che contiene testo&#10;&#10;Descrizione generata automaticamente">
            <a:extLst>
              <a:ext uri="{FF2B5EF4-FFF2-40B4-BE49-F238E27FC236}">
                <a16:creationId xmlns:a16="http://schemas.microsoft.com/office/drawing/2014/main" id="{57FA37A2-36C8-AE52-7F3C-A3EDA881D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43" y="3365552"/>
            <a:ext cx="11434713" cy="281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587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220693-04E0-E4B8-0631-B25542ADA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Classical Programming vs Machine Learning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DB9EF93-2D1F-5AC9-1291-70BD0D9DC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ML system is trained rather than programmed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B8A7D01-5F2A-5B33-2ED6-ADD67F1BF0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3000"/>
          <a:stretch/>
        </p:blipFill>
        <p:spPr>
          <a:xfrm>
            <a:off x="2106891" y="2506662"/>
            <a:ext cx="7978218" cy="194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61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220693-04E0-E4B8-0631-B25542ADA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Classical Programming vs Machine Learning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DB9EF93-2D1F-5AC9-1291-70BD0D9DC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ML system is trained rather than programmed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B8A7D01-5F2A-5B33-2ED6-ADD67F1BF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891" y="2506662"/>
            <a:ext cx="7978218" cy="413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65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220693-04E0-E4B8-0631-B25542ADA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Classical Programming vs Machine Learning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DB9EF93-2D1F-5AC9-1291-70BD0D9DC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ML system is trained rather than programmed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B8A7D01-5F2A-5B33-2ED6-ADD67F1BF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891" y="2506662"/>
            <a:ext cx="7978218" cy="4133542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D0FAEFE5-FB09-23B8-8583-D22CAACB44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5173" r="74335"/>
          <a:stretch/>
        </p:blipFill>
        <p:spPr>
          <a:xfrm>
            <a:off x="10089138" y="5625906"/>
            <a:ext cx="2047632" cy="1026257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972DD975-364E-5AA3-F3BB-129BA1CFFA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5409" r="78736" b="23337"/>
          <a:stretch/>
        </p:blipFill>
        <p:spPr>
          <a:xfrm>
            <a:off x="10085110" y="4001295"/>
            <a:ext cx="1696516" cy="878556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B827EE5C-C838-E908-7D6A-3338D0463F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401" t="67381" r="69307" b="26859"/>
          <a:stretch/>
        </p:blipFill>
        <p:spPr>
          <a:xfrm rot="8745431">
            <a:off x="9358608" y="4735682"/>
            <a:ext cx="1060450" cy="238125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03C00C31-9E6F-4D15-2486-B4A1F047AD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401" t="67381" r="69307" b="26859"/>
          <a:stretch/>
        </p:blipFill>
        <p:spPr>
          <a:xfrm rot="1148664">
            <a:off x="9228849" y="6057901"/>
            <a:ext cx="1060450" cy="238125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1EE80FCD-D756-8969-8F56-EA1079144950}"/>
              </a:ext>
            </a:extLst>
          </p:cNvPr>
          <p:cNvSpPr/>
          <p:nvPr/>
        </p:nvSpPr>
        <p:spPr>
          <a:xfrm>
            <a:off x="11328256" y="4547856"/>
            <a:ext cx="728741" cy="211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91E0C800-8DFF-3F0D-F123-947B8E43021F}"/>
              </a:ext>
            </a:extLst>
          </p:cNvPr>
          <p:cNvSpPr/>
          <p:nvPr/>
        </p:nvSpPr>
        <p:spPr>
          <a:xfrm>
            <a:off x="11463259" y="6071247"/>
            <a:ext cx="728741" cy="211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453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a classical AI System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1201" y="1676401"/>
            <a:ext cx="4279735" cy="398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705600" y="1752601"/>
            <a:ext cx="4047968" cy="44781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 </a:t>
            </a:r>
            <a:r>
              <a:rPr lang="en-US" dirty="0">
                <a:solidFill>
                  <a:srgbClr val="FF0000"/>
                </a:solidFill>
              </a:rPr>
              <a:t>agent</a:t>
            </a:r>
            <a:r>
              <a:rPr lang="en-US" dirty="0"/>
              <a:t> </a:t>
            </a:r>
            <a:r>
              <a:rPr lang="en-US" dirty="0">
                <a:solidFill>
                  <a:schemeClr val="accent5"/>
                </a:solidFill>
              </a:rPr>
              <a:t>perceives</a:t>
            </a:r>
            <a:r>
              <a:rPr lang="en-US" dirty="0"/>
              <a:t> its environment</a:t>
            </a:r>
          </a:p>
          <a:p>
            <a:r>
              <a:rPr lang="en-US" dirty="0"/>
              <a:t>through </a:t>
            </a:r>
            <a:r>
              <a:rPr lang="en-US" dirty="0">
                <a:solidFill>
                  <a:srgbClr val="00B050"/>
                </a:solidFill>
              </a:rPr>
              <a:t>sensors</a:t>
            </a:r>
            <a:r>
              <a:rPr lang="en-US" dirty="0"/>
              <a:t> and </a:t>
            </a:r>
            <a:r>
              <a:rPr lang="en-US" dirty="0">
                <a:solidFill>
                  <a:schemeClr val="accent5"/>
                </a:solidFill>
              </a:rPr>
              <a:t>acts</a:t>
            </a:r>
            <a:r>
              <a:rPr lang="en-US" dirty="0"/>
              <a:t> on the</a:t>
            </a:r>
          </a:p>
          <a:p>
            <a:r>
              <a:rPr lang="en-US" dirty="0"/>
              <a:t>environment through </a:t>
            </a:r>
            <a:r>
              <a:rPr lang="en-US" dirty="0">
                <a:solidFill>
                  <a:srgbClr val="00B050"/>
                </a:solidFill>
              </a:rPr>
              <a:t>actuators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Human:</a:t>
            </a:r>
            <a:r>
              <a:rPr lang="en-US" dirty="0"/>
              <a:t>  sensors are eyes, ears,</a:t>
            </a:r>
          </a:p>
          <a:p>
            <a:r>
              <a:rPr lang="en-US" dirty="0"/>
              <a:t>actuators (effectors) are hands,</a:t>
            </a:r>
          </a:p>
          <a:p>
            <a:r>
              <a:rPr lang="en-US" dirty="0"/>
              <a:t>legs, mouth.</a:t>
            </a:r>
          </a:p>
          <a:p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Robot:</a:t>
            </a:r>
            <a:r>
              <a:rPr lang="en-US" dirty="0"/>
              <a:t>  sensors are cameras, sonar,</a:t>
            </a:r>
          </a:p>
          <a:p>
            <a:r>
              <a:rPr lang="en-US" dirty="0"/>
              <a:t>lasers, </a:t>
            </a:r>
            <a:r>
              <a:rPr lang="en-US" dirty="0" err="1"/>
              <a:t>ladar</a:t>
            </a:r>
            <a:r>
              <a:rPr lang="en-US" dirty="0"/>
              <a:t>, bump, effectors are</a:t>
            </a:r>
          </a:p>
          <a:p>
            <a:r>
              <a:rPr lang="en-US" dirty="0"/>
              <a:t>grippers, manipulators, motors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agent’s behavior is described by its</a:t>
            </a:r>
          </a:p>
          <a:p>
            <a:r>
              <a:rPr lang="en-US" dirty="0"/>
              <a:t>function that maps percept to 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467496"/>
            <a:ext cx="105156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Components</a:t>
            </a:r>
            <a:r>
              <a:rPr spc="-2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spc="-10" dirty="0"/>
              <a:t>agent</a:t>
            </a:r>
            <a:r>
              <a:rPr lang="it-IT" spc="-10" dirty="0"/>
              <a:t> </a:t>
            </a:r>
            <a:r>
              <a:rPr lang="it-IT" spc="-10" dirty="0" err="1"/>
              <a:t>that</a:t>
            </a:r>
            <a:r>
              <a:rPr lang="it-IT" spc="-10" dirty="0"/>
              <a:t> </a:t>
            </a:r>
            <a:r>
              <a:rPr lang="it-IT" spc="-10" dirty="0" err="1"/>
              <a:t>may</a:t>
            </a:r>
            <a:r>
              <a:rPr lang="it-IT" spc="-10" dirty="0"/>
              <a:t> be </a:t>
            </a:r>
            <a:r>
              <a:rPr lang="it-IT" spc="-10" dirty="0" err="1"/>
              <a:t>improved</a:t>
            </a:r>
            <a:r>
              <a:rPr lang="it-IT" spc="-10" dirty="0"/>
              <a:t> by learning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09472" y="2155952"/>
            <a:ext cx="421566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-25" dirty="0">
                <a:solidFill>
                  <a:srgbClr val="90C225"/>
                </a:solidFill>
                <a:latin typeface="Trebuchet MS"/>
                <a:cs typeface="Trebuchet MS"/>
              </a:rPr>
              <a:t>1.</a:t>
            </a:r>
            <a:r>
              <a:rPr sz="1450" dirty="0">
                <a:solidFill>
                  <a:srgbClr val="90C225"/>
                </a:solidFill>
                <a:latin typeface="Trebuchet MS"/>
                <a:cs typeface="Trebuchet MS"/>
              </a:rPr>
              <a:t>	</a:t>
            </a:r>
            <a:r>
              <a:rPr sz="1800" dirty="0">
                <a:latin typeface="Trebuchet MS"/>
                <a:cs typeface="Trebuchet MS"/>
              </a:rPr>
              <a:t>Map</a:t>
            </a:r>
            <a:r>
              <a:rPr lang="it-IT" sz="1800" dirty="0" err="1">
                <a:latin typeface="Trebuchet MS"/>
                <a:cs typeface="Trebuchet MS"/>
              </a:rPr>
              <a:t>ping</a:t>
            </a:r>
            <a:r>
              <a:rPr lang="it-IT" sz="180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from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conditions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actions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9473" y="2556459"/>
            <a:ext cx="31896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-25" dirty="0">
                <a:solidFill>
                  <a:srgbClr val="90C225"/>
                </a:solidFill>
                <a:latin typeface="Trebuchet MS"/>
                <a:cs typeface="Trebuchet MS"/>
              </a:rPr>
              <a:t>2.</a:t>
            </a:r>
            <a:r>
              <a:rPr sz="1450" dirty="0">
                <a:solidFill>
                  <a:srgbClr val="90C225"/>
                </a:solidFill>
                <a:latin typeface="Trebuchet MS"/>
                <a:cs typeface="Trebuchet MS"/>
              </a:rPr>
              <a:t>	</a:t>
            </a:r>
            <a:r>
              <a:rPr sz="1800" dirty="0">
                <a:latin typeface="Trebuchet MS"/>
                <a:cs typeface="Trebuchet MS"/>
              </a:rPr>
              <a:t>Inferation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properties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of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the</a:t>
            </a:r>
            <a:endParaRPr sz="1800" dirty="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rebuchet MS"/>
                <a:cs typeface="Trebuchet MS"/>
              </a:rPr>
              <a:t>world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from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perceptions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9473" y="3232150"/>
            <a:ext cx="34353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-25" dirty="0">
                <a:solidFill>
                  <a:srgbClr val="90C225"/>
                </a:solidFill>
                <a:latin typeface="Trebuchet MS"/>
                <a:cs typeface="Trebuchet MS"/>
              </a:rPr>
              <a:t>3.</a:t>
            </a:r>
            <a:r>
              <a:rPr sz="1450" dirty="0">
                <a:solidFill>
                  <a:srgbClr val="90C225"/>
                </a:solidFill>
                <a:latin typeface="Trebuchet MS"/>
                <a:cs typeface="Trebuchet MS"/>
              </a:rPr>
              <a:t>	</a:t>
            </a:r>
            <a:r>
              <a:rPr sz="1800" dirty="0">
                <a:latin typeface="Trebuchet MS"/>
                <a:cs typeface="Trebuchet MS"/>
              </a:rPr>
              <a:t>Information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about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world’s evolution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9473" y="3908501"/>
            <a:ext cx="28187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-25" dirty="0">
                <a:solidFill>
                  <a:srgbClr val="90C225"/>
                </a:solidFill>
                <a:latin typeface="Trebuchet MS"/>
                <a:cs typeface="Trebuchet MS"/>
              </a:rPr>
              <a:t>4.</a:t>
            </a:r>
            <a:r>
              <a:rPr sz="1450" dirty="0">
                <a:solidFill>
                  <a:srgbClr val="90C225"/>
                </a:solidFill>
                <a:latin typeface="Trebuchet MS"/>
                <a:cs typeface="Trebuchet MS"/>
              </a:rPr>
              <a:t>	</a:t>
            </a:r>
            <a:r>
              <a:rPr sz="1800" dirty="0">
                <a:latin typeface="Trebuchet MS"/>
                <a:cs typeface="Trebuchet MS"/>
              </a:rPr>
              <a:t>Overall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utility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goals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52490" y="1738325"/>
            <a:ext cx="23780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Learning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from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driver.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44614" y="1967235"/>
            <a:ext cx="3968750" cy="217932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95"/>
              </a:spcBef>
              <a:buClr>
                <a:srgbClr val="90C225"/>
              </a:buClr>
              <a:buSzPct val="80555"/>
              <a:buAutoNum type="arabicPeriod"/>
              <a:tabLst>
                <a:tab pos="354965" algn="l"/>
              </a:tabLst>
            </a:pP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traffic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light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red: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brake!</a:t>
            </a:r>
            <a:endParaRPr sz="1800" dirty="0">
              <a:latin typeface="Trebuchet MS"/>
              <a:cs typeface="Trebuchet MS"/>
            </a:endParaRPr>
          </a:p>
          <a:p>
            <a:pPr marL="355600" marR="81915" indent="-342900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AutoNum type="arabicPeriod"/>
              <a:tabLst>
                <a:tab pos="355600" algn="l"/>
              </a:tabLst>
            </a:pPr>
            <a:r>
              <a:rPr sz="1800" dirty="0">
                <a:latin typeface="Trebuchet MS"/>
                <a:cs typeface="Trebuchet MS"/>
              </a:rPr>
              <a:t>Recognizing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buses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pedestrians </a:t>
            </a:r>
            <a:r>
              <a:rPr sz="1800" dirty="0">
                <a:latin typeface="Trebuchet MS"/>
                <a:cs typeface="Trebuchet MS"/>
              </a:rPr>
              <a:t>from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images</a:t>
            </a:r>
            <a:endParaRPr sz="1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80555"/>
              <a:buAutoNum type="arabicPeriod"/>
              <a:tabLst>
                <a:tab pos="354965" algn="l"/>
              </a:tabLst>
            </a:pPr>
            <a:r>
              <a:rPr sz="1800" dirty="0">
                <a:latin typeface="Trebuchet MS"/>
                <a:cs typeface="Trebuchet MS"/>
              </a:rPr>
              <a:t>If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you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brake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hardly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on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wet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road,</a:t>
            </a:r>
            <a:endParaRPr sz="1800" dirty="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</a:pPr>
            <a:r>
              <a:rPr sz="1800" dirty="0">
                <a:latin typeface="Trebuchet MS"/>
                <a:cs typeface="Trebuchet MS"/>
              </a:rPr>
              <a:t>you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are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in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danger</a:t>
            </a:r>
            <a:endParaRPr sz="1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AutoNum type="arabicPeriod" startAt="4"/>
              <a:tabLst>
                <a:tab pos="354965" algn="l"/>
              </a:tabLst>
            </a:pPr>
            <a:r>
              <a:rPr sz="1800" spc="-10" dirty="0">
                <a:latin typeface="Trebuchet MS"/>
                <a:cs typeface="Trebuchet MS"/>
              </a:rPr>
              <a:t>Passengers</a:t>
            </a:r>
            <a:r>
              <a:rPr sz="1800" spc="-8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complaint</a:t>
            </a:r>
            <a:r>
              <a:rPr sz="1800" spc="-8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about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driving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90900" y="2300863"/>
            <a:ext cx="2705100" cy="1776095"/>
          </a:xfrm>
          <a:custGeom>
            <a:avLst/>
            <a:gdLst/>
            <a:ahLst/>
            <a:cxnLst/>
            <a:rect l="l" t="t" r="r" b="b"/>
            <a:pathLst>
              <a:path w="2705100" h="1776095">
                <a:moveTo>
                  <a:pt x="754380" y="0"/>
                </a:moveTo>
                <a:lnTo>
                  <a:pt x="1105281" y="0"/>
                </a:lnTo>
              </a:path>
              <a:path w="2705100" h="1776095">
                <a:moveTo>
                  <a:pt x="1106424" y="0"/>
                </a:moveTo>
                <a:lnTo>
                  <a:pt x="1106424" y="1765046"/>
                </a:lnTo>
              </a:path>
              <a:path w="2705100" h="1776095">
                <a:moveTo>
                  <a:pt x="0" y="1764792"/>
                </a:moveTo>
                <a:lnTo>
                  <a:pt x="1105789" y="1775460"/>
                </a:lnTo>
              </a:path>
              <a:path w="2705100" h="1776095">
                <a:moveTo>
                  <a:pt x="414527" y="457200"/>
                </a:moveTo>
                <a:lnTo>
                  <a:pt x="1105662" y="467868"/>
                </a:lnTo>
              </a:path>
              <a:path w="2705100" h="1776095">
                <a:moveTo>
                  <a:pt x="617220" y="1074420"/>
                </a:moveTo>
                <a:lnTo>
                  <a:pt x="1106297" y="1074420"/>
                </a:lnTo>
              </a:path>
              <a:path w="2705100" h="1776095">
                <a:moveTo>
                  <a:pt x="2467356" y="0"/>
                </a:moveTo>
                <a:lnTo>
                  <a:pt x="2705100" y="0"/>
                </a:lnTo>
              </a:path>
              <a:path w="2705100" h="1776095">
                <a:moveTo>
                  <a:pt x="2467356" y="0"/>
                </a:moveTo>
                <a:lnTo>
                  <a:pt x="2467356" y="1775587"/>
                </a:lnTo>
              </a:path>
              <a:path w="2705100" h="1776095">
                <a:moveTo>
                  <a:pt x="2705100" y="1775460"/>
                </a:moveTo>
                <a:lnTo>
                  <a:pt x="2467356" y="1775460"/>
                </a:lnTo>
              </a:path>
              <a:path w="2705100" h="1776095">
                <a:moveTo>
                  <a:pt x="2705100" y="1074420"/>
                </a:moveTo>
                <a:lnTo>
                  <a:pt x="2467356" y="1074420"/>
                </a:lnTo>
              </a:path>
              <a:path w="2705100" h="1776095">
                <a:moveTo>
                  <a:pt x="2705100" y="457200"/>
                </a:moveTo>
                <a:lnTo>
                  <a:pt x="2467356" y="457200"/>
                </a:lnTo>
              </a:path>
              <a:path w="2705100" h="1776095">
                <a:moveTo>
                  <a:pt x="1106424" y="810768"/>
                </a:moveTo>
                <a:lnTo>
                  <a:pt x="2467356" y="822198"/>
                </a:lnTo>
              </a:path>
            </a:pathLst>
          </a:custGeom>
          <a:ln w="12192">
            <a:solidFill>
              <a:srgbClr val="90C2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525136" y="2797809"/>
            <a:ext cx="892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92D050"/>
                </a:solidFill>
                <a:latin typeface="Trebuchet MS"/>
                <a:cs typeface="Trebuchet MS"/>
              </a:rPr>
              <a:t>Example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1936" y="4434840"/>
            <a:ext cx="3272028" cy="203911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69279" y="4434840"/>
            <a:ext cx="2857500" cy="20406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309" y="625344"/>
            <a:ext cx="9928255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it-IT" sz="5400" dirty="0" err="1"/>
              <a:t>Boundary</a:t>
            </a:r>
            <a:r>
              <a:rPr lang="it-IT" sz="5400" dirty="0"/>
              <a:t> </a:t>
            </a:r>
            <a:r>
              <a:rPr lang="it-IT" sz="5400" dirty="0" err="1"/>
              <a:t>Factors</a:t>
            </a:r>
            <a:r>
              <a:rPr lang="it-IT" sz="5400" dirty="0"/>
              <a:t> of</a:t>
            </a:r>
            <a:r>
              <a:rPr sz="5400" spc="-100" dirty="0"/>
              <a:t> </a:t>
            </a:r>
            <a:r>
              <a:rPr sz="5400" spc="-95" dirty="0"/>
              <a:t> </a:t>
            </a:r>
            <a:r>
              <a:rPr lang="it-IT" sz="5400" spc="-10" dirty="0"/>
              <a:t>L</a:t>
            </a:r>
            <a:r>
              <a:rPr sz="5400" spc="-10" dirty="0"/>
              <a:t>earning</a:t>
            </a:r>
            <a:endParaRPr sz="5400" dirty="0"/>
          </a:p>
        </p:txBody>
      </p:sp>
      <p:sp>
        <p:nvSpPr>
          <p:cNvPr id="3" name="object 3"/>
          <p:cNvSpPr txBox="1"/>
          <p:nvPr/>
        </p:nvSpPr>
        <p:spPr>
          <a:xfrm>
            <a:off x="756309" y="2155951"/>
            <a:ext cx="10256247" cy="286039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rebuchet MS"/>
                <a:cs typeface="Trebuchet MS"/>
              </a:rPr>
              <a:t>Any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component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of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an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agent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program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can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be </a:t>
            </a:r>
            <a:r>
              <a:rPr sz="3200" dirty="0">
                <a:latin typeface="Trebuchet MS"/>
                <a:cs typeface="Trebuchet MS"/>
              </a:rPr>
              <a:t>improved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by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machine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learning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upon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these factors:</a:t>
            </a:r>
            <a:endParaRPr sz="32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9687"/>
              <a:buFont typeface="Wingdings 3"/>
              <a:buChar char=""/>
              <a:tabLst>
                <a:tab pos="354965" algn="l"/>
              </a:tabLst>
            </a:pPr>
            <a:r>
              <a:rPr sz="3200" dirty="0">
                <a:latin typeface="Trebuchet MS"/>
                <a:cs typeface="Trebuchet MS"/>
              </a:rPr>
              <a:t>Component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to</a:t>
            </a:r>
            <a:r>
              <a:rPr sz="3200" spc="-3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be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improved</a:t>
            </a:r>
            <a:endParaRPr sz="32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9687"/>
              <a:buFont typeface="Wingdings 3"/>
              <a:buChar char=""/>
              <a:tabLst>
                <a:tab pos="354965" algn="l"/>
              </a:tabLst>
            </a:pPr>
            <a:r>
              <a:rPr sz="3200" dirty="0">
                <a:latin typeface="Trebuchet MS"/>
                <a:cs typeface="Trebuchet MS"/>
              </a:rPr>
              <a:t>Prior</a:t>
            </a:r>
            <a:r>
              <a:rPr sz="3200" spc="-17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knowledge</a:t>
            </a:r>
            <a:endParaRPr sz="32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15"/>
              </a:spcBef>
              <a:buClr>
                <a:srgbClr val="90C225"/>
              </a:buClr>
              <a:buSzPct val="79687"/>
              <a:buFont typeface="Wingdings 3"/>
              <a:buChar char=""/>
              <a:tabLst>
                <a:tab pos="354965" algn="l"/>
              </a:tabLst>
            </a:pPr>
            <a:r>
              <a:rPr sz="3200" dirty="0">
                <a:latin typeface="Trebuchet MS"/>
                <a:cs typeface="Trebuchet MS"/>
              </a:rPr>
              <a:t>Data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and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feedbacks</a:t>
            </a:r>
            <a:endParaRPr sz="32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44495"/>
            <a:ext cx="105156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it-IT" dirty="0"/>
              <a:t>Forms</a:t>
            </a:r>
            <a:r>
              <a:rPr spc="-125" dirty="0"/>
              <a:t> </a:t>
            </a:r>
            <a:r>
              <a:rPr dirty="0"/>
              <a:t>of</a:t>
            </a:r>
            <a:r>
              <a:rPr spc="-114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3437" y="1652142"/>
            <a:ext cx="3639185" cy="294767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800" spc="-10" dirty="0">
                <a:solidFill>
                  <a:srgbClr val="92D050"/>
                </a:solidFill>
                <a:latin typeface="Trebuchet MS"/>
                <a:cs typeface="Trebuchet MS"/>
              </a:rPr>
              <a:t>INDUCTION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800" dirty="0">
                <a:latin typeface="Trebuchet MS"/>
                <a:cs typeface="Trebuchet MS"/>
              </a:rPr>
              <a:t>From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specific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general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rule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745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92D050"/>
                </a:solidFill>
                <a:latin typeface="Trebuchet MS"/>
                <a:cs typeface="Trebuchet MS"/>
              </a:rPr>
              <a:t>Example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sun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rose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every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days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in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past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sun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will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rise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tomorrow</a:t>
            </a:r>
            <a:endParaRPr sz="1800">
              <a:latin typeface="Trebuchet MS"/>
              <a:cs typeface="Trebuchet MS"/>
            </a:endParaRPr>
          </a:p>
          <a:p>
            <a:pPr marL="1035050">
              <a:lnSpc>
                <a:spcPct val="100000"/>
              </a:lnSpc>
              <a:spcBef>
                <a:spcPts val="2060"/>
              </a:spcBef>
            </a:pPr>
            <a:r>
              <a:rPr sz="1800" dirty="0">
                <a:latin typeface="Trebuchet MS"/>
                <a:cs typeface="Trebuchet MS"/>
              </a:rPr>
              <a:t>Not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always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true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94355" y="3546475"/>
            <a:ext cx="78105" cy="276860"/>
          </a:xfrm>
          <a:custGeom>
            <a:avLst/>
            <a:gdLst/>
            <a:ahLst/>
            <a:cxnLst/>
            <a:rect l="l" t="t" r="r" b="b"/>
            <a:pathLst>
              <a:path w="78105" h="276860">
                <a:moveTo>
                  <a:pt x="25895" y="199093"/>
                </a:moveTo>
                <a:lnTo>
                  <a:pt x="0" y="199389"/>
                </a:lnTo>
                <a:lnTo>
                  <a:pt x="39750" y="276606"/>
                </a:lnTo>
                <a:lnTo>
                  <a:pt x="64881" y="224917"/>
                </a:lnTo>
                <a:lnTo>
                  <a:pt x="32004" y="224917"/>
                </a:lnTo>
                <a:lnTo>
                  <a:pt x="26162" y="219201"/>
                </a:lnTo>
                <a:lnTo>
                  <a:pt x="26035" y="211962"/>
                </a:lnTo>
                <a:lnTo>
                  <a:pt x="25898" y="199389"/>
                </a:lnTo>
                <a:lnTo>
                  <a:pt x="25895" y="199093"/>
                </a:lnTo>
                <a:close/>
              </a:path>
              <a:path w="78105" h="276860">
                <a:moveTo>
                  <a:pt x="51802" y="198797"/>
                </a:moveTo>
                <a:lnTo>
                  <a:pt x="25895" y="199093"/>
                </a:lnTo>
                <a:lnTo>
                  <a:pt x="26032" y="211708"/>
                </a:lnTo>
                <a:lnTo>
                  <a:pt x="26035" y="211962"/>
                </a:lnTo>
                <a:lnTo>
                  <a:pt x="26162" y="219201"/>
                </a:lnTo>
                <a:lnTo>
                  <a:pt x="32004" y="224917"/>
                </a:lnTo>
                <a:lnTo>
                  <a:pt x="39116" y="224789"/>
                </a:lnTo>
                <a:lnTo>
                  <a:pt x="46227" y="224789"/>
                </a:lnTo>
                <a:lnTo>
                  <a:pt x="52069" y="218948"/>
                </a:lnTo>
                <a:lnTo>
                  <a:pt x="51943" y="211708"/>
                </a:lnTo>
                <a:lnTo>
                  <a:pt x="51809" y="199389"/>
                </a:lnTo>
                <a:lnTo>
                  <a:pt x="51802" y="198797"/>
                </a:lnTo>
                <a:close/>
              </a:path>
              <a:path w="78105" h="276860">
                <a:moveTo>
                  <a:pt x="77724" y="198500"/>
                </a:moveTo>
                <a:lnTo>
                  <a:pt x="51802" y="198797"/>
                </a:lnTo>
                <a:lnTo>
                  <a:pt x="51943" y="211708"/>
                </a:lnTo>
                <a:lnTo>
                  <a:pt x="52069" y="218948"/>
                </a:lnTo>
                <a:lnTo>
                  <a:pt x="46227" y="224789"/>
                </a:lnTo>
                <a:lnTo>
                  <a:pt x="39116" y="224789"/>
                </a:lnTo>
                <a:lnTo>
                  <a:pt x="32004" y="224917"/>
                </a:lnTo>
                <a:lnTo>
                  <a:pt x="64881" y="224917"/>
                </a:lnTo>
                <a:lnTo>
                  <a:pt x="77724" y="198500"/>
                </a:lnTo>
                <a:close/>
              </a:path>
              <a:path w="78105" h="276860">
                <a:moveTo>
                  <a:pt x="44068" y="0"/>
                </a:moveTo>
                <a:lnTo>
                  <a:pt x="29591" y="0"/>
                </a:lnTo>
                <a:lnTo>
                  <a:pt x="24002" y="5587"/>
                </a:lnTo>
                <a:lnTo>
                  <a:pt x="23875" y="12953"/>
                </a:lnTo>
                <a:lnTo>
                  <a:pt x="25888" y="198500"/>
                </a:lnTo>
                <a:lnTo>
                  <a:pt x="25895" y="199093"/>
                </a:lnTo>
                <a:lnTo>
                  <a:pt x="51802" y="198797"/>
                </a:lnTo>
                <a:lnTo>
                  <a:pt x="49786" y="12953"/>
                </a:lnTo>
                <a:lnTo>
                  <a:pt x="49661" y="5841"/>
                </a:lnTo>
                <a:lnTo>
                  <a:pt x="49656" y="5587"/>
                </a:lnTo>
                <a:lnTo>
                  <a:pt x="440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7222" y="2309114"/>
            <a:ext cx="335280" cy="639445"/>
          </a:xfrm>
          <a:custGeom>
            <a:avLst/>
            <a:gdLst/>
            <a:ahLst/>
            <a:cxnLst/>
            <a:rect l="l" t="t" r="r" b="b"/>
            <a:pathLst>
              <a:path w="335280" h="639444">
                <a:moveTo>
                  <a:pt x="225694" y="609335"/>
                </a:moveTo>
                <a:lnTo>
                  <a:pt x="211429" y="634111"/>
                </a:lnTo>
                <a:lnTo>
                  <a:pt x="296481" y="639063"/>
                </a:lnTo>
                <a:lnTo>
                  <a:pt x="283020" y="618744"/>
                </a:lnTo>
                <a:lnTo>
                  <a:pt x="240944" y="618744"/>
                </a:lnTo>
                <a:lnTo>
                  <a:pt x="236283" y="615823"/>
                </a:lnTo>
                <a:lnTo>
                  <a:pt x="225694" y="609335"/>
                </a:lnTo>
                <a:close/>
              </a:path>
              <a:path w="335280" h="639444">
                <a:moveTo>
                  <a:pt x="235583" y="592159"/>
                </a:moveTo>
                <a:lnTo>
                  <a:pt x="225694" y="609335"/>
                </a:lnTo>
                <a:lnTo>
                  <a:pt x="236283" y="615823"/>
                </a:lnTo>
                <a:lnTo>
                  <a:pt x="240944" y="618744"/>
                </a:lnTo>
                <a:lnTo>
                  <a:pt x="247040" y="617220"/>
                </a:lnTo>
                <a:lnTo>
                  <a:pt x="249897" y="612521"/>
                </a:lnTo>
                <a:lnTo>
                  <a:pt x="252755" y="607949"/>
                </a:lnTo>
                <a:lnTo>
                  <a:pt x="251282" y="601726"/>
                </a:lnTo>
                <a:lnTo>
                  <a:pt x="246621" y="598932"/>
                </a:lnTo>
                <a:lnTo>
                  <a:pt x="235583" y="592159"/>
                </a:lnTo>
                <a:close/>
              </a:path>
              <a:path w="335280" h="639444">
                <a:moveTo>
                  <a:pt x="249453" y="568071"/>
                </a:moveTo>
                <a:lnTo>
                  <a:pt x="235583" y="592159"/>
                </a:lnTo>
                <a:lnTo>
                  <a:pt x="246621" y="598932"/>
                </a:lnTo>
                <a:lnTo>
                  <a:pt x="251282" y="601726"/>
                </a:lnTo>
                <a:lnTo>
                  <a:pt x="252755" y="607949"/>
                </a:lnTo>
                <a:lnTo>
                  <a:pt x="249897" y="612521"/>
                </a:lnTo>
                <a:lnTo>
                  <a:pt x="247040" y="617220"/>
                </a:lnTo>
                <a:lnTo>
                  <a:pt x="240944" y="618744"/>
                </a:lnTo>
                <a:lnTo>
                  <a:pt x="283020" y="618744"/>
                </a:lnTo>
                <a:lnTo>
                  <a:pt x="249453" y="568071"/>
                </a:lnTo>
                <a:close/>
              </a:path>
              <a:path w="335280" h="639444">
                <a:moveTo>
                  <a:pt x="322033" y="0"/>
                </a:moveTo>
                <a:lnTo>
                  <a:pt x="259969" y="47625"/>
                </a:lnTo>
                <a:lnTo>
                  <a:pt x="203923" y="91948"/>
                </a:lnTo>
                <a:lnTo>
                  <a:pt x="151269" y="136016"/>
                </a:lnTo>
                <a:lnTo>
                  <a:pt x="103733" y="179705"/>
                </a:lnTo>
                <a:lnTo>
                  <a:pt x="63068" y="223138"/>
                </a:lnTo>
                <a:lnTo>
                  <a:pt x="37960" y="255397"/>
                </a:lnTo>
                <a:lnTo>
                  <a:pt x="13500" y="298196"/>
                </a:lnTo>
                <a:lnTo>
                  <a:pt x="965" y="340995"/>
                </a:lnTo>
                <a:lnTo>
                  <a:pt x="0" y="351536"/>
                </a:lnTo>
                <a:lnTo>
                  <a:pt x="159" y="362203"/>
                </a:lnTo>
                <a:lnTo>
                  <a:pt x="13195" y="407797"/>
                </a:lnTo>
                <a:lnTo>
                  <a:pt x="33274" y="441578"/>
                </a:lnTo>
                <a:lnTo>
                  <a:pt x="60109" y="474725"/>
                </a:lnTo>
                <a:lnTo>
                  <a:pt x="91859" y="506984"/>
                </a:lnTo>
                <a:lnTo>
                  <a:pt x="138988" y="547751"/>
                </a:lnTo>
                <a:lnTo>
                  <a:pt x="187985" y="584453"/>
                </a:lnTo>
                <a:lnTo>
                  <a:pt x="225694" y="609335"/>
                </a:lnTo>
                <a:lnTo>
                  <a:pt x="235583" y="592159"/>
                </a:lnTo>
                <a:lnTo>
                  <a:pt x="223024" y="584453"/>
                </a:lnTo>
                <a:lnTo>
                  <a:pt x="199618" y="568451"/>
                </a:lnTo>
                <a:lnTo>
                  <a:pt x="151650" y="532638"/>
                </a:lnTo>
                <a:lnTo>
                  <a:pt x="105816" y="493013"/>
                </a:lnTo>
                <a:lnTo>
                  <a:pt x="75082" y="461772"/>
                </a:lnTo>
                <a:lnTo>
                  <a:pt x="49720" y="430402"/>
                </a:lnTo>
                <a:lnTo>
                  <a:pt x="26949" y="390016"/>
                </a:lnTo>
                <a:lnTo>
                  <a:pt x="20021" y="362585"/>
                </a:lnTo>
                <a:lnTo>
                  <a:pt x="19964" y="362203"/>
                </a:lnTo>
                <a:lnTo>
                  <a:pt x="27533" y="316230"/>
                </a:lnTo>
                <a:lnTo>
                  <a:pt x="47383" y="276987"/>
                </a:lnTo>
                <a:lnTo>
                  <a:pt x="77838" y="236220"/>
                </a:lnTo>
                <a:lnTo>
                  <a:pt x="117373" y="194056"/>
                </a:lnTo>
                <a:lnTo>
                  <a:pt x="164134" y="151130"/>
                </a:lnTo>
                <a:lnTo>
                  <a:pt x="216255" y="107441"/>
                </a:lnTo>
                <a:lnTo>
                  <a:pt x="272034" y="63373"/>
                </a:lnTo>
                <a:lnTo>
                  <a:pt x="334098" y="15748"/>
                </a:lnTo>
                <a:lnTo>
                  <a:pt x="334911" y="9525"/>
                </a:lnTo>
                <a:lnTo>
                  <a:pt x="331584" y="5207"/>
                </a:lnTo>
                <a:lnTo>
                  <a:pt x="328256" y="762"/>
                </a:lnTo>
                <a:lnTo>
                  <a:pt x="322033" y="0"/>
                </a:lnTo>
                <a:close/>
              </a:path>
            </a:pathLst>
          </a:custGeom>
          <a:solidFill>
            <a:srgbClr val="688E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4085" y="3947286"/>
            <a:ext cx="1058545" cy="579120"/>
          </a:xfrm>
          <a:custGeom>
            <a:avLst/>
            <a:gdLst/>
            <a:ahLst/>
            <a:cxnLst/>
            <a:rect l="l" t="t" r="r" b="b"/>
            <a:pathLst>
              <a:path w="1058545" h="579120">
                <a:moveTo>
                  <a:pt x="983259" y="502919"/>
                </a:moveTo>
                <a:lnTo>
                  <a:pt x="982730" y="521588"/>
                </a:lnTo>
                <a:lnTo>
                  <a:pt x="982611" y="525780"/>
                </a:lnTo>
                <a:lnTo>
                  <a:pt x="982518" y="529082"/>
                </a:lnTo>
                <a:lnTo>
                  <a:pt x="982460" y="531119"/>
                </a:lnTo>
                <a:lnTo>
                  <a:pt x="995197" y="531494"/>
                </a:lnTo>
                <a:lnTo>
                  <a:pt x="1000658" y="531749"/>
                </a:lnTo>
                <a:lnTo>
                  <a:pt x="1004976" y="536320"/>
                </a:lnTo>
                <a:lnTo>
                  <a:pt x="1004740" y="541401"/>
                </a:lnTo>
                <a:lnTo>
                  <a:pt x="1004722" y="541782"/>
                </a:lnTo>
                <a:lnTo>
                  <a:pt x="1004595" y="547243"/>
                </a:lnTo>
                <a:lnTo>
                  <a:pt x="1000023" y="551433"/>
                </a:lnTo>
                <a:lnTo>
                  <a:pt x="981884" y="551433"/>
                </a:lnTo>
                <a:lnTo>
                  <a:pt x="981100" y="579119"/>
                </a:lnTo>
                <a:lnTo>
                  <a:pt x="1040581" y="551433"/>
                </a:lnTo>
                <a:lnTo>
                  <a:pt x="998400" y="551433"/>
                </a:lnTo>
                <a:lnTo>
                  <a:pt x="981900" y="550888"/>
                </a:lnTo>
                <a:lnTo>
                  <a:pt x="1041754" y="550888"/>
                </a:lnTo>
                <a:lnTo>
                  <a:pt x="1058316" y="543179"/>
                </a:lnTo>
                <a:lnTo>
                  <a:pt x="983259" y="502919"/>
                </a:lnTo>
                <a:close/>
              </a:path>
              <a:path w="1058545" h="579120">
                <a:moveTo>
                  <a:pt x="982460" y="531119"/>
                </a:moveTo>
                <a:lnTo>
                  <a:pt x="982169" y="541401"/>
                </a:lnTo>
                <a:lnTo>
                  <a:pt x="982118" y="543179"/>
                </a:lnTo>
                <a:lnTo>
                  <a:pt x="982003" y="547243"/>
                </a:lnTo>
                <a:lnTo>
                  <a:pt x="981900" y="550888"/>
                </a:lnTo>
                <a:lnTo>
                  <a:pt x="998400" y="551433"/>
                </a:lnTo>
                <a:lnTo>
                  <a:pt x="1000023" y="551433"/>
                </a:lnTo>
                <a:lnTo>
                  <a:pt x="1004595" y="547243"/>
                </a:lnTo>
                <a:lnTo>
                  <a:pt x="1004722" y="541782"/>
                </a:lnTo>
                <a:lnTo>
                  <a:pt x="1004976" y="536320"/>
                </a:lnTo>
                <a:lnTo>
                  <a:pt x="1000658" y="531749"/>
                </a:lnTo>
                <a:lnTo>
                  <a:pt x="995197" y="531494"/>
                </a:lnTo>
                <a:lnTo>
                  <a:pt x="982460" y="531119"/>
                </a:lnTo>
                <a:close/>
              </a:path>
              <a:path w="1058545" h="579120">
                <a:moveTo>
                  <a:pt x="132130" y="0"/>
                </a:moveTo>
                <a:lnTo>
                  <a:pt x="104787" y="34798"/>
                </a:lnTo>
                <a:lnTo>
                  <a:pt x="69710" y="92075"/>
                </a:lnTo>
                <a:lnTo>
                  <a:pt x="38836" y="148589"/>
                </a:lnTo>
                <a:lnTo>
                  <a:pt x="20167" y="190245"/>
                </a:lnTo>
                <a:lnTo>
                  <a:pt x="6921" y="230758"/>
                </a:lnTo>
                <a:lnTo>
                  <a:pt x="419" y="270001"/>
                </a:lnTo>
                <a:lnTo>
                  <a:pt x="0" y="282956"/>
                </a:lnTo>
                <a:lnTo>
                  <a:pt x="453" y="294639"/>
                </a:lnTo>
                <a:lnTo>
                  <a:pt x="482" y="295401"/>
                </a:lnTo>
                <a:lnTo>
                  <a:pt x="13652" y="344043"/>
                </a:lnTo>
                <a:lnTo>
                  <a:pt x="36436" y="377063"/>
                </a:lnTo>
                <a:lnTo>
                  <a:pt x="71094" y="406400"/>
                </a:lnTo>
                <a:lnTo>
                  <a:pt x="119113" y="431926"/>
                </a:lnTo>
                <a:lnTo>
                  <a:pt x="159321" y="447294"/>
                </a:lnTo>
                <a:lnTo>
                  <a:pt x="205663" y="461263"/>
                </a:lnTo>
                <a:lnTo>
                  <a:pt x="257327" y="474218"/>
                </a:lnTo>
                <a:lnTo>
                  <a:pt x="313778" y="486156"/>
                </a:lnTo>
                <a:lnTo>
                  <a:pt x="374370" y="496950"/>
                </a:lnTo>
                <a:lnTo>
                  <a:pt x="438315" y="506730"/>
                </a:lnTo>
                <a:lnTo>
                  <a:pt x="505091" y="515619"/>
                </a:lnTo>
                <a:lnTo>
                  <a:pt x="573798" y="523367"/>
                </a:lnTo>
                <a:lnTo>
                  <a:pt x="644169" y="530225"/>
                </a:lnTo>
                <a:lnTo>
                  <a:pt x="715162" y="536320"/>
                </a:lnTo>
                <a:lnTo>
                  <a:pt x="786282" y="541401"/>
                </a:lnTo>
                <a:lnTo>
                  <a:pt x="856894" y="545592"/>
                </a:lnTo>
                <a:lnTo>
                  <a:pt x="925982" y="548894"/>
                </a:lnTo>
                <a:lnTo>
                  <a:pt x="981900" y="550888"/>
                </a:lnTo>
                <a:lnTo>
                  <a:pt x="982442" y="531749"/>
                </a:lnTo>
                <a:lnTo>
                  <a:pt x="982460" y="531119"/>
                </a:lnTo>
                <a:lnTo>
                  <a:pt x="960780" y="530479"/>
                </a:lnTo>
                <a:lnTo>
                  <a:pt x="858037" y="525780"/>
                </a:lnTo>
                <a:lnTo>
                  <a:pt x="787679" y="521588"/>
                </a:lnTo>
                <a:lnTo>
                  <a:pt x="716813" y="516508"/>
                </a:lnTo>
                <a:lnTo>
                  <a:pt x="646074" y="510539"/>
                </a:lnTo>
                <a:lnTo>
                  <a:pt x="576046" y="503681"/>
                </a:lnTo>
                <a:lnTo>
                  <a:pt x="507593" y="495935"/>
                </a:lnTo>
                <a:lnTo>
                  <a:pt x="409016" y="482345"/>
                </a:lnTo>
                <a:lnTo>
                  <a:pt x="347179" y="472186"/>
                </a:lnTo>
                <a:lnTo>
                  <a:pt x="289280" y="460882"/>
                </a:lnTo>
                <a:lnTo>
                  <a:pt x="235965" y="448690"/>
                </a:lnTo>
                <a:lnTo>
                  <a:pt x="187871" y="435482"/>
                </a:lnTo>
                <a:lnTo>
                  <a:pt x="145783" y="421258"/>
                </a:lnTo>
                <a:lnTo>
                  <a:pt x="95783" y="398399"/>
                </a:lnTo>
                <a:lnTo>
                  <a:pt x="60566" y="373380"/>
                </a:lnTo>
                <a:lnTo>
                  <a:pt x="31864" y="336169"/>
                </a:lnTo>
                <a:lnTo>
                  <a:pt x="20371" y="295401"/>
                </a:lnTo>
                <a:lnTo>
                  <a:pt x="19799" y="283590"/>
                </a:lnTo>
                <a:lnTo>
                  <a:pt x="20142" y="272033"/>
                </a:lnTo>
                <a:lnTo>
                  <a:pt x="29514" y="223393"/>
                </a:lnTo>
                <a:lnTo>
                  <a:pt x="43827" y="184785"/>
                </a:lnTo>
                <a:lnTo>
                  <a:pt x="70700" y="130301"/>
                </a:lnTo>
                <a:lnTo>
                  <a:pt x="103759" y="73913"/>
                </a:lnTo>
                <a:lnTo>
                  <a:pt x="139801" y="16637"/>
                </a:lnTo>
                <a:lnTo>
                  <a:pt x="142735" y="11937"/>
                </a:lnTo>
                <a:lnTo>
                  <a:pt x="141404" y="5968"/>
                </a:lnTo>
                <a:lnTo>
                  <a:pt x="141577" y="5968"/>
                </a:lnTo>
                <a:lnTo>
                  <a:pt x="132130" y="0"/>
                </a:lnTo>
                <a:close/>
              </a:path>
            </a:pathLst>
          </a:custGeom>
          <a:solidFill>
            <a:srgbClr val="688E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53278" y="1652142"/>
            <a:ext cx="4404995" cy="241173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800" spc="-10" dirty="0">
                <a:solidFill>
                  <a:srgbClr val="92D050"/>
                </a:solidFill>
                <a:latin typeface="Trebuchet MS"/>
                <a:cs typeface="Trebuchet MS"/>
              </a:rPr>
              <a:t>DEDUCTION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800" dirty="0">
                <a:latin typeface="Trebuchet MS"/>
                <a:cs typeface="Trebuchet MS"/>
              </a:rPr>
              <a:t>From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general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rule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specific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745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92D050"/>
                </a:solidFill>
                <a:latin typeface="Trebuchet MS"/>
                <a:cs typeface="Trebuchet MS"/>
              </a:rPr>
              <a:t>Example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rebuchet MS"/>
                <a:cs typeface="Trebuchet MS"/>
              </a:rPr>
              <a:t>Every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human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mortal.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Socrate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human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>
              <a:latin typeface="Trebuchet MS"/>
              <a:cs typeface="Trebuchet MS"/>
            </a:endParaRPr>
          </a:p>
          <a:p>
            <a:pPr marL="968375">
              <a:lnSpc>
                <a:spcPct val="100000"/>
              </a:lnSpc>
            </a:pPr>
            <a:r>
              <a:rPr sz="1800" dirty="0">
                <a:latin typeface="Trebuchet MS"/>
                <a:cs typeface="Trebuchet MS"/>
              </a:rPr>
              <a:t>Socrate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mortal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75881" y="4299966"/>
            <a:ext cx="1218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Always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true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463535" y="3546475"/>
            <a:ext cx="78105" cy="276860"/>
          </a:xfrm>
          <a:custGeom>
            <a:avLst/>
            <a:gdLst/>
            <a:ahLst/>
            <a:cxnLst/>
            <a:rect l="l" t="t" r="r" b="b"/>
            <a:pathLst>
              <a:path w="78104" h="276860">
                <a:moveTo>
                  <a:pt x="25895" y="199093"/>
                </a:moveTo>
                <a:lnTo>
                  <a:pt x="0" y="199389"/>
                </a:lnTo>
                <a:lnTo>
                  <a:pt x="39624" y="276606"/>
                </a:lnTo>
                <a:lnTo>
                  <a:pt x="64838" y="224917"/>
                </a:lnTo>
                <a:lnTo>
                  <a:pt x="32004" y="224917"/>
                </a:lnTo>
                <a:lnTo>
                  <a:pt x="26162" y="219201"/>
                </a:lnTo>
                <a:lnTo>
                  <a:pt x="26035" y="211962"/>
                </a:lnTo>
                <a:lnTo>
                  <a:pt x="25898" y="199389"/>
                </a:lnTo>
                <a:lnTo>
                  <a:pt x="25895" y="199093"/>
                </a:lnTo>
                <a:close/>
              </a:path>
              <a:path w="78104" h="276860">
                <a:moveTo>
                  <a:pt x="51802" y="198797"/>
                </a:moveTo>
                <a:lnTo>
                  <a:pt x="25895" y="199093"/>
                </a:lnTo>
                <a:lnTo>
                  <a:pt x="26032" y="211708"/>
                </a:lnTo>
                <a:lnTo>
                  <a:pt x="26035" y="211962"/>
                </a:lnTo>
                <a:lnTo>
                  <a:pt x="26162" y="219201"/>
                </a:lnTo>
                <a:lnTo>
                  <a:pt x="32004" y="224917"/>
                </a:lnTo>
                <a:lnTo>
                  <a:pt x="39116" y="224789"/>
                </a:lnTo>
                <a:lnTo>
                  <a:pt x="46228" y="224789"/>
                </a:lnTo>
                <a:lnTo>
                  <a:pt x="52070" y="218948"/>
                </a:lnTo>
                <a:lnTo>
                  <a:pt x="51943" y="211708"/>
                </a:lnTo>
                <a:lnTo>
                  <a:pt x="51809" y="199389"/>
                </a:lnTo>
                <a:lnTo>
                  <a:pt x="51802" y="198797"/>
                </a:lnTo>
                <a:close/>
              </a:path>
              <a:path w="78104" h="276860">
                <a:moveTo>
                  <a:pt x="77724" y="198500"/>
                </a:moveTo>
                <a:lnTo>
                  <a:pt x="51802" y="198797"/>
                </a:lnTo>
                <a:lnTo>
                  <a:pt x="51943" y="211708"/>
                </a:lnTo>
                <a:lnTo>
                  <a:pt x="52070" y="218948"/>
                </a:lnTo>
                <a:lnTo>
                  <a:pt x="46228" y="224789"/>
                </a:lnTo>
                <a:lnTo>
                  <a:pt x="39116" y="224789"/>
                </a:lnTo>
                <a:lnTo>
                  <a:pt x="32004" y="224917"/>
                </a:lnTo>
                <a:lnTo>
                  <a:pt x="64838" y="224917"/>
                </a:lnTo>
                <a:lnTo>
                  <a:pt x="77724" y="198500"/>
                </a:lnTo>
                <a:close/>
              </a:path>
              <a:path w="78104" h="276860">
                <a:moveTo>
                  <a:pt x="44069" y="0"/>
                </a:moveTo>
                <a:lnTo>
                  <a:pt x="29591" y="0"/>
                </a:lnTo>
                <a:lnTo>
                  <a:pt x="24002" y="5587"/>
                </a:lnTo>
                <a:lnTo>
                  <a:pt x="23875" y="12953"/>
                </a:lnTo>
                <a:lnTo>
                  <a:pt x="25888" y="198500"/>
                </a:lnTo>
                <a:lnTo>
                  <a:pt x="25895" y="199093"/>
                </a:lnTo>
                <a:lnTo>
                  <a:pt x="51802" y="198797"/>
                </a:lnTo>
                <a:lnTo>
                  <a:pt x="49786" y="12953"/>
                </a:lnTo>
                <a:lnTo>
                  <a:pt x="49661" y="5841"/>
                </a:lnTo>
                <a:lnTo>
                  <a:pt x="49657" y="5587"/>
                </a:lnTo>
                <a:lnTo>
                  <a:pt x="440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256403" y="2309114"/>
            <a:ext cx="335280" cy="639445"/>
          </a:xfrm>
          <a:custGeom>
            <a:avLst/>
            <a:gdLst/>
            <a:ahLst/>
            <a:cxnLst/>
            <a:rect l="l" t="t" r="r" b="b"/>
            <a:pathLst>
              <a:path w="335279" h="639444">
                <a:moveTo>
                  <a:pt x="225691" y="609352"/>
                </a:moveTo>
                <a:lnTo>
                  <a:pt x="211455" y="634111"/>
                </a:lnTo>
                <a:lnTo>
                  <a:pt x="296418" y="639063"/>
                </a:lnTo>
                <a:lnTo>
                  <a:pt x="282968" y="618744"/>
                </a:lnTo>
                <a:lnTo>
                  <a:pt x="240919" y="618744"/>
                </a:lnTo>
                <a:lnTo>
                  <a:pt x="225691" y="609352"/>
                </a:lnTo>
                <a:close/>
              </a:path>
              <a:path w="335279" h="639444">
                <a:moveTo>
                  <a:pt x="235578" y="592156"/>
                </a:moveTo>
                <a:lnTo>
                  <a:pt x="225691" y="609352"/>
                </a:lnTo>
                <a:lnTo>
                  <a:pt x="240919" y="618744"/>
                </a:lnTo>
                <a:lnTo>
                  <a:pt x="247014" y="617220"/>
                </a:lnTo>
                <a:lnTo>
                  <a:pt x="249936" y="612521"/>
                </a:lnTo>
                <a:lnTo>
                  <a:pt x="252730" y="607949"/>
                </a:lnTo>
                <a:lnTo>
                  <a:pt x="251333" y="601726"/>
                </a:lnTo>
                <a:lnTo>
                  <a:pt x="246634" y="598932"/>
                </a:lnTo>
                <a:lnTo>
                  <a:pt x="235578" y="592156"/>
                </a:lnTo>
                <a:close/>
              </a:path>
              <a:path w="335279" h="639444">
                <a:moveTo>
                  <a:pt x="249427" y="568071"/>
                </a:moveTo>
                <a:lnTo>
                  <a:pt x="235578" y="592156"/>
                </a:lnTo>
                <a:lnTo>
                  <a:pt x="246634" y="598932"/>
                </a:lnTo>
                <a:lnTo>
                  <a:pt x="251333" y="601726"/>
                </a:lnTo>
                <a:lnTo>
                  <a:pt x="252730" y="607949"/>
                </a:lnTo>
                <a:lnTo>
                  <a:pt x="249936" y="612521"/>
                </a:lnTo>
                <a:lnTo>
                  <a:pt x="247014" y="617220"/>
                </a:lnTo>
                <a:lnTo>
                  <a:pt x="240919" y="618744"/>
                </a:lnTo>
                <a:lnTo>
                  <a:pt x="282968" y="618744"/>
                </a:lnTo>
                <a:lnTo>
                  <a:pt x="249427" y="568071"/>
                </a:lnTo>
                <a:close/>
              </a:path>
              <a:path w="335279" h="639444">
                <a:moveTo>
                  <a:pt x="322072" y="0"/>
                </a:moveTo>
                <a:lnTo>
                  <a:pt x="259969" y="47625"/>
                </a:lnTo>
                <a:lnTo>
                  <a:pt x="203962" y="91948"/>
                </a:lnTo>
                <a:lnTo>
                  <a:pt x="151257" y="136016"/>
                </a:lnTo>
                <a:lnTo>
                  <a:pt x="103759" y="179705"/>
                </a:lnTo>
                <a:lnTo>
                  <a:pt x="63119" y="223138"/>
                </a:lnTo>
                <a:lnTo>
                  <a:pt x="37973" y="255397"/>
                </a:lnTo>
                <a:lnTo>
                  <a:pt x="13462" y="298196"/>
                </a:lnTo>
                <a:lnTo>
                  <a:pt x="1016" y="340995"/>
                </a:lnTo>
                <a:lnTo>
                  <a:pt x="0" y="351536"/>
                </a:lnTo>
                <a:lnTo>
                  <a:pt x="126" y="362585"/>
                </a:lnTo>
                <a:lnTo>
                  <a:pt x="13208" y="407797"/>
                </a:lnTo>
                <a:lnTo>
                  <a:pt x="33274" y="441578"/>
                </a:lnTo>
                <a:lnTo>
                  <a:pt x="60071" y="474725"/>
                </a:lnTo>
                <a:lnTo>
                  <a:pt x="91821" y="506984"/>
                </a:lnTo>
                <a:lnTo>
                  <a:pt x="138937" y="547751"/>
                </a:lnTo>
                <a:lnTo>
                  <a:pt x="187960" y="584453"/>
                </a:lnTo>
                <a:lnTo>
                  <a:pt x="225691" y="609352"/>
                </a:lnTo>
                <a:lnTo>
                  <a:pt x="235578" y="592156"/>
                </a:lnTo>
                <a:lnTo>
                  <a:pt x="223012" y="584453"/>
                </a:lnTo>
                <a:lnTo>
                  <a:pt x="199644" y="568451"/>
                </a:lnTo>
                <a:lnTo>
                  <a:pt x="151637" y="532638"/>
                </a:lnTo>
                <a:lnTo>
                  <a:pt x="105791" y="493013"/>
                </a:lnTo>
                <a:lnTo>
                  <a:pt x="75057" y="461772"/>
                </a:lnTo>
                <a:lnTo>
                  <a:pt x="49657" y="430402"/>
                </a:lnTo>
                <a:lnTo>
                  <a:pt x="26924" y="390016"/>
                </a:lnTo>
                <a:lnTo>
                  <a:pt x="19685" y="353313"/>
                </a:lnTo>
                <a:lnTo>
                  <a:pt x="20447" y="344297"/>
                </a:lnTo>
                <a:lnTo>
                  <a:pt x="31369" y="306705"/>
                </a:lnTo>
                <a:lnTo>
                  <a:pt x="53975" y="267081"/>
                </a:lnTo>
                <a:lnTo>
                  <a:pt x="77850" y="236220"/>
                </a:lnTo>
                <a:lnTo>
                  <a:pt x="117348" y="194056"/>
                </a:lnTo>
                <a:lnTo>
                  <a:pt x="164084" y="151130"/>
                </a:lnTo>
                <a:lnTo>
                  <a:pt x="216281" y="107441"/>
                </a:lnTo>
                <a:lnTo>
                  <a:pt x="272034" y="63373"/>
                </a:lnTo>
                <a:lnTo>
                  <a:pt x="329692" y="19050"/>
                </a:lnTo>
                <a:lnTo>
                  <a:pt x="334137" y="15748"/>
                </a:lnTo>
                <a:lnTo>
                  <a:pt x="334899" y="9525"/>
                </a:lnTo>
                <a:lnTo>
                  <a:pt x="331597" y="5207"/>
                </a:lnTo>
                <a:lnTo>
                  <a:pt x="328295" y="762"/>
                </a:lnTo>
                <a:lnTo>
                  <a:pt x="322072" y="0"/>
                </a:lnTo>
                <a:close/>
              </a:path>
            </a:pathLst>
          </a:custGeom>
          <a:solidFill>
            <a:srgbClr val="688E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309486" y="3906265"/>
            <a:ext cx="310515" cy="543560"/>
          </a:xfrm>
          <a:custGeom>
            <a:avLst/>
            <a:gdLst/>
            <a:ahLst/>
            <a:cxnLst/>
            <a:rect l="l" t="t" r="r" b="b"/>
            <a:pathLst>
              <a:path w="310515" h="543560">
                <a:moveTo>
                  <a:pt x="239583" y="512213"/>
                </a:moveTo>
                <a:lnTo>
                  <a:pt x="225043" y="536320"/>
                </a:lnTo>
                <a:lnTo>
                  <a:pt x="310007" y="543051"/>
                </a:lnTo>
                <a:lnTo>
                  <a:pt x="296417" y="521588"/>
                </a:lnTo>
                <a:lnTo>
                  <a:pt x="255142" y="521588"/>
                </a:lnTo>
                <a:lnTo>
                  <a:pt x="250443" y="518794"/>
                </a:lnTo>
                <a:lnTo>
                  <a:pt x="239583" y="512213"/>
                </a:lnTo>
                <a:close/>
              </a:path>
              <a:path w="310515" h="543560">
                <a:moveTo>
                  <a:pt x="249834" y="495216"/>
                </a:moveTo>
                <a:lnTo>
                  <a:pt x="239583" y="512213"/>
                </a:lnTo>
                <a:lnTo>
                  <a:pt x="250443" y="518794"/>
                </a:lnTo>
                <a:lnTo>
                  <a:pt x="255142" y="521588"/>
                </a:lnTo>
                <a:lnTo>
                  <a:pt x="261238" y="520064"/>
                </a:lnTo>
                <a:lnTo>
                  <a:pt x="264033" y="515365"/>
                </a:lnTo>
                <a:lnTo>
                  <a:pt x="266954" y="510793"/>
                </a:lnTo>
                <a:lnTo>
                  <a:pt x="265430" y="504697"/>
                </a:lnTo>
                <a:lnTo>
                  <a:pt x="260731" y="501776"/>
                </a:lnTo>
                <a:lnTo>
                  <a:pt x="249834" y="495216"/>
                </a:lnTo>
                <a:close/>
              </a:path>
              <a:path w="310515" h="543560">
                <a:moveTo>
                  <a:pt x="264413" y="471042"/>
                </a:moveTo>
                <a:lnTo>
                  <a:pt x="249834" y="495216"/>
                </a:lnTo>
                <a:lnTo>
                  <a:pt x="260731" y="501776"/>
                </a:lnTo>
                <a:lnTo>
                  <a:pt x="265430" y="504697"/>
                </a:lnTo>
                <a:lnTo>
                  <a:pt x="266954" y="510793"/>
                </a:lnTo>
                <a:lnTo>
                  <a:pt x="264033" y="515365"/>
                </a:lnTo>
                <a:lnTo>
                  <a:pt x="261238" y="520064"/>
                </a:lnTo>
                <a:lnTo>
                  <a:pt x="255142" y="521588"/>
                </a:lnTo>
                <a:lnTo>
                  <a:pt x="296417" y="521588"/>
                </a:lnTo>
                <a:lnTo>
                  <a:pt x="264413" y="471042"/>
                </a:lnTo>
                <a:close/>
              </a:path>
              <a:path w="310515" h="543560">
                <a:moveTo>
                  <a:pt x="226567" y="0"/>
                </a:moveTo>
                <a:lnTo>
                  <a:pt x="179197" y="37972"/>
                </a:lnTo>
                <a:lnTo>
                  <a:pt x="137413" y="72643"/>
                </a:lnTo>
                <a:lnTo>
                  <a:pt x="98551" y="107314"/>
                </a:lnTo>
                <a:lnTo>
                  <a:pt x="64135" y="142112"/>
                </a:lnTo>
                <a:lnTo>
                  <a:pt x="35433" y="176910"/>
                </a:lnTo>
                <a:lnTo>
                  <a:pt x="14224" y="212216"/>
                </a:lnTo>
                <a:lnTo>
                  <a:pt x="1904" y="248284"/>
                </a:lnTo>
                <a:lnTo>
                  <a:pt x="0" y="266699"/>
                </a:lnTo>
                <a:lnTo>
                  <a:pt x="126" y="275970"/>
                </a:lnTo>
                <a:lnTo>
                  <a:pt x="12826" y="321309"/>
                </a:lnTo>
                <a:lnTo>
                  <a:pt x="35433" y="355853"/>
                </a:lnTo>
                <a:lnTo>
                  <a:pt x="66928" y="389508"/>
                </a:lnTo>
                <a:lnTo>
                  <a:pt x="105790" y="422528"/>
                </a:lnTo>
                <a:lnTo>
                  <a:pt x="150495" y="455167"/>
                </a:lnTo>
                <a:lnTo>
                  <a:pt x="199516" y="487425"/>
                </a:lnTo>
                <a:lnTo>
                  <a:pt x="239583" y="512213"/>
                </a:lnTo>
                <a:lnTo>
                  <a:pt x="249834" y="495216"/>
                </a:lnTo>
                <a:lnTo>
                  <a:pt x="235838" y="486790"/>
                </a:lnTo>
                <a:lnTo>
                  <a:pt x="210312" y="470788"/>
                </a:lnTo>
                <a:lnTo>
                  <a:pt x="162051" y="438911"/>
                </a:lnTo>
                <a:lnTo>
                  <a:pt x="118363" y="407161"/>
                </a:lnTo>
                <a:lnTo>
                  <a:pt x="80899" y="375411"/>
                </a:lnTo>
                <a:lnTo>
                  <a:pt x="51180" y="343915"/>
                </a:lnTo>
                <a:lnTo>
                  <a:pt x="27304" y="305307"/>
                </a:lnTo>
                <a:lnTo>
                  <a:pt x="19999" y="275970"/>
                </a:lnTo>
                <a:lnTo>
                  <a:pt x="19938" y="275462"/>
                </a:lnTo>
                <a:lnTo>
                  <a:pt x="25400" y="237235"/>
                </a:lnTo>
                <a:lnTo>
                  <a:pt x="51180" y="189102"/>
                </a:lnTo>
                <a:lnTo>
                  <a:pt x="78486" y="155701"/>
                </a:lnTo>
                <a:lnTo>
                  <a:pt x="112013" y="121919"/>
                </a:lnTo>
                <a:lnTo>
                  <a:pt x="150113" y="87883"/>
                </a:lnTo>
                <a:lnTo>
                  <a:pt x="191642" y="53466"/>
                </a:lnTo>
                <a:lnTo>
                  <a:pt x="234695" y="18922"/>
                </a:lnTo>
                <a:lnTo>
                  <a:pt x="238887" y="15493"/>
                </a:lnTo>
                <a:lnTo>
                  <a:pt x="239648" y="9270"/>
                </a:lnTo>
                <a:lnTo>
                  <a:pt x="236219" y="4952"/>
                </a:lnTo>
                <a:lnTo>
                  <a:pt x="232790" y="761"/>
                </a:lnTo>
                <a:lnTo>
                  <a:pt x="226567" y="0"/>
                </a:lnTo>
                <a:close/>
              </a:path>
            </a:pathLst>
          </a:custGeom>
          <a:solidFill>
            <a:srgbClr val="688E1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65420" y="4643626"/>
            <a:ext cx="3191255" cy="211073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9532" y="4648198"/>
            <a:ext cx="2948940" cy="210616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Types</a:t>
            </a:r>
            <a:r>
              <a:rPr spc="-8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input</a:t>
            </a:r>
            <a:r>
              <a:rPr spc="-90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spc="-10" dirty="0"/>
              <a:t>output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2183079"/>
            <a:ext cx="5522595" cy="4705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726440" indent="-342900">
              <a:lnSpc>
                <a:spcPct val="100000"/>
              </a:lnSpc>
              <a:spcBef>
                <a:spcPts val="95"/>
              </a:spcBef>
              <a:buClr>
                <a:srgbClr val="90C225"/>
              </a:buClr>
              <a:buSzPct val="80357"/>
              <a:buFont typeface="Wingdings"/>
              <a:buChar char=""/>
              <a:tabLst>
                <a:tab pos="355600" algn="l"/>
              </a:tabLst>
            </a:pPr>
            <a:r>
              <a:rPr sz="2800" dirty="0">
                <a:latin typeface="Trebuchet MS"/>
                <a:cs typeface="Trebuchet MS"/>
              </a:rPr>
              <a:t>Factored</a:t>
            </a:r>
            <a:r>
              <a:rPr sz="2800" spc="-18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representation</a:t>
            </a:r>
            <a:r>
              <a:rPr sz="2800" spc="-17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for </a:t>
            </a:r>
            <a:r>
              <a:rPr sz="2800" spc="-10" dirty="0">
                <a:solidFill>
                  <a:srgbClr val="92D050"/>
                </a:solidFill>
                <a:latin typeface="Trebuchet MS"/>
                <a:cs typeface="Trebuchet MS"/>
              </a:rPr>
              <a:t>input</a:t>
            </a:r>
            <a:endParaRPr sz="2800" dirty="0">
              <a:latin typeface="Trebuchet MS"/>
              <a:cs typeface="Trebuchet MS"/>
            </a:endParaRPr>
          </a:p>
          <a:p>
            <a:pPr marL="355600" marR="1435735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input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vector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of </a:t>
            </a:r>
            <a:r>
              <a:rPr sz="2800" dirty="0">
                <a:latin typeface="Trebuchet MS"/>
                <a:cs typeface="Trebuchet MS"/>
              </a:rPr>
              <a:t>attribute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values</a:t>
            </a:r>
            <a:r>
              <a:rPr lang="it-IT" sz="2800" spc="-10" dirty="0">
                <a:latin typeface="Trebuchet MS"/>
                <a:cs typeface="Trebuchet MS"/>
              </a:rPr>
              <a:t> (</a:t>
            </a:r>
            <a:r>
              <a:rPr lang="it-IT" sz="2800" spc="-10" dirty="0">
                <a:solidFill>
                  <a:srgbClr val="92D050"/>
                </a:solidFill>
                <a:latin typeface="Trebuchet MS"/>
              </a:rPr>
              <a:t>FEATURES</a:t>
            </a:r>
            <a:r>
              <a:rPr lang="it-IT" sz="2800" spc="-10" dirty="0">
                <a:latin typeface="Trebuchet MS"/>
                <a:cs typeface="Trebuchet MS"/>
              </a:rPr>
              <a:t>)</a:t>
            </a:r>
            <a:endParaRPr sz="2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80357"/>
              <a:buFont typeface="Wingdings"/>
              <a:buChar char=""/>
              <a:tabLst>
                <a:tab pos="354965" algn="l"/>
              </a:tabLst>
            </a:pPr>
            <a:r>
              <a:rPr sz="2800" spc="-10" dirty="0">
                <a:solidFill>
                  <a:srgbClr val="92D050"/>
                </a:solidFill>
                <a:latin typeface="Trebuchet MS"/>
                <a:cs typeface="Trebuchet MS"/>
              </a:rPr>
              <a:t>Output</a:t>
            </a:r>
            <a:endParaRPr sz="2800" dirty="0">
              <a:latin typeface="Trebuchet MS"/>
              <a:cs typeface="Trebuchet MS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756285" algn="l"/>
              </a:tabLst>
            </a:pPr>
            <a:r>
              <a:rPr sz="2400" spc="-10" dirty="0">
                <a:solidFill>
                  <a:srgbClr val="92D050"/>
                </a:solidFill>
                <a:latin typeface="Trebuchet MS"/>
                <a:cs typeface="Trebuchet MS"/>
              </a:rPr>
              <a:t>Classification:</a:t>
            </a:r>
            <a:r>
              <a:rPr sz="2400" dirty="0">
                <a:solidFill>
                  <a:srgbClr val="92D05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output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one </a:t>
            </a:r>
            <a:r>
              <a:rPr sz="2800" dirty="0">
                <a:latin typeface="Trebuchet MS"/>
                <a:cs typeface="Trebuchet MS"/>
              </a:rPr>
              <a:t>from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finite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set</a:t>
            </a:r>
            <a:r>
              <a:rPr lang="it-IT" sz="2800" spc="-25" dirty="0">
                <a:latin typeface="Trebuchet MS"/>
                <a:cs typeface="Trebuchet MS"/>
              </a:rPr>
              <a:t> (</a:t>
            </a:r>
            <a:r>
              <a:rPr lang="it-IT" sz="2800" spc="-10" dirty="0">
                <a:solidFill>
                  <a:srgbClr val="92D050"/>
                </a:solidFill>
                <a:latin typeface="Trebuchet MS"/>
              </a:rPr>
              <a:t>LABEL</a:t>
            </a:r>
            <a:r>
              <a:rPr lang="it-IT" sz="2800" spc="-25" dirty="0">
                <a:latin typeface="Trebuchet MS"/>
                <a:cs typeface="Trebuchet MS"/>
              </a:rPr>
              <a:t>)</a:t>
            </a:r>
            <a:endParaRPr sz="2800" dirty="0">
              <a:latin typeface="Trebuchet MS"/>
              <a:cs typeface="Trebuchet MS"/>
            </a:endParaRPr>
          </a:p>
          <a:p>
            <a:pPr marL="756285" marR="778510" lvl="1" indent="-287020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79166"/>
              <a:buFont typeface="Wingdings"/>
              <a:buChar char=""/>
              <a:tabLst>
                <a:tab pos="756285" algn="l"/>
              </a:tabLst>
            </a:pPr>
            <a:r>
              <a:rPr sz="2400" spc="-10" dirty="0">
                <a:solidFill>
                  <a:srgbClr val="92D050"/>
                </a:solidFill>
                <a:latin typeface="Trebuchet MS"/>
                <a:cs typeface="Trebuchet MS"/>
              </a:rPr>
              <a:t>Regression:</a:t>
            </a:r>
            <a:r>
              <a:rPr sz="2400" spc="-45" dirty="0">
                <a:solidFill>
                  <a:srgbClr val="92D05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output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a </a:t>
            </a:r>
            <a:r>
              <a:rPr sz="2800" spc="-10" dirty="0">
                <a:latin typeface="Trebuchet MS"/>
                <a:cs typeface="Trebuchet MS"/>
              </a:rPr>
              <a:t>number</a:t>
            </a:r>
            <a:endParaRPr sz="280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9276" y="2444495"/>
            <a:ext cx="2874264" cy="28757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99276" y="5477255"/>
            <a:ext cx="1833372" cy="792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Types</a:t>
            </a:r>
            <a:r>
              <a:rPr spc="-7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learning</a:t>
            </a:r>
            <a:r>
              <a:rPr spc="-80" dirty="0"/>
              <a:t> </a:t>
            </a:r>
            <a:r>
              <a:rPr dirty="0"/>
              <a:t>based</a:t>
            </a:r>
            <a:r>
              <a:rPr spc="-75" dirty="0"/>
              <a:t> </a:t>
            </a:r>
            <a:r>
              <a:rPr dirty="0"/>
              <a:t>on</a:t>
            </a:r>
            <a:r>
              <a:rPr spc="-65" dirty="0"/>
              <a:t> </a:t>
            </a:r>
            <a:r>
              <a:rPr spc="-10" dirty="0"/>
              <a:t>feedback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5200" y="2186127"/>
            <a:ext cx="3878579" cy="332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2265" marR="38100" indent="-342265" algn="r">
              <a:lnSpc>
                <a:spcPct val="100000"/>
              </a:lnSpc>
              <a:spcBef>
                <a:spcPts val="105"/>
              </a:spcBef>
              <a:buClr>
                <a:srgbClr val="90C225"/>
              </a:buClr>
              <a:buSzPct val="80000"/>
              <a:buFont typeface="Wingdings 3"/>
              <a:buChar char=""/>
              <a:tabLst>
                <a:tab pos="342265" algn="l"/>
              </a:tabLst>
            </a:pPr>
            <a:r>
              <a:rPr sz="2000" dirty="0">
                <a:solidFill>
                  <a:srgbClr val="92D050"/>
                </a:solidFill>
                <a:latin typeface="Trebuchet MS"/>
                <a:cs typeface="Trebuchet MS"/>
              </a:rPr>
              <a:t>Supervised</a:t>
            </a:r>
            <a:r>
              <a:rPr sz="2000" spc="-90" dirty="0">
                <a:solidFill>
                  <a:srgbClr val="92D05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92D050"/>
                </a:solidFill>
                <a:latin typeface="Trebuchet MS"/>
                <a:cs typeface="Trebuchet MS"/>
              </a:rPr>
              <a:t>learning:</a:t>
            </a:r>
            <a:r>
              <a:rPr sz="2000" spc="-60" dirty="0">
                <a:solidFill>
                  <a:srgbClr val="92D05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agent</a:t>
            </a:r>
            <a:endParaRPr sz="2000" dirty="0">
              <a:latin typeface="Trebuchet MS"/>
              <a:cs typeface="Trebuchet MS"/>
            </a:endParaRPr>
          </a:p>
          <a:p>
            <a:pPr marR="71755" algn="r">
              <a:lnSpc>
                <a:spcPct val="100000"/>
              </a:lnSpc>
            </a:pPr>
            <a:r>
              <a:rPr sz="2000" dirty="0">
                <a:latin typeface="Trebuchet MS"/>
                <a:cs typeface="Trebuchet MS"/>
              </a:rPr>
              <a:t>learns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from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input-</a:t>
            </a:r>
            <a:r>
              <a:rPr sz="2000" dirty="0">
                <a:latin typeface="Trebuchet MS"/>
                <a:cs typeface="Trebuchet MS"/>
              </a:rPr>
              <a:t>output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pairs</a:t>
            </a:r>
            <a:endParaRPr sz="20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0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2000" dirty="0">
              <a:latin typeface="Trebuchet MS"/>
              <a:cs typeface="Trebuchet MS"/>
            </a:endParaRPr>
          </a:p>
          <a:p>
            <a:pPr marL="355600" marR="132080" indent="-342900">
              <a:lnSpc>
                <a:spcPct val="100000"/>
              </a:lnSpc>
              <a:spcBef>
                <a:spcPts val="5"/>
              </a:spcBef>
              <a:buSzPct val="80000"/>
              <a:buFont typeface="Wingdings 3"/>
              <a:buChar char=""/>
              <a:tabLst>
                <a:tab pos="355600" algn="l"/>
              </a:tabLst>
            </a:pPr>
            <a:r>
              <a:rPr sz="2000" dirty="0">
                <a:solidFill>
                  <a:srgbClr val="90C225"/>
                </a:solidFill>
                <a:latin typeface="Trebuchet MS"/>
                <a:cs typeface="Trebuchet MS"/>
              </a:rPr>
              <a:t>Unsupervised</a:t>
            </a:r>
            <a:r>
              <a:rPr sz="2000" spc="-10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90C225"/>
                </a:solidFill>
                <a:latin typeface="Trebuchet MS"/>
                <a:cs typeface="Trebuchet MS"/>
              </a:rPr>
              <a:t>learning:</a:t>
            </a:r>
            <a:r>
              <a:rPr sz="2000" spc="-7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the </a:t>
            </a:r>
            <a:r>
              <a:rPr sz="2000" dirty="0">
                <a:latin typeface="Trebuchet MS"/>
                <a:cs typeface="Trebuchet MS"/>
              </a:rPr>
              <a:t>agent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learns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patterns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without </a:t>
            </a:r>
            <a:r>
              <a:rPr sz="2000" dirty="0">
                <a:latin typeface="Trebuchet MS"/>
                <a:cs typeface="Trebuchet MS"/>
              </a:rPr>
              <a:t>explicit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feedback</a:t>
            </a:r>
            <a:endParaRPr sz="2000" dirty="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spcBef>
                <a:spcPts val="994"/>
              </a:spcBef>
              <a:buSzPct val="80000"/>
              <a:buFont typeface="Wingdings 3"/>
              <a:buChar char=""/>
              <a:tabLst>
                <a:tab pos="355600" algn="l"/>
              </a:tabLst>
            </a:pPr>
            <a:r>
              <a:rPr sz="2000" spc="-10" dirty="0">
                <a:solidFill>
                  <a:srgbClr val="90C225"/>
                </a:solidFill>
                <a:latin typeface="Trebuchet MS"/>
                <a:cs typeface="Trebuchet MS"/>
              </a:rPr>
              <a:t>Reinforcement</a:t>
            </a:r>
            <a:r>
              <a:rPr sz="2000" spc="-7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90C225"/>
                </a:solidFill>
                <a:latin typeface="Trebuchet MS"/>
                <a:cs typeface="Trebuchet MS"/>
              </a:rPr>
              <a:t>learning:</a:t>
            </a:r>
            <a:r>
              <a:rPr sz="2000" spc="-3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the </a:t>
            </a:r>
            <a:r>
              <a:rPr sz="2000" dirty="0">
                <a:latin typeface="Trebuchet MS"/>
                <a:cs typeface="Trebuchet MS"/>
              </a:rPr>
              <a:t>agent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learns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thanks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rewards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punishments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44795" y="2098049"/>
            <a:ext cx="6184596" cy="3175036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75"/>
              </a:spcBef>
              <a:buClr>
                <a:srgbClr val="90C225"/>
              </a:buClr>
              <a:buSzPct val="80000"/>
              <a:buFont typeface="Wingdings 3"/>
              <a:buChar char=""/>
              <a:tabLst>
                <a:tab pos="354965" algn="l"/>
              </a:tabLst>
            </a:pPr>
            <a:r>
              <a:rPr sz="2000" dirty="0">
                <a:latin typeface="Trebuchet MS"/>
                <a:cs typeface="Trebuchet MS"/>
              </a:rPr>
              <a:t>Images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as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inputs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560" dirty="0">
                <a:latin typeface="Cambria Math"/>
                <a:cs typeface="Cambria Math"/>
              </a:rPr>
              <a:t>՜</a:t>
            </a:r>
            <a:r>
              <a:rPr sz="2000" spc="140" dirty="0">
                <a:latin typeface="Cambria Math"/>
                <a:cs typeface="Cambria Math"/>
              </a:rPr>
              <a:t> </a:t>
            </a:r>
            <a:r>
              <a:rPr sz="2000" dirty="0">
                <a:latin typeface="Trebuchet MS"/>
                <a:cs typeface="Trebuchet MS"/>
              </a:rPr>
              <a:t>“bus”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or</a:t>
            </a:r>
            <a:endParaRPr sz="2000" dirty="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  <a:spcBef>
                <a:spcPts val="675"/>
              </a:spcBef>
            </a:pPr>
            <a:r>
              <a:rPr sz="2000" dirty="0">
                <a:latin typeface="Trebuchet MS"/>
                <a:cs typeface="Trebuchet MS"/>
              </a:rPr>
              <a:t>“pedestrians”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as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lang="it-IT" sz="2000" spc="-20" dirty="0">
                <a:latin typeface="Trebuchet MS"/>
                <a:cs typeface="Trebuchet MS"/>
              </a:rPr>
              <a:t>output (</a:t>
            </a:r>
            <a:r>
              <a:rPr sz="2000" b="1" spc="-10" dirty="0">
                <a:latin typeface="Trebuchet MS"/>
                <a:cs typeface="Trebuchet MS"/>
              </a:rPr>
              <a:t>labels</a:t>
            </a:r>
            <a:r>
              <a:rPr lang="it-IT" sz="2000" spc="-10" dirty="0">
                <a:latin typeface="Trebuchet MS"/>
                <a:cs typeface="Trebuchet MS"/>
              </a:rPr>
              <a:t>) – </a:t>
            </a:r>
            <a:r>
              <a:rPr lang="it-IT" sz="2000" spc="-10" dirty="0" err="1">
                <a:latin typeface="Trebuchet MS"/>
                <a:cs typeface="Trebuchet MS"/>
              </a:rPr>
              <a:t>classification</a:t>
            </a:r>
            <a:endParaRPr sz="2000" dirty="0">
              <a:latin typeface="Trebuchet MS"/>
              <a:cs typeface="Trebuchet MS"/>
            </a:endParaRPr>
          </a:p>
          <a:p>
            <a:pPr marL="355600" marR="5080" indent="-342900">
              <a:lnSpc>
                <a:spcPts val="2380"/>
              </a:lnSpc>
              <a:spcBef>
                <a:spcPts val="1090"/>
              </a:spcBef>
              <a:buClr>
                <a:srgbClr val="90C225"/>
              </a:buClr>
              <a:buSzPct val="80000"/>
              <a:buFont typeface="Wingdings 3"/>
              <a:buChar char=""/>
              <a:tabLst>
                <a:tab pos="355600" algn="l"/>
              </a:tabLst>
            </a:pPr>
            <a:r>
              <a:rPr sz="2000" dirty="0">
                <a:latin typeface="Trebuchet MS"/>
                <a:cs typeface="Trebuchet MS"/>
              </a:rPr>
              <a:t>Speed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direction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of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car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as </a:t>
            </a:r>
            <a:r>
              <a:rPr sz="2000" dirty="0">
                <a:latin typeface="Trebuchet MS"/>
                <a:cs typeface="Trebuchet MS"/>
              </a:rPr>
              <a:t>input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540" dirty="0">
                <a:latin typeface="Cambria Math"/>
                <a:cs typeface="Cambria Math"/>
              </a:rPr>
              <a:t>՜</a:t>
            </a:r>
            <a:r>
              <a:rPr sz="2000" spc="155" dirty="0">
                <a:latin typeface="Cambria Math"/>
                <a:cs typeface="Cambria Math"/>
              </a:rPr>
              <a:t> </a:t>
            </a:r>
            <a:r>
              <a:rPr sz="2000" dirty="0">
                <a:latin typeface="Trebuchet MS"/>
                <a:cs typeface="Trebuchet MS"/>
              </a:rPr>
              <a:t>distance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stop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as </a:t>
            </a:r>
            <a:r>
              <a:rPr sz="2000" spc="-125" dirty="0">
                <a:latin typeface="Trebuchet MS"/>
                <a:cs typeface="Trebuchet MS"/>
              </a:rPr>
              <a:t>output</a:t>
            </a:r>
            <a:r>
              <a:rPr lang="it-IT" sz="2000" spc="-125" dirty="0">
                <a:latin typeface="Trebuchet MS"/>
                <a:cs typeface="Trebuchet MS"/>
              </a:rPr>
              <a:t> - </a:t>
            </a:r>
            <a:r>
              <a:rPr lang="it-IT" sz="2000" spc="-125" dirty="0" err="1">
                <a:latin typeface="Trebuchet MS"/>
                <a:cs typeface="Trebuchet MS"/>
              </a:rPr>
              <a:t>regression</a:t>
            </a:r>
            <a:endParaRPr sz="2000" dirty="0">
              <a:latin typeface="Trebuchet MS"/>
              <a:cs typeface="Trebuchet MS"/>
            </a:endParaRPr>
          </a:p>
          <a:p>
            <a:pPr marL="355600" marR="170815" indent="-342900">
              <a:lnSpc>
                <a:spcPct val="100000"/>
              </a:lnSpc>
              <a:spcBef>
                <a:spcPts val="1605"/>
              </a:spcBef>
              <a:buSzPct val="80000"/>
              <a:buFont typeface="Wingdings 3"/>
              <a:buChar char=""/>
              <a:tabLst>
                <a:tab pos="355600" algn="l"/>
              </a:tabLst>
            </a:pPr>
            <a:r>
              <a:rPr sz="2000" dirty="0">
                <a:solidFill>
                  <a:srgbClr val="90C225"/>
                </a:solidFill>
                <a:latin typeface="Trebuchet MS"/>
                <a:cs typeface="Trebuchet MS"/>
              </a:rPr>
              <a:t>Clustering:</a:t>
            </a:r>
            <a:r>
              <a:rPr sz="2000" spc="-5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recognizing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cats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from </a:t>
            </a:r>
            <a:r>
              <a:rPr sz="2000" dirty="0">
                <a:latin typeface="Trebuchet MS"/>
                <a:cs typeface="Trebuchet MS"/>
              </a:rPr>
              <a:t>millions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of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images</a:t>
            </a:r>
            <a:endParaRPr sz="2000" dirty="0">
              <a:latin typeface="Trebuchet MS"/>
              <a:cs typeface="Trebuchet MS"/>
            </a:endParaRPr>
          </a:p>
          <a:p>
            <a:pPr marL="355600" marR="182245" indent="-342900">
              <a:lnSpc>
                <a:spcPct val="127800"/>
              </a:lnSpc>
              <a:spcBef>
                <a:spcPts val="305"/>
              </a:spcBef>
              <a:buClr>
                <a:srgbClr val="90C225"/>
              </a:buClr>
              <a:buSzPct val="80000"/>
              <a:buFont typeface="Wingdings 3"/>
              <a:buChar char=""/>
              <a:tabLst>
                <a:tab pos="355600" algn="l"/>
              </a:tabLst>
            </a:pP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chess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game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is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won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540" dirty="0">
                <a:latin typeface="Cambria Math"/>
                <a:cs typeface="Cambria Math"/>
              </a:rPr>
              <a:t>՜</a:t>
            </a:r>
            <a:r>
              <a:rPr sz="2000" spc="150" dirty="0">
                <a:latin typeface="Cambria Math"/>
                <a:cs typeface="Cambria Math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reward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chess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game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is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lost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509" dirty="0">
                <a:latin typeface="Cambria Math"/>
                <a:cs typeface="Cambria Math"/>
              </a:rPr>
              <a:t>՜ </a:t>
            </a:r>
            <a:r>
              <a:rPr sz="2000" spc="-10" dirty="0">
                <a:latin typeface="Trebuchet MS"/>
                <a:cs typeface="Trebuchet MS"/>
              </a:rPr>
              <a:t>punishment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44567" y="2374392"/>
            <a:ext cx="721360" cy="833119"/>
          </a:xfrm>
          <a:custGeom>
            <a:avLst/>
            <a:gdLst/>
            <a:ahLst/>
            <a:cxnLst/>
            <a:rect l="l" t="t" r="r" b="b"/>
            <a:pathLst>
              <a:path w="721360" h="833119">
                <a:moveTo>
                  <a:pt x="0" y="0"/>
                </a:moveTo>
                <a:lnTo>
                  <a:pt x="720598" y="0"/>
                </a:lnTo>
              </a:path>
              <a:path w="721360" h="833119">
                <a:moveTo>
                  <a:pt x="409956" y="832612"/>
                </a:moveTo>
                <a:lnTo>
                  <a:pt x="409956" y="13716"/>
                </a:lnTo>
              </a:path>
              <a:path w="721360" h="833119">
                <a:moveTo>
                  <a:pt x="409956" y="832104"/>
                </a:moveTo>
                <a:lnTo>
                  <a:pt x="721106" y="832104"/>
                </a:lnTo>
              </a:path>
            </a:pathLst>
          </a:custGeom>
          <a:ln w="12192">
            <a:solidFill>
              <a:srgbClr val="90C2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44567" y="4018788"/>
            <a:ext cx="720725" cy="0"/>
          </a:xfrm>
          <a:custGeom>
            <a:avLst/>
            <a:gdLst/>
            <a:ahLst/>
            <a:cxnLst/>
            <a:rect l="l" t="t" r="r" b="b"/>
            <a:pathLst>
              <a:path w="720725">
                <a:moveTo>
                  <a:pt x="0" y="0"/>
                </a:moveTo>
                <a:lnTo>
                  <a:pt x="720598" y="0"/>
                </a:lnTo>
              </a:path>
            </a:pathLst>
          </a:custGeom>
          <a:ln w="12192">
            <a:solidFill>
              <a:srgbClr val="90C2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47615" y="4730496"/>
            <a:ext cx="720725" cy="0"/>
          </a:xfrm>
          <a:custGeom>
            <a:avLst/>
            <a:gdLst/>
            <a:ahLst/>
            <a:cxnLst/>
            <a:rect l="l" t="t" r="r" b="b"/>
            <a:pathLst>
              <a:path w="720725">
                <a:moveTo>
                  <a:pt x="0" y="0"/>
                </a:moveTo>
                <a:lnTo>
                  <a:pt x="720598" y="0"/>
                </a:lnTo>
              </a:path>
            </a:pathLst>
          </a:custGeom>
          <a:ln w="12192">
            <a:solidFill>
              <a:srgbClr val="90C2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50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/>
          <p:nvPr/>
        </p:nvSpPr>
        <p:spPr>
          <a:xfrm>
            <a:off x="3507740" y="1876298"/>
            <a:ext cx="679450" cy="212090"/>
          </a:xfrm>
          <a:custGeom>
            <a:avLst/>
            <a:gdLst/>
            <a:ahLst/>
            <a:cxnLst/>
            <a:rect l="l" t="t" r="r" b="b"/>
            <a:pathLst>
              <a:path w="679450" h="212089">
                <a:moveTo>
                  <a:pt x="611886" y="0"/>
                </a:moveTo>
                <a:lnTo>
                  <a:pt x="608964" y="8509"/>
                </a:lnTo>
                <a:lnTo>
                  <a:pt x="621178" y="13819"/>
                </a:lnTo>
                <a:lnTo>
                  <a:pt x="631713" y="21177"/>
                </a:lnTo>
                <a:lnTo>
                  <a:pt x="653127" y="55322"/>
                </a:lnTo>
                <a:lnTo>
                  <a:pt x="660146" y="104775"/>
                </a:lnTo>
                <a:lnTo>
                  <a:pt x="659360" y="123444"/>
                </a:lnTo>
                <a:lnTo>
                  <a:pt x="647573" y="169163"/>
                </a:lnTo>
                <a:lnTo>
                  <a:pt x="621319" y="197738"/>
                </a:lnTo>
                <a:lnTo>
                  <a:pt x="609219" y="203073"/>
                </a:lnTo>
                <a:lnTo>
                  <a:pt x="611886" y="211709"/>
                </a:lnTo>
                <a:lnTo>
                  <a:pt x="652408" y="187652"/>
                </a:lnTo>
                <a:lnTo>
                  <a:pt x="675132" y="143271"/>
                </a:lnTo>
                <a:lnTo>
                  <a:pt x="679450" y="105917"/>
                </a:lnTo>
                <a:lnTo>
                  <a:pt x="678369" y="86703"/>
                </a:lnTo>
                <a:lnTo>
                  <a:pt x="678356" y="86465"/>
                </a:lnTo>
                <a:lnTo>
                  <a:pt x="662051" y="37084"/>
                </a:lnTo>
                <a:lnTo>
                  <a:pt x="627296" y="5526"/>
                </a:lnTo>
                <a:lnTo>
                  <a:pt x="611886" y="0"/>
                </a:lnTo>
                <a:close/>
              </a:path>
              <a:path w="679450" h="212089">
                <a:moveTo>
                  <a:pt x="67437" y="0"/>
                </a:moveTo>
                <a:lnTo>
                  <a:pt x="27092" y="24056"/>
                </a:lnTo>
                <a:lnTo>
                  <a:pt x="4317" y="68500"/>
                </a:lnTo>
                <a:lnTo>
                  <a:pt x="0" y="105917"/>
                </a:lnTo>
                <a:lnTo>
                  <a:pt x="969" y="123444"/>
                </a:lnTo>
                <a:lnTo>
                  <a:pt x="1075" y="125350"/>
                </a:lnTo>
                <a:lnTo>
                  <a:pt x="17399" y="174625"/>
                </a:lnTo>
                <a:lnTo>
                  <a:pt x="52081" y="206182"/>
                </a:lnTo>
                <a:lnTo>
                  <a:pt x="67437" y="211709"/>
                </a:lnTo>
                <a:lnTo>
                  <a:pt x="70104" y="203073"/>
                </a:lnTo>
                <a:lnTo>
                  <a:pt x="58056" y="197738"/>
                </a:lnTo>
                <a:lnTo>
                  <a:pt x="47640" y="190309"/>
                </a:lnTo>
                <a:lnTo>
                  <a:pt x="26322" y="155638"/>
                </a:lnTo>
                <a:lnTo>
                  <a:pt x="19351" y="105917"/>
                </a:lnTo>
                <a:lnTo>
                  <a:pt x="19304" y="104775"/>
                </a:lnTo>
                <a:lnTo>
                  <a:pt x="26322" y="55322"/>
                </a:lnTo>
                <a:lnTo>
                  <a:pt x="47736" y="21177"/>
                </a:lnTo>
                <a:lnTo>
                  <a:pt x="70485" y="8509"/>
                </a:lnTo>
                <a:lnTo>
                  <a:pt x="67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3935" y="1876298"/>
            <a:ext cx="688975" cy="212090"/>
          </a:xfrm>
          <a:custGeom>
            <a:avLst/>
            <a:gdLst/>
            <a:ahLst/>
            <a:cxnLst/>
            <a:rect l="l" t="t" r="r" b="b"/>
            <a:pathLst>
              <a:path w="688975" h="212089">
                <a:moveTo>
                  <a:pt x="621029" y="0"/>
                </a:moveTo>
                <a:lnTo>
                  <a:pt x="618109" y="8509"/>
                </a:lnTo>
                <a:lnTo>
                  <a:pt x="630322" y="13819"/>
                </a:lnTo>
                <a:lnTo>
                  <a:pt x="640857" y="21177"/>
                </a:lnTo>
                <a:lnTo>
                  <a:pt x="662271" y="55322"/>
                </a:lnTo>
                <a:lnTo>
                  <a:pt x="669289" y="104775"/>
                </a:lnTo>
                <a:lnTo>
                  <a:pt x="668504" y="123444"/>
                </a:lnTo>
                <a:lnTo>
                  <a:pt x="656716" y="169163"/>
                </a:lnTo>
                <a:lnTo>
                  <a:pt x="630463" y="197738"/>
                </a:lnTo>
                <a:lnTo>
                  <a:pt x="618363" y="203073"/>
                </a:lnTo>
                <a:lnTo>
                  <a:pt x="621029" y="211709"/>
                </a:lnTo>
                <a:lnTo>
                  <a:pt x="661552" y="187652"/>
                </a:lnTo>
                <a:lnTo>
                  <a:pt x="684276" y="143271"/>
                </a:lnTo>
                <a:lnTo>
                  <a:pt x="688593" y="105917"/>
                </a:lnTo>
                <a:lnTo>
                  <a:pt x="687513" y="86703"/>
                </a:lnTo>
                <a:lnTo>
                  <a:pt x="687500" y="86465"/>
                </a:lnTo>
                <a:lnTo>
                  <a:pt x="671194" y="37084"/>
                </a:lnTo>
                <a:lnTo>
                  <a:pt x="636440" y="5526"/>
                </a:lnTo>
                <a:lnTo>
                  <a:pt x="621029" y="0"/>
                </a:lnTo>
                <a:close/>
              </a:path>
              <a:path w="688975" h="212089">
                <a:moveTo>
                  <a:pt x="67437" y="0"/>
                </a:moveTo>
                <a:lnTo>
                  <a:pt x="27092" y="24056"/>
                </a:lnTo>
                <a:lnTo>
                  <a:pt x="4317" y="68500"/>
                </a:lnTo>
                <a:lnTo>
                  <a:pt x="0" y="105917"/>
                </a:lnTo>
                <a:lnTo>
                  <a:pt x="969" y="123444"/>
                </a:lnTo>
                <a:lnTo>
                  <a:pt x="1075" y="125350"/>
                </a:lnTo>
                <a:lnTo>
                  <a:pt x="17399" y="174625"/>
                </a:lnTo>
                <a:lnTo>
                  <a:pt x="52081" y="206182"/>
                </a:lnTo>
                <a:lnTo>
                  <a:pt x="67437" y="211709"/>
                </a:lnTo>
                <a:lnTo>
                  <a:pt x="70103" y="203073"/>
                </a:lnTo>
                <a:lnTo>
                  <a:pt x="58056" y="197738"/>
                </a:lnTo>
                <a:lnTo>
                  <a:pt x="47640" y="190309"/>
                </a:lnTo>
                <a:lnTo>
                  <a:pt x="26322" y="155638"/>
                </a:lnTo>
                <a:lnTo>
                  <a:pt x="19351" y="105917"/>
                </a:lnTo>
                <a:lnTo>
                  <a:pt x="19303" y="104775"/>
                </a:lnTo>
                <a:lnTo>
                  <a:pt x="26322" y="55322"/>
                </a:lnTo>
                <a:lnTo>
                  <a:pt x="47736" y="21177"/>
                </a:lnTo>
                <a:lnTo>
                  <a:pt x="70485" y="8509"/>
                </a:lnTo>
                <a:lnTo>
                  <a:pt x="67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30910" y="1805381"/>
            <a:ext cx="90411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853055" algn="l"/>
                <a:tab pos="3657600" algn="l"/>
              </a:tabLst>
            </a:pPr>
            <a:r>
              <a:rPr sz="1800" spc="-20" dirty="0">
                <a:solidFill>
                  <a:srgbClr val="92D050"/>
                </a:solidFill>
                <a:latin typeface="Trebuchet MS"/>
                <a:cs typeface="Trebuchet MS"/>
              </a:rPr>
              <a:t>TASK:</a:t>
            </a:r>
            <a:r>
              <a:rPr sz="1800" spc="-50" dirty="0">
                <a:solidFill>
                  <a:srgbClr val="92D05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Given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92D050"/>
                </a:solidFill>
                <a:latin typeface="Trebuchet MS"/>
                <a:cs typeface="Trebuchet MS"/>
              </a:rPr>
              <a:t>training</a:t>
            </a:r>
            <a:r>
              <a:rPr sz="1800" spc="-75" dirty="0">
                <a:solidFill>
                  <a:srgbClr val="92D05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92D050"/>
                </a:solidFill>
                <a:latin typeface="Trebuchet MS"/>
                <a:cs typeface="Trebuchet MS"/>
              </a:rPr>
              <a:t>set</a:t>
            </a:r>
            <a:r>
              <a:rPr sz="1800" dirty="0">
                <a:solidFill>
                  <a:srgbClr val="92D050"/>
                </a:solidFill>
                <a:latin typeface="Trebuchet MS"/>
                <a:cs typeface="Trebuchet MS"/>
              </a:rPr>
              <a:t>	</a:t>
            </a:r>
            <a:r>
              <a:rPr sz="1800" dirty="0">
                <a:latin typeface="Cambria Math"/>
                <a:cs typeface="Cambria Math"/>
              </a:rPr>
              <a:t>𝑥</a:t>
            </a:r>
            <a:r>
              <a:rPr sz="1950" baseline="-14957" dirty="0">
                <a:latin typeface="Cambria Math"/>
                <a:cs typeface="Cambria Math"/>
              </a:rPr>
              <a:t>1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1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𝑦</a:t>
            </a:r>
            <a:r>
              <a:rPr sz="1950" baseline="-14957" dirty="0">
                <a:latin typeface="Cambria Math"/>
                <a:cs typeface="Cambria Math"/>
              </a:rPr>
              <a:t>1</a:t>
            </a:r>
            <a:r>
              <a:rPr sz="1950" spc="742" baseline="-14957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,</a:t>
            </a:r>
            <a:r>
              <a:rPr sz="1800" dirty="0">
                <a:latin typeface="Cambria Math"/>
                <a:cs typeface="Cambria Math"/>
              </a:rPr>
              <a:t>	𝑥</a:t>
            </a:r>
            <a:r>
              <a:rPr sz="1950" baseline="-14957" dirty="0">
                <a:latin typeface="Cambria Math"/>
                <a:cs typeface="Cambria Math"/>
              </a:rPr>
              <a:t>2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1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𝑦</a:t>
            </a:r>
            <a:r>
              <a:rPr sz="1950" baseline="-14957" dirty="0">
                <a:latin typeface="Cambria Math"/>
                <a:cs typeface="Cambria Math"/>
              </a:rPr>
              <a:t>2</a:t>
            </a:r>
            <a:r>
              <a:rPr sz="1950" spc="179" baseline="-14957" dirty="0">
                <a:latin typeface="Cambria Math"/>
                <a:cs typeface="Cambria Math"/>
              </a:rPr>
              <a:t>  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8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…</a:t>
            </a:r>
            <a:r>
              <a:rPr sz="1800" spc="-11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,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(𝑥</a:t>
            </a:r>
            <a:r>
              <a:rPr sz="1950" baseline="-14957" dirty="0">
                <a:latin typeface="Cambria Math"/>
                <a:cs typeface="Cambria Math"/>
              </a:rPr>
              <a:t>𝑁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1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𝑦</a:t>
            </a:r>
            <a:r>
              <a:rPr sz="1950" baseline="-14957" dirty="0">
                <a:latin typeface="Cambria Math"/>
                <a:cs typeface="Cambria Math"/>
              </a:rPr>
              <a:t>𝑁</a:t>
            </a:r>
            <a:r>
              <a:rPr sz="1800" dirty="0">
                <a:latin typeface="Cambria Math"/>
                <a:cs typeface="Cambria Math"/>
              </a:rPr>
              <a:t>)</a:t>
            </a:r>
            <a:r>
              <a:rPr sz="1800" spc="135" dirty="0">
                <a:latin typeface="Cambria Math"/>
                <a:cs typeface="Cambria Math"/>
              </a:rPr>
              <a:t> </a:t>
            </a:r>
            <a:r>
              <a:rPr sz="1800" dirty="0">
                <a:latin typeface="Trebuchet MS"/>
                <a:cs typeface="Trebuchet MS"/>
              </a:rPr>
              <a:t>of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 unknown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function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dirty="0">
                <a:latin typeface="Cambria Math"/>
                <a:cs typeface="Cambria Math"/>
              </a:rPr>
              <a:t>𝑦</a:t>
            </a:r>
            <a:r>
              <a:rPr sz="1800" spc="14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𝑓(𝑥)</a:t>
            </a:r>
            <a:r>
              <a:rPr sz="1800" spc="-10" dirty="0">
                <a:latin typeface="Trebuchet MS"/>
                <a:cs typeface="Trebuchet MS"/>
              </a:rPr>
              <a:t>,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6310" y="1964563"/>
            <a:ext cx="4321175" cy="80581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00" dirty="0">
                <a:latin typeface="Trebuchet MS"/>
                <a:cs typeface="Trebuchet MS"/>
              </a:rPr>
              <a:t>discover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function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Cambria Math"/>
                <a:cs typeface="Cambria Math"/>
              </a:rPr>
              <a:t>ℎ</a:t>
            </a:r>
            <a:r>
              <a:rPr sz="1800" spc="120" dirty="0">
                <a:latin typeface="Cambria Math"/>
                <a:cs typeface="Cambria Math"/>
              </a:rPr>
              <a:t> </a:t>
            </a:r>
            <a:r>
              <a:rPr sz="1800" dirty="0">
                <a:latin typeface="Trebuchet MS"/>
                <a:cs typeface="Trebuchet MS"/>
              </a:rPr>
              <a:t>that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approximates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𝑓</a:t>
            </a:r>
            <a:endParaRPr sz="1800">
              <a:latin typeface="Cambria Math"/>
              <a:cs typeface="Cambria Math"/>
            </a:endParaRPr>
          </a:p>
          <a:p>
            <a:pPr marL="2566670">
              <a:lnSpc>
                <a:spcPct val="100000"/>
              </a:lnSpc>
              <a:spcBef>
                <a:spcPts val="915"/>
              </a:spcBef>
            </a:pPr>
            <a:r>
              <a:rPr sz="1800" dirty="0">
                <a:latin typeface="Cambria Math"/>
                <a:cs typeface="Cambria Math"/>
              </a:rPr>
              <a:t>ℎ</a:t>
            </a:r>
            <a:r>
              <a:rPr sz="1800" spc="1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∈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𝐻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86889" y="2975864"/>
            <a:ext cx="141478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sz="1800" spc="-10" dirty="0">
                <a:solidFill>
                  <a:srgbClr val="90C225"/>
                </a:solidFill>
                <a:latin typeface="Trebuchet MS"/>
                <a:cs typeface="Trebuchet MS"/>
              </a:rPr>
              <a:t>Hypothesis</a:t>
            </a:r>
            <a:endParaRPr sz="18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1800" spc="-10" dirty="0">
                <a:solidFill>
                  <a:srgbClr val="90C225"/>
                </a:solidFill>
                <a:latin typeface="Trebuchet MS"/>
                <a:cs typeface="Trebuchet MS"/>
              </a:rPr>
              <a:t>Model</a:t>
            </a:r>
            <a:endParaRPr sz="18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1800" spc="-10" dirty="0">
                <a:solidFill>
                  <a:srgbClr val="90C225"/>
                </a:solidFill>
                <a:latin typeface="Trebuchet MS"/>
                <a:cs typeface="Trebuchet MS"/>
              </a:rPr>
              <a:t>Function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76547" y="2971546"/>
            <a:ext cx="193421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90C225"/>
                </a:solidFill>
                <a:latin typeface="Trebuchet MS"/>
                <a:cs typeface="Trebuchet MS"/>
              </a:rPr>
              <a:t>Hypotesis</a:t>
            </a:r>
            <a:r>
              <a:rPr sz="1800" spc="-40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90C225"/>
                </a:solidFill>
                <a:latin typeface="Trebuchet MS"/>
                <a:cs typeface="Trebuchet MS"/>
              </a:rPr>
              <a:t>space</a:t>
            </a:r>
            <a:endParaRPr sz="18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90C225"/>
                </a:solidFill>
                <a:latin typeface="Trebuchet MS"/>
                <a:cs typeface="Trebuchet MS"/>
              </a:rPr>
              <a:t>Model</a:t>
            </a:r>
            <a:r>
              <a:rPr sz="1800" spc="-2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90C225"/>
                </a:solidFill>
                <a:latin typeface="Trebuchet MS"/>
                <a:cs typeface="Trebuchet MS"/>
              </a:rPr>
              <a:t>class</a:t>
            </a:r>
            <a:endParaRPr sz="18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90C225"/>
                </a:solidFill>
                <a:latin typeface="Trebuchet MS"/>
                <a:cs typeface="Trebuchet MS"/>
              </a:rPr>
              <a:t>Function</a:t>
            </a:r>
            <a:r>
              <a:rPr sz="1800" spc="-8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90C225"/>
                </a:solidFill>
                <a:latin typeface="Trebuchet MS"/>
                <a:cs typeface="Trebuchet MS"/>
              </a:rPr>
              <a:t>class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78066" y="2369946"/>
            <a:ext cx="14052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𝑦</a:t>
            </a:r>
            <a:r>
              <a:rPr sz="1950" spc="-37" baseline="-14957" dirty="0">
                <a:latin typeface="Cambria Math"/>
                <a:cs typeface="Cambria Math"/>
              </a:rPr>
              <a:t>𝑖</a:t>
            </a:r>
            <a:endParaRPr sz="1950" baseline="-14957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</a:pPr>
            <a:r>
              <a:rPr sz="1800" dirty="0">
                <a:solidFill>
                  <a:srgbClr val="90C225"/>
                </a:solidFill>
                <a:latin typeface="Trebuchet MS"/>
                <a:cs typeface="Trebuchet MS"/>
              </a:rPr>
              <a:t>Ground</a:t>
            </a:r>
            <a:r>
              <a:rPr sz="1800" spc="-6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90C225"/>
                </a:solidFill>
                <a:latin typeface="Trebuchet MS"/>
                <a:cs typeface="Trebuchet MS"/>
              </a:rPr>
              <a:t>truth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030598" y="2603119"/>
            <a:ext cx="495300" cy="386715"/>
          </a:xfrm>
          <a:custGeom>
            <a:avLst/>
            <a:gdLst/>
            <a:ahLst/>
            <a:cxnLst/>
            <a:rect l="l" t="t" r="r" b="b"/>
            <a:pathLst>
              <a:path w="495300" h="386714">
                <a:moveTo>
                  <a:pt x="419735" y="305180"/>
                </a:moveTo>
                <a:lnTo>
                  <a:pt x="446024" y="386206"/>
                </a:lnTo>
                <a:lnTo>
                  <a:pt x="482812" y="333882"/>
                </a:lnTo>
                <a:lnTo>
                  <a:pt x="459613" y="333882"/>
                </a:lnTo>
                <a:lnTo>
                  <a:pt x="454151" y="333247"/>
                </a:lnTo>
                <a:lnTo>
                  <a:pt x="448817" y="332485"/>
                </a:lnTo>
                <a:lnTo>
                  <a:pt x="444880" y="327532"/>
                </a:lnTo>
                <a:lnTo>
                  <a:pt x="445642" y="322198"/>
                </a:lnTo>
                <a:lnTo>
                  <a:pt x="447316" y="309320"/>
                </a:lnTo>
                <a:lnTo>
                  <a:pt x="419735" y="305180"/>
                </a:lnTo>
                <a:close/>
              </a:path>
              <a:path w="495300" h="386714">
                <a:moveTo>
                  <a:pt x="447316" y="309320"/>
                </a:moveTo>
                <a:lnTo>
                  <a:pt x="445642" y="322198"/>
                </a:lnTo>
                <a:lnTo>
                  <a:pt x="444880" y="327532"/>
                </a:lnTo>
                <a:lnTo>
                  <a:pt x="448817" y="332485"/>
                </a:lnTo>
                <a:lnTo>
                  <a:pt x="454151" y="333247"/>
                </a:lnTo>
                <a:lnTo>
                  <a:pt x="459613" y="333882"/>
                </a:lnTo>
                <a:lnTo>
                  <a:pt x="464565" y="330072"/>
                </a:lnTo>
                <a:lnTo>
                  <a:pt x="465327" y="324738"/>
                </a:lnTo>
                <a:lnTo>
                  <a:pt x="466946" y="312266"/>
                </a:lnTo>
                <a:lnTo>
                  <a:pt x="447316" y="309320"/>
                </a:lnTo>
                <a:close/>
              </a:path>
              <a:path w="495300" h="386714">
                <a:moveTo>
                  <a:pt x="466946" y="312266"/>
                </a:moveTo>
                <a:lnTo>
                  <a:pt x="465327" y="324738"/>
                </a:lnTo>
                <a:lnTo>
                  <a:pt x="464565" y="330072"/>
                </a:lnTo>
                <a:lnTo>
                  <a:pt x="459613" y="333882"/>
                </a:lnTo>
                <a:lnTo>
                  <a:pt x="482812" y="333882"/>
                </a:lnTo>
                <a:lnTo>
                  <a:pt x="495046" y="316483"/>
                </a:lnTo>
                <a:lnTo>
                  <a:pt x="466946" y="312266"/>
                </a:lnTo>
                <a:close/>
              </a:path>
              <a:path w="495300" h="386714">
                <a:moveTo>
                  <a:pt x="352432" y="19811"/>
                </a:moveTo>
                <a:lnTo>
                  <a:pt x="186943" y="19811"/>
                </a:lnTo>
                <a:lnTo>
                  <a:pt x="214249" y="20065"/>
                </a:lnTo>
                <a:lnTo>
                  <a:pt x="240537" y="21081"/>
                </a:lnTo>
                <a:lnTo>
                  <a:pt x="289687" y="25653"/>
                </a:lnTo>
                <a:lnTo>
                  <a:pt x="333375" y="34416"/>
                </a:lnTo>
                <a:lnTo>
                  <a:pt x="370204" y="47878"/>
                </a:lnTo>
                <a:lnTo>
                  <a:pt x="405002" y="71881"/>
                </a:lnTo>
                <a:lnTo>
                  <a:pt x="429005" y="107568"/>
                </a:lnTo>
                <a:lnTo>
                  <a:pt x="441451" y="143890"/>
                </a:lnTo>
                <a:lnTo>
                  <a:pt x="448690" y="185673"/>
                </a:lnTo>
                <a:lnTo>
                  <a:pt x="451332" y="229869"/>
                </a:lnTo>
                <a:lnTo>
                  <a:pt x="451358" y="230631"/>
                </a:lnTo>
                <a:lnTo>
                  <a:pt x="451226" y="253745"/>
                </a:lnTo>
                <a:lnTo>
                  <a:pt x="450341" y="276859"/>
                </a:lnTo>
                <a:lnTo>
                  <a:pt x="448563" y="299719"/>
                </a:lnTo>
                <a:lnTo>
                  <a:pt x="447316" y="309320"/>
                </a:lnTo>
                <a:lnTo>
                  <a:pt x="466946" y="312266"/>
                </a:lnTo>
                <a:lnTo>
                  <a:pt x="471042" y="253745"/>
                </a:lnTo>
                <a:lnTo>
                  <a:pt x="471170" y="229869"/>
                </a:lnTo>
                <a:lnTo>
                  <a:pt x="470343" y="207898"/>
                </a:lnTo>
                <a:lnTo>
                  <a:pt x="470280" y="206247"/>
                </a:lnTo>
                <a:lnTo>
                  <a:pt x="465074" y="160146"/>
                </a:lnTo>
                <a:lnTo>
                  <a:pt x="454278" y="117475"/>
                </a:lnTo>
                <a:lnTo>
                  <a:pt x="436625" y="80263"/>
                </a:lnTo>
                <a:lnTo>
                  <a:pt x="410972" y="50545"/>
                </a:lnTo>
                <a:lnTo>
                  <a:pt x="377698" y="29590"/>
                </a:lnTo>
                <a:lnTo>
                  <a:pt x="358521" y="21716"/>
                </a:lnTo>
                <a:lnTo>
                  <a:pt x="352432" y="19811"/>
                </a:lnTo>
                <a:close/>
              </a:path>
              <a:path w="495300" h="386714">
                <a:moveTo>
                  <a:pt x="186816" y="0"/>
                </a:moveTo>
                <a:lnTo>
                  <a:pt x="158368" y="253"/>
                </a:lnTo>
                <a:lnTo>
                  <a:pt x="125131" y="1269"/>
                </a:lnTo>
                <a:lnTo>
                  <a:pt x="126590" y="1269"/>
                </a:lnTo>
                <a:lnTo>
                  <a:pt x="69976" y="3936"/>
                </a:lnTo>
                <a:lnTo>
                  <a:pt x="9651" y="7746"/>
                </a:lnTo>
                <a:lnTo>
                  <a:pt x="4190" y="8000"/>
                </a:lnTo>
                <a:lnTo>
                  <a:pt x="0" y="12700"/>
                </a:lnTo>
                <a:lnTo>
                  <a:pt x="496" y="19811"/>
                </a:lnTo>
                <a:lnTo>
                  <a:pt x="584" y="21081"/>
                </a:lnTo>
                <a:lnTo>
                  <a:pt x="708" y="22859"/>
                </a:lnTo>
                <a:lnTo>
                  <a:pt x="770" y="23748"/>
                </a:lnTo>
                <a:lnTo>
                  <a:pt x="904" y="23748"/>
                </a:lnTo>
                <a:lnTo>
                  <a:pt x="5461" y="27812"/>
                </a:lnTo>
                <a:lnTo>
                  <a:pt x="71247" y="23748"/>
                </a:lnTo>
                <a:lnTo>
                  <a:pt x="127496" y="21081"/>
                </a:lnTo>
                <a:lnTo>
                  <a:pt x="126056" y="21081"/>
                </a:lnTo>
                <a:lnTo>
                  <a:pt x="159003" y="20065"/>
                </a:lnTo>
                <a:lnTo>
                  <a:pt x="352432" y="19811"/>
                </a:lnTo>
                <a:lnTo>
                  <a:pt x="337820" y="15239"/>
                </a:lnTo>
                <a:lnTo>
                  <a:pt x="291973" y="6095"/>
                </a:lnTo>
                <a:lnTo>
                  <a:pt x="241426" y="1269"/>
                </a:lnTo>
                <a:lnTo>
                  <a:pt x="214502" y="253"/>
                </a:lnTo>
                <a:lnTo>
                  <a:pt x="186816" y="0"/>
                </a:lnTo>
                <a:close/>
              </a:path>
            </a:pathLst>
          </a:custGeom>
          <a:solidFill>
            <a:srgbClr val="688E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711957" y="2609214"/>
            <a:ext cx="496570" cy="386715"/>
          </a:xfrm>
          <a:custGeom>
            <a:avLst/>
            <a:gdLst/>
            <a:ahLst/>
            <a:cxnLst/>
            <a:rect l="l" t="t" r="r" b="b"/>
            <a:pathLst>
              <a:path w="496569" h="386714">
                <a:moveTo>
                  <a:pt x="28044" y="312354"/>
                </a:moveTo>
                <a:lnTo>
                  <a:pt x="0" y="316611"/>
                </a:lnTo>
                <a:lnTo>
                  <a:pt x="49022" y="386207"/>
                </a:lnTo>
                <a:lnTo>
                  <a:pt x="65957" y="334010"/>
                </a:lnTo>
                <a:lnTo>
                  <a:pt x="35433" y="334010"/>
                </a:lnTo>
                <a:lnTo>
                  <a:pt x="30353" y="330200"/>
                </a:lnTo>
                <a:lnTo>
                  <a:pt x="29718" y="324738"/>
                </a:lnTo>
                <a:lnTo>
                  <a:pt x="28044" y="312354"/>
                </a:lnTo>
                <a:close/>
              </a:path>
              <a:path w="496569" h="386714">
                <a:moveTo>
                  <a:pt x="47617" y="309383"/>
                </a:moveTo>
                <a:lnTo>
                  <a:pt x="28044" y="312354"/>
                </a:lnTo>
                <a:lnTo>
                  <a:pt x="29718" y="324738"/>
                </a:lnTo>
                <a:lnTo>
                  <a:pt x="30353" y="330200"/>
                </a:lnTo>
                <a:lnTo>
                  <a:pt x="35433" y="334010"/>
                </a:lnTo>
                <a:lnTo>
                  <a:pt x="46228" y="332486"/>
                </a:lnTo>
                <a:lnTo>
                  <a:pt x="50037" y="327533"/>
                </a:lnTo>
                <a:lnTo>
                  <a:pt x="49275" y="322072"/>
                </a:lnTo>
                <a:lnTo>
                  <a:pt x="47617" y="309383"/>
                </a:lnTo>
                <a:close/>
              </a:path>
              <a:path w="496569" h="386714">
                <a:moveTo>
                  <a:pt x="75311" y="305181"/>
                </a:moveTo>
                <a:lnTo>
                  <a:pt x="47617" y="309383"/>
                </a:lnTo>
                <a:lnTo>
                  <a:pt x="49275" y="322072"/>
                </a:lnTo>
                <a:lnTo>
                  <a:pt x="50037" y="327533"/>
                </a:lnTo>
                <a:lnTo>
                  <a:pt x="46228" y="332486"/>
                </a:lnTo>
                <a:lnTo>
                  <a:pt x="35433" y="334010"/>
                </a:lnTo>
                <a:lnTo>
                  <a:pt x="65957" y="334010"/>
                </a:lnTo>
                <a:lnTo>
                  <a:pt x="75311" y="305181"/>
                </a:lnTo>
                <a:close/>
              </a:path>
              <a:path w="496569" h="386714">
                <a:moveTo>
                  <a:pt x="309118" y="0"/>
                </a:moveTo>
                <a:lnTo>
                  <a:pt x="254381" y="1270"/>
                </a:lnTo>
                <a:lnTo>
                  <a:pt x="203581" y="6096"/>
                </a:lnTo>
                <a:lnTo>
                  <a:pt x="157734" y="15239"/>
                </a:lnTo>
                <a:lnTo>
                  <a:pt x="117602" y="29590"/>
                </a:lnTo>
                <a:lnTo>
                  <a:pt x="84200" y="50546"/>
                </a:lnTo>
                <a:lnTo>
                  <a:pt x="58547" y="80263"/>
                </a:lnTo>
                <a:lnTo>
                  <a:pt x="40767" y="117475"/>
                </a:lnTo>
                <a:lnTo>
                  <a:pt x="29972" y="160147"/>
                </a:lnTo>
                <a:lnTo>
                  <a:pt x="24637" y="206121"/>
                </a:lnTo>
                <a:lnTo>
                  <a:pt x="23749" y="229870"/>
                </a:lnTo>
                <a:lnTo>
                  <a:pt x="23875" y="253746"/>
                </a:lnTo>
                <a:lnTo>
                  <a:pt x="24859" y="276860"/>
                </a:lnTo>
                <a:lnTo>
                  <a:pt x="24892" y="277622"/>
                </a:lnTo>
                <a:lnTo>
                  <a:pt x="26436" y="299720"/>
                </a:lnTo>
                <a:lnTo>
                  <a:pt x="26543" y="301244"/>
                </a:lnTo>
                <a:lnTo>
                  <a:pt x="28044" y="312354"/>
                </a:lnTo>
                <a:lnTo>
                  <a:pt x="47617" y="309383"/>
                </a:lnTo>
                <a:lnTo>
                  <a:pt x="46355" y="299720"/>
                </a:lnTo>
                <a:lnTo>
                  <a:pt x="44759" y="277622"/>
                </a:lnTo>
                <a:lnTo>
                  <a:pt x="44704" y="276860"/>
                </a:lnTo>
                <a:lnTo>
                  <a:pt x="43693" y="253746"/>
                </a:lnTo>
                <a:lnTo>
                  <a:pt x="43586" y="229870"/>
                </a:lnTo>
                <a:lnTo>
                  <a:pt x="44323" y="207899"/>
                </a:lnTo>
                <a:lnTo>
                  <a:pt x="49275" y="164211"/>
                </a:lnTo>
                <a:lnTo>
                  <a:pt x="59181" y="124968"/>
                </a:lnTo>
                <a:lnTo>
                  <a:pt x="84581" y="77977"/>
                </a:lnTo>
                <a:lnTo>
                  <a:pt x="125094" y="47879"/>
                </a:lnTo>
                <a:lnTo>
                  <a:pt x="162179" y="34417"/>
                </a:lnTo>
                <a:lnTo>
                  <a:pt x="205994" y="25654"/>
                </a:lnTo>
                <a:lnTo>
                  <a:pt x="255143" y="21082"/>
                </a:lnTo>
                <a:lnTo>
                  <a:pt x="495946" y="19812"/>
                </a:lnTo>
                <a:lnTo>
                  <a:pt x="496443" y="12700"/>
                </a:lnTo>
                <a:lnTo>
                  <a:pt x="492252" y="8000"/>
                </a:lnTo>
                <a:lnTo>
                  <a:pt x="486791" y="7747"/>
                </a:lnTo>
                <a:lnTo>
                  <a:pt x="426339" y="3937"/>
                </a:lnTo>
                <a:lnTo>
                  <a:pt x="369483" y="1270"/>
                </a:lnTo>
                <a:lnTo>
                  <a:pt x="370930" y="1270"/>
                </a:lnTo>
                <a:lnTo>
                  <a:pt x="337693" y="254"/>
                </a:lnTo>
                <a:lnTo>
                  <a:pt x="309118" y="0"/>
                </a:lnTo>
                <a:close/>
              </a:path>
              <a:path w="496569" h="386714">
                <a:moveTo>
                  <a:pt x="495946" y="19812"/>
                </a:moveTo>
                <a:lnTo>
                  <a:pt x="308864" y="19812"/>
                </a:lnTo>
                <a:lnTo>
                  <a:pt x="337058" y="20065"/>
                </a:lnTo>
                <a:lnTo>
                  <a:pt x="370005" y="21082"/>
                </a:lnTo>
                <a:lnTo>
                  <a:pt x="368577" y="21082"/>
                </a:lnTo>
                <a:lnTo>
                  <a:pt x="425069" y="23749"/>
                </a:lnTo>
                <a:lnTo>
                  <a:pt x="490981" y="27812"/>
                </a:lnTo>
                <a:lnTo>
                  <a:pt x="495538" y="23749"/>
                </a:lnTo>
                <a:lnTo>
                  <a:pt x="495672" y="23749"/>
                </a:lnTo>
                <a:lnTo>
                  <a:pt x="495734" y="22860"/>
                </a:lnTo>
                <a:lnTo>
                  <a:pt x="495858" y="21082"/>
                </a:lnTo>
                <a:lnTo>
                  <a:pt x="495946" y="19812"/>
                </a:lnTo>
                <a:close/>
              </a:path>
            </a:pathLst>
          </a:custGeom>
          <a:solidFill>
            <a:srgbClr val="688E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903976" y="2132964"/>
            <a:ext cx="948690" cy="481965"/>
          </a:xfrm>
          <a:custGeom>
            <a:avLst/>
            <a:gdLst/>
            <a:ahLst/>
            <a:cxnLst/>
            <a:rect l="l" t="t" r="r" b="b"/>
            <a:pathLst>
              <a:path w="948690" h="481964">
                <a:moveTo>
                  <a:pt x="872055" y="453438"/>
                </a:moveTo>
                <a:lnTo>
                  <a:pt x="870457" y="481584"/>
                </a:lnTo>
                <a:lnTo>
                  <a:pt x="933338" y="454533"/>
                </a:lnTo>
                <a:lnTo>
                  <a:pt x="890143" y="454533"/>
                </a:lnTo>
                <a:lnTo>
                  <a:pt x="884681" y="454151"/>
                </a:lnTo>
                <a:lnTo>
                  <a:pt x="872055" y="453438"/>
                </a:lnTo>
                <a:close/>
              </a:path>
              <a:path w="948690" h="481964">
                <a:moveTo>
                  <a:pt x="873174" y="433724"/>
                </a:moveTo>
                <a:lnTo>
                  <a:pt x="872055" y="453438"/>
                </a:lnTo>
                <a:lnTo>
                  <a:pt x="884681" y="454151"/>
                </a:lnTo>
                <a:lnTo>
                  <a:pt x="890143" y="454533"/>
                </a:lnTo>
                <a:lnTo>
                  <a:pt x="894842" y="450342"/>
                </a:lnTo>
                <a:lnTo>
                  <a:pt x="895223" y="444881"/>
                </a:lnTo>
                <a:lnTo>
                  <a:pt x="895476" y="439420"/>
                </a:lnTo>
                <a:lnTo>
                  <a:pt x="891285" y="434721"/>
                </a:lnTo>
                <a:lnTo>
                  <a:pt x="885825" y="434467"/>
                </a:lnTo>
                <a:lnTo>
                  <a:pt x="873174" y="433724"/>
                </a:lnTo>
                <a:close/>
              </a:path>
              <a:path w="948690" h="481964">
                <a:moveTo>
                  <a:pt x="874776" y="405511"/>
                </a:moveTo>
                <a:lnTo>
                  <a:pt x="873174" y="433724"/>
                </a:lnTo>
                <a:lnTo>
                  <a:pt x="885825" y="434467"/>
                </a:lnTo>
                <a:lnTo>
                  <a:pt x="891285" y="434721"/>
                </a:lnTo>
                <a:lnTo>
                  <a:pt x="895476" y="439420"/>
                </a:lnTo>
                <a:lnTo>
                  <a:pt x="895293" y="443357"/>
                </a:lnTo>
                <a:lnTo>
                  <a:pt x="895223" y="444881"/>
                </a:lnTo>
                <a:lnTo>
                  <a:pt x="894842" y="450342"/>
                </a:lnTo>
                <a:lnTo>
                  <a:pt x="890143" y="454533"/>
                </a:lnTo>
                <a:lnTo>
                  <a:pt x="933338" y="454533"/>
                </a:lnTo>
                <a:lnTo>
                  <a:pt x="948690" y="447929"/>
                </a:lnTo>
                <a:lnTo>
                  <a:pt x="874776" y="405511"/>
                </a:lnTo>
                <a:close/>
              </a:path>
              <a:path w="948690" h="481964">
                <a:moveTo>
                  <a:pt x="15494" y="0"/>
                </a:moveTo>
                <a:lnTo>
                  <a:pt x="4318" y="57150"/>
                </a:lnTo>
                <a:lnTo>
                  <a:pt x="508" y="104775"/>
                </a:lnTo>
                <a:lnTo>
                  <a:pt x="0" y="128270"/>
                </a:lnTo>
                <a:lnTo>
                  <a:pt x="860" y="150875"/>
                </a:lnTo>
                <a:lnTo>
                  <a:pt x="7365" y="196976"/>
                </a:lnTo>
                <a:lnTo>
                  <a:pt x="22478" y="240411"/>
                </a:lnTo>
                <a:lnTo>
                  <a:pt x="48133" y="280670"/>
                </a:lnTo>
                <a:lnTo>
                  <a:pt x="75311" y="308101"/>
                </a:lnTo>
                <a:lnTo>
                  <a:pt x="110362" y="332739"/>
                </a:lnTo>
                <a:lnTo>
                  <a:pt x="153670" y="354330"/>
                </a:lnTo>
                <a:lnTo>
                  <a:pt x="205359" y="372872"/>
                </a:lnTo>
                <a:lnTo>
                  <a:pt x="244094" y="383794"/>
                </a:lnTo>
                <a:lnTo>
                  <a:pt x="286003" y="393573"/>
                </a:lnTo>
                <a:lnTo>
                  <a:pt x="330835" y="402336"/>
                </a:lnTo>
                <a:lnTo>
                  <a:pt x="378333" y="410210"/>
                </a:lnTo>
                <a:lnTo>
                  <a:pt x="428371" y="417322"/>
                </a:lnTo>
                <a:lnTo>
                  <a:pt x="480440" y="423672"/>
                </a:lnTo>
                <a:lnTo>
                  <a:pt x="590550" y="434467"/>
                </a:lnTo>
                <a:lnTo>
                  <a:pt x="706374" y="443357"/>
                </a:lnTo>
                <a:lnTo>
                  <a:pt x="872055" y="453438"/>
                </a:lnTo>
                <a:lnTo>
                  <a:pt x="873118" y="434721"/>
                </a:lnTo>
                <a:lnTo>
                  <a:pt x="873174" y="433724"/>
                </a:lnTo>
                <a:lnTo>
                  <a:pt x="709815" y="423672"/>
                </a:lnTo>
                <a:lnTo>
                  <a:pt x="709616" y="423672"/>
                </a:lnTo>
                <a:lnTo>
                  <a:pt x="592327" y="414782"/>
                </a:lnTo>
                <a:lnTo>
                  <a:pt x="536701" y="409575"/>
                </a:lnTo>
                <a:lnTo>
                  <a:pt x="482853" y="403987"/>
                </a:lnTo>
                <a:lnTo>
                  <a:pt x="431038" y="397637"/>
                </a:lnTo>
                <a:lnTo>
                  <a:pt x="381381" y="390651"/>
                </a:lnTo>
                <a:lnTo>
                  <a:pt x="334390" y="382905"/>
                </a:lnTo>
                <a:lnTo>
                  <a:pt x="290322" y="374269"/>
                </a:lnTo>
                <a:lnTo>
                  <a:pt x="249174" y="364617"/>
                </a:lnTo>
                <a:lnTo>
                  <a:pt x="211454" y="353949"/>
                </a:lnTo>
                <a:lnTo>
                  <a:pt x="161798" y="336169"/>
                </a:lnTo>
                <a:lnTo>
                  <a:pt x="120903" y="315849"/>
                </a:lnTo>
                <a:lnTo>
                  <a:pt x="88519" y="293243"/>
                </a:lnTo>
                <a:lnTo>
                  <a:pt x="56896" y="259714"/>
                </a:lnTo>
                <a:lnTo>
                  <a:pt x="36322" y="222885"/>
                </a:lnTo>
                <a:lnTo>
                  <a:pt x="22860" y="172465"/>
                </a:lnTo>
                <a:lnTo>
                  <a:pt x="20777" y="151637"/>
                </a:lnTo>
                <a:lnTo>
                  <a:pt x="20700" y="150875"/>
                </a:lnTo>
                <a:lnTo>
                  <a:pt x="19812" y="128650"/>
                </a:lnTo>
                <a:lnTo>
                  <a:pt x="20320" y="106045"/>
                </a:lnTo>
                <a:lnTo>
                  <a:pt x="21716" y="82931"/>
                </a:lnTo>
                <a:lnTo>
                  <a:pt x="23875" y="59436"/>
                </a:lnTo>
                <a:lnTo>
                  <a:pt x="29590" y="11684"/>
                </a:lnTo>
                <a:lnTo>
                  <a:pt x="30225" y="6223"/>
                </a:lnTo>
                <a:lnTo>
                  <a:pt x="26288" y="1397"/>
                </a:lnTo>
                <a:lnTo>
                  <a:pt x="20827" y="762"/>
                </a:lnTo>
                <a:lnTo>
                  <a:pt x="15494" y="0"/>
                </a:lnTo>
                <a:close/>
              </a:path>
            </a:pathLst>
          </a:custGeom>
          <a:solidFill>
            <a:srgbClr val="688E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48385" y="3884262"/>
            <a:ext cx="6694805" cy="163195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800" dirty="0">
                <a:solidFill>
                  <a:srgbClr val="90C225"/>
                </a:solidFill>
                <a:latin typeface="Trebuchet MS"/>
                <a:cs typeface="Trebuchet MS"/>
              </a:rPr>
              <a:t>How</a:t>
            </a:r>
            <a:r>
              <a:rPr sz="1800" spc="-3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90C225"/>
                </a:solidFill>
                <a:latin typeface="Trebuchet MS"/>
                <a:cs typeface="Trebuchet MS"/>
              </a:rPr>
              <a:t>do</a:t>
            </a:r>
            <a:r>
              <a:rPr sz="1800" spc="-30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90C225"/>
                </a:solidFill>
                <a:latin typeface="Trebuchet MS"/>
                <a:cs typeface="Trebuchet MS"/>
              </a:rPr>
              <a:t>we</a:t>
            </a:r>
            <a:r>
              <a:rPr sz="1800" spc="-2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90C225"/>
                </a:solidFill>
                <a:latin typeface="Trebuchet MS"/>
                <a:cs typeface="Trebuchet MS"/>
              </a:rPr>
              <a:t>choose</a:t>
            </a:r>
            <a:r>
              <a:rPr sz="1800" spc="-2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90C225"/>
                </a:solidFill>
                <a:latin typeface="Cambria Math"/>
                <a:cs typeface="Cambria Math"/>
              </a:rPr>
              <a:t>𝐻</a:t>
            </a:r>
            <a:r>
              <a:rPr sz="1800" spc="-25" dirty="0">
                <a:solidFill>
                  <a:srgbClr val="90C225"/>
                </a:solidFill>
                <a:latin typeface="Trebuchet MS"/>
                <a:cs typeface="Trebuchet MS"/>
              </a:rPr>
              <a:t>?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latin typeface="Trebuchet MS"/>
                <a:cs typeface="Trebuchet MS"/>
              </a:rPr>
              <a:t>Exploratory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data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anlysis: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examining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data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with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statistical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tests</a:t>
            </a:r>
            <a:endParaRPr sz="1800">
              <a:latin typeface="Trebuchet MS"/>
              <a:cs typeface="Trebuchet MS"/>
            </a:endParaRPr>
          </a:p>
          <a:p>
            <a:pPr marL="12700" marR="2805430" indent="342265">
              <a:lnSpc>
                <a:spcPts val="3170"/>
              </a:lnSpc>
              <a:spcBef>
                <a:spcPts val="85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latin typeface="Trebuchet MS"/>
                <a:cs typeface="Trebuchet MS"/>
              </a:rPr>
              <a:t>Multiple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try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of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hypothesis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spaces </a:t>
            </a:r>
            <a:r>
              <a:rPr sz="1800" dirty="0">
                <a:solidFill>
                  <a:srgbClr val="90C225"/>
                </a:solidFill>
                <a:latin typeface="Trebuchet MS"/>
                <a:cs typeface="Trebuchet MS"/>
              </a:rPr>
              <a:t>How</a:t>
            </a:r>
            <a:r>
              <a:rPr sz="1800" spc="-3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90C225"/>
                </a:solidFill>
                <a:latin typeface="Trebuchet MS"/>
                <a:cs typeface="Trebuchet MS"/>
              </a:rPr>
              <a:t>do</a:t>
            </a:r>
            <a:r>
              <a:rPr sz="1800" spc="-30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90C225"/>
                </a:solidFill>
                <a:latin typeface="Trebuchet MS"/>
                <a:cs typeface="Trebuchet MS"/>
              </a:rPr>
              <a:t>we</a:t>
            </a:r>
            <a:r>
              <a:rPr sz="1800" spc="-3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90C225"/>
                </a:solidFill>
                <a:latin typeface="Trebuchet MS"/>
                <a:cs typeface="Trebuchet MS"/>
              </a:rPr>
              <a:t>choose</a:t>
            </a:r>
            <a:r>
              <a:rPr sz="1800" spc="-20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90C225"/>
                </a:solidFill>
                <a:latin typeface="Trebuchet MS"/>
                <a:cs typeface="Trebuchet MS"/>
              </a:rPr>
              <a:t>a</a:t>
            </a:r>
            <a:r>
              <a:rPr sz="1800" spc="-30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90C225"/>
                </a:solidFill>
                <a:latin typeface="Trebuchet MS"/>
                <a:cs typeface="Trebuchet MS"/>
              </a:rPr>
              <a:t>good</a:t>
            </a:r>
            <a:r>
              <a:rPr sz="1800" spc="-10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90C225"/>
                </a:solidFill>
                <a:latin typeface="Cambria Math"/>
                <a:cs typeface="Cambria Math"/>
              </a:rPr>
              <a:t>ℎ</a:t>
            </a:r>
            <a:r>
              <a:rPr sz="1800" spc="150" dirty="0">
                <a:solidFill>
                  <a:srgbClr val="90C225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90C225"/>
                </a:solidFill>
                <a:latin typeface="Trebuchet MS"/>
                <a:cs typeface="Trebuchet MS"/>
              </a:rPr>
              <a:t>within</a:t>
            </a:r>
            <a:r>
              <a:rPr sz="1800" spc="-30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90C225"/>
                </a:solidFill>
                <a:latin typeface="Cambria Math"/>
                <a:cs typeface="Cambria Math"/>
              </a:rPr>
              <a:t>𝐻</a:t>
            </a:r>
            <a:r>
              <a:rPr sz="1800" spc="-25" dirty="0">
                <a:solidFill>
                  <a:srgbClr val="90C225"/>
                </a:solidFill>
                <a:latin typeface="Trebuchet MS"/>
                <a:cs typeface="Trebuchet MS"/>
              </a:rPr>
              <a:t>?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579114" y="5686336"/>
            <a:ext cx="344805" cy="212090"/>
          </a:xfrm>
          <a:custGeom>
            <a:avLst/>
            <a:gdLst/>
            <a:ahLst/>
            <a:cxnLst/>
            <a:rect l="l" t="t" r="r" b="b"/>
            <a:pathLst>
              <a:path w="344804" h="212089">
                <a:moveTo>
                  <a:pt x="276733" y="0"/>
                </a:moveTo>
                <a:lnTo>
                  <a:pt x="273685" y="8597"/>
                </a:lnTo>
                <a:lnTo>
                  <a:pt x="285970" y="13917"/>
                </a:lnTo>
                <a:lnTo>
                  <a:pt x="296529" y="21282"/>
                </a:lnTo>
                <a:lnTo>
                  <a:pt x="317920" y="55414"/>
                </a:lnTo>
                <a:lnTo>
                  <a:pt x="324174" y="86521"/>
                </a:lnTo>
                <a:lnTo>
                  <a:pt x="324207" y="86751"/>
                </a:lnTo>
                <a:lnTo>
                  <a:pt x="321849" y="140449"/>
                </a:lnTo>
                <a:lnTo>
                  <a:pt x="305302" y="180848"/>
                </a:lnTo>
                <a:lnTo>
                  <a:pt x="274065" y="203149"/>
                </a:lnTo>
                <a:lnTo>
                  <a:pt x="276733" y="211747"/>
                </a:lnTo>
                <a:lnTo>
                  <a:pt x="317202" y="187715"/>
                </a:lnTo>
                <a:lnTo>
                  <a:pt x="339931" y="143336"/>
                </a:lnTo>
                <a:lnTo>
                  <a:pt x="344297" y="105930"/>
                </a:lnTo>
                <a:lnTo>
                  <a:pt x="343214" y="86751"/>
                </a:lnTo>
                <a:lnTo>
                  <a:pt x="326771" y="37122"/>
                </a:lnTo>
                <a:lnTo>
                  <a:pt x="292070" y="5548"/>
                </a:lnTo>
                <a:lnTo>
                  <a:pt x="276733" y="0"/>
                </a:lnTo>
                <a:close/>
              </a:path>
              <a:path w="344804" h="212089">
                <a:moveTo>
                  <a:pt x="67563" y="0"/>
                </a:moveTo>
                <a:lnTo>
                  <a:pt x="27166" y="24108"/>
                </a:lnTo>
                <a:lnTo>
                  <a:pt x="4381" y="68583"/>
                </a:lnTo>
                <a:lnTo>
                  <a:pt x="0" y="105930"/>
                </a:lnTo>
                <a:lnTo>
                  <a:pt x="986" y="123489"/>
                </a:lnTo>
                <a:lnTo>
                  <a:pt x="17399" y="174752"/>
                </a:lnTo>
                <a:lnTo>
                  <a:pt x="52153" y="206213"/>
                </a:lnTo>
                <a:lnTo>
                  <a:pt x="67563" y="211747"/>
                </a:lnTo>
                <a:lnTo>
                  <a:pt x="70231" y="203149"/>
                </a:lnTo>
                <a:lnTo>
                  <a:pt x="58183" y="197807"/>
                </a:lnTo>
                <a:lnTo>
                  <a:pt x="47767" y="190374"/>
                </a:lnTo>
                <a:lnTo>
                  <a:pt x="26376" y="155694"/>
                </a:lnTo>
                <a:lnTo>
                  <a:pt x="19351" y="105930"/>
                </a:lnTo>
                <a:lnTo>
                  <a:pt x="19303" y="104813"/>
                </a:lnTo>
                <a:lnTo>
                  <a:pt x="26376" y="55414"/>
                </a:lnTo>
                <a:lnTo>
                  <a:pt x="47815" y="21282"/>
                </a:lnTo>
                <a:lnTo>
                  <a:pt x="70612" y="8597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97585" y="5490464"/>
            <a:ext cx="3999229" cy="82740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405765" indent="-342265">
              <a:lnSpc>
                <a:spcPct val="100000"/>
              </a:lnSpc>
              <a:spcBef>
                <a:spcPts val="1095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405765" algn="l"/>
                <a:tab pos="3307715" algn="l"/>
              </a:tabLst>
            </a:pPr>
            <a:r>
              <a:rPr sz="1800" dirty="0">
                <a:latin typeface="Trebuchet MS"/>
                <a:cs typeface="Trebuchet MS"/>
              </a:rPr>
              <a:t>Consistent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ipothesis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if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Cambria Math"/>
                <a:cs typeface="Cambria Math"/>
              </a:rPr>
              <a:t>ℎ</a:t>
            </a:r>
            <a:r>
              <a:rPr sz="1800" spc="33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𝑖</a:t>
            </a:r>
            <a:r>
              <a:rPr sz="1950" baseline="-14957" dirty="0">
                <a:latin typeface="Cambria Math"/>
                <a:cs typeface="Cambria Math"/>
              </a:rPr>
              <a:t>	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spc="-35" dirty="0">
                <a:latin typeface="Cambria Math"/>
                <a:cs typeface="Cambria Math"/>
              </a:rPr>
              <a:t>𝑦</a:t>
            </a:r>
            <a:r>
              <a:rPr sz="1950" spc="-52" baseline="-14957" dirty="0">
                <a:latin typeface="Cambria Math"/>
                <a:cs typeface="Cambria Math"/>
              </a:rPr>
              <a:t>𝑖</a:t>
            </a:r>
            <a:endParaRPr sz="1950" baseline="-14957">
              <a:latin typeface="Cambria Math"/>
              <a:cs typeface="Cambria Math"/>
            </a:endParaRPr>
          </a:p>
          <a:p>
            <a:pPr marL="4057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405765" algn="l"/>
              </a:tabLst>
            </a:pPr>
            <a:r>
              <a:rPr sz="1800" spc="-10" dirty="0">
                <a:latin typeface="Trebuchet MS"/>
                <a:cs typeface="Trebuchet MS"/>
              </a:rPr>
              <a:t>Best-</a:t>
            </a:r>
            <a:r>
              <a:rPr sz="1800" dirty="0">
                <a:latin typeface="Trebuchet MS"/>
                <a:cs typeface="Trebuchet MS"/>
              </a:rPr>
              <a:t>fit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function</a:t>
            </a:r>
            <a:r>
              <a:rPr sz="1800" spc="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if</a:t>
            </a:r>
            <a:r>
              <a:rPr sz="1800" spc="10" dirty="0">
                <a:latin typeface="Trebuchet MS"/>
                <a:cs typeface="Trebuchet MS"/>
              </a:rPr>
              <a:t> </a:t>
            </a:r>
            <a:r>
              <a:rPr sz="1800" dirty="0">
                <a:latin typeface="Cambria Math"/>
                <a:cs typeface="Cambria Math"/>
              </a:rPr>
              <a:t>ℎ(𝑥</a:t>
            </a:r>
            <a:r>
              <a:rPr sz="1950" baseline="-14957" dirty="0">
                <a:latin typeface="Cambria Math"/>
                <a:cs typeface="Cambria Math"/>
              </a:rPr>
              <a:t>𝑖</a:t>
            </a:r>
            <a:r>
              <a:rPr sz="1800" dirty="0">
                <a:latin typeface="Cambria Math"/>
                <a:cs typeface="Cambria Math"/>
              </a:rPr>
              <a:t>)</a:t>
            </a:r>
            <a:r>
              <a:rPr sz="1800" spc="135" dirty="0">
                <a:latin typeface="Cambria Math"/>
                <a:cs typeface="Cambria Math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close</a:t>
            </a:r>
            <a:r>
              <a:rPr sz="1800" spc="1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𝑦</a:t>
            </a:r>
            <a:r>
              <a:rPr sz="1950" spc="-37" baseline="-14957" dirty="0">
                <a:latin typeface="Cambria Math"/>
                <a:cs typeface="Cambria Math"/>
              </a:rPr>
              <a:t>𝑖</a:t>
            </a:r>
            <a:endParaRPr sz="1950" baseline="-14957">
              <a:latin typeface="Cambria Math"/>
              <a:cs typeface="Cambria Math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483608" y="5779008"/>
            <a:ext cx="998219" cy="454659"/>
            <a:chOff x="4483608" y="5779008"/>
            <a:chExt cx="998219" cy="454659"/>
          </a:xfrm>
        </p:grpSpPr>
        <p:sp>
          <p:nvSpPr>
            <p:cNvPr id="17" name="object 17"/>
            <p:cNvSpPr/>
            <p:nvPr/>
          </p:nvSpPr>
          <p:spPr>
            <a:xfrm>
              <a:off x="4483608" y="5785104"/>
              <a:ext cx="485140" cy="441959"/>
            </a:xfrm>
            <a:custGeom>
              <a:avLst/>
              <a:gdLst/>
              <a:ahLst/>
              <a:cxnLst/>
              <a:rect l="l" t="t" r="r" b="b"/>
              <a:pathLst>
                <a:path w="485139" h="441960">
                  <a:moveTo>
                    <a:pt x="0" y="0"/>
                  </a:moveTo>
                  <a:lnTo>
                    <a:pt x="483742" y="0"/>
                  </a:lnTo>
                </a:path>
                <a:path w="485139" h="441960">
                  <a:moveTo>
                    <a:pt x="484631" y="0"/>
                  </a:moveTo>
                  <a:lnTo>
                    <a:pt x="484631" y="414172"/>
                  </a:lnTo>
                </a:path>
                <a:path w="485139" h="441960">
                  <a:moveTo>
                    <a:pt x="484250" y="441960"/>
                  </a:moveTo>
                  <a:lnTo>
                    <a:pt x="242315" y="441960"/>
                  </a:lnTo>
                </a:path>
              </a:pathLst>
            </a:custGeom>
            <a:ln w="12192">
              <a:solidFill>
                <a:srgbClr val="90C2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961890" y="5954268"/>
              <a:ext cx="519430" cy="76200"/>
            </a:xfrm>
            <a:custGeom>
              <a:avLst/>
              <a:gdLst/>
              <a:ahLst/>
              <a:cxnLst/>
              <a:rect l="l" t="t" r="r" b="b"/>
              <a:pathLst>
                <a:path w="519429" h="76200">
                  <a:moveTo>
                    <a:pt x="443230" y="0"/>
                  </a:moveTo>
                  <a:lnTo>
                    <a:pt x="443230" y="76199"/>
                  </a:lnTo>
                  <a:lnTo>
                    <a:pt x="506730" y="44449"/>
                  </a:lnTo>
                  <a:lnTo>
                    <a:pt x="459486" y="44449"/>
                  </a:lnTo>
                  <a:lnTo>
                    <a:pt x="462280" y="41605"/>
                  </a:lnTo>
                  <a:lnTo>
                    <a:pt x="462280" y="34594"/>
                  </a:lnTo>
                  <a:lnTo>
                    <a:pt x="459486" y="31749"/>
                  </a:lnTo>
                  <a:lnTo>
                    <a:pt x="506730" y="31749"/>
                  </a:lnTo>
                  <a:lnTo>
                    <a:pt x="443230" y="0"/>
                  </a:lnTo>
                  <a:close/>
                </a:path>
                <a:path w="519429" h="76200">
                  <a:moveTo>
                    <a:pt x="443230" y="31749"/>
                  </a:moveTo>
                  <a:lnTo>
                    <a:pt x="2794" y="31749"/>
                  </a:lnTo>
                  <a:lnTo>
                    <a:pt x="0" y="34594"/>
                  </a:lnTo>
                  <a:lnTo>
                    <a:pt x="0" y="41605"/>
                  </a:lnTo>
                  <a:lnTo>
                    <a:pt x="2794" y="44449"/>
                  </a:lnTo>
                  <a:lnTo>
                    <a:pt x="443230" y="44449"/>
                  </a:lnTo>
                  <a:lnTo>
                    <a:pt x="443230" y="31749"/>
                  </a:lnTo>
                  <a:close/>
                </a:path>
                <a:path w="519429" h="76200">
                  <a:moveTo>
                    <a:pt x="506730" y="31749"/>
                  </a:moveTo>
                  <a:lnTo>
                    <a:pt x="459486" y="31749"/>
                  </a:lnTo>
                  <a:lnTo>
                    <a:pt x="462280" y="34594"/>
                  </a:lnTo>
                  <a:lnTo>
                    <a:pt x="462280" y="41605"/>
                  </a:lnTo>
                  <a:lnTo>
                    <a:pt x="459486" y="44449"/>
                  </a:lnTo>
                  <a:lnTo>
                    <a:pt x="506730" y="44449"/>
                  </a:lnTo>
                  <a:lnTo>
                    <a:pt x="519430" y="38099"/>
                  </a:lnTo>
                  <a:lnTo>
                    <a:pt x="506730" y="31749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560567" y="5559044"/>
            <a:ext cx="3465829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solidFill>
                  <a:srgbClr val="90C225"/>
                </a:solidFill>
                <a:latin typeface="Trebuchet MS"/>
                <a:cs typeface="Trebuchet MS"/>
              </a:rPr>
              <a:t>Test</a:t>
            </a:r>
            <a:r>
              <a:rPr sz="1800" spc="-7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90C225"/>
                </a:solidFill>
                <a:latin typeface="Trebuchet MS"/>
                <a:cs typeface="Trebuchet MS"/>
              </a:rPr>
              <a:t>set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Cambria Math"/>
                <a:cs typeface="Cambria Math"/>
              </a:rPr>
              <a:t>ℎ</a:t>
            </a:r>
            <a:r>
              <a:rPr sz="1800" spc="150" dirty="0">
                <a:latin typeface="Cambria Math"/>
                <a:cs typeface="Cambria Math"/>
              </a:rPr>
              <a:t> </a:t>
            </a:r>
            <a:r>
              <a:rPr sz="1800" dirty="0">
                <a:latin typeface="Trebuchet MS"/>
                <a:cs typeface="Trebuchet MS"/>
              </a:rPr>
              <a:t>generalizes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well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if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it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accurately </a:t>
            </a:r>
            <a:r>
              <a:rPr sz="1800" dirty="0">
                <a:latin typeface="Trebuchet MS"/>
                <a:cs typeface="Trebuchet MS"/>
              </a:rPr>
              <a:t>predicts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output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of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test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set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15" dirty="0"/>
              <a:t> </a:t>
            </a:r>
            <a:r>
              <a:rPr dirty="0"/>
              <a:t>to</a:t>
            </a:r>
            <a:r>
              <a:rPr spc="-5" dirty="0"/>
              <a:t> </a:t>
            </a:r>
            <a:r>
              <a:rPr lang="it-IT" dirty="0" err="1"/>
              <a:t>choose</a:t>
            </a:r>
            <a:r>
              <a:rPr lang="it-IT" dirty="0"/>
              <a:t> a good H and h</a:t>
            </a:r>
            <a:r>
              <a:rPr spc="-15" dirty="0"/>
              <a:t> </a:t>
            </a:r>
            <a:endParaRPr spc="-10" dirty="0"/>
          </a:p>
        </p:txBody>
      </p:sp>
      <p:grpSp>
        <p:nvGrpSpPr>
          <p:cNvPr id="5" name="object 5"/>
          <p:cNvGrpSpPr/>
          <p:nvPr/>
        </p:nvGrpSpPr>
        <p:grpSpPr>
          <a:xfrm>
            <a:off x="6288023" y="2482595"/>
            <a:ext cx="1579245" cy="637540"/>
            <a:chOff x="6288023" y="2482595"/>
            <a:chExt cx="1579245" cy="637540"/>
          </a:xfrm>
        </p:grpSpPr>
        <p:sp>
          <p:nvSpPr>
            <p:cNvPr id="6" name="object 6"/>
            <p:cNvSpPr/>
            <p:nvPr/>
          </p:nvSpPr>
          <p:spPr>
            <a:xfrm>
              <a:off x="6288023" y="2488691"/>
              <a:ext cx="1315720" cy="626110"/>
            </a:xfrm>
            <a:custGeom>
              <a:avLst/>
              <a:gdLst/>
              <a:ahLst/>
              <a:cxnLst/>
              <a:rect l="l" t="t" r="r" b="b"/>
              <a:pathLst>
                <a:path w="1315720" h="626110">
                  <a:moveTo>
                    <a:pt x="0" y="0"/>
                  </a:moveTo>
                  <a:lnTo>
                    <a:pt x="1315466" y="0"/>
                  </a:lnTo>
                </a:path>
                <a:path w="1315720" h="626110">
                  <a:moveTo>
                    <a:pt x="1315211" y="0"/>
                  </a:moveTo>
                  <a:lnTo>
                    <a:pt x="1315211" y="625602"/>
                  </a:lnTo>
                </a:path>
              </a:pathLst>
            </a:custGeom>
            <a:ln w="12192">
              <a:solidFill>
                <a:srgbClr val="90C2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96885" y="2787395"/>
              <a:ext cx="270510" cy="76200"/>
            </a:xfrm>
            <a:custGeom>
              <a:avLst/>
              <a:gdLst/>
              <a:ahLst/>
              <a:cxnLst/>
              <a:rect l="l" t="t" r="r" b="b"/>
              <a:pathLst>
                <a:path w="270509" h="76200">
                  <a:moveTo>
                    <a:pt x="194183" y="0"/>
                  </a:moveTo>
                  <a:lnTo>
                    <a:pt x="194183" y="76200"/>
                  </a:lnTo>
                  <a:lnTo>
                    <a:pt x="257683" y="44450"/>
                  </a:lnTo>
                  <a:lnTo>
                    <a:pt x="210312" y="44450"/>
                  </a:lnTo>
                  <a:lnTo>
                    <a:pt x="213233" y="41655"/>
                  </a:lnTo>
                  <a:lnTo>
                    <a:pt x="213233" y="34543"/>
                  </a:lnTo>
                  <a:lnTo>
                    <a:pt x="210312" y="31750"/>
                  </a:lnTo>
                  <a:lnTo>
                    <a:pt x="257683" y="31750"/>
                  </a:lnTo>
                  <a:lnTo>
                    <a:pt x="194183" y="0"/>
                  </a:lnTo>
                  <a:close/>
                </a:path>
                <a:path w="270509" h="76200">
                  <a:moveTo>
                    <a:pt x="194183" y="31750"/>
                  </a:moveTo>
                  <a:lnTo>
                    <a:pt x="2794" y="31750"/>
                  </a:lnTo>
                  <a:lnTo>
                    <a:pt x="0" y="34543"/>
                  </a:lnTo>
                  <a:lnTo>
                    <a:pt x="0" y="41655"/>
                  </a:lnTo>
                  <a:lnTo>
                    <a:pt x="2794" y="44450"/>
                  </a:lnTo>
                  <a:lnTo>
                    <a:pt x="194183" y="44450"/>
                  </a:lnTo>
                  <a:lnTo>
                    <a:pt x="194183" y="31750"/>
                  </a:lnTo>
                  <a:close/>
                </a:path>
                <a:path w="270509" h="76200">
                  <a:moveTo>
                    <a:pt x="257683" y="31750"/>
                  </a:moveTo>
                  <a:lnTo>
                    <a:pt x="210312" y="31750"/>
                  </a:lnTo>
                  <a:lnTo>
                    <a:pt x="213233" y="34543"/>
                  </a:lnTo>
                  <a:lnTo>
                    <a:pt x="213233" y="41655"/>
                  </a:lnTo>
                  <a:lnTo>
                    <a:pt x="210312" y="44450"/>
                  </a:lnTo>
                  <a:lnTo>
                    <a:pt x="257683" y="44450"/>
                  </a:lnTo>
                  <a:lnTo>
                    <a:pt x="270383" y="38100"/>
                  </a:lnTo>
                  <a:lnTo>
                    <a:pt x="257683" y="3175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243571" y="3113531"/>
              <a:ext cx="361315" cy="0"/>
            </a:xfrm>
            <a:custGeom>
              <a:avLst/>
              <a:gdLst/>
              <a:ahLst/>
              <a:cxnLst/>
              <a:rect l="l" t="t" r="r" b="b"/>
              <a:pathLst>
                <a:path w="361315">
                  <a:moveTo>
                    <a:pt x="360933" y="0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90C2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7140" y="1441665"/>
            <a:ext cx="5715000" cy="2450592"/>
          </a:xfrm>
          <a:prstGeom prst="rect">
            <a:avLst/>
          </a:prstGeom>
        </p:spPr>
      </p:pic>
      <p:pic>
        <p:nvPicPr>
          <p:cNvPr id="25" name="Immagine 24">
            <a:extLst>
              <a:ext uri="{FF2B5EF4-FFF2-40B4-BE49-F238E27FC236}">
                <a16:creationId xmlns:a16="http://schemas.microsoft.com/office/drawing/2014/main" id="{9B735285-64F7-FE1C-7AFE-9E5906CFD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300" y="4190961"/>
            <a:ext cx="75946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441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15" dirty="0"/>
              <a:t> </a:t>
            </a:r>
            <a:r>
              <a:rPr dirty="0"/>
              <a:t>to</a:t>
            </a:r>
            <a:r>
              <a:rPr spc="-5" dirty="0"/>
              <a:t> </a:t>
            </a:r>
            <a:r>
              <a:rPr dirty="0"/>
              <a:t>compare</a:t>
            </a:r>
            <a:r>
              <a:rPr spc="-15" dirty="0"/>
              <a:t> </a:t>
            </a:r>
            <a:r>
              <a:rPr dirty="0"/>
              <a:t>hypothesis</a:t>
            </a:r>
            <a:r>
              <a:rPr spc="-10" dirty="0"/>
              <a:t> spaces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1820113"/>
            <a:ext cx="14554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Evaluation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of: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6310" y="2221484"/>
            <a:ext cx="5499100" cy="975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spc="-20" dirty="0">
                <a:solidFill>
                  <a:srgbClr val="90C225"/>
                </a:solidFill>
                <a:latin typeface="Trebuchet MS"/>
                <a:cs typeface="Trebuchet MS"/>
              </a:rPr>
              <a:t>Bias</a:t>
            </a:r>
            <a:endParaRPr sz="18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</a:pPr>
            <a:r>
              <a:rPr sz="1800" dirty="0">
                <a:latin typeface="Trebuchet MS"/>
                <a:cs typeface="Trebuchet MS"/>
              </a:rPr>
              <a:t>tendency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of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Cambria Math"/>
                <a:cs typeface="Cambria Math"/>
              </a:rPr>
              <a:t>ℎ</a:t>
            </a:r>
            <a:r>
              <a:rPr sz="1800" spc="125" dirty="0">
                <a:latin typeface="Cambria Math"/>
                <a:cs typeface="Cambria Math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deviate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from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expected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value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spc="-10" dirty="0">
                <a:solidFill>
                  <a:srgbClr val="90C225"/>
                </a:solidFill>
                <a:latin typeface="Trebuchet MS"/>
                <a:cs typeface="Trebuchet MS"/>
              </a:rPr>
              <a:t>Variance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288023" y="2482595"/>
            <a:ext cx="1579245" cy="637540"/>
            <a:chOff x="6288023" y="2482595"/>
            <a:chExt cx="1579245" cy="637540"/>
          </a:xfrm>
        </p:grpSpPr>
        <p:sp>
          <p:nvSpPr>
            <p:cNvPr id="6" name="object 6"/>
            <p:cNvSpPr/>
            <p:nvPr/>
          </p:nvSpPr>
          <p:spPr>
            <a:xfrm>
              <a:off x="6288023" y="2488691"/>
              <a:ext cx="1315720" cy="626110"/>
            </a:xfrm>
            <a:custGeom>
              <a:avLst/>
              <a:gdLst/>
              <a:ahLst/>
              <a:cxnLst/>
              <a:rect l="l" t="t" r="r" b="b"/>
              <a:pathLst>
                <a:path w="1315720" h="626110">
                  <a:moveTo>
                    <a:pt x="0" y="0"/>
                  </a:moveTo>
                  <a:lnTo>
                    <a:pt x="1315466" y="0"/>
                  </a:lnTo>
                </a:path>
                <a:path w="1315720" h="626110">
                  <a:moveTo>
                    <a:pt x="1315211" y="0"/>
                  </a:moveTo>
                  <a:lnTo>
                    <a:pt x="1315211" y="625602"/>
                  </a:lnTo>
                </a:path>
              </a:pathLst>
            </a:custGeom>
            <a:ln w="12192">
              <a:solidFill>
                <a:srgbClr val="90C2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96885" y="2787395"/>
              <a:ext cx="270510" cy="76200"/>
            </a:xfrm>
            <a:custGeom>
              <a:avLst/>
              <a:gdLst/>
              <a:ahLst/>
              <a:cxnLst/>
              <a:rect l="l" t="t" r="r" b="b"/>
              <a:pathLst>
                <a:path w="270509" h="76200">
                  <a:moveTo>
                    <a:pt x="194183" y="0"/>
                  </a:moveTo>
                  <a:lnTo>
                    <a:pt x="194183" y="76200"/>
                  </a:lnTo>
                  <a:lnTo>
                    <a:pt x="257683" y="44450"/>
                  </a:lnTo>
                  <a:lnTo>
                    <a:pt x="210312" y="44450"/>
                  </a:lnTo>
                  <a:lnTo>
                    <a:pt x="213233" y="41655"/>
                  </a:lnTo>
                  <a:lnTo>
                    <a:pt x="213233" y="34543"/>
                  </a:lnTo>
                  <a:lnTo>
                    <a:pt x="210312" y="31750"/>
                  </a:lnTo>
                  <a:lnTo>
                    <a:pt x="257683" y="31750"/>
                  </a:lnTo>
                  <a:lnTo>
                    <a:pt x="194183" y="0"/>
                  </a:lnTo>
                  <a:close/>
                </a:path>
                <a:path w="270509" h="76200">
                  <a:moveTo>
                    <a:pt x="194183" y="31750"/>
                  </a:moveTo>
                  <a:lnTo>
                    <a:pt x="2794" y="31750"/>
                  </a:lnTo>
                  <a:lnTo>
                    <a:pt x="0" y="34543"/>
                  </a:lnTo>
                  <a:lnTo>
                    <a:pt x="0" y="41655"/>
                  </a:lnTo>
                  <a:lnTo>
                    <a:pt x="2794" y="44450"/>
                  </a:lnTo>
                  <a:lnTo>
                    <a:pt x="194183" y="44450"/>
                  </a:lnTo>
                  <a:lnTo>
                    <a:pt x="194183" y="31750"/>
                  </a:lnTo>
                  <a:close/>
                </a:path>
                <a:path w="270509" h="76200">
                  <a:moveTo>
                    <a:pt x="257683" y="31750"/>
                  </a:moveTo>
                  <a:lnTo>
                    <a:pt x="210312" y="31750"/>
                  </a:lnTo>
                  <a:lnTo>
                    <a:pt x="213233" y="34543"/>
                  </a:lnTo>
                  <a:lnTo>
                    <a:pt x="213233" y="41655"/>
                  </a:lnTo>
                  <a:lnTo>
                    <a:pt x="210312" y="44450"/>
                  </a:lnTo>
                  <a:lnTo>
                    <a:pt x="257683" y="44450"/>
                  </a:lnTo>
                  <a:lnTo>
                    <a:pt x="270383" y="38100"/>
                  </a:lnTo>
                  <a:lnTo>
                    <a:pt x="257683" y="3175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243571" y="3113531"/>
              <a:ext cx="361315" cy="0"/>
            </a:xfrm>
            <a:custGeom>
              <a:avLst/>
              <a:gdLst/>
              <a:ahLst/>
              <a:cxnLst/>
              <a:rect l="l" t="t" r="r" b="b"/>
              <a:pathLst>
                <a:path w="361315">
                  <a:moveTo>
                    <a:pt x="360933" y="0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90C2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947786" y="2366213"/>
            <a:ext cx="1809114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90C225"/>
                </a:solidFill>
                <a:latin typeface="Trebuchet MS"/>
                <a:cs typeface="Trebuchet MS"/>
              </a:rPr>
              <a:t>Tradeoff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rebuchet MS"/>
                <a:cs typeface="Trebuchet MS"/>
              </a:rPr>
              <a:t>Bias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variance </a:t>
            </a:r>
            <a:r>
              <a:rPr sz="1800" dirty="0">
                <a:latin typeface="Trebuchet MS"/>
                <a:cs typeface="Trebuchet MS"/>
              </a:rPr>
              <a:t>should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be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low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62171" y="3634740"/>
            <a:ext cx="5715000" cy="2450592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3655821" y="6238646"/>
            <a:ext cx="4523740" cy="76200"/>
          </a:xfrm>
          <a:custGeom>
            <a:avLst/>
            <a:gdLst/>
            <a:ahLst/>
            <a:cxnLst/>
            <a:rect l="l" t="t" r="r" b="b"/>
            <a:pathLst>
              <a:path w="4523740" h="76200">
                <a:moveTo>
                  <a:pt x="4447412" y="0"/>
                </a:moveTo>
                <a:lnTo>
                  <a:pt x="4447285" y="76200"/>
                </a:lnTo>
                <a:lnTo>
                  <a:pt x="4511007" y="44488"/>
                </a:lnTo>
                <a:lnTo>
                  <a:pt x="4463542" y="44488"/>
                </a:lnTo>
                <a:lnTo>
                  <a:pt x="4466335" y="41656"/>
                </a:lnTo>
                <a:lnTo>
                  <a:pt x="4466335" y="34645"/>
                </a:lnTo>
                <a:lnTo>
                  <a:pt x="4463542" y="31788"/>
                </a:lnTo>
                <a:lnTo>
                  <a:pt x="4510588" y="31788"/>
                </a:lnTo>
                <a:lnTo>
                  <a:pt x="4447412" y="0"/>
                </a:lnTo>
                <a:close/>
              </a:path>
              <a:path w="4523740" h="76200">
                <a:moveTo>
                  <a:pt x="6350" y="21691"/>
                </a:moveTo>
                <a:lnTo>
                  <a:pt x="2781" y="21691"/>
                </a:lnTo>
                <a:lnTo>
                  <a:pt x="0" y="24523"/>
                </a:lnTo>
                <a:lnTo>
                  <a:pt x="0" y="31534"/>
                </a:lnTo>
                <a:lnTo>
                  <a:pt x="2806" y="34391"/>
                </a:lnTo>
                <a:lnTo>
                  <a:pt x="4463541" y="44488"/>
                </a:lnTo>
                <a:lnTo>
                  <a:pt x="4447338" y="44488"/>
                </a:lnTo>
                <a:lnTo>
                  <a:pt x="4447360" y="31788"/>
                </a:lnTo>
                <a:lnTo>
                  <a:pt x="4465595" y="31788"/>
                </a:lnTo>
                <a:lnTo>
                  <a:pt x="6350" y="21691"/>
                </a:lnTo>
                <a:close/>
              </a:path>
              <a:path w="4523740" h="76200">
                <a:moveTo>
                  <a:pt x="4510588" y="31788"/>
                </a:moveTo>
                <a:lnTo>
                  <a:pt x="4463542" y="31788"/>
                </a:lnTo>
                <a:lnTo>
                  <a:pt x="4466335" y="34645"/>
                </a:lnTo>
                <a:lnTo>
                  <a:pt x="4466335" y="41656"/>
                </a:lnTo>
                <a:lnTo>
                  <a:pt x="4463542" y="44488"/>
                </a:lnTo>
                <a:lnTo>
                  <a:pt x="4511007" y="44488"/>
                </a:lnTo>
                <a:lnTo>
                  <a:pt x="4523485" y="38277"/>
                </a:lnTo>
                <a:lnTo>
                  <a:pt x="4510588" y="31788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662171" y="6495288"/>
            <a:ext cx="4523740" cy="76200"/>
          </a:xfrm>
          <a:custGeom>
            <a:avLst/>
            <a:gdLst/>
            <a:ahLst/>
            <a:cxnLst/>
            <a:rect l="l" t="t" r="r" b="b"/>
            <a:pathLst>
              <a:path w="452374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59943" y="44450"/>
                </a:lnTo>
                <a:lnTo>
                  <a:pt x="57150" y="41605"/>
                </a:lnTo>
                <a:lnTo>
                  <a:pt x="57150" y="34594"/>
                </a:lnTo>
                <a:lnTo>
                  <a:pt x="59943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4523740" h="76200">
                <a:moveTo>
                  <a:pt x="76200" y="31750"/>
                </a:moveTo>
                <a:lnTo>
                  <a:pt x="59943" y="31750"/>
                </a:lnTo>
                <a:lnTo>
                  <a:pt x="57150" y="34594"/>
                </a:lnTo>
                <a:lnTo>
                  <a:pt x="57150" y="41605"/>
                </a:lnTo>
                <a:lnTo>
                  <a:pt x="59943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4523740" h="76200">
                <a:moveTo>
                  <a:pt x="4520692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4520692" y="44450"/>
                </a:lnTo>
                <a:lnTo>
                  <a:pt x="4523612" y="41605"/>
                </a:lnTo>
                <a:lnTo>
                  <a:pt x="4523612" y="34594"/>
                </a:lnTo>
                <a:lnTo>
                  <a:pt x="4520692" y="31750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387842" y="6120790"/>
            <a:ext cx="899160" cy="555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85"/>
              </a:lnSpc>
              <a:spcBef>
                <a:spcPts val="100"/>
              </a:spcBef>
            </a:pPr>
            <a:r>
              <a:rPr sz="1800" spc="-20" dirty="0">
                <a:solidFill>
                  <a:srgbClr val="90C225"/>
                </a:solidFill>
                <a:latin typeface="Trebuchet MS"/>
                <a:cs typeface="Trebuchet MS"/>
              </a:rPr>
              <a:t>Variance</a:t>
            </a:r>
            <a:endParaRPr sz="1800">
              <a:latin typeface="Trebuchet MS"/>
              <a:cs typeface="Trebuchet MS"/>
            </a:endParaRPr>
          </a:p>
          <a:p>
            <a:pPr marL="38735">
              <a:lnSpc>
                <a:spcPts val="2085"/>
              </a:lnSpc>
            </a:pPr>
            <a:r>
              <a:rPr sz="1800" spc="-20" dirty="0">
                <a:solidFill>
                  <a:srgbClr val="90C225"/>
                </a:solidFill>
                <a:latin typeface="Trebuchet MS"/>
                <a:cs typeface="Trebuchet MS"/>
              </a:rPr>
              <a:t>Bias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76299" y="4505705"/>
            <a:ext cx="36322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25" dirty="0">
                <a:latin typeface="Cambria Math"/>
                <a:cs typeface="Cambria Math"/>
              </a:rPr>
              <a:t>ℎ∈𝐻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129789" y="4325365"/>
            <a:ext cx="835025" cy="212090"/>
          </a:xfrm>
          <a:custGeom>
            <a:avLst/>
            <a:gdLst/>
            <a:ahLst/>
            <a:cxnLst/>
            <a:rect l="l" t="t" r="r" b="b"/>
            <a:pathLst>
              <a:path w="835025" h="212089">
                <a:moveTo>
                  <a:pt x="250317" y="1523"/>
                </a:moveTo>
                <a:lnTo>
                  <a:pt x="233045" y="1523"/>
                </a:lnTo>
                <a:lnTo>
                  <a:pt x="233045" y="209295"/>
                </a:lnTo>
                <a:lnTo>
                  <a:pt x="250317" y="209295"/>
                </a:lnTo>
                <a:lnTo>
                  <a:pt x="250317" y="1523"/>
                </a:lnTo>
                <a:close/>
              </a:path>
              <a:path w="835025" h="212089">
                <a:moveTo>
                  <a:pt x="67564" y="0"/>
                </a:moveTo>
                <a:lnTo>
                  <a:pt x="27219" y="24110"/>
                </a:lnTo>
                <a:lnTo>
                  <a:pt x="4381" y="68595"/>
                </a:lnTo>
                <a:lnTo>
                  <a:pt x="0" y="105917"/>
                </a:lnTo>
                <a:lnTo>
                  <a:pt x="989" y="123517"/>
                </a:lnTo>
                <a:lnTo>
                  <a:pt x="1093" y="125370"/>
                </a:lnTo>
                <a:lnTo>
                  <a:pt x="17399" y="174751"/>
                </a:lnTo>
                <a:lnTo>
                  <a:pt x="52153" y="206184"/>
                </a:lnTo>
                <a:lnTo>
                  <a:pt x="67564" y="211708"/>
                </a:lnTo>
                <a:lnTo>
                  <a:pt x="70231" y="203199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63"/>
                </a:lnTo>
                <a:lnTo>
                  <a:pt x="19351" y="105917"/>
                </a:lnTo>
                <a:lnTo>
                  <a:pt x="19304" y="104774"/>
                </a:lnTo>
                <a:lnTo>
                  <a:pt x="26376" y="55429"/>
                </a:lnTo>
                <a:lnTo>
                  <a:pt x="47863" y="21304"/>
                </a:lnTo>
                <a:lnTo>
                  <a:pt x="70612" y="8635"/>
                </a:lnTo>
                <a:lnTo>
                  <a:pt x="67564" y="0"/>
                </a:lnTo>
                <a:close/>
              </a:path>
              <a:path w="835025" h="212089">
                <a:moveTo>
                  <a:pt x="767461" y="0"/>
                </a:moveTo>
                <a:lnTo>
                  <a:pt x="764413" y="8635"/>
                </a:lnTo>
                <a:lnTo>
                  <a:pt x="776698" y="13946"/>
                </a:lnTo>
                <a:lnTo>
                  <a:pt x="787257" y="21304"/>
                </a:lnTo>
                <a:lnTo>
                  <a:pt x="808648" y="55429"/>
                </a:lnTo>
                <a:lnTo>
                  <a:pt x="815721" y="104774"/>
                </a:lnTo>
                <a:lnTo>
                  <a:pt x="814935" y="123517"/>
                </a:lnTo>
                <a:lnTo>
                  <a:pt x="803148" y="169290"/>
                </a:lnTo>
                <a:lnTo>
                  <a:pt x="776841" y="197865"/>
                </a:lnTo>
                <a:lnTo>
                  <a:pt x="764794" y="203199"/>
                </a:lnTo>
                <a:lnTo>
                  <a:pt x="767461" y="211708"/>
                </a:lnTo>
                <a:lnTo>
                  <a:pt x="807930" y="187705"/>
                </a:lnTo>
                <a:lnTo>
                  <a:pt x="830659" y="143335"/>
                </a:lnTo>
                <a:lnTo>
                  <a:pt x="835025" y="105917"/>
                </a:lnTo>
                <a:lnTo>
                  <a:pt x="833940" y="86723"/>
                </a:lnTo>
                <a:lnTo>
                  <a:pt x="833929" y="86536"/>
                </a:lnTo>
                <a:lnTo>
                  <a:pt x="817499" y="37083"/>
                </a:lnTo>
                <a:lnTo>
                  <a:pt x="782816" y="5544"/>
                </a:lnTo>
                <a:lnTo>
                  <a:pt x="7674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45109" y="3170631"/>
            <a:ext cx="6816090" cy="1384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675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amount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of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change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in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Cambria Math"/>
                <a:cs typeface="Cambria Math"/>
              </a:rPr>
              <a:t>ℎ</a:t>
            </a:r>
            <a:r>
              <a:rPr sz="1800" spc="140" dirty="0">
                <a:latin typeface="Cambria Math"/>
                <a:cs typeface="Cambria Math"/>
              </a:rPr>
              <a:t> </a:t>
            </a:r>
            <a:r>
              <a:rPr sz="1800" dirty="0">
                <a:latin typeface="Trebuchet MS"/>
                <a:cs typeface="Trebuchet MS"/>
              </a:rPr>
              <a:t>due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variation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of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training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data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800">
              <a:latin typeface="Trebuchet MS"/>
              <a:cs typeface="Trebuchet MS"/>
            </a:endParaRPr>
          </a:p>
          <a:p>
            <a:pPr marL="50800">
              <a:lnSpc>
                <a:spcPts val="2140"/>
              </a:lnSpc>
            </a:pPr>
            <a:r>
              <a:rPr sz="1800" dirty="0">
                <a:latin typeface="Trebuchet MS"/>
                <a:cs typeface="Trebuchet MS"/>
              </a:rPr>
              <a:t>In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Cambria Math"/>
                <a:cs typeface="Cambria Math"/>
              </a:rPr>
              <a:t>𝐻</a:t>
            </a:r>
            <a:r>
              <a:rPr sz="1800" spc="175" dirty="0">
                <a:latin typeface="Cambria Math"/>
                <a:cs typeface="Cambria Math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most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probable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Cambria Math"/>
                <a:cs typeface="Cambria Math"/>
              </a:rPr>
              <a:t>ℎ</a:t>
            </a:r>
            <a:r>
              <a:rPr sz="1800" spc="15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is</a:t>
            </a:r>
            <a:endParaRPr sz="1800">
              <a:latin typeface="Trebuchet MS"/>
              <a:cs typeface="Trebuchet MS"/>
            </a:endParaRPr>
          </a:p>
          <a:p>
            <a:pPr marL="228600">
              <a:lnSpc>
                <a:spcPts val="2140"/>
              </a:lnSpc>
              <a:tabLst>
                <a:tab pos="2741930" algn="l"/>
              </a:tabLst>
            </a:pPr>
            <a:r>
              <a:rPr sz="1800" dirty="0">
                <a:latin typeface="Cambria Math"/>
                <a:cs typeface="Cambria Math"/>
              </a:rPr>
              <a:t>ℎ</a:t>
            </a:r>
            <a:r>
              <a:rPr sz="1950" baseline="27777" dirty="0">
                <a:latin typeface="Cambria Math"/>
                <a:cs typeface="Cambria Math"/>
              </a:rPr>
              <a:t>∗</a:t>
            </a:r>
            <a:r>
              <a:rPr sz="1950" spc="412" baseline="2777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2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argmax</a:t>
            </a:r>
            <a:r>
              <a:rPr sz="1800" spc="-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ℎ</a:t>
            </a:r>
            <a:r>
              <a:rPr sz="1800" spc="225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𝑑𝑎𝑡𝑎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10280" y="4455414"/>
            <a:ext cx="52260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55" dirty="0">
                <a:latin typeface="Cambria Math"/>
                <a:cs typeface="Cambria Math"/>
              </a:rPr>
              <a:t>𝐵𝑎𝑦𝑒𝑠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844801" y="4733797"/>
            <a:ext cx="835025" cy="212090"/>
          </a:xfrm>
          <a:custGeom>
            <a:avLst/>
            <a:gdLst/>
            <a:ahLst/>
            <a:cxnLst/>
            <a:rect l="l" t="t" r="r" b="b"/>
            <a:pathLst>
              <a:path w="835025" h="212089">
                <a:moveTo>
                  <a:pt x="602361" y="1524"/>
                </a:moveTo>
                <a:lnTo>
                  <a:pt x="585089" y="1524"/>
                </a:lnTo>
                <a:lnTo>
                  <a:pt x="585089" y="209295"/>
                </a:lnTo>
                <a:lnTo>
                  <a:pt x="602361" y="209295"/>
                </a:lnTo>
                <a:lnTo>
                  <a:pt x="602361" y="1524"/>
                </a:lnTo>
                <a:close/>
              </a:path>
              <a:path w="835025" h="212089">
                <a:moveTo>
                  <a:pt x="767461" y="0"/>
                </a:moveTo>
                <a:lnTo>
                  <a:pt x="764413" y="8635"/>
                </a:lnTo>
                <a:lnTo>
                  <a:pt x="776698" y="13946"/>
                </a:lnTo>
                <a:lnTo>
                  <a:pt x="787257" y="21304"/>
                </a:lnTo>
                <a:lnTo>
                  <a:pt x="808648" y="55429"/>
                </a:lnTo>
                <a:lnTo>
                  <a:pt x="815721" y="104775"/>
                </a:lnTo>
                <a:lnTo>
                  <a:pt x="814935" y="123517"/>
                </a:lnTo>
                <a:lnTo>
                  <a:pt x="803148" y="169290"/>
                </a:lnTo>
                <a:lnTo>
                  <a:pt x="776841" y="197865"/>
                </a:lnTo>
                <a:lnTo>
                  <a:pt x="764794" y="203200"/>
                </a:lnTo>
                <a:lnTo>
                  <a:pt x="767461" y="211708"/>
                </a:lnTo>
                <a:lnTo>
                  <a:pt x="807930" y="187706"/>
                </a:lnTo>
                <a:lnTo>
                  <a:pt x="830659" y="143335"/>
                </a:lnTo>
                <a:lnTo>
                  <a:pt x="835025" y="105918"/>
                </a:lnTo>
                <a:lnTo>
                  <a:pt x="833940" y="86723"/>
                </a:lnTo>
                <a:lnTo>
                  <a:pt x="833929" y="86536"/>
                </a:lnTo>
                <a:lnTo>
                  <a:pt x="817499" y="37083"/>
                </a:lnTo>
                <a:lnTo>
                  <a:pt x="782816" y="5544"/>
                </a:lnTo>
                <a:lnTo>
                  <a:pt x="767461" y="0"/>
                </a:lnTo>
                <a:close/>
              </a:path>
              <a:path w="835025" h="212089">
                <a:moveTo>
                  <a:pt x="67564" y="0"/>
                </a:moveTo>
                <a:lnTo>
                  <a:pt x="27219" y="24110"/>
                </a:lnTo>
                <a:lnTo>
                  <a:pt x="4381" y="68595"/>
                </a:lnTo>
                <a:lnTo>
                  <a:pt x="0" y="105918"/>
                </a:lnTo>
                <a:lnTo>
                  <a:pt x="989" y="123517"/>
                </a:lnTo>
                <a:lnTo>
                  <a:pt x="17399" y="174751"/>
                </a:lnTo>
                <a:lnTo>
                  <a:pt x="52153" y="206184"/>
                </a:lnTo>
                <a:lnTo>
                  <a:pt x="67564" y="211708"/>
                </a:lnTo>
                <a:lnTo>
                  <a:pt x="70231" y="203200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63"/>
                </a:lnTo>
                <a:lnTo>
                  <a:pt x="19351" y="105918"/>
                </a:lnTo>
                <a:lnTo>
                  <a:pt x="19304" y="104775"/>
                </a:lnTo>
                <a:lnTo>
                  <a:pt x="26376" y="55429"/>
                </a:lnTo>
                <a:lnTo>
                  <a:pt x="47863" y="21304"/>
                </a:lnTo>
                <a:lnTo>
                  <a:pt x="70612" y="8635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3209" y="4664202"/>
            <a:ext cx="2698115" cy="984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0">
              <a:lnSpc>
                <a:spcPts val="2075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argmax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4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𝑑𝑎𝑡𝑎</a:t>
            </a:r>
            <a:r>
              <a:rPr sz="1800" spc="2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ℎ</a:t>
            </a:r>
            <a:r>
              <a:rPr sz="1800" spc="375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𝑃(ℎ)</a:t>
            </a:r>
            <a:endParaRPr sz="1800">
              <a:latin typeface="Cambria Math"/>
              <a:cs typeface="Cambria Math"/>
            </a:endParaRPr>
          </a:p>
          <a:p>
            <a:pPr marL="620395">
              <a:lnSpc>
                <a:spcPts val="1315"/>
              </a:lnSpc>
            </a:pPr>
            <a:r>
              <a:rPr sz="1300" spc="25" dirty="0">
                <a:latin typeface="Cambria Math"/>
                <a:cs typeface="Cambria Math"/>
              </a:rPr>
              <a:t>ℎ∈𝐻</a:t>
            </a:r>
            <a:endParaRPr sz="1300">
              <a:latin typeface="Cambria Math"/>
              <a:cs typeface="Cambria Math"/>
            </a:endParaRPr>
          </a:p>
          <a:p>
            <a:pPr marL="12700">
              <a:lnSpc>
                <a:spcPts val="2000"/>
              </a:lnSpc>
            </a:pPr>
            <a:r>
              <a:rPr sz="1800" dirty="0">
                <a:latin typeface="Trebuchet MS"/>
                <a:cs typeface="Trebuchet MS"/>
              </a:rPr>
              <a:t>Where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dirty="0">
                <a:latin typeface="Cambria Math"/>
                <a:cs typeface="Cambria Math"/>
              </a:rPr>
              <a:t>𝑃(ℎ)</a:t>
            </a:r>
            <a:r>
              <a:rPr sz="1800" spc="125" dirty="0">
                <a:latin typeface="Cambria Math"/>
                <a:cs typeface="Cambria Math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90C225"/>
                </a:solidFill>
                <a:latin typeface="Trebuchet MS"/>
                <a:cs typeface="Trebuchet MS"/>
              </a:rPr>
              <a:t>prior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90C225"/>
                </a:solidFill>
                <a:latin typeface="Trebuchet MS"/>
                <a:cs typeface="Trebuchet MS"/>
              </a:rPr>
              <a:t>probability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76600" y="1174750"/>
            <a:ext cx="5681935" cy="507364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Example: Spam Filter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447800"/>
            <a:ext cx="6553200" cy="50292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400" dirty="0"/>
              <a:t>Input: an email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Output: spam/ham (</a:t>
            </a:r>
            <a:r>
              <a:rPr lang="it-IT" sz="1600" b="0" i="0" dirty="0" err="1">
                <a:solidFill>
                  <a:srgbClr val="040C28"/>
                </a:solidFill>
                <a:effectLst/>
                <a:latin typeface="Google Sans"/>
              </a:rPr>
              <a:t>Ham</a:t>
            </a:r>
            <a:r>
              <a:rPr lang="it-IT" sz="1600" b="0" i="0" dirty="0">
                <a:solidFill>
                  <a:srgbClr val="040C28"/>
                </a:solidFill>
                <a:effectLst/>
                <a:latin typeface="Google Sans"/>
              </a:rPr>
              <a:t> </a:t>
            </a:r>
            <a:r>
              <a:rPr lang="it-IT" sz="1600" b="0" i="0" dirty="0" err="1">
                <a:solidFill>
                  <a:srgbClr val="040C28"/>
                </a:solidFill>
                <a:effectLst/>
                <a:latin typeface="Google Sans"/>
              </a:rPr>
              <a:t>messages</a:t>
            </a:r>
            <a:r>
              <a:rPr lang="it-IT" sz="1600" b="0" i="0" dirty="0">
                <a:solidFill>
                  <a:srgbClr val="040C28"/>
                </a:solidFill>
                <a:effectLst/>
                <a:latin typeface="Google Sans"/>
              </a:rPr>
              <a:t> are the </a:t>
            </a:r>
            <a:r>
              <a:rPr lang="it-IT" sz="1600" b="0" i="0" dirty="0" err="1">
                <a:solidFill>
                  <a:srgbClr val="040C28"/>
                </a:solidFill>
                <a:effectLst/>
                <a:latin typeface="Google Sans"/>
              </a:rPr>
              <a:t>intended</a:t>
            </a:r>
            <a:r>
              <a:rPr lang="it-IT" sz="1600" b="0" i="0" dirty="0">
                <a:solidFill>
                  <a:srgbClr val="040C28"/>
                </a:solidFill>
                <a:effectLst/>
                <a:latin typeface="Google Sans"/>
              </a:rPr>
              <a:t> or safe </a:t>
            </a:r>
            <a:r>
              <a:rPr lang="it-IT" sz="1600" b="0" i="0" dirty="0" err="1">
                <a:solidFill>
                  <a:srgbClr val="040C28"/>
                </a:solidFill>
                <a:effectLst/>
                <a:latin typeface="Google Sans"/>
              </a:rPr>
              <a:t>legitimate</a:t>
            </a:r>
            <a:r>
              <a:rPr lang="it-IT" sz="1600" b="0" i="0" dirty="0">
                <a:solidFill>
                  <a:srgbClr val="040C28"/>
                </a:solidFill>
                <a:effectLst/>
                <a:latin typeface="Google Sans"/>
              </a:rPr>
              <a:t> </a:t>
            </a:r>
            <a:r>
              <a:rPr lang="it-IT" sz="1600" b="0" i="0" dirty="0" err="1">
                <a:solidFill>
                  <a:srgbClr val="040C28"/>
                </a:solidFill>
                <a:effectLst/>
                <a:latin typeface="Google Sans"/>
              </a:rPr>
              <a:t>messages</a:t>
            </a:r>
            <a:r>
              <a:rPr lang="it-IT" sz="1600" b="0" i="0" dirty="0">
                <a:solidFill>
                  <a:srgbClr val="040C28"/>
                </a:solidFill>
                <a:effectLst/>
                <a:latin typeface="Google Sans"/>
              </a:rPr>
              <a:t> in a mailbox; </a:t>
            </a:r>
            <a:r>
              <a:rPr lang="it-IT" sz="1600" b="0" i="0" dirty="0" err="1">
                <a:solidFill>
                  <a:srgbClr val="040C28"/>
                </a:solidFill>
                <a:effectLst/>
                <a:latin typeface="Google Sans"/>
              </a:rPr>
              <a:t>whereas</a:t>
            </a:r>
            <a:r>
              <a:rPr lang="it-IT" sz="1600" b="0" i="0" dirty="0">
                <a:solidFill>
                  <a:srgbClr val="040C28"/>
                </a:solidFill>
                <a:effectLst/>
                <a:latin typeface="Google Sans"/>
              </a:rPr>
              <a:t> Spam </a:t>
            </a:r>
            <a:r>
              <a:rPr lang="it-IT" sz="1600" b="0" i="0" dirty="0" err="1">
                <a:solidFill>
                  <a:srgbClr val="040C28"/>
                </a:solidFill>
                <a:effectLst/>
                <a:latin typeface="Google Sans"/>
              </a:rPr>
              <a:t>messages</a:t>
            </a:r>
            <a:r>
              <a:rPr lang="it-IT" sz="1600" b="0" i="0" dirty="0">
                <a:solidFill>
                  <a:srgbClr val="040C28"/>
                </a:solidFill>
                <a:effectLst/>
                <a:latin typeface="Google Sans"/>
              </a:rPr>
              <a:t> are the junk, </a:t>
            </a:r>
            <a:r>
              <a:rPr lang="it-IT" sz="1600" b="0" i="0" dirty="0" err="1">
                <a:solidFill>
                  <a:srgbClr val="040C28"/>
                </a:solidFill>
                <a:effectLst/>
                <a:latin typeface="Google Sans"/>
              </a:rPr>
              <a:t>unsolicited</a:t>
            </a:r>
            <a:r>
              <a:rPr lang="it-IT" sz="1600" b="0" i="0" dirty="0">
                <a:solidFill>
                  <a:srgbClr val="040C28"/>
                </a:solidFill>
                <a:effectLst/>
                <a:latin typeface="Google Sans"/>
              </a:rPr>
              <a:t> bulk or commercial </a:t>
            </a:r>
            <a:r>
              <a:rPr lang="it-IT" sz="1600" b="0" i="0" dirty="0" err="1">
                <a:solidFill>
                  <a:srgbClr val="040C28"/>
                </a:solidFill>
                <a:effectLst/>
                <a:latin typeface="Google Sans"/>
              </a:rPr>
              <a:t>messages</a:t>
            </a:r>
            <a:r>
              <a:rPr lang="it-IT" sz="1600" b="0" i="0" dirty="0">
                <a:solidFill>
                  <a:srgbClr val="040C28"/>
                </a:solidFill>
                <a:effectLst/>
                <a:latin typeface="Google Sans"/>
              </a:rPr>
              <a:t> in the mailbox)</a:t>
            </a:r>
            <a:endParaRPr lang="en-US" sz="2400" dirty="0"/>
          </a:p>
          <a:p>
            <a:pPr lvl="1">
              <a:lnSpc>
                <a:spcPct val="80000"/>
              </a:lnSpc>
            </a:pPr>
            <a:endParaRPr lang="en-US" sz="2000" dirty="0"/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Setup: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Get a large collection of example emails, each labeled “spam” or “ham”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Note: someone has to hand label all this data!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Want to learn to predict labels of new, future emails</a:t>
            </a:r>
          </a:p>
          <a:p>
            <a:pPr lvl="1">
              <a:lnSpc>
                <a:spcPct val="80000"/>
              </a:lnSpc>
            </a:pPr>
            <a:endParaRPr lang="en-US" sz="2000" dirty="0"/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Features: The attributes used to make the ham / spam decision</a:t>
            </a:r>
            <a:endParaRPr lang="en-US" sz="2000" dirty="0"/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Words: FREE!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Text Patterns: $</a:t>
            </a:r>
            <a:r>
              <a:rPr lang="en-US" sz="2000" dirty="0" err="1"/>
              <a:t>dd</a:t>
            </a:r>
            <a:r>
              <a:rPr lang="en-US" sz="2000" dirty="0"/>
              <a:t>, CAPS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Non-text: </a:t>
            </a:r>
            <a:r>
              <a:rPr lang="en-US" sz="2000" dirty="0" err="1"/>
              <a:t>SenderInContacts</a:t>
            </a:r>
            <a:r>
              <a:rPr lang="en-US" sz="2000" dirty="0"/>
              <a:t>, </a:t>
            </a:r>
            <a:r>
              <a:rPr lang="en-US" sz="2000" dirty="0" err="1"/>
              <a:t>WidelyBroadcast</a:t>
            </a:r>
            <a:endParaRPr lang="en-US" sz="2000" dirty="0"/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…</a:t>
            </a:r>
          </a:p>
          <a:p>
            <a:pPr lvl="1" eaLnBrk="1" hangingPunct="1">
              <a:lnSpc>
                <a:spcPct val="80000"/>
              </a:lnSpc>
            </a:pPr>
            <a:endParaRPr lang="en-US" sz="2000" dirty="0"/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8001000" y="1447800"/>
            <a:ext cx="3581400" cy="15696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>
                <a:latin typeface="Calibri"/>
                <a:cs typeface="Calibri"/>
              </a:rPr>
              <a:t>Dear Sir.</a:t>
            </a:r>
          </a:p>
          <a:p>
            <a:endParaRPr lang="en-US" sz="1600">
              <a:latin typeface="Calibri"/>
              <a:cs typeface="Calibri"/>
            </a:endParaRPr>
          </a:p>
          <a:p>
            <a:r>
              <a:rPr lang="en-US" sz="1600">
                <a:latin typeface="Calibri"/>
                <a:cs typeface="Calibri"/>
              </a:rPr>
              <a:t>First, I must solicit your confidence in this transaction, this is by virture of its nature as being utterly confidencial and top secret. …</a:t>
            </a:r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8001000" y="3048000"/>
            <a:ext cx="3505200" cy="181588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>
                <a:latin typeface="Calibri"/>
                <a:cs typeface="Calibri"/>
              </a:rPr>
              <a:t>TO BE REMOVED FROM FUTURE MAILINGS, SIMPLY REPLY TO THIS MESSAGE AND PUT "REMOVE" IN THE SUBJECT.</a:t>
            </a:r>
          </a:p>
          <a:p>
            <a:endParaRPr lang="en-US" sz="1600">
              <a:latin typeface="Calibri"/>
              <a:cs typeface="Calibri"/>
            </a:endParaRPr>
          </a:p>
          <a:p>
            <a:r>
              <a:rPr lang="en-US" sz="1600">
                <a:latin typeface="Calibri"/>
                <a:cs typeface="Calibri"/>
              </a:rPr>
              <a:t>99  MILLION EMAIL ADDRESSES</a:t>
            </a:r>
          </a:p>
          <a:p>
            <a:r>
              <a:rPr lang="en-US" sz="1600">
                <a:latin typeface="Calibri"/>
                <a:cs typeface="Calibri"/>
              </a:rPr>
              <a:t>  FOR ONLY $99</a:t>
            </a:r>
          </a:p>
        </p:txBody>
      </p:sp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8001000" y="4876800"/>
            <a:ext cx="3505200" cy="181588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>
                <a:latin typeface="Calibri"/>
                <a:cs typeface="Calibri"/>
              </a:rPr>
              <a:t>Ok, Iknow this is blatantly OT but I'm beginning to go insane. Had an old Dell Dimension XPS sitting in the corner and decided to put it to use, I know it was working pre being stuck in the corner, but when I plugged it in, hit the power nothing happened.</a:t>
            </a:r>
          </a:p>
        </p:txBody>
      </p:sp>
      <p:sp>
        <p:nvSpPr>
          <p:cNvPr id="1282055" name="Freeform 7"/>
          <p:cNvSpPr>
            <a:spLocks/>
          </p:cNvSpPr>
          <p:nvPr/>
        </p:nvSpPr>
        <p:spPr bwMode="auto">
          <a:xfrm>
            <a:off x="7061200" y="5334000"/>
            <a:ext cx="635000" cy="457200"/>
          </a:xfrm>
          <a:custGeom>
            <a:avLst/>
            <a:gdLst>
              <a:gd name="T0" fmla="*/ 2147483647 w 248"/>
              <a:gd name="T1" fmla="*/ 2147483647 h 144"/>
              <a:gd name="T2" fmla="*/ 2147483647 w 248"/>
              <a:gd name="T3" fmla="*/ 0 h 144"/>
              <a:gd name="T4" fmla="*/ 2147483647 w 248"/>
              <a:gd name="T5" fmla="*/ 2147483647 h 144"/>
              <a:gd name="T6" fmla="*/ 0 w 248"/>
              <a:gd name="T7" fmla="*/ 2147483647 h 144"/>
              <a:gd name="T8" fmla="*/ 2147483647 w 248"/>
              <a:gd name="T9" fmla="*/ 2147483647 h 1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8"/>
              <a:gd name="T16" fmla="*/ 0 h 144"/>
              <a:gd name="T17" fmla="*/ 248 w 248"/>
              <a:gd name="T18" fmla="*/ 144 h 14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8" h="144">
                <a:moveTo>
                  <a:pt x="77" y="144"/>
                </a:moveTo>
                <a:lnTo>
                  <a:pt x="248" y="0"/>
                </a:lnTo>
                <a:lnTo>
                  <a:pt x="86" y="94"/>
                </a:lnTo>
                <a:lnTo>
                  <a:pt x="0" y="51"/>
                </a:lnTo>
                <a:lnTo>
                  <a:pt x="77" y="144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82056" name="Freeform 8"/>
          <p:cNvSpPr>
            <a:spLocks/>
          </p:cNvSpPr>
          <p:nvPr/>
        </p:nvSpPr>
        <p:spPr bwMode="auto">
          <a:xfrm>
            <a:off x="7165975" y="1905000"/>
            <a:ext cx="454025" cy="457200"/>
          </a:xfrm>
          <a:custGeom>
            <a:avLst/>
            <a:gdLst>
              <a:gd name="T0" fmla="*/ 0 w 409"/>
              <a:gd name="T1" fmla="*/ 2147483647 h 412"/>
              <a:gd name="T2" fmla="*/ 2147483647 w 409"/>
              <a:gd name="T3" fmla="*/ 2147483647 h 412"/>
              <a:gd name="T4" fmla="*/ 2147483647 w 409"/>
              <a:gd name="T5" fmla="*/ 2147483647 h 412"/>
              <a:gd name="T6" fmla="*/ 2147483647 w 409"/>
              <a:gd name="T7" fmla="*/ 2147483647 h 412"/>
              <a:gd name="T8" fmla="*/ 2147483647 w 409"/>
              <a:gd name="T9" fmla="*/ 2147483647 h 412"/>
              <a:gd name="T10" fmla="*/ 2147483647 w 409"/>
              <a:gd name="T11" fmla="*/ 2147483647 h 412"/>
              <a:gd name="T12" fmla="*/ 2147483647 w 409"/>
              <a:gd name="T13" fmla="*/ 2147483647 h 412"/>
              <a:gd name="T14" fmla="*/ 2147483647 w 409"/>
              <a:gd name="T15" fmla="*/ 2147483647 h 412"/>
              <a:gd name="T16" fmla="*/ 2147483647 w 409"/>
              <a:gd name="T17" fmla="*/ 2147483647 h 412"/>
              <a:gd name="T18" fmla="*/ 2147483647 w 409"/>
              <a:gd name="T19" fmla="*/ 0 h 412"/>
              <a:gd name="T20" fmla="*/ 2147483647 w 409"/>
              <a:gd name="T21" fmla="*/ 2147483647 h 412"/>
              <a:gd name="T22" fmla="*/ 2147483647 w 409"/>
              <a:gd name="T23" fmla="*/ 0 h 412"/>
              <a:gd name="T24" fmla="*/ 0 w 409"/>
              <a:gd name="T25" fmla="*/ 2147483647 h 41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09"/>
              <a:gd name="T40" fmla="*/ 0 h 412"/>
              <a:gd name="T41" fmla="*/ 409 w 409"/>
              <a:gd name="T42" fmla="*/ 412 h 41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09" h="412">
                <a:moveTo>
                  <a:pt x="0" y="59"/>
                </a:moveTo>
                <a:lnTo>
                  <a:pt x="160" y="220"/>
                </a:lnTo>
                <a:lnTo>
                  <a:pt x="16" y="364"/>
                </a:lnTo>
                <a:lnTo>
                  <a:pt x="64" y="412"/>
                </a:lnTo>
                <a:lnTo>
                  <a:pt x="208" y="268"/>
                </a:lnTo>
                <a:lnTo>
                  <a:pt x="352" y="412"/>
                </a:lnTo>
                <a:lnTo>
                  <a:pt x="400" y="364"/>
                </a:lnTo>
                <a:lnTo>
                  <a:pt x="256" y="220"/>
                </a:lnTo>
                <a:lnTo>
                  <a:pt x="409" y="59"/>
                </a:lnTo>
                <a:lnTo>
                  <a:pt x="355" y="0"/>
                </a:lnTo>
                <a:lnTo>
                  <a:pt x="208" y="172"/>
                </a:lnTo>
                <a:lnTo>
                  <a:pt x="54" y="0"/>
                </a:lnTo>
                <a:lnTo>
                  <a:pt x="0" y="59"/>
                </a:lnTo>
                <a:close/>
              </a:path>
            </a:pathLst>
          </a:cu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82057" name="Freeform 9"/>
          <p:cNvSpPr>
            <a:spLocks/>
          </p:cNvSpPr>
          <p:nvPr/>
        </p:nvSpPr>
        <p:spPr bwMode="auto">
          <a:xfrm>
            <a:off x="7162800" y="3505200"/>
            <a:ext cx="454025" cy="457200"/>
          </a:xfrm>
          <a:custGeom>
            <a:avLst/>
            <a:gdLst>
              <a:gd name="T0" fmla="*/ 0 w 409"/>
              <a:gd name="T1" fmla="*/ 2147483647 h 412"/>
              <a:gd name="T2" fmla="*/ 2147483647 w 409"/>
              <a:gd name="T3" fmla="*/ 2147483647 h 412"/>
              <a:gd name="T4" fmla="*/ 2147483647 w 409"/>
              <a:gd name="T5" fmla="*/ 2147483647 h 412"/>
              <a:gd name="T6" fmla="*/ 2147483647 w 409"/>
              <a:gd name="T7" fmla="*/ 2147483647 h 412"/>
              <a:gd name="T8" fmla="*/ 2147483647 w 409"/>
              <a:gd name="T9" fmla="*/ 2147483647 h 412"/>
              <a:gd name="T10" fmla="*/ 2147483647 w 409"/>
              <a:gd name="T11" fmla="*/ 2147483647 h 412"/>
              <a:gd name="T12" fmla="*/ 2147483647 w 409"/>
              <a:gd name="T13" fmla="*/ 2147483647 h 412"/>
              <a:gd name="T14" fmla="*/ 2147483647 w 409"/>
              <a:gd name="T15" fmla="*/ 2147483647 h 412"/>
              <a:gd name="T16" fmla="*/ 2147483647 w 409"/>
              <a:gd name="T17" fmla="*/ 2147483647 h 412"/>
              <a:gd name="T18" fmla="*/ 2147483647 w 409"/>
              <a:gd name="T19" fmla="*/ 0 h 412"/>
              <a:gd name="T20" fmla="*/ 2147483647 w 409"/>
              <a:gd name="T21" fmla="*/ 2147483647 h 412"/>
              <a:gd name="T22" fmla="*/ 2147483647 w 409"/>
              <a:gd name="T23" fmla="*/ 0 h 412"/>
              <a:gd name="T24" fmla="*/ 0 w 409"/>
              <a:gd name="T25" fmla="*/ 2147483647 h 41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09"/>
              <a:gd name="T40" fmla="*/ 0 h 412"/>
              <a:gd name="T41" fmla="*/ 409 w 409"/>
              <a:gd name="T42" fmla="*/ 412 h 41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09" h="412">
                <a:moveTo>
                  <a:pt x="0" y="59"/>
                </a:moveTo>
                <a:lnTo>
                  <a:pt x="160" y="220"/>
                </a:lnTo>
                <a:lnTo>
                  <a:pt x="16" y="364"/>
                </a:lnTo>
                <a:lnTo>
                  <a:pt x="64" y="412"/>
                </a:lnTo>
                <a:lnTo>
                  <a:pt x="208" y="268"/>
                </a:lnTo>
                <a:lnTo>
                  <a:pt x="352" y="412"/>
                </a:lnTo>
                <a:lnTo>
                  <a:pt x="400" y="364"/>
                </a:lnTo>
                <a:lnTo>
                  <a:pt x="256" y="220"/>
                </a:lnTo>
                <a:lnTo>
                  <a:pt x="409" y="59"/>
                </a:lnTo>
                <a:lnTo>
                  <a:pt x="355" y="0"/>
                </a:lnTo>
                <a:lnTo>
                  <a:pt x="208" y="172"/>
                </a:lnTo>
                <a:lnTo>
                  <a:pt x="54" y="0"/>
                </a:lnTo>
                <a:lnTo>
                  <a:pt x="0" y="59"/>
                </a:lnTo>
                <a:close/>
              </a:path>
            </a:pathLst>
          </a:cu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2055" grpId="0" animBg="1"/>
      <p:bldP spid="1282056" grpId="0" animBg="1"/>
      <p:bldP spid="128205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/>
                <a:cs typeface="Calibri"/>
              </a:rPr>
              <a:t>Example: Digit Recognition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70037"/>
            <a:ext cx="8001000" cy="4525963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sz="2400" dirty="0">
                <a:latin typeface="Calibri"/>
                <a:cs typeface="Calibri"/>
              </a:rPr>
              <a:t>Input: images / pixel grids</a:t>
            </a:r>
          </a:p>
          <a:p>
            <a:pPr eaLnBrk="1" hangingPunct="1"/>
            <a:r>
              <a:rPr lang="en-US" sz="2400" dirty="0">
                <a:latin typeface="Calibri"/>
                <a:cs typeface="Calibri"/>
              </a:rPr>
              <a:t>Output: a digit 0-9</a:t>
            </a:r>
          </a:p>
          <a:p>
            <a:pPr eaLnBrk="1" hangingPunct="1"/>
            <a:endParaRPr lang="en-US" sz="2400" dirty="0">
              <a:latin typeface="Calibri"/>
              <a:cs typeface="Calibri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400" dirty="0">
                <a:latin typeface="Calibri"/>
                <a:cs typeface="Calibri"/>
              </a:rPr>
              <a:t>Setup: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>
                <a:latin typeface="Calibri"/>
                <a:cs typeface="Calibri"/>
              </a:rPr>
              <a:t>Get a large collection of example images, each labeled with a digit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>
                <a:latin typeface="Calibri"/>
                <a:cs typeface="Calibri"/>
              </a:rPr>
              <a:t>Note: someone has to hand label all this data!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>
                <a:latin typeface="Calibri"/>
                <a:cs typeface="Calibri"/>
              </a:rPr>
              <a:t>Want to learn to predict labels of new, future digit images</a:t>
            </a:r>
          </a:p>
          <a:p>
            <a:pPr lvl="1" eaLnBrk="1" hangingPunct="1">
              <a:lnSpc>
                <a:spcPct val="80000"/>
              </a:lnSpc>
            </a:pPr>
            <a:endParaRPr lang="en-US" sz="2000" dirty="0">
              <a:latin typeface="Calibri"/>
              <a:cs typeface="Calibri"/>
            </a:endParaRPr>
          </a:p>
          <a:p>
            <a:pPr lvl="1" eaLnBrk="1" hangingPunct="1">
              <a:lnSpc>
                <a:spcPct val="80000"/>
              </a:lnSpc>
            </a:pPr>
            <a:endParaRPr lang="en-US" sz="2000" dirty="0">
              <a:latin typeface="Calibri"/>
              <a:cs typeface="Calibri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400" dirty="0">
                <a:latin typeface="Calibri"/>
                <a:cs typeface="Calibri"/>
              </a:rPr>
              <a:t>Features: The attributes used to make the digit decision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>
                <a:latin typeface="Calibri"/>
                <a:cs typeface="Calibri"/>
              </a:rPr>
              <a:t>Pixels: (6,8)=ON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>
                <a:latin typeface="Calibri"/>
                <a:cs typeface="Calibri"/>
              </a:rPr>
              <a:t>Shape Patterns: </a:t>
            </a:r>
            <a:r>
              <a:rPr lang="en-US" sz="2000" dirty="0" err="1">
                <a:latin typeface="Calibri"/>
                <a:cs typeface="Calibri"/>
              </a:rPr>
              <a:t>NumComponents</a:t>
            </a:r>
            <a:r>
              <a:rPr lang="en-US" sz="2000" dirty="0">
                <a:latin typeface="Calibri"/>
                <a:cs typeface="Calibri"/>
              </a:rPr>
              <a:t>, </a:t>
            </a:r>
            <a:r>
              <a:rPr lang="en-US" sz="2000" dirty="0" err="1">
                <a:latin typeface="Calibri"/>
                <a:cs typeface="Calibri"/>
              </a:rPr>
              <a:t>AspectRatio</a:t>
            </a:r>
            <a:r>
              <a:rPr lang="en-US" sz="2000" dirty="0">
                <a:latin typeface="Calibri"/>
                <a:cs typeface="Calibri"/>
              </a:rPr>
              <a:t>, </a:t>
            </a:r>
            <a:r>
              <a:rPr lang="en-US" sz="2000" dirty="0" err="1">
                <a:latin typeface="Calibri"/>
                <a:cs typeface="Calibri"/>
              </a:rPr>
              <a:t>NumLoops</a:t>
            </a:r>
            <a:endParaRPr lang="en-US" sz="2000" dirty="0">
              <a:latin typeface="Calibri"/>
              <a:cs typeface="Calibri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sz="2000" dirty="0">
                <a:latin typeface="Calibri"/>
                <a:cs typeface="Calibri"/>
              </a:rPr>
              <a:t>…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>
                <a:latin typeface="Calibri"/>
                <a:cs typeface="Calibri"/>
              </a:rPr>
              <a:t>Features are increasingly induced rather than crafted</a:t>
            </a:r>
          </a:p>
          <a:p>
            <a:pPr lvl="1" eaLnBrk="1" hangingPunct="1">
              <a:lnSpc>
                <a:spcPct val="80000"/>
              </a:lnSpc>
            </a:pPr>
            <a:endParaRPr lang="en-US" sz="2000" dirty="0">
              <a:latin typeface="Calibri"/>
              <a:cs typeface="Calibri"/>
            </a:endParaRPr>
          </a:p>
          <a:p>
            <a:pPr eaLnBrk="1" hangingPunct="1"/>
            <a:endParaRPr lang="en-US" sz="2400" dirty="0">
              <a:latin typeface="Calibri"/>
              <a:cs typeface="Calibri"/>
            </a:endParaRP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677400" y="1676400"/>
            <a:ext cx="50800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601200" y="2514600"/>
            <a:ext cx="544513" cy="598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6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555162" y="4267200"/>
            <a:ext cx="655638" cy="67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7" name="Picture 7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593262" y="5414962"/>
            <a:ext cx="617538" cy="681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8" name="Picture 7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601200" y="3352800"/>
            <a:ext cx="617538" cy="598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9" name="TextBox 74"/>
          <p:cNvSpPr txBox="1">
            <a:spLocks noChangeArrowheads="1"/>
          </p:cNvSpPr>
          <p:nvPr/>
        </p:nvSpPr>
        <p:spPr bwMode="auto">
          <a:xfrm>
            <a:off x="10896600" y="1752600"/>
            <a:ext cx="381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/>
                <a:cs typeface="Calibri"/>
              </a:rPr>
              <a:t>0</a:t>
            </a:r>
          </a:p>
        </p:txBody>
      </p:sp>
      <p:sp>
        <p:nvSpPr>
          <p:cNvPr id="10250" name="TextBox 75"/>
          <p:cNvSpPr txBox="1">
            <a:spLocks noChangeArrowheads="1"/>
          </p:cNvSpPr>
          <p:nvPr/>
        </p:nvSpPr>
        <p:spPr bwMode="auto">
          <a:xfrm>
            <a:off x="10896600" y="2590800"/>
            <a:ext cx="381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/>
                <a:cs typeface="Calibri"/>
              </a:rPr>
              <a:t>1</a:t>
            </a:r>
          </a:p>
        </p:txBody>
      </p:sp>
      <p:sp>
        <p:nvSpPr>
          <p:cNvPr id="10251" name="TextBox 76"/>
          <p:cNvSpPr txBox="1">
            <a:spLocks noChangeArrowheads="1"/>
          </p:cNvSpPr>
          <p:nvPr/>
        </p:nvSpPr>
        <p:spPr bwMode="auto">
          <a:xfrm>
            <a:off x="10896600" y="3505200"/>
            <a:ext cx="381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/>
                <a:cs typeface="Calibri"/>
              </a:rPr>
              <a:t>2</a:t>
            </a:r>
          </a:p>
        </p:txBody>
      </p:sp>
      <p:sp>
        <p:nvSpPr>
          <p:cNvPr id="10252" name="TextBox 77"/>
          <p:cNvSpPr txBox="1">
            <a:spLocks noChangeArrowheads="1"/>
          </p:cNvSpPr>
          <p:nvPr/>
        </p:nvSpPr>
        <p:spPr bwMode="auto">
          <a:xfrm>
            <a:off x="10896600" y="4419600"/>
            <a:ext cx="381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/>
                <a:cs typeface="Calibri"/>
              </a:rPr>
              <a:t>1</a:t>
            </a:r>
          </a:p>
        </p:txBody>
      </p:sp>
      <p:sp>
        <p:nvSpPr>
          <p:cNvPr id="10253" name="TextBox 78"/>
          <p:cNvSpPr txBox="1">
            <a:spLocks noChangeArrowheads="1"/>
          </p:cNvSpPr>
          <p:nvPr/>
        </p:nvSpPr>
        <p:spPr bwMode="auto">
          <a:xfrm>
            <a:off x="10820400" y="5567362"/>
            <a:ext cx="6096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/>
                <a:cs typeface="Calibri"/>
              </a:rPr>
              <a:t>??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9" grpId="0"/>
      <p:bldP spid="10250" grpId="0"/>
      <p:bldP spid="10251" grpId="0"/>
      <p:bldP spid="10252" grpId="0"/>
      <p:bldP spid="1025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77119" y="1371600"/>
            <a:ext cx="5333761" cy="4368111"/>
          </a:xfrm>
          <a:prstGeom prst="rect">
            <a:avLst/>
          </a:prstGeom>
          <a:noFill/>
        </p:spPr>
      </p:pic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Other Classification Tasks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397001"/>
            <a:ext cx="7442200" cy="4729164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400" dirty="0"/>
              <a:t>Classification: given inputs x, predict labels (classes) y</a:t>
            </a:r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Examples: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Medical diagnosis (input: symptoms,</a:t>
            </a: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sz="2000" dirty="0"/>
              <a:t>	classes: diseases)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Fraud detection (input: account activity,</a:t>
            </a:r>
          </a:p>
          <a:p>
            <a:pPr lvl="1">
              <a:lnSpc>
                <a:spcPct val="80000"/>
              </a:lnSpc>
              <a:buNone/>
            </a:pPr>
            <a:r>
              <a:rPr lang="en-US" sz="2000" dirty="0"/>
              <a:t>	classes: fraud / no fraud)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Automatic essay grading (input: document,</a:t>
            </a: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sz="2000" dirty="0"/>
              <a:t>	classes: grades)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Customer service email routing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Review sentiment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Language ID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… many more</a:t>
            </a:r>
          </a:p>
          <a:p>
            <a:pPr lvl="1" eaLnBrk="1" hangingPunct="1">
              <a:lnSpc>
                <a:spcPct val="80000"/>
              </a:lnSpc>
            </a:pPr>
            <a:endParaRPr lang="en-US" sz="2000" dirty="0"/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Classification is an important commercial technology!</a:t>
            </a:r>
          </a:p>
          <a:p>
            <a:pPr lvl="1" eaLnBrk="1" hangingPunct="1">
              <a:lnSpc>
                <a:spcPct val="80000"/>
              </a:lnSpc>
            </a:pPr>
            <a:endParaRPr lang="en-US" sz="20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DD07D64-C2F3-1F43-AA6C-F0B29F5C4A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>
                <a:cs typeface="+mj-cs"/>
              </a:rPr>
              <a:t>Examples of Classification Task</a:t>
            </a:r>
          </a:p>
        </p:txBody>
      </p:sp>
      <p:graphicFrame>
        <p:nvGraphicFramePr>
          <p:cNvPr id="919591" name="Group 39">
            <a:extLst>
              <a:ext uri="{FF2B5EF4-FFF2-40B4-BE49-F238E27FC236}">
                <a16:creationId xmlns:a16="http://schemas.microsoft.com/office/drawing/2014/main" id="{3554E5FE-B363-7D48-8502-4E2AAFE7BA3A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1663021" y="1690688"/>
          <a:ext cx="8504238" cy="4648200"/>
        </p:xfrm>
        <a:graphic>
          <a:graphicData uri="http://schemas.openxmlformats.org/drawingml/2006/table">
            <a:tbl>
              <a:tblPr/>
              <a:tblGrid>
                <a:gridCol w="1951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4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Task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Attribute set, </a:t>
                      </a: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label, </a:t>
                      </a: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Categorizing email messages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Features extracted from email message header and content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spam or non-spam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Identifying tumor cells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Features extracted from MRI scans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malignant or benign cells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Cataloging galaxies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Features extracted from telescope images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Elliptical, spiral, or irregular-shaped galaxies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44442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93CE44-DFAF-9B42-9430-745F855E3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Classification?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BC58F7F-F9DB-0549-8135-E15DA4519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1987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Classification consists in learning a </a:t>
            </a:r>
            <a:r>
              <a:rPr lang="en-US" b="1" dirty="0"/>
              <a:t>model/function </a:t>
            </a:r>
            <a:r>
              <a:rPr lang="en-US" b="1" i="1" dirty="0"/>
              <a:t>f</a:t>
            </a:r>
            <a:r>
              <a:rPr lang="en-US" b="1" dirty="0"/>
              <a:t> </a:t>
            </a:r>
            <a:r>
              <a:rPr lang="en-US" dirty="0"/>
              <a:t>that maps each attribute set </a:t>
            </a:r>
            <a:r>
              <a:rPr lang="en-US" b="1" i="1" dirty="0"/>
              <a:t>x</a:t>
            </a:r>
            <a:r>
              <a:rPr lang="en-US" dirty="0"/>
              <a:t> into one of the predefined class labels </a:t>
            </a:r>
            <a:r>
              <a:rPr lang="en-US" b="1" i="1" dirty="0"/>
              <a:t>y</a:t>
            </a:r>
            <a:r>
              <a:rPr lang="en-US" i="1" dirty="0"/>
              <a:t>: f(x) = y</a:t>
            </a:r>
          </a:p>
          <a:p>
            <a:r>
              <a:rPr lang="en-US" dirty="0"/>
              <a:t>The</a:t>
            </a:r>
            <a:r>
              <a:rPr lang="en-US" i="1" dirty="0"/>
              <a:t> </a:t>
            </a:r>
            <a:r>
              <a:rPr lang="en-US" b="1" i="1" dirty="0"/>
              <a:t>learning</a:t>
            </a:r>
            <a:r>
              <a:rPr lang="en-US" dirty="0"/>
              <a:t> is performed on a given a collection of records named </a:t>
            </a:r>
            <a:r>
              <a:rPr lang="en-US" b="1" i="1" dirty="0"/>
              <a:t>training set </a:t>
            </a:r>
            <a:r>
              <a:rPr lang="en-US" dirty="0"/>
              <a:t>where each record is characterized by a tuple </a:t>
            </a:r>
            <a:r>
              <a:rPr lang="en-US" b="1" i="1" dirty="0"/>
              <a:t>(x, y)</a:t>
            </a:r>
            <a:r>
              <a:rPr lang="en-US" dirty="0"/>
              <a:t>, where </a:t>
            </a:r>
            <a:r>
              <a:rPr lang="en-US" b="1" i="1" dirty="0"/>
              <a:t>x</a:t>
            </a:r>
            <a:r>
              <a:rPr lang="en-US" dirty="0"/>
              <a:t> is the attribute set and </a:t>
            </a:r>
            <a:r>
              <a:rPr lang="en-US" b="1" i="1" dirty="0"/>
              <a:t>y</a:t>
            </a:r>
            <a:r>
              <a:rPr lang="en-US" dirty="0"/>
              <a:t> is the class label</a:t>
            </a:r>
          </a:p>
          <a:p>
            <a:pPr lvl="1"/>
            <a:r>
              <a:rPr lang="en-US" dirty="0"/>
              <a:t> x: attribute, predictor, independent variable, input</a:t>
            </a:r>
          </a:p>
          <a:p>
            <a:pPr lvl="1"/>
            <a:r>
              <a:rPr lang="en-US" dirty="0"/>
              <a:t> y: class, response, dependent variable, output</a:t>
            </a:r>
          </a:p>
          <a:p>
            <a:r>
              <a:rPr lang="en-US" b="1" dirty="0"/>
              <a:t>Goal</a:t>
            </a:r>
            <a:r>
              <a:rPr lang="en-US" dirty="0"/>
              <a:t>: previously unseen records should be assigned a class as accurately as possible. A </a:t>
            </a:r>
            <a:r>
              <a:rPr lang="en-US" b="1" i="1" dirty="0"/>
              <a:t>test set </a:t>
            </a:r>
            <a:r>
              <a:rPr lang="en-US" dirty="0"/>
              <a:t>is used to determine the accuracy of the model </a:t>
            </a:r>
            <a:r>
              <a:rPr lang="en-US" b="1" i="1" dirty="0"/>
              <a:t>f</a:t>
            </a:r>
            <a:r>
              <a:rPr lang="en-US" dirty="0"/>
              <a:t>. </a:t>
            </a:r>
          </a:p>
          <a:p>
            <a:r>
              <a:rPr lang="en-US" dirty="0"/>
              <a:t>Usually, the given data set is divided into training and test sets, with training set used to build the model and test set used to validate it.</a:t>
            </a:r>
          </a:p>
          <a:p>
            <a:endParaRPr lang="en-US" dirty="0"/>
          </a:p>
          <a:p>
            <a:endParaRPr lang="en-US" dirty="0"/>
          </a:p>
          <a:p>
            <a:endParaRPr lang="en-US" b="1" i="1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3232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825625"/>
            <a:ext cx="5261404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What we have</a:t>
            </a:r>
          </a:p>
          <a:p>
            <a:pPr lvl="1"/>
            <a:r>
              <a:rPr lang="en-US" dirty="0"/>
              <a:t>A set of objects, each of them described by some features</a:t>
            </a:r>
          </a:p>
          <a:p>
            <a:pPr lvl="2"/>
            <a:r>
              <a:rPr lang="en-US" dirty="0"/>
              <a:t>people described by age, gender, height, etc.</a:t>
            </a:r>
          </a:p>
          <a:p>
            <a:pPr lvl="2"/>
            <a:r>
              <a:rPr lang="en-US" dirty="0"/>
              <a:t>bank transactions described by type, amount, time, etc.</a:t>
            </a:r>
          </a:p>
          <a:p>
            <a:r>
              <a:rPr lang="en-US" dirty="0"/>
              <a:t>What we want to do</a:t>
            </a:r>
          </a:p>
          <a:p>
            <a:pPr lvl="1"/>
            <a:r>
              <a:rPr lang="en-US" dirty="0"/>
              <a:t>Associate the objects of a set to a class, taken from a predefined list</a:t>
            </a:r>
          </a:p>
          <a:p>
            <a:pPr lvl="2"/>
            <a:r>
              <a:rPr lang="en-US" dirty="0"/>
              <a:t>“good customer” vs.   “churner”</a:t>
            </a:r>
          </a:p>
          <a:p>
            <a:pPr lvl="2"/>
            <a:r>
              <a:rPr lang="en-US" dirty="0"/>
              <a:t>“normal transaction” vs.   “fraudulent”</a:t>
            </a:r>
          </a:p>
          <a:p>
            <a:pPr lvl="2"/>
            <a:r>
              <a:rPr lang="en-US" dirty="0"/>
              <a:t>“low risk patient” vs.   “risky”</a:t>
            </a:r>
          </a:p>
        </p:txBody>
      </p:sp>
      <p:sp>
        <p:nvSpPr>
          <p:cNvPr id="15" name="Oval 14"/>
          <p:cNvSpPr/>
          <p:nvPr/>
        </p:nvSpPr>
        <p:spPr>
          <a:xfrm>
            <a:off x="3290288" y="5019851"/>
            <a:ext cx="147254" cy="138062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5417208" y="5019851"/>
            <a:ext cx="147254" cy="13806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7457012" y="5394885"/>
            <a:ext cx="31480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 flipV="1">
            <a:off x="7594521" y="2323072"/>
            <a:ext cx="14893" cy="3224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3290288" y="5297006"/>
            <a:ext cx="147254" cy="138062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3290288" y="5589701"/>
            <a:ext cx="147254" cy="138062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5794260" y="5305244"/>
            <a:ext cx="147254" cy="13806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5449645" y="5581463"/>
            <a:ext cx="147254" cy="13806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9607" y="3482220"/>
            <a:ext cx="546101" cy="54610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539008" y="3181077"/>
            <a:ext cx="3754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?</a:t>
            </a:r>
            <a:endParaRPr lang="en-US" b="1" dirty="0">
              <a:solidFill>
                <a:srgbClr val="0070C0"/>
              </a:solidFill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0929" y="4473768"/>
            <a:ext cx="546101" cy="54610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970330" y="4271481"/>
            <a:ext cx="3754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?</a:t>
            </a:r>
            <a:endParaRPr lang="en-US" b="1" dirty="0">
              <a:solidFill>
                <a:srgbClr val="0070C0"/>
              </a:solidFill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2710" y="3352568"/>
            <a:ext cx="546101" cy="54610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392111" y="3150281"/>
            <a:ext cx="3754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?</a:t>
            </a:r>
            <a:endParaRPr lang="en-US" b="1" dirty="0">
              <a:solidFill>
                <a:srgbClr val="0070C0"/>
              </a:solidFill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869" y="4140507"/>
            <a:ext cx="546101" cy="54610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078270" y="3938220"/>
            <a:ext cx="3754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?</a:t>
            </a:r>
            <a:endParaRPr lang="en-US" b="1" dirty="0">
              <a:solidFill>
                <a:srgbClr val="0070C0"/>
              </a:solidFill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3201" y="2663786"/>
            <a:ext cx="546101" cy="54610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972602" y="2461499"/>
            <a:ext cx="3754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?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688810" y="5125386"/>
            <a:ext cx="9592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Feature 1</a:t>
            </a:r>
          </a:p>
          <a:p>
            <a:r>
              <a:rPr lang="en-US" sz="1400" i="1" dirty="0"/>
              <a:t>(e.g. Age)</a:t>
            </a:r>
          </a:p>
        </p:txBody>
      </p:sp>
      <p:sp>
        <p:nvSpPr>
          <p:cNvPr id="35" name="TextBox 34"/>
          <p:cNvSpPr txBox="1"/>
          <p:nvPr/>
        </p:nvSpPr>
        <p:spPr>
          <a:xfrm rot="16200000">
            <a:off x="6340107" y="2686058"/>
            <a:ext cx="24991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Feature 2</a:t>
            </a:r>
          </a:p>
          <a:p>
            <a:pPr algn="ctr"/>
            <a:r>
              <a:rPr lang="en-US" sz="1400" i="1" dirty="0"/>
              <a:t> (e.g. Income)</a:t>
            </a:r>
          </a:p>
        </p:txBody>
      </p:sp>
      <p:cxnSp>
        <p:nvCxnSpPr>
          <p:cNvPr id="38" name="Straight Connector 37"/>
          <p:cNvCxnSpPr/>
          <p:nvPr/>
        </p:nvCxnSpPr>
        <p:spPr>
          <a:xfrm flipV="1">
            <a:off x="8998095" y="4746817"/>
            <a:ext cx="0" cy="648068"/>
          </a:xfrm>
          <a:prstGeom prst="line">
            <a:avLst/>
          </a:prstGeom>
          <a:ln w="412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H="1">
            <a:off x="7601966" y="4746817"/>
            <a:ext cx="1392012" cy="0"/>
          </a:xfrm>
          <a:prstGeom prst="line">
            <a:avLst/>
          </a:prstGeom>
          <a:ln w="412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123668" y="4592751"/>
            <a:ext cx="5405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15k€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54053" y="5382039"/>
            <a:ext cx="4523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50y</a:t>
            </a:r>
          </a:p>
        </p:txBody>
      </p:sp>
      <p:cxnSp>
        <p:nvCxnSpPr>
          <p:cNvPr id="43" name="Straight Connector 42"/>
          <p:cNvCxnSpPr/>
          <p:nvPr/>
        </p:nvCxnSpPr>
        <p:spPr>
          <a:xfrm flipV="1">
            <a:off x="9409989" y="3647599"/>
            <a:ext cx="4117" cy="1747287"/>
          </a:xfrm>
          <a:prstGeom prst="line">
            <a:avLst/>
          </a:prstGeom>
          <a:ln w="412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H="1">
            <a:off x="7609414" y="3647598"/>
            <a:ext cx="1800575" cy="0"/>
          </a:xfrm>
          <a:prstGeom prst="line">
            <a:avLst/>
          </a:prstGeom>
          <a:ln w="412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122923" y="3493710"/>
            <a:ext cx="545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35k€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93485" y="5385260"/>
            <a:ext cx="4523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60y</a:t>
            </a:r>
          </a:p>
        </p:txBody>
      </p:sp>
    </p:spTree>
    <p:extLst>
      <p:ext uri="{BB962C8B-B14F-4D97-AF65-F5344CB8AC3E}">
        <p14:creationId xmlns:p14="http://schemas.microsoft.com/office/powerpoint/2010/main" val="2402864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20" grpId="0" animBg="1"/>
      <p:bldP spid="21" grpId="0" animBg="1"/>
      <p:bldP spid="22" grpId="0" animBg="1"/>
      <p:bldP spid="23" grpId="0" animBg="1"/>
      <p:bldP spid="25" grpId="0"/>
      <p:bldP spid="27" grpId="0"/>
      <p:bldP spid="29" grpId="0"/>
      <p:bldP spid="31" grpId="0"/>
      <p:bldP spid="33" grpId="0"/>
      <p:bldP spid="34" grpId="0"/>
      <p:bldP spid="35" grpId="0"/>
      <p:bldP spid="41" grpId="0"/>
      <p:bldP spid="42" grpId="0"/>
      <p:bldP spid="47" grpId="0"/>
      <p:bldP spid="4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1" y="1825625"/>
            <a:ext cx="5096647" cy="4351338"/>
          </a:xfrm>
        </p:spPr>
        <p:txBody>
          <a:bodyPr/>
          <a:lstStyle/>
          <a:p>
            <a:r>
              <a:rPr lang="en-US" dirty="0"/>
              <a:t>What we know</a:t>
            </a:r>
          </a:p>
          <a:p>
            <a:pPr lvl="1"/>
            <a:r>
              <a:rPr lang="en-US" dirty="0"/>
              <a:t>No domain knowledge or theory</a:t>
            </a:r>
          </a:p>
          <a:p>
            <a:pPr lvl="1"/>
            <a:r>
              <a:rPr lang="en-US" dirty="0"/>
              <a:t>Only examples: Training Set</a:t>
            </a:r>
          </a:p>
          <a:p>
            <a:pPr lvl="2"/>
            <a:r>
              <a:rPr lang="en-US" dirty="0"/>
              <a:t>Subset of labelled objects</a:t>
            </a:r>
          </a:p>
          <a:p>
            <a:r>
              <a:rPr lang="en-US" dirty="0"/>
              <a:t>What we can do</a:t>
            </a:r>
          </a:p>
          <a:p>
            <a:pPr lvl="1"/>
            <a:r>
              <a:rPr lang="en-US" dirty="0"/>
              <a:t>Learn from examples</a:t>
            </a:r>
          </a:p>
          <a:p>
            <a:pPr lvl="1"/>
            <a:r>
              <a:rPr lang="en-US" dirty="0"/>
              <a:t>Make inferences about the other objects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1638" y="3626685"/>
            <a:ext cx="531037" cy="5310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4352" y="4509105"/>
            <a:ext cx="531037" cy="53103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5170" y="2960848"/>
            <a:ext cx="531037" cy="5310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0908" y="4455863"/>
            <a:ext cx="531037" cy="53103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3712" y="3379109"/>
            <a:ext cx="531037" cy="53103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1945" y="4131884"/>
            <a:ext cx="531037" cy="53103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7627" y="2695330"/>
            <a:ext cx="531037" cy="53103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6174" y="3722318"/>
            <a:ext cx="531037" cy="531037"/>
          </a:xfrm>
          <a:prstGeom prst="rect">
            <a:avLst/>
          </a:prstGeom>
        </p:spPr>
      </p:pic>
      <p:cxnSp>
        <p:nvCxnSpPr>
          <p:cNvPr id="18" name="Straight Arrow Connector 17"/>
          <p:cNvCxnSpPr/>
          <p:nvPr/>
        </p:nvCxnSpPr>
        <p:spPr>
          <a:xfrm>
            <a:off x="7111789" y="5361933"/>
            <a:ext cx="34104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 flipV="1">
            <a:off x="7249298" y="2290120"/>
            <a:ext cx="14893" cy="3224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42497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most stupid classifier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Rote learner</a:t>
            </a:r>
          </a:p>
          <a:p>
            <a:pPr lvl="1"/>
            <a:r>
              <a:rPr lang="en-US" dirty="0"/>
              <a:t>To classify object X, check if there is a labelled example in the training set identical to X </a:t>
            </a:r>
          </a:p>
          <a:p>
            <a:pPr lvl="1"/>
            <a:r>
              <a:rPr lang="en-US" dirty="0"/>
              <a:t>Yes </a:t>
            </a:r>
            <a:r>
              <a:rPr lang="en-US" dirty="0">
                <a:sym typeface="Wingdings" panose="05000000000000000000" pitchFamily="2" charset="2"/>
              </a:rPr>
              <a:t> X has the same label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No  I don’t know</a:t>
            </a:r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6814" y="4763507"/>
            <a:ext cx="531037" cy="53103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9528" y="5645927"/>
            <a:ext cx="531037" cy="53103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0346" y="4097670"/>
            <a:ext cx="531037" cy="53103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084" y="5592685"/>
            <a:ext cx="531037" cy="531037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8888" y="4515931"/>
            <a:ext cx="531037" cy="531037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121" y="5268706"/>
            <a:ext cx="531037" cy="53103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803" y="3832152"/>
            <a:ext cx="531037" cy="531037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1350" y="4859140"/>
            <a:ext cx="531037" cy="5310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7036" y="3832152"/>
            <a:ext cx="546101" cy="546101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560" y="4586090"/>
            <a:ext cx="546101" cy="546101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294" y="5630863"/>
            <a:ext cx="546101" cy="546101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7688535" y="3778909"/>
            <a:ext cx="147254" cy="138062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7111382" y="5620610"/>
            <a:ext cx="147254" cy="13806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7038961" y="4383803"/>
            <a:ext cx="3754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?</a:t>
            </a:r>
            <a:endParaRPr lang="en-US" b="1" dirty="0">
              <a:solidFill>
                <a:srgbClr val="0070C0"/>
              </a:solidFill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5956965" y="6498755"/>
            <a:ext cx="34104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 flipV="1">
            <a:off x="6094474" y="3426942"/>
            <a:ext cx="14893" cy="3224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4054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Classify by similarity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K-Nearest Neighbors</a:t>
            </a:r>
          </a:p>
          <a:p>
            <a:pPr lvl="1"/>
            <a:r>
              <a:rPr lang="en-US" dirty="0"/>
              <a:t>Decide label based on K most similar examples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679" y="4464540"/>
            <a:ext cx="531037" cy="5310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8393" y="5346960"/>
            <a:ext cx="531037" cy="53103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9211" y="3798703"/>
            <a:ext cx="531037" cy="5310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4949" y="5293718"/>
            <a:ext cx="531037" cy="53103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753" y="4216964"/>
            <a:ext cx="531037" cy="53103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986" y="4969739"/>
            <a:ext cx="531037" cy="53103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668" y="3533185"/>
            <a:ext cx="531037" cy="53103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425" y="4287123"/>
            <a:ext cx="546101" cy="546101"/>
          </a:xfrm>
          <a:prstGeom prst="rect">
            <a:avLst/>
          </a:prstGeom>
        </p:spPr>
      </p:pic>
      <p:cxnSp>
        <p:nvCxnSpPr>
          <p:cNvPr id="19" name="Straight Arrow Connector 18"/>
          <p:cNvCxnSpPr/>
          <p:nvPr/>
        </p:nvCxnSpPr>
        <p:spPr>
          <a:xfrm>
            <a:off x="4184823" y="6159498"/>
            <a:ext cx="34104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 flipV="1">
            <a:off x="4321681" y="2946741"/>
            <a:ext cx="15543" cy="33651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504852" y="3763918"/>
            <a:ext cx="1559273" cy="1559273"/>
          </a:xfrm>
          <a:prstGeom prst="ellipse">
            <a:avLst/>
          </a:prstGeom>
          <a:solidFill>
            <a:schemeClr val="accent1"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7942" y="4216964"/>
            <a:ext cx="158510" cy="152413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96" y="4815923"/>
            <a:ext cx="531037" cy="53103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39540" y="3861757"/>
            <a:ext cx="9638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K=3</a:t>
            </a:r>
          </a:p>
        </p:txBody>
      </p:sp>
    </p:spTree>
    <p:extLst>
      <p:ext uri="{BB962C8B-B14F-4D97-AF65-F5344CB8AC3E}">
        <p14:creationId xmlns:p14="http://schemas.microsoft.com/office/powerpoint/2010/main" val="2435008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ight Triangle 11"/>
          <p:cNvSpPr/>
          <p:nvPr/>
        </p:nvSpPr>
        <p:spPr>
          <a:xfrm flipH="1">
            <a:off x="4042351" y="3417590"/>
            <a:ext cx="3727989" cy="2741412"/>
          </a:xfrm>
          <a:prstGeom prst="rtTriangl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Triangle 22"/>
          <p:cNvSpPr/>
          <p:nvPr/>
        </p:nvSpPr>
        <p:spPr>
          <a:xfrm flipV="1">
            <a:off x="3966616" y="3417094"/>
            <a:ext cx="3628671" cy="2691305"/>
          </a:xfrm>
          <a:prstGeom prst="rtTriangl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1: linear separation line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679" y="4464540"/>
            <a:ext cx="531037" cy="5310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8393" y="5346960"/>
            <a:ext cx="531037" cy="53103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9211" y="3798703"/>
            <a:ext cx="531037" cy="5310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4949" y="5293718"/>
            <a:ext cx="531037" cy="53103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753" y="4216964"/>
            <a:ext cx="531037" cy="53103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986" y="4969739"/>
            <a:ext cx="531037" cy="53103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668" y="3533185"/>
            <a:ext cx="531037" cy="53103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96" y="4815923"/>
            <a:ext cx="531037" cy="53103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425" y="4287123"/>
            <a:ext cx="546101" cy="546101"/>
          </a:xfrm>
          <a:prstGeom prst="rect">
            <a:avLst/>
          </a:prstGeom>
        </p:spPr>
      </p:pic>
      <p:cxnSp>
        <p:nvCxnSpPr>
          <p:cNvPr id="19" name="Straight Arrow Connector 18"/>
          <p:cNvCxnSpPr/>
          <p:nvPr/>
        </p:nvCxnSpPr>
        <p:spPr>
          <a:xfrm>
            <a:off x="4184823" y="6159498"/>
            <a:ext cx="34104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 flipV="1">
            <a:off x="4321681" y="2946741"/>
            <a:ext cx="15543" cy="33651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4085968" y="3417589"/>
            <a:ext cx="3608173" cy="2660822"/>
          </a:xfrm>
          <a:prstGeom prst="line">
            <a:avLst/>
          </a:prstGeom>
          <a:ln w="31750"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7942" y="4216964"/>
            <a:ext cx="158510" cy="152413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1217" y="3801708"/>
            <a:ext cx="546101" cy="546101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7303521" y="3729671"/>
            <a:ext cx="147254" cy="13806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87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3" grpId="0" animBg="1"/>
      <p:bldP spid="2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2: Support Vector Machine (linear)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679" y="4464540"/>
            <a:ext cx="531037" cy="5310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8393" y="5346960"/>
            <a:ext cx="531037" cy="53103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9211" y="3798703"/>
            <a:ext cx="531037" cy="5310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4949" y="5293718"/>
            <a:ext cx="531037" cy="53103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753" y="4216964"/>
            <a:ext cx="531037" cy="53103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986" y="4969739"/>
            <a:ext cx="531037" cy="53103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668" y="3533185"/>
            <a:ext cx="531037" cy="53103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96" y="4815923"/>
            <a:ext cx="531037" cy="53103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425" y="4287123"/>
            <a:ext cx="546101" cy="546101"/>
          </a:xfrm>
          <a:prstGeom prst="rect">
            <a:avLst/>
          </a:prstGeom>
        </p:spPr>
      </p:pic>
      <p:cxnSp>
        <p:nvCxnSpPr>
          <p:cNvPr id="19" name="Straight Arrow Connector 18"/>
          <p:cNvCxnSpPr/>
          <p:nvPr/>
        </p:nvCxnSpPr>
        <p:spPr>
          <a:xfrm>
            <a:off x="4184823" y="6159498"/>
            <a:ext cx="34104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 flipV="1">
            <a:off x="4321681" y="2946741"/>
            <a:ext cx="15543" cy="33651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360156" y="4218812"/>
            <a:ext cx="4909752" cy="1496320"/>
          </a:xfrm>
          <a:prstGeom prst="line">
            <a:avLst/>
          </a:prstGeom>
          <a:ln w="31750"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7942" y="4216964"/>
            <a:ext cx="158510" cy="152413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1217" y="3801708"/>
            <a:ext cx="546101" cy="546101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7303521" y="3729671"/>
            <a:ext cx="147254" cy="138062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/>
          <p:cNvCxnSpPr/>
          <p:nvPr/>
        </p:nvCxnSpPr>
        <p:spPr>
          <a:xfrm flipV="1">
            <a:off x="3310072" y="4024991"/>
            <a:ext cx="4909752" cy="1496320"/>
          </a:xfrm>
          <a:prstGeom prst="line">
            <a:avLst/>
          </a:prstGeom>
          <a:ln w="12700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3435178" y="4382609"/>
            <a:ext cx="4909752" cy="1496320"/>
          </a:xfrm>
          <a:prstGeom prst="line">
            <a:avLst/>
          </a:prstGeom>
          <a:ln w="12700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550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3: Non-linear separation line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679" y="4464540"/>
            <a:ext cx="531037" cy="5310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8393" y="5346960"/>
            <a:ext cx="531037" cy="53103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9211" y="3798703"/>
            <a:ext cx="531037" cy="5310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4949" y="5293718"/>
            <a:ext cx="531037" cy="53103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753" y="4216964"/>
            <a:ext cx="531037" cy="53103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986" y="4969739"/>
            <a:ext cx="531037" cy="53103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668" y="3533185"/>
            <a:ext cx="531037" cy="53103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96" y="4815923"/>
            <a:ext cx="531037" cy="53103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425" y="4287123"/>
            <a:ext cx="546101" cy="546101"/>
          </a:xfrm>
          <a:prstGeom prst="rect">
            <a:avLst/>
          </a:prstGeom>
        </p:spPr>
      </p:pic>
      <p:cxnSp>
        <p:nvCxnSpPr>
          <p:cNvPr id="19" name="Straight Arrow Connector 18"/>
          <p:cNvCxnSpPr/>
          <p:nvPr/>
        </p:nvCxnSpPr>
        <p:spPr>
          <a:xfrm>
            <a:off x="4184823" y="6159498"/>
            <a:ext cx="34104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 flipV="1">
            <a:off x="4321681" y="2946741"/>
            <a:ext cx="15543" cy="33651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7942" y="4216964"/>
            <a:ext cx="158510" cy="152413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1217" y="3801708"/>
            <a:ext cx="546101" cy="546101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7303521" y="3729671"/>
            <a:ext cx="147254" cy="13806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urved Connector 14"/>
          <p:cNvCxnSpPr/>
          <p:nvPr/>
        </p:nvCxnSpPr>
        <p:spPr>
          <a:xfrm flipV="1">
            <a:off x="4014473" y="3606161"/>
            <a:ext cx="3492844" cy="1573427"/>
          </a:xfrm>
          <a:prstGeom prst="curvedConnector3">
            <a:avLst>
              <a:gd name="adj1" fmla="val 75000"/>
            </a:avLst>
          </a:prstGeom>
          <a:ln w="3175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8362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Decision Trees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1593" y="4538678"/>
            <a:ext cx="531037" cy="5310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4307" y="5519954"/>
            <a:ext cx="531037" cy="53103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5125" y="3971697"/>
            <a:ext cx="531037" cy="5310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0863" y="5466712"/>
            <a:ext cx="531037" cy="53103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3667" y="4389958"/>
            <a:ext cx="531037" cy="53103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900" y="5142733"/>
            <a:ext cx="531037" cy="53103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7582" y="3706179"/>
            <a:ext cx="531037" cy="53103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9710" y="5071297"/>
            <a:ext cx="531037" cy="53103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4339" y="4460117"/>
            <a:ext cx="546101" cy="546101"/>
          </a:xfrm>
          <a:prstGeom prst="rect">
            <a:avLst/>
          </a:prstGeom>
        </p:spPr>
      </p:pic>
      <p:cxnSp>
        <p:nvCxnSpPr>
          <p:cNvPr id="19" name="Straight Arrow Connector 18"/>
          <p:cNvCxnSpPr/>
          <p:nvPr/>
        </p:nvCxnSpPr>
        <p:spPr>
          <a:xfrm>
            <a:off x="6900737" y="6332492"/>
            <a:ext cx="34104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 flipV="1">
            <a:off x="7037595" y="3119735"/>
            <a:ext cx="15543" cy="33651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3856" y="4389958"/>
            <a:ext cx="158510" cy="152413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131" y="3974702"/>
            <a:ext cx="546101" cy="546101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10019435" y="3902665"/>
            <a:ext cx="147254" cy="13806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5" y="3764217"/>
            <a:ext cx="531037" cy="531037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141" y="4218491"/>
            <a:ext cx="531037" cy="531037"/>
          </a:xfrm>
          <a:prstGeom prst="rect">
            <a:avLst/>
          </a:prstGeom>
        </p:spPr>
      </p:pic>
      <p:cxnSp>
        <p:nvCxnSpPr>
          <p:cNvPr id="25" name="Straight Connector 24"/>
          <p:cNvCxnSpPr/>
          <p:nvPr/>
        </p:nvCxnSpPr>
        <p:spPr>
          <a:xfrm flipV="1">
            <a:off x="7037595" y="5060149"/>
            <a:ext cx="3273607" cy="24122"/>
          </a:xfrm>
          <a:prstGeom prst="line">
            <a:avLst/>
          </a:prstGeom>
          <a:ln w="31750"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 flipV="1">
            <a:off x="8894974" y="3119735"/>
            <a:ext cx="17045" cy="1949980"/>
          </a:xfrm>
          <a:prstGeom prst="line">
            <a:avLst/>
          </a:prstGeom>
          <a:ln w="31750"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743616" y="6330285"/>
            <a:ext cx="7044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Age</a:t>
            </a:r>
          </a:p>
        </p:txBody>
      </p:sp>
      <p:sp>
        <p:nvSpPr>
          <p:cNvPr id="31" name="TextBox 30"/>
          <p:cNvSpPr txBox="1"/>
          <p:nvPr/>
        </p:nvSpPr>
        <p:spPr>
          <a:xfrm rot="16200000">
            <a:off x="6376264" y="3454855"/>
            <a:ext cx="10432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Income</a:t>
            </a:r>
          </a:p>
        </p:txBody>
      </p: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F2DAB408-A2B0-8584-7BF8-2F31C6676F3C}"/>
              </a:ext>
            </a:extLst>
          </p:cNvPr>
          <p:cNvGrpSpPr/>
          <p:nvPr/>
        </p:nvGrpSpPr>
        <p:grpSpPr>
          <a:xfrm>
            <a:off x="2054355" y="3017165"/>
            <a:ext cx="4148733" cy="3249934"/>
            <a:chOff x="2054355" y="3017165"/>
            <a:chExt cx="4148733" cy="3249934"/>
          </a:xfrm>
        </p:grpSpPr>
        <p:sp>
          <p:nvSpPr>
            <p:cNvPr id="16" name="Freeform 15"/>
            <p:cNvSpPr/>
            <p:nvPr/>
          </p:nvSpPr>
          <p:spPr>
            <a:xfrm>
              <a:off x="4213547" y="3813281"/>
              <a:ext cx="1223374" cy="364649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248505"/>
                  </a:lnTo>
                  <a:lnTo>
                    <a:pt x="1223374" y="248505"/>
                  </a:lnTo>
                  <a:lnTo>
                    <a:pt x="1223374" y="364649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3447383" y="4974021"/>
              <a:ext cx="766165" cy="364625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248481"/>
                  </a:lnTo>
                  <a:lnTo>
                    <a:pt x="766165" y="248481"/>
                  </a:lnTo>
                  <a:lnTo>
                    <a:pt x="766165" y="364625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2681217" y="4974021"/>
              <a:ext cx="766165" cy="364625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766165" y="0"/>
                  </a:moveTo>
                  <a:lnTo>
                    <a:pt x="766165" y="248481"/>
                  </a:lnTo>
                  <a:lnTo>
                    <a:pt x="0" y="248481"/>
                  </a:lnTo>
                  <a:lnTo>
                    <a:pt x="0" y="364625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3447383" y="3813281"/>
              <a:ext cx="766165" cy="364625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766165" y="0"/>
                  </a:moveTo>
                  <a:lnTo>
                    <a:pt x="766165" y="248481"/>
                  </a:lnTo>
                  <a:lnTo>
                    <a:pt x="0" y="248481"/>
                  </a:lnTo>
                  <a:lnTo>
                    <a:pt x="0" y="364625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3586686" y="3017165"/>
              <a:ext cx="1253725" cy="79611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3725988" y="3149503"/>
              <a:ext cx="1253725" cy="796115"/>
            </a:xfrm>
            <a:custGeom>
              <a:avLst/>
              <a:gdLst>
                <a:gd name="connsiteX0" fmla="*/ 0 w 1253725"/>
                <a:gd name="connsiteY0" fmla="*/ 79612 h 796115"/>
                <a:gd name="connsiteX1" fmla="*/ 79612 w 1253725"/>
                <a:gd name="connsiteY1" fmla="*/ 0 h 796115"/>
                <a:gd name="connsiteX2" fmla="*/ 1174114 w 1253725"/>
                <a:gd name="connsiteY2" fmla="*/ 0 h 796115"/>
                <a:gd name="connsiteX3" fmla="*/ 1253726 w 1253725"/>
                <a:gd name="connsiteY3" fmla="*/ 79612 h 796115"/>
                <a:gd name="connsiteX4" fmla="*/ 1253725 w 1253725"/>
                <a:gd name="connsiteY4" fmla="*/ 716504 h 796115"/>
                <a:gd name="connsiteX5" fmla="*/ 1174113 w 1253725"/>
                <a:gd name="connsiteY5" fmla="*/ 796116 h 796115"/>
                <a:gd name="connsiteX6" fmla="*/ 79612 w 1253725"/>
                <a:gd name="connsiteY6" fmla="*/ 796115 h 796115"/>
                <a:gd name="connsiteX7" fmla="*/ 0 w 1253725"/>
                <a:gd name="connsiteY7" fmla="*/ 716503 h 796115"/>
                <a:gd name="connsiteX8" fmla="*/ 0 w 1253725"/>
                <a:gd name="connsiteY8" fmla="*/ 79612 h 79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3725" h="796115">
                  <a:moveTo>
                    <a:pt x="0" y="79612"/>
                  </a:moveTo>
                  <a:cubicBezTo>
                    <a:pt x="0" y="35644"/>
                    <a:pt x="35644" y="0"/>
                    <a:pt x="79612" y="0"/>
                  </a:cubicBezTo>
                  <a:lnTo>
                    <a:pt x="1174114" y="0"/>
                  </a:lnTo>
                  <a:cubicBezTo>
                    <a:pt x="1218082" y="0"/>
                    <a:pt x="1253726" y="35644"/>
                    <a:pt x="1253726" y="79612"/>
                  </a:cubicBezTo>
                  <a:cubicBezTo>
                    <a:pt x="1253726" y="291909"/>
                    <a:pt x="1253725" y="504207"/>
                    <a:pt x="1253725" y="716504"/>
                  </a:cubicBezTo>
                  <a:cubicBezTo>
                    <a:pt x="1253725" y="760472"/>
                    <a:pt x="1218081" y="796116"/>
                    <a:pt x="1174113" y="796116"/>
                  </a:cubicBezTo>
                  <a:lnTo>
                    <a:pt x="79612" y="796115"/>
                  </a:lnTo>
                  <a:cubicBezTo>
                    <a:pt x="35644" y="796115"/>
                    <a:pt x="0" y="760471"/>
                    <a:pt x="0" y="716503"/>
                  </a:cubicBezTo>
                  <a:lnTo>
                    <a:pt x="0" y="79612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3327" tIns="103327" rIns="103327" bIns="103327" numCol="1" spcCol="1270" anchor="ctr" anchorCtr="0">
              <a:noAutofit/>
            </a:bodyPr>
            <a:lstStyle/>
            <a:p>
              <a:pPr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100" dirty="0"/>
                <a:t>Income &gt; 15k€ ? 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2820520" y="4177906"/>
              <a:ext cx="1253725" cy="79611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2959823" y="4310244"/>
              <a:ext cx="1253725" cy="796115"/>
            </a:xfrm>
            <a:custGeom>
              <a:avLst/>
              <a:gdLst>
                <a:gd name="connsiteX0" fmla="*/ 0 w 1253725"/>
                <a:gd name="connsiteY0" fmla="*/ 79612 h 796115"/>
                <a:gd name="connsiteX1" fmla="*/ 79612 w 1253725"/>
                <a:gd name="connsiteY1" fmla="*/ 0 h 796115"/>
                <a:gd name="connsiteX2" fmla="*/ 1174114 w 1253725"/>
                <a:gd name="connsiteY2" fmla="*/ 0 h 796115"/>
                <a:gd name="connsiteX3" fmla="*/ 1253726 w 1253725"/>
                <a:gd name="connsiteY3" fmla="*/ 79612 h 796115"/>
                <a:gd name="connsiteX4" fmla="*/ 1253725 w 1253725"/>
                <a:gd name="connsiteY4" fmla="*/ 716504 h 796115"/>
                <a:gd name="connsiteX5" fmla="*/ 1174113 w 1253725"/>
                <a:gd name="connsiteY5" fmla="*/ 796116 h 796115"/>
                <a:gd name="connsiteX6" fmla="*/ 79612 w 1253725"/>
                <a:gd name="connsiteY6" fmla="*/ 796115 h 796115"/>
                <a:gd name="connsiteX7" fmla="*/ 0 w 1253725"/>
                <a:gd name="connsiteY7" fmla="*/ 716503 h 796115"/>
                <a:gd name="connsiteX8" fmla="*/ 0 w 1253725"/>
                <a:gd name="connsiteY8" fmla="*/ 79612 h 79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3725" h="796115">
                  <a:moveTo>
                    <a:pt x="0" y="79612"/>
                  </a:moveTo>
                  <a:cubicBezTo>
                    <a:pt x="0" y="35644"/>
                    <a:pt x="35644" y="0"/>
                    <a:pt x="79612" y="0"/>
                  </a:cubicBezTo>
                  <a:lnTo>
                    <a:pt x="1174114" y="0"/>
                  </a:lnTo>
                  <a:cubicBezTo>
                    <a:pt x="1218082" y="0"/>
                    <a:pt x="1253726" y="35644"/>
                    <a:pt x="1253726" y="79612"/>
                  </a:cubicBezTo>
                  <a:cubicBezTo>
                    <a:pt x="1253726" y="291909"/>
                    <a:pt x="1253725" y="504207"/>
                    <a:pt x="1253725" y="716504"/>
                  </a:cubicBezTo>
                  <a:cubicBezTo>
                    <a:pt x="1253725" y="760472"/>
                    <a:pt x="1218081" y="796116"/>
                    <a:pt x="1174113" y="796116"/>
                  </a:cubicBezTo>
                  <a:lnTo>
                    <a:pt x="79612" y="796115"/>
                  </a:lnTo>
                  <a:cubicBezTo>
                    <a:pt x="35644" y="796115"/>
                    <a:pt x="0" y="760471"/>
                    <a:pt x="0" y="716503"/>
                  </a:cubicBezTo>
                  <a:lnTo>
                    <a:pt x="0" y="79612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3327" tIns="103327" rIns="103327" bIns="103327" numCol="1" spcCol="1270" anchor="ctr" anchorCtr="0">
              <a:noAutofit/>
            </a:bodyPr>
            <a:lstStyle/>
            <a:p>
              <a:pPr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100" dirty="0"/>
                <a:t>Age &gt; 50y ?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2054355" y="5338647"/>
              <a:ext cx="1253725" cy="79611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42" name="Freeform 41"/>
            <p:cNvSpPr/>
            <p:nvPr/>
          </p:nvSpPr>
          <p:spPr>
            <a:xfrm>
              <a:off x="2193658" y="5470984"/>
              <a:ext cx="1253725" cy="796115"/>
            </a:xfrm>
            <a:custGeom>
              <a:avLst/>
              <a:gdLst>
                <a:gd name="connsiteX0" fmla="*/ 0 w 1253725"/>
                <a:gd name="connsiteY0" fmla="*/ 79612 h 796115"/>
                <a:gd name="connsiteX1" fmla="*/ 79612 w 1253725"/>
                <a:gd name="connsiteY1" fmla="*/ 0 h 796115"/>
                <a:gd name="connsiteX2" fmla="*/ 1174114 w 1253725"/>
                <a:gd name="connsiteY2" fmla="*/ 0 h 796115"/>
                <a:gd name="connsiteX3" fmla="*/ 1253726 w 1253725"/>
                <a:gd name="connsiteY3" fmla="*/ 79612 h 796115"/>
                <a:gd name="connsiteX4" fmla="*/ 1253725 w 1253725"/>
                <a:gd name="connsiteY4" fmla="*/ 716504 h 796115"/>
                <a:gd name="connsiteX5" fmla="*/ 1174113 w 1253725"/>
                <a:gd name="connsiteY5" fmla="*/ 796116 h 796115"/>
                <a:gd name="connsiteX6" fmla="*/ 79612 w 1253725"/>
                <a:gd name="connsiteY6" fmla="*/ 796115 h 796115"/>
                <a:gd name="connsiteX7" fmla="*/ 0 w 1253725"/>
                <a:gd name="connsiteY7" fmla="*/ 716503 h 796115"/>
                <a:gd name="connsiteX8" fmla="*/ 0 w 1253725"/>
                <a:gd name="connsiteY8" fmla="*/ 79612 h 79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3725" h="796115">
                  <a:moveTo>
                    <a:pt x="0" y="79612"/>
                  </a:moveTo>
                  <a:cubicBezTo>
                    <a:pt x="0" y="35644"/>
                    <a:pt x="35644" y="0"/>
                    <a:pt x="79612" y="0"/>
                  </a:cubicBezTo>
                  <a:lnTo>
                    <a:pt x="1174114" y="0"/>
                  </a:lnTo>
                  <a:cubicBezTo>
                    <a:pt x="1218082" y="0"/>
                    <a:pt x="1253726" y="35644"/>
                    <a:pt x="1253726" y="79612"/>
                  </a:cubicBezTo>
                  <a:cubicBezTo>
                    <a:pt x="1253726" y="291909"/>
                    <a:pt x="1253725" y="504207"/>
                    <a:pt x="1253725" y="716504"/>
                  </a:cubicBezTo>
                  <a:cubicBezTo>
                    <a:pt x="1253725" y="760472"/>
                    <a:pt x="1218081" y="796116"/>
                    <a:pt x="1174113" y="796116"/>
                  </a:cubicBezTo>
                  <a:lnTo>
                    <a:pt x="79612" y="796115"/>
                  </a:lnTo>
                  <a:cubicBezTo>
                    <a:pt x="35644" y="796115"/>
                    <a:pt x="0" y="760471"/>
                    <a:pt x="0" y="716503"/>
                  </a:cubicBezTo>
                  <a:lnTo>
                    <a:pt x="0" y="79612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3327" tIns="103327" rIns="103327" bIns="103327" numCol="1" spcCol="1270" anchor="ctr" anchorCtr="0">
              <a:noAutofit/>
            </a:bodyPr>
            <a:lstStyle/>
            <a:p>
              <a:pPr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100" dirty="0"/>
                <a:t> 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3586686" y="5338647"/>
              <a:ext cx="1253725" cy="79611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44" name="Freeform 43"/>
            <p:cNvSpPr/>
            <p:nvPr/>
          </p:nvSpPr>
          <p:spPr>
            <a:xfrm>
              <a:off x="3725988" y="5470984"/>
              <a:ext cx="1253725" cy="796115"/>
            </a:xfrm>
            <a:custGeom>
              <a:avLst/>
              <a:gdLst>
                <a:gd name="connsiteX0" fmla="*/ 0 w 1253725"/>
                <a:gd name="connsiteY0" fmla="*/ 79612 h 796115"/>
                <a:gd name="connsiteX1" fmla="*/ 79612 w 1253725"/>
                <a:gd name="connsiteY1" fmla="*/ 0 h 796115"/>
                <a:gd name="connsiteX2" fmla="*/ 1174114 w 1253725"/>
                <a:gd name="connsiteY2" fmla="*/ 0 h 796115"/>
                <a:gd name="connsiteX3" fmla="*/ 1253726 w 1253725"/>
                <a:gd name="connsiteY3" fmla="*/ 79612 h 796115"/>
                <a:gd name="connsiteX4" fmla="*/ 1253725 w 1253725"/>
                <a:gd name="connsiteY4" fmla="*/ 716504 h 796115"/>
                <a:gd name="connsiteX5" fmla="*/ 1174113 w 1253725"/>
                <a:gd name="connsiteY5" fmla="*/ 796116 h 796115"/>
                <a:gd name="connsiteX6" fmla="*/ 79612 w 1253725"/>
                <a:gd name="connsiteY6" fmla="*/ 796115 h 796115"/>
                <a:gd name="connsiteX7" fmla="*/ 0 w 1253725"/>
                <a:gd name="connsiteY7" fmla="*/ 716503 h 796115"/>
                <a:gd name="connsiteX8" fmla="*/ 0 w 1253725"/>
                <a:gd name="connsiteY8" fmla="*/ 79612 h 79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3725" h="796115">
                  <a:moveTo>
                    <a:pt x="0" y="79612"/>
                  </a:moveTo>
                  <a:cubicBezTo>
                    <a:pt x="0" y="35644"/>
                    <a:pt x="35644" y="0"/>
                    <a:pt x="79612" y="0"/>
                  </a:cubicBezTo>
                  <a:lnTo>
                    <a:pt x="1174114" y="0"/>
                  </a:lnTo>
                  <a:cubicBezTo>
                    <a:pt x="1218082" y="0"/>
                    <a:pt x="1253726" y="35644"/>
                    <a:pt x="1253726" y="79612"/>
                  </a:cubicBezTo>
                  <a:cubicBezTo>
                    <a:pt x="1253726" y="291909"/>
                    <a:pt x="1253725" y="504207"/>
                    <a:pt x="1253725" y="716504"/>
                  </a:cubicBezTo>
                  <a:cubicBezTo>
                    <a:pt x="1253725" y="760472"/>
                    <a:pt x="1218081" y="796116"/>
                    <a:pt x="1174113" y="796116"/>
                  </a:cubicBezTo>
                  <a:lnTo>
                    <a:pt x="79612" y="796115"/>
                  </a:lnTo>
                  <a:cubicBezTo>
                    <a:pt x="35644" y="796115"/>
                    <a:pt x="0" y="760471"/>
                    <a:pt x="0" y="716503"/>
                  </a:cubicBezTo>
                  <a:lnTo>
                    <a:pt x="0" y="79612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3327" tIns="103327" rIns="103327" bIns="103327" numCol="1" spcCol="1270" anchor="ctr" anchorCtr="0">
              <a:noAutofit/>
            </a:bodyPr>
            <a:lstStyle/>
            <a:p>
              <a:pPr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100" dirty="0"/>
                <a:t> 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4810060" y="4177930"/>
              <a:ext cx="1253725" cy="79611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4949363" y="4310267"/>
              <a:ext cx="1253725" cy="796115"/>
            </a:xfrm>
            <a:custGeom>
              <a:avLst/>
              <a:gdLst>
                <a:gd name="connsiteX0" fmla="*/ 0 w 1253725"/>
                <a:gd name="connsiteY0" fmla="*/ 79612 h 796115"/>
                <a:gd name="connsiteX1" fmla="*/ 79612 w 1253725"/>
                <a:gd name="connsiteY1" fmla="*/ 0 h 796115"/>
                <a:gd name="connsiteX2" fmla="*/ 1174114 w 1253725"/>
                <a:gd name="connsiteY2" fmla="*/ 0 h 796115"/>
                <a:gd name="connsiteX3" fmla="*/ 1253726 w 1253725"/>
                <a:gd name="connsiteY3" fmla="*/ 79612 h 796115"/>
                <a:gd name="connsiteX4" fmla="*/ 1253725 w 1253725"/>
                <a:gd name="connsiteY4" fmla="*/ 716504 h 796115"/>
                <a:gd name="connsiteX5" fmla="*/ 1174113 w 1253725"/>
                <a:gd name="connsiteY5" fmla="*/ 796116 h 796115"/>
                <a:gd name="connsiteX6" fmla="*/ 79612 w 1253725"/>
                <a:gd name="connsiteY6" fmla="*/ 796115 h 796115"/>
                <a:gd name="connsiteX7" fmla="*/ 0 w 1253725"/>
                <a:gd name="connsiteY7" fmla="*/ 716503 h 796115"/>
                <a:gd name="connsiteX8" fmla="*/ 0 w 1253725"/>
                <a:gd name="connsiteY8" fmla="*/ 79612 h 79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3725" h="796115">
                  <a:moveTo>
                    <a:pt x="0" y="79612"/>
                  </a:moveTo>
                  <a:cubicBezTo>
                    <a:pt x="0" y="35644"/>
                    <a:pt x="35644" y="0"/>
                    <a:pt x="79612" y="0"/>
                  </a:cubicBezTo>
                  <a:lnTo>
                    <a:pt x="1174114" y="0"/>
                  </a:lnTo>
                  <a:cubicBezTo>
                    <a:pt x="1218082" y="0"/>
                    <a:pt x="1253726" y="35644"/>
                    <a:pt x="1253726" y="79612"/>
                  </a:cubicBezTo>
                  <a:cubicBezTo>
                    <a:pt x="1253726" y="291909"/>
                    <a:pt x="1253725" y="504207"/>
                    <a:pt x="1253725" y="716504"/>
                  </a:cubicBezTo>
                  <a:cubicBezTo>
                    <a:pt x="1253725" y="760472"/>
                    <a:pt x="1218081" y="796116"/>
                    <a:pt x="1174113" y="796116"/>
                  </a:cubicBezTo>
                  <a:lnTo>
                    <a:pt x="79612" y="796115"/>
                  </a:lnTo>
                  <a:cubicBezTo>
                    <a:pt x="35644" y="796115"/>
                    <a:pt x="0" y="760471"/>
                    <a:pt x="0" y="716503"/>
                  </a:cubicBezTo>
                  <a:lnTo>
                    <a:pt x="0" y="79612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3327" tIns="103327" rIns="103327" bIns="103327" numCol="1" spcCol="1270" anchor="ctr" anchorCtr="0">
              <a:noAutofit/>
            </a:bodyPr>
            <a:lstStyle/>
            <a:p>
              <a:pPr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100" dirty="0"/>
                <a:t> </a:t>
              </a:r>
            </a:p>
          </p:txBody>
        </p:sp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00131" y="4389958"/>
              <a:ext cx="531037" cy="531037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17900" y="5607248"/>
              <a:ext cx="531037" cy="531037"/>
            </a:xfrm>
            <a:prstGeom prst="rect">
              <a:avLst/>
            </a:prstGeom>
          </p:spPr>
        </p:pic>
        <p:pic>
          <p:nvPicPr>
            <p:cNvPr id="29" name="Picture 2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49176" y="5610360"/>
              <a:ext cx="531037" cy="531037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3127868" y="3764216"/>
              <a:ext cx="4978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yes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273806" y="3768491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no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378695" y="4921700"/>
              <a:ext cx="4978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yes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116366" y="4921700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no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4446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toys to real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issues in practice</a:t>
            </a:r>
          </a:p>
          <a:p>
            <a:pPr lvl="1"/>
            <a:r>
              <a:rPr lang="en-US" b="1" dirty="0"/>
              <a:t>Non-separable classes </a:t>
            </a:r>
            <a:r>
              <a:rPr lang="en-US" dirty="0">
                <a:sym typeface="Wingdings" panose="05000000000000000000" pitchFamily="2" charset="2"/>
              </a:rPr>
              <a:t> trade-offs</a:t>
            </a:r>
          </a:p>
          <a:p>
            <a:pPr lvl="1"/>
            <a:r>
              <a:rPr lang="en-US" b="1" dirty="0">
                <a:sym typeface="Wingdings" panose="05000000000000000000" pitchFamily="2" charset="2"/>
              </a:rPr>
              <a:t>Unbalanced classes</a:t>
            </a:r>
            <a:r>
              <a:rPr lang="en-US" dirty="0">
                <a:sym typeface="Wingdings" panose="05000000000000000000" pitchFamily="2" charset="2"/>
              </a:rPr>
              <a:t>: 100   s  against 100k    s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Most methods would treat all    as noise</a:t>
            </a:r>
            <a:endParaRPr lang="en-US" dirty="0"/>
          </a:p>
          <a:p>
            <a:pPr lvl="1"/>
            <a:r>
              <a:rPr lang="en-US" b="1" dirty="0"/>
              <a:t>Scalability</a:t>
            </a:r>
            <a:r>
              <a:rPr lang="en-US" dirty="0"/>
              <a:t>: from 10 objects to millions</a:t>
            </a:r>
          </a:p>
          <a:p>
            <a:pPr lvl="1"/>
            <a:r>
              <a:rPr lang="en-US" b="1" dirty="0"/>
              <a:t>Dimensionality</a:t>
            </a:r>
            <a:r>
              <a:rPr lang="en-US" dirty="0"/>
              <a:t>: from 2 features to hundreds</a:t>
            </a:r>
          </a:p>
          <a:p>
            <a:pPr lvl="2"/>
            <a:r>
              <a:rPr lang="en-US" dirty="0"/>
              <a:t>The curse of dimensionality: distances become meaningless</a:t>
            </a:r>
          </a:p>
          <a:p>
            <a:pPr lvl="1"/>
            <a:r>
              <a:rPr lang="en-US" dirty="0"/>
              <a:t>…</a:t>
            </a:r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4872" y="2636175"/>
            <a:ext cx="430789" cy="43078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660141" y="2636175"/>
            <a:ext cx="574920" cy="35721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5092" y="3066964"/>
            <a:ext cx="279937" cy="279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6205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and Testing</a:t>
            </a:r>
          </a:p>
        </p:txBody>
      </p:sp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1945" y="2235200"/>
            <a:ext cx="3579510" cy="2946400"/>
          </a:xfrm>
          <a:prstGeom prst="rect">
            <a:avLst/>
          </a:prstGeom>
          <a:noFill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16514" y="2340708"/>
            <a:ext cx="3842741" cy="2155092"/>
          </a:xfrm>
          <a:prstGeom prst="rect">
            <a:avLst/>
          </a:prstGeom>
          <a:noFill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17424" y="2209800"/>
            <a:ext cx="3804752" cy="2946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Risk Minimization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800" dirty="0"/>
              <a:t>Empirical risk minimization</a:t>
            </a:r>
          </a:p>
          <a:p>
            <a:pPr lvl="1"/>
            <a:r>
              <a:rPr lang="en-US" sz="2400" dirty="0"/>
              <a:t>Basic principle of machine learning</a:t>
            </a:r>
          </a:p>
          <a:p>
            <a:pPr lvl="1"/>
            <a:r>
              <a:rPr lang="en-US" sz="2400" dirty="0"/>
              <a:t>We want the model (classifier, </a:t>
            </a:r>
            <a:r>
              <a:rPr lang="en-US" sz="2400" dirty="0" err="1"/>
              <a:t>etc</a:t>
            </a:r>
            <a:r>
              <a:rPr lang="en-US" sz="2400" dirty="0"/>
              <a:t>) that does best on the true test distribution</a:t>
            </a:r>
          </a:p>
          <a:p>
            <a:pPr lvl="1"/>
            <a:r>
              <a:rPr lang="en-US" sz="2400" dirty="0"/>
              <a:t>Don’t know the true distribution so pick the best model on our actual training set</a:t>
            </a:r>
          </a:p>
          <a:p>
            <a:pPr lvl="1"/>
            <a:r>
              <a:rPr lang="en-US" sz="2400" dirty="0"/>
              <a:t>Finding “the best” model on the training set is phrased as an optimization problem</a:t>
            </a:r>
          </a:p>
          <a:p>
            <a:endParaRPr lang="en-US" sz="2800" dirty="0"/>
          </a:p>
          <a:p>
            <a:r>
              <a:rPr lang="en-US" sz="2800" dirty="0"/>
              <a:t>Potential worry: overfitting to the training set</a:t>
            </a:r>
          </a:p>
          <a:p>
            <a:pPr lvl="1"/>
            <a:r>
              <a:rPr lang="en-US" sz="2400" dirty="0"/>
              <a:t>Better with more training data (less sampling variance, training more like test)</a:t>
            </a:r>
          </a:p>
          <a:p>
            <a:pPr lvl="1"/>
            <a:r>
              <a:rPr lang="en-US" sz="2400" dirty="0"/>
              <a:t>Better if we limit the complexity of our hypotheses (regularization and/or small hypothesis spaces)</a:t>
            </a:r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062527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B6EA582-DC6C-7A45-B99C-E562BAA80F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>
                <a:cs typeface="+mj-cs"/>
              </a:rPr>
              <a:t>General Approach for Building Classification Model</a:t>
            </a:r>
          </a:p>
        </p:txBody>
      </p:sp>
      <p:graphicFrame>
        <p:nvGraphicFramePr>
          <p:cNvPr id="24578" name="Object 26">
            <a:extLst>
              <a:ext uri="{FF2B5EF4-FFF2-40B4-BE49-F238E27FC236}">
                <a16:creationId xmlns:a16="http://schemas.microsoft.com/office/drawing/2014/main" id="{1DBC0DB7-A3DE-8548-B50A-5E7BD3111889}"/>
              </a:ext>
            </a:extLst>
          </p:cNvPr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993916870"/>
              </p:ext>
            </p:extLst>
          </p:nvPr>
        </p:nvGraphicFramePr>
        <p:xfrm>
          <a:off x="2771192" y="1690688"/>
          <a:ext cx="6950075" cy="518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432800" imgH="6286500" progId="Visio.Drawing.6">
                  <p:embed/>
                </p:oleObj>
              </mc:Choice>
              <mc:Fallback>
                <p:oleObj name="Visio" r:id="rId2" imgW="8432800" imgH="6286500" progId="Visio.Drawing.6">
                  <p:embed/>
                  <p:pic>
                    <p:nvPicPr>
                      <p:cNvPr id="24578" name="Object 26">
                        <a:extLst>
                          <a:ext uri="{FF2B5EF4-FFF2-40B4-BE49-F238E27FC236}">
                            <a16:creationId xmlns:a16="http://schemas.microsoft.com/office/drawing/2014/main" id="{1DBC0DB7-A3DE-8548-B50A-5E7BD31118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192" y="1690688"/>
                        <a:ext cx="6950075" cy="518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24862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327D82-A62E-CA41-A895-1F8359B0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887" y="365125"/>
            <a:ext cx="10864913" cy="1325563"/>
          </a:xfrm>
        </p:spPr>
        <p:txBody>
          <a:bodyPr/>
          <a:lstStyle/>
          <a:p>
            <a:r>
              <a:rPr lang="en-US" dirty="0"/>
              <a:t>General Approach for Building Classification M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B6861826-5F01-AB48-9DEE-46BC36885386}"/>
              </a:ext>
            </a:extLst>
          </p:cNvPr>
          <p:cNvSpPr/>
          <p:nvPr/>
        </p:nvSpPr>
        <p:spPr>
          <a:xfrm>
            <a:off x="838200" y="2382592"/>
            <a:ext cx="1455312" cy="164849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</a:rPr>
              <a:t>     X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65B37DE2-7BFC-334E-87DE-C3CE4E13B783}"/>
              </a:ext>
            </a:extLst>
          </p:cNvPr>
          <p:cNvCxnSpPr>
            <a:stCxn id="4" idx="3"/>
          </p:cNvCxnSpPr>
          <p:nvPr/>
        </p:nvCxnSpPr>
        <p:spPr>
          <a:xfrm flipV="1">
            <a:off x="2293512" y="2627290"/>
            <a:ext cx="848933" cy="5795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6D13A26A-E69B-C64D-96E3-24DF0F1F3EC8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293512" y="3583882"/>
            <a:ext cx="848933" cy="6427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tangolo 9">
            <a:extLst>
              <a:ext uri="{FF2B5EF4-FFF2-40B4-BE49-F238E27FC236}">
                <a16:creationId xmlns:a16="http://schemas.microsoft.com/office/drawing/2014/main" id="{69B46304-7FBD-1744-ACCF-DBB6CC4B5484}"/>
              </a:ext>
            </a:extLst>
          </p:cNvPr>
          <p:cNvSpPr/>
          <p:nvPr/>
        </p:nvSpPr>
        <p:spPr>
          <a:xfrm>
            <a:off x="3142445" y="1964508"/>
            <a:ext cx="1455312" cy="132556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/>
                </a:solidFill>
              </a:rPr>
              <a:t>X</a:t>
            </a:r>
            <a:r>
              <a:rPr lang="en-US" sz="2800" baseline="-25000" dirty="0" err="1">
                <a:solidFill>
                  <a:schemeClr val="tx1"/>
                </a:solidFill>
              </a:rPr>
              <a:t>train</a:t>
            </a:r>
            <a:endParaRPr lang="en-US" sz="2800" baseline="-25000" dirty="0">
              <a:solidFill>
                <a:schemeClr val="tx1"/>
              </a:solidFill>
            </a:endParaRP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C4C13A3F-0B1E-0A43-AA63-F96538C0679C}"/>
              </a:ext>
            </a:extLst>
          </p:cNvPr>
          <p:cNvSpPr/>
          <p:nvPr/>
        </p:nvSpPr>
        <p:spPr>
          <a:xfrm>
            <a:off x="3142445" y="3563891"/>
            <a:ext cx="1455312" cy="132556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/>
                </a:solidFill>
              </a:rPr>
              <a:t>X</a:t>
            </a:r>
            <a:r>
              <a:rPr lang="en-US" sz="2800" baseline="-25000" dirty="0" err="1">
                <a:solidFill>
                  <a:schemeClr val="tx1"/>
                </a:solidFill>
              </a:rPr>
              <a:t>test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E9064D1A-FB5C-F945-9534-C5A21C8660D1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4597757" y="2627289"/>
            <a:ext cx="965916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008C7E66-D481-E447-A3D0-ED7483CD9FD7}"/>
              </a:ext>
            </a:extLst>
          </p:cNvPr>
          <p:cNvSpPr/>
          <p:nvPr/>
        </p:nvSpPr>
        <p:spPr>
          <a:xfrm>
            <a:off x="5563673" y="2103363"/>
            <a:ext cx="1901783" cy="104785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Model</a:t>
            </a:r>
          </a:p>
          <a:p>
            <a:pPr algn="ctr"/>
            <a:r>
              <a:rPr lang="en-US" sz="2800" dirty="0"/>
              <a:t>Learning</a:t>
            </a:r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8D688B41-0266-EF4A-9A91-AFE994F09A55}"/>
              </a:ext>
            </a:extLst>
          </p:cNvPr>
          <p:cNvCxnSpPr>
            <a:cxnSpLocks/>
          </p:cNvCxnSpPr>
          <p:nvPr/>
        </p:nvCxnSpPr>
        <p:spPr>
          <a:xfrm flipV="1">
            <a:off x="7465456" y="2627288"/>
            <a:ext cx="965916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tangolo con due angoli in diagonale arrotondati 17">
            <a:extLst>
              <a:ext uri="{FF2B5EF4-FFF2-40B4-BE49-F238E27FC236}">
                <a16:creationId xmlns:a16="http://schemas.microsoft.com/office/drawing/2014/main" id="{6E8CB7B2-48D0-8246-A471-061A2ABBC0E8}"/>
              </a:ext>
            </a:extLst>
          </p:cNvPr>
          <p:cNvSpPr/>
          <p:nvPr/>
        </p:nvSpPr>
        <p:spPr>
          <a:xfrm>
            <a:off x="8431372" y="2189840"/>
            <a:ext cx="2013394" cy="961375"/>
          </a:xfrm>
          <a:prstGeom prst="round2Diag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i="1" dirty="0"/>
              <a:t>f</a:t>
            </a: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865E3319-7DCB-514C-8CF0-0C345420C72B}"/>
              </a:ext>
            </a:extLst>
          </p:cNvPr>
          <p:cNvSpPr/>
          <p:nvPr/>
        </p:nvSpPr>
        <p:spPr>
          <a:xfrm>
            <a:off x="8431372" y="3790500"/>
            <a:ext cx="2013393" cy="104785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Model</a:t>
            </a:r>
          </a:p>
          <a:p>
            <a:pPr algn="ctr"/>
            <a:r>
              <a:rPr lang="en-US" sz="2800" dirty="0"/>
              <a:t>Application</a:t>
            </a:r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5A8F5527-C2A0-3241-A0E6-A4B36463CBBE}"/>
              </a:ext>
            </a:extLst>
          </p:cNvPr>
          <p:cNvCxnSpPr>
            <a:cxnSpLocks/>
          </p:cNvCxnSpPr>
          <p:nvPr/>
        </p:nvCxnSpPr>
        <p:spPr>
          <a:xfrm flipV="1">
            <a:off x="4597757" y="4226672"/>
            <a:ext cx="3833615" cy="207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5BEC569C-1683-A74E-BB2D-F5E491B3BBD3}"/>
              </a:ext>
            </a:extLst>
          </p:cNvPr>
          <p:cNvCxnSpPr>
            <a:cxnSpLocks/>
            <a:stCxn id="18" idx="1"/>
          </p:cNvCxnSpPr>
          <p:nvPr/>
        </p:nvCxnSpPr>
        <p:spPr>
          <a:xfrm>
            <a:off x="9438069" y="3151215"/>
            <a:ext cx="0" cy="6392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3F20C691-259B-6348-B61D-57F469AB993F}"/>
              </a:ext>
            </a:extLst>
          </p:cNvPr>
          <p:cNvCxnSpPr>
            <a:cxnSpLocks/>
          </p:cNvCxnSpPr>
          <p:nvPr/>
        </p:nvCxnSpPr>
        <p:spPr>
          <a:xfrm>
            <a:off x="9438067" y="4838352"/>
            <a:ext cx="0" cy="6392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ttangolo 28">
            <a:extLst>
              <a:ext uri="{FF2B5EF4-FFF2-40B4-BE49-F238E27FC236}">
                <a16:creationId xmlns:a16="http://schemas.microsoft.com/office/drawing/2014/main" id="{A200DE02-BC39-2249-850E-9585AB4B5EDF}"/>
              </a:ext>
            </a:extLst>
          </p:cNvPr>
          <p:cNvSpPr/>
          <p:nvPr/>
        </p:nvSpPr>
        <p:spPr>
          <a:xfrm>
            <a:off x="1972871" y="2382592"/>
            <a:ext cx="325706" cy="16484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Y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D6B25173-1725-DF40-AE00-CB000876F0FF}"/>
              </a:ext>
            </a:extLst>
          </p:cNvPr>
          <p:cNvSpPr txBox="1"/>
          <p:nvPr/>
        </p:nvSpPr>
        <p:spPr>
          <a:xfrm>
            <a:off x="995988" y="1939934"/>
            <a:ext cx="11397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Dataset</a:t>
            </a:r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83882B1D-EF65-DE46-A490-F549C1B0487F}"/>
              </a:ext>
            </a:extLst>
          </p:cNvPr>
          <p:cNvSpPr/>
          <p:nvPr/>
        </p:nvSpPr>
        <p:spPr>
          <a:xfrm>
            <a:off x="4272051" y="1964508"/>
            <a:ext cx="325706" cy="132555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14DB13FB-6796-5841-9A6C-B77F5C333F74}"/>
              </a:ext>
            </a:extLst>
          </p:cNvPr>
          <p:cNvSpPr txBox="1"/>
          <p:nvPr/>
        </p:nvSpPr>
        <p:spPr>
          <a:xfrm>
            <a:off x="2820473" y="1522834"/>
            <a:ext cx="2099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Training Set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BFFBB918-6384-EE4B-BFBB-444F52B30A47}"/>
              </a:ext>
            </a:extLst>
          </p:cNvPr>
          <p:cNvSpPr txBox="1"/>
          <p:nvPr/>
        </p:nvSpPr>
        <p:spPr>
          <a:xfrm>
            <a:off x="2513945" y="4889159"/>
            <a:ext cx="2099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Test Set</a:t>
            </a:r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B2E9E3BA-A11E-EF47-8489-BBFBF25FF448}"/>
              </a:ext>
            </a:extLst>
          </p:cNvPr>
          <p:cNvSpPr/>
          <p:nvPr/>
        </p:nvSpPr>
        <p:spPr>
          <a:xfrm>
            <a:off x="4266125" y="3573892"/>
            <a:ext cx="325706" cy="132555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7BC19640-D8B1-9444-8890-E73E2F1278B5}"/>
              </a:ext>
            </a:extLst>
          </p:cNvPr>
          <p:cNvSpPr txBox="1"/>
          <p:nvPr/>
        </p:nvSpPr>
        <p:spPr>
          <a:xfrm>
            <a:off x="8786286" y="1733886"/>
            <a:ext cx="1303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Classifier</a:t>
            </a:r>
            <a:endParaRPr lang="en-US" sz="2800" dirty="0"/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88D4F182-EF00-824F-A387-2CEE5358C048}"/>
              </a:ext>
            </a:extLst>
          </p:cNvPr>
          <p:cNvSpPr txBox="1"/>
          <p:nvPr/>
        </p:nvSpPr>
        <p:spPr>
          <a:xfrm>
            <a:off x="5829839" y="1654445"/>
            <a:ext cx="13147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model fit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B67A8306-0D5F-BD4F-AAE3-637EAB9C315E}"/>
              </a:ext>
            </a:extLst>
          </p:cNvPr>
          <p:cNvSpPr txBox="1"/>
          <p:nvPr/>
        </p:nvSpPr>
        <p:spPr>
          <a:xfrm>
            <a:off x="10541360" y="3831928"/>
            <a:ext cx="10686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model</a:t>
            </a:r>
          </a:p>
          <a:p>
            <a:r>
              <a:rPr lang="en-US" sz="2400" dirty="0"/>
              <a:t>predict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6E98F9C8-7115-C448-9798-7A46F186F4B3}"/>
              </a:ext>
            </a:extLst>
          </p:cNvPr>
          <p:cNvSpPr txBox="1"/>
          <p:nvPr/>
        </p:nvSpPr>
        <p:spPr>
          <a:xfrm>
            <a:off x="10468199" y="5827521"/>
            <a:ext cx="14598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Prediction</a:t>
            </a:r>
            <a:endParaRPr lang="en-US" dirty="0"/>
          </a:p>
        </p:txBody>
      </p:sp>
      <p:sp>
        <p:nvSpPr>
          <p:cNvPr id="41" name="Rettangolo 40">
            <a:extLst>
              <a:ext uri="{FF2B5EF4-FFF2-40B4-BE49-F238E27FC236}">
                <a16:creationId xmlns:a16="http://schemas.microsoft.com/office/drawing/2014/main" id="{1CA62E73-3807-B548-BD0C-437B5C5B035E}"/>
              </a:ext>
            </a:extLst>
          </p:cNvPr>
          <p:cNvSpPr/>
          <p:nvPr/>
        </p:nvSpPr>
        <p:spPr>
          <a:xfrm>
            <a:off x="9275213" y="5490517"/>
            <a:ext cx="409697" cy="132555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927D85F0-FBED-304F-ACBF-07FA1647C80E}"/>
              </a:ext>
            </a:extLst>
          </p:cNvPr>
          <p:cNvSpPr txBox="1"/>
          <p:nvPr/>
        </p:nvSpPr>
        <p:spPr>
          <a:xfrm>
            <a:off x="4266125" y="2343468"/>
            <a:ext cx="8052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Y</a:t>
            </a:r>
            <a:r>
              <a:rPr lang="en-US" sz="2800" baseline="-25000" dirty="0" err="1"/>
              <a:t>train</a:t>
            </a:r>
            <a:endParaRPr lang="en-US" sz="2400" baseline="-25000" dirty="0"/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8548AA3E-79BA-2E42-A119-D63EC83DC094}"/>
              </a:ext>
            </a:extLst>
          </p:cNvPr>
          <p:cNvSpPr txBox="1"/>
          <p:nvPr/>
        </p:nvSpPr>
        <p:spPr>
          <a:xfrm>
            <a:off x="4254032" y="3975061"/>
            <a:ext cx="7183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Y</a:t>
            </a:r>
            <a:r>
              <a:rPr lang="en-US" sz="2800" baseline="-25000" dirty="0" err="1"/>
              <a:t>test</a:t>
            </a:r>
            <a:endParaRPr lang="en-US" sz="2400" baseline="-25000" dirty="0"/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DF6F1165-792A-E745-AC2E-DBB847B49D2B}"/>
              </a:ext>
            </a:extLst>
          </p:cNvPr>
          <p:cNvSpPr txBox="1"/>
          <p:nvPr/>
        </p:nvSpPr>
        <p:spPr>
          <a:xfrm>
            <a:off x="9275213" y="5827521"/>
            <a:ext cx="791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Y</a:t>
            </a:r>
            <a:r>
              <a:rPr lang="en-US" sz="2800" baseline="-25000" dirty="0" err="1"/>
              <a:t>pred</a:t>
            </a:r>
            <a:endParaRPr lang="en-US" sz="2400" baseline="-25000" dirty="0"/>
          </a:p>
        </p:txBody>
      </p: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87266ECE-2B77-4642-BA4A-3D92381ECF24}"/>
              </a:ext>
            </a:extLst>
          </p:cNvPr>
          <p:cNvCxnSpPr>
            <a:cxnSpLocks/>
          </p:cNvCxnSpPr>
          <p:nvPr/>
        </p:nvCxnSpPr>
        <p:spPr>
          <a:xfrm flipH="1">
            <a:off x="5563673" y="6153296"/>
            <a:ext cx="37115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ttore 2 49">
            <a:extLst>
              <a:ext uri="{FF2B5EF4-FFF2-40B4-BE49-F238E27FC236}">
                <a16:creationId xmlns:a16="http://schemas.microsoft.com/office/drawing/2014/main" id="{769EDE90-98AF-4842-898A-39FA0BBA74D5}"/>
              </a:ext>
            </a:extLst>
          </p:cNvPr>
          <p:cNvCxnSpPr>
            <a:cxnSpLocks/>
          </p:cNvCxnSpPr>
          <p:nvPr/>
        </p:nvCxnSpPr>
        <p:spPr>
          <a:xfrm>
            <a:off x="4428978" y="4899450"/>
            <a:ext cx="0" cy="6392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ttangolo con angoli arrotondati 50">
            <a:extLst>
              <a:ext uri="{FF2B5EF4-FFF2-40B4-BE49-F238E27FC236}">
                <a16:creationId xmlns:a16="http://schemas.microsoft.com/office/drawing/2014/main" id="{70F8AEF2-7FB0-ED40-91A5-7CB6D355A905}"/>
              </a:ext>
            </a:extLst>
          </p:cNvPr>
          <p:cNvSpPr/>
          <p:nvPr/>
        </p:nvSpPr>
        <p:spPr>
          <a:xfrm>
            <a:off x="3495066" y="5534184"/>
            <a:ext cx="2013393" cy="104785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Model</a:t>
            </a:r>
          </a:p>
          <a:p>
            <a:pPr algn="ctr"/>
            <a:r>
              <a:rPr lang="en-US" sz="2800" dirty="0"/>
              <a:t>Evaluation</a:t>
            </a:r>
          </a:p>
        </p:txBody>
      </p:sp>
      <p:cxnSp>
        <p:nvCxnSpPr>
          <p:cNvPr id="53" name="Connettore 2 52">
            <a:extLst>
              <a:ext uri="{FF2B5EF4-FFF2-40B4-BE49-F238E27FC236}">
                <a16:creationId xmlns:a16="http://schemas.microsoft.com/office/drawing/2014/main" id="{256325C9-8795-C149-A578-201A9464294C}"/>
              </a:ext>
            </a:extLst>
          </p:cNvPr>
          <p:cNvCxnSpPr>
            <a:cxnSpLocks/>
          </p:cNvCxnSpPr>
          <p:nvPr/>
        </p:nvCxnSpPr>
        <p:spPr>
          <a:xfrm flipH="1">
            <a:off x="2513945" y="6058110"/>
            <a:ext cx="98112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7FB334B4-5C30-9E45-BE4C-02713A79EBEB}"/>
              </a:ext>
            </a:extLst>
          </p:cNvPr>
          <p:cNvSpPr txBox="1"/>
          <p:nvPr/>
        </p:nvSpPr>
        <p:spPr>
          <a:xfrm>
            <a:off x="1231052" y="5827277"/>
            <a:ext cx="13020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Accuracy</a:t>
            </a:r>
          </a:p>
        </p:txBody>
      </p:sp>
    </p:spTree>
    <p:extLst>
      <p:ext uri="{BB962C8B-B14F-4D97-AF65-F5344CB8AC3E}">
        <p14:creationId xmlns:p14="http://schemas.microsoft.com/office/powerpoint/2010/main" val="4076394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6" grpId="0" animBg="1"/>
      <p:bldP spid="18" grpId="0" animBg="1"/>
      <p:bldP spid="19" grpId="0" animBg="1"/>
      <p:bldP spid="33" grpId="0" animBg="1"/>
      <p:bldP spid="34" grpId="0"/>
      <p:bldP spid="35" grpId="0"/>
      <p:bldP spid="36" grpId="0" animBg="1"/>
      <p:bldP spid="37" grpId="0"/>
      <p:bldP spid="38" grpId="0"/>
      <p:bldP spid="39" grpId="0"/>
      <p:bldP spid="40" grpId="0"/>
      <p:bldP spid="41" grpId="0" animBg="1"/>
      <p:bldP spid="43" grpId="0"/>
      <p:bldP spid="44" grpId="0"/>
      <p:bldP spid="45" grpId="0"/>
      <p:bldP spid="51" grpId="0" animBg="1"/>
      <p:bldP spid="5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/>
                <a:cs typeface="Calibri"/>
              </a:rPr>
              <a:t>Important Concepts</a:t>
            </a:r>
          </a:p>
        </p:txBody>
      </p:sp>
      <p:sp>
        <p:nvSpPr>
          <p:cNvPr id="128307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6324600" cy="49530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1800" dirty="0">
                <a:latin typeface="Calibri"/>
                <a:cs typeface="Calibri"/>
              </a:rPr>
              <a:t>Data: labeled instances (e.g. emails marked spam/ham)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>
                <a:latin typeface="Calibri"/>
                <a:cs typeface="Calibri"/>
              </a:rPr>
              <a:t>Training set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>
                <a:latin typeface="Calibri"/>
                <a:cs typeface="Calibri"/>
              </a:rPr>
              <a:t>Held out set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>
                <a:latin typeface="Calibri"/>
                <a:cs typeface="Calibri"/>
              </a:rPr>
              <a:t>Test set</a:t>
            </a:r>
          </a:p>
          <a:p>
            <a:pPr lvl="1" eaLnBrk="1" hangingPunct="1">
              <a:lnSpc>
                <a:spcPct val="80000"/>
              </a:lnSpc>
            </a:pPr>
            <a:endParaRPr lang="en-US" sz="800" dirty="0">
              <a:latin typeface="Calibri"/>
              <a:cs typeface="Calibri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1800" dirty="0">
                <a:latin typeface="Calibri"/>
                <a:cs typeface="Calibri"/>
              </a:rPr>
              <a:t>Features: attribute-value pairs which characterize each x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700" dirty="0">
              <a:latin typeface="Calibri"/>
              <a:cs typeface="Calibri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1800" dirty="0">
                <a:latin typeface="Calibri"/>
                <a:cs typeface="Calibri"/>
              </a:rPr>
              <a:t>Experimentation cycle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>
                <a:latin typeface="Calibri"/>
                <a:cs typeface="Calibri"/>
              </a:rPr>
              <a:t>Learn parameters (e.g. model probabilities) on training set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>
                <a:latin typeface="Calibri"/>
                <a:cs typeface="Calibri"/>
              </a:rPr>
              <a:t>(Tune </a:t>
            </a:r>
            <a:r>
              <a:rPr lang="en-US" sz="1600" dirty="0" err="1">
                <a:latin typeface="Calibri"/>
                <a:cs typeface="Calibri"/>
              </a:rPr>
              <a:t>hyperparameters</a:t>
            </a:r>
            <a:r>
              <a:rPr lang="en-US" sz="1600" dirty="0">
                <a:latin typeface="Calibri"/>
                <a:cs typeface="Calibri"/>
              </a:rPr>
              <a:t> on held-out set)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>
                <a:latin typeface="Calibri"/>
                <a:cs typeface="Calibri"/>
              </a:rPr>
              <a:t>Compute accuracy of test set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>
                <a:latin typeface="Calibri"/>
                <a:cs typeface="Calibri"/>
              </a:rPr>
              <a:t>Very important: never “peek” at the test set!</a:t>
            </a:r>
          </a:p>
          <a:p>
            <a:pPr lvl="1" eaLnBrk="1" hangingPunct="1">
              <a:lnSpc>
                <a:spcPct val="80000"/>
              </a:lnSpc>
            </a:pPr>
            <a:endParaRPr lang="en-US" sz="700" dirty="0">
              <a:latin typeface="Calibri"/>
              <a:cs typeface="Calibri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1800" dirty="0">
                <a:latin typeface="Calibri"/>
                <a:cs typeface="Calibri"/>
              </a:rPr>
              <a:t>Evaluation (many metrics possible, e.g. accuracy)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>
                <a:latin typeface="Calibri"/>
                <a:cs typeface="Calibri"/>
              </a:rPr>
              <a:t>Accuracy: fraction of instances predicted correctly</a:t>
            </a:r>
          </a:p>
          <a:p>
            <a:pPr lvl="1" eaLnBrk="1" hangingPunct="1">
              <a:lnSpc>
                <a:spcPct val="80000"/>
              </a:lnSpc>
            </a:pPr>
            <a:endParaRPr lang="en-US" sz="1000" dirty="0">
              <a:latin typeface="Calibri"/>
              <a:cs typeface="Calibri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1800" dirty="0" err="1">
                <a:latin typeface="Calibri"/>
                <a:cs typeface="Calibri"/>
              </a:rPr>
              <a:t>Overfitting</a:t>
            </a:r>
            <a:r>
              <a:rPr lang="en-US" sz="1800" dirty="0">
                <a:latin typeface="Calibri"/>
                <a:cs typeface="Calibri"/>
              </a:rPr>
              <a:t> and generalization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>
                <a:latin typeface="Calibri"/>
                <a:cs typeface="Calibri"/>
              </a:rPr>
              <a:t>Want a classifier which does well on </a:t>
            </a:r>
            <a:r>
              <a:rPr lang="en-US" sz="1600" i="1" dirty="0">
                <a:latin typeface="Calibri"/>
                <a:cs typeface="Calibri"/>
              </a:rPr>
              <a:t>test</a:t>
            </a:r>
            <a:r>
              <a:rPr lang="en-US" sz="1600" dirty="0">
                <a:latin typeface="Calibri"/>
                <a:cs typeface="Calibri"/>
              </a:rPr>
              <a:t> data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>
                <a:latin typeface="Calibri"/>
                <a:cs typeface="Calibri"/>
              </a:rPr>
              <a:t>Overfitting: fitting the training data very closely, but not generalizing well</a:t>
            </a: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6934200" y="1600200"/>
            <a:ext cx="1676400" cy="2590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/>
                <a:cs typeface="Calibri"/>
              </a:rPr>
              <a:t>Training</a:t>
            </a:r>
          </a:p>
          <a:p>
            <a:pPr algn="ctr"/>
            <a:r>
              <a:rPr lang="en-US">
                <a:latin typeface="Calibri"/>
                <a:cs typeface="Calibri"/>
              </a:rPr>
              <a:t>Data</a:t>
            </a:r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6934200" y="4267200"/>
            <a:ext cx="1676400" cy="990600"/>
          </a:xfrm>
          <a:prstGeom prst="rect">
            <a:avLst/>
          </a:prstGeom>
          <a:solidFill>
            <a:srgbClr val="FF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latin typeface="Calibri"/>
                <a:cs typeface="Calibri"/>
              </a:rPr>
              <a:t>Held-Out</a:t>
            </a:r>
          </a:p>
          <a:p>
            <a:pPr algn="ctr"/>
            <a:r>
              <a:rPr lang="en-US" dirty="0">
                <a:latin typeface="Calibri"/>
                <a:cs typeface="Calibri"/>
              </a:rPr>
              <a:t>Data</a:t>
            </a:r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6934200" y="5334000"/>
            <a:ext cx="1676400" cy="914400"/>
          </a:xfrm>
          <a:prstGeom prst="rect">
            <a:avLst/>
          </a:prstGeom>
          <a:solidFill>
            <a:srgbClr val="BDE6B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/>
                <a:cs typeface="Calibri"/>
              </a:rPr>
              <a:t>Test</a:t>
            </a:r>
          </a:p>
          <a:p>
            <a:pPr algn="ctr"/>
            <a:r>
              <a:rPr lang="en-US">
                <a:latin typeface="Calibri"/>
                <a:cs typeface="Calibri"/>
              </a:rPr>
              <a:t>Data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39933" y="1600200"/>
            <a:ext cx="2777206" cy="2286000"/>
          </a:xfrm>
          <a:prstGeom prst="rect">
            <a:avLst/>
          </a:prstGeom>
          <a:noFill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45493" y="3886200"/>
            <a:ext cx="2164772" cy="1676400"/>
          </a:xfrm>
          <a:prstGeom prst="rect">
            <a:avLst/>
          </a:prstGeom>
          <a:noFill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46386" y="5388709"/>
            <a:ext cx="2212274" cy="1240691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143E7BE3-C1B3-6A45-82D0-82D9502D41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Classification Techniques</a:t>
            </a:r>
          </a:p>
        </p:txBody>
      </p:sp>
      <p:sp>
        <p:nvSpPr>
          <p:cNvPr id="26626" name="Rectangle 5">
            <a:extLst>
              <a:ext uri="{FF2B5EF4-FFF2-40B4-BE49-F238E27FC236}">
                <a16:creationId xmlns:a16="http://schemas.microsoft.com/office/drawing/2014/main" id="{1211B8B2-8667-6D42-92A1-827D74A066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it-IT" dirty="0">
                <a:ea typeface="ＭＳ Ｐゴシック" panose="020B0600070205080204" pitchFamily="34" charset="-128"/>
              </a:rPr>
              <a:t>Base Classifiers</a:t>
            </a:r>
          </a:p>
          <a:p>
            <a:pPr lvl="1">
              <a:lnSpc>
                <a:spcPct val="90000"/>
              </a:lnSpc>
            </a:pPr>
            <a:r>
              <a:rPr lang="en-US" altLang="it-IT" b="1" dirty="0">
                <a:ea typeface="ＭＳ Ｐゴシック" panose="020B0600070205080204" pitchFamily="34" charset="-128"/>
              </a:rPr>
              <a:t>Decision Tree based Methods</a:t>
            </a:r>
          </a:p>
          <a:p>
            <a:pPr lvl="1">
              <a:lnSpc>
                <a:spcPct val="90000"/>
              </a:lnSpc>
            </a:pPr>
            <a:r>
              <a:rPr lang="en-US" altLang="it-IT" dirty="0">
                <a:ea typeface="ＭＳ Ｐゴシック" panose="020B0600070205080204" pitchFamily="34" charset="-128"/>
              </a:rPr>
              <a:t>Rule-based Methods</a:t>
            </a:r>
          </a:p>
          <a:p>
            <a:pPr lvl="1">
              <a:lnSpc>
                <a:spcPct val="90000"/>
              </a:lnSpc>
            </a:pPr>
            <a:r>
              <a:rPr lang="en-US" altLang="it-IT" b="1" dirty="0">
                <a:ea typeface="ＭＳ Ｐゴシック" panose="020B0600070205080204" pitchFamily="34" charset="-128"/>
              </a:rPr>
              <a:t>Nearest-neighbor</a:t>
            </a:r>
          </a:p>
          <a:p>
            <a:pPr lvl="1">
              <a:lnSpc>
                <a:spcPct val="90000"/>
              </a:lnSpc>
            </a:pPr>
            <a:r>
              <a:rPr lang="en-US" altLang="it-IT" b="1" dirty="0">
                <a:ea typeface="ＭＳ Ｐゴシック" panose="020B0600070205080204" pitchFamily="34" charset="-128"/>
              </a:rPr>
              <a:t>Neural Networks</a:t>
            </a:r>
          </a:p>
          <a:p>
            <a:pPr lvl="1">
              <a:lnSpc>
                <a:spcPct val="90000"/>
              </a:lnSpc>
            </a:pPr>
            <a:r>
              <a:rPr lang="en-US" altLang="it-IT" b="1" dirty="0">
                <a:ea typeface="ＭＳ Ｐゴシック" panose="020B0600070205080204" pitchFamily="34" charset="-128"/>
              </a:rPr>
              <a:t>Deep Learning</a:t>
            </a:r>
          </a:p>
          <a:p>
            <a:pPr lvl="1">
              <a:lnSpc>
                <a:spcPct val="90000"/>
              </a:lnSpc>
            </a:pPr>
            <a:r>
              <a:rPr lang="en-US" altLang="it-IT" b="1" dirty="0">
                <a:ea typeface="ＭＳ Ｐゴシック" panose="020B0600070205080204" pitchFamily="34" charset="-128"/>
              </a:rPr>
              <a:t>Naïve Bayes and Bayesian Belief Networks</a:t>
            </a:r>
          </a:p>
          <a:p>
            <a:pPr lvl="1">
              <a:lnSpc>
                <a:spcPct val="90000"/>
              </a:lnSpc>
            </a:pPr>
            <a:r>
              <a:rPr lang="en-US" altLang="it-IT" b="1" dirty="0">
                <a:ea typeface="ＭＳ Ｐゴシック" panose="020B0600070205080204" pitchFamily="34" charset="-128"/>
              </a:rPr>
              <a:t>Support Vector Machines</a:t>
            </a:r>
          </a:p>
          <a:p>
            <a:pPr>
              <a:lnSpc>
                <a:spcPct val="90000"/>
              </a:lnSpc>
            </a:pPr>
            <a:r>
              <a:rPr lang="en-US" altLang="it-IT" dirty="0">
                <a:ea typeface="ＭＳ Ｐゴシック" panose="020B0600070205080204" pitchFamily="34" charset="-128"/>
              </a:rPr>
              <a:t>Ensemble Classifiers</a:t>
            </a:r>
          </a:p>
          <a:p>
            <a:pPr lvl="1">
              <a:lnSpc>
                <a:spcPct val="90000"/>
              </a:lnSpc>
            </a:pPr>
            <a:r>
              <a:rPr lang="en-US" altLang="it-IT" b="1" dirty="0">
                <a:ea typeface="ＭＳ Ｐゴシック" panose="020B0600070205080204" pitchFamily="34" charset="-128"/>
              </a:rPr>
              <a:t>Boosting, Bagging, Random Forests</a:t>
            </a:r>
          </a:p>
        </p:txBody>
      </p:sp>
    </p:spTree>
    <p:extLst>
      <p:ext uri="{BB962C8B-B14F-4D97-AF65-F5344CB8AC3E}">
        <p14:creationId xmlns:p14="http://schemas.microsoft.com/office/powerpoint/2010/main" val="17778448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B56805-27B6-9941-9623-EE2991DF1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br>
              <a:rPr lang="en-US" b="1" dirty="0">
                <a:solidFill>
                  <a:srgbClr val="00FB92"/>
                </a:solidFill>
              </a:rPr>
            </a:br>
            <a:r>
              <a:rPr lang="en-US" b="1" dirty="0"/>
              <a:t>Decision Tree</a:t>
            </a:r>
            <a:endParaRPr lang="en-US" sz="3000" b="1" dirty="0"/>
          </a:p>
        </p:txBody>
      </p:sp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D6F288DE-7B36-1745-8291-1D66544FBE52}"/>
              </a:ext>
            </a:extLst>
          </p:cNvPr>
          <p:cNvCxnSpPr/>
          <p:nvPr/>
        </p:nvCxnSpPr>
        <p:spPr>
          <a:xfrm>
            <a:off x="0" y="4568262"/>
            <a:ext cx="1135380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69990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EB92B89-E72E-9B45-A53C-75A2D0B47B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Example of a Decision Tree</a:t>
            </a:r>
          </a:p>
        </p:txBody>
      </p:sp>
      <p:graphicFrame>
        <p:nvGraphicFramePr>
          <p:cNvPr id="27650" name="Object 4">
            <a:extLst>
              <a:ext uri="{FF2B5EF4-FFF2-40B4-BE49-F238E27FC236}">
                <a16:creationId xmlns:a16="http://schemas.microsoft.com/office/drawing/2014/main" id="{EBB4CCB4-48D4-4140-83B6-C513E420DB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2477284"/>
              </p:ext>
            </p:extLst>
          </p:nvPr>
        </p:nvGraphicFramePr>
        <p:xfrm>
          <a:off x="1387151" y="2920519"/>
          <a:ext cx="3810000" cy="3770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854700" imgH="5778500" progId="Word.Document.8">
                  <p:embed/>
                </p:oleObj>
              </mc:Choice>
              <mc:Fallback>
                <p:oleObj name="Document" r:id="rId2" imgW="5854700" imgH="5778500" progId="Word.Document.8">
                  <p:embed/>
                  <p:pic>
                    <p:nvPicPr>
                      <p:cNvPr id="27650" name="Object 4">
                        <a:extLst>
                          <a:ext uri="{FF2B5EF4-FFF2-40B4-BE49-F238E27FC236}">
                            <a16:creationId xmlns:a16="http://schemas.microsoft.com/office/drawing/2014/main" id="{EBB4CCB4-48D4-4140-83B6-C513E420DB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7151" y="2920519"/>
                        <a:ext cx="3810000" cy="3770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1" name="Text Box 5">
            <a:extLst>
              <a:ext uri="{FF2B5EF4-FFF2-40B4-BE49-F238E27FC236}">
                <a16:creationId xmlns:a16="http://schemas.microsoft.com/office/drawing/2014/main" id="{F0B941AD-B5E8-B84F-BEDA-0BB494AA566C}"/>
              </a:ext>
            </a:extLst>
          </p:cNvPr>
          <p:cNvSpPr txBox="1">
            <a:spLocks noChangeArrowheads="1"/>
          </p:cNvSpPr>
          <p:nvPr/>
        </p:nvSpPr>
        <p:spPr bwMode="auto">
          <a:xfrm rot="19183191">
            <a:off x="2113940" y="2300392"/>
            <a:ext cx="117532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006600"/>
                </a:solidFill>
              </a:rPr>
              <a:t>categorical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27652" name="Text Box 6">
            <a:extLst>
              <a:ext uri="{FF2B5EF4-FFF2-40B4-BE49-F238E27FC236}">
                <a16:creationId xmlns:a16="http://schemas.microsoft.com/office/drawing/2014/main" id="{F24E3018-696A-EF4C-B54A-BB54EF5EABAB}"/>
              </a:ext>
            </a:extLst>
          </p:cNvPr>
          <p:cNvSpPr txBox="1">
            <a:spLocks noChangeArrowheads="1"/>
          </p:cNvSpPr>
          <p:nvPr/>
        </p:nvSpPr>
        <p:spPr bwMode="auto">
          <a:xfrm rot="19183191">
            <a:off x="2799740" y="2300392"/>
            <a:ext cx="117532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006600"/>
                </a:solidFill>
              </a:rPr>
              <a:t>categorical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27653" name="Text Box 7">
            <a:extLst>
              <a:ext uri="{FF2B5EF4-FFF2-40B4-BE49-F238E27FC236}">
                <a16:creationId xmlns:a16="http://schemas.microsoft.com/office/drawing/2014/main" id="{6F22F000-719A-C448-A8D1-B442012FD562}"/>
              </a:ext>
            </a:extLst>
          </p:cNvPr>
          <p:cNvSpPr txBox="1">
            <a:spLocks noChangeArrowheads="1"/>
          </p:cNvSpPr>
          <p:nvPr/>
        </p:nvSpPr>
        <p:spPr bwMode="auto">
          <a:xfrm rot="19183191">
            <a:off x="3648259" y="2300392"/>
            <a:ext cx="117532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006600"/>
                </a:solidFill>
              </a:rPr>
              <a:t>continuous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27654" name="Text Box 8">
            <a:extLst>
              <a:ext uri="{FF2B5EF4-FFF2-40B4-BE49-F238E27FC236}">
                <a16:creationId xmlns:a16="http://schemas.microsoft.com/office/drawing/2014/main" id="{34298A65-543B-8047-8CFD-8F51CAE979F7}"/>
              </a:ext>
            </a:extLst>
          </p:cNvPr>
          <p:cNvSpPr txBox="1">
            <a:spLocks noChangeArrowheads="1"/>
          </p:cNvSpPr>
          <p:nvPr/>
        </p:nvSpPr>
        <p:spPr bwMode="auto">
          <a:xfrm rot="19183191">
            <a:off x="4379456" y="2452792"/>
            <a:ext cx="6511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006600"/>
                </a:solidFill>
              </a:rPr>
              <a:t>class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27655" name="Line 9">
            <a:extLst>
              <a:ext uri="{FF2B5EF4-FFF2-40B4-BE49-F238E27FC236}">
                <a16:creationId xmlns:a16="http://schemas.microsoft.com/office/drawing/2014/main" id="{31FACEF3-FAD7-BB48-A7A3-63377FBE5450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0701" y="5198581"/>
            <a:ext cx="242888" cy="527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6" name="Line 10">
            <a:extLst>
              <a:ext uri="{FF2B5EF4-FFF2-40B4-BE49-F238E27FC236}">
                <a16:creationId xmlns:a16="http://schemas.microsoft.com/office/drawing/2014/main" id="{0CDB43D7-79D6-524B-94AD-B4CA5013348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70401" y="5198581"/>
            <a:ext cx="323850" cy="527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7" name="Line 11">
            <a:extLst>
              <a:ext uri="{FF2B5EF4-FFF2-40B4-BE49-F238E27FC236}">
                <a16:creationId xmlns:a16="http://schemas.microsoft.com/office/drawing/2014/main" id="{DA8E21A2-53EE-D542-B913-759295DE67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16515" y="4404831"/>
            <a:ext cx="403225" cy="528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8" name="Line 12">
            <a:extLst>
              <a:ext uri="{FF2B5EF4-FFF2-40B4-BE49-F238E27FC236}">
                <a16:creationId xmlns:a16="http://schemas.microsoft.com/office/drawing/2014/main" id="{33205E82-72D5-BC43-B352-6F00103351F2}"/>
              </a:ext>
            </a:extLst>
          </p:cNvPr>
          <p:cNvSpPr>
            <a:spLocks noChangeShapeType="1"/>
          </p:cNvSpPr>
          <p:nvPr/>
        </p:nvSpPr>
        <p:spPr bwMode="auto">
          <a:xfrm>
            <a:off x="8927776" y="4404831"/>
            <a:ext cx="484188" cy="528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9" name="Line 13">
            <a:extLst>
              <a:ext uri="{FF2B5EF4-FFF2-40B4-BE49-F238E27FC236}">
                <a16:creationId xmlns:a16="http://schemas.microsoft.com/office/drawing/2014/main" id="{0A1A3B2C-FEAC-704E-93E6-B20C4315661F}"/>
              </a:ext>
            </a:extLst>
          </p:cNvPr>
          <p:cNvSpPr>
            <a:spLocks noChangeShapeType="1"/>
          </p:cNvSpPr>
          <p:nvPr/>
        </p:nvSpPr>
        <p:spPr bwMode="auto">
          <a:xfrm>
            <a:off x="7878439" y="3677756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60" name="Line 14">
            <a:extLst>
              <a:ext uri="{FF2B5EF4-FFF2-40B4-BE49-F238E27FC236}">
                <a16:creationId xmlns:a16="http://schemas.microsoft.com/office/drawing/2014/main" id="{38FC2AD5-7BD7-7446-9FA9-AA6577A6FF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05251" y="3677756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61" name="Text Box 15">
            <a:extLst>
              <a:ext uri="{FF2B5EF4-FFF2-40B4-BE49-F238E27FC236}">
                <a16:creationId xmlns:a16="http://schemas.microsoft.com/office/drawing/2014/main" id="{72B52EBA-880D-3D46-9528-9D3AF215A0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2777" y="3223732"/>
            <a:ext cx="936625" cy="593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2D1993"/>
                </a:solidFill>
              </a:rPr>
              <a:t>Home Owner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27662" name="Text Box 16">
            <a:extLst>
              <a:ext uri="{FF2B5EF4-FFF2-40B4-BE49-F238E27FC236}">
                <a16:creationId xmlns:a16="http://schemas.microsoft.com/office/drawing/2014/main" id="{B433DDDC-AEE2-9C4E-98A5-74131F569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8776" y="4141306"/>
            <a:ext cx="935038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2D1993"/>
                </a:solidFill>
              </a:rPr>
              <a:t>MarSt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27663" name="Text Box 17">
            <a:extLst>
              <a:ext uri="{FF2B5EF4-FFF2-40B4-BE49-F238E27FC236}">
                <a16:creationId xmlns:a16="http://schemas.microsoft.com/office/drawing/2014/main" id="{FAEF5FAF-3C55-EA47-BC13-3BF257C81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3290" y="4933469"/>
            <a:ext cx="96837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2D1993"/>
                </a:solidFill>
              </a:rPr>
              <a:t>Income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27664" name="AutoShape 18">
            <a:extLst>
              <a:ext uri="{FF2B5EF4-FFF2-40B4-BE49-F238E27FC236}">
                <a16:creationId xmlns:a16="http://schemas.microsoft.com/office/drawing/2014/main" id="{B3E17D77-5101-4B48-AF93-FCE0FAE1A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0389" y="5722457"/>
            <a:ext cx="627062" cy="36671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  <p:sp>
        <p:nvSpPr>
          <p:cNvPr id="27665" name="Text Box 19">
            <a:extLst>
              <a:ext uri="{FF2B5EF4-FFF2-40B4-BE49-F238E27FC236}">
                <a16:creationId xmlns:a16="http://schemas.microsoft.com/office/drawing/2014/main" id="{4A98842D-C80E-064F-97F9-53E94B9EE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4189" y="5722456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800000"/>
                </a:solidFill>
              </a:rPr>
              <a:t>YES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27666" name="AutoShape 20">
            <a:extLst>
              <a:ext uri="{FF2B5EF4-FFF2-40B4-BE49-F238E27FC236}">
                <a16:creationId xmlns:a16="http://schemas.microsoft.com/office/drawing/2014/main" id="{C83C541D-D4DF-EA46-B123-DEA2462EE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8139" y="5739920"/>
            <a:ext cx="654050" cy="3635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  <p:sp>
        <p:nvSpPr>
          <p:cNvPr id="27667" name="Text Box 21">
            <a:extLst>
              <a:ext uri="{FF2B5EF4-FFF2-40B4-BE49-F238E27FC236}">
                <a16:creationId xmlns:a16="http://schemas.microsoft.com/office/drawing/2014/main" id="{E5C731C9-7E12-F84B-A726-84B23B66C0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4976" y="5725631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800000"/>
                </a:solidFill>
              </a:rPr>
              <a:t>NO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27668" name="AutoShape 22">
            <a:extLst>
              <a:ext uri="{FF2B5EF4-FFF2-40B4-BE49-F238E27FC236}">
                <a16:creationId xmlns:a16="http://schemas.microsoft.com/office/drawing/2014/main" id="{030ECF8A-1E23-204F-84D1-6D5078BE8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2989" y="4155594"/>
            <a:ext cx="685800" cy="347662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  <p:sp>
        <p:nvSpPr>
          <p:cNvPr id="27669" name="Text Box 23">
            <a:extLst>
              <a:ext uri="{FF2B5EF4-FFF2-40B4-BE49-F238E27FC236}">
                <a16:creationId xmlns:a16="http://schemas.microsoft.com/office/drawing/2014/main" id="{8E9F579A-4035-154C-B7FC-DC3875FA5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8239" y="4141306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800000"/>
                </a:solidFill>
              </a:rPr>
              <a:t>NO</a:t>
            </a:r>
            <a:endParaRPr lang="en-US" altLang="it-IT" sz="1600">
              <a:solidFill>
                <a:srgbClr val="00FFFF"/>
              </a:solidFill>
            </a:endParaRPr>
          </a:p>
        </p:txBody>
      </p:sp>
      <p:sp>
        <p:nvSpPr>
          <p:cNvPr id="27670" name="AutoShape 24">
            <a:extLst>
              <a:ext uri="{FF2B5EF4-FFF2-40B4-BE49-F238E27FC236}">
                <a16:creationId xmlns:a16="http://schemas.microsoft.com/office/drawing/2014/main" id="{49665BE3-816B-F248-9E60-0A7B246F4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8589" y="4960456"/>
            <a:ext cx="685800" cy="381000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  <p:sp>
        <p:nvSpPr>
          <p:cNvPr id="27671" name="Text Box 25">
            <a:extLst>
              <a:ext uri="{FF2B5EF4-FFF2-40B4-BE49-F238E27FC236}">
                <a16:creationId xmlns:a16="http://schemas.microsoft.com/office/drawing/2014/main" id="{1F85044A-142C-D544-B44C-EB3DC3E9E5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4789" y="4960456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800000"/>
                </a:solidFill>
              </a:rPr>
              <a:t>NO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27672" name="Text Box 26">
            <a:extLst>
              <a:ext uri="{FF2B5EF4-FFF2-40B4-BE49-F238E27FC236}">
                <a16:creationId xmlns:a16="http://schemas.microsoft.com/office/drawing/2014/main" id="{15A57AFC-2629-1C44-B26D-705DD75464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5701" y="3677756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Yes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27673" name="Text Box 27">
            <a:extLst>
              <a:ext uri="{FF2B5EF4-FFF2-40B4-BE49-F238E27FC236}">
                <a16:creationId xmlns:a16="http://schemas.microsoft.com/office/drawing/2014/main" id="{470148E4-6B04-1F4D-826A-96F4965F7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1014" y="3677756"/>
            <a:ext cx="4429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No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27674" name="Text Box 28">
            <a:extLst>
              <a:ext uri="{FF2B5EF4-FFF2-40B4-BE49-F238E27FC236}">
                <a16:creationId xmlns:a16="http://schemas.microsoft.com/office/drawing/2014/main" id="{714F5B78-5E54-AA45-ACB5-A4124F4C3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3677" y="4442931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Married</a:t>
            </a:r>
            <a:r>
              <a:rPr lang="en-US" altLang="it-IT" sz="160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27675" name="Text Box 29">
            <a:extLst>
              <a:ext uri="{FF2B5EF4-FFF2-40B4-BE49-F238E27FC236}">
                <a16:creationId xmlns:a16="http://schemas.microsoft.com/office/drawing/2014/main" id="{E7C2A4DF-72B4-A64B-B86D-D02387ECD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7527" y="4471506"/>
            <a:ext cx="1660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Single, Divorced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27676" name="Text Box 30">
            <a:extLst>
              <a:ext uri="{FF2B5EF4-FFF2-40B4-BE49-F238E27FC236}">
                <a16:creationId xmlns:a16="http://schemas.microsoft.com/office/drawing/2014/main" id="{CEAE1796-01FB-7C43-BF73-5B08ECF0E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8115" y="5263669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&lt; 80K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27677" name="Text Box 31">
            <a:extLst>
              <a:ext uri="{FF2B5EF4-FFF2-40B4-BE49-F238E27FC236}">
                <a16:creationId xmlns:a16="http://schemas.microsoft.com/office/drawing/2014/main" id="{C22ED618-3BC4-D945-9137-8327C0996A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2940" y="5263669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&gt; 80K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27678" name="Text Box 32">
            <a:extLst>
              <a:ext uri="{FF2B5EF4-FFF2-40B4-BE49-F238E27FC236}">
                <a16:creationId xmlns:a16="http://schemas.microsoft.com/office/drawing/2014/main" id="{41CE2818-DEBE-3A47-8642-3429AC2E01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8533" y="2460144"/>
            <a:ext cx="203555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800" i="1">
                <a:solidFill>
                  <a:srgbClr val="FF0000"/>
                </a:solidFill>
              </a:rPr>
              <a:t>Splitting Attributes</a:t>
            </a:r>
          </a:p>
        </p:txBody>
      </p:sp>
      <p:sp>
        <p:nvSpPr>
          <p:cNvPr id="27679" name="Line 33">
            <a:extLst>
              <a:ext uri="{FF2B5EF4-FFF2-40B4-BE49-F238E27FC236}">
                <a16:creationId xmlns:a16="http://schemas.microsoft.com/office/drawing/2014/main" id="{345592BB-E7BF-564A-94F1-27A9CA6733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40365" y="2841145"/>
            <a:ext cx="536575" cy="534987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80" name="AutoShape 34">
            <a:extLst>
              <a:ext uri="{FF2B5EF4-FFF2-40B4-BE49-F238E27FC236}">
                <a16:creationId xmlns:a16="http://schemas.microsoft.com/office/drawing/2014/main" id="{8BD2F37E-0FF4-664D-A635-42A2F4978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4751" y="4503256"/>
            <a:ext cx="914400" cy="293688"/>
          </a:xfrm>
          <a:prstGeom prst="rightArrow">
            <a:avLst>
              <a:gd name="adj1" fmla="val 50000"/>
              <a:gd name="adj2" fmla="val 77838"/>
            </a:avLst>
          </a:prstGeom>
          <a:solidFill>
            <a:srgbClr val="CC0000"/>
          </a:solidFill>
          <a:ln w="12700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  <p:sp>
        <p:nvSpPr>
          <p:cNvPr id="27681" name="Line 35">
            <a:extLst>
              <a:ext uri="{FF2B5EF4-FFF2-40B4-BE49-F238E27FC236}">
                <a16:creationId xmlns:a16="http://schemas.microsoft.com/office/drawing/2014/main" id="{7005E79F-D2D3-6F4C-9484-56BAC7175DC4}"/>
              </a:ext>
            </a:extLst>
          </p:cNvPr>
          <p:cNvSpPr>
            <a:spLocks noChangeShapeType="1"/>
          </p:cNvSpPr>
          <p:nvPr/>
        </p:nvSpPr>
        <p:spPr bwMode="auto">
          <a:xfrm>
            <a:off x="8653139" y="2841145"/>
            <a:ext cx="76200" cy="1144587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82" name="Text Box 36">
            <a:extLst>
              <a:ext uri="{FF2B5EF4-FFF2-40B4-BE49-F238E27FC236}">
                <a16:creationId xmlns:a16="http://schemas.microsoft.com/office/drawing/2014/main" id="{C177A85F-ED41-854C-8614-612B2ECB1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6751" y="6560656"/>
            <a:ext cx="2514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2000">
                <a:solidFill>
                  <a:schemeClr val="tx2"/>
                </a:solidFill>
              </a:rPr>
              <a:t>Training Data</a:t>
            </a:r>
            <a:endParaRPr lang="en-US" altLang="it-IT" sz="2000">
              <a:solidFill>
                <a:schemeClr val="bg2"/>
              </a:solidFill>
            </a:endParaRPr>
          </a:p>
        </p:txBody>
      </p:sp>
      <p:sp>
        <p:nvSpPr>
          <p:cNvPr id="27683" name="Text Box 37">
            <a:extLst>
              <a:ext uri="{FF2B5EF4-FFF2-40B4-BE49-F238E27FC236}">
                <a16:creationId xmlns:a16="http://schemas.microsoft.com/office/drawing/2014/main" id="{53F3C6D0-6B09-A449-9656-0684820259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3951" y="6528906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2000">
                <a:solidFill>
                  <a:schemeClr val="tx2"/>
                </a:solidFill>
              </a:rPr>
              <a:t>Model:  Decision Tree</a:t>
            </a:r>
            <a:endParaRPr lang="en-US" altLang="it-IT" sz="2000">
              <a:solidFill>
                <a:schemeClr val="bg2"/>
              </a:solidFill>
            </a:endParaRPr>
          </a:p>
        </p:txBody>
      </p:sp>
      <p:sp>
        <p:nvSpPr>
          <p:cNvPr id="27687" name="Rettangolo 5">
            <a:extLst>
              <a:ext uri="{FF2B5EF4-FFF2-40B4-BE49-F238E27FC236}">
                <a16:creationId xmlns:a16="http://schemas.microsoft.com/office/drawing/2014/main" id="{A1D3343A-67E7-1547-A63E-A2A781708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6189" y="1429325"/>
            <a:ext cx="8458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 dirty="0"/>
              <a:t>Consider the problem of predicting whether a loan borrower will repay the loan or default on the loan payments.</a:t>
            </a:r>
          </a:p>
        </p:txBody>
      </p:sp>
    </p:spTree>
    <p:extLst>
      <p:ext uri="{BB962C8B-B14F-4D97-AF65-F5344CB8AC3E}">
        <p14:creationId xmlns:p14="http://schemas.microsoft.com/office/powerpoint/2010/main" val="41692270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493015D-6FAD-3D44-BAF1-A187822788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Another Example of Decision Tree</a:t>
            </a:r>
          </a:p>
        </p:txBody>
      </p:sp>
      <p:sp>
        <p:nvSpPr>
          <p:cNvPr id="28674" name="Text Box 4">
            <a:extLst>
              <a:ext uri="{FF2B5EF4-FFF2-40B4-BE49-F238E27FC236}">
                <a16:creationId xmlns:a16="http://schemas.microsoft.com/office/drawing/2014/main" id="{01E09EBB-6458-9049-B26D-E0FA8B4439FD}"/>
              </a:ext>
            </a:extLst>
          </p:cNvPr>
          <p:cNvSpPr txBox="1">
            <a:spLocks noChangeArrowheads="1"/>
          </p:cNvSpPr>
          <p:nvPr/>
        </p:nvSpPr>
        <p:spPr bwMode="auto">
          <a:xfrm rot="19183191">
            <a:off x="2564919" y="1903998"/>
            <a:ext cx="117532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006600"/>
                </a:solidFill>
              </a:rPr>
              <a:t>categorical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28675" name="Text Box 5">
            <a:extLst>
              <a:ext uri="{FF2B5EF4-FFF2-40B4-BE49-F238E27FC236}">
                <a16:creationId xmlns:a16="http://schemas.microsoft.com/office/drawing/2014/main" id="{B6DD4674-E74E-C04F-AA6F-64CCC88D381D}"/>
              </a:ext>
            </a:extLst>
          </p:cNvPr>
          <p:cNvSpPr txBox="1">
            <a:spLocks noChangeArrowheads="1"/>
          </p:cNvSpPr>
          <p:nvPr/>
        </p:nvSpPr>
        <p:spPr bwMode="auto">
          <a:xfrm rot="19183191">
            <a:off x="3250719" y="1903998"/>
            <a:ext cx="117532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006600"/>
                </a:solidFill>
              </a:rPr>
              <a:t>categorical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28676" name="Text Box 6">
            <a:extLst>
              <a:ext uri="{FF2B5EF4-FFF2-40B4-BE49-F238E27FC236}">
                <a16:creationId xmlns:a16="http://schemas.microsoft.com/office/drawing/2014/main" id="{A4C5CD6B-78A3-C246-9A9D-199E2910B16F}"/>
              </a:ext>
            </a:extLst>
          </p:cNvPr>
          <p:cNvSpPr txBox="1">
            <a:spLocks noChangeArrowheads="1"/>
          </p:cNvSpPr>
          <p:nvPr/>
        </p:nvSpPr>
        <p:spPr bwMode="auto">
          <a:xfrm rot="19183191">
            <a:off x="4099238" y="1903998"/>
            <a:ext cx="117532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006600"/>
                </a:solidFill>
              </a:rPr>
              <a:t>continuous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28677" name="Text Box 7">
            <a:extLst>
              <a:ext uri="{FF2B5EF4-FFF2-40B4-BE49-F238E27FC236}">
                <a16:creationId xmlns:a16="http://schemas.microsoft.com/office/drawing/2014/main" id="{5A9625B0-AB8B-4949-A65C-4B2DC4747730}"/>
              </a:ext>
            </a:extLst>
          </p:cNvPr>
          <p:cNvSpPr txBox="1">
            <a:spLocks noChangeArrowheads="1"/>
          </p:cNvSpPr>
          <p:nvPr/>
        </p:nvSpPr>
        <p:spPr bwMode="auto">
          <a:xfrm rot="19183191">
            <a:off x="4830435" y="2056398"/>
            <a:ext cx="6511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006600"/>
                </a:solidFill>
              </a:rPr>
              <a:t>class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28678" name="Line 8">
            <a:extLst>
              <a:ext uri="{FF2B5EF4-FFF2-40B4-BE49-F238E27FC236}">
                <a16:creationId xmlns:a16="http://schemas.microsoft.com/office/drawing/2014/main" id="{E7767572-2F9C-C54E-94D5-424F5EE57A8D}"/>
              </a:ext>
            </a:extLst>
          </p:cNvPr>
          <p:cNvSpPr>
            <a:spLocks noChangeShapeType="1"/>
          </p:cNvSpPr>
          <p:nvPr/>
        </p:nvSpPr>
        <p:spPr bwMode="auto">
          <a:xfrm>
            <a:off x="9539094" y="3954463"/>
            <a:ext cx="242887" cy="527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9" name="Line 9">
            <a:extLst>
              <a:ext uri="{FF2B5EF4-FFF2-40B4-BE49-F238E27FC236}">
                <a16:creationId xmlns:a16="http://schemas.microsoft.com/office/drawing/2014/main" id="{11C35361-3197-454F-AD77-E023DC86F5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08793" y="3954463"/>
            <a:ext cx="323850" cy="527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0" name="Line 10">
            <a:extLst>
              <a:ext uri="{FF2B5EF4-FFF2-40B4-BE49-F238E27FC236}">
                <a16:creationId xmlns:a16="http://schemas.microsoft.com/office/drawing/2014/main" id="{F1525F29-70F2-BE45-A780-E7F78CEE31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15019" y="3190875"/>
            <a:ext cx="403225" cy="528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1" name="Line 11">
            <a:extLst>
              <a:ext uri="{FF2B5EF4-FFF2-40B4-BE49-F238E27FC236}">
                <a16:creationId xmlns:a16="http://schemas.microsoft.com/office/drawing/2014/main" id="{6ABCADB0-89FB-AD4C-95E8-482DC44BA0F2}"/>
              </a:ext>
            </a:extLst>
          </p:cNvPr>
          <p:cNvSpPr>
            <a:spLocks noChangeShapeType="1"/>
          </p:cNvSpPr>
          <p:nvPr/>
        </p:nvSpPr>
        <p:spPr bwMode="auto">
          <a:xfrm>
            <a:off x="8626280" y="3190875"/>
            <a:ext cx="484188" cy="528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2" name="Line 12">
            <a:extLst>
              <a:ext uri="{FF2B5EF4-FFF2-40B4-BE49-F238E27FC236}">
                <a16:creationId xmlns:a16="http://schemas.microsoft.com/office/drawing/2014/main" id="{FBBEAA55-BDDE-A44A-B179-608B006EE43B}"/>
              </a:ext>
            </a:extLst>
          </p:cNvPr>
          <p:cNvSpPr>
            <a:spLocks noChangeShapeType="1"/>
          </p:cNvSpPr>
          <p:nvPr/>
        </p:nvSpPr>
        <p:spPr bwMode="auto">
          <a:xfrm>
            <a:off x="7576943" y="2463800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3" name="Line 13">
            <a:extLst>
              <a:ext uri="{FF2B5EF4-FFF2-40B4-BE49-F238E27FC236}">
                <a16:creationId xmlns:a16="http://schemas.microsoft.com/office/drawing/2014/main" id="{EAEAA0F6-7C8F-9E42-9844-2010C57212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03755" y="2463800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4" name="Text Box 14">
            <a:extLst>
              <a:ext uri="{FF2B5EF4-FFF2-40B4-BE49-F238E27FC236}">
                <a16:creationId xmlns:a16="http://schemas.microsoft.com/office/drawing/2014/main" id="{D7565E8E-16B8-BF4A-B04C-6F8982EAC4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1281" y="2200275"/>
            <a:ext cx="93662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2D1993"/>
                </a:solidFill>
              </a:rPr>
              <a:t>MarSt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28685" name="Text Box 15">
            <a:extLst>
              <a:ext uri="{FF2B5EF4-FFF2-40B4-BE49-F238E27FC236}">
                <a16:creationId xmlns:a16="http://schemas.microsoft.com/office/drawing/2014/main" id="{7B57FF26-E115-F646-A3E8-EDCF425EA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7280" y="2927351"/>
            <a:ext cx="935038" cy="593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2D1993"/>
                </a:solidFill>
              </a:rPr>
              <a:t>Home Owner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28686" name="Text Box 16">
            <a:extLst>
              <a:ext uri="{FF2B5EF4-FFF2-40B4-BE49-F238E27FC236}">
                <a16:creationId xmlns:a16="http://schemas.microsoft.com/office/drawing/2014/main" id="{CD0D9025-6BD1-0949-AD87-E6BD92E1F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1681" y="3689350"/>
            <a:ext cx="96837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2D1993"/>
                </a:solidFill>
              </a:rPr>
              <a:t>Income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28687" name="AutoShape 17">
            <a:extLst>
              <a:ext uri="{FF2B5EF4-FFF2-40B4-BE49-F238E27FC236}">
                <a16:creationId xmlns:a16="http://schemas.microsoft.com/office/drawing/2014/main" id="{D2E1ADA8-36DA-6F42-B33D-9E6488970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8781" y="4478338"/>
            <a:ext cx="627063" cy="366712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  <p:sp>
        <p:nvSpPr>
          <p:cNvPr id="28688" name="Text Box 18">
            <a:extLst>
              <a:ext uri="{FF2B5EF4-FFF2-40B4-BE49-F238E27FC236}">
                <a16:creationId xmlns:a16="http://schemas.microsoft.com/office/drawing/2014/main" id="{D8F694EB-8FD0-F74D-9E83-B40F3A6E41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02580" y="4478338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800000"/>
                </a:solidFill>
              </a:rPr>
              <a:t>YES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28689" name="AutoShape 19">
            <a:extLst>
              <a:ext uri="{FF2B5EF4-FFF2-40B4-BE49-F238E27FC236}">
                <a16:creationId xmlns:a16="http://schemas.microsoft.com/office/drawing/2014/main" id="{A18F1F4A-14EE-BF42-B98B-120B07790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6530" y="4495800"/>
            <a:ext cx="654050" cy="363538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  <p:sp>
        <p:nvSpPr>
          <p:cNvPr id="28690" name="Text Box 20">
            <a:extLst>
              <a:ext uri="{FF2B5EF4-FFF2-40B4-BE49-F238E27FC236}">
                <a16:creationId xmlns:a16="http://schemas.microsoft.com/office/drawing/2014/main" id="{3C1756AC-FD48-6446-906B-89069DE2CB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3368" y="4481513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800000"/>
                </a:solidFill>
              </a:rPr>
              <a:t>NO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28691" name="AutoShape 21">
            <a:extLst>
              <a:ext uri="{FF2B5EF4-FFF2-40B4-BE49-F238E27FC236}">
                <a16:creationId xmlns:a16="http://schemas.microsoft.com/office/drawing/2014/main" id="{9FA47950-E65B-9246-9441-4671DED80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493" y="2941638"/>
            <a:ext cx="685800" cy="347662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  <p:sp>
        <p:nvSpPr>
          <p:cNvPr id="28692" name="Text Box 22">
            <a:extLst>
              <a:ext uri="{FF2B5EF4-FFF2-40B4-BE49-F238E27FC236}">
                <a16:creationId xmlns:a16="http://schemas.microsoft.com/office/drawing/2014/main" id="{977B6F73-79DE-9241-80DC-93540E5040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6743" y="2927350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800000"/>
                </a:solidFill>
              </a:rPr>
              <a:t>NO</a:t>
            </a:r>
            <a:endParaRPr lang="en-US" altLang="it-IT" sz="1600">
              <a:solidFill>
                <a:srgbClr val="00FFFF"/>
              </a:solidFill>
            </a:endParaRPr>
          </a:p>
        </p:txBody>
      </p:sp>
      <p:grpSp>
        <p:nvGrpSpPr>
          <p:cNvPr id="28693" name="Group 35">
            <a:extLst>
              <a:ext uri="{FF2B5EF4-FFF2-40B4-BE49-F238E27FC236}">
                <a16:creationId xmlns:a16="http://schemas.microsoft.com/office/drawing/2014/main" id="{6295B70E-FD37-0445-A91A-EB6A44EA29D8}"/>
              </a:ext>
            </a:extLst>
          </p:cNvPr>
          <p:cNvGrpSpPr>
            <a:grpSpLocks/>
          </p:cNvGrpSpPr>
          <p:nvPr/>
        </p:nvGrpSpPr>
        <p:grpSpPr bwMode="auto">
          <a:xfrm>
            <a:off x="7127680" y="3689350"/>
            <a:ext cx="685800" cy="381000"/>
            <a:chOff x="4927" y="2340"/>
            <a:chExt cx="432" cy="240"/>
          </a:xfrm>
        </p:grpSpPr>
        <p:sp>
          <p:nvSpPr>
            <p:cNvPr id="28705" name="AutoShape 23">
              <a:extLst>
                <a:ext uri="{FF2B5EF4-FFF2-40B4-BE49-F238E27FC236}">
                  <a16:creationId xmlns:a16="http://schemas.microsoft.com/office/drawing/2014/main" id="{2B81DFB7-CC19-4E45-89D7-C65EFB3363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7" y="2340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it-IT" altLang="it-IT" sz="1400"/>
            </a:p>
          </p:txBody>
        </p:sp>
        <p:sp>
          <p:nvSpPr>
            <p:cNvPr id="28706" name="Text Box 24">
              <a:extLst>
                <a:ext uri="{FF2B5EF4-FFF2-40B4-BE49-F238E27FC236}">
                  <a16:creationId xmlns:a16="http://schemas.microsoft.com/office/drawing/2014/main" id="{8702E7CC-BF2D-4142-8387-4F4B7DB977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5" y="2340"/>
              <a:ext cx="30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2" charset="2"/>
                <a:buNone/>
              </a:pPr>
              <a:r>
                <a:rPr lang="en-US" altLang="it-IT" sz="1600">
                  <a:solidFill>
                    <a:srgbClr val="800000"/>
                  </a:solidFill>
                </a:rPr>
                <a:t>NO</a:t>
              </a:r>
              <a:endParaRPr lang="en-US" altLang="it-IT" sz="1600">
                <a:solidFill>
                  <a:schemeClr val="bg2"/>
                </a:solidFill>
              </a:endParaRPr>
            </a:p>
          </p:txBody>
        </p:sp>
      </p:grpSp>
      <p:sp>
        <p:nvSpPr>
          <p:cNvPr id="28694" name="Text Box 25">
            <a:extLst>
              <a:ext uri="{FF2B5EF4-FFF2-40B4-BE49-F238E27FC236}">
                <a16:creationId xmlns:a16="http://schemas.microsoft.com/office/drawing/2014/main" id="{8DDB71A8-5E16-7243-BEDE-8422CB99FF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1480" y="323215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Yes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28695" name="Text Box 26">
            <a:extLst>
              <a:ext uri="{FF2B5EF4-FFF2-40B4-BE49-F238E27FC236}">
                <a16:creationId xmlns:a16="http://schemas.microsoft.com/office/drawing/2014/main" id="{D1C5B84A-8E83-7E46-A19D-81A1A7174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04081" y="3155950"/>
            <a:ext cx="4429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No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28696" name="Text Box 27">
            <a:extLst>
              <a:ext uri="{FF2B5EF4-FFF2-40B4-BE49-F238E27FC236}">
                <a16:creationId xmlns:a16="http://schemas.microsoft.com/office/drawing/2014/main" id="{04F53B9B-FE50-3844-BC71-09B6819FD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9881" y="2393950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Married</a:t>
            </a:r>
            <a:r>
              <a:rPr lang="en-US" altLang="it-IT" sz="160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28697" name="Text Box 28">
            <a:extLst>
              <a:ext uri="{FF2B5EF4-FFF2-40B4-BE49-F238E27FC236}">
                <a16:creationId xmlns:a16="http://schemas.microsoft.com/office/drawing/2014/main" id="{0B60928A-4AB7-8946-8902-8E15933289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0080" y="2165351"/>
            <a:ext cx="139858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Single, Divorced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28698" name="Text Box 29">
            <a:extLst>
              <a:ext uri="{FF2B5EF4-FFF2-40B4-BE49-F238E27FC236}">
                <a16:creationId xmlns:a16="http://schemas.microsoft.com/office/drawing/2014/main" id="{050D191C-3D98-DB43-BCE5-2F624001E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6506" y="4019550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&lt; 80K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28699" name="Text Box 30">
            <a:extLst>
              <a:ext uri="{FF2B5EF4-FFF2-40B4-BE49-F238E27FC236}">
                <a16:creationId xmlns:a16="http://schemas.microsoft.com/office/drawing/2014/main" id="{6D326C30-1634-FB48-B9BF-4A16431DE9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1331" y="4019550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&gt; 80K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28700" name="Text Box 37">
            <a:extLst>
              <a:ext uri="{FF2B5EF4-FFF2-40B4-BE49-F238E27FC236}">
                <a16:creationId xmlns:a16="http://schemas.microsoft.com/office/drawing/2014/main" id="{AA18C076-5789-7240-9843-4514F28E1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6730" y="5486400"/>
            <a:ext cx="4419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>
                <a:solidFill>
                  <a:srgbClr val="CC3300"/>
                </a:solidFill>
              </a:rPr>
              <a:t>There could be more than one tree that fits the same data!</a:t>
            </a:r>
          </a:p>
        </p:txBody>
      </p:sp>
      <p:graphicFrame>
        <p:nvGraphicFramePr>
          <p:cNvPr id="28701" name="Object 38">
            <a:extLst>
              <a:ext uri="{FF2B5EF4-FFF2-40B4-BE49-F238E27FC236}">
                <a16:creationId xmlns:a16="http://schemas.microsoft.com/office/drawing/2014/main" id="{3D535B14-7A9D-7D4B-8AA9-F931372B62E8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5524399"/>
              </p:ext>
            </p:extLst>
          </p:nvPr>
        </p:nvGraphicFramePr>
        <p:xfrm>
          <a:off x="1685730" y="2528889"/>
          <a:ext cx="3886200" cy="383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854700" imgH="5778500" progId="Word.Document.8">
                  <p:embed/>
                </p:oleObj>
              </mc:Choice>
              <mc:Fallback>
                <p:oleObj name="Document" r:id="rId2" imgW="5854700" imgH="5778500" progId="Word.Document.8">
                  <p:embed/>
                  <p:pic>
                    <p:nvPicPr>
                      <p:cNvPr id="28701" name="Object 38">
                        <a:extLst>
                          <a:ext uri="{FF2B5EF4-FFF2-40B4-BE49-F238E27FC236}">
                            <a16:creationId xmlns:a16="http://schemas.microsoft.com/office/drawing/2014/main" id="{3D535B14-7A9D-7D4B-8AA9-F931372B62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5730" y="2528889"/>
                        <a:ext cx="3886200" cy="3832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238546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3F74766C-6A85-EA47-8EA8-00175FE40F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Apply Model to Test Data</a:t>
            </a:r>
          </a:p>
        </p:txBody>
      </p:sp>
      <p:sp>
        <p:nvSpPr>
          <p:cNvPr id="29698" name="Line 4">
            <a:extLst>
              <a:ext uri="{FF2B5EF4-FFF2-40B4-BE49-F238E27FC236}">
                <a16:creationId xmlns:a16="http://schemas.microsoft.com/office/drawing/2014/main" id="{F3B55CC1-6382-C342-9640-D0A88BF633D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1436" y="5099051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699" name="Line 5">
            <a:extLst>
              <a:ext uri="{FF2B5EF4-FFF2-40B4-BE49-F238E27FC236}">
                <a16:creationId xmlns:a16="http://schemas.microsoft.com/office/drawing/2014/main" id="{469DF751-100C-644A-80DE-DB91D97F9E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01599" y="5099051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0" name="Line 6">
            <a:extLst>
              <a:ext uri="{FF2B5EF4-FFF2-40B4-BE49-F238E27FC236}">
                <a16:creationId xmlns:a16="http://schemas.microsoft.com/office/drawing/2014/main" id="{6E6C6FD2-1B2B-FE4F-B824-24893ED1A1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09624" y="4124327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1" name="Line 7">
            <a:extLst>
              <a:ext uri="{FF2B5EF4-FFF2-40B4-BE49-F238E27FC236}">
                <a16:creationId xmlns:a16="http://schemas.microsoft.com/office/drawing/2014/main" id="{C7AE03D7-AA6F-F344-9626-FAC408D466A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8362" y="4124327"/>
            <a:ext cx="531813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2" name="Line 8">
            <a:extLst>
              <a:ext uri="{FF2B5EF4-FFF2-40B4-BE49-F238E27FC236}">
                <a16:creationId xmlns:a16="http://schemas.microsoft.com/office/drawing/2014/main" id="{3B217C06-5F50-E246-9C5B-A2FD9D211BA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87424" y="3233739"/>
            <a:ext cx="620712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3" name="Line 9">
            <a:extLst>
              <a:ext uri="{FF2B5EF4-FFF2-40B4-BE49-F238E27FC236}">
                <a16:creationId xmlns:a16="http://schemas.microsoft.com/office/drawing/2014/main" id="{1DCE0C25-D330-CB46-9178-F6BB0BD7CE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82475" y="3233739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4" name="Text Box 10">
            <a:extLst>
              <a:ext uri="{FF2B5EF4-FFF2-40B4-BE49-F238E27FC236}">
                <a16:creationId xmlns:a16="http://schemas.microsoft.com/office/drawing/2014/main" id="{455AA043-5C42-E443-8BD7-A805ABE663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9212" y="2909889"/>
            <a:ext cx="1027113" cy="593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2D1993"/>
                </a:solidFill>
              </a:rPr>
              <a:t>Home Owner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29705" name="Text Box 11">
            <a:extLst>
              <a:ext uri="{FF2B5EF4-FFF2-40B4-BE49-F238E27FC236}">
                <a16:creationId xmlns:a16="http://schemas.microsoft.com/office/drawing/2014/main" id="{6F66A226-4BD1-5B43-AD5D-8D6FA2F8B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3637" y="3802064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2D1993"/>
                </a:solidFill>
              </a:rPr>
              <a:t>MarSt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29706" name="Text Box 12">
            <a:extLst>
              <a:ext uri="{FF2B5EF4-FFF2-40B4-BE49-F238E27FC236}">
                <a16:creationId xmlns:a16="http://schemas.microsoft.com/office/drawing/2014/main" id="{5209BCF5-6E9C-4245-835E-668EB727B1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8300" y="4773613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2D1993"/>
                </a:solidFill>
              </a:rPr>
              <a:t>Income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29707" name="AutoShape 13">
            <a:extLst>
              <a:ext uri="{FF2B5EF4-FFF2-40B4-BE49-F238E27FC236}">
                <a16:creationId xmlns:a16="http://schemas.microsoft.com/office/drawing/2014/main" id="{CD428EC4-C172-8044-B7F1-C5386938C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4300" y="5741989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  <p:sp>
        <p:nvSpPr>
          <p:cNvPr id="29708" name="Text Box 14">
            <a:extLst>
              <a:ext uri="{FF2B5EF4-FFF2-40B4-BE49-F238E27FC236}">
                <a16:creationId xmlns:a16="http://schemas.microsoft.com/office/drawing/2014/main" id="{CE4F116B-5974-794D-B221-9934D3BB4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1750" y="5741988"/>
            <a:ext cx="750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800000"/>
                </a:solidFill>
              </a:rPr>
              <a:t>YES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29709" name="AutoShape 15">
            <a:extLst>
              <a:ext uri="{FF2B5EF4-FFF2-40B4-BE49-F238E27FC236}">
                <a16:creationId xmlns:a16="http://schemas.microsoft.com/office/drawing/2014/main" id="{80AB228A-09FA-6441-A74A-80FC6ECD8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7586" y="5762627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  <p:sp>
        <p:nvSpPr>
          <p:cNvPr id="29710" name="Text Box 16">
            <a:extLst>
              <a:ext uri="{FF2B5EF4-FFF2-40B4-BE49-F238E27FC236}">
                <a16:creationId xmlns:a16="http://schemas.microsoft.com/office/drawing/2014/main" id="{058295DC-93E1-F043-AD3E-5392E3E882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7761" y="5745163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800000"/>
                </a:solidFill>
              </a:rPr>
              <a:t>NO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29711" name="AutoShape 17">
            <a:extLst>
              <a:ext uri="{FF2B5EF4-FFF2-40B4-BE49-F238E27FC236}">
                <a16:creationId xmlns:a16="http://schemas.microsoft.com/office/drawing/2014/main" id="{D04A7AE4-4B97-ED42-B53F-292F73E50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8462" y="3819527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  <p:sp>
        <p:nvSpPr>
          <p:cNvPr id="29712" name="Text Box 18">
            <a:extLst>
              <a:ext uri="{FF2B5EF4-FFF2-40B4-BE49-F238E27FC236}">
                <a16:creationId xmlns:a16="http://schemas.microsoft.com/office/drawing/2014/main" id="{21C16715-73E3-7D44-9306-A251C845EF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7049" y="3802063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800000"/>
                </a:solidFill>
              </a:rPr>
              <a:t>NO</a:t>
            </a:r>
            <a:endParaRPr lang="en-US" altLang="it-IT" sz="1600">
              <a:solidFill>
                <a:srgbClr val="00FFFF"/>
              </a:solidFill>
            </a:endParaRPr>
          </a:p>
        </p:txBody>
      </p:sp>
      <p:sp>
        <p:nvSpPr>
          <p:cNvPr id="29713" name="AutoShape 19">
            <a:extLst>
              <a:ext uri="{FF2B5EF4-FFF2-40B4-BE49-F238E27FC236}">
                <a16:creationId xmlns:a16="http://schemas.microsoft.com/office/drawing/2014/main" id="{BD151834-BB1D-9F48-ABF3-B212A8968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3462" y="4806952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  <p:sp>
        <p:nvSpPr>
          <p:cNvPr id="29714" name="Text Box 20">
            <a:extLst>
              <a:ext uri="{FF2B5EF4-FFF2-40B4-BE49-F238E27FC236}">
                <a16:creationId xmlns:a16="http://schemas.microsoft.com/office/drawing/2014/main" id="{187DAB6D-983D-2F4A-9871-799879260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1411" y="4806951"/>
            <a:ext cx="4905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800000"/>
                </a:solidFill>
              </a:rPr>
              <a:t>NO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29715" name="Text Box 21">
            <a:extLst>
              <a:ext uri="{FF2B5EF4-FFF2-40B4-BE49-F238E27FC236}">
                <a16:creationId xmlns:a16="http://schemas.microsoft.com/office/drawing/2014/main" id="{C19281F4-7119-6D49-A61D-89132FFC9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3086" y="3233738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Yes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29716" name="Text Box 22">
            <a:extLst>
              <a:ext uri="{FF2B5EF4-FFF2-40B4-BE49-F238E27FC236}">
                <a16:creationId xmlns:a16="http://schemas.microsoft.com/office/drawing/2014/main" id="{25FA369D-D189-C144-82ED-C405A9BE02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9849" y="3233738"/>
            <a:ext cx="4429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No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29717" name="Text Box 23">
            <a:extLst>
              <a:ext uri="{FF2B5EF4-FFF2-40B4-BE49-F238E27FC236}">
                <a16:creationId xmlns:a16="http://schemas.microsoft.com/office/drawing/2014/main" id="{77638911-5A23-814F-A2A3-A6FDA7B67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387" y="4171951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Married</a:t>
            </a:r>
            <a:r>
              <a:rPr lang="en-US" altLang="it-IT" sz="160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29718" name="Text Box 24">
            <a:extLst>
              <a:ext uri="{FF2B5EF4-FFF2-40B4-BE49-F238E27FC236}">
                <a16:creationId xmlns:a16="http://schemas.microsoft.com/office/drawing/2014/main" id="{889FDDE7-1E27-D64F-99DB-9EDF7FDCB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4775" y="4206876"/>
            <a:ext cx="1660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Single, Divorced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29719" name="Text Box 25">
            <a:extLst>
              <a:ext uri="{FF2B5EF4-FFF2-40B4-BE49-F238E27FC236}">
                <a16:creationId xmlns:a16="http://schemas.microsoft.com/office/drawing/2014/main" id="{52657DEB-42EA-D445-8285-ACBB70DA23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362" y="5178426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&lt; 80K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29720" name="Text Box 26">
            <a:extLst>
              <a:ext uri="{FF2B5EF4-FFF2-40B4-BE49-F238E27FC236}">
                <a16:creationId xmlns:a16="http://schemas.microsoft.com/office/drawing/2014/main" id="{265A5566-26F1-7047-BC28-07EB718B36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4637" y="5178426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&gt; 80K</a:t>
            </a:r>
            <a:endParaRPr lang="en-US" altLang="it-IT" sz="1600">
              <a:solidFill>
                <a:schemeClr val="bg2"/>
              </a:solidFill>
            </a:endParaRPr>
          </a:p>
        </p:txBody>
      </p:sp>
      <p:graphicFrame>
        <p:nvGraphicFramePr>
          <p:cNvPr id="29721" name="Object 27">
            <a:extLst>
              <a:ext uri="{FF2B5EF4-FFF2-40B4-BE49-F238E27FC236}">
                <a16:creationId xmlns:a16="http://schemas.microsoft.com/office/drawing/2014/main" id="{A7A61508-B70A-AE46-874C-7CECF6E90A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2957006"/>
              </p:ext>
            </p:extLst>
          </p:nvPr>
        </p:nvGraphicFramePr>
        <p:xfrm>
          <a:off x="6500424" y="2152651"/>
          <a:ext cx="3586162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092700" imgH="1562100" progId="Word.Document.8">
                  <p:embed/>
                </p:oleObj>
              </mc:Choice>
              <mc:Fallback>
                <p:oleObj name="Document" r:id="rId2" imgW="5092700" imgH="1562100" progId="Word.Document.8">
                  <p:embed/>
                  <p:pic>
                    <p:nvPicPr>
                      <p:cNvPr id="29721" name="Object 27">
                        <a:extLst>
                          <a:ext uri="{FF2B5EF4-FFF2-40B4-BE49-F238E27FC236}">
                            <a16:creationId xmlns:a16="http://schemas.microsoft.com/office/drawing/2014/main" id="{A7A61508-B70A-AE46-874C-7CECF6E90A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0424" y="2152651"/>
                        <a:ext cx="3586162" cy="1096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22" name="Text Box 28">
            <a:extLst>
              <a:ext uri="{FF2B5EF4-FFF2-40B4-BE49-F238E27FC236}">
                <a16:creationId xmlns:a16="http://schemas.microsoft.com/office/drawing/2014/main" id="{E7835188-9DE0-3143-A28F-22152FF04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3261" y="1690688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2000">
                <a:solidFill>
                  <a:schemeClr val="tx2"/>
                </a:solidFill>
              </a:rPr>
              <a:t>Test Data</a:t>
            </a:r>
            <a:endParaRPr lang="en-US" altLang="it-IT" sz="2000">
              <a:solidFill>
                <a:schemeClr val="bg2"/>
              </a:solidFill>
            </a:endParaRPr>
          </a:p>
        </p:txBody>
      </p:sp>
      <p:sp>
        <p:nvSpPr>
          <p:cNvPr id="29723" name="Text Box 29">
            <a:extLst>
              <a:ext uri="{FF2B5EF4-FFF2-40B4-BE49-F238E27FC236}">
                <a16:creationId xmlns:a16="http://schemas.microsoft.com/office/drawing/2014/main" id="{56D8D032-90A1-2D46-8A3B-0CDB3105BE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3261" y="1995488"/>
            <a:ext cx="3429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2000"/>
              <a:t>Start from the root of tree.</a:t>
            </a:r>
          </a:p>
        </p:txBody>
      </p:sp>
      <p:sp>
        <p:nvSpPr>
          <p:cNvPr id="29724" name="Line 30">
            <a:extLst>
              <a:ext uri="{FF2B5EF4-FFF2-40B4-BE49-F238E27FC236}">
                <a16:creationId xmlns:a16="http://schemas.microsoft.com/office/drawing/2014/main" id="{5C9A8645-21A6-144F-872A-D998A78DDB6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6261" y="2376488"/>
            <a:ext cx="0" cy="4572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2055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A86A215B-36E2-2C44-AB42-4A8CDA01C7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Apply Model to Test Data</a:t>
            </a:r>
          </a:p>
        </p:txBody>
      </p:sp>
      <p:sp>
        <p:nvSpPr>
          <p:cNvPr id="30722" name="Line 4">
            <a:extLst>
              <a:ext uri="{FF2B5EF4-FFF2-40B4-BE49-F238E27FC236}">
                <a16:creationId xmlns:a16="http://schemas.microsoft.com/office/drawing/2014/main" id="{8ADB2637-D1AF-7044-B467-F640C603C4F8}"/>
              </a:ext>
            </a:extLst>
          </p:cNvPr>
          <p:cNvSpPr>
            <a:spLocks noChangeShapeType="1"/>
          </p:cNvSpPr>
          <p:nvPr/>
        </p:nvSpPr>
        <p:spPr bwMode="auto">
          <a:xfrm>
            <a:off x="4404114" y="4943248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3" name="Line 5">
            <a:extLst>
              <a:ext uri="{FF2B5EF4-FFF2-40B4-BE49-F238E27FC236}">
                <a16:creationId xmlns:a16="http://schemas.microsoft.com/office/drawing/2014/main" id="{1E2313B8-515B-E644-AFEF-F4CE8186CD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64277" y="4943248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4" name="Line 6">
            <a:extLst>
              <a:ext uri="{FF2B5EF4-FFF2-40B4-BE49-F238E27FC236}">
                <a16:creationId xmlns:a16="http://schemas.microsoft.com/office/drawing/2014/main" id="{C875F674-7982-9C42-BEBE-886AD92488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2302" y="3968524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5" name="Line 7">
            <a:extLst>
              <a:ext uri="{FF2B5EF4-FFF2-40B4-BE49-F238E27FC236}">
                <a16:creationId xmlns:a16="http://schemas.microsoft.com/office/drawing/2014/main" id="{BEE45D83-3EE9-874A-BAFE-4E422E7739F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1040" y="3968524"/>
            <a:ext cx="531813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6" name="Line 8">
            <a:extLst>
              <a:ext uri="{FF2B5EF4-FFF2-40B4-BE49-F238E27FC236}">
                <a16:creationId xmlns:a16="http://schemas.microsoft.com/office/drawing/2014/main" id="{11C942BA-1F09-534A-873B-69562432742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0102" y="3077936"/>
            <a:ext cx="620712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7" name="Line 9">
            <a:extLst>
              <a:ext uri="{FF2B5EF4-FFF2-40B4-BE49-F238E27FC236}">
                <a16:creationId xmlns:a16="http://schemas.microsoft.com/office/drawing/2014/main" id="{8A2A9206-C235-4E45-A16E-44350CFAE0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45153" y="3077936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8" name="Text Box 11">
            <a:extLst>
              <a:ext uri="{FF2B5EF4-FFF2-40B4-BE49-F238E27FC236}">
                <a16:creationId xmlns:a16="http://schemas.microsoft.com/office/drawing/2014/main" id="{50FE9A19-4497-4045-ABB0-1AF87A655B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6315" y="3646261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2D1993"/>
                </a:solidFill>
              </a:rPr>
              <a:t>MarSt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0729" name="Text Box 12">
            <a:extLst>
              <a:ext uri="{FF2B5EF4-FFF2-40B4-BE49-F238E27FC236}">
                <a16:creationId xmlns:a16="http://schemas.microsoft.com/office/drawing/2014/main" id="{916DDEF9-BF24-AF4F-9FEF-A4B4B2E75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0978" y="4617810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2D1993"/>
                </a:solidFill>
              </a:rPr>
              <a:t>Income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0730" name="AutoShape 13">
            <a:extLst>
              <a:ext uri="{FF2B5EF4-FFF2-40B4-BE49-F238E27FC236}">
                <a16:creationId xmlns:a16="http://schemas.microsoft.com/office/drawing/2014/main" id="{654C693D-D558-C242-A4CE-120CB327B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6978" y="5586186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  <p:sp>
        <p:nvSpPr>
          <p:cNvPr id="30731" name="Text Box 14">
            <a:extLst>
              <a:ext uri="{FF2B5EF4-FFF2-40B4-BE49-F238E27FC236}">
                <a16:creationId xmlns:a16="http://schemas.microsoft.com/office/drawing/2014/main" id="{DCFA33CB-4B35-0C4A-93B5-AB15E068F6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4428" y="5586185"/>
            <a:ext cx="750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800000"/>
                </a:solidFill>
              </a:rPr>
              <a:t>YES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0732" name="AutoShape 15">
            <a:extLst>
              <a:ext uri="{FF2B5EF4-FFF2-40B4-BE49-F238E27FC236}">
                <a16:creationId xmlns:a16="http://schemas.microsoft.com/office/drawing/2014/main" id="{0CF6E2E7-A620-EB41-941A-A966350FF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0264" y="5606824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  <p:sp>
        <p:nvSpPr>
          <p:cNvPr id="30733" name="Text Box 16">
            <a:extLst>
              <a:ext uri="{FF2B5EF4-FFF2-40B4-BE49-F238E27FC236}">
                <a16:creationId xmlns:a16="http://schemas.microsoft.com/office/drawing/2014/main" id="{034EC464-A193-6745-85E1-5F0E4708AF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0439" y="5589360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800000"/>
                </a:solidFill>
              </a:rPr>
              <a:t>NO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0734" name="AutoShape 17">
            <a:extLst>
              <a:ext uri="{FF2B5EF4-FFF2-40B4-BE49-F238E27FC236}">
                <a16:creationId xmlns:a16="http://schemas.microsoft.com/office/drawing/2014/main" id="{7842FB7A-7151-E944-9766-7A3796792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1140" y="3663724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  <p:sp>
        <p:nvSpPr>
          <p:cNvPr id="30735" name="Text Box 18">
            <a:extLst>
              <a:ext uri="{FF2B5EF4-FFF2-40B4-BE49-F238E27FC236}">
                <a16:creationId xmlns:a16="http://schemas.microsoft.com/office/drawing/2014/main" id="{AB7B1C23-A818-E34B-95F8-498833C6C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9727" y="3646260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800000"/>
                </a:solidFill>
              </a:rPr>
              <a:t>NO</a:t>
            </a:r>
            <a:endParaRPr lang="en-US" altLang="it-IT" sz="1600">
              <a:solidFill>
                <a:srgbClr val="00FFFF"/>
              </a:solidFill>
            </a:endParaRPr>
          </a:p>
        </p:txBody>
      </p:sp>
      <p:sp>
        <p:nvSpPr>
          <p:cNvPr id="30736" name="AutoShape 19">
            <a:extLst>
              <a:ext uri="{FF2B5EF4-FFF2-40B4-BE49-F238E27FC236}">
                <a16:creationId xmlns:a16="http://schemas.microsoft.com/office/drawing/2014/main" id="{FB6C89CC-CCB1-D343-972F-39285A5D9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6140" y="4651149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  <p:sp>
        <p:nvSpPr>
          <p:cNvPr id="30737" name="Text Box 20">
            <a:extLst>
              <a:ext uri="{FF2B5EF4-FFF2-40B4-BE49-F238E27FC236}">
                <a16:creationId xmlns:a16="http://schemas.microsoft.com/office/drawing/2014/main" id="{AFAE4E09-816A-2C42-9E27-366E4B179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4089" y="4651148"/>
            <a:ext cx="4905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800000"/>
                </a:solidFill>
              </a:rPr>
              <a:t>NO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0738" name="Text Box 21">
            <a:extLst>
              <a:ext uri="{FF2B5EF4-FFF2-40B4-BE49-F238E27FC236}">
                <a16:creationId xmlns:a16="http://schemas.microsoft.com/office/drawing/2014/main" id="{1354BD10-9C5F-6644-B774-CA5DE49634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5764" y="3077935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Yes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0739" name="Text Box 22">
            <a:extLst>
              <a:ext uri="{FF2B5EF4-FFF2-40B4-BE49-F238E27FC236}">
                <a16:creationId xmlns:a16="http://schemas.microsoft.com/office/drawing/2014/main" id="{0BBE2A84-1334-E94E-99EA-46DFAD0905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2527" y="3077935"/>
            <a:ext cx="4429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No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0740" name="Text Box 23">
            <a:extLst>
              <a:ext uri="{FF2B5EF4-FFF2-40B4-BE49-F238E27FC236}">
                <a16:creationId xmlns:a16="http://schemas.microsoft.com/office/drawing/2014/main" id="{5A56FEBA-6364-CA45-9A77-18FF1BBE0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8065" y="4016148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Married</a:t>
            </a:r>
            <a:r>
              <a:rPr lang="en-US" altLang="it-IT" sz="160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30741" name="Text Box 24">
            <a:extLst>
              <a:ext uri="{FF2B5EF4-FFF2-40B4-BE49-F238E27FC236}">
                <a16:creationId xmlns:a16="http://schemas.microsoft.com/office/drawing/2014/main" id="{AEDCB204-1359-C14D-A2F1-BE76A07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7453" y="4051073"/>
            <a:ext cx="1660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Single, Divorced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0742" name="Text Box 25">
            <a:extLst>
              <a:ext uri="{FF2B5EF4-FFF2-40B4-BE49-F238E27FC236}">
                <a16:creationId xmlns:a16="http://schemas.microsoft.com/office/drawing/2014/main" id="{E88E86F5-19D8-C641-9F2F-306D0D0FB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1040" y="5022623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&lt; 80K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0743" name="Text Box 26">
            <a:extLst>
              <a:ext uri="{FF2B5EF4-FFF2-40B4-BE49-F238E27FC236}">
                <a16:creationId xmlns:a16="http://schemas.microsoft.com/office/drawing/2014/main" id="{97A7CF8A-A56F-1D4C-AD07-72C37D16AB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7315" y="5022623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&gt; 80K</a:t>
            </a:r>
            <a:endParaRPr lang="en-US" altLang="it-IT" sz="1600">
              <a:solidFill>
                <a:schemeClr val="bg2"/>
              </a:solidFill>
            </a:endParaRPr>
          </a:p>
        </p:txBody>
      </p:sp>
      <p:graphicFrame>
        <p:nvGraphicFramePr>
          <p:cNvPr id="30744" name="Object 27">
            <a:extLst>
              <a:ext uri="{FF2B5EF4-FFF2-40B4-BE49-F238E27FC236}">
                <a16:creationId xmlns:a16="http://schemas.microsoft.com/office/drawing/2014/main" id="{51AD524D-1C98-2F4A-99BD-7FC8C11FBA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7482200"/>
              </p:ext>
            </p:extLst>
          </p:nvPr>
        </p:nvGraphicFramePr>
        <p:xfrm>
          <a:off x="6493264" y="1996848"/>
          <a:ext cx="3678238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232400" imgH="1562100" progId="Word.Document.8">
                  <p:embed/>
                </p:oleObj>
              </mc:Choice>
              <mc:Fallback>
                <p:oleObj name="Document" r:id="rId2" imgW="5232400" imgH="1562100" progId="Word.Document.8">
                  <p:embed/>
                  <p:pic>
                    <p:nvPicPr>
                      <p:cNvPr id="30744" name="Object 27">
                        <a:extLst>
                          <a:ext uri="{FF2B5EF4-FFF2-40B4-BE49-F238E27FC236}">
                            <a16:creationId xmlns:a16="http://schemas.microsoft.com/office/drawing/2014/main" id="{51AD524D-1C98-2F4A-99BD-7FC8C11FBA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3264" y="1996848"/>
                        <a:ext cx="3678238" cy="1096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5" name="Text Box 28">
            <a:extLst>
              <a:ext uri="{FF2B5EF4-FFF2-40B4-BE49-F238E27FC236}">
                <a16:creationId xmlns:a16="http://schemas.microsoft.com/office/drawing/2014/main" id="{6FC176A6-A525-0548-ADB3-048528C3A9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5939" y="1534885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2000">
                <a:solidFill>
                  <a:schemeClr val="tx2"/>
                </a:solidFill>
              </a:rPr>
              <a:t>Test Data</a:t>
            </a:r>
            <a:endParaRPr lang="en-US" altLang="it-IT" sz="2000">
              <a:solidFill>
                <a:schemeClr val="bg2"/>
              </a:solidFill>
            </a:endParaRPr>
          </a:p>
        </p:txBody>
      </p:sp>
      <p:sp>
        <p:nvSpPr>
          <p:cNvPr id="30746" name="Line 29">
            <a:extLst>
              <a:ext uri="{FF2B5EF4-FFF2-40B4-BE49-F238E27FC236}">
                <a16:creationId xmlns:a16="http://schemas.microsoft.com/office/drawing/2014/main" id="{27262B6D-7A89-ED48-B877-A433C3C8BD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72339" y="2220685"/>
            <a:ext cx="2362200" cy="6858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7" name="Text Box 30">
            <a:extLst>
              <a:ext uri="{FF2B5EF4-FFF2-40B4-BE49-F238E27FC236}">
                <a16:creationId xmlns:a16="http://schemas.microsoft.com/office/drawing/2014/main" id="{1148C386-CC21-9A4D-9BE2-35882FF2E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1890" y="2754086"/>
            <a:ext cx="1027113" cy="593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2D1993"/>
                </a:solidFill>
              </a:rPr>
              <a:t>Home Owner</a:t>
            </a:r>
            <a:endParaRPr lang="en-US" altLang="it-IT" sz="16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40672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2D48B801-25D0-984B-B937-A272153EFB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Apply Model to Test Data</a:t>
            </a:r>
          </a:p>
        </p:txBody>
      </p:sp>
      <p:sp>
        <p:nvSpPr>
          <p:cNvPr id="31746" name="Line 3">
            <a:extLst>
              <a:ext uri="{FF2B5EF4-FFF2-40B4-BE49-F238E27FC236}">
                <a16:creationId xmlns:a16="http://schemas.microsoft.com/office/drawing/2014/main" id="{96DB3156-7588-A145-9FB2-A68E972CF26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6081" y="5072906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47" name="Line 4">
            <a:extLst>
              <a:ext uri="{FF2B5EF4-FFF2-40B4-BE49-F238E27FC236}">
                <a16:creationId xmlns:a16="http://schemas.microsoft.com/office/drawing/2014/main" id="{FE411461-094A-3D48-9C0F-3571DED287B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244" y="5072906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48" name="Line 5">
            <a:extLst>
              <a:ext uri="{FF2B5EF4-FFF2-40B4-BE49-F238E27FC236}">
                <a16:creationId xmlns:a16="http://schemas.microsoft.com/office/drawing/2014/main" id="{5B2D4601-CCCD-4F40-B850-C2CF0D5E63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84269" y="4098182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49" name="Line 6">
            <a:extLst>
              <a:ext uri="{FF2B5EF4-FFF2-40B4-BE49-F238E27FC236}">
                <a16:creationId xmlns:a16="http://schemas.microsoft.com/office/drawing/2014/main" id="{CF21AC3B-F68F-8D40-A922-A6958F1C08AE}"/>
              </a:ext>
            </a:extLst>
          </p:cNvPr>
          <p:cNvSpPr>
            <a:spLocks noChangeShapeType="1"/>
          </p:cNvSpPr>
          <p:nvPr/>
        </p:nvSpPr>
        <p:spPr bwMode="auto">
          <a:xfrm>
            <a:off x="5313007" y="4098182"/>
            <a:ext cx="531813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0" name="Line 7">
            <a:extLst>
              <a:ext uri="{FF2B5EF4-FFF2-40B4-BE49-F238E27FC236}">
                <a16:creationId xmlns:a16="http://schemas.microsoft.com/office/drawing/2014/main" id="{DDD82D23-270B-EB49-A6FC-B574A3A92D6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2069" y="3207594"/>
            <a:ext cx="620712" cy="5683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1" name="Line 8">
            <a:extLst>
              <a:ext uri="{FF2B5EF4-FFF2-40B4-BE49-F238E27FC236}">
                <a16:creationId xmlns:a16="http://schemas.microsoft.com/office/drawing/2014/main" id="{7C441075-D766-9840-A98D-9884AAF1E1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57120" y="3207594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2" name="Text Box 10">
            <a:extLst>
              <a:ext uri="{FF2B5EF4-FFF2-40B4-BE49-F238E27FC236}">
                <a16:creationId xmlns:a16="http://schemas.microsoft.com/office/drawing/2014/main" id="{D958EBFE-D594-C64E-8A3E-9521547435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8282" y="3775919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2D1993"/>
                </a:solidFill>
              </a:rPr>
              <a:t>MarSt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1753" name="Text Box 11">
            <a:extLst>
              <a:ext uri="{FF2B5EF4-FFF2-40B4-BE49-F238E27FC236}">
                <a16:creationId xmlns:a16="http://schemas.microsoft.com/office/drawing/2014/main" id="{57BAEE9A-8408-B145-BD6E-71D0A8120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2945" y="4747468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2D1993"/>
                </a:solidFill>
              </a:rPr>
              <a:t>Income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1754" name="AutoShape 12">
            <a:extLst>
              <a:ext uri="{FF2B5EF4-FFF2-40B4-BE49-F238E27FC236}">
                <a16:creationId xmlns:a16="http://schemas.microsoft.com/office/drawing/2014/main" id="{2C21FED5-B12B-984F-974D-6D06DF572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8945" y="5715844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  <p:sp>
        <p:nvSpPr>
          <p:cNvPr id="31755" name="Text Box 13">
            <a:extLst>
              <a:ext uri="{FF2B5EF4-FFF2-40B4-BE49-F238E27FC236}">
                <a16:creationId xmlns:a16="http://schemas.microsoft.com/office/drawing/2014/main" id="{1075E090-D257-F146-B5CB-225626E59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6395" y="5715843"/>
            <a:ext cx="750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800000"/>
                </a:solidFill>
              </a:rPr>
              <a:t>YES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1756" name="AutoShape 14">
            <a:extLst>
              <a:ext uri="{FF2B5EF4-FFF2-40B4-BE49-F238E27FC236}">
                <a16:creationId xmlns:a16="http://schemas.microsoft.com/office/drawing/2014/main" id="{80EF9562-BE99-BD43-8BD9-E203CA038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2231" y="5736482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  <p:sp>
        <p:nvSpPr>
          <p:cNvPr id="31757" name="Text Box 15">
            <a:extLst>
              <a:ext uri="{FF2B5EF4-FFF2-40B4-BE49-F238E27FC236}">
                <a16:creationId xmlns:a16="http://schemas.microsoft.com/office/drawing/2014/main" id="{5EC4C9A6-E76E-B549-8AE1-A82AB1647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2406" y="5719018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800000"/>
                </a:solidFill>
              </a:rPr>
              <a:t>NO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1758" name="AutoShape 16">
            <a:extLst>
              <a:ext uri="{FF2B5EF4-FFF2-40B4-BE49-F238E27FC236}">
                <a16:creationId xmlns:a16="http://schemas.microsoft.com/office/drawing/2014/main" id="{C2E627BB-5BD8-D14E-B96E-A1D796CBD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3107" y="3793382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  <p:sp>
        <p:nvSpPr>
          <p:cNvPr id="31759" name="Text Box 17">
            <a:extLst>
              <a:ext uri="{FF2B5EF4-FFF2-40B4-BE49-F238E27FC236}">
                <a16:creationId xmlns:a16="http://schemas.microsoft.com/office/drawing/2014/main" id="{C59656BE-D629-974F-AE3E-46B8330CC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1694" y="3775918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800000"/>
                </a:solidFill>
              </a:rPr>
              <a:t>NO</a:t>
            </a:r>
            <a:endParaRPr lang="en-US" altLang="it-IT" sz="1600">
              <a:solidFill>
                <a:srgbClr val="00FFFF"/>
              </a:solidFill>
            </a:endParaRPr>
          </a:p>
        </p:txBody>
      </p:sp>
      <p:sp>
        <p:nvSpPr>
          <p:cNvPr id="31760" name="AutoShape 18">
            <a:extLst>
              <a:ext uri="{FF2B5EF4-FFF2-40B4-BE49-F238E27FC236}">
                <a16:creationId xmlns:a16="http://schemas.microsoft.com/office/drawing/2014/main" id="{DDD352A5-06C2-7042-835D-9402C6786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107" y="4780807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  <p:sp>
        <p:nvSpPr>
          <p:cNvPr id="31761" name="Text Box 19">
            <a:extLst>
              <a:ext uri="{FF2B5EF4-FFF2-40B4-BE49-F238E27FC236}">
                <a16:creationId xmlns:a16="http://schemas.microsoft.com/office/drawing/2014/main" id="{2667D920-8AA8-9346-BDE0-3EA22B7AD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6056" y="4780806"/>
            <a:ext cx="4905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800000"/>
                </a:solidFill>
              </a:rPr>
              <a:t>NO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1762" name="Text Box 20">
            <a:extLst>
              <a:ext uri="{FF2B5EF4-FFF2-40B4-BE49-F238E27FC236}">
                <a16:creationId xmlns:a16="http://schemas.microsoft.com/office/drawing/2014/main" id="{D0BE20EB-86D9-1A42-817E-DB2F89CBC1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7731" y="3207593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Yes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1763" name="Text Box 21">
            <a:extLst>
              <a:ext uri="{FF2B5EF4-FFF2-40B4-BE49-F238E27FC236}">
                <a16:creationId xmlns:a16="http://schemas.microsoft.com/office/drawing/2014/main" id="{94FD2C49-1708-1549-9E82-A57E38B12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4494" y="3207593"/>
            <a:ext cx="4429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31764" name="Text Box 22">
            <a:extLst>
              <a:ext uri="{FF2B5EF4-FFF2-40B4-BE49-F238E27FC236}">
                <a16:creationId xmlns:a16="http://schemas.microsoft.com/office/drawing/2014/main" id="{3CD77DE6-BAB7-F14B-9928-ECDAB29D42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0032" y="4145806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Married</a:t>
            </a:r>
            <a:r>
              <a:rPr lang="en-US" altLang="it-IT" sz="160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31765" name="Text Box 23">
            <a:extLst>
              <a:ext uri="{FF2B5EF4-FFF2-40B4-BE49-F238E27FC236}">
                <a16:creationId xmlns:a16="http://schemas.microsoft.com/office/drawing/2014/main" id="{DFD2B574-6F90-794E-8CA0-62049E76B1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9420" y="4180731"/>
            <a:ext cx="1660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Single, Divorced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1766" name="Text Box 24">
            <a:extLst>
              <a:ext uri="{FF2B5EF4-FFF2-40B4-BE49-F238E27FC236}">
                <a16:creationId xmlns:a16="http://schemas.microsoft.com/office/drawing/2014/main" id="{9E5BA1FE-82B4-8641-8CE9-C159203A0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007" y="5152281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&lt; 80K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1767" name="Text Box 25">
            <a:extLst>
              <a:ext uri="{FF2B5EF4-FFF2-40B4-BE49-F238E27FC236}">
                <a16:creationId xmlns:a16="http://schemas.microsoft.com/office/drawing/2014/main" id="{687B8BC7-8220-3E48-B8CA-339B245D7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9282" y="5152281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&gt; 80K</a:t>
            </a:r>
            <a:endParaRPr lang="en-US" altLang="it-IT" sz="1600">
              <a:solidFill>
                <a:schemeClr val="bg2"/>
              </a:solidFill>
            </a:endParaRPr>
          </a:p>
        </p:txBody>
      </p:sp>
      <p:graphicFrame>
        <p:nvGraphicFramePr>
          <p:cNvPr id="31768" name="Object 26">
            <a:extLst>
              <a:ext uri="{FF2B5EF4-FFF2-40B4-BE49-F238E27FC236}">
                <a16:creationId xmlns:a16="http://schemas.microsoft.com/office/drawing/2014/main" id="{1E366851-933A-034B-8E7C-1744572135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6725690"/>
              </p:ext>
            </p:extLst>
          </p:nvPr>
        </p:nvGraphicFramePr>
        <p:xfrm>
          <a:off x="6575070" y="2126506"/>
          <a:ext cx="3652837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143500" imgH="1600200" progId="Word.Document.8">
                  <p:embed/>
                </p:oleObj>
              </mc:Choice>
              <mc:Fallback>
                <p:oleObj name="Document" r:id="rId2" imgW="5143500" imgH="1600200" progId="Word.Document.8">
                  <p:embed/>
                  <p:pic>
                    <p:nvPicPr>
                      <p:cNvPr id="31768" name="Object 26">
                        <a:extLst>
                          <a:ext uri="{FF2B5EF4-FFF2-40B4-BE49-F238E27FC236}">
                            <a16:creationId xmlns:a16="http://schemas.microsoft.com/office/drawing/2014/main" id="{1E366851-933A-034B-8E7C-1744572135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5070" y="2126506"/>
                        <a:ext cx="3652837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9" name="Text Box 27">
            <a:extLst>
              <a:ext uri="{FF2B5EF4-FFF2-40B4-BE49-F238E27FC236}">
                <a16:creationId xmlns:a16="http://schemas.microsoft.com/office/drawing/2014/main" id="{6449C8BD-BB2B-6B4F-BE51-280D3CC95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7906" y="1664543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2000">
                <a:solidFill>
                  <a:schemeClr val="tx2"/>
                </a:solidFill>
              </a:rPr>
              <a:t>Test Data</a:t>
            </a:r>
            <a:endParaRPr lang="en-US" altLang="it-IT" sz="2000">
              <a:solidFill>
                <a:schemeClr val="bg2"/>
              </a:solidFill>
            </a:endParaRPr>
          </a:p>
        </p:txBody>
      </p:sp>
      <p:sp>
        <p:nvSpPr>
          <p:cNvPr id="31770" name="Line 28">
            <a:extLst>
              <a:ext uri="{FF2B5EF4-FFF2-40B4-BE49-F238E27FC236}">
                <a16:creationId xmlns:a16="http://schemas.microsoft.com/office/drawing/2014/main" id="{736E9DFD-047C-A241-A768-5F300B50E6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70106" y="2883743"/>
            <a:ext cx="1600200" cy="4572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71" name="Text Box 33">
            <a:extLst>
              <a:ext uri="{FF2B5EF4-FFF2-40B4-BE49-F238E27FC236}">
                <a16:creationId xmlns:a16="http://schemas.microsoft.com/office/drawing/2014/main" id="{53FB5B60-2C04-C948-8622-59A9F6FDC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3857" y="2883744"/>
            <a:ext cx="1027113" cy="593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2D1993"/>
                </a:solidFill>
              </a:rPr>
              <a:t>Home Owner</a:t>
            </a:r>
            <a:endParaRPr lang="en-US" altLang="it-IT" sz="16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61663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853A094-5B7F-8C40-93D1-31D9717848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Apply Model to Test Data</a:t>
            </a:r>
          </a:p>
        </p:txBody>
      </p:sp>
      <p:sp>
        <p:nvSpPr>
          <p:cNvPr id="32770" name="Line 3">
            <a:extLst>
              <a:ext uri="{FF2B5EF4-FFF2-40B4-BE49-F238E27FC236}">
                <a16:creationId xmlns:a16="http://schemas.microsoft.com/office/drawing/2014/main" id="{3596220B-122C-CA45-A56F-FBCBC321A74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6792" y="5099051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1" name="Line 4">
            <a:extLst>
              <a:ext uri="{FF2B5EF4-FFF2-40B4-BE49-F238E27FC236}">
                <a16:creationId xmlns:a16="http://schemas.microsoft.com/office/drawing/2014/main" id="{F06C9E85-01A2-944F-BD0D-209A2F9AAC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26955" y="5099051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2" name="Line 5">
            <a:extLst>
              <a:ext uri="{FF2B5EF4-FFF2-40B4-BE49-F238E27FC236}">
                <a16:creationId xmlns:a16="http://schemas.microsoft.com/office/drawing/2014/main" id="{C6F9E564-1C57-8845-88FB-53388AB228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34980" y="4124327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3" name="Line 6">
            <a:extLst>
              <a:ext uri="{FF2B5EF4-FFF2-40B4-BE49-F238E27FC236}">
                <a16:creationId xmlns:a16="http://schemas.microsoft.com/office/drawing/2014/main" id="{5E24D060-C3A9-EE48-82D7-4CAF8CEEE07D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3718" y="4124327"/>
            <a:ext cx="531813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4" name="Line 7">
            <a:extLst>
              <a:ext uri="{FF2B5EF4-FFF2-40B4-BE49-F238E27FC236}">
                <a16:creationId xmlns:a16="http://schemas.microsoft.com/office/drawing/2014/main" id="{BE04E137-E3FE-7440-8122-C913BBD9DC93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2780" y="3233739"/>
            <a:ext cx="620712" cy="5683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5" name="Line 8">
            <a:extLst>
              <a:ext uri="{FF2B5EF4-FFF2-40B4-BE49-F238E27FC236}">
                <a16:creationId xmlns:a16="http://schemas.microsoft.com/office/drawing/2014/main" id="{CB5924AA-371E-4F4F-BF80-B01C493081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07831" y="3233739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6" name="Text Box 10">
            <a:extLst>
              <a:ext uri="{FF2B5EF4-FFF2-40B4-BE49-F238E27FC236}">
                <a16:creationId xmlns:a16="http://schemas.microsoft.com/office/drawing/2014/main" id="{3DBA5763-CBEB-A74D-AA65-D603DC7899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8993" y="3802064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2D1993"/>
                </a:solidFill>
              </a:rPr>
              <a:t>MarSt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2777" name="Text Box 11">
            <a:extLst>
              <a:ext uri="{FF2B5EF4-FFF2-40B4-BE49-F238E27FC236}">
                <a16:creationId xmlns:a16="http://schemas.microsoft.com/office/drawing/2014/main" id="{2E33E415-246F-C04A-99B4-A0FBA81F7D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3656" y="4773613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2D1993"/>
                </a:solidFill>
              </a:rPr>
              <a:t>Income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2778" name="AutoShape 12">
            <a:extLst>
              <a:ext uri="{FF2B5EF4-FFF2-40B4-BE49-F238E27FC236}">
                <a16:creationId xmlns:a16="http://schemas.microsoft.com/office/drawing/2014/main" id="{47212A27-ADFB-8E4B-AED2-35B3D0383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9656" y="5741989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  <p:sp>
        <p:nvSpPr>
          <p:cNvPr id="32779" name="Text Box 13">
            <a:extLst>
              <a:ext uri="{FF2B5EF4-FFF2-40B4-BE49-F238E27FC236}">
                <a16:creationId xmlns:a16="http://schemas.microsoft.com/office/drawing/2014/main" id="{AE30427D-05C3-7348-8E38-1CC2646FA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7106" y="5741988"/>
            <a:ext cx="750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800000"/>
                </a:solidFill>
              </a:rPr>
              <a:t>YES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2780" name="AutoShape 14">
            <a:extLst>
              <a:ext uri="{FF2B5EF4-FFF2-40B4-BE49-F238E27FC236}">
                <a16:creationId xmlns:a16="http://schemas.microsoft.com/office/drawing/2014/main" id="{369B597C-045F-1346-91FA-B2953F345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2942" y="5762627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  <p:sp>
        <p:nvSpPr>
          <p:cNvPr id="32781" name="Text Box 15">
            <a:extLst>
              <a:ext uri="{FF2B5EF4-FFF2-40B4-BE49-F238E27FC236}">
                <a16:creationId xmlns:a16="http://schemas.microsoft.com/office/drawing/2014/main" id="{13B08BCA-5E59-D440-B2A1-4F0450E7A1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3117" y="5745163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800000"/>
                </a:solidFill>
              </a:rPr>
              <a:t>NO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2782" name="AutoShape 16">
            <a:extLst>
              <a:ext uri="{FF2B5EF4-FFF2-40B4-BE49-F238E27FC236}">
                <a16:creationId xmlns:a16="http://schemas.microsoft.com/office/drawing/2014/main" id="{80B30454-6542-824D-AF96-D17AE6719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3818" y="3819527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  <p:sp>
        <p:nvSpPr>
          <p:cNvPr id="32783" name="Text Box 17">
            <a:extLst>
              <a:ext uri="{FF2B5EF4-FFF2-40B4-BE49-F238E27FC236}">
                <a16:creationId xmlns:a16="http://schemas.microsoft.com/office/drawing/2014/main" id="{E63A171D-9B07-7742-8AA4-5E206057DB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2405" y="3802063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800000"/>
                </a:solidFill>
              </a:rPr>
              <a:t>NO</a:t>
            </a:r>
            <a:endParaRPr lang="en-US" altLang="it-IT" sz="1600">
              <a:solidFill>
                <a:srgbClr val="00FFFF"/>
              </a:solidFill>
            </a:endParaRPr>
          </a:p>
        </p:txBody>
      </p:sp>
      <p:sp>
        <p:nvSpPr>
          <p:cNvPr id="32784" name="AutoShape 18">
            <a:extLst>
              <a:ext uri="{FF2B5EF4-FFF2-40B4-BE49-F238E27FC236}">
                <a16:creationId xmlns:a16="http://schemas.microsoft.com/office/drawing/2014/main" id="{BA9B8DB2-80C6-514F-9A64-EAD604E45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8818" y="4806952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  <p:sp>
        <p:nvSpPr>
          <p:cNvPr id="32785" name="Text Box 19">
            <a:extLst>
              <a:ext uri="{FF2B5EF4-FFF2-40B4-BE49-F238E27FC236}">
                <a16:creationId xmlns:a16="http://schemas.microsoft.com/office/drawing/2014/main" id="{F98A8E4A-85E0-F140-A71F-47FE4CD52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6767" y="4806951"/>
            <a:ext cx="4905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800000"/>
                </a:solidFill>
              </a:rPr>
              <a:t>NO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2786" name="Text Box 20">
            <a:extLst>
              <a:ext uri="{FF2B5EF4-FFF2-40B4-BE49-F238E27FC236}">
                <a16:creationId xmlns:a16="http://schemas.microsoft.com/office/drawing/2014/main" id="{11518100-FEBD-6041-898A-F30C1748F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8442" y="3233738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Yes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2787" name="Text Box 21">
            <a:extLst>
              <a:ext uri="{FF2B5EF4-FFF2-40B4-BE49-F238E27FC236}">
                <a16:creationId xmlns:a16="http://schemas.microsoft.com/office/drawing/2014/main" id="{8D289D35-2DB0-3044-8226-42A4A98151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5205" y="3233738"/>
            <a:ext cx="4429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32788" name="Text Box 22">
            <a:extLst>
              <a:ext uri="{FF2B5EF4-FFF2-40B4-BE49-F238E27FC236}">
                <a16:creationId xmlns:a16="http://schemas.microsoft.com/office/drawing/2014/main" id="{17C7AD43-6AC6-8844-9A3C-6929C03291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0743" y="4171951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Married</a:t>
            </a:r>
            <a:r>
              <a:rPr lang="en-US" altLang="it-IT" sz="160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32789" name="Text Box 23">
            <a:extLst>
              <a:ext uri="{FF2B5EF4-FFF2-40B4-BE49-F238E27FC236}">
                <a16:creationId xmlns:a16="http://schemas.microsoft.com/office/drawing/2014/main" id="{C2F6F3A9-D820-A44F-8A6D-45703B7E6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0131" y="4206876"/>
            <a:ext cx="1660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Single, Divorced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2790" name="Text Box 24">
            <a:extLst>
              <a:ext uri="{FF2B5EF4-FFF2-40B4-BE49-F238E27FC236}">
                <a16:creationId xmlns:a16="http://schemas.microsoft.com/office/drawing/2014/main" id="{3B89C04A-994E-4B47-93B8-6EA885E0D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3718" y="5178426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&lt; 80K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2791" name="Text Box 25">
            <a:extLst>
              <a:ext uri="{FF2B5EF4-FFF2-40B4-BE49-F238E27FC236}">
                <a16:creationId xmlns:a16="http://schemas.microsoft.com/office/drawing/2014/main" id="{6CBF3F92-494E-4949-AEEF-6357653DC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9993" y="5178426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&gt; 80K</a:t>
            </a:r>
            <a:endParaRPr lang="en-US" altLang="it-IT" sz="1600">
              <a:solidFill>
                <a:schemeClr val="bg2"/>
              </a:solidFill>
            </a:endParaRPr>
          </a:p>
        </p:txBody>
      </p:sp>
      <p:graphicFrame>
        <p:nvGraphicFramePr>
          <p:cNvPr id="32792" name="Object 26">
            <a:extLst>
              <a:ext uri="{FF2B5EF4-FFF2-40B4-BE49-F238E27FC236}">
                <a16:creationId xmlns:a16="http://schemas.microsoft.com/office/drawing/2014/main" id="{D52002E8-D4EC-9645-BEC4-F21540309C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3436007"/>
              </p:ext>
            </p:extLst>
          </p:nvPr>
        </p:nvGraphicFramePr>
        <p:xfrm>
          <a:off x="6425781" y="2152651"/>
          <a:ext cx="3576637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054600" imgH="1600200" progId="Word.Document.8">
                  <p:embed/>
                </p:oleObj>
              </mc:Choice>
              <mc:Fallback>
                <p:oleObj name="Document" r:id="rId2" imgW="5054600" imgH="1600200" progId="Word.Document.8">
                  <p:embed/>
                  <p:pic>
                    <p:nvPicPr>
                      <p:cNvPr id="32792" name="Object 26">
                        <a:extLst>
                          <a:ext uri="{FF2B5EF4-FFF2-40B4-BE49-F238E27FC236}">
                            <a16:creationId xmlns:a16="http://schemas.microsoft.com/office/drawing/2014/main" id="{D52002E8-D4EC-9645-BEC4-F21540309C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5781" y="2152651"/>
                        <a:ext cx="3576637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93" name="Text Box 27">
            <a:extLst>
              <a:ext uri="{FF2B5EF4-FFF2-40B4-BE49-F238E27FC236}">
                <a16:creationId xmlns:a16="http://schemas.microsoft.com/office/drawing/2014/main" id="{D8CBAE6F-6C3D-794A-80D4-EB8DB4588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8617" y="1690688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2000">
                <a:solidFill>
                  <a:schemeClr val="tx2"/>
                </a:solidFill>
              </a:rPr>
              <a:t>Test Data</a:t>
            </a:r>
            <a:endParaRPr lang="en-US" altLang="it-IT" sz="2000">
              <a:solidFill>
                <a:schemeClr val="bg2"/>
              </a:solidFill>
            </a:endParaRPr>
          </a:p>
        </p:txBody>
      </p:sp>
      <p:sp>
        <p:nvSpPr>
          <p:cNvPr id="32794" name="Line 28">
            <a:extLst>
              <a:ext uri="{FF2B5EF4-FFF2-40B4-BE49-F238E27FC236}">
                <a16:creationId xmlns:a16="http://schemas.microsoft.com/office/drawing/2014/main" id="{18586F31-2218-594C-8725-9A9D2174EE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78017" y="2605088"/>
            <a:ext cx="2057400" cy="12954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95" name="Text Box 29">
            <a:extLst>
              <a:ext uri="{FF2B5EF4-FFF2-40B4-BE49-F238E27FC236}">
                <a16:creationId xmlns:a16="http://schemas.microsoft.com/office/drawing/2014/main" id="{5A331B2F-C989-3143-98D6-305FB6D041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4568" y="2909889"/>
            <a:ext cx="1027113" cy="593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2D1993"/>
                </a:solidFill>
              </a:rPr>
              <a:t>Home Owner</a:t>
            </a:r>
            <a:endParaRPr lang="en-US" altLang="it-IT" sz="16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1378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3ABA83F-A9FB-FE4D-9A02-57F6F6D9FA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Apply Model to Test Data</a:t>
            </a:r>
          </a:p>
        </p:txBody>
      </p:sp>
      <p:sp>
        <p:nvSpPr>
          <p:cNvPr id="33794" name="Line 3">
            <a:extLst>
              <a:ext uri="{FF2B5EF4-FFF2-40B4-BE49-F238E27FC236}">
                <a16:creationId xmlns:a16="http://schemas.microsoft.com/office/drawing/2014/main" id="{87507416-B4D5-E54D-B716-3E7043DE7E9F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2106" y="5099051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5" name="Line 4">
            <a:extLst>
              <a:ext uri="{FF2B5EF4-FFF2-40B4-BE49-F238E27FC236}">
                <a16:creationId xmlns:a16="http://schemas.microsoft.com/office/drawing/2014/main" id="{34DBC3A7-942D-DC4A-A5DF-FFB575294C8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92269" y="5099051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6" name="Line 5">
            <a:extLst>
              <a:ext uri="{FF2B5EF4-FFF2-40B4-BE49-F238E27FC236}">
                <a16:creationId xmlns:a16="http://schemas.microsoft.com/office/drawing/2014/main" id="{A875F762-541B-A343-84B6-6E610F2BAB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00294" y="4124327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7" name="Line 6">
            <a:extLst>
              <a:ext uri="{FF2B5EF4-FFF2-40B4-BE49-F238E27FC236}">
                <a16:creationId xmlns:a16="http://schemas.microsoft.com/office/drawing/2014/main" id="{23345ADF-090B-BF4B-A613-F4608524DA4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9032" y="4124327"/>
            <a:ext cx="531813" cy="6492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8" name="Line 7">
            <a:extLst>
              <a:ext uri="{FF2B5EF4-FFF2-40B4-BE49-F238E27FC236}">
                <a16:creationId xmlns:a16="http://schemas.microsoft.com/office/drawing/2014/main" id="{61858EE4-8FC3-8E4E-B0D4-5A71A81CFDD7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8094" y="3233739"/>
            <a:ext cx="620712" cy="5683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9" name="Line 8">
            <a:extLst>
              <a:ext uri="{FF2B5EF4-FFF2-40B4-BE49-F238E27FC236}">
                <a16:creationId xmlns:a16="http://schemas.microsoft.com/office/drawing/2014/main" id="{A5DA51C4-1B40-2843-A5DB-8C79D589A66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73145" y="3233739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0" name="Text Box 10">
            <a:extLst>
              <a:ext uri="{FF2B5EF4-FFF2-40B4-BE49-F238E27FC236}">
                <a16:creationId xmlns:a16="http://schemas.microsoft.com/office/drawing/2014/main" id="{B2455580-12FC-7248-8A8F-D0ADF3782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307" y="3802064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2D1993"/>
                </a:solidFill>
              </a:rPr>
              <a:t>MarSt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3801" name="Text Box 11">
            <a:extLst>
              <a:ext uri="{FF2B5EF4-FFF2-40B4-BE49-F238E27FC236}">
                <a16:creationId xmlns:a16="http://schemas.microsoft.com/office/drawing/2014/main" id="{35F1A7BE-19CA-5C4A-8DDB-174F8A191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8970" y="4773613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2D1993"/>
                </a:solidFill>
              </a:rPr>
              <a:t>Income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3802" name="AutoShape 12">
            <a:extLst>
              <a:ext uri="{FF2B5EF4-FFF2-40B4-BE49-F238E27FC236}">
                <a16:creationId xmlns:a16="http://schemas.microsoft.com/office/drawing/2014/main" id="{E64A3958-C16A-D147-BAFF-FF2FA6C53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4970" y="5741989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  <p:sp>
        <p:nvSpPr>
          <p:cNvPr id="33803" name="Text Box 13">
            <a:extLst>
              <a:ext uri="{FF2B5EF4-FFF2-40B4-BE49-F238E27FC236}">
                <a16:creationId xmlns:a16="http://schemas.microsoft.com/office/drawing/2014/main" id="{38AC86B9-A425-1547-B40A-EAF544E34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2420" y="5741988"/>
            <a:ext cx="750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800000"/>
                </a:solidFill>
              </a:rPr>
              <a:t>YES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3804" name="AutoShape 14">
            <a:extLst>
              <a:ext uri="{FF2B5EF4-FFF2-40B4-BE49-F238E27FC236}">
                <a16:creationId xmlns:a16="http://schemas.microsoft.com/office/drawing/2014/main" id="{E9F8C2C1-81A7-3943-854D-C7D045E03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8256" y="5762627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  <p:sp>
        <p:nvSpPr>
          <p:cNvPr id="33805" name="Text Box 15">
            <a:extLst>
              <a:ext uri="{FF2B5EF4-FFF2-40B4-BE49-F238E27FC236}">
                <a16:creationId xmlns:a16="http://schemas.microsoft.com/office/drawing/2014/main" id="{2968ACAC-4041-784A-8AE9-C92EF4D62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431" y="5745163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800000"/>
                </a:solidFill>
              </a:rPr>
              <a:t>NO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3806" name="AutoShape 16">
            <a:extLst>
              <a:ext uri="{FF2B5EF4-FFF2-40B4-BE49-F238E27FC236}">
                <a16:creationId xmlns:a16="http://schemas.microsoft.com/office/drawing/2014/main" id="{2F3286C6-339E-D745-A080-586324657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9132" y="3819527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  <p:sp>
        <p:nvSpPr>
          <p:cNvPr id="33807" name="Text Box 17">
            <a:extLst>
              <a:ext uri="{FF2B5EF4-FFF2-40B4-BE49-F238E27FC236}">
                <a16:creationId xmlns:a16="http://schemas.microsoft.com/office/drawing/2014/main" id="{994EBAC3-91C7-2A48-9A4F-64416077A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7719" y="3802063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800000"/>
                </a:solidFill>
              </a:rPr>
              <a:t>NO</a:t>
            </a:r>
            <a:endParaRPr lang="en-US" altLang="it-IT" sz="1600">
              <a:solidFill>
                <a:srgbClr val="00FFFF"/>
              </a:solidFill>
            </a:endParaRPr>
          </a:p>
        </p:txBody>
      </p:sp>
      <p:sp>
        <p:nvSpPr>
          <p:cNvPr id="33808" name="AutoShape 18">
            <a:extLst>
              <a:ext uri="{FF2B5EF4-FFF2-40B4-BE49-F238E27FC236}">
                <a16:creationId xmlns:a16="http://schemas.microsoft.com/office/drawing/2014/main" id="{83BB5A55-D24D-4841-8C6B-6B9167EFF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4132" y="4806952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  <p:sp>
        <p:nvSpPr>
          <p:cNvPr id="33809" name="Text Box 19">
            <a:extLst>
              <a:ext uri="{FF2B5EF4-FFF2-40B4-BE49-F238E27FC236}">
                <a16:creationId xmlns:a16="http://schemas.microsoft.com/office/drawing/2014/main" id="{F56A24B5-45BF-2340-9AED-D03E7EA51B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2081" y="4806951"/>
            <a:ext cx="4905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800000"/>
                </a:solidFill>
              </a:rPr>
              <a:t>NO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3810" name="Text Box 20">
            <a:extLst>
              <a:ext uri="{FF2B5EF4-FFF2-40B4-BE49-F238E27FC236}">
                <a16:creationId xmlns:a16="http://schemas.microsoft.com/office/drawing/2014/main" id="{ACFF3B89-43FB-3A46-9939-9E330307D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3756" y="3233738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Yes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3811" name="Text Box 21">
            <a:extLst>
              <a:ext uri="{FF2B5EF4-FFF2-40B4-BE49-F238E27FC236}">
                <a16:creationId xmlns:a16="http://schemas.microsoft.com/office/drawing/2014/main" id="{ED38A8F6-B383-6A46-985F-B334F2DD48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0519" y="3233738"/>
            <a:ext cx="4429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33812" name="Text Box 22">
            <a:extLst>
              <a:ext uri="{FF2B5EF4-FFF2-40B4-BE49-F238E27FC236}">
                <a16:creationId xmlns:a16="http://schemas.microsoft.com/office/drawing/2014/main" id="{E7AA5695-F320-F244-8100-92EB93562D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6057" y="4171951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FF0000"/>
                </a:solidFill>
              </a:rPr>
              <a:t>Married </a:t>
            </a:r>
          </a:p>
        </p:txBody>
      </p:sp>
      <p:sp>
        <p:nvSpPr>
          <p:cNvPr id="33813" name="Text Box 23">
            <a:extLst>
              <a:ext uri="{FF2B5EF4-FFF2-40B4-BE49-F238E27FC236}">
                <a16:creationId xmlns:a16="http://schemas.microsoft.com/office/drawing/2014/main" id="{93911E0C-158E-3047-B280-C9963B1E8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5445" y="4206876"/>
            <a:ext cx="1660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Single, Divorced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3814" name="Text Box 24">
            <a:extLst>
              <a:ext uri="{FF2B5EF4-FFF2-40B4-BE49-F238E27FC236}">
                <a16:creationId xmlns:a16="http://schemas.microsoft.com/office/drawing/2014/main" id="{DAEB3A0B-9A86-8D4F-BE13-3D0863F3D9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9032" y="5178426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&lt; 80K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3815" name="Text Box 25">
            <a:extLst>
              <a:ext uri="{FF2B5EF4-FFF2-40B4-BE49-F238E27FC236}">
                <a16:creationId xmlns:a16="http://schemas.microsoft.com/office/drawing/2014/main" id="{ED967361-AAF9-174B-85D1-19432E315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5307" y="5178426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&gt; 80K</a:t>
            </a:r>
            <a:endParaRPr lang="en-US" altLang="it-IT" sz="1600">
              <a:solidFill>
                <a:schemeClr val="bg2"/>
              </a:solidFill>
            </a:endParaRPr>
          </a:p>
        </p:txBody>
      </p:sp>
      <p:graphicFrame>
        <p:nvGraphicFramePr>
          <p:cNvPr id="33816" name="Object 26">
            <a:extLst>
              <a:ext uri="{FF2B5EF4-FFF2-40B4-BE49-F238E27FC236}">
                <a16:creationId xmlns:a16="http://schemas.microsoft.com/office/drawing/2014/main" id="{07B6F806-1BEC-1F4A-BF05-1E0FB181F0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0173612"/>
              </p:ext>
            </p:extLst>
          </p:nvPr>
        </p:nvGraphicFramePr>
        <p:xfrm>
          <a:off x="6491094" y="2152651"/>
          <a:ext cx="3719512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270500" imgH="1562100" progId="Word.Document.8">
                  <p:embed/>
                </p:oleObj>
              </mc:Choice>
              <mc:Fallback>
                <p:oleObj name="Document" r:id="rId2" imgW="5270500" imgH="1562100" progId="Word.Document.8">
                  <p:embed/>
                  <p:pic>
                    <p:nvPicPr>
                      <p:cNvPr id="33816" name="Object 26">
                        <a:extLst>
                          <a:ext uri="{FF2B5EF4-FFF2-40B4-BE49-F238E27FC236}">
                            <a16:creationId xmlns:a16="http://schemas.microsoft.com/office/drawing/2014/main" id="{07B6F806-1BEC-1F4A-BF05-1E0FB181F0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1094" y="2152651"/>
                        <a:ext cx="3719512" cy="1096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17" name="Text Box 27">
            <a:extLst>
              <a:ext uri="{FF2B5EF4-FFF2-40B4-BE49-F238E27FC236}">
                <a16:creationId xmlns:a16="http://schemas.microsoft.com/office/drawing/2014/main" id="{42779E5F-67F5-A946-ABAE-8EEA46C41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3931" y="1690688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2000">
                <a:solidFill>
                  <a:schemeClr val="tx2"/>
                </a:solidFill>
              </a:rPr>
              <a:t>Test Data</a:t>
            </a:r>
            <a:endParaRPr lang="en-US" altLang="it-IT" sz="2000">
              <a:solidFill>
                <a:schemeClr val="bg2"/>
              </a:solidFill>
            </a:endParaRPr>
          </a:p>
        </p:txBody>
      </p:sp>
      <p:sp>
        <p:nvSpPr>
          <p:cNvPr id="33818" name="Line 28">
            <a:extLst>
              <a:ext uri="{FF2B5EF4-FFF2-40B4-BE49-F238E27FC236}">
                <a16:creationId xmlns:a16="http://schemas.microsoft.com/office/drawing/2014/main" id="{E3CD7B0B-E0D2-BD4E-A036-7004CB46768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81531" y="3138488"/>
            <a:ext cx="1295400" cy="9906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19" name="Text Box 29">
            <a:extLst>
              <a:ext uri="{FF2B5EF4-FFF2-40B4-BE49-F238E27FC236}">
                <a16:creationId xmlns:a16="http://schemas.microsoft.com/office/drawing/2014/main" id="{178755D3-4FAE-5141-8C3F-35CBC27F5A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9882" y="2909889"/>
            <a:ext cx="1027113" cy="593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2D1993"/>
                </a:solidFill>
              </a:rPr>
              <a:t>Home Owner</a:t>
            </a:r>
            <a:endParaRPr lang="en-US" altLang="it-IT" sz="16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55144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61EF19C-4AB8-CF48-8939-BA553A17E2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Apply Model to Test Data</a:t>
            </a:r>
          </a:p>
        </p:txBody>
      </p:sp>
      <p:sp>
        <p:nvSpPr>
          <p:cNvPr id="34818" name="Line 3">
            <a:extLst>
              <a:ext uri="{FF2B5EF4-FFF2-40B4-BE49-F238E27FC236}">
                <a16:creationId xmlns:a16="http://schemas.microsoft.com/office/drawing/2014/main" id="{F6E188E1-3B4F-EB45-9D32-1E72E7687164}"/>
              </a:ext>
            </a:extLst>
          </p:cNvPr>
          <p:cNvSpPr>
            <a:spLocks noChangeShapeType="1"/>
          </p:cNvSpPr>
          <p:nvPr/>
        </p:nvSpPr>
        <p:spPr bwMode="auto">
          <a:xfrm>
            <a:off x="4394783" y="5110229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19" name="Line 4">
            <a:extLst>
              <a:ext uri="{FF2B5EF4-FFF2-40B4-BE49-F238E27FC236}">
                <a16:creationId xmlns:a16="http://schemas.microsoft.com/office/drawing/2014/main" id="{FAA825B2-897E-F248-A995-06976C6F21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54946" y="5110229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0" name="Line 5">
            <a:extLst>
              <a:ext uri="{FF2B5EF4-FFF2-40B4-BE49-F238E27FC236}">
                <a16:creationId xmlns:a16="http://schemas.microsoft.com/office/drawing/2014/main" id="{CEF4956C-9ECA-0D40-9659-E281F56A0B5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62971" y="4135505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1" name="Line 6">
            <a:extLst>
              <a:ext uri="{FF2B5EF4-FFF2-40B4-BE49-F238E27FC236}">
                <a16:creationId xmlns:a16="http://schemas.microsoft.com/office/drawing/2014/main" id="{0C68B2F8-B91A-0049-9251-4A9BA94FCD1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91709" y="4135505"/>
            <a:ext cx="531813" cy="6492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2" name="Line 7">
            <a:extLst>
              <a:ext uri="{FF2B5EF4-FFF2-40B4-BE49-F238E27FC236}">
                <a16:creationId xmlns:a16="http://schemas.microsoft.com/office/drawing/2014/main" id="{D2484B7B-C40A-3447-AD0D-C522AF66C39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0771" y="3244917"/>
            <a:ext cx="620712" cy="5683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3" name="Line 8">
            <a:extLst>
              <a:ext uri="{FF2B5EF4-FFF2-40B4-BE49-F238E27FC236}">
                <a16:creationId xmlns:a16="http://schemas.microsoft.com/office/drawing/2014/main" id="{138A9773-A3DE-6040-BEF5-D65112E23B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35822" y="3244917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4" name="Text Box 10">
            <a:extLst>
              <a:ext uri="{FF2B5EF4-FFF2-40B4-BE49-F238E27FC236}">
                <a16:creationId xmlns:a16="http://schemas.microsoft.com/office/drawing/2014/main" id="{CA6B36D3-22C3-294F-84F4-30AB90D01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6984" y="3813242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2D1993"/>
                </a:solidFill>
              </a:rPr>
              <a:t>MarSt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4825" name="Text Box 11">
            <a:extLst>
              <a:ext uri="{FF2B5EF4-FFF2-40B4-BE49-F238E27FC236}">
                <a16:creationId xmlns:a16="http://schemas.microsoft.com/office/drawing/2014/main" id="{25B78DB5-C422-D949-8FCD-B90FC2CD9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1647" y="4784791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2D1993"/>
                </a:solidFill>
              </a:rPr>
              <a:t>Income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4826" name="AutoShape 12">
            <a:extLst>
              <a:ext uri="{FF2B5EF4-FFF2-40B4-BE49-F238E27FC236}">
                <a16:creationId xmlns:a16="http://schemas.microsoft.com/office/drawing/2014/main" id="{60BEA7A5-3A49-1341-AA68-09D6476FD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7647" y="5753167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  <p:sp>
        <p:nvSpPr>
          <p:cNvPr id="34827" name="Text Box 13">
            <a:extLst>
              <a:ext uri="{FF2B5EF4-FFF2-40B4-BE49-F238E27FC236}">
                <a16:creationId xmlns:a16="http://schemas.microsoft.com/office/drawing/2014/main" id="{DB95031E-46A2-1E49-9803-88EA6585FB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5097" y="5753166"/>
            <a:ext cx="750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800000"/>
                </a:solidFill>
              </a:rPr>
              <a:t>YES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4828" name="AutoShape 14">
            <a:extLst>
              <a:ext uri="{FF2B5EF4-FFF2-40B4-BE49-F238E27FC236}">
                <a16:creationId xmlns:a16="http://schemas.microsoft.com/office/drawing/2014/main" id="{F6F04B53-E507-F744-9539-499A12AB3F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0933" y="5773805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  <p:sp>
        <p:nvSpPr>
          <p:cNvPr id="34829" name="Text Box 15">
            <a:extLst>
              <a:ext uri="{FF2B5EF4-FFF2-40B4-BE49-F238E27FC236}">
                <a16:creationId xmlns:a16="http://schemas.microsoft.com/office/drawing/2014/main" id="{CC3ECC10-44F0-6B4A-9936-215DE49BA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1108" y="5756341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800000"/>
                </a:solidFill>
              </a:rPr>
              <a:t>NO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4830" name="AutoShape 16">
            <a:extLst>
              <a:ext uri="{FF2B5EF4-FFF2-40B4-BE49-F238E27FC236}">
                <a16:creationId xmlns:a16="http://schemas.microsoft.com/office/drawing/2014/main" id="{9BAF0D99-200F-A54A-8205-AEE9547A9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809" y="3830705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  <p:sp>
        <p:nvSpPr>
          <p:cNvPr id="34831" name="Text Box 17">
            <a:extLst>
              <a:ext uri="{FF2B5EF4-FFF2-40B4-BE49-F238E27FC236}">
                <a16:creationId xmlns:a16="http://schemas.microsoft.com/office/drawing/2014/main" id="{806FF763-67C9-F540-BCF4-E5FF415292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0396" y="3813241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800000"/>
                </a:solidFill>
              </a:rPr>
              <a:t>NO</a:t>
            </a:r>
            <a:endParaRPr lang="en-US" altLang="it-IT" sz="1600">
              <a:solidFill>
                <a:srgbClr val="00FFFF"/>
              </a:solidFill>
            </a:endParaRPr>
          </a:p>
        </p:txBody>
      </p:sp>
      <p:sp>
        <p:nvSpPr>
          <p:cNvPr id="34832" name="AutoShape 18">
            <a:extLst>
              <a:ext uri="{FF2B5EF4-FFF2-40B4-BE49-F238E27FC236}">
                <a16:creationId xmlns:a16="http://schemas.microsoft.com/office/drawing/2014/main" id="{9F99884F-F3A4-8649-AF4B-6CB908FA7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6809" y="4818130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  <p:sp>
        <p:nvSpPr>
          <p:cNvPr id="34833" name="Text Box 19">
            <a:extLst>
              <a:ext uri="{FF2B5EF4-FFF2-40B4-BE49-F238E27FC236}">
                <a16:creationId xmlns:a16="http://schemas.microsoft.com/office/drawing/2014/main" id="{08C00644-BD8E-B447-AE35-37393AF8D6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4758" y="4818129"/>
            <a:ext cx="4905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800000"/>
                </a:solidFill>
              </a:rPr>
              <a:t>NO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4834" name="Text Box 20">
            <a:extLst>
              <a:ext uri="{FF2B5EF4-FFF2-40B4-BE49-F238E27FC236}">
                <a16:creationId xmlns:a16="http://schemas.microsoft.com/office/drawing/2014/main" id="{8A07C669-9C27-3441-B6AE-40826B2DA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6433" y="3244916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Yes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4835" name="Text Box 21">
            <a:extLst>
              <a:ext uri="{FF2B5EF4-FFF2-40B4-BE49-F238E27FC236}">
                <a16:creationId xmlns:a16="http://schemas.microsoft.com/office/drawing/2014/main" id="{B93E7475-C399-484B-B6FD-56F89CC02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3196" y="3244916"/>
            <a:ext cx="4429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34836" name="Text Box 22">
            <a:extLst>
              <a:ext uri="{FF2B5EF4-FFF2-40B4-BE49-F238E27FC236}">
                <a16:creationId xmlns:a16="http://schemas.microsoft.com/office/drawing/2014/main" id="{A221C92B-D221-1A44-8630-9DF721BFE1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8734" y="4183129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FF0000"/>
                </a:solidFill>
              </a:rPr>
              <a:t>Married </a:t>
            </a:r>
          </a:p>
        </p:txBody>
      </p:sp>
      <p:sp>
        <p:nvSpPr>
          <p:cNvPr id="34837" name="Text Box 23">
            <a:extLst>
              <a:ext uri="{FF2B5EF4-FFF2-40B4-BE49-F238E27FC236}">
                <a16:creationId xmlns:a16="http://schemas.microsoft.com/office/drawing/2014/main" id="{A22372E2-FA0D-0E4F-97D9-F5020094B7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8122" y="4218054"/>
            <a:ext cx="1660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Single, Divorced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4838" name="Text Box 24">
            <a:extLst>
              <a:ext uri="{FF2B5EF4-FFF2-40B4-BE49-F238E27FC236}">
                <a16:creationId xmlns:a16="http://schemas.microsoft.com/office/drawing/2014/main" id="{0AB765E4-0894-CD40-9418-5ABE2A55AD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709" y="5189604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&lt; 80K</a:t>
            </a:r>
            <a:endParaRPr lang="en-US" altLang="it-IT" sz="1600">
              <a:solidFill>
                <a:schemeClr val="bg2"/>
              </a:solidFill>
            </a:endParaRPr>
          </a:p>
        </p:txBody>
      </p:sp>
      <p:sp>
        <p:nvSpPr>
          <p:cNvPr id="34839" name="Text Box 25">
            <a:extLst>
              <a:ext uri="{FF2B5EF4-FFF2-40B4-BE49-F238E27FC236}">
                <a16:creationId xmlns:a16="http://schemas.microsoft.com/office/drawing/2014/main" id="{E3286471-3DBD-9C4D-877B-EE240EB115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7984" y="5189604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/>
              <a:t>&gt; 80K</a:t>
            </a:r>
            <a:endParaRPr lang="en-US" altLang="it-IT" sz="1600">
              <a:solidFill>
                <a:schemeClr val="bg2"/>
              </a:solidFill>
            </a:endParaRPr>
          </a:p>
        </p:txBody>
      </p:sp>
      <p:graphicFrame>
        <p:nvGraphicFramePr>
          <p:cNvPr id="34840" name="Object 26">
            <a:extLst>
              <a:ext uri="{FF2B5EF4-FFF2-40B4-BE49-F238E27FC236}">
                <a16:creationId xmlns:a16="http://schemas.microsoft.com/office/drawing/2014/main" id="{4011CDE7-A2C6-D94B-BA4A-4EF13A85F4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1265618"/>
              </p:ext>
            </p:extLst>
          </p:nvPr>
        </p:nvGraphicFramePr>
        <p:xfrm>
          <a:off x="6453771" y="2163830"/>
          <a:ext cx="365760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168900" imgH="1562100" progId="Word.Document.8">
                  <p:embed/>
                </p:oleObj>
              </mc:Choice>
              <mc:Fallback>
                <p:oleObj name="Document" r:id="rId2" imgW="5168900" imgH="1562100" progId="Word.Document.8">
                  <p:embed/>
                  <p:pic>
                    <p:nvPicPr>
                      <p:cNvPr id="34840" name="Object 26">
                        <a:extLst>
                          <a:ext uri="{FF2B5EF4-FFF2-40B4-BE49-F238E27FC236}">
                            <a16:creationId xmlns:a16="http://schemas.microsoft.com/office/drawing/2014/main" id="{4011CDE7-A2C6-D94B-BA4A-4EF13A85F4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3771" y="2163830"/>
                        <a:ext cx="3657600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41" name="Text Box 27">
            <a:extLst>
              <a:ext uri="{FF2B5EF4-FFF2-40B4-BE49-F238E27FC236}">
                <a16:creationId xmlns:a16="http://schemas.microsoft.com/office/drawing/2014/main" id="{12430EF4-D482-4F4D-A99C-B0FC7208E1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6608" y="1701866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2000">
                <a:solidFill>
                  <a:schemeClr val="tx2"/>
                </a:solidFill>
              </a:rPr>
              <a:t>Test Data</a:t>
            </a:r>
            <a:endParaRPr lang="en-US" altLang="it-IT" sz="2000">
              <a:solidFill>
                <a:schemeClr val="bg2"/>
              </a:solidFill>
            </a:endParaRPr>
          </a:p>
        </p:txBody>
      </p:sp>
      <p:sp>
        <p:nvSpPr>
          <p:cNvPr id="34842" name="Line 28">
            <a:extLst>
              <a:ext uri="{FF2B5EF4-FFF2-40B4-BE49-F238E27FC236}">
                <a16:creationId xmlns:a16="http://schemas.microsoft.com/office/drawing/2014/main" id="{900DD832-9A99-8F40-B406-D881655877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91808" y="3149666"/>
            <a:ext cx="3124200" cy="18288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43" name="Text Box 29">
            <a:extLst>
              <a:ext uri="{FF2B5EF4-FFF2-40B4-BE49-F238E27FC236}">
                <a16:creationId xmlns:a16="http://schemas.microsoft.com/office/drawing/2014/main" id="{0EBE7598-1895-A141-9E31-A09D8F5689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808" y="4140267"/>
            <a:ext cx="26670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2000"/>
              <a:t>Assign Defaulted to “No”</a:t>
            </a:r>
          </a:p>
        </p:txBody>
      </p:sp>
      <p:sp>
        <p:nvSpPr>
          <p:cNvPr id="34844" name="Text Box 30">
            <a:extLst>
              <a:ext uri="{FF2B5EF4-FFF2-40B4-BE49-F238E27FC236}">
                <a16:creationId xmlns:a16="http://schemas.microsoft.com/office/drawing/2014/main" id="{6C0FD679-0A7D-C642-A4ED-5258EA40F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2559" y="2921067"/>
            <a:ext cx="1027113" cy="593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it-IT" sz="1600">
                <a:solidFill>
                  <a:srgbClr val="2D1993"/>
                </a:solidFill>
              </a:rPr>
              <a:t>Home Owner</a:t>
            </a:r>
            <a:endParaRPr lang="en-US" altLang="it-IT" sz="16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7154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1E384B1F-280C-5143-AF54-E3425C2FEA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Decision Tree Classification Task</a:t>
            </a:r>
          </a:p>
        </p:txBody>
      </p:sp>
      <p:graphicFrame>
        <p:nvGraphicFramePr>
          <p:cNvPr id="35842" name="Object 3">
            <a:extLst>
              <a:ext uri="{FF2B5EF4-FFF2-40B4-BE49-F238E27FC236}">
                <a16:creationId xmlns:a16="http://schemas.microsoft.com/office/drawing/2014/main" id="{479053FF-6E5C-4A4C-944C-4E5722EF39BA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8370308"/>
              </p:ext>
            </p:extLst>
          </p:nvPr>
        </p:nvGraphicFramePr>
        <p:xfrm>
          <a:off x="2620169" y="1562877"/>
          <a:ext cx="6951662" cy="518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432800" imgH="6286500" progId="Visio.Drawing.6">
                  <p:embed/>
                </p:oleObj>
              </mc:Choice>
              <mc:Fallback>
                <p:oleObj name="Visio" r:id="rId2" imgW="8432800" imgH="6286500" progId="Visio.Drawing.6">
                  <p:embed/>
                  <p:pic>
                    <p:nvPicPr>
                      <p:cNvPr id="35842" name="Object 3">
                        <a:extLst>
                          <a:ext uri="{FF2B5EF4-FFF2-40B4-BE49-F238E27FC236}">
                            <a16:creationId xmlns:a16="http://schemas.microsoft.com/office/drawing/2014/main" id="{479053FF-6E5C-4A4C-944C-4E5722EF39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0169" y="1562877"/>
                        <a:ext cx="6951662" cy="518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3" name="Line 4">
            <a:extLst>
              <a:ext uri="{FF2B5EF4-FFF2-40B4-BE49-F238E27FC236}">
                <a16:creationId xmlns:a16="http://schemas.microsoft.com/office/drawing/2014/main" id="{D42079A8-28D6-F942-A680-1243E5CBCA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27181" y="2782077"/>
            <a:ext cx="6858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4" name="Text Box 5">
            <a:extLst>
              <a:ext uri="{FF2B5EF4-FFF2-40B4-BE49-F238E27FC236}">
                <a16:creationId xmlns:a16="http://schemas.microsoft.com/office/drawing/2014/main" id="{744829FC-0AE1-4649-9FF6-316BF4F8FC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2981" y="4702952"/>
            <a:ext cx="1219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Decision Tree</a:t>
            </a:r>
          </a:p>
        </p:txBody>
      </p:sp>
    </p:spTree>
    <p:extLst>
      <p:ext uri="{BB962C8B-B14F-4D97-AF65-F5344CB8AC3E}">
        <p14:creationId xmlns:p14="http://schemas.microsoft.com/office/powerpoint/2010/main" val="10857914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4E812C82-38B6-3F45-B0F5-33FB154A91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Decision Tree Induction</a:t>
            </a:r>
          </a:p>
        </p:txBody>
      </p:sp>
      <p:sp>
        <p:nvSpPr>
          <p:cNvPr id="36866" name="Rectangle 3">
            <a:extLst>
              <a:ext uri="{FF2B5EF4-FFF2-40B4-BE49-F238E27FC236}">
                <a16:creationId xmlns:a16="http://schemas.microsoft.com/office/drawing/2014/main" id="{C98570F1-99FC-234A-A96A-2C3222FBB1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Many Algorithms:</a:t>
            </a:r>
          </a:p>
          <a:p>
            <a:pPr lvl="1"/>
            <a:r>
              <a:rPr lang="en-US" altLang="it-IT">
                <a:ea typeface="ＭＳ Ｐゴシック" panose="020B0600070205080204" pitchFamily="34" charset="-128"/>
              </a:rPr>
              <a:t>Hunt’s Algorithm (one of the earliest)</a:t>
            </a:r>
          </a:p>
          <a:p>
            <a:pPr lvl="1"/>
            <a:r>
              <a:rPr lang="en-US" altLang="it-IT">
                <a:ea typeface="ＭＳ Ｐゴシック" panose="020B0600070205080204" pitchFamily="34" charset="-128"/>
              </a:rPr>
              <a:t>CART</a:t>
            </a:r>
          </a:p>
          <a:p>
            <a:pPr lvl="1"/>
            <a:r>
              <a:rPr lang="en-US" altLang="it-IT">
                <a:ea typeface="ＭＳ Ｐゴシック" panose="020B0600070205080204" pitchFamily="34" charset="-128"/>
              </a:rPr>
              <a:t>ID3, C4.5</a:t>
            </a:r>
          </a:p>
          <a:p>
            <a:pPr lvl="1"/>
            <a:r>
              <a:rPr lang="en-US" altLang="it-IT">
                <a:ea typeface="ＭＳ Ｐゴシック" panose="020B0600070205080204" pitchFamily="34" charset="-128"/>
              </a:rPr>
              <a:t>SLIQ,SPRINT</a:t>
            </a:r>
          </a:p>
        </p:txBody>
      </p:sp>
    </p:spTree>
    <p:extLst>
      <p:ext uri="{BB962C8B-B14F-4D97-AF65-F5344CB8AC3E}">
        <p14:creationId xmlns:p14="http://schemas.microsoft.com/office/powerpoint/2010/main" val="754301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5DC4520-6725-444C-AA2D-1A15C6536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 dirty="0">
                <a:ea typeface="ＭＳ Ｐゴシック" panose="020B0600070205080204" pitchFamily="34" charset="-128"/>
              </a:rPr>
              <a:t>General Structure of Hunt’s Algorithm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A0F3E6C-D0C9-A243-ADE6-C9ADAF73C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50429" cy="4351338"/>
          </a:xfrm>
        </p:spPr>
        <p:txBody>
          <a:bodyPr/>
          <a:lstStyle/>
          <a:p>
            <a:r>
              <a:rPr lang="en-US" altLang="it-IT" sz="2000" dirty="0">
                <a:ea typeface="ＭＳ Ｐゴシック" panose="020B0600070205080204" pitchFamily="34" charset="-128"/>
              </a:rPr>
              <a:t>Let D</a:t>
            </a:r>
            <a:r>
              <a:rPr lang="en-US" altLang="it-IT" sz="2000" baseline="-25000" dirty="0">
                <a:ea typeface="ＭＳ Ｐゴシック" panose="020B0600070205080204" pitchFamily="34" charset="-128"/>
              </a:rPr>
              <a:t>t</a:t>
            </a:r>
            <a:r>
              <a:rPr lang="en-US" altLang="it-IT" sz="2000" dirty="0">
                <a:ea typeface="ＭＳ Ｐゴシック" panose="020B0600070205080204" pitchFamily="34" charset="-128"/>
              </a:rPr>
              <a:t> be the set of training records that reach a node t</a:t>
            </a:r>
          </a:p>
          <a:p>
            <a:pPr lvl="4"/>
            <a:endParaRPr lang="en-US" altLang="it-IT" sz="1600" dirty="0">
              <a:ea typeface="ＭＳ Ｐゴシック" panose="020B0600070205080204" pitchFamily="34" charset="-128"/>
            </a:endParaRPr>
          </a:p>
          <a:p>
            <a:r>
              <a:rPr lang="en-US" altLang="it-IT" sz="2000" dirty="0">
                <a:ea typeface="ＭＳ Ｐゴシック" panose="020B0600070205080204" pitchFamily="34" charset="-128"/>
              </a:rPr>
              <a:t>General Procedure:</a:t>
            </a:r>
          </a:p>
          <a:p>
            <a:pPr lvl="1"/>
            <a:r>
              <a:rPr lang="en-US" altLang="it-IT" sz="2000" dirty="0">
                <a:ea typeface="ＭＳ Ｐゴシック" panose="020B0600070205080204" pitchFamily="34" charset="-128"/>
              </a:rPr>
              <a:t>If D</a:t>
            </a:r>
            <a:r>
              <a:rPr lang="en-US" altLang="it-IT" sz="2000" baseline="-25000" dirty="0">
                <a:ea typeface="ＭＳ Ｐゴシック" panose="020B0600070205080204" pitchFamily="34" charset="-128"/>
              </a:rPr>
              <a:t>t</a:t>
            </a:r>
            <a:r>
              <a:rPr lang="en-US" altLang="it-IT" sz="2000" dirty="0">
                <a:ea typeface="ＭＳ Ｐゴシック" panose="020B0600070205080204" pitchFamily="34" charset="-128"/>
              </a:rPr>
              <a:t> contains records that belong the </a:t>
            </a:r>
            <a:r>
              <a:rPr lang="en-US" altLang="it-IT" sz="2000" b="1" dirty="0">
                <a:ea typeface="ＭＳ Ｐゴシック" panose="020B0600070205080204" pitchFamily="34" charset="-128"/>
              </a:rPr>
              <a:t>same class </a:t>
            </a:r>
            <a:r>
              <a:rPr lang="en-US" altLang="it-IT" sz="2000" dirty="0" err="1">
                <a:ea typeface="ＭＳ Ｐゴシック" panose="020B0600070205080204" pitchFamily="34" charset="-128"/>
              </a:rPr>
              <a:t>y</a:t>
            </a:r>
            <a:r>
              <a:rPr lang="en-US" altLang="it-IT" sz="2000" baseline="-25000" dirty="0" err="1">
                <a:ea typeface="ＭＳ Ｐゴシック" panose="020B0600070205080204" pitchFamily="34" charset="-128"/>
              </a:rPr>
              <a:t>t</a:t>
            </a:r>
            <a:r>
              <a:rPr lang="en-US" altLang="it-IT" sz="2000" dirty="0">
                <a:ea typeface="ＭＳ Ｐゴシック" panose="020B0600070205080204" pitchFamily="34" charset="-128"/>
              </a:rPr>
              <a:t>, then t is a </a:t>
            </a:r>
            <a:r>
              <a:rPr lang="en-US" altLang="it-IT" sz="2000" b="1" dirty="0">
                <a:ea typeface="ＭＳ Ｐゴシック" panose="020B0600070205080204" pitchFamily="34" charset="-128"/>
              </a:rPr>
              <a:t>leaf node </a:t>
            </a:r>
            <a:r>
              <a:rPr lang="en-US" altLang="it-IT" sz="2000" dirty="0">
                <a:ea typeface="ＭＳ Ｐゴシック" panose="020B0600070205080204" pitchFamily="34" charset="-128"/>
              </a:rPr>
              <a:t>labeled as </a:t>
            </a:r>
            <a:r>
              <a:rPr lang="en-US" altLang="it-IT" sz="2000" dirty="0" err="1">
                <a:ea typeface="ＭＳ Ｐゴシック" panose="020B0600070205080204" pitchFamily="34" charset="-128"/>
              </a:rPr>
              <a:t>y</a:t>
            </a:r>
            <a:r>
              <a:rPr lang="en-US" altLang="it-IT" sz="2000" baseline="-25000" dirty="0" err="1">
                <a:ea typeface="ＭＳ Ｐゴシック" panose="020B0600070205080204" pitchFamily="34" charset="-128"/>
              </a:rPr>
              <a:t>t</a:t>
            </a:r>
            <a:endParaRPr lang="en-US" altLang="it-IT" sz="2000" baseline="-25000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it-IT" sz="2000" dirty="0">
                <a:ea typeface="ＭＳ Ｐゴシック" panose="020B0600070205080204" pitchFamily="34" charset="-128"/>
              </a:rPr>
              <a:t>If D</a:t>
            </a:r>
            <a:r>
              <a:rPr lang="en-US" altLang="it-IT" sz="2000" baseline="-25000" dirty="0">
                <a:ea typeface="ＭＳ Ｐゴシック" panose="020B0600070205080204" pitchFamily="34" charset="-128"/>
              </a:rPr>
              <a:t>t</a:t>
            </a:r>
            <a:r>
              <a:rPr lang="en-US" altLang="it-IT" sz="2000" dirty="0">
                <a:ea typeface="ＭＳ Ｐゴシック" panose="020B0600070205080204" pitchFamily="34" charset="-128"/>
              </a:rPr>
              <a:t> contains records that belong to </a:t>
            </a:r>
            <a:r>
              <a:rPr lang="en-US" altLang="it-IT" sz="2000" b="1" dirty="0">
                <a:ea typeface="ＭＳ Ｐゴシック" panose="020B0600070205080204" pitchFamily="34" charset="-128"/>
              </a:rPr>
              <a:t>more than one class</a:t>
            </a:r>
            <a:r>
              <a:rPr lang="en-US" altLang="it-IT" sz="2000" dirty="0">
                <a:ea typeface="ＭＳ Ｐゴシック" panose="020B0600070205080204" pitchFamily="34" charset="-128"/>
              </a:rPr>
              <a:t>, use an attribute test to </a:t>
            </a:r>
            <a:r>
              <a:rPr lang="en-US" altLang="it-IT" sz="2000" b="1" dirty="0">
                <a:ea typeface="ＭＳ Ｐゴシック" panose="020B0600070205080204" pitchFamily="34" charset="-128"/>
              </a:rPr>
              <a:t>split</a:t>
            </a:r>
            <a:r>
              <a:rPr lang="en-US" altLang="it-IT" sz="2000" dirty="0">
                <a:ea typeface="ＭＳ Ｐゴシック" panose="020B0600070205080204" pitchFamily="34" charset="-128"/>
              </a:rPr>
              <a:t> the data into smaller subsets. Recursively apply the procedure to each subset.</a:t>
            </a:r>
          </a:p>
          <a:p>
            <a:endParaRPr lang="en-US" dirty="0"/>
          </a:p>
        </p:txBody>
      </p:sp>
      <p:graphicFrame>
        <p:nvGraphicFramePr>
          <p:cNvPr id="4" name="Object 21">
            <a:extLst>
              <a:ext uri="{FF2B5EF4-FFF2-40B4-BE49-F238E27FC236}">
                <a16:creationId xmlns:a16="http://schemas.microsoft.com/office/drawing/2014/main" id="{E5BB360C-BB9E-7141-A1F8-47ABB9949C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8128475"/>
              </p:ext>
            </p:extLst>
          </p:nvPr>
        </p:nvGraphicFramePr>
        <p:xfrm>
          <a:off x="7915502" y="1488233"/>
          <a:ext cx="3195637" cy="315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854700" imgH="5778500" progId="Word.Document.8">
                  <p:embed/>
                </p:oleObj>
              </mc:Choice>
              <mc:Fallback>
                <p:oleObj name="Document" r:id="rId2" imgW="5854700" imgH="5778500" progId="Word.Document.8">
                  <p:embed/>
                  <p:pic>
                    <p:nvPicPr>
                      <p:cNvPr id="37898" name="Object 21">
                        <a:extLst>
                          <a:ext uri="{FF2B5EF4-FFF2-40B4-BE49-F238E27FC236}">
                            <a16:creationId xmlns:a16="http://schemas.microsoft.com/office/drawing/2014/main" id="{49FE2434-3C16-9341-B41B-70A448A58422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5502" y="1488233"/>
                        <a:ext cx="3195637" cy="315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Oval 11">
            <a:extLst>
              <a:ext uri="{FF2B5EF4-FFF2-40B4-BE49-F238E27FC236}">
                <a16:creationId xmlns:a16="http://schemas.microsoft.com/office/drawing/2014/main" id="{0D5F979C-435D-654E-A301-D7D70A9B0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3514" y="5145833"/>
            <a:ext cx="1447800" cy="762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  <p:sp>
        <p:nvSpPr>
          <p:cNvPr id="6" name="Line 12">
            <a:extLst>
              <a:ext uri="{FF2B5EF4-FFF2-40B4-BE49-F238E27FC236}">
                <a16:creationId xmlns:a16="http://schemas.microsoft.com/office/drawing/2014/main" id="{6AC3FC92-F160-A644-A6FA-32ED85FCD2B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18714" y="5907833"/>
            <a:ext cx="9906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13">
            <a:extLst>
              <a:ext uri="{FF2B5EF4-FFF2-40B4-BE49-F238E27FC236}">
                <a16:creationId xmlns:a16="http://schemas.microsoft.com/office/drawing/2014/main" id="{03B9337D-0973-B349-B31C-724A90A11EB9}"/>
              </a:ext>
            </a:extLst>
          </p:cNvPr>
          <p:cNvSpPr>
            <a:spLocks noChangeShapeType="1"/>
          </p:cNvSpPr>
          <p:nvPr/>
        </p:nvSpPr>
        <p:spPr bwMode="auto">
          <a:xfrm>
            <a:off x="9361714" y="590783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14">
            <a:extLst>
              <a:ext uri="{FF2B5EF4-FFF2-40B4-BE49-F238E27FC236}">
                <a16:creationId xmlns:a16="http://schemas.microsoft.com/office/drawing/2014/main" id="{890435A4-7C4F-254D-96D6-987C39CE8AC6}"/>
              </a:ext>
            </a:extLst>
          </p:cNvPr>
          <p:cNvSpPr>
            <a:spLocks noChangeShapeType="1"/>
          </p:cNvSpPr>
          <p:nvPr/>
        </p:nvSpPr>
        <p:spPr bwMode="auto">
          <a:xfrm>
            <a:off x="9514114" y="5907833"/>
            <a:ext cx="9906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5">
            <a:extLst>
              <a:ext uri="{FF2B5EF4-FFF2-40B4-BE49-F238E27FC236}">
                <a16:creationId xmlns:a16="http://schemas.microsoft.com/office/drawing/2014/main" id="{B7C73355-3E2D-8845-8426-41E0E17AED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209314" y="4764833"/>
            <a:ext cx="2286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Text Box 16">
            <a:extLst>
              <a:ext uri="{FF2B5EF4-FFF2-40B4-BE49-F238E27FC236}">
                <a16:creationId xmlns:a16="http://schemas.microsoft.com/office/drawing/2014/main" id="{427AB051-A991-844F-8432-972EA2A6F8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7914" y="4612434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/>
              <a:t>D</a:t>
            </a:r>
            <a:r>
              <a:rPr lang="en-US" altLang="it-IT" sz="2000" baseline="-25000"/>
              <a:t>t</a:t>
            </a:r>
          </a:p>
        </p:txBody>
      </p:sp>
      <p:sp>
        <p:nvSpPr>
          <p:cNvPr id="11" name="Text Box 17">
            <a:extLst>
              <a:ext uri="{FF2B5EF4-FFF2-40B4-BE49-F238E27FC236}">
                <a16:creationId xmlns:a16="http://schemas.microsoft.com/office/drawing/2014/main" id="{456C1871-FC1F-2E4E-9D5A-67FDC5E4AD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6914" y="5298233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40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265141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85526751-52C4-F34F-B8BA-F479618AC8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Hunt’s Algorithm</a:t>
            </a:r>
          </a:p>
        </p:txBody>
      </p:sp>
      <p:graphicFrame>
        <p:nvGraphicFramePr>
          <p:cNvPr id="38914" name="Object 56">
            <a:extLst>
              <a:ext uri="{FF2B5EF4-FFF2-40B4-BE49-F238E27FC236}">
                <a16:creationId xmlns:a16="http://schemas.microsoft.com/office/drawing/2014/main" id="{E418D165-10E6-0F43-B1FF-AAA9BEA3411B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37532916"/>
              </p:ext>
            </p:extLst>
          </p:nvPr>
        </p:nvGraphicFramePr>
        <p:xfrm>
          <a:off x="1749490" y="1566635"/>
          <a:ext cx="6324600" cy="507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204200" imgH="6578600" progId="Visio.Drawing.6">
                  <p:embed/>
                </p:oleObj>
              </mc:Choice>
              <mc:Fallback>
                <p:oleObj name="Visio" r:id="rId2" imgW="8204200" imgH="6578600" progId="Visio.Drawing.6">
                  <p:embed/>
                  <p:pic>
                    <p:nvPicPr>
                      <p:cNvPr id="38914" name="Object 56">
                        <a:extLst>
                          <a:ext uri="{FF2B5EF4-FFF2-40B4-BE49-F238E27FC236}">
                            <a16:creationId xmlns:a16="http://schemas.microsoft.com/office/drawing/2014/main" id="{E418D165-10E6-0F43-B1FF-AAA9BEA341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9490" y="1566635"/>
                        <a:ext cx="6324600" cy="507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5" name="TextBox 1">
            <a:extLst>
              <a:ext uri="{FF2B5EF4-FFF2-40B4-BE49-F238E27FC236}">
                <a16:creationId xmlns:a16="http://schemas.microsoft.com/office/drawing/2014/main" id="{DBBDA0BC-18BB-D546-8ECC-C1223B7B1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7090" y="2601686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(3,0)</a:t>
            </a:r>
          </a:p>
        </p:txBody>
      </p:sp>
      <p:sp>
        <p:nvSpPr>
          <p:cNvPr id="38916" name="TextBox 5">
            <a:extLst>
              <a:ext uri="{FF2B5EF4-FFF2-40B4-BE49-F238E27FC236}">
                <a16:creationId xmlns:a16="http://schemas.microsoft.com/office/drawing/2014/main" id="{8FBDEC21-150B-F442-9B43-1180D6961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3440" y="2601686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(4,3)</a:t>
            </a:r>
          </a:p>
        </p:txBody>
      </p:sp>
      <p:sp>
        <p:nvSpPr>
          <p:cNvPr id="38917" name="TextBox 6">
            <a:extLst>
              <a:ext uri="{FF2B5EF4-FFF2-40B4-BE49-F238E27FC236}">
                <a16:creationId xmlns:a16="http://schemas.microsoft.com/office/drawing/2014/main" id="{5854B703-40F6-A04D-ABC8-F25BCF48F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5690" y="5040086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(3,0)</a:t>
            </a:r>
          </a:p>
        </p:txBody>
      </p:sp>
      <p:sp>
        <p:nvSpPr>
          <p:cNvPr id="38918" name="TextBox 7">
            <a:extLst>
              <a:ext uri="{FF2B5EF4-FFF2-40B4-BE49-F238E27FC236}">
                <a16:creationId xmlns:a16="http://schemas.microsoft.com/office/drawing/2014/main" id="{B1DAEB45-A494-2446-9EA5-C87BDF798F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2890" y="5798911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(1,3)</a:t>
            </a:r>
          </a:p>
        </p:txBody>
      </p:sp>
      <p:sp>
        <p:nvSpPr>
          <p:cNvPr id="38919" name="TextBox 8">
            <a:extLst>
              <a:ext uri="{FF2B5EF4-FFF2-40B4-BE49-F238E27FC236}">
                <a16:creationId xmlns:a16="http://schemas.microsoft.com/office/drawing/2014/main" id="{1F9FB04D-E010-C740-9558-775B256515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1640" y="5798911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(3,0)</a:t>
            </a:r>
          </a:p>
        </p:txBody>
      </p:sp>
      <p:sp>
        <p:nvSpPr>
          <p:cNvPr id="38920" name="TextBox 9">
            <a:extLst>
              <a:ext uri="{FF2B5EF4-FFF2-40B4-BE49-F238E27FC236}">
                <a16:creationId xmlns:a16="http://schemas.microsoft.com/office/drawing/2014/main" id="{C14138DB-21AC-F749-ABEA-7E8041D97B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0890" y="4579711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(3,0)</a:t>
            </a:r>
          </a:p>
        </p:txBody>
      </p:sp>
      <p:sp>
        <p:nvSpPr>
          <p:cNvPr id="38921" name="TextBox 10">
            <a:extLst>
              <a:ext uri="{FF2B5EF4-FFF2-40B4-BE49-F238E27FC236}">
                <a16:creationId xmlns:a16="http://schemas.microsoft.com/office/drawing/2014/main" id="{C76E3D11-5C1B-8249-96A3-558DFD7B01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0890" y="6027511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(1,0)</a:t>
            </a:r>
          </a:p>
        </p:txBody>
      </p:sp>
      <p:sp>
        <p:nvSpPr>
          <p:cNvPr id="38922" name="TextBox 11">
            <a:extLst>
              <a:ext uri="{FF2B5EF4-FFF2-40B4-BE49-F238E27FC236}">
                <a16:creationId xmlns:a16="http://schemas.microsoft.com/office/drawing/2014/main" id="{851427D1-F145-C64B-A4F6-4647CF4FE5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1040" y="6027511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(0,3)</a:t>
            </a:r>
          </a:p>
        </p:txBody>
      </p:sp>
      <p:sp>
        <p:nvSpPr>
          <p:cNvPr id="38923" name="TextBox 12">
            <a:extLst>
              <a:ext uri="{FF2B5EF4-FFF2-40B4-BE49-F238E27FC236}">
                <a16:creationId xmlns:a16="http://schemas.microsoft.com/office/drawing/2014/main" id="{722F6BD9-312C-504A-91F0-AB318B5EC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6840" y="5265511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(3,0)</a:t>
            </a:r>
          </a:p>
        </p:txBody>
      </p:sp>
      <p:sp>
        <p:nvSpPr>
          <p:cNvPr id="38924" name="TextBox 13">
            <a:extLst>
              <a:ext uri="{FF2B5EF4-FFF2-40B4-BE49-F238E27FC236}">
                <a16:creationId xmlns:a16="http://schemas.microsoft.com/office/drawing/2014/main" id="{561F876B-B9C8-014C-8FB4-BE972D03B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3890" y="2446111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(7,3)</a:t>
            </a:r>
          </a:p>
        </p:txBody>
      </p:sp>
      <p:graphicFrame>
        <p:nvGraphicFramePr>
          <p:cNvPr id="38925" name="Object 54">
            <a:extLst>
              <a:ext uri="{FF2B5EF4-FFF2-40B4-BE49-F238E27FC236}">
                <a16:creationId xmlns:a16="http://schemas.microsoft.com/office/drawing/2014/main" id="{EEC6CC46-331C-444D-A379-90B04B06294F}"/>
              </a:ext>
            </a:extLst>
          </p:cNvPr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07975398"/>
              </p:ext>
            </p:extLst>
          </p:nvPr>
        </p:nvGraphicFramePr>
        <p:xfrm>
          <a:off x="7693090" y="1306285"/>
          <a:ext cx="2979738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524500" imgH="6070600" progId="Word.Document.8">
                  <p:embed/>
                </p:oleObj>
              </mc:Choice>
              <mc:Fallback>
                <p:oleObj name="Document" r:id="rId4" imgW="5524500" imgH="6070600" progId="Word.Document.8">
                  <p:embed/>
                  <p:pic>
                    <p:nvPicPr>
                      <p:cNvPr id="38925" name="Object 54">
                        <a:extLst>
                          <a:ext uri="{FF2B5EF4-FFF2-40B4-BE49-F238E27FC236}">
                            <a16:creationId xmlns:a16="http://schemas.microsoft.com/office/drawing/2014/main" id="{EEC6CC46-331C-444D-A379-90B04B0629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3090" y="1306285"/>
                        <a:ext cx="2979738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DF7699DE-7573-1341-A6F6-EF9238328E5F}"/>
              </a:ext>
            </a:extLst>
          </p:cNvPr>
          <p:cNvSpPr/>
          <p:nvPr/>
        </p:nvSpPr>
        <p:spPr bwMode="auto">
          <a:xfrm>
            <a:off x="4873690" y="4722585"/>
            <a:ext cx="3276600" cy="19177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it-IT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C24877-92FB-AD45-9ED1-FC2C2735F2DE}"/>
              </a:ext>
            </a:extLst>
          </p:cNvPr>
          <p:cNvSpPr/>
          <p:nvPr/>
        </p:nvSpPr>
        <p:spPr bwMode="auto">
          <a:xfrm>
            <a:off x="4721291" y="3311299"/>
            <a:ext cx="2816225" cy="172878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it-IT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CD4FC9-EDEF-994D-8189-EEE6FB45C7C0}"/>
              </a:ext>
            </a:extLst>
          </p:cNvPr>
          <p:cNvSpPr/>
          <p:nvPr/>
        </p:nvSpPr>
        <p:spPr bwMode="auto">
          <a:xfrm>
            <a:off x="1730441" y="3868511"/>
            <a:ext cx="2816225" cy="2771775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it-IT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D1A13D-6F8D-4B4C-8351-3E63139697DB}"/>
              </a:ext>
            </a:extLst>
          </p:cNvPr>
          <p:cNvSpPr/>
          <p:nvPr/>
        </p:nvSpPr>
        <p:spPr bwMode="auto">
          <a:xfrm>
            <a:off x="4872104" y="1496786"/>
            <a:ext cx="2816225" cy="2771775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it-IT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2188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8FF87E03-8932-B24D-BEFE-9AA5183E0A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Hunt’s Algorithm</a:t>
            </a:r>
          </a:p>
        </p:txBody>
      </p:sp>
      <p:graphicFrame>
        <p:nvGraphicFramePr>
          <p:cNvPr id="39938" name="Object 56">
            <a:extLst>
              <a:ext uri="{FF2B5EF4-FFF2-40B4-BE49-F238E27FC236}">
                <a16:creationId xmlns:a16="http://schemas.microsoft.com/office/drawing/2014/main" id="{B8DC0DF2-88B4-4B48-8CC2-C6F2ACF1A02F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08347685"/>
              </p:ext>
            </p:extLst>
          </p:nvPr>
        </p:nvGraphicFramePr>
        <p:xfrm>
          <a:off x="1618861" y="1575966"/>
          <a:ext cx="6324600" cy="507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204200" imgH="6578600" progId="Visio.Drawing.6">
                  <p:embed/>
                </p:oleObj>
              </mc:Choice>
              <mc:Fallback>
                <p:oleObj name="Visio" r:id="rId2" imgW="8204200" imgH="6578600" progId="Visio.Drawing.6">
                  <p:embed/>
                  <p:pic>
                    <p:nvPicPr>
                      <p:cNvPr id="39938" name="Object 56">
                        <a:extLst>
                          <a:ext uri="{FF2B5EF4-FFF2-40B4-BE49-F238E27FC236}">
                            <a16:creationId xmlns:a16="http://schemas.microsoft.com/office/drawing/2014/main" id="{B8DC0DF2-88B4-4B48-8CC2-C6F2ACF1A0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8861" y="1575966"/>
                        <a:ext cx="6324600" cy="507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39" name="TextBox 1">
            <a:extLst>
              <a:ext uri="{FF2B5EF4-FFF2-40B4-BE49-F238E27FC236}">
                <a16:creationId xmlns:a16="http://schemas.microsoft.com/office/drawing/2014/main" id="{C469DCEF-870F-7D4A-8D11-F5964320C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6461" y="2611017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(3,0)</a:t>
            </a:r>
          </a:p>
        </p:txBody>
      </p:sp>
      <p:sp>
        <p:nvSpPr>
          <p:cNvPr id="39940" name="TextBox 5">
            <a:extLst>
              <a:ext uri="{FF2B5EF4-FFF2-40B4-BE49-F238E27FC236}">
                <a16:creationId xmlns:a16="http://schemas.microsoft.com/office/drawing/2014/main" id="{FE8AA744-B8DD-6741-9465-911DF703C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2811" y="2611017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(4,3)</a:t>
            </a:r>
          </a:p>
        </p:txBody>
      </p:sp>
      <p:sp>
        <p:nvSpPr>
          <p:cNvPr id="39941" name="TextBox 6">
            <a:extLst>
              <a:ext uri="{FF2B5EF4-FFF2-40B4-BE49-F238E27FC236}">
                <a16:creationId xmlns:a16="http://schemas.microsoft.com/office/drawing/2014/main" id="{C4934F26-D72D-AB45-A1FB-C0EE7570B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5061" y="5049417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(3,0)</a:t>
            </a:r>
          </a:p>
        </p:txBody>
      </p:sp>
      <p:sp>
        <p:nvSpPr>
          <p:cNvPr id="39942" name="TextBox 7">
            <a:extLst>
              <a:ext uri="{FF2B5EF4-FFF2-40B4-BE49-F238E27FC236}">
                <a16:creationId xmlns:a16="http://schemas.microsoft.com/office/drawing/2014/main" id="{F2BA9C5B-6C39-9742-BDDB-2B23655CD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2261" y="5808242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(1,3)</a:t>
            </a:r>
          </a:p>
        </p:txBody>
      </p:sp>
      <p:sp>
        <p:nvSpPr>
          <p:cNvPr id="39943" name="TextBox 8">
            <a:extLst>
              <a:ext uri="{FF2B5EF4-FFF2-40B4-BE49-F238E27FC236}">
                <a16:creationId xmlns:a16="http://schemas.microsoft.com/office/drawing/2014/main" id="{46D2D273-B8B6-D449-8D09-D3CA912FF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011" y="5808242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(3,0)</a:t>
            </a:r>
          </a:p>
        </p:txBody>
      </p:sp>
      <p:sp>
        <p:nvSpPr>
          <p:cNvPr id="39944" name="TextBox 9">
            <a:extLst>
              <a:ext uri="{FF2B5EF4-FFF2-40B4-BE49-F238E27FC236}">
                <a16:creationId xmlns:a16="http://schemas.microsoft.com/office/drawing/2014/main" id="{8C697E4C-2982-A142-B8CF-0D18B2CE3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0261" y="4589042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(3,0)</a:t>
            </a:r>
          </a:p>
        </p:txBody>
      </p:sp>
      <p:sp>
        <p:nvSpPr>
          <p:cNvPr id="39945" name="TextBox 10">
            <a:extLst>
              <a:ext uri="{FF2B5EF4-FFF2-40B4-BE49-F238E27FC236}">
                <a16:creationId xmlns:a16="http://schemas.microsoft.com/office/drawing/2014/main" id="{D7B2465F-5FF7-F449-BDE8-AF88318C1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0261" y="6036842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(1,0)</a:t>
            </a:r>
          </a:p>
        </p:txBody>
      </p:sp>
      <p:sp>
        <p:nvSpPr>
          <p:cNvPr id="39946" name="TextBox 11">
            <a:extLst>
              <a:ext uri="{FF2B5EF4-FFF2-40B4-BE49-F238E27FC236}">
                <a16:creationId xmlns:a16="http://schemas.microsoft.com/office/drawing/2014/main" id="{6A915574-A37A-0B4F-93EF-DA2E6BBBE5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411" y="6036842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(0,3)</a:t>
            </a:r>
          </a:p>
        </p:txBody>
      </p:sp>
      <p:sp>
        <p:nvSpPr>
          <p:cNvPr id="39947" name="TextBox 12">
            <a:extLst>
              <a:ext uri="{FF2B5EF4-FFF2-40B4-BE49-F238E27FC236}">
                <a16:creationId xmlns:a16="http://schemas.microsoft.com/office/drawing/2014/main" id="{B8359874-992A-3D49-8A06-5F73D966B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211" y="5274842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(3,0)</a:t>
            </a:r>
          </a:p>
        </p:txBody>
      </p:sp>
      <p:sp>
        <p:nvSpPr>
          <p:cNvPr id="39948" name="TextBox 13">
            <a:extLst>
              <a:ext uri="{FF2B5EF4-FFF2-40B4-BE49-F238E27FC236}">
                <a16:creationId xmlns:a16="http://schemas.microsoft.com/office/drawing/2014/main" id="{90DE2B95-E42B-5B44-AD65-C8EB7D3E7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3261" y="2455442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(7,3)</a:t>
            </a:r>
          </a:p>
        </p:txBody>
      </p:sp>
      <p:graphicFrame>
        <p:nvGraphicFramePr>
          <p:cNvPr id="39949" name="Object 54">
            <a:extLst>
              <a:ext uri="{FF2B5EF4-FFF2-40B4-BE49-F238E27FC236}">
                <a16:creationId xmlns:a16="http://schemas.microsoft.com/office/drawing/2014/main" id="{12037273-49D2-E543-A617-233C33AC96B1}"/>
              </a:ext>
            </a:extLst>
          </p:cNvPr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7200958"/>
              </p:ext>
            </p:extLst>
          </p:nvPr>
        </p:nvGraphicFramePr>
        <p:xfrm>
          <a:off x="7562461" y="1315616"/>
          <a:ext cx="2979738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524500" imgH="6070600" progId="Word.Document.8">
                  <p:embed/>
                </p:oleObj>
              </mc:Choice>
              <mc:Fallback>
                <p:oleObj name="Document" r:id="rId4" imgW="5524500" imgH="6070600" progId="Word.Document.8">
                  <p:embed/>
                  <p:pic>
                    <p:nvPicPr>
                      <p:cNvPr id="39949" name="Object 54">
                        <a:extLst>
                          <a:ext uri="{FF2B5EF4-FFF2-40B4-BE49-F238E27FC236}">
                            <a16:creationId xmlns:a16="http://schemas.microsoft.com/office/drawing/2014/main" id="{12037273-49D2-E543-A617-233C33AC96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2461" y="1315616"/>
                        <a:ext cx="2979738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3115C52D-2C4B-2F48-BFC8-FAB6B3AD9D8B}"/>
              </a:ext>
            </a:extLst>
          </p:cNvPr>
          <p:cNvSpPr/>
          <p:nvPr/>
        </p:nvSpPr>
        <p:spPr bwMode="auto">
          <a:xfrm>
            <a:off x="4743061" y="4731916"/>
            <a:ext cx="3276600" cy="19177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it-IT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B10BCD-A930-A149-BEEB-A74B48A9881A}"/>
              </a:ext>
            </a:extLst>
          </p:cNvPr>
          <p:cNvSpPr/>
          <p:nvPr/>
        </p:nvSpPr>
        <p:spPr bwMode="auto">
          <a:xfrm>
            <a:off x="4590662" y="3320630"/>
            <a:ext cx="2816225" cy="172878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it-IT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A8DE13-B397-FD4F-B153-D629FF1FD325}"/>
              </a:ext>
            </a:extLst>
          </p:cNvPr>
          <p:cNvSpPr/>
          <p:nvPr/>
        </p:nvSpPr>
        <p:spPr bwMode="auto">
          <a:xfrm>
            <a:off x="1599812" y="3877842"/>
            <a:ext cx="2816225" cy="2771775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it-IT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3129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54084A5C-1AD5-4C45-AB94-E707D8F1C7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Hunt’s Algorithm</a:t>
            </a:r>
          </a:p>
        </p:txBody>
      </p:sp>
      <p:graphicFrame>
        <p:nvGraphicFramePr>
          <p:cNvPr id="40962" name="Object 56">
            <a:extLst>
              <a:ext uri="{FF2B5EF4-FFF2-40B4-BE49-F238E27FC236}">
                <a16:creationId xmlns:a16="http://schemas.microsoft.com/office/drawing/2014/main" id="{A97DF8D6-B6AB-8245-BF26-587BFE0E9944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8658214"/>
              </p:ext>
            </p:extLst>
          </p:nvPr>
        </p:nvGraphicFramePr>
        <p:xfrm>
          <a:off x="1749490" y="1613288"/>
          <a:ext cx="6324600" cy="507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204200" imgH="6578600" progId="Visio.Drawing.6">
                  <p:embed/>
                </p:oleObj>
              </mc:Choice>
              <mc:Fallback>
                <p:oleObj name="Visio" r:id="rId2" imgW="8204200" imgH="6578600" progId="Visio.Drawing.6">
                  <p:embed/>
                  <p:pic>
                    <p:nvPicPr>
                      <p:cNvPr id="40962" name="Object 56">
                        <a:extLst>
                          <a:ext uri="{FF2B5EF4-FFF2-40B4-BE49-F238E27FC236}">
                            <a16:creationId xmlns:a16="http://schemas.microsoft.com/office/drawing/2014/main" id="{A97DF8D6-B6AB-8245-BF26-587BFE0E99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9490" y="1613288"/>
                        <a:ext cx="6324600" cy="507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3" name="TextBox 1">
            <a:extLst>
              <a:ext uri="{FF2B5EF4-FFF2-40B4-BE49-F238E27FC236}">
                <a16:creationId xmlns:a16="http://schemas.microsoft.com/office/drawing/2014/main" id="{58C5273A-C06D-AA4B-BE5C-1734B0767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7090" y="2648339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(3,0)</a:t>
            </a:r>
          </a:p>
        </p:txBody>
      </p:sp>
      <p:sp>
        <p:nvSpPr>
          <p:cNvPr id="40964" name="TextBox 5">
            <a:extLst>
              <a:ext uri="{FF2B5EF4-FFF2-40B4-BE49-F238E27FC236}">
                <a16:creationId xmlns:a16="http://schemas.microsoft.com/office/drawing/2014/main" id="{2EB787ED-926F-3F4C-A1FF-34AFA5D583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3440" y="2648339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(4,3)</a:t>
            </a:r>
          </a:p>
        </p:txBody>
      </p:sp>
      <p:sp>
        <p:nvSpPr>
          <p:cNvPr id="40965" name="TextBox 6">
            <a:extLst>
              <a:ext uri="{FF2B5EF4-FFF2-40B4-BE49-F238E27FC236}">
                <a16:creationId xmlns:a16="http://schemas.microsoft.com/office/drawing/2014/main" id="{AD7BCADC-700C-1341-9760-115187675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5690" y="5086739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(3,0)</a:t>
            </a:r>
          </a:p>
        </p:txBody>
      </p:sp>
      <p:sp>
        <p:nvSpPr>
          <p:cNvPr id="40966" name="TextBox 7">
            <a:extLst>
              <a:ext uri="{FF2B5EF4-FFF2-40B4-BE49-F238E27FC236}">
                <a16:creationId xmlns:a16="http://schemas.microsoft.com/office/drawing/2014/main" id="{D6DA4F5B-0920-2D49-8635-2563CBA989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2890" y="5845564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(1,3)</a:t>
            </a:r>
          </a:p>
        </p:txBody>
      </p:sp>
      <p:sp>
        <p:nvSpPr>
          <p:cNvPr id="40967" name="TextBox 8">
            <a:extLst>
              <a:ext uri="{FF2B5EF4-FFF2-40B4-BE49-F238E27FC236}">
                <a16:creationId xmlns:a16="http://schemas.microsoft.com/office/drawing/2014/main" id="{8D3C6061-C808-5F44-A0A8-EC448A80BF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1640" y="5845564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(3,0)</a:t>
            </a:r>
          </a:p>
        </p:txBody>
      </p:sp>
      <p:sp>
        <p:nvSpPr>
          <p:cNvPr id="40968" name="TextBox 9">
            <a:extLst>
              <a:ext uri="{FF2B5EF4-FFF2-40B4-BE49-F238E27FC236}">
                <a16:creationId xmlns:a16="http://schemas.microsoft.com/office/drawing/2014/main" id="{3CA000BB-AB01-0844-9ED9-1D6FA676F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0890" y="4626364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(3,0)</a:t>
            </a:r>
          </a:p>
        </p:txBody>
      </p:sp>
      <p:sp>
        <p:nvSpPr>
          <p:cNvPr id="40969" name="TextBox 10">
            <a:extLst>
              <a:ext uri="{FF2B5EF4-FFF2-40B4-BE49-F238E27FC236}">
                <a16:creationId xmlns:a16="http://schemas.microsoft.com/office/drawing/2014/main" id="{A340CE03-3781-184C-8AE5-C49E6539D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0890" y="6074164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(1,0)</a:t>
            </a:r>
          </a:p>
        </p:txBody>
      </p:sp>
      <p:sp>
        <p:nvSpPr>
          <p:cNvPr id="40970" name="TextBox 11">
            <a:extLst>
              <a:ext uri="{FF2B5EF4-FFF2-40B4-BE49-F238E27FC236}">
                <a16:creationId xmlns:a16="http://schemas.microsoft.com/office/drawing/2014/main" id="{2D1DE683-1620-F84F-8537-BDB5B88EDD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1040" y="6074164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(0,3)</a:t>
            </a:r>
          </a:p>
        </p:txBody>
      </p:sp>
      <p:sp>
        <p:nvSpPr>
          <p:cNvPr id="40971" name="TextBox 12">
            <a:extLst>
              <a:ext uri="{FF2B5EF4-FFF2-40B4-BE49-F238E27FC236}">
                <a16:creationId xmlns:a16="http://schemas.microsoft.com/office/drawing/2014/main" id="{A8D600CF-AF50-9E4C-BD5A-CF5C899C19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6840" y="5312164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(3,0)</a:t>
            </a:r>
          </a:p>
        </p:txBody>
      </p:sp>
      <p:sp>
        <p:nvSpPr>
          <p:cNvPr id="40972" name="TextBox 13">
            <a:extLst>
              <a:ext uri="{FF2B5EF4-FFF2-40B4-BE49-F238E27FC236}">
                <a16:creationId xmlns:a16="http://schemas.microsoft.com/office/drawing/2014/main" id="{E34394FC-6BF8-0048-8D16-346653655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3890" y="2492764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(7,3)</a:t>
            </a:r>
          </a:p>
        </p:txBody>
      </p:sp>
      <p:graphicFrame>
        <p:nvGraphicFramePr>
          <p:cNvPr id="40973" name="Object 54">
            <a:extLst>
              <a:ext uri="{FF2B5EF4-FFF2-40B4-BE49-F238E27FC236}">
                <a16:creationId xmlns:a16="http://schemas.microsoft.com/office/drawing/2014/main" id="{D2CB766C-9AA5-6A42-9A6D-1BEB86C2F451}"/>
              </a:ext>
            </a:extLst>
          </p:cNvPr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71045148"/>
              </p:ext>
            </p:extLst>
          </p:nvPr>
        </p:nvGraphicFramePr>
        <p:xfrm>
          <a:off x="7693090" y="1352938"/>
          <a:ext cx="2979738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524500" imgH="6070600" progId="Word.Document.8">
                  <p:embed/>
                </p:oleObj>
              </mc:Choice>
              <mc:Fallback>
                <p:oleObj name="Document" r:id="rId4" imgW="5524500" imgH="6070600" progId="Word.Document.8">
                  <p:embed/>
                  <p:pic>
                    <p:nvPicPr>
                      <p:cNvPr id="40973" name="Object 54">
                        <a:extLst>
                          <a:ext uri="{FF2B5EF4-FFF2-40B4-BE49-F238E27FC236}">
                            <a16:creationId xmlns:a16="http://schemas.microsoft.com/office/drawing/2014/main" id="{D2CB766C-9AA5-6A42-9A6D-1BEB86C2F4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3090" y="1352938"/>
                        <a:ext cx="2979738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DF3E22C8-CBCB-4647-99D2-035F44E84A9C}"/>
              </a:ext>
            </a:extLst>
          </p:cNvPr>
          <p:cNvSpPr/>
          <p:nvPr/>
        </p:nvSpPr>
        <p:spPr bwMode="auto">
          <a:xfrm>
            <a:off x="4873690" y="4769238"/>
            <a:ext cx="3276600" cy="19177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it-IT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AEDD50-99CE-B749-B524-51B410DF15A1}"/>
              </a:ext>
            </a:extLst>
          </p:cNvPr>
          <p:cNvSpPr/>
          <p:nvPr/>
        </p:nvSpPr>
        <p:spPr bwMode="auto">
          <a:xfrm>
            <a:off x="4721291" y="3357952"/>
            <a:ext cx="2816225" cy="172878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it-IT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8902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7D6BD873-AB13-2248-99A6-B8296B7622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Hunt’s Algorithm</a:t>
            </a:r>
          </a:p>
        </p:txBody>
      </p:sp>
      <p:graphicFrame>
        <p:nvGraphicFramePr>
          <p:cNvPr id="41986" name="Object 56">
            <a:extLst>
              <a:ext uri="{FF2B5EF4-FFF2-40B4-BE49-F238E27FC236}">
                <a16:creationId xmlns:a16="http://schemas.microsoft.com/office/drawing/2014/main" id="{97E67017-68B2-A048-833F-CECD7436B42C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75980221"/>
              </p:ext>
            </p:extLst>
          </p:nvPr>
        </p:nvGraphicFramePr>
        <p:xfrm>
          <a:off x="1712167" y="1641280"/>
          <a:ext cx="6324600" cy="507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204200" imgH="6578600" progId="Visio.Drawing.6">
                  <p:embed/>
                </p:oleObj>
              </mc:Choice>
              <mc:Fallback>
                <p:oleObj name="Visio" r:id="rId2" imgW="8204200" imgH="6578600" progId="Visio.Drawing.6">
                  <p:embed/>
                  <p:pic>
                    <p:nvPicPr>
                      <p:cNvPr id="41986" name="Object 56">
                        <a:extLst>
                          <a:ext uri="{FF2B5EF4-FFF2-40B4-BE49-F238E27FC236}">
                            <a16:creationId xmlns:a16="http://schemas.microsoft.com/office/drawing/2014/main" id="{97E67017-68B2-A048-833F-CECD7436B4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2167" y="1641280"/>
                        <a:ext cx="6324600" cy="507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7" name="TextBox 1">
            <a:extLst>
              <a:ext uri="{FF2B5EF4-FFF2-40B4-BE49-F238E27FC236}">
                <a16:creationId xmlns:a16="http://schemas.microsoft.com/office/drawing/2014/main" id="{D6B7E500-2737-8944-B368-D9889B2EB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9767" y="2676331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(3,0)</a:t>
            </a:r>
          </a:p>
        </p:txBody>
      </p:sp>
      <p:sp>
        <p:nvSpPr>
          <p:cNvPr id="41988" name="TextBox 5">
            <a:extLst>
              <a:ext uri="{FF2B5EF4-FFF2-40B4-BE49-F238E27FC236}">
                <a16:creationId xmlns:a16="http://schemas.microsoft.com/office/drawing/2014/main" id="{E073E802-3EA2-4747-AF03-F34CBD051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6117" y="2676331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(4,3)</a:t>
            </a:r>
          </a:p>
        </p:txBody>
      </p:sp>
      <p:sp>
        <p:nvSpPr>
          <p:cNvPr id="41989" name="TextBox 6">
            <a:extLst>
              <a:ext uri="{FF2B5EF4-FFF2-40B4-BE49-F238E27FC236}">
                <a16:creationId xmlns:a16="http://schemas.microsoft.com/office/drawing/2014/main" id="{ED292E8F-689C-6D46-89E5-A5AFB5D331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8367" y="5114731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(3,0)</a:t>
            </a:r>
          </a:p>
        </p:txBody>
      </p:sp>
      <p:sp>
        <p:nvSpPr>
          <p:cNvPr id="41990" name="TextBox 7">
            <a:extLst>
              <a:ext uri="{FF2B5EF4-FFF2-40B4-BE49-F238E27FC236}">
                <a16:creationId xmlns:a16="http://schemas.microsoft.com/office/drawing/2014/main" id="{AA90BBAB-6D8B-9F4D-B2DD-2D44F3093D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5567" y="5873556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(1,3)</a:t>
            </a:r>
          </a:p>
        </p:txBody>
      </p:sp>
      <p:sp>
        <p:nvSpPr>
          <p:cNvPr id="41991" name="TextBox 8">
            <a:extLst>
              <a:ext uri="{FF2B5EF4-FFF2-40B4-BE49-F238E27FC236}">
                <a16:creationId xmlns:a16="http://schemas.microsoft.com/office/drawing/2014/main" id="{9302C637-F161-F04C-9120-31014F85C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4317" y="5873556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(3,0)</a:t>
            </a:r>
          </a:p>
        </p:txBody>
      </p:sp>
      <p:sp>
        <p:nvSpPr>
          <p:cNvPr id="41992" name="TextBox 9">
            <a:extLst>
              <a:ext uri="{FF2B5EF4-FFF2-40B4-BE49-F238E27FC236}">
                <a16:creationId xmlns:a16="http://schemas.microsoft.com/office/drawing/2014/main" id="{640C2391-1BF2-FC4A-91D1-8F5848C478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3567" y="4654356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(3,0)</a:t>
            </a:r>
          </a:p>
        </p:txBody>
      </p:sp>
      <p:sp>
        <p:nvSpPr>
          <p:cNvPr id="41993" name="TextBox 10">
            <a:extLst>
              <a:ext uri="{FF2B5EF4-FFF2-40B4-BE49-F238E27FC236}">
                <a16:creationId xmlns:a16="http://schemas.microsoft.com/office/drawing/2014/main" id="{8BA95E7F-1EB6-8C42-AFE2-83B1B8C0B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3567" y="6102156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(1,0)</a:t>
            </a:r>
          </a:p>
        </p:txBody>
      </p:sp>
      <p:sp>
        <p:nvSpPr>
          <p:cNvPr id="41994" name="TextBox 11">
            <a:extLst>
              <a:ext uri="{FF2B5EF4-FFF2-40B4-BE49-F238E27FC236}">
                <a16:creationId xmlns:a16="http://schemas.microsoft.com/office/drawing/2014/main" id="{1760C220-175A-754B-89CF-C4C08CEB66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3717" y="6102156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(0,3)</a:t>
            </a:r>
          </a:p>
        </p:txBody>
      </p:sp>
      <p:sp>
        <p:nvSpPr>
          <p:cNvPr id="41995" name="TextBox 12">
            <a:extLst>
              <a:ext uri="{FF2B5EF4-FFF2-40B4-BE49-F238E27FC236}">
                <a16:creationId xmlns:a16="http://schemas.microsoft.com/office/drawing/2014/main" id="{8B5AECCD-C8E0-CF46-BA1C-333F39C281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9517" y="5340156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(3,0)</a:t>
            </a:r>
          </a:p>
        </p:txBody>
      </p:sp>
      <p:sp>
        <p:nvSpPr>
          <p:cNvPr id="41996" name="TextBox 13">
            <a:extLst>
              <a:ext uri="{FF2B5EF4-FFF2-40B4-BE49-F238E27FC236}">
                <a16:creationId xmlns:a16="http://schemas.microsoft.com/office/drawing/2014/main" id="{99F72C31-6C37-FC4F-BB5A-2173C2F90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6567" y="2520756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(7,3)</a:t>
            </a:r>
          </a:p>
        </p:txBody>
      </p:sp>
      <p:graphicFrame>
        <p:nvGraphicFramePr>
          <p:cNvPr id="41997" name="Object 54">
            <a:extLst>
              <a:ext uri="{FF2B5EF4-FFF2-40B4-BE49-F238E27FC236}">
                <a16:creationId xmlns:a16="http://schemas.microsoft.com/office/drawing/2014/main" id="{D2245D69-501D-854B-9624-920C1E23E3C8}"/>
              </a:ext>
            </a:extLst>
          </p:cNvPr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402171502"/>
              </p:ext>
            </p:extLst>
          </p:nvPr>
        </p:nvGraphicFramePr>
        <p:xfrm>
          <a:off x="7655767" y="1380930"/>
          <a:ext cx="2979738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524500" imgH="6070600" progId="Word.Document.8">
                  <p:embed/>
                </p:oleObj>
              </mc:Choice>
              <mc:Fallback>
                <p:oleObj name="Document" r:id="rId4" imgW="5524500" imgH="6070600" progId="Word.Document.8">
                  <p:embed/>
                  <p:pic>
                    <p:nvPicPr>
                      <p:cNvPr id="41997" name="Object 54">
                        <a:extLst>
                          <a:ext uri="{FF2B5EF4-FFF2-40B4-BE49-F238E27FC236}">
                            <a16:creationId xmlns:a16="http://schemas.microsoft.com/office/drawing/2014/main" id="{D2245D69-501D-854B-9624-920C1E23E3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5767" y="1380930"/>
                        <a:ext cx="2979738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3987078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6">
            <a:extLst>
              <a:ext uri="{FF2B5EF4-FFF2-40B4-BE49-F238E27FC236}">
                <a16:creationId xmlns:a16="http://schemas.microsoft.com/office/drawing/2014/main" id="{5D69D07C-87E3-B44D-894A-9D5666059E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>
                <a:cs typeface="+mj-cs"/>
              </a:rPr>
              <a:t>Design Issues of Decision Tree Induction</a:t>
            </a:r>
          </a:p>
        </p:txBody>
      </p:sp>
      <p:sp>
        <p:nvSpPr>
          <p:cNvPr id="43010" name="Rectangle 7">
            <a:extLst>
              <a:ext uri="{FF2B5EF4-FFF2-40B4-BE49-F238E27FC236}">
                <a16:creationId xmlns:a16="http://schemas.microsoft.com/office/drawing/2014/main" id="{66AACA64-8057-8845-B011-3201169E0C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it-IT" b="1">
                <a:ea typeface="ＭＳ Ｐゴシック" panose="020B0600070205080204" pitchFamily="34" charset="-128"/>
              </a:rPr>
              <a:t>Greedy strategy: </a:t>
            </a:r>
          </a:p>
          <a:p>
            <a:pPr lvl="1"/>
            <a:r>
              <a:rPr lang="en-US" altLang="it-IT">
                <a:ea typeface="ＭＳ Ｐゴシック" panose="020B0600070205080204" pitchFamily="34" charset="-128"/>
              </a:rPr>
              <a:t>the number of possible decision trees can be very large, many decision tree algorithms employ a heuristic-based approach to guide their search in the vast hypothesis space.</a:t>
            </a:r>
          </a:p>
          <a:p>
            <a:pPr lvl="1"/>
            <a:endParaRPr lang="en-US" altLang="it-IT" sz="3200">
              <a:ea typeface="ＭＳ Ｐゴシック" panose="020B0600070205080204" pitchFamily="34" charset="-128"/>
            </a:endParaRPr>
          </a:p>
          <a:p>
            <a:pPr lvl="1"/>
            <a:r>
              <a:rPr lang="en-US" altLang="it-IT" b="1">
                <a:solidFill>
                  <a:srgbClr val="FF0000"/>
                </a:solidFill>
                <a:ea typeface="ＭＳ Ｐゴシック" panose="020B0600070205080204" pitchFamily="34" charset="-128"/>
              </a:rPr>
              <a:t>Split the records based on an attribute test that optimizes certain criterion.</a:t>
            </a:r>
          </a:p>
        </p:txBody>
      </p:sp>
    </p:spTree>
    <p:extLst>
      <p:ext uri="{BB962C8B-B14F-4D97-AF65-F5344CB8AC3E}">
        <p14:creationId xmlns:p14="http://schemas.microsoft.com/office/powerpoint/2010/main" val="6591173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DC96D3-0279-A141-B1C2-50D21B494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Induction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9B694D4-B42E-3E41-A048-817E5B8FE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should training records be split?</a:t>
            </a:r>
          </a:p>
          <a:p>
            <a:pPr lvl="1"/>
            <a:r>
              <a:rPr lang="en-US" dirty="0"/>
              <a:t>Method for specifying test condition depending on attribute types</a:t>
            </a:r>
          </a:p>
          <a:p>
            <a:pPr lvl="1"/>
            <a:r>
              <a:rPr lang="en-US" dirty="0"/>
              <a:t>Measure for evaluating the goodness of a test condition</a:t>
            </a:r>
          </a:p>
          <a:p>
            <a:endParaRPr lang="en-US" dirty="0"/>
          </a:p>
          <a:p>
            <a:r>
              <a:rPr lang="en-US" dirty="0"/>
              <a:t>How should the splitting procedure stop?</a:t>
            </a:r>
          </a:p>
          <a:p>
            <a:pPr lvl="1"/>
            <a:r>
              <a:rPr lang="en-US" dirty="0"/>
              <a:t>Stop splitting if all the records belong to the same class or have identical attribute values</a:t>
            </a:r>
          </a:p>
          <a:p>
            <a:pPr lvl="1"/>
            <a:r>
              <a:rPr lang="en-US" dirty="0"/>
              <a:t>Early termination </a:t>
            </a:r>
          </a:p>
        </p:txBody>
      </p:sp>
    </p:spTree>
    <p:extLst>
      <p:ext uri="{BB962C8B-B14F-4D97-AF65-F5344CB8AC3E}">
        <p14:creationId xmlns:p14="http://schemas.microsoft.com/office/powerpoint/2010/main" val="1385287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F4BDDF8F-7EAA-224C-A67E-36B686C809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Methods for Expressing Test Conditions</a:t>
            </a:r>
          </a:p>
        </p:txBody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96B15319-B4C4-DE44-997F-9031A5F55B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Depends on attribute types</a:t>
            </a:r>
          </a:p>
          <a:p>
            <a:pPr lvl="1"/>
            <a:r>
              <a:rPr lang="en-US" altLang="it-IT">
                <a:ea typeface="ＭＳ Ｐゴシック" panose="020B0600070205080204" pitchFamily="34" charset="-128"/>
              </a:rPr>
              <a:t>Binary</a:t>
            </a:r>
          </a:p>
          <a:p>
            <a:pPr lvl="1"/>
            <a:r>
              <a:rPr lang="en-US" altLang="it-IT">
                <a:ea typeface="ＭＳ Ｐゴシック" panose="020B0600070205080204" pitchFamily="34" charset="-128"/>
              </a:rPr>
              <a:t>Nominal</a:t>
            </a:r>
          </a:p>
          <a:p>
            <a:pPr lvl="1"/>
            <a:r>
              <a:rPr lang="en-US" altLang="it-IT">
                <a:ea typeface="ＭＳ Ｐゴシック" panose="020B0600070205080204" pitchFamily="34" charset="-128"/>
              </a:rPr>
              <a:t>Ordinal</a:t>
            </a:r>
          </a:p>
          <a:p>
            <a:pPr lvl="1"/>
            <a:r>
              <a:rPr lang="en-US" altLang="it-IT">
                <a:ea typeface="ＭＳ Ｐゴシック" panose="020B0600070205080204" pitchFamily="34" charset="-128"/>
              </a:rPr>
              <a:t>Continuous</a:t>
            </a:r>
          </a:p>
          <a:p>
            <a:pPr lvl="1"/>
            <a:endParaRPr lang="en-US" altLang="it-IT">
              <a:ea typeface="ＭＳ Ｐゴシック" panose="020B0600070205080204" pitchFamily="34" charset="-128"/>
            </a:endParaRPr>
          </a:p>
          <a:p>
            <a:r>
              <a:rPr lang="en-US" altLang="it-IT">
                <a:ea typeface="ＭＳ Ｐゴシック" panose="020B0600070205080204" pitchFamily="34" charset="-128"/>
              </a:rPr>
              <a:t>Depends on number of ways to split</a:t>
            </a:r>
          </a:p>
          <a:p>
            <a:pPr lvl="1"/>
            <a:r>
              <a:rPr lang="en-US" altLang="it-IT">
                <a:ea typeface="ＭＳ Ｐゴシック" panose="020B0600070205080204" pitchFamily="34" charset="-128"/>
              </a:rPr>
              <a:t>2-way split</a:t>
            </a:r>
          </a:p>
          <a:p>
            <a:pPr lvl="1"/>
            <a:r>
              <a:rPr lang="en-US" altLang="it-IT">
                <a:ea typeface="ＭＳ Ｐゴシック" panose="020B0600070205080204" pitchFamily="34" charset="-128"/>
              </a:rPr>
              <a:t>Multi-way split</a:t>
            </a:r>
          </a:p>
        </p:txBody>
      </p:sp>
    </p:spTree>
    <p:extLst>
      <p:ext uri="{BB962C8B-B14F-4D97-AF65-F5344CB8AC3E}">
        <p14:creationId xmlns:p14="http://schemas.microsoft.com/office/powerpoint/2010/main" val="227371021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6EFEB5-3C42-7348-A379-75CBE12E7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Condition for Nominal Attributes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468072C-5314-D84B-8030-5273F5F77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/>
            <a:r>
              <a:rPr lang="en-US" altLang="it-IT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Multi-way split:</a:t>
            </a:r>
            <a:r>
              <a:rPr lang="en-US" altLang="it-IT" sz="2400" dirty="0">
                <a:ea typeface="ＭＳ Ｐゴシック" panose="020B0600070205080204" pitchFamily="34" charset="-128"/>
              </a:rPr>
              <a:t> </a:t>
            </a:r>
          </a:p>
          <a:p>
            <a:pPr marL="742950" lvl="1" indent="-285750"/>
            <a:r>
              <a:rPr lang="en-US" altLang="it-IT" dirty="0">
                <a:ea typeface="ＭＳ Ｐゴシック" panose="020B0600070205080204" pitchFamily="34" charset="-128"/>
              </a:rPr>
              <a:t>Use as many partitions as distinct values. </a:t>
            </a:r>
          </a:p>
          <a:p>
            <a:pPr marL="342900" indent="-342900">
              <a:buNone/>
            </a:pPr>
            <a:endParaRPr lang="en-US" altLang="it-IT" sz="2400" dirty="0">
              <a:ea typeface="ＭＳ Ｐゴシック" panose="020B0600070205080204" pitchFamily="34" charset="-128"/>
            </a:endParaRPr>
          </a:p>
          <a:p>
            <a:pPr marL="342900" indent="-342900">
              <a:buNone/>
            </a:pPr>
            <a:endParaRPr lang="en-US" altLang="it-IT" sz="2400" dirty="0">
              <a:ea typeface="ＭＳ Ｐゴシック" panose="020B0600070205080204" pitchFamily="34" charset="-128"/>
            </a:endParaRPr>
          </a:p>
          <a:p>
            <a:pPr marL="342900" indent="-342900"/>
            <a:r>
              <a:rPr lang="en-US" altLang="it-IT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Binary split:</a:t>
            </a:r>
            <a:r>
              <a:rPr lang="en-US" altLang="it-IT" sz="2400" dirty="0">
                <a:ea typeface="ＭＳ Ｐゴシック" panose="020B0600070205080204" pitchFamily="34" charset="-128"/>
              </a:rPr>
              <a:t>  </a:t>
            </a:r>
          </a:p>
          <a:p>
            <a:pPr marL="742950" lvl="1" indent="-285750"/>
            <a:r>
              <a:rPr lang="en-US" altLang="it-IT" dirty="0">
                <a:ea typeface="ＭＳ Ｐゴシック" panose="020B0600070205080204" pitchFamily="34" charset="-128"/>
              </a:rPr>
              <a:t>Divides values into two subsets</a:t>
            </a:r>
            <a:endParaRPr lang="en-US" dirty="0"/>
          </a:p>
        </p:txBody>
      </p:sp>
      <p:graphicFrame>
        <p:nvGraphicFramePr>
          <p:cNvPr id="4" name="Object 25">
            <a:extLst>
              <a:ext uri="{FF2B5EF4-FFF2-40B4-BE49-F238E27FC236}">
                <a16:creationId xmlns:a16="http://schemas.microsoft.com/office/drawing/2014/main" id="{46B8C2F0-1E8D-694E-97BA-40460DB2AE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1277203"/>
              </p:ext>
            </p:extLst>
          </p:nvPr>
        </p:nvGraphicFramePr>
        <p:xfrm>
          <a:off x="7417837" y="1446244"/>
          <a:ext cx="3352800" cy="182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013200" imgH="2184400" progId="Visio.Drawing.6">
                  <p:embed/>
                </p:oleObj>
              </mc:Choice>
              <mc:Fallback>
                <p:oleObj name="Visio" r:id="rId2" imgW="4013200" imgH="2184400" progId="Visio.Drawing.6">
                  <p:embed/>
                  <p:pic>
                    <p:nvPicPr>
                      <p:cNvPr id="47107" name="Object 25">
                        <a:extLst>
                          <a:ext uri="{FF2B5EF4-FFF2-40B4-BE49-F238E27FC236}">
                            <a16:creationId xmlns:a16="http://schemas.microsoft.com/office/drawing/2014/main" id="{2A68ED0C-366C-014A-80D0-51FCD5EFC7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7837" y="1446244"/>
                        <a:ext cx="3352800" cy="182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7">
            <a:extLst>
              <a:ext uri="{FF2B5EF4-FFF2-40B4-BE49-F238E27FC236}">
                <a16:creationId xmlns:a16="http://schemas.microsoft.com/office/drawing/2014/main" id="{D47D669F-78A5-704D-A8B3-B8E8BAB080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0890869"/>
              </p:ext>
            </p:extLst>
          </p:nvPr>
        </p:nvGraphicFramePr>
        <p:xfrm>
          <a:off x="6295054" y="4368800"/>
          <a:ext cx="3471863" cy="180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4813300" imgH="2514600" progId="Visio.Drawing.6">
                  <p:embed/>
                </p:oleObj>
              </mc:Choice>
              <mc:Fallback>
                <p:oleObj name="Visio" r:id="rId4" imgW="4813300" imgH="2514600" progId="Visio.Drawing.6">
                  <p:embed/>
                  <p:pic>
                    <p:nvPicPr>
                      <p:cNvPr id="47108" name="Object 27">
                        <a:extLst>
                          <a:ext uri="{FF2B5EF4-FFF2-40B4-BE49-F238E27FC236}">
                            <a16:creationId xmlns:a16="http://schemas.microsoft.com/office/drawing/2014/main" id="{8D33BAAD-28D3-1C46-B083-DA20F9B708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5054" y="4368800"/>
                        <a:ext cx="3471863" cy="180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9">
            <a:extLst>
              <a:ext uri="{FF2B5EF4-FFF2-40B4-BE49-F238E27FC236}">
                <a16:creationId xmlns:a16="http://schemas.microsoft.com/office/drawing/2014/main" id="{ADEDB3B7-9654-1B41-AA13-60CC162BA0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005411"/>
              </p:ext>
            </p:extLst>
          </p:nvPr>
        </p:nvGraphicFramePr>
        <p:xfrm>
          <a:off x="9571654" y="4368800"/>
          <a:ext cx="2022475" cy="180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717800" imgH="2425700" progId="Visio.Drawing.6">
                  <p:embed/>
                </p:oleObj>
              </mc:Choice>
              <mc:Fallback>
                <p:oleObj name="Visio" r:id="rId6" imgW="2717800" imgH="2425700" progId="Visio.Drawing.6">
                  <p:embed/>
                  <p:pic>
                    <p:nvPicPr>
                      <p:cNvPr id="47109" name="Object 29">
                        <a:extLst>
                          <a:ext uri="{FF2B5EF4-FFF2-40B4-BE49-F238E27FC236}">
                            <a16:creationId xmlns:a16="http://schemas.microsoft.com/office/drawing/2014/main" id="{9A300B5A-C5A0-1F44-9BDF-821FD0E8F5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71654" y="4368800"/>
                        <a:ext cx="2022475" cy="180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153303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BBE73E-EBD3-6547-9CF7-ED862525A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Condition for Ordinal Attributes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B57E644-9DB0-3540-AE7D-C2D119E07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34812" cy="4351338"/>
          </a:xfrm>
        </p:spPr>
        <p:txBody>
          <a:bodyPr/>
          <a:lstStyle/>
          <a:p>
            <a:pPr marL="342900" indent="-342900"/>
            <a:r>
              <a:rPr lang="en-US" altLang="it-IT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Multi-way split:</a:t>
            </a:r>
            <a:r>
              <a:rPr lang="en-US" altLang="it-IT" sz="2400" dirty="0">
                <a:ea typeface="ＭＳ Ｐゴシック" panose="020B0600070205080204" pitchFamily="34" charset="-128"/>
              </a:rPr>
              <a:t> </a:t>
            </a:r>
          </a:p>
          <a:p>
            <a:pPr marL="742950" lvl="1" indent="-285750"/>
            <a:r>
              <a:rPr lang="en-US" altLang="it-IT" dirty="0">
                <a:ea typeface="ＭＳ Ｐゴシック" panose="020B0600070205080204" pitchFamily="34" charset="-128"/>
              </a:rPr>
              <a:t>Use as many partitions as distinct values</a:t>
            </a:r>
          </a:p>
          <a:p>
            <a:pPr marL="742950" lvl="1" indent="-285750"/>
            <a:endParaRPr lang="en-US" altLang="it-IT" dirty="0">
              <a:ea typeface="ＭＳ Ｐゴシック" panose="020B0600070205080204" pitchFamily="34" charset="-128"/>
            </a:endParaRPr>
          </a:p>
          <a:p>
            <a:pPr marL="342900" indent="-342900"/>
            <a:r>
              <a:rPr lang="en-US" altLang="it-IT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Binary split:</a:t>
            </a:r>
            <a:r>
              <a:rPr lang="en-US" altLang="it-IT" sz="2400" dirty="0">
                <a:ea typeface="ＭＳ Ｐゴシック" panose="020B0600070205080204" pitchFamily="34" charset="-128"/>
              </a:rPr>
              <a:t>  </a:t>
            </a:r>
          </a:p>
          <a:p>
            <a:pPr marL="742950" lvl="1" indent="-285750"/>
            <a:r>
              <a:rPr lang="en-US" altLang="it-IT" dirty="0">
                <a:ea typeface="ＭＳ Ｐゴシック" panose="020B0600070205080204" pitchFamily="34" charset="-128"/>
              </a:rPr>
              <a:t>Divides values into two subsets</a:t>
            </a:r>
          </a:p>
          <a:p>
            <a:pPr marL="742950" lvl="1" indent="-285750"/>
            <a:r>
              <a:rPr lang="en-US" altLang="it-IT" dirty="0">
                <a:ea typeface="ＭＳ Ｐゴシック" panose="020B0600070205080204" pitchFamily="34" charset="-128"/>
              </a:rPr>
              <a:t>Preserve order property among attribute values</a:t>
            </a:r>
          </a:p>
          <a:p>
            <a:endParaRPr lang="en-US" dirty="0"/>
          </a:p>
        </p:txBody>
      </p:sp>
      <p:graphicFrame>
        <p:nvGraphicFramePr>
          <p:cNvPr id="4" name="Object 40">
            <a:extLst>
              <a:ext uri="{FF2B5EF4-FFF2-40B4-BE49-F238E27FC236}">
                <a16:creationId xmlns:a16="http://schemas.microsoft.com/office/drawing/2014/main" id="{1025F430-5F07-C14C-8202-4AE79802F3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6959581"/>
              </p:ext>
            </p:extLst>
          </p:nvPr>
        </p:nvGraphicFramePr>
        <p:xfrm>
          <a:off x="7147250" y="1441579"/>
          <a:ext cx="2951163" cy="158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962400" imgH="2120900" progId="Visio.Drawing.6">
                  <p:embed/>
                </p:oleObj>
              </mc:Choice>
              <mc:Fallback>
                <p:oleObj name="Visio" r:id="rId2" imgW="3962400" imgH="2120900" progId="Visio.Drawing.6">
                  <p:embed/>
                  <p:pic>
                    <p:nvPicPr>
                      <p:cNvPr id="48131" name="Object 40">
                        <a:extLst>
                          <a:ext uri="{FF2B5EF4-FFF2-40B4-BE49-F238E27FC236}">
                            <a16:creationId xmlns:a16="http://schemas.microsoft.com/office/drawing/2014/main" id="{5EE0FAB3-D901-244F-8B8F-331ADEA5E9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7250" y="1441579"/>
                        <a:ext cx="2951163" cy="1582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1">
            <a:extLst>
              <a:ext uri="{FF2B5EF4-FFF2-40B4-BE49-F238E27FC236}">
                <a16:creationId xmlns:a16="http://schemas.microsoft.com/office/drawing/2014/main" id="{F98DE75D-C696-9C48-8476-1A4172F5E9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7639794"/>
              </p:ext>
            </p:extLst>
          </p:nvPr>
        </p:nvGraphicFramePr>
        <p:xfrm>
          <a:off x="6842449" y="3117980"/>
          <a:ext cx="3352800" cy="174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4457700" imgH="2324100" progId="Visio.Drawing.6">
                  <p:embed/>
                </p:oleObj>
              </mc:Choice>
              <mc:Fallback>
                <p:oleObj name="Visio" r:id="rId4" imgW="4457700" imgH="2324100" progId="Visio.Drawing.6">
                  <p:embed/>
                  <p:pic>
                    <p:nvPicPr>
                      <p:cNvPr id="48132" name="Object 41">
                        <a:extLst>
                          <a:ext uri="{FF2B5EF4-FFF2-40B4-BE49-F238E27FC236}">
                            <a16:creationId xmlns:a16="http://schemas.microsoft.com/office/drawing/2014/main" id="{16C20D45-ABDE-2043-BCC7-52AFADA0A6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449" y="3117980"/>
                        <a:ext cx="3352800" cy="174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3">
            <a:extLst>
              <a:ext uri="{FF2B5EF4-FFF2-40B4-BE49-F238E27FC236}">
                <a16:creationId xmlns:a16="http://schemas.microsoft.com/office/drawing/2014/main" id="{F7DAAD40-7D2A-044D-A4F9-6A563AEA83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089966"/>
              </p:ext>
            </p:extLst>
          </p:nvPr>
        </p:nvGraphicFramePr>
        <p:xfrm>
          <a:off x="6766249" y="4946780"/>
          <a:ext cx="1460500" cy="176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917700" imgH="2324100" progId="Visio.Drawing.6">
                  <p:embed/>
                </p:oleObj>
              </mc:Choice>
              <mc:Fallback>
                <p:oleObj name="Visio" r:id="rId6" imgW="1917700" imgH="2324100" progId="Visio.Drawing.6">
                  <p:embed/>
                  <p:pic>
                    <p:nvPicPr>
                      <p:cNvPr id="48133" name="Object 43">
                        <a:extLst>
                          <a:ext uri="{FF2B5EF4-FFF2-40B4-BE49-F238E27FC236}">
                            <a16:creationId xmlns:a16="http://schemas.microsoft.com/office/drawing/2014/main" id="{27F84DB7-22C4-9347-BC80-BB67167BAF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6249" y="4946780"/>
                        <a:ext cx="1460500" cy="176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AutoShape 45">
            <a:extLst>
              <a:ext uri="{FF2B5EF4-FFF2-40B4-BE49-F238E27FC236}">
                <a16:creationId xmlns:a16="http://schemas.microsoft.com/office/drawing/2014/main" id="{AEB21834-105B-9444-A243-9C82F19EA71E}"/>
              </a:ext>
            </a:extLst>
          </p:cNvPr>
          <p:cNvSpPr>
            <a:spLocks/>
          </p:cNvSpPr>
          <p:nvPr/>
        </p:nvSpPr>
        <p:spPr bwMode="auto">
          <a:xfrm>
            <a:off x="8899849" y="5403979"/>
            <a:ext cx="1524000" cy="723900"/>
          </a:xfrm>
          <a:prstGeom prst="borderCallout2">
            <a:avLst>
              <a:gd name="adj1" fmla="val 15792"/>
              <a:gd name="adj2" fmla="val -5000"/>
              <a:gd name="adj3" fmla="val 15792"/>
              <a:gd name="adj4" fmla="val -29898"/>
              <a:gd name="adj5" fmla="val 102412"/>
              <a:gd name="adj6" fmla="val -55625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This grouping violates order property</a:t>
            </a:r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it-IT" sz="1400"/>
          </a:p>
        </p:txBody>
      </p:sp>
    </p:spTree>
    <p:extLst>
      <p:ext uri="{BB962C8B-B14F-4D97-AF65-F5344CB8AC3E}">
        <p14:creationId xmlns:p14="http://schemas.microsoft.com/office/powerpoint/2010/main" val="2514689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2F77375A-80C2-5C43-9314-4278FACEAA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>
                <a:cs typeface="+mj-cs"/>
              </a:rPr>
              <a:t>Test Condition for Continuous Attributes</a:t>
            </a:r>
          </a:p>
        </p:txBody>
      </p:sp>
      <p:graphicFrame>
        <p:nvGraphicFramePr>
          <p:cNvPr id="49154" name="Object 4">
            <a:extLst>
              <a:ext uri="{FF2B5EF4-FFF2-40B4-BE49-F238E27FC236}">
                <a16:creationId xmlns:a16="http://schemas.microsoft.com/office/drawing/2014/main" id="{DC99DD5F-D071-2D40-BE02-17B9936118AD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7589696"/>
              </p:ext>
            </p:extLst>
          </p:nvPr>
        </p:nvGraphicFramePr>
        <p:xfrm>
          <a:off x="2270125" y="1746250"/>
          <a:ext cx="7593013" cy="328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547100" imgH="3695700" progId="Visio.Drawing.6">
                  <p:embed/>
                </p:oleObj>
              </mc:Choice>
              <mc:Fallback>
                <p:oleObj name="Visio" r:id="rId2" imgW="8547100" imgH="3695700" progId="Visio.Drawing.6">
                  <p:embed/>
                  <p:pic>
                    <p:nvPicPr>
                      <p:cNvPr id="49154" name="Object 4">
                        <a:extLst>
                          <a:ext uri="{FF2B5EF4-FFF2-40B4-BE49-F238E27FC236}">
                            <a16:creationId xmlns:a16="http://schemas.microsoft.com/office/drawing/2014/main" id="{DC99DD5F-D071-2D40-BE02-17B9936118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125" y="1746250"/>
                        <a:ext cx="7593013" cy="328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221031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>
            <a:extLst>
              <a:ext uri="{FF2B5EF4-FFF2-40B4-BE49-F238E27FC236}">
                <a16:creationId xmlns:a16="http://schemas.microsoft.com/office/drawing/2014/main" id="{2CBDDAC9-3059-8A4F-9ADD-BA3DF80053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>
                <a:cs typeface="+mj-cs"/>
              </a:rPr>
              <a:t>Splitting Based on Continuous Attributes</a:t>
            </a:r>
          </a:p>
        </p:txBody>
      </p:sp>
      <p:sp>
        <p:nvSpPr>
          <p:cNvPr id="50178" name="Rectangle 5">
            <a:extLst>
              <a:ext uri="{FF2B5EF4-FFF2-40B4-BE49-F238E27FC236}">
                <a16:creationId xmlns:a16="http://schemas.microsoft.com/office/drawing/2014/main" id="{DA99CC90-0C05-9440-8FF4-B1453719EE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Different ways of handling</a:t>
            </a:r>
          </a:p>
          <a:p>
            <a:pPr lvl="1"/>
            <a:r>
              <a:rPr lang="en-US" altLang="it-IT">
                <a:solidFill>
                  <a:srgbClr val="CC3300"/>
                </a:solidFill>
                <a:ea typeface="ＭＳ Ｐゴシック" panose="020B0600070205080204" pitchFamily="34" charset="-128"/>
              </a:rPr>
              <a:t>Discretization</a:t>
            </a:r>
            <a:r>
              <a:rPr lang="en-US" altLang="it-IT">
                <a:ea typeface="ＭＳ Ｐゴシック" panose="020B0600070205080204" pitchFamily="34" charset="-128"/>
              </a:rPr>
              <a:t> to form an ordinal categorical attribute</a:t>
            </a:r>
          </a:p>
          <a:p>
            <a:pPr lvl="2">
              <a:buFont typeface="Wingdings" pitchFamily="2" charset="2"/>
              <a:buNone/>
            </a:pPr>
            <a:r>
              <a:rPr lang="en-US" altLang="it-IT">
                <a:ea typeface="ＭＳ Ｐゴシック" panose="020B0600070205080204" pitchFamily="34" charset="-128"/>
              </a:rPr>
              <a:t> Ranges can be found by equal interval bucketing, equal frequency bucketing (percentiles), or clustering.</a:t>
            </a:r>
          </a:p>
          <a:p>
            <a:pPr lvl="2"/>
            <a:r>
              <a:rPr lang="en-US" altLang="it-IT">
                <a:ea typeface="ＭＳ Ｐゴシック" panose="020B0600070205080204" pitchFamily="34" charset="-128"/>
              </a:rPr>
              <a:t> Static – discretize once at the beginning</a:t>
            </a:r>
          </a:p>
          <a:p>
            <a:pPr lvl="2"/>
            <a:r>
              <a:rPr lang="en-US" altLang="it-IT">
                <a:ea typeface="ＭＳ Ｐゴシック" panose="020B0600070205080204" pitchFamily="34" charset="-128"/>
              </a:rPr>
              <a:t> Dynamic – repeat at each node</a:t>
            </a:r>
          </a:p>
          <a:p>
            <a:pPr lvl="4"/>
            <a:endParaRPr lang="en-US" altLang="it-IT">
              <a:solidFill>
                <a:srgbClr val="CC3300"/>
              </a:solidFill>
              <a:ea typeface="ＭＳ Ｐゴシック" panose="020B0600070205080204" pitchFamily="34" charset="-128"/>
            </a:endParaRPr>
          </a:p>
          <a:p>
            <a:pPr lvl="1"/>
            <a:r>
              <a:rPr lang="en-US" altLang="it-IT">
                <a:solidFill>
                  <a:srgbClr val="CC3300"/>
                </a:solidFill>
                <a:ea typeface="ＭＳ Ｐゴシック" panose="020B0600070205080204" pitchFamily="34" charset="-128"/>
              </a:rPr>
              <a:t>Binary Decision</a:t>
            </a:r>
            <a:r>
              <a:rPr lang="en-US" altLang="it-IT">
                <a:ea typeface="ＭＳ Ｐゴシック" panose="020B0600070205080204" pitchFamily="34" charset="-128"/>
              </a:rPr>
              <a:t>: (A &lt; v) or (A </a:t>
            </a:r>
            <a:r>
              <a:rPr lang="en-US" altLang="it-IT">
                <a:ea typeface="ＭＳ Ｐゴシック" panose="020B0600070205080204" pitchFamily="34" charset="-128"/>
                <a:sym typeface="Symbol" pitchFamily="2" charset="2"/>
              </a:rPr>
              <a:t> v)</a:t>
            </a:r>
            <a:endParaRPr lang="en-US" altLang="it-IT">
              <a:ea typeface="ＭＳ Ｐゴシック" panose="020B0600070205080204" pitchFamily="34" charset="-128"/>
            </a:endParaRPr>
          </a:p>
          <a:p>
            <a:pPr lvl="2"/>
            <a:r>
              <a:rPr lang="en-US" altLang="it-IT">
                <a:ea typeface="ＭＳ Ｐゴシック" panose="020B0600070205080204" pitchFamily="34" charset="-128"/>
              </a:rPr>
              <a:t> consider all possible splits and finds the best cut</a:t>
            </a:r>
          </a:p>
          <a:p>
            <a:pPr lvl="2"/>
            <a:r>
              <a:rPr lang="en-US" altLang="it-IT">
                <a:ea typeface="ＭＳ Ｐゴシック" panose="020B0600070205080204" pitchFamily="34" charset="-128"/>
              </a:rPr>
              <a:t> can be more compute intensive</a:t>
            </a:r>
          </a:p>
        </p:txBody>
      </p:sp>
    </p:spTree>
    <p:extLst>
      <p:ext uri="{BB962C8B-B14F-4D97-AF65-F5344CB8AC3E}">
        <p14:creationId xmlns:p14="http://schemas.microsoft.com/office/powerpoint/2010/main" val="36131672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1" name="Picture 10">
            <a:extLst>
              <a:ext uri="{FF2B5EF4-FFF2-40B4-BE49-F238E27FC236}">
                <a16:creationId xmlns:a16="http://schemas.microsoft.com/office/drawing/2014/main" id="{C87D7DF9-6453-7A4F-829B-D49CFC9694D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15404" y="1389095"/>
            <a:ext cx="3170238" cy="3105150"/>
          </a:xfrm>
        </p:spPr>
      </p:pic>
      <p:sp>
        <p:nvSpPr>
          <p:cNvPr id="26627" name="Rectangle 6">
            <a:extLst>
              <a:ext uri="{FF2B5EF4-FFF2-40B4-BE49-F238E27FC236}">
                <a16:creationId xmlns:a16="http://schemas.microsoft.com/office/drawing/2014/main" id="{3728F635-4D98-E848-92E7-CDD7DD0428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How to determine the Best Split</a:t>
            </a:r>
          </a:p>
        </p:txBody>
      </p:sp>
      <p:graphicFrame>
        <p:nvGraphicFramePr>
          <p:cNvPr id="51203" name="Object 5">
            <a:extLst>
              <a:ext uri="{FF2B5EF4-FFF2-40B4-BE49-F238E27FC236}">
                <a16:creationId xmlns:a16="http://schemas.microsoft.com/office/drawing/2014/main" id="{59B85FAE-868F-204A-BFE1-15063E0EA81A}"/>
              </a:ext>
            </a:extLst>
          </p:cNvPr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13852917"/>
              </p:ext>
            </p:extLst>
          </p:nvPr>
        </p:nvGraphicFramePr>
        <p:xfrm>
          <a:off x="2302168" y="4584733"/>
          <a:ext cx="7589837" cy="177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9652000" imgH="2247900" progId="Visio.Drawing.6">
                  <p:embed/>
                </p:oleObj>
              </mc:Choice>
              <mc:Fallback>
                <p:oleObj name="Visio" r:id="rId3" imgW="9652000" imgH="2247900" progId="Visio.Drawing.6">
                  <p:embed/>
                  <p:pic>
                    <p:nvPicPr>
                      <p:cNvPr id="51203" name="Object 5">
                        <a:extLst>
                          <a:ext uri="{FF2B5EF4-FFF2-40B4-BE49-F238E27FC236}">
                            <a16:creationId xmlns:a16="http://schemas.microsoft.com/office/drawing/2014/main" id="{59B85FAE-868F-204A-BFE1-15063E0EA8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2168" y="4584733"/>
                        <a:ext cx="7589837" cy="177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4" name="Text Box 8">
            <a:extLst>
              <a:ext uri="{FF2B5EF4-FFF2-40B4-BE49-F238E27FC236}">
                <a16:creationId xmlns:a16="http://schemas.microsoft.com/office/drawing/2014/main" id="{A1242E96-AA26-F841-B5F6-09C0684989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804" y="2817845"/>
            <a:ext cx="5105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/>
              <a:t>Before Splitting: 10 records of class 0,</a:t>
            </a:r>
            <a:br>
              <a:rPr lang="en-US" altLang="it-IT" sz="1800"/>
            </a:br>
            <a:r>
              <a:rPr lang="en-US" altLang="it-IT" sz="1800"/>
              <a:t>		10 records of class 1</a:t>
            </a:r>
          </a:p>
        </p:txBody>
      </p:sp>
      <p:sp>
        <p:nvSpPr>
          <p:cNvPr id="51205" name="Text Box 9">
            <a:extLst>
              <a:ext uri="{FF2B5EF4-FFF2-40B4-BE49-F238E27FC236}">
                <a16:creationId xmlns:a16="http://schemas.microsoft.com/office/drawing/2014/main" id="{0142255E-1794-6248-87B7-3C81649EF2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2604" y="6413533"/>
            <a:ext cx="5105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/>
              <a:t>Which test condition is the best?</a:t>
            </a:r>
          </a:p>
        </p:txBody>
      </p:sp>
    </p:spTree>
    <p:extLst>
      <p:ext uri="{BB962C8B-B14F-4D97-AF65-F5344CB8AC3E}">
        <p14:creationId xmlns:p14="http://schemas.microsoft.com/office/powerpoint/2010/main" val="302223514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2146F8EE-3791-2E42-992F-3799ADF758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How to determine the Best Split</a:t>
            </a:r>
          </a:p>
        </p:txBody>
      </p:sp>
      <p:sp>
        <p:nvSpPr>
          <p:cNvPr id="53250" name="Rectangle 3">
            <a:extLst>
              <a:ext uri="{FF2B5EF4-FFF2-40B4-BE49-F238E27FC236}">
                <a16:creationId xmlns:a16="http://schemas.microsoft.com/office/drawing/2014/main" id="{64F6DD60-19CF-634C-96A4-46B2D28E33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Greedy approach: </a:t>
            </a:r>
          </a:p>
          <a:p>
            <a:pPr lvl="1"/>
            <a:r>
              <a:rPr lang="en-US" altLang="it-IT">
                <a:ea typeface="ＭＳ Ｐゴシック" panose="020B0600070205080204" pitchFamily="34" charset="-128"/>
              </a:rPr>
              <a:t>Nodes with </a:t>
            </a:r>
            <a:r>
              <a:rPr lang="en-US" altLang="it-IT">
                <a:solidFill>
                  <a:srgbClr val="FF0000"/>
                </a:solidFill>
                <a:ea typeface="ＭＳ Ｐゴシック" panose="020B0600070205080204" pitchFamily="34" charset="-128"/>
              </a:rPr>
              <a:t>purer / homogeneous</a:t>
            </a:r>
            <a:r>
              <a:rPr lang="en-US" altLang="it-IT">
                <a:ea typeface="ＭＳ Ｐゴシック" panose="020B0600070205080204" pitchFamily="34" charset="-128"/>
              </a:rPr>
              <a:t>  class distribution are preferred</a:t>
            </a:r>
          </a:p>
          <a:p>
            <a:pPr lvl="4"/>
            <a:endParaRPr lang="en-US" altLang="it-IT">
              <a:ea typeface="ＭＳ Ｐゴシック" panose="020B0600070205080204" pitchFamily="34" charset="-128"/>
            </a:endParaRPr>
          </a:p>
          <a:p>
            <a:r>
              <a:rPr lang="en-US" altLang="it-IT">
                <a:ea typeface="ＭＳ Ｐゴシック" panose="020B0600070205080204" pitchFamily="34" charset="-128"/>
              </a:rPr>
              <a:t>Need a measure of node impurity:</a:t>
            </a:r>
          </a:p>
          <a:p>
            <a:pPr lvl="1">
              <a:buFont typeface="Arial" panose="020B0604020202020204" pitchFamily="34" charset="0"/>
              <a:buNone/>
            </a:pPr>
            <a:endParaRPr lang="en-US" altLang="it-IT">
              <a:ea typeface="ＭＳ Ｐゴシック" panose="020B0600070205080204" pitchFamily="34" charset="-128"/>
            </a:endParaRPr>
          </a:p>
        </p:txBody>
      </p:sp>
      <p:graphicFrame>
        <p:nvGraphicFramePr>
          <p:cNvPr id="53251" name="Object 6">
            <a:extLst>
              <a:ext uri="{FF2B5EF4-FFF2-40B4-BE49-F238E27FC236}">
                <a16:creationId xmlns:a16="http://schemas.microsoft.com/office/drawing/2014/main" id="{6E99AB13-90FE-5E4F-9516-4F02D788A6E2}"/>
              </a:ext>
            </a:extLst>
          </p:cNvPr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3733801" y="4038601"/>
          <a:ext cx="912813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60400" imgH="596900" progId="Visio.Drawing.6">
                  <p:embed/>
                </p:oleObj>
              </mc:Choice>
              <mc:Fallback>
                <p:oleObj name="Visio" r:id="rId2" imgW="660400" imgH="596900" progId="Visio.Drawing.6">
                  <p:embed/>
                  <p:pic>
                    <p:nvPicPr>
                      <p:cNvPr id="53251" name="Object 6">
                        <a:extLst>
                          <a:ext uri="{FF2B5EF4-FFF2-40B4-BE49-F238E27FC236}">
                            <a16:creationId xmlns:a16="http://schemas.microsoft.com/office/drawing/2014/main" id="{6E99AB13-90FE-5E4F-9516-4F02D788A6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4038601"/>
                        <a:ext cx="912813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2" name="Object 10">
            <a:extLst>
              <a:ext uri="{FF2B5EF4-FFF2-40B4-BE49-F238E27FC236}">
                <a16:creationId xmlns:a16="http://schemas.microsoft.com/office/drawing/2014/main" id="{03A39DD5-8C61-F447-BD10-108E1F467D5A}"/>
              </a:ext>
            </a:extLst>
          </p:cNvPr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7239001" y="4038601"/>
          <a:ext cx="912813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660400" imgH="596900" progId="Visio.Drawing.6">
                  <p:embed/>
                </p:oleObj>
              </mc:Choice>
              <mc:Fallback>
                <p:oleObj name="Visio" r:id="rId4" imgW="660400" imgH="596900" progId="Visio.Drawing.6">
                  <p:embed/>
                  <p:pic>
                    <p:nvPicPr>
                      <p:cNvPr id="53252" name="Object 10">
                        <a:extLst>
                          <a:ext uri="{FF2B5EF4-FFF2-40B4-BE49-F238E27FC236}">
                            <a16:creationId xmlns:a16="http://schemas.microsoft.com/office/drawing/2014/main" id="{03A39DD5-8C61-F447-BD10-108E1F467D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1" y="4038601"/>
                        <a:ext cx="912813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3" name="Text Box 12">
            <a:extLst>
              <a:ext uri="{FF2B5EF4-FFF2-40B4-BE49-F238E27FC236}">
                <a16:creationId xmlns:a16="http://schemas.microsoft.com/office/drawing/2014/main" id="{4A9E3DC1-809D-D54B-8BE4-1405243759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5029201"/>
            <a:ext cx="2819400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/>
              <a:t>High degree of impurity,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/>
              <a:t>Non-homogeneous</a:t>
            </a:r>
          </a:p>
        </p:txBody>
      </p:sp>
      <p:sp>
        <p:nvSpPr>
          <p:cNvPr id="53254" name="Text Box 13">
            <a:extLst>
              <a:ext uri="{FF2B5EF4-FFF2-40B4-BE49-F238E27FC236}">
                <a16:creationId xmlns:a16="http://schemas.microsoft.com/office/drawing/2014/main" id="{AA7F3D6E-BF3B-5040-B490-6FD05ED650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5029201"/>
            <a:ext cx="2819400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/>
              <a:t>Low degree of impurity,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/>
              <a:t>Homogeneous</a:t>
            </a:r>
          </a:p>
        </p:txBody>
      </p:sp>
    </p:spTree>
    <p:extLst>
      <p:ext uri="{BB962C8B-B14F-4D97-AF65-F5344CB8AC3E}">
        <p14:creationId xmlns:p14="http://schemas.microsoft.com/office/powerpoint/2010/main" val="19678832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0ED4A050-6733-964A-A2BD-3A1DBBCF9D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Measures of Node Impurity</a:t>
            </a:r>
          </a:p>
        </p:txBody>
      </p:sp>
      <p:sp>
        <p:nvSpPr>
          <p:cNvPr id="54274" name="Rectangle 3">
            <a:extLst>
              <a:ext uri="{FF2B5EF4-FFF2-40B4-BE49-F238E27FC236}">
                <a16:creationId xmlns:a16="http://schemas.microsoft.com/office/drawing/2014/main" id="{7A1BAD47-F6C9-3C4E-BF48-51685898C1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r>
              <a:rPr lang="en-US" altLang="it-IT" dirty="0">
                <a:ea typeface="ＭＳ Ｐゴシック" panose="020B0600070205080204" pitchFamily="34" charset="-128"/>
              </a:rPr>
              <a:t>Gini Index </a:t>
            </a:r>
          </a:p>
          <a:p>
            <a:endParaRPr lang="en-US" altLang="it-IT" dirty="0">
              <a:ea typeface="ＭＳ Ｐゴシック" panose="020B0600070205080204" pitchFamily="34" charset="-128"/>
            </a:endParaRPr>
          </a:p>
          <a:p>
            <a:endParaRPr lang="en-US" altLang="it-IT" dirty="0">
              <a:ea typeface="ＭＳ Ｐゴシック" panose="020B0600070205080204" pitchFamily="34" charset="-128"/>
            </a:endParaRPr>
          </a:p>
          <a:p>
            <a:r>
              <a:rPr lang="en-US" altLang="it-IT" dirty="0">
                <a:ea typeface="ＭＳ Ｐゴシック" panose="020B0600070205080204" pitchFamily="34" charset="-128"/>
              </a:rPr>
              <a:t>Entropy</a:t>
            </a:r>
          </a:p>
          <a:p>
            <a:endParaRPr lang="en-US" altLang="it-IT" dirty="0">
              <a:ea typeface="ＭＳ Ｐゴシック" panose="020B0600070205080204" pitchFamily="34" charset="-128"/>
            </a:endParaRPr>
          </a:p>
          <a:p>
            <a:endParaRPr lang="en-US" altLang="it-IT" dirty="0">
              <a:ea typeface="ＭＳ Ｐゴシック" panose="020B0600070205080204" pitchFamily="34" charset="-128"/>
            </a:endParaRPr>
          </a:p>
          <a:p>
            <a:r>
              <a:rPr lang="en-US" altLang="it-IT" dirty="0">
                <a:ea typeface="ＭＳ Ｐゴシック" panose="020B0600070205080204" pitchFamily="34" charset="-128"/>
              </a:rPr>
              <a:t>Misclassification Error</a:t>
            </a:r>
          </a:p>
          <a:p>
            <a:endParaRPr lang="en-US" altLang="it-IT" dirty="0">
              <a:ea typeface="ＭＳ Ｐゴシック" panose="020B0600070205080204" pitchFamily="34" charset="-128"/>
            </a:endParaRPr>
          </a:p>
          <a:p>
            <a:r>
              <a:rPr lang="en-US" altLang="it-IT" dirty="0">
                <a:ea typeface="ＭＳ Ｐゴシック" panose="020B0600070205080204" pitchFamily="34" charset="-128"/>
              </a:rPr>
              <a:t>Where t is the dataset at node and J varies on the classes (es. pos, neg)</a:t>
            </a:r>
          </a:p>
          <a:p>
            <a:r>
              <a:rPr lang="en-US" altLang="it-IT" dirty="0">
                <a:ea typeface="ＭＳ Ｐゴシック" panose="020B0600070205080204" pitchFamily="34" charset="-128"/>
              </a:rPr>
              <a:t>(NOTE: </a:t>
            </a:r>
            <a:r>
              <a:rPr lang="en-US" altLang="it-IT" i="1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p( j | t) </a:t>
            </a:r>
            <a:r>
              <a:rPr lang="en-US" altLang="it-IT" dirty="0">
                <a:ea typeface="ＭＳ Ｐゴシック" panose="020B0600070205080204" pitchFamily="34" charset="-128"/>
              </a:rPr>
              <a:t>is the relative frequency of class j at node t).</a:t>
            </a:r>
          </a:p>
        </p:txBody>
      </p:sp>
      <p:graphicFrame>
        <p:nvGraphicFramePr>
          <p:cNvPr id="54275" name="Object 4">
            <a:extLst>
              <a:ext uri="{FF2B5EF4-FFF2-40B4-BE49-F238E27FC236}">
                <a16:creationId xmlns:a16="http://schemas.microsoft.com/office/drawing/2014/main" id="{19C963BF-9280-6A4F-8EDE-1104C39BEDEF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153476578"/>
              </p:ext>
            </p:extLst>
          </p:nvPr>
        </p:nvGraphicFramePr>
        <p:xfrm>
          <a:off x="4919497" y="1690688"/>
          <a:ext cx="37338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160200" imgH="8191500" progId="Equation.3">
                  <p:embed/>
                </p:oleObj>
              </mc:Choice>
              <mc:Fallback>
                <p:oleObj name="Equation" r:id="rId2" imgW="37160200" imgH="8191500" progId="Equation.3">
                  <p:embed/>
                  <p:pic>
                    <p:nvPicPr>
                      <p:cNvPr id="54275" name="Object 4">
                        <a:extLst>
                          <a:ext uri="{FF2B5EF4-FFF2-40B4-BE49-F238E27FC236}">
                            <a16:creationId xmlns:a16="http://schemas.microsoft.com/office/drawing/2014/main" id="{19C963BF-9280-6A4F-8EDE-1104C39BED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9497" y="1690688"/>
                        <a:ext cx="3733800" cy="8239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6" name="Object 6">
            <a:extLst>
              <a:ext uri="{FF2B5EF4-FFF2-40B4-BE49-F238E27FC236}">
                <a16:creationId xmlns:a16="http://schemas.microsoft.com/office/drawing/2014/main" id="{04BB6FF5-7290-D649-A903-49982AA3EB60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855714474"/>
              </p:ext>
            </p:extLst>
          </p:nvPr>
        </p:nvGraphicFramePr>
        <p:xfrm>
          <a:off x="4856122" y="3113087"/>
          <a:ext cx="594360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5961200" imgH="10236200" progId="Equation.3">
                  <p:embed/>
                </p:oleObj>
              </mc:Choice>
              <mc:Fallback>
                <p:oleObj name="Equation" r:id="rId4" imgW="95961200" imgH="10236200" progId="Equation.3">
                  <p:embed/>
                  <p:pic>
                    <p:nvPicPr>
                      <p:cNvPr id="54276" name="Object 6">
                        <a:extLst>
                          <a:ext uri="{FF2B5EF4-FFF2-40B4-BE49-F238E27FC236}">
                            <a16:creationId xmlns:a16="http://schemas.microsoft.com/office/drawing/2014/main" id="{04BB6FF5-7290-D649-A903-49982AA3EB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6122" y="3113087"/>
                        <a:ext cx="5943600" cy="6318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7" name="Object 8">
            <a:extLst>
              <a:ext uri="{FF2B5EF4-FFF2-40B4-BE49-F238E27FC236}">
                <a16:creationId xmlns:a16="http://schemas.microsoft.com/office/drawing/2014/main" id="{54A07CBA-F2FA-E147-AC00-1747EF270C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2262736"/>
              </p:ext>
            </p:extLst>
          </p:nvPr>
        </p:nvGraphicFramePr>
        <p:xfrm>
          <a:off x="4919497" y="4441824"/>
          <a:ext cx="44958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0802500" imgH="9359900" progId="Equation.3">
                  <p:embed/>
                </p:oleObj>
              </mc:Choice>
              <mc:Fallback>
                <p:oleObj name="Equation" r:id="rId6" imgW="70802500" imgH="9359900" progId="Equation.3">
                  <p:embed/>
                  <p:pic>
                    <p:nvPicPr>
                      <p:cNvPr id="54277" name="Object 8">
                        <a:extLst>
                          <a:ext uri="{FF2B5EF4-FFF2-40B4-BE49-F238E27FC236}">
                            <a16:creationId xmlns:a16="http://schemas.microsoft.com/office/drawing/2014/main" id="{54A07CBA-F2FA-E147-AC00-1747EF270C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9497" y="4441824"/>
                        <a:ext cx="4495800" cy="590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711921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C8BA01C1-99FB-BE40-85DD-5C0B7487F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Comparison among Impurity Measures</a:t>
            </a:r>
          </a:p>
        </p:txBody>
      </p:sp>
      <p:pic>
        <p:nvPicPr>
          <p:cNvPr id="79874" name="Picture 3">
            <a:extLst>
              <a:ext uri="{FF2B5EF4-FFF2-40B4-BE49-F238E27FC236}">
                <a16:creationId xmlns:a16="http://schemas.microsoft.com/office/drawing/2014/main" id="{570967FF-A477-5540-9494-4F858267B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538" y="2300288"/>
            <a:ext cx="4521200" cy="339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5" name="Text Box 4">
            <a:extLst>
              <a:ext uri="{FF2B5EF4-FFF2-40B4-BE49-F238E27FC236}">
                <a16:creationId xmlns:a16="http://schemas.microsoft.com/office/drawing/2014/main" id="{133E690B-050F-714F-8C33-8FAB638F50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6338" y="1690688"/>
            <a:ext cx="472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400"/>
              <a:t>For a 2-class problem: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50667D73-F621-1D46-B128-FE5FD65B2906}"/>
              </a:ext>
            </a:extLst>
          </p:cNvPr>
          <p:cNvSpPr/>
          <p:nvPr/>
        </p:nvSpPr>
        <p:spPr>
          <a:xfrm>
            <a:off x="5391538" y="2605089"/>
            <a:ext cx="5334000" cy="28622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Consistency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among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the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impurity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measures</a:t>
            </a:r>
            <a:endParaRPr lang="it-IT" sz="20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if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a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node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N1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has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lower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entropy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than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node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N2,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then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the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Gini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index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and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error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rate of N1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will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also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be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lower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than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that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of N2</a:t>
            </a:r>
          </a:p>
          <a:p>
            <a:pPr marL="285750" indent="-285750">
              <a:buFont typeface="Arial"/>
              <a:buChar char="•"/>
              <a:defRPr/>
            </a:pPr>
            <a:endParaRPr lang="it-IT" sz="20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defRPr/>
            </a:pPr>
            <a:endParaRPr lang="it-IT" sz="2000" dirty="0">
              <a:solidFill>
                <a:srgbClr val="FF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defRPr/>
            </a:pPr>
            <a:r>
              <a:rPr lang="it-IT" sz="2000" dirty="0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The </a:t>
            </a:r>
            <a:r>
              <a:rPr lang="it-IT" sz="2000" dirty="0" err="1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attribute</a:t>
            </a:r>
            <a:r>
              <a:rPr lang="it-IT" sz="2000" dirty="0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000" dirty="0" err="1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chosen</a:t>
            </a:r>
            <a:r>
              <a:rPr lang="it-IT" sz="2000" dirty="0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000" dirty="0" err="1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as</a:t>
            </a:r>
            <a:r>
              <a:rPr lang="it-IT" sz="2000" dirty="0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000" dirty="0" err="1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splitting</a:t>
            </a:r>
            <a:r>
              <a:rPr lang="it-IT" sz="2000" dirty="0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000" dirty="0" err="1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criterion</a:t>
            </a:r>
            <a:r>
              <a:rPr lang="it-IT" sz="2000" dirty="0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 by the </a:t>
            </a:r>
            <a:r>
              <a:rPr lang="it-IT" sz="2000" dirty="0" err="1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impurity</a:t>
            </a:r>
            <a:r>
              <a:rPr lang="it-IT" sz="2000" dirty="0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000" dirty="0" err="1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measures</a:t>
            </a:r>
            <a:r>
              <a:rPr lang="it-IT" sz="2000" dirty="0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 can </a:t>
            </a:r>
            <a:r>
              <a:rPr lang="it-IT" sz="2000" dirty="0" err="1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still</a:t>
            </a:r>
            <a:r>
              <a:rPr lang="it-IT" sz="2000" dirty="0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 be </a:t>
            </a:r>
            <a:r>
              <a:rPr lang="it-IT" sz="2000" dirty="0" err="1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different</a:t>
            </a:r>
            <a:r>
              <a:rPr lang="it-IT" sz="2000" dirty="0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!</a:t>
            </a:r>
          </a:p>
          <a:p>
            <a:pPr>
              <a:defRPr/>
            </a:pPr>
            <a:endParaRPr lang="it-IT" sz="2000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78504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EB705C-3076-F341-BF93-3FFDEA9B5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Best Split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544FF30-D45F-004D-AB19-5E302B505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04984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Compute impurity measure (P) before splitting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 impurity measure (M) after splitting</a:t>
            </a:r>
          </a:p>
          <a:p>
            <a:pPr lvl="1"/>
            <a:r>
              <a:rPr lang="en-US" dirty="0"/>
              <a:t>Compute impurity measure of each child node</a:t>
            </a:r>
          </a:p>
          <a:p>
            <a:pPr lvl="1"/>
            <a:r>
              <a:rPr lang="en-US" dirty="0"/>
              <a:t>M is the weighted impurity of children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Choose the attribute test condition that produces the highest gain (Gain = P-M) or equivalently, lowest impurity measure after splitting (M)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56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E3FC7451-AADB-E340-ABF9-1129E8E37F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Finding the Best Split</a:t>
            </a:r>
          </a:p>
        </p:txBody>
      </p:sp>
      <p:sp>
        <p:nvSpPr>
          <p:cNvPr id="56322" name="Oval 4">
            <a:extLst>
              <a:ext uri="{FF2B5EF4-FFF2-40B4-BE49-F238E27FC236}">
                <a16:creationId xmlns:a16="http://schemas.microsoft.com/office/drawing/2014/main" id="{7057C665-639B-854A-9219-B9C8C7FB1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7065" y="2267340"/>
            <a:ext cx="1009650" cy="454025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>
                <a:latin typeface="Times New Roman" panose="02020603050405020304" pitchFamily="18" charset="0"/>
              </a:rPr>
              <a:t>B?</a:t>
            </a:r>
            <a:endParaRPr lang="en-US" altLang="it-IT" sz="2400">
              <a:latin typeface="Times New Roman" panose="02020603050405020304" pitchFamily="18" charset="0"/>
            </a:endParaRPr>
          </a:p>
        </p:txBody>
      </p:sp>
      <p:sp>
        <p:nvSpPr>
          <p:cNvPr id="56323" name="Line 5">
            <a:extLst>
              <a:ext uri="{FF2B5EF4-FFF2-40B4-BE49-F238E27FC236}">
                <a16:creationId xmlns:a16="http://schemas.microsoft.com/office/drawing/2014/main" id="{1562A8E5-82B7-F24E-971D-331BE5BC0C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02391" y="2724539"/>
            <a:ext cx="1108075" cy="725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24" name="Line 6">
            <a:extLst>
              <a:ext uri="{FF2B5EF4-FFF2-40B4-BE49-F238E27FC236}">
                <a16:creationId xmlns:a16="http://schemas.microsoft.com/office/drawing/2014/main" id="{A51AED5F-3BB8-6547-88A1-AADE69AEEFF1}"/>
              </a:ext>
            </a:extLst>
          </p:cNvPr>
          <p:cNvSpPr>
            <a:spLocks noChangeShapeType="1"/>
          </p:cNvSpPr>
          <p:nvPr/>
        </p:nvSpPr>
        <p:spPr bwMode="auto">
          <a:xfrm>
            <a:off x="8310466" y="2724539"/>
            <a:ext cx="1184275" cy="725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25" name="Text Box 7">
            <a:extLst>
              <a:ext uri="{FF2B5EF4-FFF2-40B4-BE49-F238E27FC236}">
                <a16:creationId xmlns:a16="http://schemas.microsoft.com/office/drawing/2014/main" id="{4CB8FD85-7184-F842-888E-2C36962027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9340" y="2840427"/>
            <a:ext cx="539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56326" name="Text Box 8">
            <a:extLst>
              <a:ext uri="{FF2B5EF4-FFF2-40B4-BE49-F238E27FC236}">
                <a16:creationId xmlns:a16="http://schemas.microsoft.com/office/drawing/2014/main" id="{54ECE553-825B-E14F-A7A4-005D238B6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18540" y="2840427"/>
            <a:ext cx="463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56327" name="Rectangle 9">
            <a:extLst>
              <a:ext uri="{FF2B5EF4-FFF2-40B4-BE49-F238E27FC236}">
                <a16:creationId xmlns:a16="http://schemas.microsoft.com/office/drawing/2014/main" id="{FDBD3DAD-AEE8-884B-AF12-95D2E1DEF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6466" y="3450027"/>
            <a:ext cx="936625" cy="3413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>
                <a:latin typeface="Times New Roman" panose="02020603050405020304" pitchFamily="18" charset="0"/>
              </a:rPr>
              <a:t>Node N3</a:t>
            </a:r>
          </a:p>
        </p:txBody>
      </p:sp>
      <p:sp>
        <p:nvSpPr>
          <p:cNvPr id="56328" name="Rectangle 10">
            <a:extLst>
              <a:ext uri="{FF2B5EF4-FFF2-40B4-BE49-F238E27FC236}">
                <a16:creationId xmlns:a16="http://schemas.microsoft.com/office/drawing/2014/main" id="{4A42149B-B298-6D43-8786-DE90EE7D4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4041" y="3450027"/>
            <a:ext cx="936625" cy="3413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>
                <a:latin typeface="Times New Roman" panose="02020603050405020304" pitchFamily="18" charset="0"/>
              </a:rPr>
              <a:t>Node N4</a:t>
            </a:r>
          </a:p>
        </p:txBody>
      </p:sp>
      <p:sp>
        <p:nvSpPr>
          <p:cNvPr id="56329" name="Oval 11">
            <a:extLst>
              <a:ext uri="{FF2B5EF4-FFF2-40B4-BE49-F238E27FC236}">
                <a16:creationId xmlns:a16="http://schemas.microsoft.com/office/drawing/2014/main" id="{8903FF28-2777-6B4F-A420-B38F4EB4E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7865" y="2191140"/>
            <a:ext cx="1009650" cy="454025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>
                <a:latin typeface="Times New Roman" panose="02020603050405020304" pitchFamily="18" charset="0"/>
              </a:rPr>
              <a:t>A?</a:t>
            </a:r>
            <a:endParaRPr lang="en-US" altLang="it-IT" sz="2400">
              <a:latin typeface="Times New Roman" panose="02020603050405020304" pitchFamily="18" charset="0"/>
            </a:endParaRPr>
          </a:p>
        </p:txBody>
      </p:sp>
      <p:sp>
        <p:nvSpPr>
          <p:cNvPr id="56330" name="Line 12">
            <a:extLst>
              <a:ext uri="{FF2B5EF4-FFF2-40B4-BE49-F238E27FC236}">
                <a16:creationId xmlns:a16="http://schemas.microsoft.com/office/drawing/2014/main" id="{62A1B930-65C4-1A4A-91D5-AB4A4B9F66B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73191" y="2648339"/>
            <a:ext cx="1108075" cy="725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31" name="Line 13">
            <a:extLst>
              <a:ext uri="{FF2B5EF4-FFF2-40B4-BE49-F238E27FC236}">
                <a16:creationId xmlns:a16="http://schemas.microsoft.com/office/drawing/2014/main" id="{1E6BAB33-7E15-1D4D-AD8C-B5366060BA9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1266" y="2648339"/>
            <a:ext cx="1184275" cy="725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32" name="Text Box 14">
            <a:extLst>
              <a:ext uri="{FF2B5EF4-FFF2-40B4-BE49-F238E27FC236}">
                <a16:creationId xmlns:a16="http://schemas.microsoft.com/office/drawing/2014/main" id="{24ECEA7A-B45D-8445-B596-A841EF4E91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0140" y="2764227"/>
            <a:ext cx="539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56333" name="Text Box 15">
            <a:extLst>
              <a:ext uri="{FF2B5EF4-FFF2-40B4-BE49-F238E27FC236}">
                <a16:creationId xmlns:a16="http://schemas.microsoft.com/office/drawing/2014/main" id="{19B57F79-E85A-B644-93AB-D2A18E5A98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9340" y="2764227"/>
            <a:ext cx="463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56334" name="Rectangle 16">
            <a:extLst>
              <a:ext uri="{FF2B5EF4-FFF2-40B4-BE49-F238E27FC236}">
                <a16:creationId xmlns:a16="http://schemas.microsoft.com/office/drawing/2014/main" id="{6C0D13DA-1AD7-A54F-B1CD-6ADF3D3C8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7266" y="3373827"/>
            <a:ext cx="936625" cy="3413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>
                <a:latin typeface="Times New Roman" panose="02020603050405020304" pitchFamily="18" charset="0"/>
              </a:rPr>
              <a:t>Node N1</a:t>
            </a:r>
          </a:p>
        </p:txBody>
      </p:sp>
      <p:sp>
        <p:nvSpPr>
          <p:cNvPr id="56335" name="Rectangle 17">
            <a:extLst>
              <a:ext uri="{FF2B5EF4-FFF2-40B4-BE49-F238E27FC236}">
                <a16:creationId xmlns:a16="http://schemas.microsoft.com/office/drawing/2014/main" id="{84985133-60F7-9C48-AAB8-C022999D5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4841" y="3373827"/>
            <a:ext cx="936625" cy="3413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>
                <a:latin typeface="Times New Roman" panose="02020603050405020304" pitchFamily="18" charset="0"/>
              </a:rPr>
              <a:t>Node N2</a:t>
            </a:r>
          </a:p>
        </p:txBody>
      </p:sp>
      <p:sp>
        <p:nvSpPr>
          <p:cNvPr id="56336" name="Text Box 18">
            <a:extLst>
              <a:ext uri="{FF2B5EF4-FFF2-40B4-BE49-F238E27FC236}">
                <a16:creationId xmlns:a16="http://schemas.microsoft.com/office/drawing/2014/main" id="{B2CDB3CA-1465-AA46-8C41-B792D775E2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5065" y="1505340"/>
            <a:ext cx="1981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/>
              <a:t>Before Splitting:</a:t>
            </a:r>
          </a:p>
        </p:txBody>
      </p:sp>
      <p:graphicFrame>
        <p:nvGraphicFramePr>
          <p:cNvPr id="56337" name="Object 20">
            <a:extLst>
              <a:ext uri="{FF2B5EF4-FFF2-40B4-BE49-F238E27FC236}">
                <a16:creationId xmlns:a16="http://schemas.microsoft.com/office/drawing/2014/main" id="{40F1F1CB-B9ED-BE4A-B413-678ED5BEBCF7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0813042"/>
              </p:ext>
            </p:extLst>
          </p:nvPr>
        </p:nvGraphicFramePr>
        <p:xfrm>
          <a:off x="1381029" y="4019939"/>
          <a:ext cx="1665287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327400" imgH="1397000" progId="Word.Document.8">
                  <p:embed/>
                </p:oleObj>
              </mc:Choice>
              <mc:Fallback>
                <p:oleObj name="Document" r:id="rId2" imgW="3327400" imgH="1397000" progId="Word.Document.8">
                  <p:embed/>
                  <p:pic>
                    <p:nvPicPr>
                      <p:cNvPr id="56337" name="Object 20">
                        <a:extLst>
                          <a:ext uri="{FF2B5EF4-FFF2-40B4-BE49-F238E27FC236}">
                            <a16:creationId xmlns:a16="http://schemas.microsoft.com/office/drawing/2014/main" id="{40F1F1CB-B9ED-BE4A-B413-678ED5BEBC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1029" y="4019939"/>
                        <a:ext cx="1665287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8" name="Object 27">
            <a:extLst>
              <a:ext uri="{FF2B5EF4-FFF2-40B4-BE49-F238E27FC236}">
                <a16:creationId xmlns:a16="http://schemas.microsoft.com/office/drawing/2014/main" id="{78557BE3-8476-0C49-A71B-CEFF2B9BD7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9139821"/>
              </p:ext>
            </p:extLst>
          </p:nvPr>
        </p:nvGraphicFramePr>
        <p:xfrm>
          <a:off x="3667028" y="4024703"/>
          <a:ext cx="1636712" cy="68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327400" imgH="1397000" progId="Word.Document.8">
                  <p:embed/>
                </p:oleObj>
              </mc:Choice>
              <mc:Fallback>
                <p:oleObj name="Document" r:id="rId4" imgW="3327400" imgH="1397000" progId="Word.Document.8">
                  <p:embed/>
                  <p:pic>
                    <p:nvPicPr>
                      <p:cNvPr id="56338" name="Object 27">
                        <a:extLst>
                          <a:ext uri="{FF2B5EF4-FFF2-40B4-BE49-F238E27FC236}">
                            <a16:creationId xmlns:a16="http://schemas.microsoft.com/office/drawing/2014/main" id="{78557BE3-8476-0C49-A71B-CEFF2B9BD7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7028" y="4024703"/>
                        <a:ext cx="1636712" cy="681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9" name="Object 28">
            <a:extLst>
              <a:ext uri="{FF2B5EF4-FFF2-40B4-BE49-F238E27FC236}">
                <a16:creationId xmlns:a16="http://schemas.microsoft.com/office/drawing/2014/main" id="{E2B612E7-9F46-DB47-B93D-E57C3C282F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4943885"/>
              </p:ext>
            </p:extLst>
          </p:nvPr>
        </p:nvGraphicFramePr>
        <p:xfrm>
          <a:off x="6410228" y="4024703"/>
          <a:ext cx="1636712" cy="68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3340100" imgH="1397000" progId="Word.Document.8">
                  <p:embed/>
                </p:oleObj>
              </mc:Choice>
              <mc:Fallback>
                <p:oleObj name="Document" r:id="rId6" imgW="3340100" imgH="1397000" progId="Word.Document.8">
                  <p:embed/>
                  <p:pic>
                    <p:nvPicPr>
                      <p:cNvPr id="56339" name="Object 28">
                        <a:extLst>
                          <a:ext uri="{FF2B5EF4-FFF2-40B4-BE49-F238E27FC236}">
                            <a16:creationId xmlns:a16="http://schemas.microsoft.com/office/drawing/2014/main" id="{E2B612E7-9F46-DB47-B93D-E57C3C282F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0228" y="4024703"/>
                        <a:ext cx="1636712" cy="681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0" name="Object 29">
            <a:extLst>
              <a:ext uri="{FF2B5EF4-FFF2-40B4-BE49-F238E27FC236}">
                <a16:creationId xmlns:a16="http://schemas.microsoft.com/office/drawing/2014/main" id="{85819AFF-9A76-9844-9343-93FE567684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0630576"/>
              </p:ext>
            </p:extLst>
          </p:nvPr>
        </p:nvGraphicFramePr>
        <p:xfrm>
          <a:off x="8696229" y="4024702"/>
          <a:ext cx="1595437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3352800" imgH="1397000" progId="Word.Document.8">
                  <p:embed/>
                </p:oleObj>
              </mc:Choice>
              <mc:Fallback>
                <p:oleObj name="Document" r:id="rId8" imgW="3352800" imgH="1397000" progId="Word.Document.8">
                  <p:embed/>
                  <p:pic>
                    <p:nvPicPr>
                      <p:cNvPr id="56340" name="Object 29">
                        <a:extLst>
                          <a:ext uri="{FF2B5EF4-FFF2-40B4-BE49-F238E27FC236}">
                            <a16:creationId xmlns:a16="http://schemas.microsoft.com/office/drawing/2014/main" id="{85819AFF-9A76-9844-9343-93FE567684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96229" y="4024702"/>
                        <a:ext cx="1595437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1" name="Object 33">
            <a:extLst>
              <a:ext uri="{FF2B5EF4-FFF2-40B4-BE49-F238E27FC236}">
                <a16:creationId xmlns:a16="http://schemas.microsoft.com/office/drawing/2014/main" id="{6185DEF0-2779-A84F-9108-A5F6FF2801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4079185"/>
              </p:ext>
            </p:extLst>
          </p:nvPr>
        </p:nvGraphicFramePr>
        <p:xfrm>
          <a:off x="5262465" y="1505339"/>
          <a:ext cx="1595438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3340100" imgH="1397000" progId="Word.Document.8">
                  <p:embed/>
                </p:oleObj>
              </mc:Choice>
              <mc:Fallback>
                <p:oleObj name="Document" r:id="rId10" imgW="3340100" imgH="1397000" progId="Word.Document.8">
                  <p:embed/>
                  <p:pic>
                    <p:nvPicPr>
                      <p:cNvPr id="56341" name="Object 33">
                        <a:extLst>
                          <a:ext uri="{FF2B5EF4-FFF2-40B4-BE49-F238E27FC236}">
                            <a16:creationId xmlns:a16="http://schemas.microsoft.com/office/drawing/2014/main" id="{6185DEF0-2779-A84F-9108-A5F6FF2801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2465" y="1505339"/>
                        <a:ext cx="1595438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4722" name="Group 50">
            <a:extLst>
              <a:ext uri="{FF2B5EF4-FFF2-40B4-BE49-F238E27FC236}">
                <a16:creationId xmlns:a16="http://schemas.microsoft.com/office/drawing/2014/main" id="{66E3308F-8521-944C-994A-FEDF18D31577}"/>
              </a:ext>
            </a:extLst>
          </p:cNvPr>
          <p:cNvGrpSpPr>
            <a:grpSpLocks/>
          </p:cNvGrpSpPr>
          <p:nvPr/>
        </p:nvGrpSpPr>
        <p:grpSpPr bwMode="auto">
          <a:xfrm>
            <a:off x="7015065" y="1505340"/>
            <a:ext cx="1295400" cy="396875"/>
            <a:chOff x="3600" y="768"/>
            <a:chExt cx="816" cy="250"/>
          </a:xfrm>
        </p:grpSpPr>
        <p:sp>
          <p:nvSpPr>
            <p:cNvPr id="56361" name="Line 34">
              <a:extLst>
                <a:ext uri="{FF2B5EF4-FFF2-40B4-BE49-F238E27FC236}">
                  <a16:creationId xmlns:a16="http://schemas.microsoft.com/office/drawing/2014/main" id="{1910ECEC-11E0-B641-B354-1393A9471C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912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62" name="Text Box 35">
              <a:extLst>
                <a:ext uri="{FF2B5EF4-FFF2-40B4-BE49-F238E27FC236}">
                  <a16:creationId xmlns:a16="http://schemas.microsoft.com/office/drawing/2014/main" id="{791C95FB-33F7-E04C-B4FF-CD3A333F11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768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it-IT" sz="2000" dirty="0"/>
                <a:t>P</a:t>
              </a:r>
            </a:p>
          </p:txBody>
        </p:sp>
      </p:grpSp>
      <p:grpSp>
        <p:nvGrpSpPr>
          <p:cNvPr id="924720" name="Group 48">
            <a:extLst>
              <a:ext uri="{FF2B5EF4-FFF2-40B4-BE49-F238E27FC236}">
                <a16:creationId xmlns:a16="http://schemas.microsoft.com/office/drawing/2014/main" id="{D4FF34AC-809E-DE4F-8577-EB7A70853B93}"/>
              </a:ext>
            </a:extLst>
          </p:cNvPr>
          <p:cNvGrpSpPr>
            <a:grpSpLocks/>
          </p:cNvGrpSpPr>
          <p:nvPr/>
        </p:nvGrpSpPr>
        <p:grpSpPr bwMode="auto">
          <a:xfrm>
            <a:off x="1909665" y="4781940"/>
            <a:ext cx="8001000" cy="854075"/>
            <a:chOff x="384" y="2832"/>
            <a:chExt cx="5040" cy="538"/>
          </a:xfrm>
        </p:grpSpPr>
        <p:sp>
          <p:nvSpPr>
            <p:cNvPr id="56353" name="Text Box 36">
              <a:extLst>
                <a:ext uri="{FF2B5EF4-FFF2-40B4-BE49-F238E27FC236}">
                  <a16:creationId xmlns:a16="http://schemas.microsoft.com/office/drawing/2014/main" id="{1DC6B084-A0F8-C04A-8083-55809EDB34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120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it-IT" sz="2000"/>
                <a:t>M11</a:t>
              </a:r>
            </a:p>
          </p:txBody>
        </p:sp>
        <p:sp>
          <p:nvSpPr>
            <p:cNvPr id="56354" name="Text Box 37">
              <a:extLst>
                <a:ext uri="{FF2B5EF4-FFF2-40B4-BE49-F238E27FC236}">
                  <a16:creationId xmlns:a16="http://schemas.microsoft.com/office/drawing/2014/main" id="{14C058B6-2D13-394E-83D9-F87DED03E4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3110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it-IT" sz="2000"/>
                <a:t>M12</a:t>
              </a:r>
            </a:p>
          </p:txBody>
        </p:sp>
        <p:sp>
          <p:nvSpPr>
            <p:cNvPr id="56355" name="Text Box 38">
              <a:extLst>
                <a:ext uri="{FF2B5EF4-FFF2-40B4-BE49-F238E27FC236}">
                  <a16:creationId xmlns:a16="http://schemas.microsoft.com/office/drawing/2014/main" id="{DBF99F02-07E0-B740-9FE7-76E7D01C83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3110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it-IT" sz="2000"/>
                <a:t>M21</a:t>
              </a:r>
            </a:p>
          </p:txBody>
        </p:sp>
        <p:sp>
          <p:nvSpPr>
            <p:cNvPr id="56356" name="Text Box 39">
              <a:extLst>
                <a:ext uri="{FF2B5EF4-FFF2-40B4-BE49-F238E27FC236}">
                  <a16:creationId xmlns:a16="http://schemas.microsoft.com/office/drawing/2014/main" id="{8C017ED6-6F07-E349-8A85-7442B4E747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2" y="3110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it-IT" sz="2000"/>
                <a:t>M22</a:t>
              </a:r>
            </a:p>
          </p:txBody>
        </p:sp>
        <p:sp>
          <p:nvSpPr>
            <p:cNvPr id="56357" name="Line 40">
              <a:extLst>
                <a:ext uri="{FF2B5EF4-FFF2-40B4-BE49-F238E27FC236}">
                  <a16:creationId xmlns:a16="http://schemas.microsoft.com/office/drawing/2014/main" id="{4FDFF421-B568-4141-9FC7-9FD4B9D208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2832"/>
              <a:ext cx="0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8" name="Line 41">
              <a:extLst>
                <a:ext uri="{FF2B5EF4-FFF2-40B4-BE49-F238E27FC236}">
                  <a16:creationId xmlns:a16="http://schemas.microsoft.com/office/drawing/2014/main" id="{418F6915-CF05-BC41-9F26-9D38748014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832"/>
              <a:ext cx="0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9" name="Line 42">
              <a:extLst>
                <a:ext uri="{FF2B5EF4-FFF2-40B4-BE49-F238E27FC236}">
                  <a16:creationId xmlns:a16="http://schemas.microsoft.com/office/drawing/2014/main" id="{C5FA6EB5-7373-F94C-8E77-34A3540E06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2832"/>
              <a:ext cx="0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60" name="Line 43">
              <a:extLst>
                <a:ext uri="{FF2B5EF4-FFF2-40B4-BE49-F238E27FC236}">
                  <a16:creationId xmlns:a16="http://schemas.microsoft.com/office/drawing/2014/main" id="{8F457B12-FCB0-6B48-8415-71335F5629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2832"/>
              <a:ext cx="0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4721" name="Group 49">
            <a:extLst>
              <a:ext uri="{FF2B5EF4-FFF2-40B4-BE49-F238E27FC236}">
                <a16:creationId xmlns:a16="http://schemas.microsoft.com/office/drawing/2014/main" id="{97A91FA0-57D1-4D4C-8DE2-5318F86D0D5E}"/>
              </a:ext>
            </a:extLst>
          </p:cNvPr>
          <p:cNvGrpSpPr>
            <a:grpSpLocks/>
          </p:cNvGrpSpPr>
          <p:nvPr/>
        </p:nvGrpSpPr>
        <p:grpSpPr bwMode="auto">
          <a:xfrm>
            <a:off x="2062065" y="5696340"/>
            <a:ext cx="7620000" cy="777875"/>
            <a:chOff x="480" y="3408"/>
            <a:chExt cx="4800" cy="490"/>
          </a:xfrm>
        </p:grpSpPr>
        <p:sp>
          <p:nvSpPr>
            <p:cNvPr id="56349" name="AutoShape 44">
              <a:extLst>
                <a:ext uri="{FF2B5EF4-FFF2-40B4-BE49-F238E27FC236}">
                  <a16:creationId xmlns:a16="http://schemas.microsoft.com/office/drawing/2014/main" id="{6F995C4D-6B96-B746-B703-53C927A7F9FD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1152" y="2736"/>
              <a:ext cx="192" cy="1536"/>
            </a:xfrm>
            <a:prstGeom prst="leftBrace">
              <a:avLst>
                <a:gd name="adj1" fmla="val 66667"/>
                <a:gd name="adj2" fmla="val 50963"/>
              </a:avLst>
            </a:prstGeom>
            <a:noFill/>
            <a:ln w="25400">
              <a:solidFill>
                <a:srgbClr val="1C5A6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it-IT" altLang="it-IT" sz="1400"/>
            </a:p>
          </p:txBody>
        </p:sp>
        <p:sp>
          <p:nvSpPr>
            <p:cNvPr id="56350" name="AutoShape 45">
              <a:extLst>
                <a:ext uri="{FF2B5EF4-FFF2-40B4-BE49-F238E27FC236}">
                  <a16:creationId xmlns:a16="http://schemas.microsoft.com/office/drawing/2014/main" id="{47FCB5CB-AB5B-FA4A-A079-20E0B92C944C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4416" y="2736"/>
              <a:ext cx="192" cy="1536"/>
            </a:xfrm>
            <a:prstGeom prst="leftBrace">
              <a:avLst>
                <a:gd name="adj1" fmla="val 66667"/>
                <a:gd name="adj2" fmla="val 50963"/>
              </a:avLst>
            </a:prstGeom>
            <a:noFill/>
            <a:ln w="25400">
              <a:solidFill>
                <a:srgbClr val="1C5A6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it-IT" altLang="it-IT" sz="1400"/>
            </a:p>
          </p:txBody>
        </p:sp>
        <p:sp>
          <p:nvSpPr>
            <p:cNvPr id="56351" name="Text Box 46">
              <a:extLst>
                <a:ext uri="{FF2B5EF4-FFF2-40B4-BE49-F238E27FC236}">
                  <a16:creationId xmlns:a16="http://schemas.microsoft.com/office/drawing/2014/main" id="{6B7D1CA3-A5F5-4A4F-B0A6-4F259D52FA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3638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it-IT" sz="2000"/>
                <a:t>M1</a:t>
              </a:r>
            </a:p>
          </p:txBody>
        </p:sp>
        <p:sp>
          <p:nvSpPr>
            <p:cNvPr id="56352" name="Text Box 47">
              <a:extLst>
                <a:ext uri="{FF2B5EF4-FFF2-40B4-BE49-F238E27FC236}">
                  <a16:creationId xmlns:a16="http://schemas.microsoft.com/office/drawing/2014/main" id="{7CBE4F5D-3B45-F943-94FA-2BA895EE9E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3648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it-IT" sz="2000"/>
                <a:t>M2</a:t>
              </a:r>
            </a:p>
          </p:txBody>
        </p:sp>
      </p:grpSp>
      <p:sp>
        <p:nvSpPr>
          <p:cNvPr id="924723" name="Text Box 51">
            <a:extLst>
              <a:ext uri="{FF2B5EF4-FFF2-40B4-BE49-F238E27FC236}">
                <a16:creationId xmlns:a16="http://schemas.microsoft.com/office/drawing/2014/main" id="{6165621F-8588-FD4D-91FD-E6B755EC67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9465" y="6366265"/>
            <a:ext cx="4038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/>
              <a:t>Gain = P – M1    vs      P – M2</a:t>
            </a:r>
          </a:p>
        </p:txBody>
      </p:sp>
    </p:spTree>
    <p:extLst>
      <p:ext uri="{BB962C8B-B14F-4D97-AF65-F5344CB8AC3E}">
        <p14:creationId xmlns:p14="http://schemas.microsoft.com/office/powerpoint/2010/main" val="3184728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723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4AC9A775-E901-694A-B844-BAE4FA641B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Measure of Impurity: GINI</a:t>
            </a:r>
          </a:p>
        </p:txBody>
      </p:sp>
      <p:sp>
        <p:nvSpPr>
          <p:cNvPr id="57346" name="Rectangle 3">
            <a:extLst>
              <a:ext uri="{FF2B5EF4-FFF2-40B4-BE49-F238E27FC236}">
                <a16:creationId xmlns:a16="http://schemas.microsoft.com/office/drawing/2014/main" id="{164907C7-A563-5E48-AA0E-04F3A7E54B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it-IT" sz="2400" dirty="0">
                <a:ea typeface="ＭＳ Ｐゴシック" panose="020B0600070205080204" pitchFamily="34" charset="-128"/>
              </a:rPr>
              <a:t>Gini Index for a given node </a:t>
            </a:r>
            <a:r>
              <a:rPr lang="en-US" altLang="it-IT" sz="2400" i="1" dirty="0">
                <a:ea typeface="ＭＳ Ｐゴシック" panose="020B0600070205080204" pitchFamily="34" charset="-128"/>
              </a:rPr>
              <a:t>t</a:t>
            </a:r>
            <a:r>
              <a:rPr lang="en-US" altLang="it-IT" sz="2400" dirty="0">
                <a:ea typeface="ＭＳ Ｐゴシック" panose="020B0600070205080204" pitchFamily="34" charset="-128"/>
              </a:rPr>
              <a:t> :</a:t>
            </a:r>
          </a:p>
          <a:p>
            <a:pPr>
              <a:lnSpc>
                <a:spcPct val="90000"/>
              </a:lnSpc>
            </a:pPr>
            <a:endParaRPr lang="en-US" altLang="it-IT" sz="2000" dirty="0">
              <a:ea typeface="ＭＳ Ｐゴシック" panose="020B0600070205080204" pitchFamily="34" charset="-128"/>
            </a:endParaRP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endParaRPr lang="en-US" altLang="it-IT" dirty="0">
              <a:ea typeface="ＭＳ Ｐゴシック" panose="020B0600070205080204" pitchFamily="34" charset="-128"/>
            </a:endParaRP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endParaRPr lang="en-US" altLang="it-IT" sz="800" dirty="0">
              <a:ea typeface="ＭＳ Ｐゴシック" panose="020B0600070205080204" pitchFamily="34" charset="-128"/>
            </a:endParaRP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br>
              <a:rPr lang="en-US" altLang="it-IT" dirty="0">
                <a:ea typeface="ＭＳ Ｐゴシック" panose="020B0600070205080204" pitchFamily="34" charset="-128"/>
              </a:rPr>
            </a:br>
            <a:r>
              <a:rPr lang="en-US" altLang="it-IT" dirty="0">
                <a:ea typeface="ＭＳ Ｐゴシック" panose="020B0600070205080204" pitchFamily="34" charset="-128"/>
              </a:rPr>
              <a:t>(NOTE: </a:t>
            </a:r>
            <a:r>
              <a:rPr lang="en-US" altLang="it-IT" i="1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p( j | t) </a:t>
            </a:r>
            <a:r>
              <a:rPr lang="en-US" altLang="it-IT" dirty="0">
                <a:ea typeface="ＭＳ Ｐゴシック" panose="020B0600070205080204" pitchFamily="34" charset="-128"/>
              </a:rPr>
              <a:t>is the relative frequency of class j at node t).</a:t>
            </a: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endParaRPr lang="en-US" altLang="it-IT" sz="800" dirty="0"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it-IT" dirty="0">
                <a:ea typeface="ＭＳ Ｐゴシック" panose="020B0600070205080204" pitchFamily="34" charset="-128"/>
              </a:rPr>
              <a:t>Maximum (1 - 1/</a:t>
            </a:r>
            <a:r>
              <a:rPr lang="en-US" altLang="it-IT" dirty="0" err="1">
                <a:ea typeface="ＭＳ Ｐゴシック" panose="020B0600070205080204" pitchFamily="34" charset="-128"/>
              </a:rPr>
              <a:t>n</a:t>
            </a:r>
            <a:r>
              <a:rPr lang="en-US" altLang="it-IT" baseline="-25000" dirty="0" err="1">
                <a:ea typeface="ＭＳ Ｐゴシック" panose="020B0600070205080204" pitchFamily="34" charset="-128"/>
              </a:rPr>
              <a:t>c</a:t>
            </a:r>
            <a:r>
              <a:rPr lang="en-US" altLang="it-IT" dirty="0">
                <a:ea typeface="ＭＳ Ｐゴシック" panose="020B0600070205080204" pitchFamily="34" charset="-128"/>
              </a:rPr>
              <a:t>) when records are </a:t>
            </a:r>
            <a:r>
              <a:rPr lang="en-US" altLang="it-IT" b="1" dirty="0">
                <a:ea typeface="ＭＳ Ｐゴシック" panose="020B0600070205080204" pitchFamily="34" charset="-128"/>
              </a:rPr>
              <a:t>equally distributed</a:t>
            </a:r>
            <a:r>
              <a:rPr lang="en-US" altLang="it-IT" dirty="0">
                <a:ea typeface="ＭＳ Ｐゴシック" panose="020B0600070205080204" pitchFamily="34" charset="-128"/>
              </a:rPr>
              <a:t> among all classes, implying </a:t>
            </a:r>
            <a:r>
              <a:rPr lang="en-US" altLang="it-IT" b="1" dirty="0">
                <a:solidFill>
                  <a:schemeClr val="accent1"/>
                </a:solidFill>
                <a:ea typeface="ＭＳ Ｐゴシック" panose="020B0600070205080204" pitchFamily="34" charset="-128"/>
              </a:rPr>
              <a:t>least interesting</a:t>
            </a:r>
            <a:r>
              <a:rPr lang="en-US" altLang="it-IT" dirty="0">
                <a:ea typeface="ＭＳ Ｐゴシック" panose="020B0600070205080204" pitchFamily="34" charset="-128"/>
              </a:rPr>
              <a:t> </a:t>
            </a:r>
            <a:r>
              <a:rPr lang="en-US" altLang="it-IT" b="1" dirty="0">
                <a:solidFill>
                  <a:srgbClr val="FF00FF"/>
                </a:solidFill>
                <a:ea typeface="ＭＳ Ｐゴシック" panose="020B0600070205080204" pitchFamily="34" charset="-128"/>
              </a:rPr>
              <a:t>information</a:t>
            </a:r>
          </a:p>
          <a:p>
            <a:pPr lvl="1">
              <a:lnSpc>
                <a:spcPct val="90000"/>
              </a:lnSpc>
            </a:pPr>
            <a:r>
              <a:rPr lang="en-US" altLang="it-IT" dirty="0">
                <a:ea typeface="ＭＳ Ｐゴシック" panose="020B0600070205080204" pitchFamily="34" charset="-128"/>
              </a:rPr>
              <a:t>Minimum (0.0) when all records belong to one class, implying </a:t>
            </a:r>
            <a:r>
              <a:rPr lang="en-US" altLang="it-IT" b="1" dirty="0">
                <a:solidFill>
                  <a:srgbClr val="FF00FF"/>
                </a:solidFill>
                <a:ea typeface="ＭＳ Ｐゴシック" panose="020B0600070205080204" pitchFamily="34" charset="-128"/>
              </a:rPr>
              <a:t>most interesting information</a:t>
            </a:r>
            <a:endParaRPr lang="en-US" altLang="it-IT" b="1" baseline="-25000" dirty="0">
              <a:solidFill>
                <a:srgbClr val="FF00FF"/>
              </a:solidFill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endParaRPr lang="en-US" altLang="it-IT" baseline="-25000" dirty="0">
              <a:ea typeface="ＭＳ Ｐゴシック" panose="020B0600070205080204" pitchFamily="34" charset="-128"/>
            </a:endParaRPr>
          </a:p>
        </p:txBody>
      </p:sp>
      <p:graphicFrame>
        <p:nvGraphicFramePr>
          <p:cNvPr id="57347" name="Object 4">
            <a:extLst>
              <a:ext uri="{FF2B5EF4-FFF2-40B4-BE49-F238E27FC236}">
                <a16:creationId xmlns:a16="http://schemas.microsoft.com/office/drawing/2014/main" id="{3DDC9D3F-80B3-914A-80F7-04030A5DC5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4401632"/>
              </p:ext>
            </p:extLst>
          </p:nvPr>
        </p:nvGraphicFramePr>
        <p:xfrm>
          <a:off x="3548743" y="2493120"/>
          <a:ext cx="3352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160200" imgH="8191500" progId="Equation.3">
                  <p:embed/>
                </p:oleObj>
              </mc:Choice>
              <mc:Fallback>
                <p:oleObj name="Equation" r:id="rId2" imgW="37160200" imgH="8191500" progId="Equation.3">
                  <p:embed/>
                  <p:pic>
                    <p:nvPicPr>
                      <p:cNvPr id="57347" name="Object 4">
                        <a:extLst>
                          <a:ext uri="{FF2B5EF4-FFF2-40B4-BE49-F238E27FC236}">
                            <a16:creationId xmlns:a16="http://schemas.microsoft.com/office/drawing/2014/main" id="{3DDC9D3F-80B3-914A-80F7-04030A5DC5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8743" y="2493120"/>
                        <a:ext cx="3352800" cy="7366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2291317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86AA9FBD-3B6D-4844-B1C5-20AA16E656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Measure of Impurity: GINI</a:t>
            </a:r>
          </a:p>
        </p:txBody>
      </p:sp>
      <p:sp>
        <p:nvSpPr>
          <p:cNvPr id="58370" name="Rectangle 3">
            <a:extLst>
              <a:ext uri="{FF2B5EF4-FFF2-40B4-BE49-F238E27FC236}">
                <a16:creationId xmlns:a16="http://schemas.microsoft.com/office/drawing/2014/main" id="{F0DD010C-70C7-A042-8900-9151D5BBF9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it-IT" sz="2400" dirty="0">
                <a:ea typeface="ＭＳ Ｐゴシック" panose="020B0600070205080204" pitchFamily="34" charset="-128"/>
              </a:rPr>
              <a:t>Gini Index for a given node t :</a:t>
            </a:r>
          </a:p>
          <a:p>
            <a:pPr>
              <a:lnSpc>
                <a:spcPct val="90000"/>
              </a:lnSpc>
            </a:pPr>
            <a:endParaRPr lang="en-US" altLang="it-IT" sz="2000" dirty="0">
              <a:ea typeface="ＭＳ Ｐゴシック" panose="020B0600070205080204" pitchFamily="34" charset="-128"/>
            </a:endParaRP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endParaRPr lang="en-US" altLang="it-IT" dirty="0">
              <a:ea typeface="ＭＳ Ｐゴシック" panose="020B0600070205080204" pitchFamily="34" charset="-128"/>
            </a:endParaRP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endParaRPr lang="en-US" altLang="it-IT" sz="800" dirty="0">
              <a:ea typeface="ＭＳ Ｐゴシック" panose="020B0600070205080204" pitchFamily="34" charset="-128"/>
            </a:endParaRP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br>
              <a:rPr lang="en-US" altLang="it-IT" dirty="0">
                <a:ea typeface="ＭＳ Ｐゴシック" panose="020B0600070205080204" pitchFamily="34" charset="-128"/>
              </a:rPr>
            </a:br>
            <a:r>
              <a:rPr lang="en-US" altLang="it-IT" dirty="0">
                <a:ea typeface="ＭＳ Ｐゴシック" panose="020B0600070205080204" pitchFamily="34" charset="-128"/>
              </a:rPr>
              <a:t>(NOTE: </a:t>
            </a:r>
            <a:r>
              <a:rPr lang="en-US" altLang="it-IT" i="1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p( j | t) </a:t>
            </a:r>
            <a:r>
              <a:rPr lang="en-US" altLang="it-IT" dirty="0">
                <a:ea typeface="ＭＳ Ｐゴシック" panose="020B0600070205080204" pitchFamily="34" charset="-128"/>
              </a:rPr>
              <a:t>is the relative frequency of class j at node t).</a:t>
            </a: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endParaRPr lang="en-US" altLang="it-IT" sz="800" dirty="0"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it-IT" dirty="0">
                <a:ea typeface="ＭＳ Ｐゴシック" panose="020B0600070205080204" pitchFamily="34" charset="-128"/>
              </a:rPr>
              <a:t>For 2-class problem (p, 1 – p):</a:t>
            </a:r>
          </a:p>
          <a:p>
            <a:pPr lvl="2">
              <a:lnSpc>
                <a:spcPct val="90000"/>
              </a:lnSpc>
            </a:pPr>
            <a:r>
              <a:rPr lang="en-US" altLang="it-IT" dirty="0">
                <a:ea typeface="ＭＳ Ｐゴシック" panose="020B0600070205080204" pitchFamily="34" charset="-128"/>
              </a:rPr>
              <a:t> GINI = 1 – p</a:t>
            </a:r>
            <a:r>
              <a:rPr lang="en-US" altLang="it-IT" baseline="30000" dirty="0">
                <a:ea typeface="ＭＳ Ｐゴシック" panose="020B0600070205080204" pitchFamily="34" charset="-128"/>
              </a:rPr>
              <a:t>2</a:t>
            </a:r>
            <a:r>
              <a:rPr lang="en-US" altLang="it-IT" dirty="0">
                <a:ea typeface="ＭＳ Ｐゴシック" panose="020B0600070205080204" pitchFamily="34" charset="-128"/>
              </a:rPr>
              <a:t> – (1 – p)</a:t>
            </a:r>
            <a:r>
              <a:rPr lang="en-US" altLang="it-IT" baseline="30000" dirty="0">
                <a:ea typeface="ＭＳ Ｐゴシック" panose="020B0600070205080204" pitchFamily="34" charset="-128"/>
              </a:rPr>
              <a:t>2</a:t>
            </a:r>
            <a:r>
              <a:rPr lang="en-US" altLang="it-IT" dirty="0">
                <a:ea typeface="ＭＳ Ｐゴシック" panose="020B0600070205080204" pitchFamily="34" charset="-128"/>
              </a:rPr>
              <a:t> = 2p (1-p)</a:t>
            </a:r>
            <a:endParaRPr lang="en-US" altLang="it-IT" sz="1600" baseline="30000" dirty="0">
              <a:ea typeface="ＭＳ Ｐゴシック" panose="020B0600070205080204" pitchFamily="34" charset="-128"/>
            </a:endParaRPr>
          </a:p>
        </p:txBody>
      </p:sp>
      <p:graphicFrame>
        <p:nvGraphicFramePr>
          <p:cNvPr id="58371" name="Object 4">
            <a:extLst>
              <a:ext uri="{FF2B5EF4-FFF2-40B4-BE49-F238E27FC236}">
                <a16:creationId xmlns:a16="http://schemas.microsoft.com/office/drawing/2014/main" id="{29CF5639-5C7B-A449-AC2D-DF59D1A438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1142549"/>
              </p:ext>
            </p:extLst>
          </p:nvPr>
        </p:nvGraphicFramePr>
        <p:xfrm>
          <a:off x="3726024" y="2462213"/>
          <a:ext cx="3352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160200" imgH="8191500" progId="Equation.3">
                  <p:embed/>
                </p:oleObj>
              </mc:Choice>
              <mc:Fallback>
                <p:oleObj name="Equation" r:id="rId2" imgW="37160200" imgH="8191500" progId="Equation.3">
                  <p:embed/>
                  <p:pic>
                    <p:nvPicPr>
                      <p:cNvPr id="58371" name="Object 4">
                        <a:extLst>
                          <a:ext uri="{FF2B5EF4-FFF2-40B4-BE49-F238E27FC236}">
                            <a16:creationId xmlns:a16="http://schemas.microsoft.com/office/drawing/2014/main" id="{29CF5639-5C7B-A449-AC2D-DF59D1A438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6024" y="2462213"/>
                        <a:ext cx="3352800" cy="7366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2" name="Object 1">
            <a:extLst>
              <a:ext uri="{FF2B5EF4-FFF2-40B4-BE49-F238E27FC236}">
                <a16:creationId xmlns:a16="http://schemas.microsoft.com/office/drawing/2014/main" id="{6099A58C-BB29-464E-B3FB-B70616E618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9732622"/>
              </p:ext>
            </p:extLst>
          </p:nvPr>
        </p:nvGraphicFramePr>
        <p:xfrm>
          <a:off x="2744755" y="4861249"/>
          <a:ext cx="1371600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19697700" imgH="11823700" progId="Word.Document.8">
                  <p:embed/>
                </p:oleObj>
              </mc:Choice>
              <mc:Fallback>
                <p:oleObj name="Document" r:id="rId4" imgW="19697700" imgH="11823700" progId="Word.Document.8">
                  <p:embed/>
                  <p:pic>
                    <p:nvPicPr>
                      <p:cNvPr id="58372" name="Object 1">
                        <a:extLst>
                          <a:ext uri="{FF2B5EF4-FFF2-40B4-BE49-F238E27FC236}">
                            <a16:creationId xmlns:a16="http://schemas.microsoft.com/office/drawing/2014/main" id="{6099A58C-BB29-464E-B3FB-B70616E618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4755" y="4861249"/>
                        <a:ext cx="1371600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3" name="Object 2">
            <a:extLst>
              <a:ext uri="{FF2B5EF4-FFF2-40B4-BE49-F238E27FC236}">
                <a16:creationId xmlns:a16="http://schemas.microsoft.com/office/drawing/2014/main" id="{EB18A63A-CD96-764A-ABD9-CB92CC2CE0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8040957"/>
              </p:ext>
            </p:extLst>
          </p:nvPr>
        </p:nvGraphicFramePr>
        <p:xfrm>
          <a:off x="6021355" y="4861249"/>
          <a:ext cx="1371600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19697700" imgH="11823700" progId="Word.Document.8">
                  <p:embed/>
                </p:oleObj>
              </mc:Choice>
              <mc:Fallback>
                <p:oleObj name="Document" r:id="rId6" imgW="19697700" imgH="11823700" progId="Word.Document.8">
                  <p:embed/>
                  <p:pic>
                    <p:nvPicPr>
                      <p:cNvPr id="58373" name="Object 2">
                        <a:extLst>
                          <a:ext uri="{FF2B5EF4-FFF2-40B4-BE49-F238E27FC236}">
                            <a16:creationId xmlns:a16="http://schemas.microsoft.com/office/drawing/2014/main" id="{EB18A63A-CD96-764A-ABD9-CB92CC2CE0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1355" y="4861249"/>
                        <a:ext cx="1371600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4" name="Object 3">
            <a:extLst>
              <a:ext uri="{FF2B5EF4-FFF2-40B4-BE49-F238E27FC236}">
                <a16:creationId xmlns:a16="http://schemas.microsoft.com/office/drawing/2014/main" id="{5AF4E73F-8231-F74C-9477-217ADB0CFA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3700048"/>
              </p:ext>
            </p:extLst>
          </p:nvPr>
        </p:nvGraphicFramePr>
        <p:xfrm>
          <a:off x="7697755" y="4861249"/>
          <a:ext cx="1371600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19697700" imgH="11823700" progId="Word.Document.8">
                  <p:embed/>
                </p:oleObj>
              </mc:Choice>
              <mc:Fallback>
                <p:oleObj name="Document" r:id="rId8" imgW="19697700" imgH="11823700" progId="Word.Document.8">
                  <p:embed/>
                  <p:pic>
                    <p:nvPicPr>
                      <p:cNvPr id="58374" name="Object 3">
                        <a:extLst>
                          <a:ext uri="{FF2B5EF4-FFF2-40B4-BE49-F238E27FC236}">
                            <a16:creationId xmlns:a16="http://schemas.microsoft.com/office/drawing/2014/main" id="{5AF4E73F-8231-F74C-9477-217ADB0CFA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7755" y="4861249"/>
                        <a:ext cx="1371600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5" name="Object 4">
            <a:extLst>
              <a:ext uri="{FF2B5EF4-FFF2-40B4-BE49-F238E27FC236}">
                <a16:creationId xmlns:a16="http://schemas.microsoft.com/office/drawing/2014/main" id="{806BEFBD-3CE4-224B-B184-7041B8A68E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2313080"/>
              </p:ext>
            </p:extLst>
          </p:nvPr>
        </p:nvGraphicFramePr>
        <p:xfrm>
          <a:off x="4421155" y="4861249"/>
          <a:ext cx="1371600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19697700" imgH="11823700" progId="Word.Document.8">
                  <p:embed/>
                </p:oleObj>
              </mc:Choice>
              <mc:Fallback>
                <p:oleObj name="Document" r:id="rId10" imgW="19697700" imgH="11823700" progId="Word.Document.8">
                  <p:embed/>
                  <p:pic>
                    <p:nvPicPr>
                      <p:cNvPr id="58375" name="Object 4">
                        <a:extLst>
                          <a:ext uri="{FF2B5EF4-FFF2-40B4-BE49-F238E27FC236}">
                            <a16:creationId xmlns:a16="http://schemas.microsoft.com/office/drawing/2014/main" id="{806BEFBD-3CE4-224B-B184-7041B8A68E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1155" y="4861249"/>
                        <a:ext cx="1371600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3355028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51AFA72E-E756-4941-A87A-1AF010E5AE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Computing Gini Index of a Single Node</a:t>
            </a:r>
          </a:p>
        </p:txBody>
      </p:sp>
      <p:graphicFrame>
        <p:nvGraphicFramePr>
          <p:cNvPr id="59394" name="Object 5">
            <a:extLst>
              <a:ext uri="{FF2B5EF4-FFF2-40B4-BE49-F238E27FC236}">
                <a16:creationId xmlns:a16="http://schemas.microsoft.com/office/drawing/2014/main" id="{5D6053C7-B8A7-5546-83AD-4AA3C9D9F3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2192259"/>
              </p:ext>
            </p:extLst>
          </p:nvPr>
        </p:nvGraphicFramePr>
        <p:xfrm>
          <a:off x="2121159" y="2811464"/>
          <a:ext cx="23622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19431000" imgH="8140700" progId="Word.Document.8">
                  <p:embed/>
                </p:oleObj>
              </mc:Choice>
              <mc:Fallback>
                <p:oleObj name="Document" r:id="rId2" imgW="19431000" imgH="8140700" progId="Word.Document.8">
                  <p:embed/>
                  <p:pic>
                    <p:nvPicPr>
                      <p:cNvPr id="59394" name="Object 5">
                        <a:extLst>
                          <a:ext uri="{FF2B5EF4-FFF2-40B4-BE49-F238E27FC236}">
                            <a16:creationId xmlns:a16="http://schemas.microsoft.com/office/drawing/2014/main" id="{5D6053C7-B8A7-5546-83AD-4AA3C9D9F3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1159" y="2811464"/>
                        <a:ext cx="23622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5" name="Object 6">
            <a:extLst>
              <a:ext uri="{FF2B5EF4-FFF2-40B4-BE49-F238E27FC236}">
                <a16:creationId xmlns:a16="http://schemas.microsoft.com/office/drawing/2014/main" id="{7F9758D4-F7E5-1E4F-9483-36A027CCCD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4271688"/>
              </p:ext>
            </p:extLst>
          </p:nvPr>
        </p:nvGraphicFramePr>
        <p:xfrm>
          <a:off x="2197359" y="5653089"/>
          <a:ext cx="2286000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19431000" imgH="8293100" progId="Word.Document.8">
                  <p:embed/>
                </p:oleObj>
              </mc:Choice>
              <mc:Fallback>
                <p:oleObj name="Document" r:id="rId4" imgW="19431000" imgH="8293100" progId="Word.Document.8">
                  <p:embed/>
                  <p:pic>
                    <p:nvPicPr>
                      <p:cNvPr id="59395" name="Object 6">
                        <a:extLst>
                          <a:ext uri="{FF2B5EF4-FFF2-40B4-BE49-F238E27FC236}">
                            <a16:creationId xmlns:a16="http://schemas.microsoft.com/office/drawing/2014/main" id="{7F9758D4-F7E5-1E4F-9483-36A027CCCD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7359" y="5653089"/>
                        <a:ext cx="2286000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6" name="Object 8">
            <a:extLst>
              <a:ext uri="{FF2B5EF4-FFF2-40B4-BE49-F238E27FC236}">
                <a16:creationId xmlns:a16="http://schemas.microsoft.com/office/drawing/2014/main" id="{F781AC77-263A-4646-B319-E1752BF961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379747"/>
              </p:ext>
            </p:extLst>
          </p:nvPr>
        </p:nvGraphicFramePr>
        <p:xfrm>
          <a:off x="2197359" y="4289426"/>
          <a:ext cx="2286000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19431000" imgH="8140700" progId="Word.Document.8">
                  <p:embed/>
                </p:oleObj>
              </mc:Choice>
              <mc:Fallback>
                <p:oleObj name="Document" r:id="rId6" imgW="19431000" imgH="8140700" progId="Word.Document.8">
                  <p:embed/>
                  <p:pic>
                    <p:nvPicPr>
                      <p:cNvPr id="59396" name="Object 8">
                        <a:extLst>
                          <a:ext uri="{FF2B5EF4-FFF2-40B4-BE49-F238E27FC236}">
                            <a16:creationId xmlns:a16="http://schemas.microsoft.com/office/drawing/2014/main" id="{F781AC77-263A-4646-B319-E1752BF961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7359" y="4289426"/>
                        <a:ext cx="2286000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7" name="Text Box 10">
            <a:extLst>
              <a:ext uri="{FF2B5EF4-FFF2-40B4-BE49-F238E27FC236}">
                <a16:creationId xmlns:a16="http://schemas.microsoft.com/office/drawing/2014/main" id="{E9EAAA30-88B5-6145-8F92-B9D740B83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1959" y="2811464"/>
            <a:ext cx="5181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/>
              <a:t>P(C1) = 0/6 = 0     P(C2) = 6/6 = 1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/>
              <a:t>Gini = 1 – P(C1)</a:t>
            </a:r>
            <a:r>
              <a:rPr lang="en-US" altLang="it-IT" sz="2000" baseline="30000"/>
              <a:t>2 </a:t>
            </a:r>
            <a:r>
              <a:rPr lang="en-US" altLang="it-IT" sz="2000"/>
              <a:t>– P(C2)</a:t>
            </a:r>
            <a:r>
              <a:rPr lang="en-US" altLang="it-IT" sz="2000" baseline="30000"/>
              <a:t>2</a:t>
            </a:r>
            <a:r>
              <a:rPr lang="en-US" altLang="it-IT" sz="2000"/>
              <a:t> = 1 – 0 – 1 = 0 </a:t>
            </a:r>
          </a:p>
        </p:txBody>
      </p:sp>
      <p:graphicFrame>
        <p:nvGraphicFramePr>
          <p:cNvPr id="59398" name="Object 11">
            <a:extLst>
              <a:ext uri="{FF2B5EF4-FFF2-40B4-BE49-F238E27FC236}">
                <a16:creationId xmlns:a16="http://schemas.microsoft.com/office/drawing/2014/main" id="{B62B4BC8-2307-D649-8107-1802070D63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5562631"/>
              </p:ext>
            </p:extLst>
          </p:nvPr>
        </p:nvGraphicFramePr>
        <p:xfrm>
          <a:off x="4254759" y="1690688"/>
          <a:ext cx="3352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7160200" imgH="8191500" progId="Equation.3">
                  <p:embed/>
                </p:oleObj>
              </mc:Choice>
              <mc:Fallback>
                <p:oleObj name="Equation" r:id="rId8" imgW="37160200" imgH="8191500" progId="Equation.3">
                  <p:embed/>
                  <p:pic>
                    <p:nvPicPr>
                      <p:cNvPr id="59398" name="Object 11">
                        <a:extLst>
                          <a:ext uri="{FF2B5EF4-FFF2-40B4-BE49-F238E27FC236}">
                            <a16:creationId xmlns:a16="http://schemas.microsoft.com/office/drawing/2014/main" id="{B62B4BC8-2307-D649-8107-1802070D63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4759" y="1690688"/>
                        <a:ext cx="3352800" cy="7366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9" name="Text Box 12">
            <a:extLst>
              <a:ext uri="{FF2B5EF4-FFF2-40B4-BE49-F238E27FC236}">
                <a16:creationId xmlns:a16="http://schemas.microsoft.com/office/drawing/2014/main" id="{858B63C6-0B30-FE45-ACA0-7FC9471EF9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8159" y="4289427"/>
            <a:ext cx="5181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/>
              <a:t>P(C1) = 1/6          P(C2) = 5/6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/>
              <a:t>Gini = 1 – (1/6)</a:t>
            </a:r>
            <a:r>
              <a:rPr lang="en-US" altLang="it-IT" sz="2000" baseline="30000"/>
              <a:t>2 </a:t>
            </a:r>
            <a:r>
              <a:rPr lang="en-US" altLang="it-IT" sz="2000"/>
              <a:t>– (5/6)</a:t>
            </a:r>
            <a:r>
              <a:rPr lang="en-US" altLang="it-IT" sz="2000" baseline="30000"/>
              <a:t>2</a:t>
            </a:r>
            <a:r>
              <a:rPr lang="en-US" altLang="it-IT" sz="2000"/>
              <a:t> = 0.278</a:t>
            </a:r>
          </a:p>
        </p:txBody>
      </p:sp>
      <p:sp>
        <p:nvSpPr>
          <p:cNvPr id="59400" name="Text Box 13">
            <a:extLst>
              <a:ext uri="{FF2B5EF4-FFF2-40B4-BE49-F238E27FC236}">
                <a16:creationId xmlns:a16="http://schemas.microsoft.com/office/drawing/2014/main" id="{4BB1BCCD-F254-B447-9913-DF033F072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8159" y="5576889"/>
            <a:ext cx="5181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/>
              <a:t>P(C1) = 2/6          P(C2) = 4/6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/>
              <a:t>Gini = 1 – (2/6)</a:t>
            </a:r>
            <a:r>
              <a:rPr lang="en-US" altLang="it-IT" sz="2000" baseline="30000"/>
              <a:t>2 </a:t>
            </a:r>
            <a:r>
              <a:rPr lang="en-US" altLang="it-IT" sz="2000"/>
              <a:t>– (4/6)</a:t>
            </a:r>
            <a:r>
              <a:rPr lang="en-US" altLang="it-IT" sz="2000" baseline="30000"/>
              <a:t>2</a:t>
            </a:r>
            <a:r>
              <a:rPr lang="en-US" altLang="it-IT" sz="2000"/>
              <a:t> = 0.444</a:t>
            </a:r>
          </a:p>
        </p:txBody>
      </p:sp>
    </p:spTree>
    <p:extLst>
      <p:ext uri="{BB962C8B-B14F-4D97-AF65-F5344CB8AC3E}">
        <p14:creationId xmlns:p14="http://schemas.microsoft.com/office/powerpoint/2010/main" val="64845929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B183E0AE-C07A-1640-BE63-A9BFD687BA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 err="1">
                <a:cs typeface="+mj-cs"/>
              </a:rPr>
              <a:t>Gini</a:t>
            </a:r>
            <a:r>
              <a:rPr lang="en-US" dirty="0">
                <a:cs typeface="+mj-cs"/>
              </a:rPr>
              <a:t> Index for a Collection of Nodes</a:t>
            </a:r>
          </a:p>
        </p:txBody>
      </p:sp>
      <p:sp>
        <p:nvSpPr>
          <p:cNvPr id="60418" name="Rectangle 3">
            <a:extLst>
              <a:ext uri="{FF2B5EF4-FFF2-40B4-BE49-F238E27FC236}">
                <a16:creationId xmlns:a16="http://schemas.microsoft.com/office/drawing/2014/main" id="{27A24A7E-C792-8E4F-979E-B80240AD68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/>
            <a:r>
              <a:rPr lang="en-US" altLang="it-IT" sz="2400" dirty="0">
                <a:ea typeface="ＭＳ Ｐゴシック" panose="020B0600070205080204" pitchFamily="34" charset="-128"/>
              </a:rPr>
              <a:t>When a node </a:t>
            </a:r>
            <a:r>
              <a:rPr lang="en-US" altLang="it-IT" sz="2400" i="1" dirty="0">
                <a:ea typeface="ＭＳ Ｐゴシック" panose="020B0600070205080204" pitchFamily="34" charset="-128"/>
              </a:rPr>
              <a:t>p</a:t>
            </a:r>
            <a:r>
              <a:rPr lang="en-US" altLang="it-IT" sz="2400" dirty="0">
                <a:ea typeface="ＭＳ Ｐゴシック" panose="020B0600070205080204" pitchFamily="34" charset="-128"/>
              </a:rPr>
              <a:t> is split into </a:t>
            </a:r>
            <a:r>
              <a:rPr lang="en-US" altLang="it-IT" sz="2400" i="1" dirty="0">
                <a:ea typeface="ＭＳ Ｐゴシック" panose="020B0600070205080204" pitchFamily="34" charset="-128"/>
              </a:rPr>
              <a:t>k</a:t>
            </a:r>
            <a:r>
              <a:rPr lang="en-US" altLang="it-IT" sz="2400" dirty="0">
                <a:ea typeface="ＭＳ Ｐゴシック" panose="020B0600070205080204" pitchFamily="34" charset="-128"/>
              </a:rPr>
              <a:t> partitions (children)</a:t>
            </a:r>
          </a:p>
          <a:p>
            <a:pPr marL="342900" indent="-342900"/>
            <a:endParaRPr lang="en-US" altLang="it-IT" sz="2400" dirty="0">
              <a:ea typeface="ＭＳ Ｐゴシック" panose="020B0600070205080204" pitchFamily="34" charset="-128"/>
            </a:endParaRPr>
          </a:p>
          <a:p>
            <a:pPr marL="342900" indent="-342900">
              <a:buNone/>
            </a:pPr>
            <a:r>
              <a:rPr lang="en-US" altLang="it-IT" sz="2400" dirty="0">
                <a:ea typeface="ＭＳ Ｐゴシック" panose="020B0600070205080204" pitchFamily="34" charset="-128"/>
              </a:rPr>
              <a:t>	</a:t>
            </a:r>
          </a:p>
          <a:p>
            <a:pPr marL="342900" indent="-342900">
              <a:buNone/>
            </a:pPr>
            <a:endParaRPr lang="en-US" altLang="it-IT" sz="2400" dirty="0">
              <a:ea typeface="ＭＳ Ｐゴシック" panose="020B0600070205080204" pitchFamily="34" charset="-128"/>
            </a:endParaRPr>
          </a:p>
          <a:p>
            <a:pPr marL="342900" indent="-342900">
              <a:buNone/>
            </a:pPr>
            <a:r>
              <a:rPr lang="en-US" altLang="it-IT" sz="2400" dirty="0">
                <a:ea typeface="ＭＳ Ｐゴシック" panose="020B0600070205080204" pitchFamily="34" charset="-128"/>
              </a:rPr>
              <a:t>	where,	</a:t>
            </a:r>
            <a:r>
              <a:rPr lang="en-US" altLang="it-IT" sz="2400" i="1" dirty="0" err="1">
                <a:ea typeface="ＭＳ Ｐゴシック" panose="020B0600070205080204" pitchFamily="34" charset="-128"/>
              </a:rPr>
              <a:t>n</a:t>
            </a:r>
            <a:r>
              <a:rPr lang="en-US" altLang="it-IT" sz="2400" i="1" baseline="-25000" dirty="0" err="1">
                <a:ea typeface="ＭＳ Ｐゴシック" panose="020B0600070205080204" pitchFamily="34" charset="-128"/>
              </a:rPr>
              <a:t>i</a:t>
            </a:r>
            <a:r>
              <a:rPr lang="en-US" altLang="it-IT" sz="2400" dirty="0">
                <a:ea typeface="ＭＳ Ｐゴシック" panose="020B0600070205080204" pitchFamily="34" charset="-128"/>
              </a:rPr>
              <a:t> = number of records at child </a:t>
            </a:r>
            <a:r>
              <a:rPr lang="en-US" altLang="it-IT" sz="2400" i="1" dirty="0" err="1">
                <a:ea typeface="ＭＳ Ｐゴシック" panose="020B0600070205080204" pitchFamily="34" charset="-128"/>
              </a:rPr>
              <a:t>i</a:t>
            </a:r>
            <a:r>
              <a:rPr lang="en-US" altLang="it-IT" sz="2400" dirty="0">
                <a:ea typeface="ＭＳ Ｐゴシック" panose="020B0600070205080204" pitchFamily="34" charset="-128"/>
              </a:rPr>
              <a:t>,</a:t>
            </a:r>
          </a:p>
          <a:p>
            <a:pPr marL="342900" indent="-342900">
              <a:buNone/>
            </a:pPr>
            <a:r>
              <a:rPr lang="en-US" altLang="it-IT" sz="2400" dirty="0">
                <a:ea typeface="ＭＳ Ｐゴシック" panose="020B0600070205080204" pitchFamily="34" charset="-128"/>
              </a:rPr>
              <a:t>    			</a:t>
            </a:r>
            <a:r>
              <a:rPr lang="en-US" altLang="it-IT" sz="2400" i="1" dirty="0">
                <a:ea typeface="ＭＳ Ｐゴシック" panose="020B0600070205080204" pitchFamily="34" charset="-128"/>
              </a:rPr>
              <a:t>n</a:t>
            </a:r>
            <a:r>
              <a:rPr lang="en-US" altLang="it-IT" sz="2400" baseline="-25000" dirty="0">
                <a:ea typeface="ＭＳ Ｐゴシック" panose="020B0600070205080204" pitchFamily="34" charset="-128"/>
              </a:rPr>
              <a:t> </a:t>
            </a:r>
            <a:r>
              <a:rPr lang="en-US" altLang="it-IT" sz="2400" dirty="0">
                <a:ea typeface="ＭＳ Ｐゴシック" panose="020B0600070205080204" pitchFamily="34" charset="-128"/>
              </a:rPr>
              <a:t> = number of records at parent node </a:t>
            </a:r>
            <a:r>
              <a:rPr lang="en-US" altLang="it-IT" sz="2400" i="1" dirty="0">
                <a:ea typeface="ＭＳ Ｐゴシック" panose="020B0600070205080204" pitchFamily="34" charset="-128"/>
              </a:rPr>
              <a:t>p</a:t>
            </a:r>
            <a:r>
              <a:rPr lang="en-US" altLang="it-IT" sz="2400" dirty="0">
                <a:ea typeface="ＭＳ Ｐゴシック" panose="020B0600070205080204" pitchFamily="34" charset="-128"/>
              </a:rPr>
              <a:t>.</a:t>
            </a:r>
          </a:p>
          <a:p>
            <a:pPr marL="342900" indent="-342900">
              <a:buNone/>
            </a:pPr>
            <a:endParaRPr lang="en-US" altLang="it-IT" sz="2400" dirty="0">
              <a:ea typeface="ＭＳ Ｐゴシック" panose="020B0600070205080204" pitchFamily="34" charset="-128"/>
            </a:endParaRPr>
          </a:p>
          <a:p>
            <a:pPr marL="342900" indent="-342900"/>
            <a:r>
              <a:rPr lang="en-US" altLang="it-IT" sz="2400" dirty="0">
                <a:ea typeface="ＭＳ Ｐゴシック" panose="020B0600070205080204" pitchFamily="34" charset="-128"/>
              </a:rPr>
              <a:t>Choose the split that minimizes weighted average Gini index of the children</a:t>
            </a:r>
          </a:p>
          <a:p>
            <a:pPr lvl="4"/>
            <a:endParaRPr lang="en-US" altLang="it-IT" dirty="0">
              <a:ea typeface="ＭＳ Ｐゴシック" panose="020B0600070205080204" pitchFamily="34" charset="-128"/>
            </a:endParaRPr>
          </a:p>
          <a:p>
            <a:pPr marL="342900" indent="-342900"/>
            <a:r>
              <a:rPr lang="en-US" altLang="it-IT" sz="2400" dirty="0">
                <a:ea typeface="ＭＳ Ｐゴシック" panose="020B0600070205080204" pitchFamily="34" charset="-128"/>
              </a:rPr>
              <a:t>Gini index is used in decision tree algorithms such as CART, SLIQ, SPRINT</a:t>
            </a:r>
            <a:endParaRPr lang="en-US" altLang="it-IT" sz="3200" dirty="0">
              <a:ea typeface="ＭＳ Ｐゴシック" panose="020B0600070205080204" pitchFamily="34" charset="-128"/>
            </a:endParaRPr>
          </a:p>
        </p:txBody>
      </p:sp>
      <p:graphicFrame>
        <p:nvGraphicFramePr>
          <p:cNvPr id="60419" name="Object 4">
            <a:extLst>
              <a:ext uri="{FF2B5EF4-FFF2-40B4-BE49-F238E27FC236}">
                <a16:creationId xmlns:a16="http://schemas.microsoft.com/office/drawing/2014/main" id="{A8A6A078-1BB5-B34F-AEA0-CAE9342224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0095861"/>
              </p:ext>
            </p:extLst>
          </p:nvPr>
        </p:nvGraphicFramePr>
        <p:xfrm>
          <a:off x="3937519" y="2240124"/>
          <a:ext cx="38862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810700" imgH="9944100" progId="Equation.3">
                  <p:embed/>
                </p:oleObj>
              </mc:Choice>
              <mc:Fallback>
                <p:oleObj name="Equation" r:id="rId2" imgW="34810700" imgH="9944100" progId="Equation.3">
                  <p:embed/>
                  <p:pic>
                    <p:nvPicPr>
                      <p:cNvPr id="60419" name="Object 4">
                        <a:extLst>
                          <a:ext uri="{FF2B5EF4-FFF2-40B4-BE49-F238E27FC236}">
                            <a16:creationId xmlns:a16="http://schemas.microsoft.com/office/drawing/2014/main" id="{A8A6A078-1BB5-B34F-AEA0-CAE9342224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7519" y="2240124"/>
                        <a:ext cx="3886200" cy="1104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3034801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19E1AE-9338-A44B-B91E-F6CFADC16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Attributes: Computing GINI Index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0FB2CA-FEE3-4D4D-8D61-BDE9F8C4C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it-IT" sz="2400" dirty="0"/>
              <a:t>Splits into two partitions</a:t>
            </a:r>
          </a:p>
          <a:p>
            <a:r>
              <a:rPr lang="en-US" altLang="it-IT" sz="2400" dirty="0"/>
              <a:t>Effect of Weighing partitions: </a:t>
            </a:r>
          </a:p>
          <a:p>
            <a:pPr lvl="1"/>
            <a:r>
              <a:rPr lang="en-US" altLang="it-IT" dirty="0"/>
              <a:t>Larger and Purer Partitions are sought for.</a:t>
            </a: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A31C96C2-BF71-1342-B6C4-F64B5A619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2188" y="3170174"/>
            <a:ext cx="1009650" cy="454025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>
                <a:latin typeface="Times New Roman" panose="02020603050405020304" pitchFamily="18" charset="0"/>
              </a:rPr>
              <a:t>B?</a:t>
            </a:r>
            <a:endParaRPr lang="en-US" altLang="it-IT" sz="2400">
              <a:latin typeface="Times New Roman" panose="02020603050405020304" pitchFamily="18" charset="0"/>
            </a:endParaRPr>
          </a:p>
        </p:txBody>
      </p:sp>
      <p:sp>
        <p:nvSpPr>
          <p:cNvPr id="5" name="Line 5">
            <a:extLst>
              <a:ext uri="{FF2B5EF4-FFF2-40B4-BE49-F238E27FC236}">
                <a16:creationId xmlns:a16="http://schemas.microsoft.com/office/drawing/2014/main" id="{43CC7F6B-179F-A346-A63B-0DA7D58ADB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7514" y="3627374"/>
            <a:ext cx="1108075" cy="725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Line 6">
            <a:extLst>
              <a:ext uri="{FF2B5EF4-FFF2-40B4-BE49-F238E27FC236}">
                <a16:creationId xmlns:a16="http://schemas.microsoft.com/office/drawing/2014/main" id="{A6D7EF18-D8C3-D649-919D-CE1CF44C02D9}"/>
              </a:ext>
            </a:extLst>
          </p:cNvPr>
          <p:cNvSpPr>
            <a:spLocks noChangeShapeType="1"/>
          </p:cNvSpPr>
          <p:nvPr/>
        </p:nvSpPr>
        <p:spPr bwMode="auto">
          <a:xfrm>
            <a:off x="5985589" y="3627374"/>
            <a:ext cx="1184275" cy="725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2438F494-2201-A24F-8815-8569D043BF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4463" y="3743261"/>
            <a:ext cx="539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9A0E53EC-9CF9-A34D-8EA4-3F9D8D940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3663" y="3743261"/>
            <a:ext cx="463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60994867-8A59-E543-BE95-0911E84A4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1589" y="4352861"/>
            <a:ext cx="936625" cy="34131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>
                <a:latin typeface="Times New Roman" panose="02020603050405020304" pitchFamily="18" charset="0"/>
              </a:rPr>
              <a:t>Node N1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267FD5C1-7FB7-C54C-BBE0-B6F5C4BB3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9164" y="4352861"/>
            <a:ext cx="936625" cy="34131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>
                <a:latin typeface="Times New Roman" panose="02020603050405020304" pitchFamily="18" charset="0"/>
              </a:rPr>
              <a:t>Node N2</a:t>
            </a:r>
          </a:p>
        </p:txBody>
      </p:sp>
      <p:graphicFrame>
        <p:nvGraphicFramePr>
          <p:cNvPr id="11" name="Object 11">
            <a:extLst>
              <a:ext uri="{FF2B5EF4-FFF2-40B4-BE49-F238E27FC236}">
                <a16:creationId xmlns:a16="http://schemas.microsoft.com/office/drawing/2014/main" id="{29309B2D-FE2B-B447-8FE8-7DB4AF7EB3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6419677"/>
              </p:ext>
            </p:extLst>
          </p:nvPr>
        </p:nvGraphicFramePr>
        <p:xfrm>
          <a:off x="8347788" y="2898710"/>
          <a:ext cx="198120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187700" imgH="3048000" progId="Word.Document.8">
                  <p:embed/>
                </p:oleObj>
              </mc:Choice>
              <mc:Fallback>
                <p:oleObj name="Document" r:id="rId2" imgW="3187700" imgH="3048000" progId="Word.Document.8">
                  <p:embed/>
                  <p:pic>
                    <p:nvPicPr>
                      <p:cNvPr id="61450" name="Object 11">
                        <a:extLst>
                          <a:ext uri="{FF2B5EF4-FFF2-40B4-BE49-F238E27FC236}">
                            <a16:creationId xmlns:a16="http://schemas.microsoft.com/office/drawing/2014/main" id="{D1F68817-E922-6A49-B821-AA0D443261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47788" y="2898710"/>
                        <a:ext cx="1981200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>
            <a:extLst>
              <a:ext uri="{FF2B5EF4-FFF2-40B4-BE49-F238E27FC236}">
                <a16:creationId xmlns:a16="http://schemas.microsoft.com/office/drawing/2014/main" id="{6CE31601-0272-5947-AA5C-1B205AB08B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3280797"/>
              </p:ext>
            </p:extLst>
          </p:nvPr>
        </p:nvGraphicFramePr>
        <p:xfrm>
          <a:off x="5071188" y="4956111"/>
          <a:ext cx="1905000" cy="147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19596100" imgH="15290800" progId="Word.Document.8">
                  <p:embed/>
                </p:oleObj>
              </mc:Choice>
              <mc:Fallback>
                <p:oleObj name="Document" r:id="rId4" imgW="19596100" imgH="15290800" progId="Word.Document.8">
                  <p:embed/>
                  <p:pic>
                    <p:nvPicPr>
                      <p:cNvPr id="61451" name="Object 12">
                        <a:extLst>
                          <a:ext uri="{FF2B5EF4-FFF2-40B4-BE49-F238E27FC236}">
                            <a16:creationId xmlns:a16="http://schemas.microsoft.com/office/drawing/2014/main" id="{0FD450BD-5976-AF4B-9616-39F49F21ED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1188" y="4956111"/>
                        <a:ext cx="1905000" cy="1471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>
            <a:extLst>
              <a:ext uri="{FF2B5EF4-FFF2-40B4-BE49-F238E27FC236}">
                <a16:creationId xmlns:a16="http://schemas.microsoft.com/office/drawing/2014/main" id="{718C600B-58D0-7242-8FBF-D0C47A528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5588" y="4498911"/>
            <a:ext cx="2438400" cy="207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/>
              <a:t>Gini(N1) </a:t>
            </a:r>
            <a:br>
              <a:rPr lang="en-US" altLang="it-IT" sz="2000"/>
            </a:br>
            <a:r>
              <a:rPr lang="en-US" altLang="it-IT" sz="2000"/>
              <a:t>= 1 – (5/6)</a:t>
            </a:r>
            <a:r>
              <a:rPr lang="en-US" altLang="it-IT" sz="2000" baseline="30000"/>
              <a:t>2 </a:t>
            </a:r>
            <a:r>
              <a:rPr lang="en-US" altLang="it-IT" sz="2000"/>
              <a:t>– (1/6)</a:t>
            </a:r>
            <a:r>
              <a:rPr lang="en-US" altLang="it-IT" sz="2000" baseline="30000"/>
              <a:t>2</a:t>
            </a:r>
            <a:r>
              <a:rPr lang="en-US" altLang="it-IT" sz="2000"/>
              <a:t> </a:t>
            </a:r>
            <a:br>
              <a:rPr lang="en-US" altLang="it-IT" sz="2000"/>
            </a:br>
            <a:r>
              <a:rPr lang="en-US" altLang="it-IT" sz="2000"/>
              <a:t>= 0.278 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/>
              <a:t>Gini(N2) </a:t>
            </a:r>
            <a:br>
              <a:rPr lang="en-US" altLang="it-IT" sz="2000"/>
            </a:br>
            <a:r>
              <a:rPr lang="en-US" altLang="it-IT" sz="2000"/>
              <a:t>= 1 – (2/6)</a:t>
            </a:r>
            <a:r>
              <a:rPr lang="en-US" altLang="it-IT" sz="2000" baseline="30000"/>
              <a:t>2 </a:t>
            </a:r>
            <a:r>
              <a:rPr lang="en-US" altLang="it-IT" sz="2000"/>
              <a:t>– (4/6)</a:t>
            </a:r>
            <a:r>
              <a:rPr lang="en-US" altLang="it-IT" sz="2000" baseline="30000"/>
              <a:t>2</a:t>
            </a:r>
            <a:r>
              <a:rPr lang="en-US" altLang="it-IT" sz="2000"/>
              <a:t> </a:t>
            </a:r>
            <a:br>
              <a:rPr lang="en-US" altLang="it-IT" sz="2000"/>
            </a:br>
            <a:r>
              <a:rPr lang="en-US" altLang="it-IT" sz="2000"/>
              <a:t>= 0.444</a:t>
            </a:r>
          </a:p>
        </p:txBody>
      </p:sp>
      <p:sp>
        <p:nvSpPr>
          <p:cNvPr id="14" name="Text Box 14">
            <a:extLst>
              <a:ext uri="{FF2B5EF4-FFF2-40B4-BE49-F238E27FC236}">
                <a16:creationId xmlns:a16="http://schemas.microsoft.com/office/drawing/2014/main" id="{937DCD92-2C40-F34D-BCA5-47D45E3434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5788" y="5003735"/>
            <a:ext cx="3352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/>
              <a:t>Weighted Gini of N1 N2</a:t>
            </a:r>
            <a:br>
              <a:rPr lang="en-US" altLang="it-IT" sz="2000"/>
            </a:br>
            <a:r>
              <a:rPr lang="en-US" altLang="it-IT" sz="1800"/>
              <a:t>= 6/12 * 0.278 + </a:t>
            </a:r>
            <a:br>
              <a:rPr lang="en-US" altLang="it-IT" sz="1800"/>
            </a:br>
            <a:r>
              <a:rPr lang="en-US" altLang="it-IT" sz="1800"/>
              <a:t>   6/12 * 0.444</a:t>
            </a:r>
            <a:br>
              <a:rPr lang="en-US" altLang="it-IT" sz="1800"/>
            </a:br>
            <a:r>
              <a:rPr lang="en-US" altLang="it-IT" sz="1800"/>
              <a:t>= 0.361</a:t>
            </a:r>
          </a:p>
        </p:txBody>
      </p:sp>
      <p:sp>
        <p:nvSpPr>
          <p:cNvPr id="15" name="TextBox 1">
            <a:extLst>
              <a:ext uri="{FF2B5EF4-FFF2-40B4-BE49-F238E27FC236}">
                <a16:creationId xmlns:a16="http://schemas.microsoft.com/office/drawing/2014/main" id="{8C3FB342-C4EC-4445-AC32-AE4DB06D6A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6076" y="6175310"/>
            <a:ext cx="32115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>
                <a:solidFill>
                  <a:srgbClr val="FF0000"/>
                </a:solidFill>
              </a:rPr>
              <a:t>Gain = 0.486 – 0.361 = 0.125</a:t>
            </a:r>
          </a:p>
        </p:txBody>
      </p:sp>
    </p:spTree>
    <p:extLst>
      <p:ext uri="{BB962C8B-B14F-4D97-AF65-F5344CB8AC3E}">
        <p14:creationId xmlns:p14="http://schemas.microsoft.com/office/powerpoint/2010/main" val="118979335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E7B5A7-B8CA-C94F-BD27-3219AD4E0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Attributes: Computing Gini Index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65EA74A-3B10-3E4D-A1FB-A4D6FF290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distinct value, gather counts for each class in the dataset</a:t>
            </a:r>
          </a:p>
          <a:p>
            <a:r>
              <a:rPr lang="en-US" dirty="0"/>
              <a:t>Use the count matrix to make decisions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67EC012F-46DD-BE48-B240-C98A14DBBF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14963" y="3810001"/>
          <a:ext cx="2570162" cy="175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854700" imgH="4000500" progId="Word.Document.8">
                  <p:embed/>
                </p:oleObj>
              </mc:Choice>
              <mc:Fallback>
                <p:oleObj name="Document" r:id="rId2" imgW="5854700" imgH="4000500" progId="Word.Document.8">
                  <p:embed/>
                  <p:pic>
                    <p:nvPicPr>
                      <p:cNvPr id="62467" name="Object 4">
                        <a:extLst>
                          <a:ext uri="{FF2B5EF4-FFF2-40B4-BE49-F238E27FC236}">
                            <a16:creationId xmlns:a16="http://schemas.microsoft.com/office/drawing/2014/main" id="{82AE994C-9C71-1A4B-B71F-FE13976B1B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4963" y="3810001"/>
                        <a:ext cx="2570162" cy="175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EC903DE8-FA71-9E4E-BE48-B4400803AB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45438" y="3805238"/>
          <a:ext cx="2570162" cy="175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854700" imgH="4000500" progId="Word.Document.8">
                  <p:embed/>
                </p:oleObj>
              </mc:Choice>
              <mc:Fallback>
                <p:oleObj name="Document" r:id="rId4" imgW="5854700" imgH="4000500" progId="Word.Document.8">
                  <p:embed/>
                  <p:pic>
                    <p:nvPicPr>
                      <p:cNvPr id="62468" name="Object 5">
                        <a:extLst>
                          <a:ext uri="{FF2B5EF4-FFF2-40B4-BE49-F238E27FC236}">
                            <a16:creationId xmlns:a16="http://schemas.microsoft.com/office/drawing/2014/main" id="{F406F937-8C9C-F846-9A6C-41CD476543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45438" y="3805238"/>
                        <a:ext cx="2570162" cy="175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B0C80C65-DF31-4B44-B159-A8381E72EA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3810000"/>
          <a:ext cx="3048000" cy="157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6210300" imgH="3187700" progId="Word.Document.8">
                  <p:embed/>
                </p:oleObj>
              </mc:Choice>
              <mc:Fallback>
                <p:oleObj name="Document" r:id="rId6" imgW="6210300" imgH="3187700" progId="Word.Document.8">
                  <p:embed/>
                  <p:pic>
                    <p:nvPicPr>
                      <p:cNvPr id="62469" name="Object 6">
                        <a:extLst>
                          <a:ext uri="{FF2B5EF4-FFF2-40B4-BE49-F238E27FC236}">
                            <a16:creationId xmlns:a16="http://schemas.microsoft.com/office/drawing/2014/main" id="{94520A1A-45B7-5F43-B1A0-F0C2BC8580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810000"/>
                        <a:ext cx="3048000" cy="157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Line 7">
            <a:extLst>
              <a:ext uri="{FF2B5EF4-FFF2-40B4-BE49-F238E27FC236}">
                <a16:creationId xmlns:a16="http://schemas.microsoft.com/office/drawing/2014/main" id="{570285F0-2070-104F-BF91-16F5EEF674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5400" y="2971800"/>
            <a:ext cx="1588" cy="2438400"/>
          </a:xfrm>
          <a:prstGeom prst="line">
            <a:avLst/>
          </a:prstGeom>
          <a:noFill/>
          <a:ln w="381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69692497-0339-A141-B6FF-F1623C3EA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9988" y="2868614"/>
            <a:ext cx="1752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>
                <a:latin typeface="Times New Roman" panose="02020603050405020304" pitchFamily="18" charset="0"/>
              </a:rPr>
              <a:t>Multi-way split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FA872F6A-22D3-444A-912C-97DEA02534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3639" y="2868614"/>
            <a:ext cx="31384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>
                <a:latin typeface="Times New Roman" panose="02020603050405020304" pitchFamily="18" charset="0"/>
              </a:rPr>
              <a:t>Two-way split </a:t>
            </a:r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>
                <a:latin typeface="Times New Roman" panose="02020603050405020304" pitchFamily="18" charset="0"/>
              </a:rPr>
              <a:t>(find best partition of values)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E0BACA0E-3FCD-124E-803C-9CEF0379F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1" y="5726113"/>
            <a:ext cx="295465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>
                <a:solidFill>
                  <a:srgbClr val="00B050"/>
                </a:solidFill>
              </a:rPr>
              <a:t>Which of these is the best?</a:t>
            </a:r>
          </a:p>
        </p:txBody>
      </p:sp>
    </p:spTree>
    <p:extLst>
      <p:ext uri="{BB962C8B-B14F-4D97-AF65-F5344CB8AC3E}">
        <p14:creationId xmlns:p14="http://schemas.microsoft.com/office/powerpoint/2010/main" val="648650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A3C6C3-A5FD-0145-AE58-269808CB3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276" y="131889"/>
            <a:ext cx="10515600" cy="1325563"/>
          </a:xfrm>
        </p:spPr>
        <p:txBody>
          <a:bodyPr/>
          <a:lstStyle/>
          <a:p>
            <a:r>
              <a:rPr lang="en-US" dirty="0"/>
              <a:t>Continuous Attributes: Computing Gini Index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FC26FF3-2C0E-1F4E-8748-1FC4778B3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6178420" cy="487375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Use Binary Decisions based on one value</a:t>
            </a:r>
          </a:p>
          <a:p>
            <a:r>
              <a:rPr lang="en-US" dirty="0"/>
              <a:t>Several Choices for the splitting value</a:t>
            </a:r>
          </a:p>
          <a:p>
            <a:pPr lvl="1"/>
            <a:r>
              <a:rPr lang="en-US" dirty="0"/>
              <a:t>Number of possible splitting values = Number of distinct values</a:t>
            </a:r>
          </a:p>
          <a:p>
            <a:r>
              <a:rPr lang="en-US" dirty="0"/>
              <a:t>Each splitting value has a count matrix associated with it</a:t>
            </a:r>
          </a:p>
          <a:p>
            <a:pPr lvl="1"/>
            <a:r>
              <a:rPr lang="en-US" dirty="0"/>
              <a:t>Class counts in each of the partitions, A &lt; v and A &gt;= v</a:t>
            </a:r>
          </a:p>
          <a:p>
            <a:r>
              <a:rPr lang="en-US" dirty="0"/>
              <a:t>Simple method to choose best v</a:t>
            </a:r>
          </a:p>
          <a:p>
            <a:pPr lvl="1"/>
            <a:r>
              <a:rPr lang="en-US" dirty="0"/>
              <a:t>For each v, scan the database to gather count matrix and compute its Gini index</a:t>
            </a:r>
          </a:p>
          <a:p>
            <a:pPr lvl="1"/>
            <a:r>
              <a:rPr lang="en-US" dirty="0"/>
              <a:t>Computationally Inefficient! (O(N2)) Repetition of work.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640659BC-13EA-BE4B-A7E1-640F79C0E2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1134351"/>
              </p:ext>
            </p:extLst>
          </p:nvPr>
        </p:nvGraphicFramePr>
        <p:xfrm>
          <a:off x="7795113" y="1640015"/>
          <a:ext cx="3311525" cy="337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676900" imgH="5778500" progId="Word.Document.8">
                  <p:embed/>
                </p:oleObj>
              </mc:Choice>
              <mc:Fallback>
                <p:oleObj name="Document" r:id="rId2" imgW="5676900" imgH="5778500" progId="Word.Document.8">
                  <p:embed/>
                  <p:pic>
                    <p:nvPicPr>
                      <p:cNvPr id="63491" name="Object 6">
                        <a:extLst>
                          <a:ext uri="{FF2B5EF4-FFF2-40B4-BE49-F238E27FC236}">
                            <a16:creationId xmlns:a16="http://schemas.microsoft.com/office/drawing/2014/main" id="{4483A555-6EDE-BF47-9E20-A76B92C587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4274"/>
                      <a:stretch>
                        <a:fillRect/>
                      </a:stretch>
                    </p:blipFill>
                    <p:spPr bwMode="auto">
                      <a:xfrm>
                        <a:off x="7795113" y="1640015"/>
                        <a:ext cx="3311525" cy="337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Table 1">
            <a:extLst>
              <a:ext uri="{FF2B5EF4-FFF2-40B4-BE49-F238E27FC236}">
                <a16:creationId xmlns:a16="http://schemas.microsoft.com/office/drawing/2014/main" id="{A0313401-3BAE-1143-8402-55E980F80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674398"/>
              </p:ext>
            </p:extLst>
          </p:nvPr>
        </p:nvGraphicFramePr>
        <p:xfrm>
          <a:off x="7368074" y="5584954"/>
          <a:ext cx="2743200" cy="1114425"/>
        </p:xfrm>
        <a:graphic>
          <a:graphicData uri="http://schemas.openxmlformats.org/drawingml/2006/table">
            <a:tbl>
              <a:tblPr/>
              <a:tblGrid>
                <a:gridCol w="1538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6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T" altLang="en-IT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33" marB="4573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≤ 80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&gt; 80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Defaulted Yes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Defaulted No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I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val 6">
            <a:extLst>
              <a:ext uri="{FF2B5EF4-FFF2-40B4-BE49-F238E27FC236}">
                <a16:creationId xmlns:a16="http://schemas.microsoft.com/office/drawing/2014/main" id="{4024C66B-EA18-0D46-9082-9F542B299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5874" y="6356478"/>
            <a:ext cx="762000" cy="303212"/>
          </a:xfrm>
          <a:prstGeom prst="ellipse">
            <a:avLst/>
          </a:prstGeom>
          <a:solidFill>
            <a:srgbClr val="FFFF00">
              <a:alpha val="41176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4224DBA4-FCFA-6542-B29E-282901E293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9674" y="4983291"/>
            <a:ext cx="1752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Annual Income ?</a:t>
            </a:r>
          </a:p>
        </p:txBody>
      </p:sp>
      <p:cxnSp>
        <p:nvCxnSpPr>
          <p:cNvPr id="8" name="Straight Arrow Connector 4">
            <a:extLst>
              <a:ext uri="{FF2B5EF4-FFF2-40B4-BE49-F238E27FC236}">
                <a16:creationId xmlns:a16="http://schemas.microsoft.com/office/drawing/2014/main" id="{BFD95809-A416-FA44-BADB-7DA14F1F58E5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9273074" y="5288091"/>
            <a:ext cx="304800" cy="3016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Straight Arrow Connector 14">
            <a:extLst>
              <a:ext uri="{FF2B5EF4-FFF2-40B4-BE49-F238E27FC236}">
                <a16:creationId xmlns:a16="http://schemas.microsoft.com/office/drawing/2014/main" id="{B1803D8B-6B0A-8F4E-9369-D316F8B4489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9577874" y="5288091"/>
            <a:ext cx="304800" cy="3016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Rectangle 12">
            <a:extLst>
              <a:ext uri="{FF2B5EF4-FFF2-40B4-BE49-F238E27FC236}">
                <a16:creationId xmlns:a16="http://schemas.microsoft.com/office/drawing/2014/main" id="{BDAE292A-B0F5-514B-8A85-969ACE2A0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5812" y="2702053"/>
            <a:ext cx="1104900" cy="203200"/>
          </a:xfrm>
          <a:prstGeom prst="rect">
            <a:avLst/>
          </a:prstGeom>
          <a:solidFill>
            <a:srgbClr val="FFFF00">
              <a:alpha val="45882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  <p:sp>
        <p:nvSpPr>
          <p:cNvPr id="11" name="Rectangle 18">
            <a:extLst>
              <a:ext uri="{FF2B5EF4-FFF2-40B4-BE49-F238E27FC236}">
                <a16:creationId xmlns:a16="http://schemas.microsoft.com/office/drawing/2014/main" id="{BAE61E8E-D2E3-664A-B570-DA2CB22F9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8987" y="3535490"/>
            <a:ext cx="1104900" cy="203200"/>
          </a:xfrm>
          <a:prstGeom prst="rect">
            <a:avLst/>
          </a:prstGeom>
          <a:solidFill>
            <a:srgbClr val="FFFF00">
              <a:alpha val="45882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  <p:sp>
        <p:nvSpPr>
          <p:cNvPr id="12" name="Rectangle 19">
            <a:extLst>
              <a:ext uri="{FF2B5EF4-FFF2-40B4-BE49-F238E27FC236}">
                <a16:creationId xmlns:a16="http://schemas.microsoft.com/office/drawing/2014/main" id="{96993BE5-7EDC-3542-AD6F-D3AA30A9E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15974" y="4381628"/>
            <a:ext cx="1104900" cy="203200"/>
          </a:xfrm>
          <a:prstGeom prst="rect">
            <a:avLst/>
          </a:prstGeom>
          <a:solidFill>
            <a:srgbClr val="FFFF00">
              <a:alpha val="45882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  <p:sp>
        <p:nvSpPr>
          <p:cNvPr id="13" name="Oval 20">
            <a:extLst>
              <a:ext uri="{FF2B5EF4-FFF2-40B4-BE49-F238E27FC236}">
                <a16:creationId xmlns:a16="http://schemas.microsoft.com/office/drawing/2014/main" id="{DAE8DACD-CC7D-3C42-AC2D-2FEA2F786B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5474" y="5989766"/>
            <a:ext cx="762000" cy="303213"/>
          </a:xfrm>
          <a:prstGeom prst="ellipse">
            <a:avLst/>
          </a:prstGeom>
          <a:solidFill>
            <a:schemeClr val="accent2">
              <a:lumMod val="60000"/>
              <a:lumOff val="40000"/>
              <a:alpha val="41000"/>
            </a:scheme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4" name="Rectangle 21">
            <a:extLst>
              <a:ext uri="{FF2B5EF4-FFF2-40B4-BE49-F238E27FC236}">
                <a16:creationId xmlns:a16="http://schemas.microsoft.com/office/drawing/2014/main" id="{2D69E5FA-55BE-5D4E-B58C-8BDD0D08CE3B}"/>
              </a:ext>
            </a:extLst>
          </p:cNvPr>
          <p:cNvSpPr/>
          <p:nvPr/>
        </p:nvSpPr>
        <p:spPr bwMode="auto">
          <a:xfrm>
            <a:off x="9635024" y="4657853"/>
            <a:ext cx="1104900" cy="203200"/>
          </a:xfrm>
          <a:prstGeom prst="rect">
            <a:avLst/>
          </a:prstGeom>
          <a:solidFill>
            <a:schemeClr val="accent2">
              <a:lumMod val="60000"/>
              <a:lumOff val="40000"/>
              <a:alpha val="46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it-IT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5" name="Rectangle 22">
            <a:extLst>
              <a:ext uri="{FF2B5EF4-FFF2-40B4-BE49-F238E27FC236}">
                <a16:creationId xmlns:a16="http://schemas.microsoft.com/office/drawing/2014/main" id="{33AFA741-0A45-824B-8395-9DCAF9F276C9}"/>
              </a:ext>
            </a:extLst>
          </p:cNvPr>
          <p:cNvSpPr/>
          <p:nvPr/>
        </p:nvSpPr>
        <p:spPr bwMode="auto">
          <a:xfrm>
            <a:off x="9614387" y="4089528"/>
            <a:ext cx="1104900" cy="203200"/>
          </a:xfrm>
          <a:prstGeom prst="rect">
            <a:avLst/>
          </a:prstGeom>
          <a:solidFill>
            <a:schemeClr val="accent2">
              <a:lumMod val="60000"/>
              <a:lumOff val="40000"/>
              <a:alpha val="46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it-IT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6" name="Rectangle 23">
            <a:extLst>
              <a:ext uri="{FF2B5EF4-FFF2-40B4-BE49-F238E27FC236}">
                <a16:creationId xmlns:a16="http://schemas.microsoft.com/office/drawing/2014/main" id="{AE484FB2-6E88-BC42-8307-8996C9DC74D3}"/>
              </a:ext>
            </a:extLst>
          </p:cNvPr>
          <p:cNvSpPr/>
          <p:nvPr/>
        </p:nvSpPr>
        <p:spPr bwMode="auto">
          <a:xfrm>
            <a:off x="9592162" y="3257678"/>
            <a:ext cx="1104900" cy="203200"/>
          </a:xfrm>
          <a:prstGeom prst="rect">
            <a:avLst/>
          </a:prstGeom>
          <a:solidFill>
            <a:schemeClr val="accent2">
              <a:lumMod val="60000"/>
              <a:lumOff val="40000"/>
              <a:alpha val="46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it-IT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6636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537" name="Object 4">
            <a:extLst>
              <a:ext uri="{FF2B5EF4-FFF2-40B4-BE49-F238E27FC236}">
                <a16:creationId xmlns:a16="http://schemas.microsoft.com/office/drawing/2014/main" id="{C825A18F-1F5E-F44A-A72D-7C3BC23CC0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89250" y="3473450"/>
          <a:ext cx="7893050" cy="262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10604500" imgH="3556000" progId="Word.Document.8">
                  <p:embed/>
                </p:oleObj>
              </mc:Choice>
              <mc:Fallback>
                <p:oleObj name="Document" r:id="rId2" imgW="10604500" imgH="3556000" progId="Word.Document.8">
                  <p:embed/>
                  <p:pic>
                    <p:nvPicPr>
                      <p:cNvPr id="65537" name="Object 4">
                        <a:extLst>
                          <a:ext uri="{FF2B5EF4-FFF2-40B4-BE49-F238E27FC236}">
                            <a16:creationId xmlns:a16="http://schemas.microsoft.com/office/drawing/2014/main" id="{C825A18F-1F5E-F44A-A72D-7C3BC23CC0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0" y="3473450"/>
                        <a:ext cx="7893050" cy="262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6" name="Rectangle 2">
            <a:extLst>
              <a:ext uri="{FF2B5EF4-FFF2-40B4-BE49-F238E27FC236}">
                <a16:creationId xmlns:a16="http://schemas.microsoft.com/office/drawing/2014/main" id="{72DFF92A-7009-2648-A294-49902BAB16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/>
              <a:t>Continuous Attributes: Computing Gini Index...</a:t>
            </a:r>
          </a:p>
        </p:txBody>
      </p:sp>
      <p:sp>
        <p:nvSpPr>
          <p:cNvPr id="38917" name="Rectangle 3">
            <a:extLst>
              <a:ext uri="{FF2B5EF4-FFF2-40B4-BE49-F238E27FC236}">
                <a16:creationId xmlns:a16="http://schemas.microsoft.com/office/drawing/2014/main" id="{6CF0EC4B-9971-C048-8592-31A71A58F8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Monotype Sorts" charset="0"/>
              <a:buChar char="l"/>
              <a:defRPr/>
            </a:pPr>
            <a:r>
              <a:rPr lang="en-US" sz="2000" dirty="0"/>
              <a:t>For efficient computation O(N log N): for each attribute,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sz="2000" dirty="0"/>
              <a:t>Sort the attribute on values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sz="2000" dirty="0"/>
              <a:t>Linearly scan these values, each time updating the count matrix and computing </a:t>
            </a:r>
            <a:r>
              <a:rPr lang="en-US" sz="2000" dirty="0" err="1"/>
              <a:t>gini</a:t>
            </a:r>
            <a:r>
              <a:rPr lang="en-US" sz="2000" dirty="0"/>
              <a:t> index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sz="2000" dirty="0"/>
              <a:t>Choose the split position that has the least Gini index</a:t>
            </a:r>
          </a:p>
        </p:txBody>
      </p:sp>
      <p:grpSp>
        <p:nvGrpSpPr>
          <p:cNvPr id="65543" name="Group 4">
            <a:extLst>
              <a:ext uri="{FF2B5EF4-FFF2-40B4-BE49-F238E27FC236}">
                <a16:creationId xmlns:a16="http://schemas.microsoft.com/office/drawing/2014/main" id="{847AEB64-EB24-4044-B5B6-D46473CB93A7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3917950"/>
            <a:ext cx="8763000" cy="2254250"/>
            <a:chOff x="76200" y="3917950"/>
            <a:chExt cx="8763000" cy="2254250"/>
          </a:xfrm>
        </p:grpSpPr>
        <p:sp>
          <p:nvSpPr>
            <p:cNvPr id="65544" name="Line 5">
              <a:extLst>
                <a:ext uri="{FF2B5EF4-FFF2-40B4-BE49-F238E27FC236}">
                  <a16:creationId xmlns:a16="http://schemas.microsoft.com/office/drawing/2014/main" id="{80038CD4-21BF-3545-A302-CDA00E8632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6400" y="4146550"/>
              <a:ext cx="304800" cy="1588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5545" name="Group 6">
              <a:extLst>
                <a:ext uri="{FF2B5EF4-FFF2-40B4-BE49-F238E27FC236}">
                  <a16:creationId xmlns:a16="http://schemas.microsoft.com/office/drawing/2014/main" id="{E9F37F5C-6FE8-6B4D-86CD-296250A972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200" y="4222757"/>
              <a:ext cx="1905000" cy="338138"/>
              <a:chOff x="144" y="2832"/>
              <a:chExt cx="1200" cy="213"/>
            </a:xfrm>
          </p:grpSpPr>
          <p:sp>
            <p:nvSpPr>
              <p:cNvPr id="65550" name="Text Box 7">
                <a:extLst>
                  <a:ext uri="{FF2B5EF4-FFF2-40B4-BE49-F238E27FC236}">
                    <a16:creationId xmlns:a16="http://schemas.microsoft.com/office/drawing/2014/main" id="{CC5657DF-1151-624D-B5AD-91E803A1C5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" y="2832"/>
                <a:ext cx="926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defTabSz="9271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defTabSz="9271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defTabSz="9271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defTabSz="9271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 defTabSz="9271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defTabSz="9271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defTabSz="9271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defTabSz="9271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defTabSz="9271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Tx/>
                  <a:buFont typeface="Monotype Sorts" pitchFamily="2" charset="2"/>
                  <a:buNone/>
                </a:pPr>
                <a:r>
                  <a:rPr kumimoji="1" lang="en-US" altLang="it-IT" sz="1600"/>
                  <a:t>Split Positions</a:t>
                </a:r>
              </a:p>
            </p:txBody>
          </p:sp>
          <p:sp>
            <p:nvSpPr>
              <p:cNvPr id="65551" name="Line 8">
                <a:extLst>
                  <a:ext uri="{FF2B5EF4-FFF2-40B4-BE49-F238E27FC236}">
                    <a16:creationId xmlns:a16="http://schemas.microsoft.com/office/drawing/2014/main" id="{F77E28A8-0D31-EC44-AFB8-E8DD106BB0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297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5546" name="Text Box 9">
              <a:extLst>
                <a:ext uri="{FF2B5EF4-FFF2-40B4-BE49-F238E27FC236}">
                  <a16:creationId xmlns:a16="http://schemas.microsoft.com/office/drawing/2014/main" id="{43F99881-F68E-024D-8F84-6C0C9E9722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" y="3917950"/>
              <a:ext cx="16002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it-IT" sz="1600"/>
                <a:t>Sorted Values</a:t>
              </a:r>
            </a:p>
          </p:txBody>
        </p:sp>
        <p:sp>
          <p:nvSpPr>
            <p:cNvPr id="65547" name="Rectangle 1">
              <a:extLst>
                <a:ext uri="{FF2B5EF4-FFF2-40B4-BE49-F238E27FC236}">
                  <a16:creationId xmlns:a16="http://schemas.microsoft.com/office/drawing/2014/main" id="{CA4F9C47-F7CE-E547-A34A-C5B64844EA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4800600"/>
              <a:ext cx="609600" cy="838200"/>
            </a:xfrm>
            <a:prstGeom prst="rect">
              <a:avLst/>
            </a:prstGeom>
            <a:solidFill>
              <a:srgbClr val="FFFF00">
                <a:alpha val="52156"/>
              </a:srgbClr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it-IT" altLang="it-IT" sz="140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4C361E5-D2E7-964D-9FFC-2958A652956B}"/>
                </a:ext>
              </a:extLst>
            </p:cNvPr>
            <p:cNvSpPr/>
            <p:nvPr/>
          </p:nvSpPr>
          <p:spPr bwMode="auto">
            <a:xfrm>
              <a:off x="76200" y="4330700"/>
              <a:ext cx="8763000" cy="18415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it-IT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5549" name="Rectangle 1">
              <a:extLst>
                <a:ext uri="{FF2B5EF4-FFF2-40B4-BE49-F238E27FC236}">
                  <a16:creationId xmlns:a16="http://schemas.microsoft.com/office/drawing/2014/main" id="{C2894891-7EEB-4648-BDF4-2F8A1854F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" y="4222750"/>
              <a:ext cx="1905000" cy="228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it-IT" altLang="it-IT" sz="1400"/>
            </a:p>
          </p:txBody>
        </p:sp>
      </p:grpSp>
    </p:spTree>
    <p:extLst>
      <p:ext uri="{BB962C8B-B14F-4D97-AF65-F5344CB8AC3E}">
        <p14:creationId xmlns:p14="http://schemas.microsoft.com/office/powerpoint/2010/main" val="239294396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561" name="Object 4">
            <a:extLst>
              <a:ext uri="{FF2B5EF4-FFF2-40B4-BE49-F238E27FC236}">
                <a16:creationId xmlns:a16="http://schemas.microsoft.com/office/drawing/2014/main" id="{53F265B3-08B0-0349-9C4B-2C20FDD6B6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89250" y="3473450"/>
          <a:ext cx="7893050" cy="262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10604500" imgH="3556000" progId="Word.Document.8">
                  <p:embed/>
                </p:oleObj>
              </mc:Choice>
              <mc:Fallback>
                <p:oleObj name="Document" r:id="rId2" imgW="10604500" imgH="3556000" progId="Word.Document.8">
                  <p:embed/>
                  <p:pic>
                    <p:nvPicPr>
                      <p:cNvPr id="66561" name="Object 4">
                        <a:extLst>
                          <a:ext uri="{FF2B5EF4-FFF2-40B4-BE49-F238E27FC236}">
                            <a16:creationId xmlns:a16="http://schemas.microsoft.com/office/drawing/2014/main" id="{53F265B3-08B0-0349-9C4B-2C20FDD6B6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0" y="3473450"/>
                        <a:ext cx="7893050" cy="262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6" name="Rectangle 2">
            <a:extLst>
              <a:ext uri="{FF2B5EF4-FFF2-40B4-BE49-F238E27FC236}">
                <a16:creationId xmlns:a16="http://schemas.microsoft.com/office/drawing/2014/main" id="{BC0363DE-B574-594C-9980-A0A0174171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/>
              <a:t>Continuous Attributes: Computing Gini Index...</a:t>
            </a:r>
          </a:p>
        </p:txBody>
      </p:sp>
      <p:sp>
        <p:nvSpPr>
          <p:cNvPr id="38917" name="Rectangle 3">
            <a:extLst>
              <a:ext uri="{FF2B5EF4-FFF2-40B4-BE49-F238E27FC236}">
                <a16:creationId xmlns:a16="http://schemas.microsoft.com/office/drawing/2014/main" id="{1C9CE15C-8772-5540-8863-3B09211326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Monotype Sorts" charset="0"/>
              <a:buChar char="l"/>
              <a:defRPr/>
            </a:pPr>
            <a:r>
              <a:rPr lang="en-US" sz="2000" dirty="0"/>
              <a:t>For efficient computation: for each attribute,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sz="2000" dirty="0"/>
              <a:t>Sort the attribute on values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sz="2000" dirty="0"/>
              <a:t>Linearly scan these values, each time updating the count matrix and computing </a:t>
            </a:r>
            <a:r>
              <a:rPr lang="en-US" sz="2000" dirty="0" err="1"/>
              <a:t>gini</a:t>
            </a:r>
            <a:r>
              <a:rPr lang="en-US" sz="2000" dirty="0"/>
              <a:t> index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sz="2000" dirty="0"/>
              <a:t>Choose the split position that has the least Gini index</a:t>
            </a:r>
          </a:p>
        </p:txBody>
      </p:sp>
      <p:sp>
        <p:nvSpPr>
          <p:cNvPr id="66564" name="Line 5">
            <a:extLst>
              <a:ext uri="{FF2B5EF4-FFF2-40B4-BE49-F238E27FC236}">
                <a16:creationId xmlns:a16="http://schemas.microsoft.com/office/drawing/2014/main" id="{8208B9D1-64A4-B54C-8673-63D8DFC0B73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4146550"/>
            <a:ext cx="304800" cy="1588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6565" name="Group 6">
            <a:extLst>
              <a:ext uri="{FF2B5EF4-FFF2-40B4-BE49-F238E27FC236}">
                <a16:creationId xmlns:a16="http://schemas.microsoft.com/office/drawing/2014/main" id="{26CAEBDF-43C5-0046-B1AB-BDBCE1C9A189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4222757"/>
            <a:ext cx="1905000" cy="338138"/>
            <a:chOff x="144" y="2832"/>
            <a:chExt cx="1200" cy="213"/>
          </a:xfrm>
        </p:grpSpPr>
        <p:sp>
          <p:nvSpPr>
            <p:cNvPr id="66571" name="Text Box 7">
              <a:extLst>
                <a:ext uri="{FF2B5EF4-FFF2-40B4-BE49-F238E27FC236}">
                  <a16:creationId xmlns:a16="http://schemas.microsoft.com/office/drawing/2014/main" id="{BE3E858D-E096-CC4E-AA44-EFFCBCEAC8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832"/>
              <a:ext cx="92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9271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defTabSz="9271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Monotype Sorts" pitchFamily="2" charset="2"/>
                <a:buNone/>
              </a:pPr>
              <a:r>
                <a:rPr kumimoji="1" lang="en-US" altLang="it-IT" sz="1600"/>
                <a:t>Split Positions</a:t>
              </a:r>
            </a:p>
          </p:txBody>
        </p:sp>
        <p:sp>
          <p:nvSpPr>
            <p:cNvPr id="66572" name="Line 8">
              <a:extLst>
                <a:ext uri="{FF2B5EF4-FFF2-40B4-BE49-F238E27FC236}">
                  <a16:creationId xmlns:a16="http://schemas.microsoft.com/office/drawing/2014/main" id="{165AC13A-02DC-1948-9DCF-085D4F0BB4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976"/>
              <a:ext cx="19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6566" name="Text Box 9">
            <a:extLst>
              <a:ext uri="{FF2B5EF4-FFF2-40B4-BE49-F238E27FC236}">
                <a16:creationId xmlns:a16="http://schemas.microsoft.com/office/drawing/2014/main" id="{A08C647F-6133-214D-8C34-D409CA13B4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917950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600"/>
              <a:t>Sorted Values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69612C-BFA0-6A4D-8A00-9FB07B28191C}"/>
              </a:ext>
            </a:extLst>
          </p:cNvPr>
          <p:cNvSpPr/>
          <p:nvPr/>
        </p:nvSpPr>
        <p:spPr bwMode="auto">
          <a:xfrm>
            <a:off x="1612900" y="4821239"/>
            <a:ext cx="8763000" cy="1387475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it-IT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01075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585" name="Object 4">
            <a:extLst>
              <a:ext uri="{FF2B5EF4-FFF2-40B4-BE49-F238E27FC236}">
                <a16:creationId xmlns:a16="http://schemas.microsoft.com/office/drawing/2014/main" id="{2EDD7433-E46E-D443-98E5-5C3A718ECA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89250" y="3473450"/>
          <a:ext cx="7893050" cy="262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10604500" imgH="3556000" progId="Word.Document.8">
                  <p:embed/>
                </p:oleObj>
              </mc:Choice>
              <mc:Fallback>
                <p:oleObj name="Document" r:id="rId2" imgW="10604500" imgH="3556000" progId="Word.Document.8">
                  <p:embed/>
                  <p:pic>
                    <p:nvPicPr>
                      <p:cNvPr id="67585" name="Object 4">
                        <a:extLst>
                          <a:ext uri="{FF2B5EF4-FFF2-40B4-BE49-F238E27FC236}">
                            <a16:creationId xmlns:a16="http://schemas.microsoft.com/office/drawing/2014/main" id="{2EDD7433-E46E-D443-98E5-5C3A718ECA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0" y="3473450"/>
                        <a:ext cx="7893050" cy="262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6" name="Rectangle 2">
            <a:extLst>
              <a:ext uri="{FF2B5EF4-FFF2-40B4-BE49-F238E27FC236}">
                <a16:creationId xmlns:a16="http://schemas.microsoft.com/office/drawing/2014/main" id="{B5C4F3B5-2CC7-8646-A5D7-ED24BA7095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/>
              <a:t>Continuous Attributes: Computing Gini Index...</a:t>
            </a:r>
          </a:p>
        </p:txBody>
      </p:sp>
      <p:sp>
        <p:nvSpPr>
          <p:cNvPr id="38917" name="Rectangle 3">
            <a:extLst>
              <a:ext uri="{FF2B5EF4-FFF2-40B4-BE49-F238E27FC236}">
                <a16:creationId xmlns:a16="http://schemas.microsoft.com/office/drawing/2014/main" id="{323288E2-11B7-DF4A-B1FD-A872B9B253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Monotype Sorts" charset="0"/>
              <a:buChar char="l"/>
              <a:defRPr/>
            </a:pPr>
            <a:r>
              <a:rPr lang="en-US" sz="2000" dirty="0"/>
              <a:t>For efficient computation: for each attribute,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sz="2000" dirty="0"/>
              <a:t>Sort the attribute on values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sz="2000" dirty="0"/>
              <a:t>Linearly scan these values, each time updating the count matrix and computing </a:t>
            </a:r>
            <a:r>
              <a:rPr lang="en-US" sz="2000" dirty="0" err="1"/>
              <a:t>gini</a:t>
            </a:r>
            <a:r>
              <a:rPr lang="en-US" sz="2000" dirty="0"/>
              <a:t> index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sz="2000" dirty="0"/>
              <a:t>Choose the split position that has the least Gini index</a:t>
            </a:r>
          </a:p>
        </p:txBody>
      </p:sp>
      <p:sp>
        <p:nvSpPr>
          <p:cNvPr id="67588" name="Line 5">
            <a:extLst>
              <a:ext uri="{FF2B5EF4-FFF2-40B4-BE49-F238E27FC236}">
                <a16:creationId xmlns:a16="http://schemas.microsoft.com/office/drawing/2014/main" id="{C4907B88-24B1-D14C-A834-51FC010FBD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4146550"/>
            <a:ext cx="304800" cy="1588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7589" name="Group 6">
            <a:extLst>
              <a:ext uri="{FF2B5EF4-FFF2-40B4-BE49-F238E27FC236}">
                <a16:creationId xmlns:a16="http://schemas.microsoft.com/office/drawing/2014/main" id="{ADC0288C-A0F3-6C4F-9B98-2702E4F7CD07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4222757"/>
            <a:ext cx="1905000" cy="338138"/>
            <a:chOff x="144" y="2832"/>
            <a:chExt cx="1200" cy="213"/>
          </a:xfrm>
        </p:grpSpPr>
        <p:sp>
          <p:nvSpPr>
            <p:cNvPr id="67598" name="Text Box 7">
              <a:extLst>
                <a:ext uri="{FF2B5EF4-FFF2-40B4-BE49-F238E27FC236}">
                  <a16:creationId xmlns:a16="http://schemas.microsoft.com/office/drawing/2014/main" id="{469A3C5A-A5C6-5547-BE72-823C3BF544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832"/>
              <a:ext cx="92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9271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defTabSz="9271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Monotype Sorts" pitchFamily="2" charset="2"/>
                <a:buNone/>
              </a:pPr>
              <a:r>
                <a:rPr kumimoji="1" lang="en-US" altLang="it-IT" sz="1600"/>
                <a:t>Split Positions</a:t>
              </a:r>
            </a:p>
          </p:txBody>
        </p:sp>
        <p:sp>
          <p:nvSpPr>
            <p:cNvPr id="67599" name="Line 8">
              <a:extLst>
                <a:ext uri="{FF2B5EF4-FFF2-40B4-BE49-F238E27FC236}">
                  <a16:creationId xmlns:a16="http://schemas.microsoft.com/office/drawing/2014/main" id="{E333B956-3B3D-E849-A264-EBBEACBF76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976"/>
              <a:ext cx="19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7590" name="Text Box 9">
            <a:extLst>
              <a:ext uri="{FF2B5EF4-FFF2-40B4-BE49-F238E27FC236}">
                <a16:creationId xmlns:a16="http://schemas.microsoft.com/office/drawing/2014/main" id="{4DF9B68C-5667-4247-827C-FFF5124D1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917950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600"/>
              <a:t>Sorted Values</a:t>
            </a:r>
          </a:p>
        </p:txBody>
      </p:sp>
      <p:sp>
        <p:nvSpPr>
          <p:cNvPr id="67591" name="Rectangle 1">
            <a:extLst>
              <a:ext uri="{FF2B5EF4-FFF2-40B4-BE49-F238E27FC236}">
                <a16:creationId xmlns:a16="http://schemas.microsoft.com/office/drawing/2014/main" id="{F4D40736-B675-834B-9278-D111C3BC7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800600"/>
            <a:ext cx="609600" cy="838200"/>
          </a:xfrm>
          <a:prstGeom prst="rect">
            <a:avLst/>
          </a:prstGeom>
          <a:solidFill>
            <a:srgbClr val="FFFF00">
              <a:alpha val="52156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8FEA9B-70C5-484E-B31E-248820A5BA9F}"/>
              </a:ext>
            </a:extLst>
          </p:cNvPr>
          <p:cNvSpPr/>
          <p:nvPr/>
        </p:nvSpPr>
        <p:spPr bwMode="auto">
          <a:xfrm>
            <a:off x="3657600" y="4821238"/>
            <a:ext cx="1676400" cy="135096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it-IT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506E5C-B162-E940-AF4B-A014918A9D03}"/>
              </a:ext>
            </a:extLst>
          </p:cNvPr>
          <p:cNvSpPr/>
          <p:nvPr/>
        </p:nvSpPr>
        <p:spPr bwMode="auto">
          <a:xfrm>
            <a:off x="5943600" y="4856164"/>
            <a:ext cx="4267200" cy="1349375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it-IT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cxnSp>
        <p:nvCxnSpPr>
          <p:cNvPr id="67594" name="Straight Arrow Connector 13">
            <a:extLst>
              <a:ext uri="{FF2B5EF4-FFF2-40B4-BE49-F238E27FC236}">
                <a16:creationId xmlns:a16="http://schemas.microsoft.com/office/drawing/2014/main" id="{EEA19BD7-A5D3-E040-894F-792467043D9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562600" y="3016250"/>
            <a:ext cx="0" cy="4572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92243078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609" name="Object 4">
            <a:extLst>
              <a:ext uri="{FF2B5EF4-FFF2-40B4-BE49-F238E27FC236}">
                <a16:creationId xmlns:a16="http://schemas.microsoft.com/office/drawing/2014/main" id="{2E3395CF-2716-C24C-B51E-250F3C916E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89250" y="3473450"/>
          <a:ext cx="7893050" cy="262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10604500" imgH="3556000" progId="Word.Document.8">
                  <p:embed/>
                </p:oleObj>
              </mc:Choice>
              <mc:Fallback>
                <p:oleObj name="Document" r:id="rId2" imgW="10604500" imgH="3556000" progId="Word.Document.8">
                  <p:embed/>
                  <p:pic>
                    <p:nvPicPr>
                      <p:cNvPr id="68609" name="Object 4">
                        <a:extLst>
                          <a:ext uri="{FF2B5EF4-FFF2-40B4-BE49-F238E27FC236}">
                            <a16:creationId xmlns:a16="http://schemas.microsoft.com/office/drawing/2014/main" id="{2E3395CF-2716-C24C-B51E-250F3C916E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0" y="3473450"/>
                        <a:ext cx="7893050" cy="262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6" name="Rectangle 2">
            <a:extLst>
              <a:ext uri="{FF2B5EF4-FFF2-40B4-BE49-F238E27FC236}">
                <a16:creationId xmlns:a16="http://schemas.microsoft.com/office/drawing/2014/main" id="{A37EA6F3-A4C0-3844-BEEF-149219AB0F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/>
              <a:t>Continuous Attributes: Computing Gini Index...</a:t>
            </a:r>
          </a:p>
        </p:txBody>
      </p:sp>
      <p:sp>
        <p:nvSpPr>
          <p:cNvPr id="38917" name="Rectangle 3">
            <a:extLst>
              <a:ext uri="{FF2B5EF4-FFF2-40B4-BE49-F238E27FC236}">
                <a16:creationId xmlns:a16="http://schemas.microsoft.com/office/drawing/2014/main" id="{FDA0332A-6A82-F14A-B720-E82A79D234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Monotype Sorts" charset="0"/>
              <a:buChar char="l"/>
              <a:defRPr/>
            </a:pPr>
            <a:r>
              <a:rPr lang="en-US" sz="2000" dirty="0"/>
              <a:t>For efficient computation: for each attribute,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sz="2000" dirty="0"/>
              <a:t>Sort the attribute on values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sz="2000" dirty="0"/>
              <a:t>Linearly scan these values, each time updating the count matrix and computing </a:t>
            </a:r>
            <a:r>
              <a:rPr lang="en-US" sz="2000" dirty="0" err="1"/>
              <a:t>gini</a:t>
            </a:r>
            <a:r>
              <a:rPr lang="en-US" sz="2000" dirty="0"/>
              <a:t> index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sz="2000" dirty="0"/>
              <a:t>Choose the split position that has the least Gini index</a:t>
            </a:r>
          </a:p>
        </p:txBody>
      </p:sp>
      <p:sp>
        <p:nvSpPr>
          <p:cNvPr id="68612" name="Line 5">
            <a:extLst>
              <a:ext uri="{FF2B5EF4-FFF2-40B4-BE49-F238E27FC236}">
                <a16:creationId xmlns:a16="http://schemas.microsoft.com/office/drawing/2014/main" id="{426C8AA0-E89B-E84A-A100-9705EF78C70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4146550"/>
            <a:ext cx="304800" cy="1588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8613" name="Group 6">
            <a:extLst>
              <a:ext uri="{FF2B5EF4-FFF2-40B4-BE49-F238E27FC236}">
                <a16:creationId xmlns:a16="http://schemas.microsoft.com/office/drawing/2014/main" id="{B2E30558-EB74-6A48-8A32-7A87818B57C5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4222757"/>
            <a:ext cx="1905000" cy="338138"/>
            <a:chOff x="144" y="2832"/>
            <a:chExt cx="1200" cy="213"/>
          </a:xfrm>
        </p:grpSpPr>
        <p:sp>
          <p:nvSpPr>
            <p:cNvPr id="68619" name="Text Box 7">
              <a:extLst>
                <a:ext uri="{FF2B5EF4-FFF2-40B4-BE49-F238E27FC236}">
                  <a16:creationId xmlns:a16="http://schemas.microsoft.com/office/drawing/2014/main" id="{0DCB5EAD-A742-3645-9D65-6874A8A28B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832"/>
              <a:ext cx="92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9271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defTabSz="9271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Monotype Sorts" pitchFamily="2" charset="2"/>
                <a:buNone/>
              </a:pPr>
              <a:r>
                <a:rPr kumimoji="1" lang="en-US" altLang="it-IT" sz="1600"/>
                <a:t>Split Positions</a:t>
              </a:r>
            </a:p>
          </p:txBody>
        </p:sp>
        <p:sp>
          <p:nvSpPr>
            <p:cNvPr id="68620" name="Line 8">
              <a:extLst>
                <a:ext uri="{FF2B5EF4-FFF2-40B4-BE49-F238E27FC236}">
                  <a16:creationId xmlns:a16="http://schemas.microsoft.com/office/drawing/2014/main" id="{0A708CE9-8388-9443-9604-200BC0268A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976"/>
              <a:ext cx="19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8614" name="Text Box 9">
            <a:extLst>
              <a:ext uri="{FF2B5EF4-FFF2-40B4-BE49-F238E27FC236}">
                <a16:creationId xmlns:a16="http://schemas.microsoft.com/office/drawing/2014/main" id="{4B27FAB4-073C-2443-9717-9540A4131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917950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600"/>
              <a:t>Sorted Values</a:t>
            </a:r>
          </a:p>
        </p:txBody>
      </p:sp>
      <p:cxnSp>
        <p:nvCxnSpPr>
          <p:cNvPr id="68615" name="Straight Arrow Connector 14">
            <a:extLst>
              <a:ext uri="{FF2B5EF4-FFF2-40B4-BE49-F238E27FC236}">
                <a16:creationId xmlns:a16="http://schemas.microsoft.com/office/drawing/2014/main" id="{1E502A01-0710-264C-B6B5-8B08DCF6B30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329196" y="2971800"/>
            <a:ext cx="0" cy="4572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35100987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633" name="Object 4">
            <a:extLst>
              <a:ext uri="{FF2B5EF4-FFF2-40B4-BE49-F238E27FC236}">
                <a16:creationId xmlns:a16="http://schemas.microsoft.com/office/drawing/2014/main" id="{187692F8-F11E-514F-BCE3-C2FFD75CAB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89250" y="3473450"/>
          <a:ext cx="7893050" cy="262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10604500" imgH="3556000" progId="Word.Document.8">
                  <p:embed/>
                </p:oleObj>
              </mc:Choice>
              <mc:Fallback>
                <p:oleObj name="Document" r:id="rId2" imgW="10604500" imgH="3556000" progId="Word.Document.8">
                  <p:embed/>
                  <p:pic>
                    <p:nvPicPr>
                      <p:cNvPr id="69633" name="Object 4">
                        <a:extLst>
                          <a:ext uri="{FF2B5EF4-FFF2-40B4-BE49-F238E27FC236}">
                            <a16:creationId xmlns:a16="http://schemas.microsoft.com/office/drawing/2014/main" id="{187692F8-F11E-514F-BCE3-C2FFD75CAB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0" y="3473450"/>
                        <a:ext cx="7893050" cy="262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6" name="Rectangle 2">
            <a:extLst>
              <a:ext uri="{FF2B5EF4-FFF2-40B4-BE49-F238E27FC236}">
                <a16:creationId xmlns:a16="http://schemas.microsoft.com/office/drawing/2014/main" id="{8391ECD9-BA5F-0249-BCED-923A547C56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/>
              <a:t>Continuous Attributes: Computing Gini Index...</a:t>
            </a:r>
          </a:p>
        </p:txBody>
      </p:sp>
      <p:sp>
        <p:nvSpPr>
          <p:cNvPr id="38917" name="Rectangle 3">
            <a:extLst>
              <a:ext uri="{FF2B5EF4-FFF2-40B4-BE49-F238E27FC236}">
                <a16:creationId xmlns:a16="http://schemas.microsoft.com/office/drawing/2014/main" id="{C4C3804B-BBF8-2A4E-A747-3B6E2D9BF1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Monotype Sorts" charset="0"/>
              <a:buChar char="l"/>
              <a:defRPr/>
            </a:pPr>
            <a:r>
              <a:rPr lang="en-US" sz="2000" dirty="0"/>
              <a:t>For efficient computation: for each attribute,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sz="2000" dirty="0"/>
              <a:t>Sort the attribute on values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sz="2000" dirty="0"/>
              <a:t>Linearly scan these values, each time updating the count matrix and computing </a:t>
            </a:r>
            <a:r>
              <a:rPr lang="en-US" sz="2000" dirty="0" err="1"/>
              <a:t>gini</a:t>
            </a:r>
            <a:r>
              <a:rPr lang="en-US" sz="2000" dirty="0"/>
              <a:t> index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sz="2000" dirty="0"/>
              <a:t>Choose the split position that has the least Gini index</a:t>
            </a:r>
          </a:p>
        </p:txBody>
      </p:sp>
      <p:sp>
        <p:nvSpPr>
          <p:cNvPr id="69636" name="Line 5">
            <a:extLst>
              <a:ext uri="{FF2B5EF4-FFF2-40B4-BE49-F238E27FC236}">
                <a16:creationId xmlns:a16="http://schemas.microsoft.com/office/drawing/2014/main" id="{F89D55DB-7E88-3740-AC73-43B3357B05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4146550"/>
            <a:ext cx="304800" cy="1588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9637" name="Group 6">
            <a:extLst>
              <a:ext uri="{FF2B5EF4-FFF2-40B4-BE49-F238E27FC236}">
                <a16:creationId xmlns:a16="http://schemas.microsoft.com/office/drawing/2014/main" id="{0E185E39-49AE-DB42-992C-ADC3394F23EA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4222757"/>
            <a:ext cx="1905000" cy="338138"/>
            <a:chOff x="144" y="2832"/>
            <a:chExt cx="1200" cy="213"/>
          </a:xfrm>
        </p:grpSpPr>
        <p:sp>
          <p:nvSpPr>
            <p:cNvPr id="69642" name="Text Box 7">
              <a:extLst>
                <a:ext uri="{FF2B5EF4-FFF2-40B4-BE49-F238E27FC236}">
                  <a16:creationId xmlns:a16="http://schemas.microsoft.com/office/drawing/2014/main" id="{E4464B73-F201-AB48-9DA7-215B37C725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832"/>
              <a:ext cx="92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9271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defTabSz="9271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Monotype Sorts" pitchFamily="2" charset="2"/>
                <a:buNone/>
              </a:pPr>
              <a:r>
                <a:rPr kumimoji="1" lang="en-US" altLang="it-IT" sz="1600"/>
                <a:t>Split Positions</a:t>
              </a:r>
            </a:p>
          </p:txBody>
        </p:sp>
        <p:sp>
          <p:nvSpPr>
            <p:cNvPr id="69643" name="Line 8">
              <a:extLst>
                <a:ext uri="{FF2B5EF4-FFF2-40B4-BE49-F238E27FC236}">
                  <a16:creationId xmlns:a16="http://schemas.microsoft.com/office/drawing/2014/main" id="{D67FF7CF-4572-2B4F-8336-4AB812921E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976"/>
              <a:ext cx="19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9638" name="Text Box 9">
            <a:extLst>
              <a:ext uri="{FF2B5EF4-FFF2-40B4-BE49-F238E27FC236}">
                <a16:creationId xmlns:a16="http://schemas.microsoft.com/office/drawing/2014/main" id="{C311CC48-D518-EB4A-8B5C-8480FDF349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917950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600"/>
              <a:t>Sorted Values</a:t>
            </a:r>
          </a:p>
        </p:txBody>
      </p:sp>
    </p:spTree>
    <p:extLst>
      <p:ext uri="{BB962C8B-B14F-4D97-AF65-F5344CB8AC3E}">
        <p14:creationId xmlns:p14="http://schemas.microsoft.com/office/powerpoint/2010/main" val="161169536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>
            <a:extLst>
              <a:ext uri="{FF2B5EF4-FFF2-40B4-BE49-F238E27FC236}">
                <a16:creationId xmlns:a16="http://schemas.microsoft.com/office/drawing/2014/main" id="{594B120B-CCAC-444B-880A-88F527292E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t-IT" sz="4000" dirty="0">
                <a:ea typeface="ＭＳ Ｐゴシック" panose="020B0600070205080204" pitchFamily="34" charset="-128"/>
              </a:rPr>
              <a:t>Measure of Impurity: Entropy</a:t>
            </a:r>
          </a:p>
        </p:txBody>
      </p:sp>
      <p:sp>
        <p:nvSpPr>
          <p:cNvPr id="70658" name="Rectangle 3">
            <a:extLst>
              <a:ext uri="{FF2B5EF4-FFF2-40B4-BE49-F238E27FC236}">
                <a16:creationId xmlns:a16="http://schemas.microsoft.com/office/drawing/2014/main" id="{4995E194-0BB9-EE40-AEF7-E9BDC59885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indent="-342900"/>
            <a:r>
              <a:rPr lang="en-US" altLang="it-IT">
                <a:ea typeface="ＭＳ Ｐゴシック" panose="020B0600070205080204" pitchFamily="34" charset="-128"/>
              </a:rPr>
              <a:t>Entropy at a given node t:</a:t>
            </a:r>
          </a:p>
          <a:p>
            <a:pPr marL="742950" lvl="1" indent="-285750"/>
            <a:endParaRPr lang="en-US" altLang="it-IT">
              <a:ea typeface="ＭＳ Ｐゴシック" panose="020B0600070205080204" pitchFamily="34" charset="-128"/>
            </a:endParaRPr>
          </a:p>
          <a:p>
            <a:pPr lvl="4">
              <a:lnSpc>
                <a:spcPct val="90000"/>
              </a:lnSpc>
            </a:pPr>
            <a:endParaRPr lang="en-US" altLang="it-IT">
              <a:ea typeface="ＭＳ Ｐゴシック" panose="020B0600070205080204" pitchFamily="34" charset="-128"/>
            </a:endParaRPr>
          </a:p>
          <a:p>
            <a:pPr lvl="4">
              <a:lnSpc>
                <a:spcPct val="90000"/>
              </a:lnSpc>
            </a:pPr>
            <a:endParaRPr lang="en-US" altLang="it-IT">
              <a:ea typeface="ＭＳ Ｐゴシック" panose="020B0600070205080204" pitchFamily="34" charset="-128"/>
            </a:endParaRPr>
          </a:p>
          <a:p>
            <a:pPr marL="1085850" lvl="2">
              <a:buNone/>
            </a:pPr>
            <a:r>
              <a:rPr lang="en-US" altLang="it-IT">
                <a:ea typeface="ＭＳ Ｐゴシック" panose="020B0600070205080204" pitchFamily="34" charset="-128"/>
              </a:rPr>
              <a:t>(NOTE: </a:t>
            </a:r>
            <a:r>
              <a:rPr lang="en-US" altLang="it-IT" i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p( j | t) </a:t>
            </a:r>
            <a:r>
              <a:rPr lang="en-US" altLang="it-IT">
                <a:ea typeface="ＭＳ Ｐゴシック" panose="020B0600070205080204" pitchFamily="34" charset="-128"/>
              </a:rPr>
              <a:t>is the relative frequency of class j at node t).</a:t>
            </a:r>
          </a:p>
          <a:p>
            <a:pPr lvl="4">
              <a:lnSpc>
                <a:spcPct val="90000"/>
              </a:lnSpc>
            </a:pPr>
            <a:endParaRPr lang="en-US" altLang="it-IT">
              <a:ea typeface="ＭＳ Ｐゴシック" panose="020B0600070205080204" pitchFamily="34" charset="-128"/>
            </a:endParaRPr>
          </a:p>
          <a:p>
            <a:pPr marL="1085850" lvl="2"/>
            <a:r>
              <a:rPr lang="en-US" altLang="it-IT">
                <a:ea typeface="ＭＳ Ｐゴシック" panose="020B0600070205080204" pitchFamily="34" charset="-128"/>
              </a:rPr>
              <a:t>Maximum (log n</a:t>
            </a:r>
            <a:r>
              <a:rPr lang="en-US" altLang="it-IT" baseline="-25000">
                <a:ea typeface="ＭＳ Ｐゴシック" panose="020B0600070205080204" pitchFamily="34" charset="-128"/>
              </a:rPr>
              <a:t>c</a:t>
            </a:r>
            <a:r>
              <a:rPr lang="en-US" altLang="it-IT">
                <a:ea typeface="ＭＳ Ｐゴシック" panose="020B0600070205080204" pitchFamily="34" charset="-128"/>
              </a:rPr>
              <a:t>) when records are equally distributed among all classes implying least information</a:t>
            </a:r>
          </a:p>
          <a:p>
            <a:pPr marL="1085850" lvl="2"/>
            <a:r>
              <a:rPr lang="en-US" altLang="it-IT">
                <a:ea typeface="ＭＳ Ｐゴシック" panose="020B0600070205080204" pitchFamily="34" charset="-128"/>
              </a:rPr>
              <a:t>Minimum (0.0) when all records belong to one class, implying most information</a:t>
            </a:r>
          </a:p>
          <a:p>
            <a:pPr marL="742950" lvl="1" indent="-285750"/>
            <a:endParaRPr lang="en-US" altLang="it-IT">
              <a:ea typeface="ＭＳ Ｐゴシック" panose="020B0600070205080204" pitchFamily="34" charset="-128"/>
            </a:endParaRPr>
          </a:p>
          <a:p>
            <a:pPr marL="742950" lvl="1" indent="-285750"/>
            <a:r>
              <a:rPr lang="en-US" altLang="it-IT">
                <a:ea typeface="ＭＳ Ｐゴシック" panose="020B0600070205080204" pitchFamily="34" charset="-128"/>
              </a:rPr>
              <a:t>Entropy based computations are quite similar to the GINI index computations</a:t>
            </a:r>
          </a:p>
        </p:txBody>
      </p:sp>
      <p:graphicFrame>
        <p:nvGraphicFramePr>
          <p:cNvPr id="70659" name="Object 4">
            <a:extLst>
              <a:ext uri="{FF2B5EF4-FFF2-40B4-BE49-F238E27FC236}">
                <a16:creationId xmlns:a16="http://schemas.microsoft.com/office/drawing/2014/main" id="{139250CD-C186-DF44-8521-F3B4310126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8100099"/>
              </p:ext>
            </p:extLst>
          </p:nvPr>
        </p:nvGraphicFramePr>
        <p:xfrm>
          <a:off x="3338804" y="2396412"/>
          <a:ext cx="580390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5961200" imgH="10236200" progId="Equation.3">
                  <p:embed/>
                </p:oleObj>
              </mc:Choice>
              <mc:Fallback>
                <p:oleObj name="Equation" r:id="rId2" imgW="95961200" imgH="10236200" progId="Equation.3">
                  <p:embed/>
                  <p:pic>
                    <p:nvPicPr>
                      <p:cNvPr id="70659" name="Object 4">
                        <a:extLst>
                          <a:ext uri="{FF2B5EF4-FFF2-40B4-BE49-F238E27FC236}">
                            <a16:creationId xmlns:a16="http://schemas.microsoft.com/office/drawing/2014/main" id="{139250CD-C186-DF44-8521-F3B4310126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8804" y="2396412"/>
                        <a:ext cx="5803900" cy="6159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5619416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84196A64-EAE7-A04E-BAA0-F7C0216EE2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Computing Entropy of a Single Node</a:t>
            </a:r>
          </a:p>
        </p:txBody>
      </p:sp>
      <p:graphicFrame>
        <p:nvGraphicFramePr>
          <p:cNvPr id="71682" name="Object 3">
            <a:extLst>
              <a:ext uri="{FF2B5EF4-FFF2-40B4-BE49-F238E27FC236}">
                <a16:creationId xmlns:a16="http://schemas.microsoft.com/office/drawing/2014/main" id="{17A589D0-D5CC-674E-846D-0C2E518856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7208831"/>
              </p:ext>
            </p:extLst>
          </p:nvPr>
        </p:nvGraphicFramePr>
        <p:xfrm>
          <a:off x="1791478" y="2713037"/>
          <a:ext cx="23622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19431000" imgH="8140700" progId="Word.Document.8">
                  <p:embed/>
                </p:oleObj>
              </mc:Choice>
              <mc:Fallback>
                <p:oleObj name="Document" r:id="rId2" imgW="19431000" imgH="8140700" progId="Word.Document.8">
                  <p:embed/>
                  <p:pic>
                    <p:nvPicPr>
                      <p:cNvPr id="71682" name="Object 3">
                        <a:extLst>
                          <a:ext uri="{FF2B5EF4-FFF2-40B4-BE49-F238E27FC236}">
                            <a16:creationId xmlns:a16="http://schemas.microsoft.com/office/drawing/2014/main" id="{17A589D0-D5CC-674E-846D-0C2E518856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1478" y="2713037"/>
                        <a:ext cx="23622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3" name="Object 4">
            <a:extLst>
              <a:ext uri="{FF2B5EF4-FFF2-40B4-BE49-F238E27FC236}">
                <a16:creationId xmlns:a16="http://schemas.microsoft.com/office/drawing/2014/main" id="{E69B819E-85EC-0243-AFFB-E398044804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8453547"/>
              </p:ext>
            </p:extLst>
          </p:nvPr>
        </p:nvGraphicFramePr>
        <p:xfrm>
          <a:off x="1867678" y="5554662"/>
          <a:ext cx="2286000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19431000" imgH="8293100" progId="Word.Document.8">
                  <p:embed/>
                </p:oleObj>
              </mc:Choice>
              <mc:Fallback>
                <p:oleObj name="Document" r:id="rId4" imgW="19431000" imgH="8293100" progId="Word.Document.8">
                  <p:embed/>
                  <p:pic>
                    <p:nvPicPr>
                      <p:cNvPr id="71683" name="Object 4">
                        <a:extLst>
                          <a:ext uri="{FF2B5EF4-FFF2-40B4-BE49-F238E27FC236}">
                            <a16:creationId xmlns:a16="http://schemas.microsoft.com/office/drawing/2014/main" id="{E69B819E-85EC-0243-AFFB-E398044804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7678" y="5554662"/>
                        <a:ext cx="2286000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4" name="Object 5">
            <a:extLst>
              <a:ext uri="{FF2B5EF4-FFF2-40B4-BE49-F238E27FC236}">
                <a16:creationId xmlns:a16="http://schemas.microsoft.com/office/drawing/2014/main" id="{552DB186-3E41-C948-9ECE-63A5E77103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7802490"/>
              </p:ext>
            </p:extLst>
          </p:nvPr>
        </p:nvGraphicFramePr>
        <p:xfrm>
          <a:off x="1867678" y="4190999"/>
          <a:ext cx="2286000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19431000" imgH="8140700" progId="Word.Document.8">
                  <p:embed/>
                </p:oleObj>
              </mc:Choice>
              <mc:Fallback>
                <p:oleObj name="Document" r:id="rId6" imgW="19431000" imgH="8140700" progId="Word.Document.8">
                  <p:embed/>
                  <p:pic>
                    <p:nvPicPr>
                      <p:cNvPr id="71684" name="Object 5">
                        <a:extLst>
                          <a:ext uri="{FF2B5EF4-FFF2-40B4-BE49-F238E27FC236}">
                            <a16:creationId xmlns:a16="http://schemas.microsoft.com/office/drawing/2014/main" id="{552DB186-3E41-C948-9ECE-63A5E77103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7678" y="4190999"/>
                        <a:ext cx="2286000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5" name="Text Box 6">
            <a:extLst>
              <a:ext uri="{FF2B5EF4-FFF2-40B4-BE49-F238E27FC236}">
                <a16:creationId xmlns:a16="http://schemas.microsoft.com/office/drawing/2014/main" id="{D66CB97A-D461-7649-9EF8-F997C9395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2278" y="2713037"/>
            <a:ext cx="5943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/>
              <a:t>P(C1) = 0/6 = 0     P(C2) = 6/6 = 1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/>
              <a:t>Entropy = – 0 log 0</a:t>
            </a:r>
            <a:r>
              <a:rPr lang="en-US" altLang="it-IT" sz="2000" baseline="30000"/>
              <a:t> </a:t>
            </a:r>
            <a:r>
              <a:rPr lang="en-US" altLang="it-IT" sz="2000"/>
              <a:t>– 1 log 1 = – 0 – 0 = 0 </a:t>
            </a:r>
          </a:p>
        </p:txBody>
      </p:sp>
      <p:sp>
        <p:nvSpPr>
          <p:cNvPr id="71686" name="Text Box 8">
            <a:extLst>
              <a:ext uri="{FF2B5EF4-FFF2-40B4-BE49-F238E27FC236}">
                <a16:creationId xmlns:a16="http://schemas.microsoft.com/office/drawing/2014/main" id="{5D1153C0-6038-A44F-9427-588D0FF29B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8478" y="4106862"/>
            <a:ext cx="61722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 dirty="0"/>
              <a:t>P(C1) = 1/6          P(C2) = 5/6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 dirty="0"/>
              <a:t>Entropy = – (1/6) log</a:t>
            </a:r>
            <a:r>
              <a:rPr lang="en-US" altLang="it-IT" sz="2000" baseline="-25000" dirty="0"/>
              <a:t>2</a:t>
            </a:r>
            <a:r>
              <a:rPr lang="en-US" altLang="it-IT" sz="2000" dirty="0"/>
              <a:t> (1/6)</a:t>
            </a:r>
            <a:r>
              <a:rPr lang="en-US" altLang="it-IT" sz="2000" baseline="30000" dirty="0"/>
              <a:t> </a:t>
            </a:r>
            <a:r>
              <a:rPr lang="en-US" altLang="it-IT" sz="2000" dirty="0"/>
              <a:t>– (5/6) log</a:t>
            </a:r>
            <a:r>
              <a:rPr lang="en-US" altLang="it-IT" sz="2000" baseline="-25000" dirty="0"/>
              <a:t>2</a:t>
            </a:r>
            <a:r>
              <a:rPr lang="en-US" altLang="it-IT" sz="2000" dirty="0"/>
              <a:t> (5/6) = 0.65</a:t>
            </a:r>
          </a:p>
        </p:txBody>
      </p:sp>
      <p:sp>
        <p:nvSpPr>
          <p:cNvPr id="71687" name="Text Box 9">
            <a:extLst>
              <a:ext uri="{FF2B5EF4-FFF2-40B4-BE49-F238E27FC236}">
                <a16:creationId xmlns:a16="http://schemas.microsoft.com/office/drawing/2014/main" id="{5648CC85-66C0-4E43-AAD1-FE0590B1DC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8478" y="5478462"/>
            <a:ext cx="61722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/>
              <a:t>P(C1) = 2/6          P(C2) = 4/6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/>
              <a:t>Entropy = – (2/6) log</a:t>
            </a:r>
            <a:r>
              <a:rPr lang="en-US" altLang="it-IT" sz="2000" baseline="-25000"/>
              <a:t>2</a:t>
            </a:r>
            <a:r>
              <a:rPr lang="en-US" altLang="it-IT" sz="2000"/>
              <a:t> (2/6)</a:t>
            </a:r>
            <a:r>
              <a:rPr lang="en-US" altLang="it-IT" sz="2000" baseline="30000"/>
              <a:t> </a:t>
            </a:r>
            <a:r>
              <a:rPr lang="en-US" altLang="it-IT" sz="2000"/>
              <a:t>– (4/6) log</a:t>
            </a:r>
            <a:r>
              <a:rPr lang="en-US" altLang="it-IT" sz="2000" baseline="-25000"/>
              <a:t>2</a:t>
            </a:r>
            <a:r>
              <a:rPr lang="en-US" altLang="it-IT" sz="2000"/>
              <a:t> (4/6) = 0.92</a:t>
            </a:r>
          </a:p>
        </p:txBody>
      </p:sp>
      <p:graphicFrame>
        <p:nvGraphicFramePr>
          <p:cNvPr id="71688" name="Object 10">
            <a:extLst>
              <a:ext uri="{FF2B5EF4-FFF2-40B4-BE49-F238E27FC236}">
                <a16:creationId xmlns:a16="http://schemas.microsoft.com/office/drawing/2014/main" id="{A2031F6C-1460-B842-9BDA-2AB037AD7F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1864794"/>
              </p:ext>
            </p:extLst>
          </p:nvPr>
        </p:nvGraphicFramePr>
        <p:xfrm>
          <a:off x="3245628" y="1592261"/>
          <a:ext cx="5945188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8298000" imgH="10236200" progId="Equation.3">
                  <p:embed/>
                </p:oleObj>
              </mc:Choice>
              <mc:Fallback>
                <p:oleObj name="Equation" r:id="rId8" imgW="98298000" imgH="10236200" progId="Equation.3">
                  <p:embed/>
                  <p:pic>
                    <p:nvPicPr>
                      <p:cNvPr id="71688" name="Object 10">
                        <a:extLst>
                          <a:ext uri="{FF2B5EF4-FFF2-40B4-BE49-F238E27FC236}">
                            <a16:creationId xmlns:a16="http://schemas.microsoft.com/office/drawing/2014/main" id="{A2031F6C-1460-B842-9BDA-2AB037AD7F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5628" y="1592261"/>
                        <a:ext cx="5945188" cy="6159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3067521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84196A64-EAE7-A04E-BAA0-F7C0216EE2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Computing Entropy of a Single Node</a:t>
            </a:r>
          </a:p>
        </p:txBody>
      </p:sp>
      <p:graphicFrame>
        <p:nvGraphicFramePr>
          <p:cNvPr id="71682" name="Object 3">
            <a:extLst>
              <a:ext uri="{FF2B5EF4-FFF2-40B4-BE49-F238E27FC236}">
                <a16:creationId xmlns:a16="http://schemas.microsoft.com/office/drawing/2014/main" id="{17A589D0-D5CC-674E-846D-0C2E518856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129771"/>
              </p:ext>
            </p:extLst>
          </p:nvPr>
        </p:nvGraphicFramePr>
        <p:xfrm>
          <a:off x="1521061" y="2713037"/>
          <a:ext cx="2632617" cy="1050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2" imgW="3238500" imgH="1358900" progId="Word.Document.8">
                  <p:embed/>
                </p:oleObj>
              </mc:Choice>
              <mc:Fallback>
                <p:oleObj name="Documento" r:id="rId2" imgW="3238500" imgH="1358900" progId="Word.Document.8">
                  <p:embed/>
                  <p:pic>
                    <p:nvPicPr>
                      <p:cNvPr id="71682" name="Object 3">
                        <a:extLst>
                          <a:ext uri="{FF2B5EF4-FFF2-40B4-BE49-F238E27FC236}">
                            <a16:creationId xmlns:a16="http://schemas.microsoft.com/office/drawing/2014/main" id="{17A589D0-D5CC-674E-846D-0C2E518856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1061" y="2713037"/>
                        <a:ext cx="2632617" cy="10509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5" name="Text Box 6">
            <a:extLst>
              <a:ext uri="{FF2B5EF4-FFF2-40B4-BE49-F238E27FC236}">
                <a16:creationId xmlns:a16="http://schemas.microsoft.com/office/drawing/2014/main" id="{D66CB97A-D461-7649-9EF8-F997C9395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2278" y="2713037"/>
            <a:ext cx="59436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 dirty="0"/>
              <a:t>P(C1) = 3/6 = 0.5     P(C2) = 3/6 = 0.5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 dirty="0"/>
              <a:t>Entropy = – 0.5 log 0.5</a:t>
            </a:r>
            <a:r>
              <a:rPr lang="en-US" altLang="it-IT" sz="2000" baseline="30000" dirty="0"/>
              <a:t> </a:t>
            </a:r>
            <a:r>
              <a:rPr lang="en-US" altLang="it-IT" sz="2000" dirty="0"/>
              <a:t>– 0.5 log 0.5 = 0.5+0.5  = 1 </a:t>
            </a:r>
          </a:p>
        </p:txBody>
      </p:sp>
      <p:graphicFrame>
        <p:nvGraphicFramePr>
          <p:cNvPr id="71688" name="Object 10">
            <a:extLst>
              <a:ext uri="{FF2B5EF4-FFF2-40B4-BE49-F238E27FC236}">
                <a16:creationId xmlns:a16="http://schemas.microsoft.com/office/drawing/2014/main" id="{A2031F6C-1460-B842-9BDA-2AB037AD7F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45628" y="1592261"/>
          <a:ext cx="5945188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8298000" imgH="10236200" progId="Equation.3">
                  <p:embed/>
                </p:oleObj>
              </mc:Choice>
              <mc:Fallback>
                <p:oleObj name="Equation" r:id="rId4" imgW="98298000" imgH="10236200" progId="Equation.3">
                  <p:embed/>
                  <p:pic>
                    <p:nvPicPr>
                      <p:cNvPr id="71688" name="Object 10">
                        <a:extLst>
                          <a:ext uri="{FF2B5EF4-FFF2-40B4-BE49-F238E27FC236}">
                            <a16:creationId xmlns:a16="http://schemas.microsoft.com/office/drawing/2014/main" id="{A2031F6C-1460-B842-9BDA-2AB037AD7F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5628" y="1592261"/>
                        <a:ext cx="5945188" cy="6159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6">
            <a:extLst>
              <a:ext uri="{FF2B5EF4-FFF2-40B4-BE49-F238E27FC236}">
                <a16:creationId xmlns:a16="http://schemas.microsoft.com/office/drawing/2014/main" id="{1551DC17-8222-357D-F170-368B6A511A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7256" y="4079637"/>
            <a:ext cx="5943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 dirty="0"/>
              <a:t>Note: log 0.5 = log ½ = -1 </a:t>
            </a:r>
          </a:p>
        </p:txBody>
      </p:sp>
    </p:spTree>
    <p:extLst>
      <p:ext uri="{BB962C8B-B14F-4D97-AF65-F5344CB8AC3E}">
        <p14:creationId xmlns:p14="http://schemas.microsoft.com/office/powerpoint/2010/main" val="263619371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CAB4DC45-EEA0-E041-8D3E-C45CE1D0FF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t-IT" dirty="0">
                <a:ea typeface="ＭＳ Ｐゴシック" panose="020B0600070205080204" pitchFamily="34" charset="-128"/>
              </a:rPr>
              <a:t>Computing Information Gain After Splitting</a:t>
            </a:r>
          </a:p>
        </p:txBody>
      </p:sp>
      <p:sp>
        <p:nvSpPr>
          <p:cNvPr id="72706" name="Rectangle 3">
            <a:extLst>
              <a:ext uri="{FF2B5EF4-FFF2-40B4-BE49-F238E27FC236}">
                <a16:creationId xmlns:a16="http://schemas.microsoft.com/office/drawing/2014/main" id="{1383433A-D70B-CC45-AAC6-6D5D3C679C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indent="-342900"/>
            <a:r>
              <a:rPr lang="en-US" altLang="it-IT" sz="2400">
                <a:ea typeface="ＭＳ Ｐゴシック" panose="020B0600070205080204" pitchFamily="34" charset="-128"/>
              </a:rPr>
              <a:t>Information Gain: </a:t>
            </a:r>
          </a:p>
          <a:p>
            <a:pPr marL="742950" lvl="1" indent="-285750"/>
            <a:endParaRPr lang="en-US" altLang="it-IT">
              <a:ea typeface="ＭＳ Ｐゴシック" panose="020B0600070205080204" pitchFamily="34" charset="-128"/>
            </a:endParaRPr>
          </a:p>
          <a:p>
            <a:pPr marL="1146175" lvl="2">
              <a:buNone/>
            </a:pPr>
            <a:endParaRPr lang="en-US" altLang="it-IT">
              <a:ea typeface="ＭＳ Ｐゴシック" panose="020B0600070205080204" pitchFamily="34" charset="-128"/>
            </a:endParaRPr>
          </a:p>
          <a:p>
            <a:pPr marL="1146175" lvl="2">
              <a:buNone/>
            </a:pPr>
            <a:endParaRPr lang="en-US" altLang="it-IT">
              <a:ea typeface="ＭＳ Ｐゴシック" panose="020B0600070205080204" pitchFamily="34" charset="-128"/>
            </a:endParaRPr>
          </a:p>
          <a:p>
            <a:pPr marL="1146175" lvl="2">
              <a:buNone/>
            </a:pPr>
            <a:r>
              <a:rPr lang="en-US" altLang="it-IT">
                <a:ea typeface="ＭＳ Ｐゴシック" panose="020B0600070205080204" pitchFamily="34" charset="-128"/>
              </a:rPr>
              <a:t>		Parent Node, p is split into k partitions;</a:t>
            </a:r>
          </a:p>
          <a:p>
            <a:pPr marL="1146175" lvl="2">
              <a:buNone/>
            </a:pPr>
            <a:r>
              <a:rPr lang="en-US" altLang="it-IT">
                <a:ea typeface="ＭＳ Ｐゴシック" panose="020B0600070205080204" pitchFamily="34" charset="-128"/>
              </a:rPr>
              <a:t>		n</a:t>
            </a:r>
            <a:r>
              <a:rPr lang="en-US" altLang="it-IT" baseline="-25000">
                <a:ea typeface="ＭＳ Ｐゴシック" panose="020B0600070205080204" pitchFamily="34" charset="-128"/>
              </a:rPr>
              <a:t>i</a:t>
            </a:r>
            <a:r>
              <a:rPr lang="en-US" altLang="it-IT">
                <a:ea typeface="ＭＳ Ｐゴシック" panose="020B0600070205080204" pitchFamily="34" charset="-128"/>
              </a:rPr>
              <a:t> is number of records in partition i</a:t>
            </a:r>
            <a:endParaRPr lang="en-US" altLang="it-IT" sz="180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pPr marL="742950" lvl="1" indent="-285750"/>
            <a:r>
              <a:rPr lang="en-US" altLang="it-IT">
                <a:ea typeface="ＭＳ Ｐゴシック" panose="020B0600070205080204" pitchFamily="34" charset="-128"/>
              </a:rPr>
              <a:t>Measures </a:t>
            </a:r>
            <a:r>
              <a:rPr lang="en-US" altLang="it-IT" b="1">
                <a:ea typeface="ＭＳ Ｐゴシック" panose="020B0600070205080204" pitchFamily="34" charset="-128"/>
              </a:rPr>
              <a:t>Reduction in Entropy </a:t>
            </a:r>
            <a:r>
              <a:rPr lang="en-US" altLang="it-IT">
                <a:ea typeface="ＭＳ Ｐゴシック" panose="020B0600070205080204" pitchFamily="34" charset="-128"/>
              </a:rPr>
              <a:t>achieved because of the split. Choose the split that achieves most reduction (maximizes GAIN)</a:t>
            </a:r>
            <a:endParaRPr lang="en-US" altLang="it-IT" sz="180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pPr marL="742950" lvl="1" indent="-285750"/>
            <a:r>
              <a:rPr lang="en-US" altLang="it-IT">
                <a:ea typeface="ＭＳ Ｐゴシック" panose="020B0600070205080204" pitchFamily="34" charset="-128"/>
              </a:rPr>
              <a:t>Used in the ID3 and C4.5 decision tree algorithms</a:t>
            </a:r>
          </a:p>
          <a:p>
            <a:pPr marL="742950" lvl="1" indent="-285750"/>
            <a:r>
              <a:rPr lang="en-US" altLang="it-IT" b="1">
                <a:ea typeface="ＭＳ Ｐゴシック" panose="020B0600070205080204" pitchFamily="34" charset="-128"/>
              </a:rPr>
              <a:t>Disadvantage</a:t>
            </a:r>
            <a:r>
              <a:rPr lang="en-US" altLang="it-IT">
                <a:solidFill>
                  <a:srgbClr val="FF0000"/>
                </a:solidFill>
                <a:ea typeface="ＭＳ Ｐゴシック" panose="020B0600070205080204" pitchFamily="34" charset="-128"/>
              </a:rPr>
              <a:t>: Tends to prefer splits that result in large number of partitions, each being small but pure.</a:t>
            </a:r>
          </a:p>
          <a:p>
            <a:pPr marL="742950" lvl="1" indent="-285750"/>
            <a:endParaRPr lang="en-US" altLang="it-IT">
              <a:ea typeface="ＭＳ Ｐゴシック" panose="020B0600070205080204" pitchFamily="34" charset="-128"/>
            </a:endParaRPr>
          </a:p>
        </p:txBody>
      </p:sp>
      <p:sp>
        <p:nvSpPr>
          <p:cNvPr id="72710" name="Slide Number Placeholder 3">
            <a:extLst>
              <a:ext uri="{FF2B5EF4-FFF2-40B4-BE49-F238E27FC236}">
                <a16:creationId xmlns:a16="http://schemas.microsoft.com/office/drawing/2014/main" id="{F0E214D9-8554-AB40-9570-2E4E8930005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it-IT" sz="1200" dirty="0">
              <a:solidFill>
                <a:srgbClr val="898989"/>
              </a:solidFill>
            </a:endParaRPr>
          </a:p>
        </p:txBody>
      </p:sp>
      <p:graphicFrame>
        <p:nvGraphicFramePr>
          <p:cNvPr id="72707" name="Object 4">
            <a:extLst>
              <a:ext uri="{FF2B5EF4-FFF2-40B4-BE49-F238E27FC236}">
                <a16:creationId xmlns:a16="http://schemas.microsoft.com/office/drawing/2014/main" id="{A0D6C357-128B-F442-97FC-42D2E545F0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2198852"/>
              </p:ext>
            </p:extLst>
          </p:nvPr>
        </p:nvGraphicFramePr>
        <p:xfrm>
          <a:off x="3575180" y="2198914"/>
          <a:ext cx="6189663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6154200" imgH="18135600" progId="Equation.3">
                  <p:embed/>
                </p:oleObj>
              </mc:Choice>
              <mc:Fallback>
                <p:oleObj name="Equation" r:id="rId2" imgW="116154200" imgH="18135600" progId="Equation.3">
                  <p:embed/>
                  <p:pic>
                    <p:nvPicPr>
                      <p:cNvPr id="72707" name="Object 4">
                        <a:extLst>
                          <a:ext uri="{FF2B5EF4-FFF2-40B4-BE49-F238E27FC236}">
                            <a16:creationId xmlns:a16="http://schemas.microsoft.com/office/drawing/2014/main" id="{A0D6C357-128B-F442-97FC-42D2E545F0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180" y="2198914"/>
                        <a:ext cx="6189663" cy="9667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4804871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E88863-C5DD-5A48-9CC7-DD78BB8E1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with large number of partitions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ED9C2C6-C70A-DD4F-8EC1-A88E4F4B9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it-IT" dirty="0">
                <a:ea typeface="ＭＳ Ｐゴシック" panose="020B0600070205080204" pitchFamily="34" charset="-128"/>
              </a:rPr>
              <a:t>Node impurity measures tend to prefer splits that result in large number of partitions, each being small but pure</a:t>
            </a:r>
          </a:p>
          <a:p>
            <a:endParaRPr lang="en-US" altLang="it-IT" dirty="0">
              <a:ea typeface="ＭＳ Ｐゴシック" panose="020B0600070205080204" pitchFamily="34" charset="-128"/>
            </a:endParaRPr>
          </a:p>
          <a:p>
            <a:endParaRPr lang="en-US" altLang="it-IT" dirty="0">
              <a:ea typeface="ＭＳ Ｐゴシック" panose="020B0600070205080204" pitchFamily="34" charset="-128"/>
            </a:endParaRPr>
          </a:p>
          <a:p>
            <a:endParaRPr lang="en-US" altLang="it-IT" dirty="0">
              <a:ea typeface="ＭＳ Ｐゴシック" panose="020B0600070205080204" pitchFamily="34" charset="-128"/>
            </a:endParaRPr>
          </a:p>
          <a:p>
            <a:pPr>
              <a:buFont typeface="Monotype Sorts" pitchFamily="2" charset="2"/>
              <a:buNone/>
            </a:pPr>
            <a:endParaRPr lang="en-US" altLang="it-IT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it-IT" sz="2000" dirty="0">
                <a:ea typeface="ＭＳ Ｐゴシック" panose="020B0600070205080204" pitchFamily="34" charset="-128"/>
              </a:rPr>
              <a:t>Customer ID has </a:t>
            </a:r>
            <a:r>
              <a:rPr lang="en-US" altLang="it-IT" sz="2000" b="1" dirty="0">
                <a:ea typeface="ＭＳ Ｐゴシック" panose="020B0600070205080204" pitchFamily="34" charset="-128"/>
              </a:rPr>
              <a:t>highest information gain </a:t>
            </a:r>
            <a:r>
              <a:rPr lang="en-US" altLang="it-IT" sz="2000" dirty="0">
                <a:ea typeface="ＭＳ Ｐゴシック" panose="020B0600070205080204" pitchFamily="34" charset="-128"/>
              </a:rPr>
              <a:t>because entropy for all the children is zero</a:t>
            </a:r>
          </a:p>
          <a:p>
            <a:pPr lvl="1"/>
            <a:r>
              <a:rPr lang="en-US" altLang="it-IT" sz="2000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Can we use such a test condition on new test instances?</a:t>
            </a:r>
          </a:p>
          <a:p>
            <a:endParaRPr lang="en-US" dirty="0"/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73887D3C-C1F6-9944-AB4C-C67C824A88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1101435"/>
              </p:ext>
            </p:extLst>
          </p:nvPr>
        </p:nvGraphicFramePr>
        <p:xfrm>
          <a:off x="2449286" y="2739512"/>
          <a:ext cx="8001000" cy="1863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9652000" imgH="2247900" progId="Visio.Drawing.6">
                  <p:embed/>
                </p:oleObj>
              </mc:Choice>
              <mc:Fallback>
                <p:oleObj name="Visio" r:id="rId2" imgW="9652000" imgH="2247900" progId="Visio.Drawing.6">
                  <p:embed/>
                  <p:pic>
                    <p:nvPicPr>
                      <p:cNvPr id="73731" name="Object 4">
                        <a:extLst>
                          <a:ext uri="{FF2B5EF4-FFF2-40B4-BE49-F238E27FC236}">
                            <a16:creationId xmlns:a16="http://schemas.microsoft.com/office/drawing/2014/main" id="{3D642D9E-5792-404F-8BEE-D79180C57A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9286" y="2739512"/>
                        <a:ext cx="8001000" cy="18633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060899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olo 1">
            <a:extLst>
              <a:ext uri="{FF2B5EF4-FFF2-40B4-BE49-F238E27FC236}">
                <a16:creationId xmlns:a16="http://schemas.microsoft.com/office/drawing/2014/main" id="{6F87847F-8B38-C94D-931D-B24A01CA1D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Solution</a:t>
            </a:r>
          </a:p>
        </p:txBody>
      </p:sp>
      <p:sp>
        <p:nvSpPr>
          <p:cNvPr id="74754" name="Segnaposto contenuto 2">
            <a:extLst>
              <a:ext uri="{FF2B5EF4-FFF2-40B4-BE49-F238E27FC236}">
                <a16:creationId xmlns:a16="http://schemas.microsoft.com/office/drawing/2014/main" id="{BDC3C5E9-39BB-AA45-8172-F8E6CE849D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it-IT" altLang="it-IT" sz="2400">
                <a:ea typeface="ＭＳ Ｐゴシック" panose="020B0600070205080204" pitchFamily="34" charset="-128"/>
              </a:rPr>
              <a:t>A </a:t>
            </a:r>
            <a:r>
              <a:rPr lang="it-IT" altLang="it-IT" sz="2400" b="1">
                <a:solidFill>
                  <a:srgbClr val="FF0000"/>
                </a:solidFill>
                <a:ea typeface="ＭＳ Ｐゴシック" panose="020B0600070205080204" pitchFamily="34" charset="-128"/>
              </a:rPr>
              <a:t>low impurity value alone is insufficient </a:t>
            </a:r>
            <a:r>
              <a:rPr lang="it-IT" altLang="it-IT" sz="2400">
                <a:ea typeface="ＭＳ Ｐゴシック" panose="020B0600070205080204" pitchFamily="34" charset="-128"/>
              </a:rPr>
              <a:t>to find a good attribute test condition for a node </a:t>
            </a:r>
            <a:endParaRPr lang="it-IT" altLang="it-IT" sz="2400" b="1">
              <a:ea typeface="ＭＳ Ｐゴシック" panose="020B0600070205080204" pitchFamily="34" charset="-128"/>
            </a:endParaRPr>
          </a:p>
          <a:p>
            <a:r>
              <a:rPr lang="it-IT" altLang="it-IT" sz="2400" b="1">
                <a:ea typeface="ＭＳ Ｐゴシック" panose="020B0600070205080204" pitchFamily="34" charset="-128"/>
              </a:rPr>
              <a:t>Solution</a:t>
            </a:r>
            <a:r>
              <a:rPr lang="it-IT" altLang="it-IT" sz="2400">
                <a:ea typeface="ＭＳ Ｐゴシック" panose="020B0600070205080204" pitchFamily="34" charset="-128"/>
              </a:rPr>
              <a:t>: Consider the </a:t>
            </a:r>
            <a:r>
              <a:rPr lang="it-IT" altLang="it-IT" sz="2400" b="1">
                <a:solidFill>
                  <a:srgbClr val="FF0000"/>
                </a:solidFill>
                <a:ea typeface="ＭＳ Ｐゴシック" panose="020B0600070205080204" pitchFamily="34" charset="-128"/>
              </a:rPr>
              <a:t>number of children </a:t>
            </a:r>
            <a:r>
              <a:rPr lang="it-IT" altLang="it-IT" sz="2400">
                <a:ea typeface="ＭＳ Ｐゴシック" panose="020B0600070205080204" pitchFamily="34" charset="-128"/>
              </a:rPr>
              <a:t>produced by the splitting attribute in the identification of the best split </a:t>
            </a:r>
          </a:p>
          <a:p>
            <a:r>
              <a:rPr lang="it-IT" altLang="it-IT" sz="2400">
                <a:ea typeface="ＭＳ Ｐゴシック" panose="020B0600070205080204" pitchFamily="34" charset="-128"/>
              </a:rPr>
              <a:t>High number of child nodes implies more complexity</a:t>
            </a:r>
          </a:p>
          <a:p>
            <a:endParaRPr lang="it-IT" altLang="it-IT" sz="2400" b="1">
              <a:ea typeface="ＭＳ Ｐゴシック" panose="020B0600070205080204" pitchFamily="34" charset="-128"/>
            </a:endParaRPr>
          </a:p>
          <a:p>
            <a:r>
              <a:rPr lang="it-IT" altLang="it-IT" sz="2400" b="1">
                <a:ea typeface="ＭＳ Ｐゴシック" panose="020B0600070205080204" pitchFamily="34" charset="-128"/>
              </a:rPr>
              <a:t>Method 1</a:t>
            </a:r>
            <a:r>
              <a:rPr lang="it-IT" altLang="it-IT" sz="2400">
                <a:ea typeface="ＭＳ Ｐゴシック" panose="020B0600070205080204" pitchFamily="34" charset="-128"/>
              </a:rPr>
              <a:t>: Generate only binary decision trees</a:t>
            </a:r>
          </a:p>
          <a:p>
            <a:pPr lvl="1"/>
            <a:r>
              <a:rPr lang="it-IT" altLang="it-IT">
                <a:ea typeface="ＭＳ Ｐゴシック" panose="020B0600070205080204" pitchFamily="34" charset="-128"/>
              </a:rPr>
              <a:t>This strategy is employed by decision tree classifiers such as CART</a:t>
            </a:r>
          </a:p>
          <a:p>
            <a:r>
              <a:rPr lang="it-IT" altLang="it-IT" sz="2400" b="1">
                <a:ea typeface="ＭＳ Ｐゴシック" panose="020B0600070205080204" pitchFamily="34" charset="-128"/>
              </a:rPr>
              <a:t>Method 2</a:t>
            </a:r>
            <a:r>
              <a:rPr lang="it-IT" altLang="it-IT" sz="2400">
                <a:ea typeface="ＭＳ Ｐゴシック" panose="020B0600070205080204" pitchFamily="34" charset="-128"/>
              </a:rPr>
              <a:t>: Modify the splitting criterion to take into account the number of partitions produced by the attribute </a:t>
            </a:r>
          </a:p>
          <a:p>
            <a:endParaRPr lang="it-IT" altLang="it-IT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2288246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869584-D205-594C-ABEB-9CA19A15C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 dirty="0">
                <a:ea typeface="ＭＳ Ｐゴシック" panose="020B0600070205080204" pitchFamily="34" charset="-128"/>
              </a:rPr>
              <a:t>Gain Ratio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12ED899-41F4-774F-B931-95E6194E7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/>
            <a:r>
              <a:rPr lang="en-US" altLang="it-IT" sz="2000" dirty="0">
                <a:ea typeface="ＭＳ Ｐゴシック" panose="020B0600070205080204" pitchFamily="34" charset="-128"/>
              </a:rPr>
              <a:t>Gain Ratio: </a:t>
            </a:r>
          </a:p>
          <a:p>
            <a:pPr marL="742950" lvl="1" indent="-285750"/>
            <a:endParaRPr lang="en-US" altLang="it-IT" sz="2000" dirty="0">
              <a:ea typeface="ＭＳ Ｐゴシック" panose="020B0600070205080204" pitchFamily="34" charset="-128"/>
            </a:endParaRPr>
          </a:p>
          <a:p>
            <a:pPr marL="742950" lvl="1" indent="-285750"/>
            <a:endParaRPr lang="en-US" altLang="it-IT" sz="2000" dirty="0">
              <a:ea typeface="ＭＳ Ｐゴシック" panose="020B0600070205080204" pitchFamily="34" charset="-128"/>
            </a:endParaRPr>
          </a:p>
          <a:p>
            <a:pPr marL="1146175" lvl="2"/>
            <a:endParaRPr lang="en-US" altLang="it-IT" sz="1800" dirty="0">
              <a:ea typeface="ＭＳ Ｐゴシック" panose="020B0600070205080204" pitchFamily="34" charset="-128"/>
            </a:endParaRPr>
          </a:p>
          <a:p>
            <a:pPr marL="1146175" lvl="2"/>
            <a:endParaRPr lang="en-US" altLang="it-IT" sz="1800" dirty="0">
              <a:ea typeface="ＭＳ Ｐゴシック" panose="020B0600070205080204" pitchFamily="34" charset="-128"/>
            </a:endParaRPr>
          </a:p>
          <a:p>
            <a:pPr marL="1146175" lvl="2">
              <a:buNone/>
            </a:pPr>
            <a:r>
              <a:rPr lang="en-US" altLang="it-IT" sz="1800" dirty="0">
                <a:ea typeface="ＭＳ Ｐゴシック" panose="020B0600070205080204" pitchFamily="34" charset="-128"/>
              </a:rPr>
              <a:t>Parent Node, p is split into k partitions</a:t>
            </a:r>
          </a:p>
          <a:p>
            <a:pPr marL="1146175" lvl="2">
              <a:buNone/>
            </a:pPr>
            <a:r>
              <a:rPr lang="en-US" altLang="it-IT" sz="1800" dirty="0" err="1">
                <a:ea typeface="ＭＳ Ｐゴシック" panose="020B0600070205080204" pitchFamily="34" charset="-128"/>
              </a:rPr>
              <a:t>n</a:t>
            </a:r>
            <a:r>
              <a:rPr lang="en-US" altLang="it-IT" sz="1800" baseline="-25000" dirty="0" err="1">
                <a:ea typeface="ＭＳ Ｐゴシック" panose="020B0600070205080204" pitchFamily="34" charset="-128"/>
              </a:rPr>
              <a:t>i</a:t>
            </a:r>
            <a:r>
              <a:rPr lang="en-US" altLang="it-IT" sz="1800" dirty="0">
                <a:ea typeface="ＭＳ Ｐゴシック" panose="020B0600070205080204" pitchFamily="34" charset="-128"/>
              </a:rPr>
              <a:t> is the number of records in partition </a:t>
            </a:r>
            <a:r>
              <a:rPr lang="en-US" altLang="it-IT" sz="1800" dirty="0" err="1">
                <a:ea typeface="ＭＳ Ｐゴシック" panose="020B0600070205080204" pitchFamily="34" charset="-128"/>
              </a:rPr>
              <a:t>i</a:t>
            </a:r>
            <a:endParaRPr lang="en-US" altLang="it-IT" sz="1800" dirty="0">
              <a:ea typeface="ＭＳ Ｐゴシック" panose="020B0600070205080204" pitchFamily="34" charset="-128"/>
            </a:endParaRPr>
          </a:p>
          <a:p>
            <a:pPr marL="1146175" lvl="2">
              <a:buNone/>
            </a:pPr>
            <a:endParaRPr lang="en-US" altLang="it-IT" sz="700" dirty="0">
              <a:ea typeface="ＭＳ Ｐゴシック" panose="020B0600070205080204" pitchFamily="34" charset="-128"/>
            </a:endParaRPr>
          </a:p>
          <a:p>
            <a:pPr marL="742950" lvl="1" indent="-285750"/>
            <a:r>
              <a:rPr lang="en-US" altLang="it-IT" sz="2000" dirty="0">
                <a:ea typeface="ＭＳ Ｐゴシック" panose="020B0600070205080204" pitchFamily="34" charset="-128"/>
              </a:rPr>
              <a:t>Adjusts Information Gain by the entropy of the partitioning (</a:t>
            </a:r>
            <a:r>
              <a:rPr lang="en-US" altLang="it-IT" sz="2000" dirty="0" err="1">
                <a:ea typeface="ＭＳ Ｐゴシック" panose="020B0600070205080204" pitchFamily="34" charset="-128"/>
              </a:rPr>
              <a:t>SplitINFO</a:t>
            </a:r>
            <a:r>
              <a:rPr lang="en-US" altLang="it-IT" sz="2000" dirty="0">
                <a:ea typeface="ＭＳ Ｐゴシック" panose="020B0600070205080204" pitchFamily="34" charset="-128"/>
              </a:rPr>
              <a:t>). </a:t>
            </a:r>
          </a:p>
          <a:p>
            <a:pPr marL="1146175" lvl="2"/>
            <a:r>
              <a:rPr lang="en-US" altLang="it-IT" sz="1800" b="1" dirty="0">
                <a:ea typeface="ＭＳ Ｐゴシック" panose="020B0600070205080204" pitchFamily="34" charset="-128"/>
              </a:rPr>
              <a:t>Higher entropy partitioning (large number of small partitions) is penalized!</a:t>
            </a:r>
          </a:p>
          <a:p>
            <a:pPr marL="742950" lvl="1" indent="-285750"/>
            <a:r>
              <a:rPr lang="en-US" altLang="it-IT" sz="2000" dirty="0">
                <a:ea typeface="ＭＳ Ｐゴシック" panose="020B0600070205080204" pitchFamily="34" charset="-128"/>
              </a:rPr>
              <a:t>Used in C4.5 algorithm</a:t>
            </a:r>
          </a:p>
          <a:p>
            <a:pPr marL="742950" lvl="1" indent="-285750"/>
            <a:r>
              <a:rPr lang="en-US" altLang="it-IT" sz="2000" dirty="0">
                <a:ea typeface="ＭＳ Ｐゴシック" panose="020B0600070205080204" pitchFamily="34" charset="-128"/>
              </a:rPr>
              <a:t>Designed to overcome the disadvantage of Information Gain</a:t>
            </a:r>
          </a:p>
          <a:p>
            <a:endParaRPr lang="en-US" dirty="0"/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032AA41D-7D72-BC45-BE53-42F17B37B3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2000867"/>
              </p:ext>
            </p:extLst>
          </p:nvPr>
        </p:nvGraphicFramePr>
        <p:xfrm>
          <a:off x="1510420" y="2202403"/>
          <a:ext cx="4114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949300" imgH="18427700" progId="Equation.3">
                  <p:embed/>
                </p:oleObj>
              </mc:Choice>
              <mc:Fallback>
                <p:oleObj name="Equation" r:id="rId2" imgW="76949300" imgH="18427700" progId="Equation.3">
                  <p:embed/>
                  <p:pic>
                    <p:nvPicPr>
                      <p:cNvPr id="75779" name="Object 5">
                        <a:extLst>
                          <a:ext uri="{FF2B5EF4-FFF2-40B4-BE49-F238E27FC236}">
                            <a16:creationId xmlns:a16="http://schemas.microsoft.com/office/drawing/2014/main" id="{E8EB680E-30FD-DF49-A892-9D799EDF23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0420" y="2202403"/>
                        <a:ext cx="4114800" cy="9271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255B6ECF-8579-BF48-81BB-257D372600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0676646"/>
              </p:ext>
            </p:extLst>
          </p:nvPr>
        </p:nvGraphicFramePr>
        <p:xfrm>
          <a:off x="6706355" y="2194465"/>
          <a:ext cx="4194175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8173600" imgH="16675100" progId="Equation.3">
                  <p:embed/>
                </p:oleObj>
              </mc:Choice>
              <mc:Fallback>
                <p:oleObj name="Equation" r:id="rId4" imgW="68173600" imgH="16675100" progId="Equation.3">
                  <p:embed/>
                  <p:pic>
                    <p:nvPicPr>
                      <p:cNvPr id="75780" name="Object 6">
                        <a:extLst>
                          <a:ext uri="{FF2B5EF4-FFF2-40B4-BE49-F238E27FC236}">
                            <a16:creationId xmlns:a16="http://schemas.microsoft.com/office/drawing/2014/main" id="{D691A951-8B33-614A-A02B-2E6AF6DB15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6355" y="2194465"/>
                        <a:ext cx="4194175" cy="9350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3558746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C7AFBA-47EC-7A40-8FFC-A5C2A3970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 dirty="0">
                <a:ea typeface="ＭＳ Ｐゴシック" panose="020B0600070205080204" pitchFamily="34" charset="-128"/>
              </a:rPr>
              <a:t>Gain Ratio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BC1B8A8-00FD-2645-AA9B-77B792CFD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/>
            <a:r>
              <a:rPr lang="en-US" altLang="it-IT" sz="2000" dirty="0">
                <a:ea typeface="ＭＳ Ｐゴシック" panose="020B0600070205080204" pitchFamily="34" charset="-128"/>
              </a:rPr>
              <a:t>Gain Ratio: </a:t>
            </a:r>
          </a:p>
          <a:p>
            <a:pPr marL="742950" lvl="1" indent="-285750"/>
            <a:endParaRPr lang="en-US" altLang="it-IT" sz="2000" dirty="0">
              <a:ea typeface="ＭＳ Ｐゴシック" panose="020B0600070205080204" pitchFamily="34" charset="-128"/>
            </a:endParaRPr>
          </a:p>
          <a:p>
            <a:pPr marL="742950" lvl="1" indent="-285750"/>
            <a:endParaRPr lang="en-US" altLang="it-IT" sz="2000" dirty="0">
              <a:ea typeface="ＭＳ Ｐゴシック" panose="020B0600070205080204" pitchFamily="34" charset="-128"/>
            </a:endParaRPr>
          </a:p>
          <a:p>
            <a:pPr marL="1146175" lvl="2"/>
            <a:endParaRPr lang="en-US" altLang="it-IT" sz="1800" dirty="0">
              <a:ea typeface="ＭＳ Ｐゴシック" panose="020B0600070205080204" pitchFamily="34" charset="-128"/>
            </a:endParaRPr>
          </a:p>
          <a:p>
            <a:pPr marL="1146175" lvl="2"/>
            <a:endParaRPr lang="en-US" altLang="it-IT" sz="1800" dirty="0">
              <a:ea typeface="ＭＳ Ｐゴシック" panose="020B0600070205080204" pitchFamily="34" charset="-128"/>
            </a:endParaRPr>
          </a:p>
          <a:p>
            <a:pPr marL="1146175" lvl="2">
              <a:buNone/>
            </a:pPr>
            <a:r>
              <a:rPr lang="en-US" altLang="it-IT" sz="1800" dirty="0">
                <a:ea typeface="ＭＳ Ｐゴシック" panose="020B0600070205080204" pitchFamily="34" charset="-128"/>
              </a:rPr>
              <a:t>Parent Node, </a:t>
            </a:r>
            <a:r>
              <a:rPr lang="en-US" altLang="it-IT" sz="1800" i="1" dirty="0">
                <a:ea typeface="ＭＳ Ｐゴシック" panose="020B0600070205080204" pitchFamily="34" charset="-128"/>
              </a:rPr>
              <a:t>p</a:t>
            </a:r>
            <a:r>
              <a:rPr lang="en-US" altLang="it-IT" sz="1800" dirty="0">
                <a:ea typeface="ＭＳ Ｐゴシック" panose="020B0600070205080204" pitchFamily="34" charset="-128"/>
              </a:rPr>
              <a:t> is split into </a:t>
            </a:r>
            <a:r>
              <a:rPr lang="en-US" altLang="it-IT" sz="1800" i="1" dirty="0">
                <a:ea typeface="ＭＳ Ｐゴシック" panose="020B0600070205080204" pitchFamily="34" charset="-128"/>
              </a:rPr>
              <a:t>k</a:t>
            </a:r>
            <a:r>
              <a:rPr lang="en-US" altLang="it-IT" sz="1800" dirty="0">
                <a:ea typeface="ＭＳ Ｐゴシック" panose="020B0600070205080204" pitchFamily="34" charset="-128"/>
              </a:rPr>
              <a:t> partitions</a:t>
            </a:r>
          </a:p>
          <a:p>
            <a:pPr marL="1146175" lvl="2">
              <a:buNone/>
            </a:pPr>
            <a:r>
              <a:rPr lang="en-US" altLang="it-IT" sz="1800" i="1" dirty="0" err="1">
                <a:ea typeface="ＭＳ Ｐゴシック" panose="020B0600070205080204" pitchFamily="34" charset="-128"/>
              </a:rPr>
              <a:t>n</a:t>
            </a:r>
            <a:r>
              <a:rPr lang="en-US" altLang="it-IT" sz="1800" i="1" baseline="-25000" dirty="0" err="1">
                <a:ea typeface="ＭＳ Ｐゴシック" panose="020B0600070205080204" pitchFamily="34" charset="-128"/>
              </a:rPr>
              <a:t>i</a:t>
            </a:r>
            <a:r>
              <a:rPr lang="en-US" altLang="it-IT" sz="1800" dirty="0">
                <a:ea typeface="ＭＳ Ｐゴシック" panose="020B0600070205080204" pitchFamily="34" charset="-128"/>
              </a:rPr>
              <a:t> is the number of records in partition </a:t>
            </a:r>
            <a:r>
              <a:rPr lang="en-US" altLang="it-IT" sz="1800" i="1" dirty="0" err="1">
                <a:ea typeface="ＭＳ Ｐゴシック" panose="020B0600070205080204" pitchFamily="34" charset="-128"/>
              </a:rPr>
              <a:t>i</a:t>
            </a:r>
            <a:endParaRPr lang="en-US" altLang="it-IT" sz="1800" i="1" dirty="0">
              <a:ea typeface="ＭＳ Ｐゴシック" panose="020B0600070205080204" pitchFamily="34" charset="-128"/>
            </a:endParaRPr>
          </a:p>
          <a:p>
            <a:endParaRPr lang="en-US" dirty="0"/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A191DA24-1722-F041-B8F4-C983AA7310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9356997"/>
              </p:ext>
            </p:extLst>
          </p:nvPr>
        </p:nvGraphicFramePr>
        <p:xfrm>
          <a:off x="1981200" y="2303106"/>
          <a:ext cx="4114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949300" imgH="18427700" progId="Equation.3">
                  <p:embed/>
                </p:oleObj>
              </mc:Choice>
              <mc:Fallback>
                <p:oleObj name="Equation" r:id="rId2" imgW="76949300" imgH="18427700" progId="Equation.3">
                  <p:embed/>
                  <p:pic>
                    <p:nvPicPr>
                      <p:cNvPr id="4" name="Object 5">
                        <a:extLst>
                          <a:ext uri="{FF2B5EF4-FFF2-40B4-BE49-F238E27FC236}">
                            <a16:creationId xmlns:a16="http://schemas.microsoft.com/office/drawing/2014/main" id="{032AA41D-7D72-BC45-BE53-42F17B37B3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303106"/>
                        <a:ext cx="4114800" cy="9271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170D8303-D10E-6D43-B62C-4EBCFBFF70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7973405"/>
              </p:ext>
            </p:extLst>
          </p:nvPr>
        </p:nvGraphicFramePr>
        <p:xfrm>
          <a:off x="6851211" y="2260163"/>
          <a:ext cx="4194175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8173600" imgH="16675100" progId="Equation.3">
                  <p:embed/>
                </p:oleObj>
              </mc:Choice>
              <mc:Fallback>
                <p:oleObj name="Equation" r:id="rId4" imgW="68173600" imgH="16675100" progId="Equation.3">
                  <p:embed/>
                  <p:pic>
                    <p:nvPicPr>
                      <p:cNvPr id="5" name="Object 6">
                        <a:extLst>
                          <a:ext uri="{FF2B5EF4-FFF2-40B4-BE49-F238E27FC236}">
                            <a16:creationId xmlns:a16="http://schemas.microsoft.com/office/drawing/2014/main" id="{255B6ECF-8579-BF48-81BB-257D372600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1211" y="2260163"/>
                        <a:ext cx="4194175" cy="9350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6EBF1B76-23B3-D243-A42A-813C8FB365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1765960"/>
              </p:ext>
            </p:extLst>
          </p:nvPr>
        </p:nvGraphicFramePr>
        <p:xfrm>
          <a:off x="5218924" y="4267200"/>
          <a:ext cx="2570163" cy="175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854700" imgH="4000500" progId="Word.Document.8">
                  <p:embed/>
                </p:oleObj>
              </mc:Choice>
              <mc:Fallback>
                <p:oleObj name="Document" r:id="rId6" imgW="5854700" imgH="4000500" progId="Word.Document.8">
                  <p:embed/>
                  <p:pic>
                    <p:nvPicPr>
                      <p:cNvPr id="76805" name="Object 4">
                        <a:extLst>
                          <a:ext uri="{FF2B5EF4-FFF2-40B4-BE49-F238E27FC236}">
                            <a16:creationId xmlns:a16="http://schemas.microsoft.com/office/drawing/2014/main" id="{9D147DE4-61D0-D248-99B0-400840B912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8924" y="4267200"/>
                        <a:ext cx="2570163" cy="175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053B65B8-CBD5-334A-B963-0C4DA22EFE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7045622"/>
              </p:ext>
            </p:extLst>
          </p:nvPr>
        </p:nvGraphicFramePr>
        <p:xfrm>
          <a:off x="7982761" y="4262438"/>
          <a:ext cx="2570162" cy="175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854700" imgH="4000500" progId="Word.Document.8">
                  <p:embed/>
                </p:oleObj>
              </mc:Choice>
              <mc:Fallback>
                <p:oleObj name="Document" r:id="rId8" imgW="5854700" imgH="4000500" progId="Word.Document.8">
                  <p:embed/>
                  <p:pic>
                    <p:nvPicPr>
                      <p:cNvPr id="76806" name="Object 5">
                        <a:extLst>
                          <a:ext uri="{FF2B5EF4-FFF2-40B4-BE49-F238E27FC236}">
                            <a16:creationId xmlns:a16="http://schemas.microsoft.com/office/drawing/2014/main" id="{5426FF61-30A0-3A4B-BB41-8DCE41626C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2761" y="4262438"/>
                        <a:ext cx="2570162" cy="175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5C633410-BB14-7447-B84C-51DD31FD2A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6708945"/>
              </p:ext>
            </p:extLst>
          </p:nvPr>
        </p:nvGraphicFramePr>
        <p:xfrm>
          <a:off x="1866123" y="4267201"/>
          <a:ext cx="3048000" cy="157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6210300" imgH="3187700" progId="Word.Document.8">
                  <p:embed/>
                </p:oleObj>
              </mc:Choice>
              <mc:Fallback>
                <p:oleObj name="Document" r:id="rId10" imgW="6210300" imgH="3187700" progId="Word.Document.8">
                  <p:embed/>
                  <p:pic>
                    <p:nvPicPr>
                      <p:cNvPr id="76807" name="Object 6">
                        <a:extLst>
                          <a:ext uri="{FF2B5EF4-FFF2-40B4-BE49-F238E27FC236}">
                            <a16:creationId xmlns:a16="http://schemas.microsoft.com/office/drawing/2014/main" id="{3BB1F7A1-F9EF-F240-AF60-D45064B22C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6123" y="4267201"/>
                        <a:ext cx="3048000" cy="1570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1">
            <a:extLst>
              <a:ext uri="{FF2B5EF4-FFF2-40B4-BE49-F238E27FC236}">
                <a16:creationId xmlns:a16="http://schemas.microsoft.com/office/drawing/2014/main" id="{74DF13B7-E78B-204B-8FF9-23EB270810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5724" y="5838826"/>
            <a:ext cx="17557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600"/>
              <a:t>SplitINFO = 1.52</a:t>
            </a:r>
          </a:p>
        </p:txBody>
      </p:sp>
      <p:sp>
        <p:nvSpPr>
          <p:cNvPr id="11" name="TextBox 12">
            <a:extLst>
              <a:ext uri="{FF2B5EF4-FFF2-40B4-BE49-F238E27FC236}">
                <a16:creationId xmlns:a16="http://schemas.microsoft.com/office/drawing/2014/main" id="{B9CF1BC2-9371-294C-A375-2F2D8FFBA6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7524" y="5838826"/>
            <a:ext cx="17557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600"/>
              <a:t>SplitINFO = 0.72</a:t>
            </a:r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DD9B76BC-A33F-284B-90F6-7FD3A9ACDD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0724" y="5795962"/>
            <a:ext cx="17557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600"/>
              <a:t>SplitINFO = 0.97</a:t>
            </a:r>
          </a:p>
        </p:txBody>
      </p:sp>
    </p:spTree>
    <p:extLst>
      <p:ext uri="{BB962C8B-B14F-4D97-AF65-F5344CB8AC3E}">
        <p14:creationId xmlns:p14="http://schemas.microsoft.com/office/powerpoint/2010/main" val="327847570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>
            <a:extLst>
              <a:ext uri="{FF2B5EF4-FFF2-40B4-BE49-F238E27FC236}">
                <a16:creationId xmlns:a16="http://schemas.microsoft.com/office/drawing/2014/main" id="{F2C6356D-F505-6D44-9A9C-3D5AA2C88C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t-IT" dirty="0">
                <a:ea typeface="ＭＳ Ｐゴシック" panose="020B0600070205080204" pitchFamily="34" charset="-128"/>
              </a:rPr>
              <a:t>Measure of Impurity: Classification Error</a:t>
            </a:r>
          </a:p>
        </p:txBody>
      </p:sp>
      <p:sp>
        <p:nvSpPr>
          <p:cNvPr id="77826" name="Rectangle 3">
            <a:extLst>
              <a:ext uri="{FF2B5EF4-FFF2-40B4-BE49-F238E27FC236}">
                <a16:creationId xmlns:a16="http://schemas.microsoft.com/office/drawing/2014/main" id="{4ADB9590-5BDE-7A4C-9F19-F251BA6A54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indent="-342900"/>
            <a:r>
              <a:rPr lang="en-US" altLang="it-IT" dirty="0">
                <a:ea typeface="ＭＳ Ｐゴシック" panose="020B0600070205080204" pitchFamily="34" charset="-128"/>
              </a:rPr>
              <a:t>Classification error at a node t :</a:t>
            </a:r>
          </a:p>
          <a:p>
            <a:pPr marL="342900" indent="-342900"/>
            <a:endParaRPr lang="en-US" altLang="it-IT" dirty="0">
              <a:ea typeface="ＭＳ Ｐゴシック" panose="020B0600070205080204" pitchFamily="34" charset="-128"/>
            </a:endParaRPr>
          </a:p>
          <a:p>
            <a:pPr marL="342900" indent="-342900"/>
            <a:endParaRPr lang="en-US" altLang="it-IT" dirty="0">
              <a:ea typeface="ＭＳ Ｐゴシック" panose="020B0600070205080204" pitchFamily="34" charset="-128"/>
            </a:endParaRPr>
          </a:p>
          <a:p>
            <a:pPr marL="742950" lvl="1" indent="-285750"/>
            <a:endParaRPr lang="en-US" altLang="it-IT" dirty="0">
              <a:ea typeface="ＭＳ Ｐゴシック" panose="020B0600070205080204" pitchFamily="34" charset="-128"/>
            </a:endParaRPr>
          </a:p>
          <a:p>
            <a:pPr marL="742950" lvl="1" indent="-285750"/>
            <a:r>
              <a:rPr lang="en-US" altLang="it-IT" dirty="0">
                <a:ea typeface="ＭＳ Ｐゴシック" panose="020B0600070205080204" pitchFamily="34" charset="-128"/>
              </a:rPr>
              <a:t>Maximum (</a:t>
            </a:r>
            <a:r>
              <a:rPr lang="en-US" altLang="it-IT" i="1" dirty="0">
                <a:ea typeface="ＭＳ Ｐゴシック" panose="020B0600070205080204" pitchFamily="34" charset="-128"/>
              </a:rPr>
              <a:t>1 - 1/</a:t>
            </a:r>
            <a:r>
              <a:rPr lang="en-US" altLang="it-IT" i="1" dirty="0" err="1">
                <a:ea typeface="ＭＳ Ｐゴシック" panose="020B0600070205080204" pitchFamily="34" charset="-128"/>
              </a:rPr>
              <a:t>n</a:t>
            </a:r>
            <a:r>
              <a:rPr lang="en-US" altLang="it-IT" i="1" baseline="-25000" dirty="0" err="1">
                <a:ea typeface="ＭＳ Ｐゴシック" panose="020B0600070205080204" pitchFamily="34" charset="-128"/>
              </a:rPr>
              <a:t>c</a:t>
            </a:r>
            <a:r>
              <a:rPr lang="en-US" altLang="it-IT" dirty="0">
                <a:ea typeface="ＭＳ Ｐゴシック" panose="020B0600070205080204" pitchFamily="34" charset="-128"/>
              </a:rPr>
              <a:t>) when records are equally distributed among all classes, implying least interesting information</a:t>
            </a:r>
          </a:p>
          <a:p>
            <a:pPr marL="742950" lvl="1" indent="-285750"/>
            <a:r>
              <a:rPr lang="en-US" altLang="it-IT" dirty="0">
                <a:ea typeface="ＭＳ Ｐゴシック" panose="020B0600070205080204" pitchFamily="34" charset="-128"/>
              </a:rPr>
              <a:t>Minimum (</a:t>
            </a:r>
            <a:r>
              <a:rPr lang="en-US" altLang="it-IT" i="1" dirty="0">
                <a:ea typeface="ＭＳ Ｐゴシック" panose="020B0600070205080204" pitchFamily="34" charset="-128"/>
              </a:rPr>
              <a:t>0</a:t>
            </a:r>
            <a:r>
              <a:rPr lang="en-US" altLang="it-IT" dirty="0">
                <a:ea typeface="ＭＳ Ｐゴシック" panose="020B0600070205080204" pitchFamily="34" charset="-128"/>
              </a:rPr>
              <a:t>) when all records belong to one class, implying most interesting information</a:t>
            </a:r>
          </a:p>
        </p:txBody>
      </p:sp>
      <p:graphicFrame>
        <p:nvGraphicFramePr>
          <p:cNvPr id="77827" name="Object 4">
            <a:extLst>
              <a:ext uri="{FF2B5EF4-FFF2-40B4-BE49-F238E27FC236}">
                <a16:creationId xmlns:a16="http://schemas.microsoft.com/office/drawing/2014/main" id="{B6FACCE0-99EA-974F-A2C2-D464A7986B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7802031"/>
              </p:ext>
            </p:extLst>
          </p:nvPr>
        </p:nvGraphicFramePr>
        <p:xfrm>
          <a:off x="3332584" y="2643674"/>
          <a:ext cx="495300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0802500" imgH="9359900" progId="Equation.3">
                  <p:embed/>
                </p:oleObj>
              </mc:Choice>
              <mc:Fallback>
                <p:oleObj name="Equation" r:id="rId2" imgW="70802500" imgH="9359900" progId="Equation.3">
                  <p:embed/>
                  <p:pic>
                    <p:nvPicPr>
                      <p:cNvPr id="77827" name="Object 4">
                        <a:extLst>
                          <a:ext uri="{FF2B5EF4-FFF2-40B4-BE49-F238E27FC236}">
                            <a16:creationId xmlns:a16="http://schemas.microsoft.com/office/drawing/2014/main" id="{B6FACCE0-99EA-974F-A2C2-D464A7986B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2584" y="2643674"/>
                        <a:ext cx="4953000" cy="6508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0076383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F70113C3-ED2A-6543-848B-93593EFE1F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Computing Error of a Single Node</a:t>
            </a:r>
          </a:p>
        </p:txBody>
      </p:sp>
      <p:graphicFrame>
        <p:nvGraphicFramePr>
          <p:cNvPr id="78850" name="Object 3">
            <a:extLst>
              <a:ext uri="{FF2B5EF4-FFF2-40B4-BE49-F238E27FC236}">
                <a16:creationId xmlns:a16="http://schemas.microsoft.com/office/drawing/2014/main" id="{EEF53D06-2133-1A48-8952-0C636C9E37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4203346"/>
              </p:ext>
            </p:extLst>
          </p:nvPr>
        </p:nvGraphicFramePr>
        <p:xfrm>
          <a:off x="2095500" y="2747996"/>
          <a:ext cx="23622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19431000" imgH="8140700" progId="Word.Document.8">
                  <p:embed/>
                </p:oleObj>
              </mc:Choice>
              <mc:Fallback>
                <p:oleObj name="Document" r:id="rId3" imgW="19431000" imgH="8140700" progId="Word.Document.8">
                  <p:embed/>
                  <p:pic>
                    <p:nvPicPr>
                      <p:cNvPr id="78850" name="Object 3">
                        <a:extLst>
                          <a:ext uri="{FF2B5EF4-FFF2-40B4-BE49-F238E27FC236}">
                            <a16:creationId xmlns:a16="http://schemas.microsoft.com/office/drawing/2014/main" id="{EEF53D06-2133-1A48-8952-0C636C9E37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5500" y="2747996"/>
                        <a:ext cx="23622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1" name="Object 4">
            <a:extLst>
              <a:ext uri="{FF2B5EF4-FFF2-40B4-BE49-F238E27FC236}">
                <a16:creationId xmlns:a16="http://schemas.microsoft.com/office/drawing/2014/main" id="{1F592458-7B44-4E4B-A55E-280304AEA5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9812363"/>
              </p:ext>
            </p:extLst>
          </p:nvPr>
        </p:nvGraphicFramePr>
        <p:xfrm>
          <a:off x="2171700" y="5589621"/>
          <a:ext cx="2286000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5" imgW="19431000" imgH="8293100" progId="Word.Document.8">
                  <p:embed/>
                </p:oleObj>
              </mc:Choice>
              <mc:Fallback>
                <p:oleObj name="Document" r:id="rId5" imgW="19431000" imgH="8293100" progId="Word.Document.8">
                  <p:embed/>
                  <p:pic>
                    <p:nvPicPr>
                      <p:cNvPr id="78851" name="Object 4">
                        <a:extLst>
                          <a:ext uri="{FF2B5EF4-FFF2-40B4-BE49-F238E27FC236}">
                            <a16:creationId xmlns:a16="http://schemas.microsoft.com/office/drawing/2014/main" id="{1F592458-7B44-4E4B-A55E-280304AEA5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700" y="5589621"/>
                        <a:ext cx="2286000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2" name="Object 5">
            <a:extLst>
              <a:ext uri="{FF2B5EF4-FFF2-40B4-BE49-F238E27FC236}">
                <a16:creationId xmlns:a16="http://schemas.microsoft.com/office/drawing/2014/main" id="{4745FE23-9A1C-1F44-A358-5A329B743B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1070790"/>
              </p:ext>
            </p:extLst>
          </p:nvPr>
        </p:nvGraphicFramePr>
        <p:xfrm>
          <a:off x="2171700" y="4225958"/>
          <a:ext cx="2286000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7" imgW="19431000" imgH="8140700" progId="Word.Document.8">
                  <p:embed/>
                </p:oleObj>
              </mc:Choice>
              <mc:Fallback>
                <p:oleObj name="Document" r:id="rId7" imgW="19431000" imgH="8140700" progId="Word.Document.8">
                  <p:embed/>
                  <p:pic>
                    <p:nvPicPr>
                      <p:cNvPr id="78852" name="Object 5">
                        <a:extLst>
                          <a:ext uri="{FF2B5EF4-FFF2-40B4-BE49-F238E27FC236}">
                            <a16:creationId xmlns:a16="http://schemas.microsoft.com/office/drawing/2014/main" id="{4745FE23-9A1C-1F44-A358-5A329B743B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700" y="4225958"/>
                        <a:ext cx="2286000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3" name="Text Box 6">
            <a:extLst>
              <a:ext uri="{FF2B5EF4-FFF2-40B4-BE49-F238E27FC236}">
                <a16:creationId xmlns:a16="http://schemas.microsoft.com/office/drawing/2014/main" id="{79676568-D3EC-BC4D-8C96-D2A5D262DC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300" y="2747996"/>
            <a:ext cx="5943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/>
              <a:t>P(C1) = 0/6 = 0     P(C2) = 6/6 = 1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/>
              <a:t>Error = 1 – max (0, 1) = 1 – 1 = 0 </a:t>
            </a:r>
          </a:p>
        </p:txBody>
      </p:sp>
      <p:sp>
        <p:nvSpPr>
          <p:cNvPr id="78854" name="Text Box 7">
            <a:extLst>
              <a:ext uri="{FF2B5EF4-FFF2-40B4-BE49-F238E27FC236}">
                <a16:creationId xmlns:a16="http://schemas.microsoft.com/office/drawing/2014/main" id="{73A91903-F43B-A347-9507-60223CAB8A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0" y="4141821"/>
            <a:ext cx="51054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/>
              <a:t>P(C1) = 1/6          P(C2) = 5/6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/>
              <a:t>Error = 1 – max (1/6, 5/6) = 1 – 5/6 = 1/6</a:t>
            </a:r>
          </a:p>
        </p:txBody>
      </p:sp>
      <p:sp>
        <p:nvSpPr>
          <p:cNvPr id="78855" name="Text Box 8">
            <a:extLst>
              <a:ext uri="{FF2B5EF4-FFF2-40B4-BE49-F238E27FC236}">
                <a16:creationId xmlns:a16="http://schemas.microsoft.com/office/drawing/2014/main" id="{6D9B9F8C-66D6-7B48-8BBD-F487F08A2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0" y="5513421"/>
            <a:ext cx="61722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/>
              <a:t>P(C1) = 2/6          P(C2) = 4/6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/>
              <a:t>Error = 1 – max (2/6, 4/6) = 1 – 4/6 = 1/3</a:t>
            </a:r>
          </a:p>
        </p:txBody>
      </p:sp>
      <p:graphicFrame>
        <p:nvGraphicFramePr>
          <p:cNvPr id="78856" name="Object 10">
            <a:extLst>
              <a:ext uri="{FF2B5EF4-FFF2-40B4-BE49-F238E27FC236}">
                <a16:creationId xmlns:a16="http://schemas.microsoft.com/office/drawing/2014/main" id="{6A8E480E-9131-B142-BDBE-9145586DA9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920255"/>
              </p:ext>
            </p:extLst>
          </p:nvPr>
        </p:nvGraphicFramePr>
        <p:xfrm>
          <a:off x="3619500" y="1627221"/>
          <a:ext cx="495300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0802500" imgH="9359900" progId="Equation.3">
                  <p:embed/>
                </p:oleObj>
              </mc:Choice>
              <mc:Fallback>
                <p:oleObj name="Equation" r:id="rId9" imgW="70802500" imgH="9359900" progId="Equation.3">
                  <p:embed/>
                  <p:pic>
                    <p:nvPicPr>
                      <p:cNvPr id="78856" name="Object 10">
                        <a:extLst>
                          <a:ext uri="{FF2B5EF4-FFF2-40B4-BE49-F238E27FC236}">
                            <a16:creationId xmlns:a16="http://schemas.microsoft.com/office/drawing/2014/main" id="{6A8E480E-9131-B142-BDBE-9145586DA9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500" y="1627221"/>
                        <a:ext cx="4953000" cy="6508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2280724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C8BA01C1-99FB-BE40-85DD-5C0B7487F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Comparison among Impurity Measures</a:t>
            </a:r>
          </a:p>
        </p:txBody>
      </p:sp>
      <p:pic>
        <p:nvPicPr>
          <p:cNvPr id="79874" name="Picture 3">
            <a:extLst>
              <a:ext uri="{FF2B5EF4-FFF2-40B4-BE49-F238E27FC236}">
                <a16:creationId xmlns:a16="http://schemas.microsoft.com/office/drawing/2014/main" id="{570967FF-A477-5540-9494-4F858267B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538" y="2300288"/>
            <a:ext cx="4521200" cy="339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5" name="Text Box 4">
            <a:extLst>
              <a:ext uri="{FF2B5EF4-FFF2-40B4-BE49-F238E27FC236}">
                <a16:creationId xmlns:a16="http://schemas.microsoft.com/office/drawing/2014/main" id="{133E690B-050F-714F-8C33-8FAB638F50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6338" y="1690688"/>
            <a:ext cx="472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400"/>
              <a:t>For a 2-class problem: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50667D73-F621-1D46-B128-FE5FD65B2906}"/>
              </a:ext>
            </a:extLst>
          </p:cNvPr>
          <p:cNvSpPr/>
          <p:nvPr/>
        </p:nvSpPr>
        <p:spPr>
          <a:xfrm>
            <a:off x="5391538" y="2605089"/>
            <a:ext cx="5334000" cy="28622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Consistency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among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the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impurity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measures</a:t>
            </a:r>
            <a:endParaRPr lang="it-IT" sz="20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if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a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node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N1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has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lower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entropy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than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node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N2,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then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the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Gini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index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and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error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rate of N1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will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also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be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lower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than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that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of N2</a:t>
            </a:r>
          </a:p>
          <a:p>
            <a:pPr marL="285750" indent="-285750">
              <a:buFont typeface="Arial"/>
              <a:buChar char="•"/>
              <a:defRPr/>
            </a:pPr>
            <a:endParaRPr lang="it-IT" sz="20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defRPr/>
            </a:pPr>
            <a:endParaRPr lang="it-IT" sz="2000" dirty="0">
              <a:solidFill>
                <a:srgbClr val="FF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defRPr/>
            </a:pPr>
            <a:r>
              <a:rPr lang="it-IT" sz="2000" dirty="0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The </a:t>
            </a:r>
            <a:r>
              <a:rPr lang="it-IT" sz="2000" dirty="0" err="1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attribute</a:t>
            </a:r>
            <a:r>
              <a:rPr lang="it-IT" sz="2000" dirty="0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000" dirty="0" err="1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chosen</a:t>
            </a:r>
            <a:r>
              <a:rPr lang="it-IT" sz="2000" dirty="0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000" dirty="0" err="1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as</a:t>
            </a:r>
            <a:r>
              <a:rPr lang="it-IT" sz="2000" dirty="0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000" dirty="0" err="1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splitting</a:t>
            </a:r>
            <a:r>
              <a:rPr lang="it-IT" sz="2000" dirty="0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000" dirty="0" err="1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criterion</a:t>
            </a:r>
            <a:r>
              <a:rPr lang="it-IT" sz="2000" dirty="0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 by the </a:t>
            </a:r>
            <a:r>
              <a:rPr lang="it-IT" sz="2000" dirty="0" err="1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impurity</a:t>
            </a:r>
            <a:r>
              <a:rPr lang="it-IT" sz="2000" dirty="0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000" dirty="0" err="1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measures</a:t>
            </a:r>
            <a:r>
              <a:rPr lang="it-IT" sz="2000" dirty="0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 can </a:t>
            </a:r>
            <a:r>
              <a:rPr lang="it-IT" sz="2000" dirty="0" err="1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still</a:t>
            </a:r>
            <a:r>
              <a:rPr lang="it-IT" sz="2000" dirty="0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 be </a:t>
            </a:r>
            <a:r>
              <a:rPr lang="it-IT" sz="2000" dirty="0" err="1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different</a:t>
            </a:r>
            <a:r>
              <a:rPr lang="it-IT" sz="2000" dirty="0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!</a:t>
            </a:r>
          </a:p>
          <a:p>
            <a:pPr>
              <a:defRPr/>
            </a:pPr>
            <a:endParaRPr lang="it-IT" sz="2000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194423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F3CC0F66-7ECB-9147-AC2A-D744C103DE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Misclassification Error vs Gini Index</a:t>
            </a:r>
          </a:p>
        </p:txBody>
      </p:sp>
      <p:sp>
        <p:nvSpPr>
          <p:cNvPr id="80898" name="Oval 3">
            <a:extLst>
              <a:ext uri="{FF2B5EF4-FFF2-40B4-BE49-F238E27FC236}">
                <a16:creationId xmlns:a16="http://schemas.microsoft.com/office/drawing/2014/main" id="{8F504208-C2A5-7A41-952F-DE0975A2F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3515" y="1768475"/>
            <a:ext cx="1009650" cy="454025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>
                <a:latin typeface="Times New Roman" panose="02020603050405020304" pitchFamily="18" charset="0"/>
              </a:rPr>
              <a:t>A?</a:t>
            </a:r>
            <a:endParaRPr lang="en-US" altLang="it-IT" sz="2400">
              <a:latin typeface="Times New Roman" panose="02020603050405020304" pitchFamily="18" charset="0"/>
            </a:endParaRPr>
          </a:p>
        </p:txBody>
      </p:sp>
      <p:sp>
        <p:nvSpPr>
          <p:cNvPr id="80899" name="Line 4">
            <a:extLst>
              <a:ext uri="{FF2B5EF4-FFF2-40B4-BE49-F238E27FC236}">
                <a16:creationId xmlns:a16="http://schemas.microsoft.com/office/drawing/2014/main" id="{D202FB98-7C4C-0F4C-AA03-5CB8A061F9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38841" y="2225674"/>
            <a:ext cx="1108075" cy="725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00" name="Line 5">
            <a:extLst>
              <a:ext uri="{FF2B5EF4-FFF2-40B4-BE49-F238E27FC236}">
                <a16:creationId xmlns:a16="http://schemas.microsoft.com/office/drawing/2014/main" id="{57BEF533-242A-DE42-ADDE-5C546AA5387D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6916" y="2225674"/>
            <a:ext cx="1184275" cy="725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01" name="Text Box 6">
            <a:extLst>
              <a:ext uri="{FF2B5EF4-FFF2-40B4-BE49-F238E27FC236}">
                <a16:creationId xmlns:a16="http://schemas.microsoft.com/office/drawing/2014/main" id="{54767FDE-0063-894D-96ED-F16BEA5CB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5790" y="2341562"/>
            <a:ext cx="539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80902" name="Text Box 7">
            <a:extLst>
              <a:ext uri="{FF2B5EF4-FFF2-40B4-BE49-F238E27FC236}">
                <a16:creationId xmlns:a16="http://schemas.microsoft.com/office/drawing/2014/main" id="{1091BA07-80A7-B04B-A52C-958F135ED5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4990" y="2341562"/>
            <a:ext cx="463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80903" name="Rectangle 8">
            <a:extLst>
              <a:ext uri="{FF2B5EF4-FFF2-40B4-BE49-F238E27FC236}">
                <a16:creationId xmlns:a16="http://schemas.microsoft.com/office/drawing/2014/main" id="{1C5ECB07-27F3-A742-8A91-0C29FC1CE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2916" y="2951162"/>
            <a:ext cx="936625" cy="3413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>
                <a:latin typeface="Times New Roman" panose="02020603050405020304" pitchFamily="18" charset="0"/>
              </a:rPr>
              <a:t>Node N1</a:t>
            </a:r>
          </a:p>
        </p:txBody>
      </p:sp>
      <p:sp>
        <p:nvSpPr>
          <p:cNvPr id="80904" name="Rectangle 9">
            <a:extLst>
              <a:ext uri="{FF2B5EF4-FFF2-40B4-BE49-F238E27FC236}">
                <a16:creationId xmlns:a16="http://schemas.microsoft.com/office/drawing/2014/main" id="{AD9BEB79-EDFD-0E47-B0A2-758E0A13C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0491" y="2951162"/>
            <a:ext cx="936625" cy="3413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>
                <a:latin typeface="Times New Roman" panose="02020603050405020304" pitchFamily="18" charset="0"/>
              </a:rPr>
              <a:t>Node N2</a:t>
            </a:r>
          </a:p>
        </p:txBody>
      </p:sp>
      <p:graphicFrame>
        <p:nvGraphicFramePr>
          <p:cNvPr id="80905" name="Object 10">
            <a:extLst>
              <a:ext uri="{FF2B5EF4-FFF2-40B4-BE49-F238E27FC236}">
                <a16:creationId xmlns:a16="http://schemas.microsoft.com/office/drawing/2014/main" id="{9D5E81EC-7729-CF4F-801E-B4ACCDF87A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7295793"/>
              </p:ext>
            </p:extLst>
          </p:nvPr>
        </p:nvGraphicFramePr>
        <p:xfrm>
          <a:off x="7832953" y="1690688"/>
          <a:ext cx="1968500" cy="189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19062700" imgH="18326100" progId="Word.Document.8">
                  <p:embed/>
                </p:oleObj>
              </mc:Choice>
              <mc:Fallback>
                <p:oleObj name="Document" r:id="rId2" imgW="19062700" imgH="18326100" progId="Word.Document.8">
                  <p:embed/>
                  <p:pic>
                    <p:nvPicPr>
                      <p:cNvPr id="80905" name="Object 10">
                        <a:extLst>
                          <a:ext uri="{FF2B5EF4-FFF2-40B4-BE49-F238E27FC236}">
                            <a16:creationId xmlns:a16="http://schemas.microsoft.com/office/drawing/2014/main" id="{9D5E81EC-7729-CF4F-801E-B4ACCDF87A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2953" y="1690688"/>
                        <a:ext cx="1968500" cy="189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6" name="Object 11">
            <a:extLst>
              <a:ext uri="{FF2B5EF4-FFF2-40B4-BE49-F238E27FC236}">
                <a16:creationId xmlns:a16="http://schemas.microsoft.com/office/drawing/2014/main" id="{A6055B1F-B6E3-4F45-A2C5-D2E00CC9B7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2957904"/>
              </p:ext>
            </p:extLst>
          </p:nvPr>
        </p:nvGraphicFramePr>
        <p:xfrm>
          <a:off x="4561115" y="4206875"/>
          <a:ext cx="1905000" cy="147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276600" imgH="2552700" progId="Word.Document.8">
                  <p:embed/>
                </p:oleObj>
              </mc:Choice>
              <mc:Fallback>
                <p:oleObj name="Document" r:id="rId4" imgW="3276600" imgH="2552700" progId="Word.Document.8">
                  <p:embed/>
                  <p:pic>
                    <p:nvPicPr>
                      <p:cNvPr id="80906" name="Object 11">
                        <a:extLst>
                          <a:ext uri="{FF2B5EF4-FFF2-40B4-BE49-F238E27FC236}">
                            <a16:creationId xmlns:a16="http://schemas.microsoft.com/office/drawing/2014/main" id="{A6055B1F-B6E3-4F45-A2C5-D2E00CC9B7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1115" y="4206875"/>
                        <a:ext cx="1905000" cy="1471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7" name="Text Box 12">
            <a:extLst>
              <a:ext uri="{FF2B5EF4-FFF2-40B4-BE49-F238E27FC236}">
                <a16:creationId xmlns:a16="http://schemas.microsoft.com/office/drawing/2014/main" id="{37555625-0EF1-C54B-9EEF-79836A4A4F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4115" y="4054475"/>
            <a:ext cx="2438400" cy="207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/>
              <a:t>Gini(N1) </a:t>
            </a:r>
            <a:br>
              <a:rPr lang="en-US" altLang="it-IT" sz="2000"/>
            </a:br>
            <a:r>
              <a:rPr lang="en-US" altLang="it-IT" sz="2000"/>
              <a:t>= 1 – (3/3)</a:t>
            </a:r>
            <a:r>
              <a:rPr lang="en-US" altLang="it-IT" sz="2000" baseline="30000"/>
              <a:t>2 </a:t>
            </a:r>
            <a:r>
              <a:rPr lang="en-US" altLang="it-IT" sz="2000"/>
              <a:t>– (0/3)</a:t>
            </a:r>
            <a:r>
              <a:rPr lang="en-US" altLang="it-IT" sz="2000" baseline="30000"/>
              <a:t>2</a:t>
            </a:r>
            <a:r>
              <a:rPr lang="en-US" altLang="it-IT" sz="2000"/>
              <a:t> </a:t>
            </a:r>
            <a:br>
              <a:rPr lang="en-US" altLang="it-IT" sz="2000"/>
            </a:br>
            <a:r>
              <a:rPr lang="en-US" altLang="it-IT" sz="2000"/>
              <a:t>= 0 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/>
              <a:t>Gini(N2) </a:t>
            </a:r>
            <a:br>
              <a:rPr lang="en-US" altLang="it-IT" sz="2000"/>
            </a:br>
            <a:r>
              <a:rPr lang="en-US" altLang="it-IT" sz="2000"/>
              <a:t>= 1 – (4/7)</a:t>
            </a:r>
            <a:r>
              <a:rPr lang="en-US" altLang="it-IT" sz="2000" baseline="30000"/>
              <a:t>2 </a:t>
            </a:r>
            <a:r>
              <a:rPr lang="en-US" altLang="it-IT" sz="2000"/>
              <a:t>– (3/7)</a:t>
            </a:r>
            <a:r>
              <a:rPr lang="en-US" altLang="it-IT" sz="2000" baseline="30000"/>
              <a:t>2</a:t>
            </a:r>
            <a:r>
              <a:rPr lang="en-US" altLang="it-IT" sz="2000"/>
              <a:t> </a:t>
            </a:r>
            <a:br>
              <a:rPr lang="en-US" altLang="it-IT" sz="2000"/>
            </a:br>
            <a:r>
              <a:rPr lang="en-US" altLang="it-IT" sz="2000"/>
              <a:t>= 0.489</a:t>
            </a:r>
          </a:p>
        </p:txBody>
      </p:sp>
      <p:sp>
        <p:nvSpPr>
          <p:cNvPr id="80908" name="Text Box 13">
            <a:extLst>
              <a:ext uri="{FF2B5EF4-FFF2-40B4-BE49-F238E27FC236}">
                <a16:creationId xmlns:a16="http://schemas.microsoft.com/office/drawing/2014/main" id="{DD473191-544F-D94D-8C5F-0C4B5F0FC1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8115" y="4283075"/>
            <a:ext cx="2438400" cy="237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/>
              <a:t>Gini(Children) </a:t>
            </a:r>
            <a:br>
              <a:rPr lang="en-US" altLang="it-IT" sz="2000"/>
            </a:br>
            <a:r>
              <a:rPr lang="en-US" altLang="it-IT" sz="2000"/>
              <a:t>= 3/10 * 0 </a:t>
            </a:r>
            <a:br>
              <a:rPr lang="en-US" altLang="it-IT" sz="2000"/>
            </a:br>
            <a:r>
              <a:rPr lang="en-US" altLang="it-IT" sz="2000"/>
              <a:t>+ 7/10 * 0.489</a:t>
            </a:r>
            <a:br>
              <a:rPr lang="en-US" altLang="it-IT" sz="2000"/>
            </a:br>
            <a:r>
              <a:rPr lang="en-US" altLang="it-IT" sz="2000"/>
              <a:t>= 0.342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>
                <a:solidFill>
                  <a:srgbClr val="FF0000"/>
                </a:solidFill>
              </a:rPr>
              <a:t>Gini improves but error remains the same!!</a:t>
            </a:r>
          </a:p>
        </p:txBody>
      </p:sp>
    </p:spTree>
    <p:extLst>
      <p:ext uri="{BB962C8B-B14F-4D97-AF65-F5344CB8AC3E}">
        <p14:creationId xmlns:p14="http://schemas.microsoft.com/office/powerpoint/2010/main" val="211931981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44B2A505-0866-2B4F-9FC4-B4C8FB076B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Misclassification Error vs Gini Index</a:t>
            </a:r>
          </a:p>
        </p:txBody>
      </p:sp>
      <p:sp>
        <p:nvSpPr>
          <p:cNvPr id="81922" name="Oval 3">
            <a:extLst>
              <a:ext uri="{FF2B5EF4-FFF2-40B4-BE49-F238E27FC236}">
                <a16:creationId xmlns:a16="http://schemas.microsoft.com/office/drawing/2014/main" id="{AAA008BE-FB77-F546-B252-38A4D75A5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6151" y="1768475"/>
            <a:ext cx="1009650" cy="454025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>
                <a:latin typeface="Times New Roman" panose="02020603050405020304" pitchFamily="18" charset="0"/>
              </a:rPr>
              <a:t>A?</a:t>
            </a:r>
            <a:endParaRPr lang="en-US" altLang="it-IT" sz="2400">
              <a:latin typeface="Times New Roman" panose="02020603050405020304" pitchFamily="18" charset="0"/>
            </a:endParaRPr>
          </a:p>
        </p:txBody>
      </p:sp>
      <p:sp>
        <p:nvSpPr>
          <p:cNvPr id="81923" name="Line 4">
            <a:extLst>
              <a:ext uri="{FF2B5EF4-FFF2-40B4-BE49-F238E27FC236}">
                <a16:creationId xmlns:a16="http://schemas.microsoft.com/office/drawing/2014/main" id="{12D89DCE-FE0B-1643-A184-7C4F8C3872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41477" y="2225674"/>
            <a:ext cx="1108075" cy="725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24" name="Line 5">
            <a:extLst>
              <a:ext uri="{FF2B5EF4-FFF2-40B4-BE49-F238E27FC236}">
                <a16:creationId xmlns:a16="http://schemas.microsoft.com/office/drawing/2014/main" id="{5EEE6C8E-0691-5244-8088-03311C86CEAF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9552" y="2225674"/>
            <a:ext cx="1184275" cy="725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25" name="Text Box 6">
            <a:extLst>
              <a:ext uri="{FF2B5EF4-FFF2-40B4-BE49-F238E27FC236}">
                <a16:creationId xmlns:a16="http://schemas.microsoft.com/office/drawing/2014/main" id="{3991D937-6417-8340-B229-734BCC6070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426" y="2341562"/>
            <a:ext cx="539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81926" name="Text Box 7">
            <a:extLst>
              <a:ext uri="{FF2B5EF4-FFF2-40B4-BE49-F238E27FC236}">
                <a16:creationId xmlns:a16="http://schemas.microsoft.com/office/drawing/2014/main" id="{4C05E870-1590-344A-86FA-A4C2EF111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7626" y="2341562"/>
            <a:ext cx="463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81927" name="Rectangle 8">
            <a:extLst>
              <a:ext uri="{FF2B5EF4-FFF2-40B4-BE49-F238E27FC236}">
                <a16:creationId xmlns:a16="http://schemas.microsoft.com/office/drawing/2014/main" id="{96C46BF9-2235-6B49-8820-4085D645A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5552" y="2951162"/>
            <a:ext cx="936625" cy="3413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>
                <a:latin typeface="Times New Roman" panose="02020603050405020304" pitchFamily="18" charset="0"/>
              </a:rPr>
              <a:t>Node N1</a:t>
            </a:r>
          </a:p>
        </p:txBody>
      </p:sp>
      <p:sp>
        <p:nvSpPr>
          <p:cNvPr id="81928" name="Rectangle 9">
            <a:extLst>
              <a:ext uri="{FF2B5EF4-FFF2-40B4-BE49-F238E27FC236}">
                <a16:creationId xmlns:a16="http://schemas.microsoft.com/office/drawing/2014/main" id="{09FFB3F5-BA4B-2242-A66A-DA31C56EE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127" y="2951162"/>
            <a:ext cx="936625" cy="3413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>
                <a:latin typeface="Times New Roman" panose="02020603050405020304" pitchFamily="18" charset="0"/>
              </a:rPr>
              <a:t>Node N2</a:t>
            </a:r>
          </a:p>
        </p:txBody>
      </p:sp>
      <p:graphicFrame>
        <p:nvGraphicFramePr>
          <p:cNvPr id="81929" name="Object 10">
            <a:extLst>
              <a:ext uri="{FF2B5EF4-FFF2-40B4-BE49-F238E27FC236}">
                <a16:creationId xmlns:a16="http://schemas.microsoft.com/office/drawing/2014/main" id="{4ADDD7AE-9735-5649-A50D-4104C7BDB5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8510022"/>
              </p:ext>
            </p:extLst>
          </p:nvPr>
        </p:nvGraphicFramePr>
        <p:xfrm>
          <a:off x="7935589" y="1690688"/>
          <a:ext cx="1968500" cy="189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19062700" imgH="18326100" progId="Word.Document.8">
                  <p:embed/>
                </p:oleObj>
              </mc:Choice>
              <mc:Fallback>
                <p:oleObj name="Document" r:id="rId2" imgW="19062700" imgH="18326100" progId="Word.Document.8">
                  <p:embed/>
                  <p:pic>
                    <p:nvPicPr>
                      <p:cNvPr id="81929" name="Object 10">
                        <a:extLst>
                          <a:ext uri="{FF2B5EF4-FFF2-40B4-BE49-F238E27FC236}">
                            <a16:creationId xmlns:a16="http://schemas.microsoft.com/office/drawing/2014/main" id="{4ADDD7AE-9735-5649-A50D-4104C7BDB5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5589" y="1690688"/>
                        <a:ext cx="1968500" cy="189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30" name="Object 11">
            <a:extLst>
              <a:ext uri="{FF2B5EF4-FFF2-40B4-BE49-F238E27FC236}">
                <a16:creationId xmlns:a16="http://schemas.microsoft.com/office/drawing/2014/main" id="{ED752151-7732-434B-AAB4-3D6ECEF476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2528641"/>
              </p:ext>
            </p:extLst>
          </p:nvPr>
        </p:nvGraphicFramePr>
        <p:xfrm>
          <a:off x="2530151" y="4206875"/>
          <a:ext cx="1905000" cy="147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276600" imgH="2552700" progId="Word.Document.8">
                  <p:embed/>
                </p:oleObj>
              </mc:Choice>
              <mc:Fallback>
                <p:oleObj name="Document" r:id="rId4" imgW="3276600" imgH="2552700" progId="Word.Document.8">
                  <p:embed/>
                  <p:pic>
                    <p:nvPicPr>
                      <p:cNvPr id="81930" name="Object 11">
                        <a:extLst>
                          <a:ext uri="{FF2B5EF4-FFF2-40B4-BE49-F238E27FC236}">
                            <a16:creationId xmlns:a16="http://schemas.microsoft.com/office/drawing/2014/main" id="{ED752151-7732-434B-AAB4-3D6ECEF476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0151" y="4206875"/>
                        <a:ext cx="1905000" cy="1471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31" name="Object 1">
            <a:extLst>
              <a:ext uri="{FF2B5EF4-FFF2-40B4-BE49-F238E27FC236}">
                <a16:creationId xmlns:a16="http://schemas.microsoft.com/office/drawing/2014/main" id="{964E494E-4F8E-8047-BC30-19FC6B975D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4763990"/>
              </p:ext>
            </p:extLst>
          </p:nvPr>
        </p:nvGraphicFramePr>
        <p:xfrm>
          <a:off x="5654351" y="4206874"/>
          <a:ext cx="1866900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3276600" imgH="2552700" progId="Word.Document.8">
                  <p:embed/>
                </p:oleObj>
              </mc:Choice>
              <mc:Fallback>
                <p:oleObj name="Document" r:id="rId6" imgW="3276600" imgH="2552700" progId="Word.Document.8">
                  <p:embed/>
                  <p:pic>
                    <p:nvPicPr>
                      <p:cNvPr id="81931" name="Object 1">
                        <a:extLst>
                          <a:ext uri="{FF2B5EF4-FFF2-40B4-BE49-F238E27FC236}">
                            <a16:creationId xmlns:a16="http://schemas.microsoft.com/office/drawing/2014/main" id="{964E494E-4F8E-8047-BC30-19FC6B975D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4351" y="4206874"/>
                        <a:ext cx="1866900" cy="146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32" name="TextBox 2">
            <a:extLst>
              <a:ext uri="{FF2B5EF4-FFF2-40B4-BE49-F238E27FC236}">
                <a16:creationId xmlns:a16="http://schemas.microsoft.com/office/drawing/2014/main" id="{E11CE63E-3FF2-7A45-B245-FDAB846661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1301" y="6097587"/>
            <a:ext cx="60896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>
                <a:solidFill>
                  <a:srgbClr val="00B050"/>
                </a:solidFill>
              </a:rPr>
              <a:t>Misclassification error for all three cases = 0.3 ! </a:t>
            </a:r>
          </a:p>
        </p:txBody>
      </p:sp>
    </p:spTree>
    <p:extLst>
      <p:ext uri="{BB962C8B-B14F-4D97-AF65-F5344CB8AC3E}">
        <p14:creationId xmlns:p14="http://schemas.microsoft.com/office/powerpoint/2010/main" val="286338044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5B5CCB-6B14-E943-90B7-9615B5E68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Stopping Criteria for Tree Induction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A622D11-CEBC-4448-9E16-73A7E4690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Stop expanding a node when all the records belong to the same class</a:t>
            </a:r>
          </a:p>
          <a:p>
            <a:r>
              <a:rPr lang="en-US" dirty="0"/>
              <a:t>Stop expanding a node when all the records have similar attribute values</a:t>
            </a:r>
          </a:p>
          <a:p>
            <a:r>
              <a:rPr lang="en-US" dirty="0"/>
              <a:t>Early termination (to be discussed later)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97897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Titolo 1">
            <a:extLst>
              <a:ext uri="{FF2B5EF4-FFF2-40B4-BE49-F238E27FC236}">
                <a16:creationId xmlns:a16="http://schemas.microsoft.com/office/drawing/2014/main" id="{EDB63EDC-A0F5-4345-88D1-823744A889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Algorithms: </a:t>
            </a:r>
            <a:r>
              <a:rPr lang="hr-HR" altLang="it-IT">
                <a:ea typeface="ＭＳ Ｐゴシック" panose="020B0600070205080204" pitchFamily="34" charset="-128"/>
              </a:rPr>
              <a:t>ID3, C4.5, C5.0, CART </a:t>
            </a:r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84994" name="Segnaposto contenuto 2">
            <a:extLst>
              <a:ext uri="{FF2B5EF4-FFF2-40B4-BE49-F238E27FC236}">
                <a16:creationId xmlns:a16="http://schemas.microsoft.com/office/drawing/2014/main" id="{48107FBB-4144-E146-B5F3-22DFC307F6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7857931" cy="4351338"/>
          </a:xfrm>
        </p:spPr>
        <p:txBody>
          <a:bodyPr>
            <a:normAutofit lnSpcReduction="10000"/>
          </a:bodyPr>
          <a:lstStyle/>
          <a:p>
            <a:r>
              <a:rPr lang="it-IT" altLang="it-IT" b="1" dirty="0">
                <a:ea typeface="ＭＳ Ｐゴシック" panose="020B0600070205080204" pitchFamily="34" charset="-128"/>
              </a:rPr>
              <a:t>ID3 </a:t>
            </a:r>
            <a:r>
              <a:rPr lang="it-IT" altLang="it-IT" dirty="0" err="1">
                <a:ea typeface="ＭＳ Ｐゴシック" panose="020B0600070205080204" pitchFamily="34" charset="-128"/>
              </a:rPr>
              <a:t>uses</a:t>
            </a:r>
            <a:r>
              <a:rPr lang="it-IT" altLang="it-IT" dirty="0">
                <a:ea typeface="ＭＳ Ｐゴシック" panose="020B0600070205080204" pitchFamily="34" charset="-128"/>
              </a:rPr>
              <a:t> the </a:t>
            </a:r>
            <a:r>
              <a:rPr lang="it-IT" altLang="it-IT" dirty="0" err="1">
                <a:ea typeface="ＭＳ Ｐゴシック" panose="020B0600070205080204" pitchFamily="34" charset="-128"/>
              </a:rPr>
              <a:t>Hunt’s</a:t>
            </a:r>
            <a:r>
              <a:rPr lang="it-IT" altLang="it-IT" dirty="0">
                <a:ea typeface="ＭＳ Ｐゴシック" panose="020B0600070205080204" pitchFamily="34" charset="-128"/>
              </a:rPr>
              <a:t> </a:t>
            </a:r>
            <a:r>
              <a:rPr lang="it-IT" altLang="it-IT" dirty="0" err="1">
                <a:ea typeface="ＭＳ Ｐゴシック" panose="020B0600070205080204" pitchFamily="34" charset="-128"/>
              </a:rPr>
              <a:t>algorithm</a:t>
            </a:r>
            <a:r>
              <a:rPr lang="it-IT" altLang="it-IT" dirty="0">
                <a:ea typeface="ＭＳ Ｐゴシック" panose="020B0600070205080204" pitchFamily="34" charset="-128"/>
              </a:rPr>
              <a:t> with information gain </a:t>
            </a:r>
            <a:r>
              <a:rPr lang="it-IT" altLang="it-IT" dirty="0" err="1">
                <a:ea typeface="ＭＳ Ｐゴシック" panose="020B0600070205080204" pitchFamily="34" charset="-128"/>
              </a:rPr>
              <a:t>criterion</a:t>
            </a:r>
            <a:r>
              <a:rPr lang="it-IT" altLang="it-IT" dirty="0">
                <a:ea typeface="ＭＳ Ｐゴシック" panose="020B0600070205080204" pitchFamily="34" charset="-128"/>
              </a:rPr>
              <a:t> and gain ratio</a:t>
            </a:r>
          </a:p>
          <a:p>
            <a:endParaRPr lang="it-IT" altLang="it-IT" sz="1600" b="1" dirty="0">
              <a:solidFill>
                <a:srgbClr val="000000"/>
              </a:solidFill>
              <a:ea typeface="ＭＳ Ｐゴシック" panose="020B0600070205080204" pitchFamily="34" charset="-128"/>
            </a:endParaRPr>
          </a:p>
          <a:p>
            <a:r>
              <a:rPr lang="it-IT" altLang="it-IT" b="1" dirty="0">
                <a:ea typeface="ＭＳ Ｐゴシック" panose="020B0600070205080204" pitchFamily="34" charset="-128"/>
              </a:rPr>
              <a:t>C4.5 </a:t>
            </a:r>
            <a:r>
              <a:rPr lang="it-IT" altLang="it-IT" dirty="0" err="1">
                <a:ea typeface="ＭＳ Ｐゴシック" panose="020B0600070205080204" pitchFamily="34" charset="-128"/>
              </a:rPr>
              <a:t>improves</a:t>
            </a:r>
            <a:r>
              <a:rPr lang="it-IT" altLang="it-IT" dirty="0">
                <a:ea typeface="ＭＳ Ｐゴシック" panose="020B0600070205080204" pitchFamily="34" charset="-128"/>
              </a:rPr>
              <a:t> </a:t>
            </a:r>
            <a:r>
              <a:rPr lang="it-IT" altLang="it-IT" b="1" dirty="0">
                <a:ea typeface="ＭＳ Ｐゴシック" panose="020B0600070205080204" pitchFamily="34" charset="-128"/>
              </a:rPr>
              <a:t>ID3</a:t>
            </a:r>
          </a:p>
          <a:p>
            <a:pPr lvl="1"/>
            <a:r>
              <a:rPr lang="it-IT" altLang="it-IT" dirty="0" err="1">
                <a:ea typeface="ＭＳ Ｐゴシック" panose="020B0600070205080204" pitchFamily="34" charset="-128"/>
              </a:rPr>
              <a:t>Needs</a:t>
            </a:r>
            <a:r>
              <a:rPr lang="it-IT" altLang="it-IT" dirty="0">
                <a:ea typeface="ＭＳ Ｐゴシック" panose="020B0600070205080204" pitchFamily="34" charset="-128"/>
              </a:rPr>
              <a:t> </a:t>
            </a:r>
            <a:r>
              <a:rPr lang="it-IT" altLang="it-IT" dirty="0" err="1">
                <a:ea typeface="ＭＳ Ｐゴシック" panose="020B0600070205080204" pitchFamily="34" charset="-128"/>
              </a:rPr>
              <a:t>entire</a:t>
            </a:r>
            <a:r>
              <a:rPr lang="it-IT" altLang="it-IT" dirty="0">
                <a:ea typeface="ＭＳ Ｐゴシック" panose="020B0600070205080204" pitchFamily="34" charset="-128"/>
              </a:rPr>
              <a:t> data to </a:t>
            </a:r>
            <a:r>
              <a:rPr lang="it-IT" altLang="it-IT" dirty="0" err="1">
                <a:ea typeface="ＭＳ Ｐゴシック" panose="020B0600070205080204" pitchFamily="34" charset="-128"/>
              </a:rPr>
              <a:t>fit</a:t>
            </a:r>
            <a:r>
              <a:rPr lang="it-IT" altLang="it-IT" dirty="0">
                <a:ea typeface="ＭＳ Ｐゴシック" panose="020B0600070205080204" pitchFamily="34" charset="-128"/>
              </a:rPr>
              <a:t> in </a:t>
            </a:r>
            <a:r>
              <a:rPr lang="it-IT" altLang="it-IT" dirty="0" err="1">
                <a:ea typeface="ＭＳ Ｐゴシック" panose="020B0600070205080204" pitchFamily="34" charset="-128"/>
              </a:rPr>
              <a:t>memory</a:t>
            </a:r>
            <a:endParaRPr lang="it-IT" altLang="it-IT" dirty="0">
              <a:ea typeface="ＭＳ Ｐゴシック" panose="020B0600070205080204" pitchFamily="34" charset="-128"/>
            </a:endParaRPr>
          </a:p>
          <a:p>
            <a:pPr lvl="1"/>
            <a:r>
              <a:rPr lang="it-IT" altLang="it-IT" dirty="0" err="1">
                <a:ea typeface="ＭＳ Ｐゴシック" panose="020B0600070205080204" pitchFamily="34" charset="-128"/>
              </a:rPr>
              <a:t>Handles</a:t>
            </a:r>
            <a:r>
              <a:rPr lang="it-IT" altLang="it-IT" dirty="0">
                <a:ea typeface="ＭＳ Ｐゴシック" panose="020B0600070205080204" pitchFamily="34" charset="-128"/>
              </a:rPr>
              <a:t> </a:t>
            </a:r>
            <a:r>
              <a:rPr lang="it-IT" altLang="it-IT" dirty="0" err="1">
                <a:ea typeface="ＭＳ Ｐゴシック" panose="020B0600070205080204" pitchFamily="34" charset="-128"/>
              </a:rPr>
              <a:t>missing</a:t>
            </a:r>
            <a:r>
              <a:rPr lang="it-IT" altLang="it-IT" dirty="0">
                <a:ea typeface="ＭＳ Ｐゴシック" panose="020B0600070205080204" pitchFamily="34" charset="-128"/>
              </a:rPr>
              <a:t> </a:t>
            </a:r>
            <a:r>
              <a:rPr lang="it-IT" altLang="it-IT" dirty="0" err="1">
                <a:ea typeface="ＭＳ Ｐゴシック" panose="020B0600070205080204" pitchFamily="34" charset="-128"/>
              </a:rPr>
              <a:t>attributes</a:t>
            </a:r>
            <a:r>
              <a:rPr lang="it-IT" altLang="it-IT" dirty="0">
                <a:ea typeface="ＭＳ Ｐゴシック" panose="020B0600070205080204" pitchFamily="34" charset="-128"/>
              </a:rPr>
              <a:t> and </a:t>
            </a:r>
            <a:r>
              <a:rPr lang="it-IT" altLang="it-IT" dirty="0" err="1">
                <a:ea typeface="ＭＳ Ｐゴシック" panose="020B0600070205080204" pitchFamily="34" charset="-128"/>
              </a:rPr>
              <a:t>continuous</a:t>
            </a:r>
            <a:r>
              <a:rPr lang="it-IT" altLang="it-IT" dirty="0">
                <a:ea typeface="ＭＳ Ｐゴシック" panose="020B0600070205080204" pitchFamily="34" charset="-128"/>
              </a:rPr>
              <a:t> </a:t>
            </a:r>
            <a:r>
              <a:rPr lang="it-IT" altLang="it-IT" dirty="0" err="1">
                <a:ea typeface="ＭＳ Ｐゴシック" panose="020B0600070205080204" pitchFamily="34" charset="-128"/>
              </a:rPr>
              <a:t>attributes</a:t>
            </a:r>
            <a:r>
              <a:rPr lang="it-IT" altLang="it-IT" dirty="0">
                <a:ea typeface="ＭＳ Ｐゴシック" panose="020B0600070205080204" pitchFamily="34" charset="-128"/>
              </a:rPr>
              <a:t> </a:t>
            </a:r>
            <a:endParaRPr lang="it-IT" altLang="it-IT" dirty="0">
              <a:latin typeface="Wingdings" pitchFamily="2" charset="2"/>
              <a:ea typeface="ＭＳ Ｐゴシック" panose="020B0600070205080204" pitchFamily="34" charset="-128"/>
            </a:endParaRPr>
          </a:p>
          <a:p>
            <a:pPr lvl="1"/>
            <a:r>
              <a:rPr lang="it-IT" altLang="it-IT" dirty="0" err="1">
                <a:ea typeface="ＭＳ Ｐゴシック" panose="020B0600070205080204" pitchFamily="34" charset="-128"/>
              </a:rPr>
              <a:t>Performs</a:t>
            </a:r>
            <a:r>
              <a:rPr lang="it-IT" altLang="it-IT" dirty="0">
                <a:ea typeface="ＭＳ Ｐゴシック" panose="020B0600070205080204" pitchFamily="34" charset="-128"/>
              </a:rPr>
              <a:t> </a:t>
            </a:r>
            <a:r>
              <a:rPr lang="it-IT" altLang="it-IT" dirty="0" err="1">
                <a:ea typeface="ＭＳ Ｐゴシック" panose="020B0600070205080204" pitchFamily="34" charset="-128"/>
              </a:rPr>
              <a:t>tree</a:t>
            </a:r>
            <a:r>
              <a:rPr lang="it-IT" altLang="it-IT" dirty="0">
                <a:ea typeface="ＭＳ Ｐゴシック" panose="020B0600070205080204" pitchFamily="34" charset="-128"/>
              </a:rPr>
              <a:t> post-</a:t>
            </a:r>
            <a:r>
              <a:rPr lang="it-IT" altLang="it-IT" dirty="0" err="1">
                <a:ea typeface="ＭＳ Ｐゴシック" panose="020B0600070205080204" pitchFamily="34" charset="-128"/>
              </a:rPr>
              <a:t>pruning</a:t>
            </a:r>
            <a:endParaRPr lang="it-IT" altLang="it-IT" dirty="0">
              <a:ea typeface="ＭＳ Ｐゴシック" panose="020B0600070205080204" pitchFamily="34" charset="-128"/>
            </a:endParaRPr>
          </a:p>
          <a:p>
            <a:pPr lvl="1"/>
            <a:r>
              <a:rPr lang="it-IT" altLang="it-IT" b="1" dirty="0">
                <a:ea typeface="ＭＳ Ｐゴシック" panose="020B0600070205080204" pitchFamily="34" charset="-128"/>
              </a:rPr>
              <a:t>C5.0 </a:t>
            </a:r>
            <a:r>
              <a:rPr lang="it-IT" altLang="it-IT" dirty="0" err="1">
                <a:ea typeface="ＭＳ Ｐゴシック" panose="020B0600070205080204" pitchFamily="34" charset="-128"/>
              </a:rPr>
              <a:t>is</a:t>
            </a:r>
            <a:r>
              <a:rPr lang="it-IT" altLang="it-IT" dirty="0">
                <a:ea typeface="ＭＳ Ｐゴシック" panose="020B0600070205080204" pitchFamily="34" charset="-128"/>
              </a:rPr>
              <a:t> the </a:t>
            </a:r>
            <a:r>
              <a:rPr lang="it-IT" altLang="it-IT" dirty="0" err="1">
                <a:ea typeface="ＭＳ Ｐゴシック" panose="020B0600070205080204" pitchFamily="34" charset="-128"/>
              </a:rPr>
              <a:t>current</a:t>
            </a:r>
            <a:r>
              <a:rPr lang="it-IT" altLang="it-IT" dirty="0">
                <a:ea typeface="ＭＳ Ｐゴシック" panose="020B0600070205080204" pitchFamily="34" charset="-128"/>
              </a:rPr>
              <a:t> commercial successor of </a:t>
            </a:r>
            <a:r>
              <a:rPr lang="it-IT" altLang="it-IT" b="1" i="1" dirty="0">
                <a:ea typeface="ＭＳ Ｐゴシック" panose="020B0600070205080204" pitchFamily="34" charset="-128"/>
              </a:rPr>
              <a:t>C4.5 </a:t>
            </a:r>
          </a:p>
          <a:p>
            <a:pPr lvl="1"/>
            <a:r>
              <a:rPr lang="en-US" altLang="it-IT" dirty="0">
                <a:ea typeface="ＭＳ Ｐゴシック" panose="020B0600070205080204" pitchFamily="34" charset="-128"/>
              </a:rPr>
              <a:t>Unsuitable for Large Datasets</a:t>
            </a:r>
            <a:endParaRPr lang="it-IT" altLang="it-IT" dirty="0">
              <a:ea typeface="ＭＳ Ｐゴシック" panose="020B0600070205080204" pitchFamily="34" charset="-128"/>
            </a:endParaRPr>
          </a:p>
          <a:p>
            <a:endParaRPr lang="it-IT" altLang="it-IT" sz="1100" b="1" dirty="0">
              <a:ea typeface="ＭＳ Ｐゴシック" panose="020B0600070205080204" pitchFamily="34" charset="-128"/>
            </a:endParaRPr>
          </a:p>
          <a:p>
            <a:r>
              <a:rPr lang="it-IT" altLang="it-IT" b="1" dirty="0">
                <a:ea typeface="ＭＳ Ｐゴシック" panose="020B0600070205080204" pitchFamily="34" charset="-128"/>
              </a:rPr>
              <a:t>CART </a:t>
            </a:r>
            <a:r>
              <a:rPr lang="it-IT" altLang="it-IT" dirty="0" err="1">
                <a:ea typeface="ＭＳ Ｐゴシック" panose="020B0600070205080204" pitchFamily="34" charset="-128"/>
              </a:rPr>
              <a:t>builds</a:t>
            </a:r>
            <a:r>
              <a:rPr lang="it-IT" altLang="it-IT" dirty="0">
                <a:ea typeface="ＭＳ Ｐゴシック" panose="020B0600070205080204" pitchFamily="34" charset="-128"/>
              </a:rPr>
              <a:t> multivariate </a:t>
            </a:r>
            <a:r>
              <a:rPr lang="it-IT" altLang="it-IT" dirty="0" err="1">
                <a:ea typeface="ＭＳ Ｐゴシック" panose="020B0600070205080204" pitchFamily="34" charset="-128"/>
              </a:rPr>
              <a:t>decision</a:t>
            </a:r>
            <a:r>
              <a:rPr lang="it-IT" altLang="it-IT" dirty="0">
                <a:ea typeface="ＭＳ Ｐゴシック" panose="020B0600070205080204" pitchFamily="34" charset="-128"/>
              </a:rPr>
              <a:t> (</a:t>
            </a:r>
            <a:r>
              <a:rPr lang="it-IT" altLang="it-IT" dirty="0" err="1">
                <a:ea typeface="ＭＳ Ｐゴシック" panose="020B0600070205080204" pitchFamily="34" charset="-128"/>
              </a:rPr>
              <a:t>binary</a:t>
            </a:r>
            <a:r>
              <a:rPr lang="it-IT" altLang="it-IT" dirty="0">
                <a:ea typeface="ＭＳ Ｐゴシック" panose="020B0600070205080204" pitchFamily="34" charset="-128"/>
              </a:rPr>
              <a:t>) </a:t>
            </a:r>
            <a:r>
              <a:rPr lang="it-IT" altLang="it-IT" dirty="0" err="1">
                <a:ea typeface="ＭＳ Ｐゴシック" panose="020B0600070205080204" pitchFamily="34" charset="-128"/>
              </a:rPr>
              <a:t>trees</a:t>
            </a:r>
            <a:r>
              <a:rPr lang="it-IT" altLang="it-IT" dirty="0">
                <a:ea typeface="ＭＳ Ｐゴシック" panose="020B0600070205080204" pitchFamily="34" charset="-128"/>
              </a:rPr>
              <a:t> </a:t>
            </a:r>
          </a:p>
          <a:p>
            <a:pPr>
              <a:buFont typeface="Monotype Sorts" pitchFamily="2" charset="2"/>
              <a:buNone/>
            </a:pPr>
            <a:endParaRPr lang="it-IT" altLang="it-IT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2488187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360EB18-7C8A-6D44-BD31-4D7E3E48A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Decision Tree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DB36CE4-3096-1C4C-B4B0-A7F03CFF3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Easy to interpret for small-sized trees</a:t>
            </a:r>
          </a:p>
          <a:p>
            <a:r>
              <a:rPr lang="en-US" dirty="0"/>
              <a:t>Accuracy is comparable to other classification techniques for many simple data sets</a:t>
            </a:r>
          </a:p>
          <a:p>
            <a:r>
              <a:rPr lang="en-US" dirty="0"/>
              <a:t>Robust to noise (especially when methods to avoid overfitting are employed)</a:t>
            </a:r>
          </a:p>
          <a:p>
            <a:r>
              <a:rPr lang="en-US" dirty="0">
                <a:solidFill>
                  <a:srgbClr val="C00000"/>
                </a:solidFill>
              </a:rPr>
              <a:t>Can easily handle redundant or irrelevant attributes</a:t>
            </a:r>
          </a:p>
          <a:p>
            <a:r>
              <a:rPr lang="en-US" dirty="0"/>
              <a:t>Inexpensive to construct</a:t>
            </a:r>
          </a:p>
          <a:p>
            <a:r>
              <a:rPr lang="en-US" dirty="0"/>
              <a:t>Extremely fast at classifying unknown record</a:t>
            </a:r>
          </a:p>
          <a:p>
            <a:r>
              <a:rPr lang="en-US" dirty="0"/>
              <a:t>Handle Missing Values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06202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466" name="Rectangle 2">
            <a:extLst>
              <a:ext uri="{FF2B5EF4-FFF2-40B4-BE49-F238E27FC236}">
                <a16:creationId xmlns:a16="http://schemas.microsoft.com/office/drawing/2014/main" id="{61BD8F56-EA32-4642-879A-2418B38B85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Decision Boundary</a:t>
            </a:r>
          </a:p>
        </p:txBody>
      </p:sp>
      <p:graphicFrame>
        <p:nvGraphicFramePr>
          <p:cNvPr id="99330" name="Object 3">
            <a:extLst>
              <a:ext uri="{FF2B5EF4-FFF2-40B4-BE49-F238E27FC236}">
                <a16:creationId xmlns:a16="http://schemas.microsoft.com/office/drawing/2014/main" id="{B68E6647-A7C5-AE49-BDD6-A844B039423C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8137104"/>
              </p:ext>
            </p:extLst>
          </p:nvPr>
        </p:nvGraphicFramePr>
        <p:xfrm>
          <a:off x="1936750" y="1370013"/>
          <a:ext cx="8318500" cy="357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915400" imgH="3835400" progId="Visio.Drawing.6">
                  <p:embed/>
                </p:oleObj>
              </mc:Choice>
              <mc:Fallback>
                <p:oleObj name="Visio" r:id="rId2" imgW="8915400" imgH="3835400" progId="Visio.Drawing.6">
                  <p:embed/>
                  <p:pic>
                    <p:nvPicPr>
                      <p:cNvPr id="99330" name="Object 3">
                        <a:extLst>
                          <a:ext uri="{FF2B5EF4-FFF2-40B4-BE49-F238E27FC236}">
                            <a16:creationId xmlns:a16="http://schemas.microsoft.com/office/drawing/2014/main" id="{B68E6647-A7C5-AE49-BDD6-A844B03942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750" y="1370013"/>
                        <a:ext cx="8318500" cy="357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31" name="Text Box 4">
            <a:extLst>
              <a:ext uri="{FF2B5EF4-FFF2-40B4-BE49-F238E27FC236}">
                <a16:creationId xmlns:a16="http://schemas.microsoft.com/office/drawing/2014/main" id="{03C0A380-BD6B-7346-8CE6-7E5B57488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2950" y="5103812"/>
            <a:ext cx="83058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it-IT" sz="2400" dirty="0"/>
              <a:t>Border line between two neighboring regions of different classes is known as decision boundary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it-IT" sz="2400" dirty="0"/>
              <a:t>Decision boundary is parallel to axes because test condition involves a single attribute at-a-time</a:t>
            </a:r>
          </a:p>
        </p:txBody>
      </p:sp>
    </p:spTree>
    <p:extLst>
      <p:ext uri="{BB962C8B-B14F-4D97-AF65-F5344CB8AC3E}">
        <p14:creationId xmlns:p14="http://schemas.microsoft.com/office/powerpoint/2010/main" val="322106887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490" name="Rectangle 2">
            <a:extLst>
              <a:ext uri="{FF2B5EF4-FFF2-40B4-BE49-F238E27FC236}">
                <a16:creationId xmlns:a16="http://schemas.microsoft.com/office/drawing/2014/main" id="{DAF90757-8209-3D43-BE68-05855A1225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Oblique Decision Trees</a:t>
            </a:r>
          </a:p>
        </p:txBody>
      </p:sp>
      <p:pic>
        <p:nvPicPr>
          <p:cNvPr id="100354" name="Picture 3">
            <a:extLst>
              <a:ext uri="{FF2B5EF4-FFF2-40B4-BE49-F238E27FC236}">
                <a16:creationId xmlns:a16="http://schemas.microsoft.com/office/drawing/2014/main" id="{0A768AE7-F308-614E-8815-197250250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6654" r="7353" b="5882"/>
          <a:stretch>
            <a:fillRect/>
          </a:stretch>
        </p:blipFill>
        <p:spPr bwMode="auto">
          <a:xfrm>
            <a:off x="1696616" y="1524000"/>
            <a:ext cx="49530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59492" name="Group 4">
            <a:extLst>
              <a:ext uri="{FF2B5EF4-FFF2-40B4-BE49-F238E27FC236}">
                <a16:creationId xmlns:a16="http://schemas.microsoft.com/office/drawing/2014/main" id="{323CAF19-ADCE-C143-AAD1-993BA5FD2148}"/>
              </a:ext>
            </a:extLst>
          </p:cNvPr>
          <p:cNvGrpSpPr>
            <a:grpSpLocks/>
          </p:cNvGrpSpPr>
          <p:nvPr/>
        </p:nvGrpSpPr>
        <p:grpSpPr bwMode="auto">
          <a:xfrm>
            <a:off x="7106816" y="2438400"/>
            <a:ext cx="3200400" cy="2286000"/>
            <a:chOff x="3552" y="1248"/>
            <a:chExt cx="2016" cy="1440"/>
          </a:xfrm>
        </p:grpSpPr>
        <p:sp>
          <p:nvSpPr>
            <p:cNvPr id="100357" name="Oval 5">
              <a:extLst>
                <a:ext uri="{FF2B5EF4-FFF2-40B4-BE49-F238E27FC236}">
                  <a16:creationId xmlns:a16="http://schemas.microsoft.com/office/drawing/2014/main" id="{FD9AF7D4-B030-3943-99FD-8A76A8F0E8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1248"/>
              <a:ext cx="1008" cy="48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it-IT" sz="2000"/>
                <a:t>x + y &lt; 1</a:t>
              </a:r>
            </a:p>
          </p:txBody>
        </p:sp>
        <p:sp>
          <p:nvSpPr>
            <p:cNvPr id="100358" name="Line 6">
              <a:extLst>
                <a:ext uri="{FF2B5EF4-FFF2-40B4-BE49-F238E27FC236}">
                  <a16:creationId xmlns:a16="http://schemas.microsoft.com/office/drawing/2014/main" id="{4083DBE8-541F-1444-BD77-946894632C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32" y="1728"/>
              <a:ext cx="528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359" name="Line 7">
              <a:extLst>
                <a:ext uri="{FF2B5EF4-FFF2-40B4-BE49-F238E27FC236}">
                  <a16:creationId xmlns:a16="http://schemas.microsoft.com/office/drawing/2014/main" id="{C6A689E5-7F7D-5743-B863-0D4FFFA26D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1728"/>
              <a:ext cx="624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360" name="Rectangle 8">
              <a:extLst>
                <a:ext uri="{FF2B5EF4-FFF2-40B4-BE49-F238E27FC236}">
                  <a16:creationId xmlns:a16="http://schemas.microsoft.com/office/drawing/2014/main" id="{0D859D03-C80A-8546-9133-D578E752A3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2208"/>
              <a:ext cx="816" cy="480"/>
            </a:xfrm>
            <a:prstGeom prst="rect">
              <a:avLst/>
            </a:prstGeom>
            <a:noFill/>
            <a:ln w="25400">
              <a:solidFill>
                <a:srgbClr val="1C5A6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it-IT" sz="1800"/>
                <a:t>Class = </a:t>
              </a:r>
              <a:r>
                <a:rPr lang="en-US" altLang="it-IT" sz="2400">
                  <a:solidFill>
                    <a:srgbClr val="FF0000"/>
                  </a:solidFill>
                </a:rPr>
                <a:t>+</a:t>
              </a:r>
              <a:r>
                <a:rPr lang="en-US" altLang="it-IT" sz="1800"/>
                <a:t> </a:t>
              </a:r>
            </a:p>
          </p:txBody>
        </p:sp>
        <p:sp>
          <p:nvSpPr>
            <p:cNvPr id="100361" name="Rectangle 9">
              <a:extLst>
                <a:ext uri="{FF2B5EF4-FFF2-40B4-BE49-F238E27FC236}">
                  <a16:creationId xmlns:a16="http://schemas.microsoft.com/office/drawing/2014/main" id="{E660B8C4-E3DA-AA4D-A573-5BA574729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2208"/>
              <a:ext cx="816" cy="480"/>
            </a:xfrm>
            <a:prstGeom prst="rect">
              <a:avLst/>
            </a:prstGeom>
            <a:noFill/>
            <a:ln w="25400">
              <a:solidFill>
                <a:srgbClr val="1C5A6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it-IT" sz="1800"/>
                <a:t>Class =     </a:t>
              </a:r>
            </a:p>
          </p:txBody>
        </p:sp>
        <p:sp>
          <p:nvSpPr>
            <p:cNvPr id="100362" name="Oval 10">
              <a:extLst>
                <a:ext uri="{FF2B5EF4-FFF2-40B4-BE49-F238E27FC236}">
                  <a16:creationId xmlns:a16="http://schemas.microsoft.com/office/drawing/2014/main" id="{5DABD215-BB6A-494B-AE31-55F1EBB54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4" y="2400"/>
              <a:ext cx="96" cy="96"/>
            </a:xfrm>
            <a:prstGeom prst="ellipse">
              <a:avLst/>
            </a:prstGeom>
            <a:solidFill>
              <a:srgbClr val="0000FF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it-IT" altLang="it-IT" sz="1400"/>
            </a:p>
          </p:txBody>
        </p:sp>
      </p:grpSp>
      <p:sp>
        <p:nvSpPr>
          <p:cNvPr id="959499" name="Text Box 11">
            <a:extLst>
              <a:ext uri="{FF2B5EF4-FFF2-40B4-BE49-F238E27FC236}">
                <a16:creationId xmlns:a16="http://schemas.microsoft.com/office/drawing/2014/main" id="{3B623F45-10FE-474B-B4C8-EB20CCAB95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1416" y="5513388"/>
            <a:ext cx="8001000" cy="119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it-IT" sz="1800"/>
              <a:t> Test condition may involve multiple attributes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it-IT" sz="1800"/>
              <a:t> More expressive representation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it-IT" sz="1800"/>
              <a:t> Finding optimal test condition is computationally expensive</a:t>
            </a:r>
          </a:p>
        </p:txBody>
      </p:sp>
    </p:spTree>
    <p:extLst>
      <p:ext uri="{BB962C8B-B14F-4D97-AF65-F5344CB8AC3E}">
        <p14:creationId xmlns:p14="http://schemas.microsoft.com/office/powerpoint/2010/main" val="1609822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9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9499" grpId="0" autoUpdateAnimBg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7F0B9DD0-52C9-964A-91A1-7F5CAFA07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41090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dirty="0"/>
              <a:t>Limitations of single attribute-based decision boundaries</a:t>
            </a:r>
          </a:p>
        </p:txBody>
      </p:sp>
      <p:sp>
        <p:nvSpPr>
          <p:cNvPr id="101378" name="TextBox 6">
            <a:extLst>
              <a:ext uri="{FF2B5EF4-FFF2-40B4-BE49-F238E27FC236}">
                <a16:creationId xmlns:a16="http://schemas.microsoft.com/office/drawing/2014/main" id="{DB712654-43D5-7B49-9178-C9BA831E60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0300" y="1828800"/>
            <a:ext cx="28956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/>
              <a:t>Both</a:t>
            </a:r>
            <a:r>
              <a:rPr lang="en-US" altLang="it-IT" sz="2000">
                <a:solidFill>
                  <a:srgbClr val="0070C0"/>
                </a:solidFill>
              </a:rPr>
              <a:t> positive (+)</a:t>
            </a:r>
            <a:r>
              <a:rPr lang="en-US" altLang="it-IT" sz="2000"/>
              <a:t> and </a:t>
            </a:r>
            <a:r>
              <a:rPr lang="en-US" altLang="it-IT" sz="2000">
                <a:solidFill>
                  <a:srgbClr val="FF0000"/>
                </a:solidFill>
              </a:rPr>
              <a:t>negative (o)</a:t>
            </a:r>
            <a:r>
              <a:rPr lang="en-US" altLang="it-IT" sz="2000"/>
              <a:t> classes generated from skewed Gaussians with centers at (8,8) and (12,12) respectively.  </a:t>
            </a:r>
          </a:p>
        </p:txBody>
      </p:sp>
      <p:pic>
        <p:nvPicPr>
          <p:cNvPr id="54277" name="Picture 5" descr="C:\Users\Ankush\Desktop\oblique.png">
            <a:extLst>
              <a:ext uri="{FF2B5EF4-FFF2-40B4-BE49-F238E27FC236}">
                <a16:creationId xmlns:a16="http://schemas.microsoft.com/office/drawing/2014/main" id="{D6A7B031-5EE9-A942-AA67-4F62A4BBD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400" y="1524000"/>
            <a:ext cx="61976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8" name="Picture 6" descr="C:\Users\Ankush\Desktop\oblique2.png">
            <a:extLst>
              <a:ext uri="{FF2B5EF4-FFF2-40B4-BE49-F238E27FC236}">
                <a16:creationId xmlns:a16="http://schemas.microsoft.com/office/drawing/2014/main" id="{748EBAED-F38C-C24B-B66A-562FBCC42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0" y="1524001"/>
            <a:ext cx="6184900" cy="463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CCD53B1-266F-614B-9C4C-6D7A9EE0891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62200" y="1905000"/>
            <a:ext cx="4800600" cy="3733800"/>
          </a:xfrm>
          <a:prstGeom prst="line">
            <a:avLst/>
          </a:prstGeom>
          <a:noFill/>
          <a:ln w="57150">
            <a:solidFill>
              <a:srgbClr val="D500D5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92A9F98-7F2B-9B4B-8EA6-9EA29EDB0AB6}"/>
              </a:ext>
            </a:extLst>
          </p:cNvPr>
          <p:cNvSpPr txBox="1"/>
          <p:nvPr/>
        </p:nvSpPr>
        <p:spPr>
          <a:xfrm>
            <a:off x="7671645" y="4572000"/>
            <a:ext cx="2136675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it-IT" sz="2400" dirty="0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Test </a:t>
            </a:r>
            <a:r>
              <a:rPr lang="it-IT" sz="2400" dirty="0" err="1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Condition</a:t>
            </a:r>
            <a:endParaRPr lang="it-IT" sz="2400" dirty="0">
              <a:solidFill>
                <a:schemeClr val="accent5">
                  <a:lumMod val="50000"/>
                </a:schemeClr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 algn="ctr">
              <a:defRPr/>
            </a:pPr>
            <a:r>
              <a:rPr lang="es-ES_tradnl" sz="2400" dirty="0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x + y &lt; 20 </a:t>
            </a:r>
          </a:p>
          <a:p>
            <a:pPr algn="ctr">
              <a:defRPr/>
            </a:pPr>
            <a:endParaRPr lang="it-IT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275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C9CC4F-5B6C-B045-A37A-5DD35CD7F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Issues of Classification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E5C238F-7F11-BF49-B0C6-21045EA9A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Underfitting and Overfitting</a:t>
            </a:r>
          </a:p>
          <a:p>
            <a:r>
              <a:rPr lang="en-US" dirty="0"/>
              <a:t>Costs of Classification</a:t>
            </a:r>
          </a:p>
          <a:p>
            <a:r>
              <a:rPr lang="en-US" dirty="0"/>
              <a:t>---- CONFUSION MATRIX - </a:t>
            </a:r>
          </a:p>
        </p:txBody>
      </p:sp>
    </p:spTree>
    <p:extLst>
      <p:ext uri="{BB962C8B-B14F-4D97-AF65-F5344CB8AC3E}">
        <p14:creationId xmlns:p14="http://schemas.microsoft.com/office/powerpoint/2010/main" val="3596459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2">
            <a:extLst>
              <a:ext uri="{FF2B5EF4-FFF2-40B4-BE49-F238E27FC236}">
                <a16:creationId xmlns:a16="http://schemas.microsoft.com/office/drawing/2014/main" id="{B0B33C79-2D4D-184D-BD76-E786692F26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 dirty="0">
                <a:ea typeface="ＭＳ Ｐゴシック" panose="020B0600070205080204" pitchFamily="34" charset="-128"/>
              </a:rPr>
              <a:t>Classification Errors</a:t>
            </a:r>
          </a:p>
        </p:txBody>
      </p:sp>
      <p:sp>
        <p:nvSpPr>
          <p:cNvPr id="107522" name="Rectangle 3">
            <a:extLst>
              <a:ext uri="{FF2B5EF4-FFF2-40B4-BE49-F238E27FC236}">
                <a16:creationId xmlns:a16="http://schemas.microsoft.com/office/drawing/2014/main" id="{43DC2BC5-BE1F-0C40-81EF-BEF4FDAE1E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it-IT" dirty="0">
                <a:ea typeface="ＭＳ Ｐゴシック" panose="020B0600070205080204" pitchFamily="34" charset="-128"/>
              </a:rPr>
              <a:t>Training errors (apparent errors)</a:t>
            </a:r>
          </a:p>
          <a:p>
            <a:pPr lvl="1"/>
            <a:r>
              <a:rPr lang="en-US" altLang="it-IT" dirty="0">
                <a:ea typeface="ＭＳ Ｐゴシック" panose="020B0600070205080204" pitchFamily="34" charset="-128"/>
              </a:rPr>
              <a:t>Errors committed on the training set</a:t>
            </a:r>
          </a:p>
          <a:p>
            <a:pPr lvl="1"/>
            <a:endParaRPr lang="en-US" altLang="it-IT" dirty="0">
              <a:ea typeface="ＭＳ Ｐゴシック" panose="020B0600070205080204" pitchFamily="34" charset="-128"/>
            </a:endParaRPr>
          </a:p>
          <a:p>
            <a:r>
              <a:rPr lang="en-US" altLang="it-IT" dirty="0">
                <a:ea typeface="ＭＳ Ｐゴシック" panose="020B0600070205080204" pitchFamily="34" charset="-128"/>
              </a:rPr>
              <a:t>Test errors</a:t>
            </a:r>
          </a:p>
          <a:p>
            <a:pPr lvl="1"/>
            <a:r>
              <a:rPr lang="en-US" altLang="it-IT" dirty="0">
                <a:ea typeface="ＭＳ Ｐゴシック" panose="020B0600070205080204" pitchFamily="34" charset="-128"/>
              </a:rPr>
              <a:t>Errors committed on the test set</a:t>
            </a:r>
          </a:p>
          <a:p>
            <a:pPr lvl="1"/>
            <a:endParaRPr lang="en-US" altLang="it-IT" dirty="0">
              <a:ea typeface="ＭＳ Ｐゴシック" panose="020B0600070205080204" pitchFamily="34" charset="-128"/>
            </a:endParaRPr>
          </a:p>
          <a:p>
            <a:r>
              <a:rPr lang="en-US" altLang="it-IT" dirty="0">
                <a:ea typeface="ＭＳ Ｐゴシック" panose="020B0600070205080204" pitchFamily="34" charset="-128"/>
              </a:rPr>
              <a:t>Generalization errors</a:t>
            </a:r>
          </a:p>
          <a:p>
            <a:pPr lvl="1"/>
            <a:r>
              <a:rPr lang="en-US" altLang="it-IT" dirty="0">
                <a:ea typeface="ＭＳ Ｐゴシック" panose="020B0600070205080204" pitchFamily="34" charset="-128"/>
              </a:rPr>
              <a:t>Expected error of a model over </a:t>
            </a:r>
            <a:r>
              <a:rPr lang="en-US" altLang="it-IT" b="1" dirty="0">
                <a:ea typeface="ＭＳ Ｐゴシック" panose="020B0600070205080204" pitchFamily="34" charset="-128"/>
              </a:rPr>
              <a:t>random selection</a:t>
            </a:r>
            <a:r>
              <a:rPr lang="en-US" altLang="it-IT" dirty="0">
                <a:ea typeface="ＭＳ Ｐゴシック" panose="020B0600070205080204" pitchFamily="34" charset="-128"/>
              </a:rPr>
              <a:t> of records from same distribution (of training or test set)</a:t>
            </a:r>
          </a:p>
        </p:txBody>
      </p:sp>
    </p:spTree>
    <p:extLst>
      <p:ext uri="{BB962C8B-B14F-4D97-AF65-F5344CB8AC3E}">
        <p14:creationId xmlns:p14="http://schemas.microsoft.com/office/powerpoint/2010/main" val="318232852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010" name="Rectangle 2">
            <a:extLst>
              <a:ext uri="{FF2B5EF4-FFF2-40B4-BE49-F238E27FC236}">
                <a16:creationId xmlns:a16="http://schemas.microsoft.com/office/drawing/2014/main" id="{DFA37ED3-E782-6E40-B086-82D857B340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Underfitting and Overfitting</a:t>
            </a:r>
          </a:p>
        </p:txBody>
      </p:sp>
      <p:pic>
        <p:nvPicPr>
          <p:cNvPr id="108546" name="Picture 3">
            <a:extLst>
              <a:ext uri="{FF2B5EF4-FFF2-40B4-BE49-F238E27FC236}">
                <a16:creationId xmlns:a16="http://schemas.microsoft.com/office/drawing/2014/main" id="{5A54A912-57B6-7D46-A17C-C7DE177F4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2890" y="1561323"/>
            <a:ext cx="60960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8547" name="Line 4">
            <a:extLst>
              <a:ext uri="{FF2B5EF4-FFF2-40B4-BE49-F238E27FC236}">
                <a16:creationId xmlns:a16="http://schemas.microsoft.com/office/drawing/2014/main" id="{41E15402-9B1F-8540-ACDF-98E8FAE34C19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0490" y="1713723"/>
            <a:ext cx="0" cy="4114800"/>
          </a:xfrm>
          <a:prstGeom prst="line">
            <a:avLst/>
          </a:prstGeom>
          <a:noFill/>
          <a:ln w="25400">
            <a:solidFill>
              <a:srgbClr val="8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548" name="Text Box 5">
            <a:extLst>
              <a:ext uri="{FF2B5EF4-FFF2-40B4-BE49-F238E27FC236}">
                <a16:creationId xmlns:a16="http://schemas.microsoft.com/office/drawing/2014/main" id="{20B17670-AC75-C140-AF56-2976B54015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6690" y="1942324"/>
            <a:ext cx="1600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/>
              <a:t>Overfitting</a:t>
            </a:r>
            <a:endParaRPr lang="en-US" altLang="it-IT" sz="1800">
              <a:sym typeface="Symbol" pitchFamily="2" charset="2"/>
            </a:endParaRPr>
          </a:p>
        </p:txBody>
      </p:sp>
      <p:sp>
        <p:nvSpPr>
          <p:cNvPr id="108549" name="Text Box 6">
            <a:extLst>
              <a:ext uri="{FF2B5EF4-FFF2-40B4-BE49-F238E27FC236}">
                <a16:creationId xmlns:a16="http://schemas.microsoft.com/office/drawing/2014/main" id="{5FD58A97-3772-9645-8E0D-FFB1DBFA3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0490" y="6376211"/>
            <a:ext cx="845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/>
              <a:t>Underfitting: when model is too simple, both training and test errors are large </a:t>
            </a:r>
            <a:endParaRPr lang="en-US" altLang="it-IT" sz="1800">
              <a:sym typeface="Symbol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76496450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2">
            <a:extLst>
              <a:ext uri="{FF2B5EF4-FFF2-40B4-BE49-F238E27FC236}">
                <a16:creationId xmlns:a16="http://schemas.microsoft.com/office/drawing/2014/main" id="{962BD4ED-E236-714C-AB4E-171AE40CC4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Example Data Set</a:t>
            </a:r>
          </a:p>
        </p:txBody>
      </p:sp>
      <p:sp>
        <p:nvSpPr>
          <p:cNvPr id="4099" name="Text Box 4">
            <a:extLst>
              <a:ext uri="{FF2B5EF4-FFF2-40B4-BE49-F238E27FC236}">
                <a16:creationId xmlns:a16="http://schemas.microsoft.com/office/drawing/2014/main" id="{B70DE4CA-19CF-4445-A70B-25CABDBA7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8939" y="1690688"/>
            <a:ext cx="2971800" cy="50784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800" dirty="0">
                <a:ea typeface="ＭＳ Ｐゴシック" charset="0"/>
                <a:cs typeface="ＭＳ Ｐゴシック" charset="0"/>
              </a:rPr>
              <a:t>Two class problem: </a:t>
            </a:r>
          </a:p>
          <a:p>
            <a:pPr>
              <a:spcBef>
                <a:spcPct val="50000"/>
              </a:spcBef>
              <a:defRPr/>
            </a:pPr>
            <a:r>
              <a:rPr lang="en-US" altLang="en-US" sz="1800" dirty="0">
                <a:solidFill>
                  <a:srgbClr val="0070C0"/>
                </a:solidFill>
                <a:ea typeface="ＭＳ Ｐゴシック" charset="0"/>
                <a:cs typeface="ＭＳ Ｐゴシック" charset="0"/>
              </a:rPr>
              <a:t>+ : 5200 instances</a:t>
            </a:r>
          </a:p>
          <a:p>
            <a:pPr marL="285750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1800" dirty="0">
                <a:solidFill>
                  <a:srgbClr val="0070C0"/>
                </a:solidFill>
                <a:ea typeface="ＭＳ Ｐゴシック" charset="0"/>
                <a:cs typeface="ＭＳ Ｐゴシック" charset="0"/>
              </a:rPr>
              <a:t> </a:t>
            </a:r>
            <a:r>
              <a:rPr lang="en-US" altLang="en-US" sz="1400" dirty="0">
                <a:solidFill>
                  <a:srgbClr val="0070C0"/>
                </a:solidFill>
                <a:ea typeface="ＭＳ Ｐゴシック" charset="0"/>
                <a:cs typeface="ＭＳ Ｐゴシック" charset="0"/>
              </a:rPr>
              <a:t>5000 instances generated from a Gaussian centered at (10,10)</a:t>
            </a:r>
          </a:p>
          <a:p>
            <a:pPr marL="285750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1400" dirty="0">
                <a:solidFill>
                  <a:srgbClr val="0070C0"/>
                </a:solidFill>
                <a:ea typeface="ＭＳ Ｐゴシック" charset="0"/>
                <a:cs typeface="ＭＳ Ｐゴシック" charset="0"/>
              </a:rPr>
              <a:t> 200 noisy instances added</a:t>
            </a:r>
            <a:r>
              <a:rPr lang="en-US" altLang="en-US" sz="1800" dirty="0">
                <a:ea typeface="ＭＳ Ｐゴシック" charset="0"/>
                <a:cs typeface="ＭＳ Ｐゴシック" charset="0"/>
              </a:rPr>
              <a:t>	</a:t>
            </a:r>
          </a:p>
          <a:p>
            <a:pPr>
              <a:spcBef>
                <a:spcPct val="50000"/>
              </a:spcBef>
              <a:defRPr/>
            </a:pPr>
            <a:r>
              <a:rPr lang="en-US" altLang="en-US" sz="1800" dirty="0">
                <a:solidFill>
                  <a:srgbClr val="FF0000"/>
                </a:solidFill>
                <a:ea typeface="ＭＳ Ｐゴシック" charset="0"/>
                <a:cs typeface="ＭＳ Ｐゴシック" charset="0"/>
              </a:rPr>
              <a:t>o : 5200 instances </a:t>
            </a:r>
          </a:p>
          <a:p>
            <a:pPr marL="285750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1400" dirty="0">
                <a:solidFill>
                  <a:srgbClr val="FF0000"/>
                </a:solidFill>
                <a:ea typeface="ＭＳ Ｐゴシック" charset="0"/>
                <a:cs typeface="ＭＳ Ｐゴシック" charset="0"/>
              </a:rPr>
              <a:t> Generated from a uniform distribution</a:t>
            </a:r>
          </a:p>
          <a:p>
            <a:pPr>
              <a:spcBef>
                <a:spcPct val="50000"/>
              </a:spcBef>
              <a:defRPr/>
            </a:pPr>
            <a:endParaRPr lang="en-US" altLang="en-US" sz="1800" dirty="0">
              <a:solidFill>
                <a:srgbClr val="FF0000"/>
              </a:solidFill>
              <a:ea typeface="ＭＳ Ｐゴシック" charset="0"/>
              <a:cs typeface="ＭＳ Ｐゴシック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en-US" altLang="en-US" sz="1800" dirty="0">
                <a:ea typeface="ＭＳ Ｐゴシック" charset="0"/>
                <a:cs typeface="ＭＳ Ｐゴシック" charset="0"/>
              </a:rPr>
              <a:t>10 % of the data used for training and 90% of the data used for testing</a:t>
            </a:r>
          </a:p>
          <a:p>
            <a:pPr>
              <a:spcBef>
                <a:spcPct val="50000"/>
              </a:spcBef>
              <a:defRPr/>
            </a:pPr>
            <a:br>
              <a:rPr lang="en-US" altLang="en-US" sz="1800" dirty="0">
                <a:ea typeface="ＭＳ Ｐゴシック" charset="0"/>
                <a:cs typeface="ＭＳ Ｐゴシック" charset="0"/>
              </a:rPr>
            </a:br>
            <a:endParaRPr lang="en-US" altLang="en-US" sz="1800" dirty="0">
              <a:ea typeface="ＭＳ Ｐゴシック" charset="0"/>
              <a:cs typeface="ＭＳ Ｐゴシック" charset="0"/>
              <a:sym typeface="Symbol" pitchFamily="18" charset="2"/>
            </a:endParaRPr>
          </a:p>
        </p:txBody>
      </p:sp>
      <p:pic>
        <p:nvPicPr>
          <p:cNvPr id="109571" name="Picture 5">
            <a:extLst>
              <a:ext uri="{FF2B5EF4-FFF2-40B4-BE49-F238E27FC236}">
                <a16:creationId xmlns:a16="http://schemas.microsoft.com/office/drawing/2014/main" id="{DD77D653-AD2F-2446-A837-D25E700D9A3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57739" y="2008187"/>
            <a:ext cx="5715000" cy="4140200"/>
          </a:xfrm>
        </p:spPr>
      </p:pic>
    </p:spTree>
    <p:extLst>
      <p:ext uri="{BB962C8B-B14F-4D97-AF65-F5344CB8AC3E}">
        <p14:creationId xmlns:p14="http://schemas.microsoft.com/office/powerpoint/2010/main" val="91662095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4">
            <a:extLst>
              <a:ext uri="{FF2B5EF4-FFF2-40B4-BE49-F238E27FC236}">
                <a16:creationId xmlns:a16="http://schemas.microsoft.com/office/drawing/2014/main" id="{B694AC04-56A6-0D43-8B76-0E3DBD2765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t-IT" sz="4000" dirty="0">
                <a:ea typeface="ＭＳ Ｐゴシック" panose="020B0600070205080204" pitchFamily="34" charset="-128"/>
              </a:rPr>
              <a:t>Increasing number of nodes in Decision Trees</a:t>
            </a:r>
          </a:p>
        </p:txBody>
      </p:sp>
      <p:pic>
        <p:nvPicPr>
          <p:cNvPr id="110594" name="Content Placeholder 3">
            <a:extLst>
              <a:ext uri="{FF2B5EF4-FFF2-40B4-BE49-F238E27FC236}">
                <a16:creationId xmlns:a16="http://schemas.microsoft.com/office/drawing/2014/main" id="{E211B05F-069C-4C4E-9B8D-1C99996FC5A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9" t="6245" r="7352" b="3252"/>
          <a:stretch>
            <a:fillRect/>
          </a:stretch>
        </p:blipFill>
        <p:spPr>
          <a:xfrm>
            <a:off x="1637522" y="1690688"/>
            <a:ext cx="8686800" cy="5105400"/>
          </a:xfrm>
        </p:spPr>
      </p:pic>
    </p:spTree>
    <p:extLst>
      <p:ext uri="{BB962C8B-B14F-4D97-AF65-F5344CB8AC3E}">
        <p14:creationId xmlns:p14="http://schemas.microsoft.com/office/powerpoint/2010/main" val="286686984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4">
            <a:extLst>
              <a:ext uri="{FF2B5EF4-FFF2-40B4-BE49-F238E27FC236}">
                <a16:creationId xmlns:a16="http://schemas.microsoft.com/office/drawing/2014/main" id="{88757EBA-BD77-7E49-B5B3-7B41667C8B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t-IT" dirty="0">
                <a:ea typeface="ＭＳ Ｐゴシック" panose="020B0600070205080204" pitchFamily="34" charset="-128"/>
              </a:rPr>
              <a:t>Decision Tree with 4 nodes</a:t>
            </a:r>
          </a:p>
        </p:txBody>
      </p:sp>
      <p:pic>
        <p:nvPicPr>
          <p:cNvPr id="111618" name="Content Placeholder 3">
            <a:extLst>
              <a:ext uri="{FF2B5EF4-FFF2-40B4-BE49-F238E27FC236}">
                <a16:creationId xmlns:a16="http://schemas.microsoft.com/office/drawing/2014/main" id="{70135260-80D0-3945-8EF0-6D64F654F87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9" t="6245" r="7352" b="3252"/>
          <a:stretch>
            <a:fillRect/>
          </a:stretch>
        </p:blipFill>
        <p:spPr>
          <a:xfrm>
            <a:off x="1768151" y="1564432"/>
            <a:ext cx="8686800" cy="5105400"/>
          </a:xfrm>
        </p:spPr>
      </p:pic>
      <p:cxnSp>
        <p:nvCxnSpPr>
          <p:cNvPr id="111619" name="Straight Arrow Connector 2">
            <a:extLst>
              <a:ext uri="{FF2B5EF4-FFF2-40B4-BE49-F238E27FC236}">
                <a16:creationId xmlns:a16="http://schemas.microsoft.com/office/drawing/2014/main" id="{4225677C-8A4D-F04C-842F-10B882038D3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682551" y="5444282"/>
            <a:ext cx="0" cy="3810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1620" name="TextBox 5">
            <a:extLst>
              <a:ext uri="{FF2B5EF4-FFF2-40B4-BE49-F238E27FC236}">
                <a16:creationId xmlns:a16="http://schemas.microsoft.com/office/drawing/2014/main" id="{1599C396-910C-0742-A78C-FF97A3DA4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3151" y="4290170"/>
            <a:ext cx="16764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200"/>
              <a:t>Decision Tree</a:t>
            </a:r>
          </a:p>
        </p:txBody>
      </p:sp>
      <p:sp>
        <p:nvSpPr>
          <p:cNvPr id="111621" name="TextBox 10">
            <a:extLst>
              <a:ext uri="{FF2B5EF4-FFF2-40B4-BE49-F238E27FC236}">
                <a16:creationId xmlns:a16="http://schemas.microsoft.com/office/drawing/2014/main" id="{FEB93107-8309-6A45-A393-DE773AC296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3552" y="5450633"/>
            <a:ext cx="27844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200"/>
              <a:t>Decision boundaries on Training data</a:t>
            </a:r>
          </a:p>
        </p:txBody>
      </p:sp>
      <p:pic>
        <p:nvPicPr>
          <p:cNvPr id="111622" name="Picture 1">
            <a:extLst>
              <a:ext uri="{FF2B5EF4-FFF2-40B4-BE49-F238E27FC236}">
                <a16:creationId xmlns:a16="http://schemas.microsoft.com/office/drawing/2014/main" id="{246E4668-7A83-0246-9717-B6FDB93901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927" y="2440732"/>
            <a:ext cx="3641725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1623" name="Picture 3">
            <a:extLst>
              <a:ext uri="{FF2B5EF4-FFF2-40B4-BE49-F238E27FC236}">
                <a16:creationId xmlns:a16="http://schemas.microsoft.com/office/drawing/2014/main" id="{06901F39-4629-4344-8D63-2CA5F6D731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6090" y="1869232"/>
            <a:ext cx="2346325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741032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4">
            <a:extLst>
              <a:ext uri="{FF2B5EF4-FFF2-40B4-BE49-F238E27FC236}">
                <a16:creationId xmlns:a16="http://schemas.microsoft.com/office/drawing/2014/main" id="{5F410B91-6E9C-9A46-A2E5-4DF1512F90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t-IT" dirty="0">
                <a:ea typeface="ＭＳ Ｐゴシック" panose="020B0600070205080204" pitchFamily="34" charset="-128"/>
              </a:rPr>
              <a:t>Decision Tree with 50 nodes</a:t>
            </a:r>
          </a:p>
        </p:txBody>
      </p:sp>
      <p:pic>
        <p:nvPicPr>
          <p:cNvPr id="112642" name="Content Placeholder 3">
            <a:extLst>
              <a:ext uri="{FF2B5EF4-FFF2-40B4-BE49-F238E27FC236}">
                <a16:creationId xmlns:a16="http://schemas.microsoft.com/office/drawing/2014/main" id="{89A0EF21-F05F-594B-B600-C6E794C02E3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9" t="6245" r="7352" b="3252"/>
          <a:stretch>
            <a:fillRect/>
          </a:stretch>
        </p:blipFill>
        <p:spPr>
          <a:xfrm>
            <a:off x="1684175" y="1527110"/>
            <a:ext cx="8686800" cy="5105400"/>
          </a:xfrm>
        </p:spPr>
      </p:pic>
      <p:cxnSp>
        <p:nvCxnSpPr>
          <p:cNvPr id="112643" name="Straight Arrow Connector 5">
            <a:extLst>
              <a:ext uri="{FF2B5EF4-FFF2-40B4-BE49-F238E27FC236}">
                <a16:creationId xmlns:a16="http://schemas.microsoft.com/office/drawing/2014/main" id="{4EFC21E7-381F-5F4D-A0EA-9D91A35B236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732175" y="5641910"/>
            <a:ext cx="0" cy="3810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2644" name="TextBox 6">
            <a:extLst>
              <a:ext uri="{FF2B5EF4-FFF2-40B4-BE49-F238E27FC236}">
                <a16:creationId xmlns:a16="http://schemas.microsoft.com/office/drawing/2014/main" id="{A824CF9C-A954-0C49-A0C8-493A8B0F0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9175" y="4252848"/>
            <a:ext cx="16764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200"/>
              <a:t>Decision Tree</a:t>
            </a:r>
          </a:p>
        </p:txBody>
      </p:sp>
      <p:sp>
        <p:nvSpPr>
          <p:cNvPr id="112645" name="TextBox 7">
            <a:extLst>
              <a:ext uri="{FF2B5EF4-FFF2-40B4-BE49-F238E27FC236}">
                <a16:creationId xmlns:a16="http://schemas.microsoft.com/office/drawing/2014/main" id="{1610B552-3C86-7943-B720-6D0E7CF2BE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9175" y="4252848"/>
            <a:ext cx="16764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200"/>
              <a:t>Decision Tree</a:t>
            </a:r>
          </a:p>
        </p:txBody>
      </p:sp>
      <p:sp>
        <p:nvSpPr>
          <p:cNvPr id="112646" name="TextBox 8">
            <a:extLst>
              <a:ext uri="{FF2B5EF4-FFF2-40B4-BE49-F238E27FC236}">
                <a16:creationId xmlns:a16="http://schemas.microsoft.com/office/drawing/2014/main" id="{9C105B7D-0DB7-D340-A4C3-D0B28629FB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9576" y="5416486"/>
            <a:ext cx="27844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200"/>
              <a:t>Decision boundaries on Training data</a:t>
            </a:r>
          </a:p>
        </p:txBody>
      </p:sp>
      <p:pic>
        <p:nvPicPr>
          <p:cNvPr id="112647" name="Picture 2">
            <a:extLst>
              <a:ext uri="{FF2B5EF4-FFF2-40B4-BE49-F238E27FC236}">
                <a16:creationId xmlns:a16="http://schemas.microsoft.com/office/drawing/2014/main" id="{9D371894-1CE9-8648-B070-A09A7ADCC4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9350" y="2365310"/>
            <a:ext cx="372745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48" name="Picture 3">
            <a:extLst>
              <a:ext uri="{FF2B5EF4-FFF2-40B4-BE49-F238E27FC236}">
                <a16:creationId xmlns:a16="http://schemas.microsoft.com/office/drawing/2014/main" id="{D973B394-21A2-AB46-923F-966246FFA9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6051" y="1922398"/>
            <a:ext cx="3046413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198993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4">
            <a:extLst>
              <a:ext uri="{FF2B5EF4-FFF2-40B4-BE49-F238E27FC236}">
                <a16:creationId xmlns:a16="http://schemas.microsoft.com/office/drawing/2014/main" id="{5391C679-CBBC-774C-88E2-E3EA800D38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t-IT" dirty="0">
                <a:ea typeface="ＭＳ Ｐゴシック" panose="020B0600070205080204" pitchFamily="34" charset="-128"/>
              </a:rPr>
              <a:t>Which tree is better?</a:t>
            </a:r>
          </a:p>
        </p:txBody>
      </p:sp>
      <p:pic>
        <p:nvPicPr>
          <p:cNvPr id="113666" name="Content Placeholder 3">
            <a:extLst>
              <a:ext uri="{FF2B5EF4-FFF2-40B4-BE49-F238E27FC236}">
                <a16:creationId xmlns:a16="http://schemas.microsoft.com/office/drawing/2014/main" id="{FF4385B4-EA64-EC4A-8C62-8914640DB35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9" t="6245" r="7352" b="3252"/>
          <a:stretch>
            <a:fillRect/>
          </a:stretch>
        </p:blipFill>
        <p:spPr>
          <a:xfrm>
            <a:off x="1835150" y="1555102"/>
            <a:ext cx="8686800" cy="5105400"/>
          </a:xfrm>
        </p:spPr>
      </p:pic>
      <p:sp>
        <p:nvSpPr>
          <p:cNvPr id="113667" name="TextBox 4">
            <a:extLst>
              <a:ext uri="{FF2B5EF4-FFF2-40B4-BE49-F238E27FC236}">
                <a16:creationId xmlns:a16="http://schemas.microsoft.com/office/drawing/2014/main" id="{32CF4F99-4759-2C4E-B9A2-2FEAD9FA02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4433241"/>
            <a:ext cx="2743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Decision Tree with 4 nodes</a:t>
            </a:r>
          </a:p>
        </p:txBody>
      </p:sp>
      <p:sp>
        <p:nvSpPr>
          <p:cNvPr id="113668" name="TextBox 7">
            <a:extLst>
              <a:ext uri="{FF2B5EF4-FFF2-40B4-BE49-F238E27FC236}">
                <a16:creationId xmlns:a16="http://schemas.microsoft.com/office/drawing/2014/main" id="{B7C5116E-A95C-B34F-A139-6BB7DF89D8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5350" y="5134916"/>
            <a:ext cx="2743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/>
              <a:t>Decision Tree with 50 nodes</a:t>
            </a:r>
          </a:p>
        </p:txBody>
      </p:sp>
      <p:sp>
        <p:nvSpPr>
          <p:cNvPr id="113669" name="TextBox 8">
            <a:extLst>
              <a:ext uri="{FF2B5EF4-FFF2-40B4-BE49-F238E27FC236}">
                <a16:creationId xmlns:a16="http://schemas.microsoft.com/office/drawing/2014/main" id="{58966C18-398C-9247-B947-9AD1556F3B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4950" y="4798366"/>
            <a:ext cx="27432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600">
                <a:solidFill>
                  <a:srgbClr val="FF0000"/>
                </a:solidFill>
              </a:rPr>
              <a:t>Which tree is better ?</a:t>
            </a:r>
          </a:p>
        </p:txBody>
      </p:sp>
      <p:cxnSp>
        <p:nvCxnSpPr>
          <p:cNvPr id="113670" name="Straight Arrow Connector 10">
            <a:extLst>
              <a:ext uri="{FF2B5EF4-FFF2-40B4-BE49-F238E27FC236}">
                <a16:creationId xmlns:a16="http://schemas.microsoft.com/office/drawing/2014/main" id="{0C3CD2A0-3040-6D47-AC40-8A6E5661DD2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825750" y="4433240"/>
            <a:ext cx="762000" cy="8128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13671" name="Picture 10">
            <a:extLst>
              <a:ext uri="{FF2B5EF4-FFF2-40B4-BE49-F238E27FC236}">
                <a16:creationId xmlns:a16="http://schemas.microsoft.com/office/drawing/2014/main" id="{19C4E1A6-5AA2-B44B-AC5F-93F1784023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8175" y="2848915"/>
            <a:ext cx="310515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3672" name="Straight Arrow Connector 12">
            <a:extLst>
              <a:ext uri="{FF2B5EF4-FFF2-40B4-BE49-F238E27FC236}">
                <a16:creationId xmlns:a16="http://schemas.microsoft.com/office/drawing/2014/main" id="{F210FE5D-B01C-C44F-A1ED-01CD0D21B87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035550" y="4863452"/>
            <a:ext cx="1981200" cy="6096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13673" name="Picture 1">
            <a:extLst>
              <a:ext uri="{FF2B5EF4-FFF2-40B4-BE49-F238E27FC236}">
                <a16:creationId xmlns:a16="http://schemas.microsoft.com/office/drawing/2014/main" id="{47F34F3D-8C23-BB47-A83B-41865ACE83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0700" y="2175815"/>
            <a:ext cx="30353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889323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2">
            <a:extLst>
              <a:ext uri="{FF2B5EF4-FFF2-40B4-BE49-F238E27FC236}">
                <a16:creationId xmlns:a16="http://schemas.microsoft.com/office/drawing/2014/main" id="{59C5C877-B014-0141-A639-DE466A13B5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Model Overfitting</a:t>
            </a:r>
          </a:p>
        </p:txBody>
      </p:sp>
      <p:sp>
        <p:nvSpPr>
          <p:cNvPr id="114690" name="Text Box 7">
            <a:extLst>
              <a:ext uri="{FF2B5EF4-FFF2-40B4-BE49-F238E27FC236}">
                <a16:creationId xmlns:a16="http://schemas.microsoft.com/office/drawing/2014/main" id="{9D99831A-7BC2-184F-84E9-EE12F3BA8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9510" y="5561046"/>
            <a:ext cx="8686800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/>
              <a:t>Underfitting: when model is too simple, both training and test errors are large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/>
              <a:t>Overfitting: when model is too complex, training error is small but test error is large</a:t>
            </a:r>
            <a:endParaRPr lang="en-US" altLang="it-IT" sz="1800">
              <a:sym typeface="Symbol" pitchFamily="2" charset="2"/>
            </a:endParaRPr>
          </a:p>
        </p:txBody>
      </p:sp>
      <p:pic>
        <p:nvPicPr>
          <p:cNvPr id="114691" name="Picture 11">
            <a:extLst>
              <a:ext uri="{FF2B5EF4-FFF2-40B4-BE49-F238E27FC236}">
                <a16:creationId xmlns:a16="http://schemas.microsoft.com/office/drawing/2014/main" id="{548092C6-2548-9649-85D9-70E76E4CBD8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99060" y="1446245"/>
            <a:ext cx="5048250" cy="3657600"/>
          </a:xfrm>
        </p:spPr>
      </p:pic>
      <p:pic>
        <p:nvPicPr>
          <p:cNvPr id="114692" name="Picture 5">
            <a:extLst>
              <a:ext uri="{FF2B5EF4-FFF2-40B4-BE49-F238E27FC236}">
                <a16:creationId xmlns:a16="http://schemas.microsoft.com/office/drawing/2014/main" id="{5B46673B-3F38-664D-B431-493153783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460" y="1446245"/>
            <a:ext cx="504825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625214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Rectangle 2">
            <a:extLst>
              <a:ext uri="{FF2B5EF4-FFF2-40B4-BE49-F238E27FC236}">
                <a16:creationId xmlns:a16="http://schemas.microsoft.com/office/drawing/2014/main" id="{58AE0720-2FE7-254F-99AF-B54896D915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Model Overfitting</a:t>
            </a:r>
          </a:p>
        </p:txBody>
      </p:sp>
      <p:pic>
        <p:nvPicPr>
          <p:cNvPr id="115714" name="Picture 11">
            <a:extLst>
              <a:ext uri="{FF2B5EF4-FFF2-40B4-BE49-F238E27FC236}">
                <a16:creationId xmlns:a16="http://schemas.microsoft.com/office/drawing/2014/main" id="{2E41AB60-573D-A74A-B6D8-C47BFD5135B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76350" y="1304730"/>
            <a:ext cx="5048250" cy="3657600"/>
          </a:xfrm>
        </p:spPr>
      </p:pic>
      <p:pic>
        <p:nvPicPr>
          <p:cNvPr id="115715" name="Picture 1">
            <a:extLst>
              <a:ext uri="{FF2B5EF4-FFF2-40B4-BE49-F238E27FC236}">
                <a16:creationId xmlns:a16="http://schemas.microsoft.com/office/drawing/2014/main" id="{C9378B8E-FD3E-7543-B7B3-CF85770FBCD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304731"/>
            <a:ext cx="5257800" cy="370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5716" name="Picture 11">
            <a:extLst>
              <a:ext uri="{FF2B5EF4-FFF2-40B4-BE49-F238E27FC236}">
                <a16:creationId xmlns:a16="http://schemas.microsoft.com/office/drawing/2014/main" id="{D7FD1999-E6C3-9C47-BDDE-D645853954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19" t="9634" r="13583" b="75781"/>
          <a:stretch>
            <a:fillRect/>
          </a:stretch>
        </p:blipFill>
        <p:spPr bwMode="auto">
          <a:xfrm>
            <a:off x="9067800" y="1609530"/>
            <a:ext cx="11811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5717" name="TextBox 2">
            <a:extLst>
              <a:ext uri="{FF2B5EF4-FFF2-40B4-BE49-F238E27FC236}">
                <a16:creationId xmlns:a16="http://schemas.microsoft.com/office/drawing/2014/main" id="{A6A6403E-B1CF-BA46-92CE-FFD53EEB5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3625" y="4886130"/>
            <a:ext cx="44958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600"/>
              <a:t>Using twice the number of data instances</a:t>
            </a:r>
          </a:p>
        </p:txBody>
      </p:sp>
      <p:sp>
        <p:nvSpPr>
          <p:cNvPr id="115718" name="Text Box 7">
            <a:extLst>
              <a:ext uri="{FF2B5EF4-FFF2-40B4-BE49-F238E27FC236}">
                <a16:creationId xmlns:a16="http://schemas.microsoft.com/office/drawing/2014/main" id="{AC911AF4-15C3-9145-9591-CE36D504E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419531"/>
            <a:ext cx="8686800" cy="133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it-IT" sz="1800">
                <a:sym typeface="Symbol" pitchFamily="2" charset="2"/>
              </a:rPr>
              <a:t>If training data is under-representative, testing errors increase and training errors decrease on increasing number of nodes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it-IT" sz="1800">
                <a:sym typeface="Symbol" pitchFamily="2" charset="2"/>
              </a:rPr>
              <a:t>Increasing the size of training data reduces the difference between training and testing errors at a given number of nodes</a:t>
            </a:r>
          </a:p>
        </p:txBody>
      </p:sp>
    </p:spTree>
    <p:extLst>
      <p:ext uri="{BB962C8B-B14F-4D97-AF65-F5344CB8AC3E}">
        <p14:creationId xmlns:p14="http://schemas.microsoft.com/office/powerpoint/2010/main" val="174557349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Rectangle 2">
            <a:extLst>
              <a:ext uri="{FF2B5EF4-FFF2-40B4-BE49-F238E27FC236}">
                <a16:creationId xmlns:a16="http://schemas.microsoft.com/office/drawing/2014/main" id="{9046811C-178B-EE46-A7C6-E208373762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Model Overfitting</a:t>
            </a:r>
          </a:p>
        </p:txBody>
      </p:sp>
      <p:pic>
        <p:nvPicPr>
          <p:cNvPr id="116738" name="Picture 11">
            <a:extLst>
              <a:ext uri="{FF2B5EF4-FFF2-40B4-BE49-F238E27FC236}">
                <a16:creationId xmlns:a16="http://schemas.microsoft.com/office/drawing/2014/main" id="{32AB367D-B2B5-2446-85F6-AACF17AA3E4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48358" y="1295400"/>
            <a:ext cx="5048250" cy="3657600"/>
          </a:xfrm>
        </p:spPr>
      </p:pic>
      <p:pic>
        <p:nvPicPr>
          <p:cNvPr id="116739" name="Picture 1">
            <a:extLst>
              <a:ext uri="{FF2B5EF4-FFF2-40B4-BE49-F238E27FC236}">
                <a16:creationId xmlns:a16="http://schemas.microsoft.com/office/drawing/2014/main" id="{95CC50F7-EBFD-CB48-8569-499D9958CB6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8408" y="1295401"/>
            <a:ext cx="5257800" cy="370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6740" name="Picture 11">
            <a:extLst>
              <a:ext uri="{FF2B5EF4-FFF2-40B4-BE49-F238E27FC236}">
                <a16:creationId xmlns:a16="http://schemas.microsoft.com/office/drawing/2014/main" id="{0D8718A8-3ADE-4944-8055-DA037E7A25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19" t="9634" r="13583" b="75781"/>
          <a:stretch>
            <a:fillRect/>
          </a:stretch>
        </p:blipFill>
        <p:spPr bwMode="auto">
          <a:xfrm>
            <a:off x="9039808" y="1600200"/>
            <a:ext cx="11811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741" name="TextBox 2">
            <a:extLst>
              <a:ext uri="{FF2B5EF4-FFF2-40B4-BE49-F238E27FC236}">
                <a16:creationId xmlns:a16="http://schemas.microsoft.com/office/drawing/2014/main" id="{8791F203-51E7-1342-AA1E-C26033C64F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33" y="4876800"/>
            <a:ext cx="44958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600"/>
              <a:t>Using twice the number of data instances</a:t>
            </a:r>
          </a:p>
        </p:txBody>
      </p:sp>
      <p:sp>
        <p:nvSpPr>
          <p:cNvPr id="116742" name="Text Box 7">
            <a:extLst>
              <a:ext uri="{FF2B5EF4-FFF2-40B4-BE49-F238E27FC236}">
                <a16:creationId xmlns:a16="http://schemas.microsoft.com/office/drawing/2014/main" id="{A8215276-D651-1B43-BAA0-ABE47BFE03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0808" y="5410201"/>
            <a:ext cx="8686800" cy="133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it-IT" sz="1800">
                <a:sym typeface="Symbol" pitchFamily="2" charset="2"/>
              </a:rPr>
              <a:t>If training data is under-representative, testing errors increase and training errors decrease on increasing number of nodes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it-IT" sz="1800">
                <a:sym typeface="Symbol" pitchFamily="2" charset="2"/>
              </a:rPr>
              <a:t>Increasing the size of training data reduces the difference between training and testing errors at a given number of nodes</a:t>
            </a:r>
          </a:p>
        </p:txBody>
      </p:sp>
      <p:pic>
        <p:nvPicPr>
          <p:cNvPr id="116743" name="Picture 1">
            <a:extLst>
              <a:ext uri="{FF2B5EF4-FFF2-40B4-BE49-F238E27FC236}">
                <a16:creationId xmlns:a16="http://schemas.microsoft.com/office/drawing/2014/main" id="{2C279C88-48A2-994E-9C63-3BEC42C32B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609" y="2133600"/>
            <a:ext cx="180022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6744" name="Picture 8">
            <a:extLst>
              <a:ext uri="{FF2B5EF4-FFF2-40B4-BE49-F238E27FC236}">
                <a16:creationId xmlns:a16="http://schemas.microsoft.com/office/drawing/2014/main" id="{CB501A2D-8ED0-2E40-9F2B-01C93D6321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5209" y="2209800"/>
            <a:ext cx="186372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745" name="TextBox 2">
            <a:extLst>
              <a:ext uri="{FF2B5EF4-FFF2-40B4-BE49-F238E27FC236}">
                <a16:creationId xmlns:a16="http://schemas.microsoft.com/office/drawing/2014/main" id="{B695A34E-0CF8-5243-9193-921C4153C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58" y="3552826"/>
            <a:ext cx="2895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200"/>
              <a:t>Decision Tree with 50 nodes</a:t>
            </a:r>
          </a:p>
        </p:txBody>
      </p:sp>
      <p:sp>
        <p:nvSpPr>
          <p:cNvPr id="116746" name="TextBox 10">
            <a:extLst>
              <a:ext uri="{FF2B5EF4-FFF2-40B4-BE49-F238E27FC236}">
                <a16:creationId xmlns:a16="http://schemas.microsoft.com/office/drawing/2014/main" id="{B97DDE78-9EC9-C24D-8448-D8C13A9FD5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4308" y="3505201"/>
            <a:ext cx="2895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200"/>
              <a:t>Decision Tree with 50 nodes</a:t>
            </a:r>
          </a:p>
        </p:txBody>
      </p:sp>
    </p:spTree>
    <p:extLst>
      <p:ext uri="{BB962C8B-B14F-4D97-AF65-F5344CB8AC3E}">
        <p14:creationId xmlns:p14="http://schemas.microsoft.com/office/powerpoint/2010/main" val="66626349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058" name="Rectangle 2">
            <a:extLst>
              <a:ext uri="{FF2B5EF4-FFF2-40B4-BE49-F238E27FC236}">
                <a16:creationId xmlns:a16="http://schemas.microsoft.com/office/drawing/2014/main" id="{E1CBEE49-C33F-8144-9650-02DDEDDF95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>
                <a:cs typeface="+mj-cs"/>
              </a:rPr>
              <a:t>Overfitting due to Insufficient Examples</a:t>
            </a:r>
          </a:p>
        </p:txBody>
      </p:sp>
      <p:pic>
        <p:nvPicPr>
          <p:cNvPr id="117763" name="Picture 4">
            <a:extLst>
              <a:ext uri="{FF2B5EF4-FFF2-40B4-BE49-F238E27FC236}">
                <a16:creationId xmlns:a16="http://schemas.microsoft.com/office/drawing/2014/main" id="{968FA771-4044-524D-A552-381580821D61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2" t="4857" r="5357" b="4857"/>
          <a:stretch>
            <a:fillRect/>
          </a:stretch>
        </p:blipFill>
        <p:spPr>
          <a:xfrm>
            <a:off x="3517641" y="1624564"/>
            <a:ext cx="4470400" cy="3454400"/>
          </a:xfrm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117762" name="Text Box 3">
            <a:extLst>
              <a:ext uri="{FF2B5EF4-FFF2-40B4-BE49-F238E27FC236}">
                <a16:creationId xmlns:a16="http://schemas.microsoft.com/office/drawing/2014/main" id="{0955B092-7BDE-2244-A23F-3A128FA0C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5608" y="5078964"/>
            <a:ext cx="7620000" cy="160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>
                <a:sym typeface="Symbol" pitchFamily="2" charset="2"/>
              </a:rPr>
              <a:t>Lack of data points in the lower half of the diagram makes it difficult to predict correctly the class labels of that region 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/>
              <a:t>- Insufficient number of training records in the region causes the decision tree to predict the test examples using other training records that are irrelevant to the classification task</a:t>
            </a:r>
            <a:endParaRPr lang="en-US" altLang="it-IT" sz="1800">
              <a:sym typeface="Symbol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9025048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034" name="Rectangle 2">
            <a:extLst>
              <a:ext uri="{FF2B5EF4-FFF2-40B4-BE49-F238E27FC236}">
                <a16:creationId xmlns:a16="http://schemas.microsoft.com/office/drawing/2014/main" id="{DD3E5306-A2BB-6044-9BF1-2C5776E159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Overfitting due to Noise </a:t>
            </a:r>
          </a:p>
        </p:txBody>
      </p:sp>
      <p:pic>
        <p:nvPicPr>
          <p:cNvPr id="118786" name="Picture 3">
            <a:extLst>
              <a:ext uri="{FF2B5EF4-FFF2-40B4-BE49-F238E27FC236}">
                <a16:creationId xmlns:a16="http://schemas.microsoft.com/office/drawing/2014/main" id="{D0A21DCA-6A2B-6C48-9206-5330C7CCE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19" b="3615"/>
          <a:stretch>
            <a:fillRect/>
          </a:stretch>
        </p:blipFill>
        <p:spPr bwMode="auto">
          <a:xfrm>
            <a:off x="2838061" y="1477961"/>
            <a:ext cx="63246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787" name="Text Box 4">
            <a:extLst>
              <a:ext uri="{FF2B5EF4-FFF2-40B4-BE49-F238E27FC236}">
                <a16:creationId xmlns:a16="http://schemas.microsoft.com/office/drawing/2014/main" id="{5A92004E-EB32-3D49-A159-00D33D24B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9061" y="6126162"/>
            <a:ext cx="5791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/>
              <a:t>Decision boundary is distorted by noise point</a:t>
            </a:r>
            <a:endParaRPr lang="en-US" altLang="it-IT" sz="1800">
              <a:sym typeface="Symbol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0640530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69DE74DE-8F98-9D46-B4DB-513DAFDF3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on Overfitting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59D53CB-213D-CB4E-82B9-9D23F2F07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Overfitting results in decision trees that are more complex than necessary</a:t>
            </a:r>
          </a:p>
          <a:p>
            <a:r>
              <a:rPr lang="en-US" dirty="0"/>
              <a:t>Training error no longer provides a good estimate of how well the tree will perform on previously unseen records</a:t>
            </a:r>
          </a:p>
          <a:p>
            <a:r>
              <a:rPr lang="en-US" dirty="0"/>
              <a:t>Need new ways for estimating errors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0960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2">
            <a:extLst>
              <a:ext uri="{FF2B5EF4-FFF2-40B4-BE49-F238E27FC236}">
                <a16:creationId xmlns:a16="http://schemas.microsoft.com/office/drawing/2014/main" id="{CCA04C12-1E5B-1248-8015-91D3636958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Model Selection</a:t>
            </a:r>
          </a:p>
        </p:txBody>
      </p:sp>
      <p:sp>
        <p:nvSpPr>
          <p:cNvPr id="120834" name="Rectangle 3">
            <a:extLst>
              <a:ext uri="{FF2B5EF4-FFF2-40B4-BE49-F238E27FC236}">
                <a16:creationId xmlns:a16="http://schemas.microsoft.com/office/drawing/2014/main" id="{BF719E62-A84F-8A45-8E81-12663129F1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it-IT">
                <a:solidFill>
                  <a:srgbClr val="000000"/>
                </a:solidFill>
                <a:ea typeface="ＭＳ Ｐゴシック" panose="020B0600070205080204" pitchFamily="34" charset="-128"/>
              </a:rPr>
              <a:t>Performed during model building</a:t>
            </a:r>
          </a:p>
          <a:p>
            <a:pPr>
              <a:lnSpc>
                <a:spcPct val="90000"/>
              </a:lnSpc>
            </a:pPr>
            <a:endParaRPr lang="en-US" altLang="it-IT" sz="1000">
              <a:solidFill>
                <a:srgbClr val="000000"/>
              </a:solidFill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it-IT">
                <a:solidFill>
                  <a:srgbClr val="000000"/>
                </a:solidFill>
                <a:ea typeface="ＭＳ Ｐゴシック" panose="020B0600070205080204" pitchFamily="34" charset="-128"/>
              </a:rPr>
              <a:t>Purpose is to ensure that model is not overly complex (to avoid overfitting)</a:t>
            </a:r>
          </a:p>
          <a:p>
            <a:pPr>
              <a:lnSpc>
                <a:spcPct val="90000"/>
              </a:lnSpc>
            </a:pPr>
            <a:endParaRPr lang="en-US" altLang="it-IT" sz="1000">
              <a:solidFill>
                <a:srgbClr val="000000"/>
              </a:solidFill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it-IT">
                <a:solidFill>
                  <a:srgbClr val="000000"/>
                </a:solidFill>
                <a:ea typeface="ＭＳ Ｐゴシック" panose="020B0600070205080204" pitchFamily="34" charset="-128"/>
              </a:rPr>
              <a:t>Need to estimate generalization error</a:t>
            </a:r>
          </a:p>
          <a:p>
            <a:pPr lvl="1"/>
            <a:r>
              <a:rPr lang="en-US" altLang="it-IT">
                <a:ea typeface="ＭＳ Ｐゴシック" panose="020B0600070205080204" pitchFamily="34" charset="-128"/>
              </a:rPr>
              <a:t>Using Validation Set</a:t>
            </a:r>
            <a:endParaRPr lang="en-US" altLang="it-IT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pPr lvl="1"/>
            <a:endParaRPr lang="en-US" altLang="it-IT" sz="500">
              <a:ea typeface="ＭＳ Ｐゴシック" panose="020B0600070205080204" pitchFamily="34" charset="-128"/>
            </a:endParaRPr>
          </a:p>
          <a:p>
            <a:pPr lvl="1"/>
            <a:r>
              <a:rPr lang="en-US" altLang="it-IT">
                <a:ea typeface="ＭＳ Ｐゴシック" panose="020B0600070205080204" pitchFamily="34" charset="-128"/>
              </a:rPr>
              <a:t>Incorporating Model Complexity</a:t>
            </a:r>
          </a:p>
          <a:p>
            <a:pPr lvl="1"/>
            <a:endParaRPr lang="en-US" altLang="it-IT" sz="500">
              <a:ea typeface="ＭＳ Ｐゴシック" panose="020B0600070205080204" pitchFamily="34" charset="-128"/>
            </a:endParaRPr>
          </a:p>
          <a:p>
            <a:pPr lvl="1"/>
            <a:r>
              <a:rPr lang="en-US" altLang="it-IT">
                <a:ea typeface="ＭＳ Ｐゴシック" panose="020B0600070205080204" pitchFamily="34" charset="-128"/>
              </a:rPr>
              <a:t>Estimating Statistical Bounds</a:t>
            </a:r>
          </a:p>
          <a:p>
            <a:endParaRPr lang="en-US" altLang="it-IT">
              <a:ea typeface="ＭＳ Ｐゴシック" panose="020B0600070205080204" pitchFamily="34" charset="-128"/>
            </a:endParaRPr>
          </a:p>
          <a:p>
            <a:endParaRPr lang="en-US" altLang="it-IT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9345244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2">
            <a:extLst>
              <a:ext uri="{FF2B5EF4-FFF2-40B4-BE49-F238E27FC236}">
                <a16:creationId xmlns:a16="http://schemas.microsoft.com/office/drawing/2014/main" id="{374A3912-401E-744E-9C09-D61ED59036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t-IT">
                <a:ea typeface="ＭＳ Ｐゴシック" panose="020B0600070205080204" pitchFamily="34" charset="-128"/>
              </a:rPr>
              <a:t>Model Selection Using Validation Set</a:t>
            </a:r>
          </a:p>
        </p:txBody>
      </p:sp>
      <p:sp>
        <p:nvSpPr>
          <p:cNvPr id="121858" name="Rectangle 3">
            <a:extLst>
              <a:ext uri="{FF2B5EF4-FFF2-40B4-BE49-F238E27FC236}">
                <a16:creationId xmlns:a16="http://schemas.microsoft.com/office/drawing/2014/main" id="{D55ADCEE-7DC8-F242-AF2C-0B928A6569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Divide </a:t>
            </a:r>
            <a:r>
              <a:rPr lang="en-US" altLang="it-IT" u="sng">
                <a:ea typeface="ＭＳ Ｐゴシック" panose="020B0600070205080204" pitchFamily="34" charset="-128"/>
              </a:rPr>
              <a:t>training</a:t>
            </a:r>
            <a:r>
              <a:rPr lang="en-US" altLang="it-IT">
                <a:ea typeface="ＭＳ Ｐゴシック" panose="020B0600070205080204" pitchFamily="34" charset="-128"/>
              </a:rPr>
              <a:t> data into two parts:</a:t>
            </a:r>
          </a:p>
          <a:p>
            <a:pPr lvl="1"/>
            <a:r>
              <a:rPr lang="en-US" altLang="it-IT">
                <a:ea typeface="ＭＳ Ｐゴシック" panose="020B0600070205080204" pitchFamily="34" charset="-128"/>
              </a:rPr>
              <a:t>Training set: </a:t>
            </a:r>
          </a:p>
          <a:p>
            <a:pPr lvl="2"/>
            <a:r>
              <a:rPr lang="en-US" altLang="it-IT">
                <a:ea typeface="ＭＳ Ｐゴシック" panose="020B0600070205080204" pitchFamily="34" charset="-128"/>
              </a:rPr>
              <a:t> use for model building</a:t>
            </a:r>
          </a:p>
          <a:p>
            <a:pPr lvl="1"/>
            <a:r>
              <a:rPr lang="en-US" altLang="it-IT">
                <a:ea typeface="ＭＳ Ｐゴシック" panose="020B0600070205080204" pitchFamily="34" charset="-128"/>
              </a:rPr>
              <a:t>Validation set: </a:t>
            </a:r>
          </a:p>
          <a:p>
            <a:pPr lvl="2"/>
            <a:r>
              <a:rPr lang="en-US" altLang="it-IT">
                <a:ea typeface="ＭＳ Ｐゴシック" panose="020B0600070205080204" pitchFamily="34" charset="-128"/>
              </a:rPr>
              <a:t> use for estimating generalization error</a:t>
            </a:r>
          </a:p>
          <a:p>
            <a:pPr lvl="2"/>
            <a:r>
              <a:rPr lang="en-US" altLang="it-IT">
                <a:ea typeface="ＭＳ Ｐゴシック" panose="020B0600070205080204" pitchFamily="34" charset="-128"/>
              </a:rPr>
              <a:t> Note: validation set is not the same as test set</a:t>
            </a:r>
          </a:p>
          <a:p>
            <a:pPr lvl="2"/>
            <a:endParaRPr lang="en-US" altLang="it-IT">
              <a:ea typeface="ＭＳ Ｐゴシック" panose="020B0600070205080204" pitchFamily="34" charset="-128"/>
            </a:endParaRPr>
          </a:p>
          <a:p>
            <a:r>
              <a:rPr lang="en-US" altLang="it-IT">
                <a:ea typeface="ＭＳ Ｐゴシック" panose="020B0600070205080204" pitchFamily="34" charset="-128"/>
              </a:rPr>
              <a:t>Drawback:</a:t>
            </a:r>
          </a:p>
          <a:p>
            <a:pPr lvl="1"/>
            <a:r>
              <a:rPr lang="en-US" altLang="it-IT">
                <a:ea typeface="ＭＳ Ｐゴシック" panose="020B0600070205080204" pitchFamily="34" charset="-128"/>
              </a:rPr>
              <a:t>Less data available for training</a:t>
            </a:r>
          </a:p>
        </p:txBody>
      </p:sp>
    </p:spTree>
    <p:extLst>
      <p:ext uri="{BB962C8B-B14F-4D97-AF65-F5344CB8AC3E}">
        <p14:creationId xmlns:p14="http://schemas.microsoft.com/office/powerpoint/2010/main" val="3844261232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2DB3F4-586F-C84A-B8B4-A745B6E24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Partitioning</a:t>
            </a:r>
            <a:endParaRPr lang="it-IT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FF6B58CD-4E77-BB4F-AAF5-FA23FA194063}"/>
              </a:ext>
            </a:extLst>
          </p:cNvPr>
          <p:cNvSpPr/>
          <p:nvPr/>
        </p:nvSpPr>
        <p:spPr>
          <a:xfrm>
            <a:off x="838200" y="1690688"/>
            <a:ext cx="8225790" cy="58388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Dataset</a:t>
            </a:r>
            <a:endParaRPr lang="it-IT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20B3C66C-9339-604E-98F9-B7ED77162E52}"/>
              </a:ext>
            </a:extLst>
          </p:cNvPr>
          <p:cNvSpPr/>
          <p:nvPr/>
        </p:nvSpPr>
        <p:spPr>
          <a:xfrm>
            <a:off x="838200" y="2409507"/>
            <a:ext cx="6271260" cy="58388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Train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BB9544EF-B1D6-3A46-B2C3-35D586E33CCF}"/>
              </a:ext>
            </a:extLst>
          </p:cNvPr>
          <p:cNvSpPr/>
          <p:nvPr/>
        </p:nvSpPr>
        <p:spPr>
          <a:xfrm>
            <a:off x="7235190" y="2409507"/>
            <a:ext cx="1828800" cy="58388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Test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7FF0850-8F5D-054C-9E22-00D562595E86}"/>
              </a:ext>
            </a:extLst>
          </p:cNvPr>
          <p:cNvSpPr txBox="1"/>
          <p:nvPr/>
        </p:nvSpPr>
        <p:spPr>
          <a:xfrm>
            <a:off x="9189720" y="2532171"/>
            <a:ext cx="20040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 err="1"/>
              <a:t>Holdout</a:t>
            </a:r>
            <a:r>
              <a:rPr lang="it-IT" sz="1600" dirty="0"/>
              <a:t> (e.g.70/30)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4FE7D3F9-00C2-6C4D-8DBE-37B23FBD4887}"/>
              </a:ext>
            </a:extLst>
          </p:cNvPr>
          <p:cNvSpPr/>
          <p:nvPr/>
        </p:nvSpPr>
        <p:spPr>
          <a:xfrm>
            <a:off x="838200" y="3600133"/>
            <a:ext cx="4316730" cy="58388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Train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37F03831-696F-9E44-B6D3-AF5AA665E719}"/>
              </a:ext>
            </a:extLst>
          </p:cNvPr>
          <p:cNvSpPr/>
          <p:nvPr/>
        </p:nvSpPr>
        <p:spPr>
          <a:xfrm>
            <a:off x="7235190" y="3600133"/>
            <a:ext cx="1828800" cy="58388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Test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A6861675-09F4-764F-A0DB-7CA9A68B8224}"/>
              </a:ext>
            </a:extLst>
          </p:cNvPr>
          <p:cNvSpPr/>
          <p:nvPr/>
        </p:nvSpPr>
        <p:spPr>
          <a:xfrm>
            <a:off x="5280660" y="3591400"/>
            <a:ext cx="1828800" cy="58388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Validation</a:t>
            </a:r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C344681-603C-BF48-A022-4C5037436915}"/>
              </a:ext>
            </a:extLst>
          </p:cNvPr>
          <p:cNvSpPr txBox="1"/>
          <p:nvPr/>
        </p:nvSpPr>
        <p:spPr>
          <a:xfrm>
            <a:off x="838200" y="4327685"/>
            <a:ext cx="43167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/>
              <a:t>Train the model for </a:t>
            </a:r>
            <a:r>
              <a:rPr lang="it-IT" sz="1600" dirty="0" err="1"/>
              <a:t>parameter</a:t>
            </a:r>
            <a:r>
              <a:rPr lang="it-IT" sz="1600" dirty="0"/>
              <a:t> </a:t>
            </a:r>
            <a:r>
              <a:rPr lang="it-IT" sz="1600" dirty="0" err="1"/>
              <a:t>selection</a:t>
            </a:r>
            <a:endParaRPr lang="it-IT" sz="1600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4CB1C75-209D-D247-957E-7B071396BEAC}"/>
              </a:ext>
            </a:extLst>
          </p:cNvPr>
          <p:cNvSpPr txBox="1"/>
          <p:nvPr/>
        </p:nvSpPr>
        <p:spPr>
          <a:xfrm>
            <a:off x="5266189" y="4342172"/>
            <a:ext cx="182880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/>
              <a:t>Validate the model (</a:t>
            </a:r>
            <a:r>
              <a:rPr lang="it-IT" sz="1600" dirty="0" err="1"/>
              <a:t>early</a:t>
            </a:r>
            <a:r>
              <a:rPr lang="it-IT" sz="1600" dirty="0"/>
              <a:t> </a:t>
            </a:r>
            <a:r>
              <a:rPr lang="it-IT" sz="1600" dirty="0" err="1"/>
              <a:t>stopping</a:t>
            </a:r>
            <a:r>
              <a:rPr lang="it-IT" sz="1600" dirty="0"/>
              <a:t>, </a:t>
            </a:r>
            <a:r>
              <a:rPr lang="it-IT" sz="1600" dirty="0" err="1"/>
              <a:t>parameter</a:t>
            </a:r>
            <a:r>
              <a:rPr lang="it-IT" sz="1600" dirty="0"/>
              <a:t> </a:t>
            </a:r>
            <a:r>
              <a:rPr lang="it-IT" sz="1600" dirty="0" err="1"/>
              <a:t>selection</a:t>
            </a:r>
            <a:r>
              <a:rPr lang="it-IT" sz="1600" dirty="0"/>
              <a:t>, etc.)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9031AC37-A346-A34C-8067-F9644930B927}"/>
              </a:ext>
            </a:extLst>
          </p:cNvPr>
          <p:cNvSpPr txBox="1"/>
          <p:nvPr/>
        </p:nvSpPr>
        <p:spPr>
          <a:xfrm>
            <a:off x="7403680" y="4331477"/>
            <a:ext cx="22546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Test the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Compare </a:t>
            </a:r>
            <a:r>
              <a:rPr lang="it-IT" sz="1600" dirty="0" err="1"/>
              <a:t>different</a:t>
            </a:r>
            <a:r>
              <a:rPr lang="it-IT" sz="1600" dirty="0"/>
              <a:t> </a:t>
            </a:r>
            <a:r>
              <a:rPr lang="it-IT" sz="1600" dirty="0" err="1"/>
              <a:t>models</a:t>
            </a:r>
            <a:r>
              <a:rPr lang="it-IT" sz="1600" dirty="0"/>
              <a:t> once </a:t>
            </a:r>
            <a:r>
              <a:rPr lang="it-IT" sz="1600" dirty="0" err="1"/>
              <a:t>parameters</a:t>
            </a:r>
            <a:r>
              <a:rPr lang="it-IT" sz="1600" dirty="0"/>
              <a:t> </a:t>
            </a:r>
            <a:r>
              <a:rPr lang="it-IT" sz="1600" dirty="0" err="1"/>
              <a:t>have</a:t>
            </a:r>
            <a:r>
              <a:rPr lang="it-IT" sz="1600" dirty="0"/>
              <a:t> </a:t>
            </a:r>
            <a:r>
              <a:rPr lang="it-IT" sz="1600" dirty="0" err="1"/>
              <a:t>been</a:t>
            </a:r>
            <a:r>
              <a:rPr lang="it-IT" sz="1600" dirty="0"/>
              <a:t> </a:t>
            </a:r>
            <a:r>
              <a:rPr lang="it-IT" sz="1600" dirty="0" err="1"/>
              <a:t>selected</a:t>
            </a:r>
            <a:endParaRPr lang="it-IT" sz="1600" dirty="0"/>
          </a:p>
        </p:txBody>
      </p:sp>
      <p:graphicFrame>
        <p:nvGraphicFramePr>
          <p:cNvPr id="16" name="Tabella 15">
            <a:extLst>
              <a:ext uri="{FF2B5EF4-FFF2-40B4-BE49-F238E27FC236}">
                <a16:creationId xmlns:a16="http://schemas.microsoft.com/office/drawing/2014/main" id="{71FF0AB2-512C-264A-B5F6-45617FCBB6B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5821806"/>
          <a:ext cx="6271260" cy="57514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27126">
                  <a:extLst>
                    <a:ext uri="{9D8B030D-6E8A-4147-A177-3AD203B41FA5}">
                      <a16:colId xmlns:a16="http://schemas.microsoft.com/office/drawing/2014/main" val="1425848757"/>
                    </a:ext>
                  </a:extLst>
                </a:gridCol>
                <a:gridCol w="627126">
                  <a:extLst>
                    <a:ext uri="{9D8B030D-6E8A-4147-A177-3AD203B41FA5}">
                      <a16:colId xmlns:a16="http://schemas.microsoft.com/office/drawing/2014/main" val="406840806"/>
                    </a:ext>
                  </a:extLst>
                </a:gridCol>
                <a:gridCol w="627126">
                  <a:extLst>
                    <a:ext uri="{9D8B030D-6E8A-4147-A177-3AD203B41FA5}">
                      <a16:colId xmlns:a16="http://schemas.microsoft.com/office/drawing/2014/main" val="3779434581"/>
                    </a:ext>
                  </a:extLst>
                </a:gridCol>
                <a:gridCol w="627126">
                  <a:extLst>
                    <a:ext uri="{9D8B030D-6E8A-4147-A177-3AD203B41FA5}">
                      <a16:colId xmlns:a16="http://schemas.microsoft.com/office/drawing/2014/main" val="3555289531"/>
                    </a:ext>
                  </a:extLst>
                </a:gridCol>
                <a:gridCol w="627126">
                  <a:extLst>
                    <a:ext uri="{9D8B030D-6E8A-4147-A177-3AD203B41FA5}">
                      <a16:colId xmlns:a16="http://schemas.microsoft.com/office/drawing/2014/main" val="78076993"/>
                    </a:ext>
                  </a:extLst>
                </a:gridCol>
                <a:gridCol w="627126">
                  <a:extLst>
                    <a:ext uri="{9D8B030D-6E8A-4147-A177-3AD203B41FA5}">
                      <a16:colId xmlns:a16="http://schemas.microsoft.com/office/drawing/2014/main" val="2566495608"/>
                    </a:ext>
                  </a:extLst>
                </a:gridCol>
                <a:gridCol w="627126">
                  <a:extLst>
                    <a:ext uri="{9D8B030D-6E8A-4147-A177-3AD203B41FA5}">
                      <a16:colId xmlns:a16="http://schemas.microsoft.com/office/drawing/2014/main" val="2136986870"/>
                    </a:ext>
                  </a:extLst>
                </a:gridCol>
                <a:gridCol w="627126">
                  <a:extLst>
                    <a:ext uri="{9D8B030D-6E8A-4147-A177-3AD203B41FA5}">
                      <a16:colId xmlns:a16="http://schemas.microsoft.com/office/drawing/2014/main" val="2002251115"/>
                    </a:ext>
                  </a:extLst>
                </a:gridCol>
                <a:gridCol w="627126">
                  <a:extLst>
                    <a:ext uri="{9D8B030D-6E8A-4147-A177-3AD203B41FA5}">
                      <a16:colId xmlns:a16="http://schemas.microsoft.com/office/drawing/2014/main" val="686538822"/>
                    </a:ext>
                  </a:extLst>
                </a:gridCol>
                <a:gridCol w="627126">
                  <a:extLst>
                    <a:ext uri="{9D8B030D-6E8A-4147-A177-3AD203B41FA5}">
                      <a16:colId xmlns:a16="http://schemas.microsoft.com/office/drawing/2014/main" val="3069563664"/>
                    </a:ext>
                  </a:extLst>
                </a:gridCol>
              </a:tblGrid>
              <a:tr h="575149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205556"/>
                  </a:ext>
                </a:extLst>
              </a:tr>
            </a:tbl>
          </a:graphicData>
        </a:graphic>
      </p:graphicFrame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3E30727A-732C-8043-8897-CD49E2A31D9A}"/>
              </a:ext>
            </a:extLst>
          </p:cNvPr>
          <p:cNvSpPr txBox="1"/>
          <p:nvPr/>
        </p:nvSpPr>
        <p:spPr>
          <a:xfrm>
            <a:off x="2009350" y="6396955"/>
            <a:ext cx="4044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1600" dirty="0"/>
              <a:t>Cross </a:t>
            </a:r>
            <a:r>
              <a:rPr lang="it-IT" sz="1600" dirty="0" err="1"/>
              <a:t>Validation</a:t>
            </a:r>
            <a:r>
              <a:rPr lang="it-IT" sz="1600" dirty="0"/>
              <a:t> (</a:t>
            </a:r>
            <a:r>
              <a:rPr lang="it-IT" sz="1600" dirty="0" err="1"/>
              <a:t>check</a:t>
            </a:r>
            <a:r>
              <a:rPr lang="it-IT" sz="1600" dirty="0"/>
              <a:t> </a:t>
            </a:r>
            <a:r>
              <a:rPr lang="it-IT" sz="1600" dirty="0" err="1"/>
              <a:t>potential</a:t>
            </a:r>
            <a:r>
              <a:rPr lang="it-IT" sz="1600" dirty="0"/>
              <a:t> </a:t>
            </a:r>
            <a:r>
              <a:rPr lang="it-IT" sz="1600" dirty="0" err="1"/>
              <a:t>dataset</a:t>
            </a:r>
            <a:r>
              <a:rPr lang="it-IT" sz="1600" dirty="0"/>
              <a:t> </a:t>
            </a:r>
            <a:r>
              <a:rPr lang="it-IT" sz="1600" dirty="0" err="1"/>
              <a:t>bias</a:t>
            </a:r>
            <a:r>
              <a:rPr lang="it-IT" sz="1600" dirty="0"/>
              <a:t>) 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77954B3C-0084-9F44-B417-C83F7739ED1E}"/>
              </a:ext>
            </a:extLst>
          </p:cNvPr>
          <p:cNvSpPr/>
          <p:nvPr/>
        </p:nvSpPr>
        <p:spPr>
          <a:xfrm>
            <a:off x="7235190" y="5813073"/>
            <a:ext cx="1828800" cy="58388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Test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5C078146-8CEE-9E46-B248-611D8C8609C2}"/>
              </a:ext>
            </a:extLst>
          </p:cNvPr>
          <p:cNvSpPr txBox="1"/>
          <p:nvPr/>
        </p:nvSpPr>
        <p:spPr>
          <a:xfrm>
            <a:off x="2019131" y="3050755"/>
            <a:ext cx="40244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/>
              <a:t>Train the model for </a:t>
            </a:r>
            <a:r>
              <a:rPr lang="it-IT" sz="1600" dirty="0" err="1"/>
              <a:t>final</a:t>
            </a:r>
            <a:r>
              <a:rPr lang="it-IT" sz="1600" dirty="0"/>
              <a:t> </a:t>
            </a:r>
            <a:r>
              <a:rPr lang="it-IT" sz="1600" dirty="0" err="1"/>
              <a:t>testing</a:t>
            </a:r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407208419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Rectangle 2">
            <a:extLst>
              <a:ext uri="{FF2B5EF4-FFF2-40B4-BE49-F238E27FC236}">
                <a16:creationId xmlns:a16="http://schemas.microsoft.com/office/drawing/2014/main" id="{2B4FB396-9F17-F04F-87D7-EA5287150B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t-IT" sz="4000" dirty="0">
                <a:ea typeface="ＭＳ Ｐゴシック" panose="020B0600070205080204" pitchFamily="34" charset="-128"/>
              </a:rPr>
              <a:t>Model Selection Incorporating Model Complexity</a:t>
            </a:r>
          </a:p>
        </p:txBody>
      </p:sp>
      <p:sp>
        <p:nvSpPr>
          <p:cNvPr id="122882" name="Rectangle 3">
            <a:extLst>
              <a:ext uri="{FF2B5EF4-FFF2-40B4-BE49-F238E27FC236}">
                <a16:creationId xmlns:a16="http://schemas.microsoft.com/office/drawing/2014/main" id="{911750B3-B4D0-DA46-ABCF-275ADEBB23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ea typeface="ＭＳ Ｐゴシック" panose="020B0600070205080204" pitchFamily="34" charset="-128"/>
              </a:rPr>
              <a:t>Rationale: Occam’s Razor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Given two models of similar generalization errors,  one should prefer the simpler model over the more complex model</a:t>
            </a:r>
          </a:p>
          <a:p>
            <a:pPr lvl="4"/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A complex model has a greater chance of being fitted accidentally by errors in data</a:t>
            </a:r>
          </a:p>
          <a:p>
            <a:pPr lvl="4"/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Therefore, one should include model complexity when evaluating a model</a:t>
            </a:r>
          </a:p>
          <a:p>
            <a:pPr lvl="1">
              <a:buFont typeface="Arial" panose="020B0604020202020204" pitchFamily="34" charset="0"/>
              <a:buNone/>
            </a:pPr>
            <a:endParaRPr lang="en-US" altLang="en-US" sz="1200" dirty="0">
              <a:solidFill>
                <a:srgbClr val="FF0000"/>
              </a:solidFill>
              <a:ea typeface="ＭＳ Ｐゴシック" panose="020B0600070205080204" pitchFamily="34" charset="-128"/>
            </a:endParaRP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pPr lvl="2"/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C37672-1E8E-6847-9425-E29F9CECA036}"/>
              </a:ext>
            </a:extLst>
          </p:cNvPr>
          <p:cNvSpPr/>
          <p:nvPr/>
        </p:nvSpPr>
        <p:spPr>
          <a:xfrm>
            <a:off x="2054225" y="5257801"/>
            <a:ext cx="8229600" cy="919163"/>
          </a:xfrm>
          <a:prstGeom prst="rect">
            <a:avLst/>
          </a:prstGeom>
        </p:spPr>
        <p:txBody>
          <a:bodyPr>
            <a:spAutoFit/>
          </a:bodyPr>
          <a:lstStyle/>
          <a:p>
            <a:pPr lvl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defRPr/>
            </a:pPr>
            <a:r>
              <a:rPr lang="en-US" altLang="en-US" sz="2400" kern="0" dirty="0">
                <a:solidFill>
                  <a:srgbClr val="FF0000"/>
                </a:solidFill>
                <a:latin typeface="Arial"/>
                <a:ea typeface="ＭＳ Ｐゴシック" charset="0"/>
                <a:cs typeface="ＭＳ Ｐゴシック" charset="0"/>
              </a:rPr>
              <a:t>Gen. Error(Model) = Train. Error(Model, Train. Data) + </a:t>
            </a:r>
          </a:p>
          <a:p>
            <a:pPr lvl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defRPr/>
            </a:pPr>
            <a:r>
              <a:rPr lang="en-US" altLang="en-US" sz="2400" kern="0" dirty="0">
                <a:solidFill>
                  <a:srgbClr val="FF0000"/>
                </a:solidFill>
                <a:latin typeface="Arial"/>
                <a:ea typeface="ＭＳ Ｐゴシック" charset="0"/>
                <a:cs typeface="ＭＳ Ｐゴシック" charset="0"/>
              </a:rPr>
              <a:t>				 	x Complexity(Model)</a:t>
            </a:r>
          </a:p>
        </p:txBody>
      </p:sp>
      <p:pic>
        <p:nvPicPr>
          <p:cNvPr id="122884" name="Picture 7">
            <a:extLst>
              <a:ext uri="{FF2B5EF4-FFF2-40B4-BE49-F238E27FC236}">
                <a16:creationId xmlns:a16="http://schemas.microsoft.com/office/drawing/2014/main" id="{3B8A21DE-BFF8-E440-80A4-BBEEEA8DDF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9663" y="5567364"/>
            <a:ext cx="652462" cy="7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219911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106" name="Rectangle 2">
            <a:extLst>
              <a:ext uri="{FF2B5EF4-FFF2-40B4-BE49-F238E27FC236}">
                <a16:creationId xmlns:a16="http://schemas.microsoft.com/office/drawing/2014/main" id="{EE0447C9-DF40-014A-BB6C-49E3B4DB41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Estimating Generalization Errors</a:t>
            </a:r>
          </a:p>
        </p:txBody>
      </p:sp>
      <p:sp>
        <p:nvSpPr>
          <p:cNvPr id="123906" name="Rectangle 3">
            <a:extLst>
              <a:ext uri="{FF2B5EF4-FFF2-40B4-BE49-F238E27FC236}">
                <a16:creationId xmlns:a16="http://schemas.microsoft.com/office/drawing/2014/main" id="{9BA5E959-C48E-0D49-99BD-CF8C74FD60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it-IT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Re-substitution errors:</a:t>
            </a:r>
            <a:r>
              <a:rPr lang="en-US" altLang="it-IT" sz="2400" dirty="0">
                <a:ea typeface="ＭＳ Ｐゴシック" panose="020B0600070205080204" pitchFamily="34" charset="-128"/>
              </a:rPr>
              <a:t> error on training (</a:t>
            </a:r>
            <a:r>
              <a:rPr lang="en-US" altLang="it-IT" sz="2400" dirty="0">
                <a:ea typeface="ＭＳ Ｐゴシック" panose="020B0600070205080204" pitchFamily="34" charset="-128"/>
                <a:sym typeface="Symbol" pitchFamily="2" charset="2"/>
              </a:rPr>
              <a:t> </a:t>
            </a:r>
            <a:r>
              <a:rPr lang="en-US" altLang="it-IT" sz="2400" dirty="0">
                <a:ea typeface="ＭＳ Ｐゴシック" panose="020B0600070205080204" pitchFamily="34" charset="-128"/>
              </a:rPr>
              <a:t>err(t))</a:t>
            </a:r>
          </a:p>
          <a:p>
            <a:pPr>
              <a:lnSpc>
                <a:spcPct val="80000"/>
              </a:lnSpc>
            </a:pPr>
            <a:endParaRPr lang="en-US" altLang="it-IT" sz="2400" dirty="0"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</a:pPr>
            <a:r>
              <a:rPr lang="en-US" altLang="it-IT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Generalization errors:</a:t>
            </a:r>
            <a:r>
              <a:rPr lang="en-US" altLang="it-IT" sz="2400" dirty="0">
                <a:ea typeface="ＭＳ Ｐゴシック" panose="020B0600070205080204" pitchFamily="34" charset="-128"/>
              </a:rPr>
              <a:t> error on testing (</a:t>
            </a:r>
            <a:r>
              <a:rPr lang="en-US" altLang="it-IT" sz="2400" dirty="0">
                <a:ea typeface="ＭＳ Ｐゴシック" panose="020B0600070205080204" pitchFamily="34" charset="-128"/>
                <a:sym typeface="Symbol" pitchFamily="2" charset="2"/>
              </a:rPr>
              <a:t></a:t>
            </a:r>
            <a:r>
              <a:rPr lang="en-US" altLang="it-IT" sz="2400" dirty="0">
                <a:ea typeface="ＭＳ Ｐゴシック" panose="020B0600070205080204" pitchFamily="34" charset="-128"/>
              </a:rPr>
              <a:t> err</a:t>
            </a:r>
            <a:r>
              <a:rPr lang="ja-JP" altLang="en-US" sz="2400">
                <a:ea typeface="ＭＳ Ｐゴシック" panose="020B0600070205080204" pitchFamily="34" charset="-128"/>
              </a:rPr>
              <a:t>’</a:t>
            </a:r>
            <a:r>
              <a:rPr lang="en-US" altLang="ja-JP" sz="2400" dirty="0">
                <a:ea typeface="ＭＳ Ｐゴシック" panose="020B0600070205080204" pitchFamily="34" charset="-128"/>
              </a:rPr>
              <a:t>(t))</a:t>
            </a:r>
          </a:p>
          <a:p>
            <a:pPr lvl="4">
              <a:lnSpc>
                <a:spcPct val="80000"/>
              </a:lnSpc>
            </a:pPr>
            <a:endParaRPr lang="en-US" altLang="it-IT" sz="600" dirty="0">
              <a:ea typeface="ＭＳ Ｐゴシック" panose="020B0600070205080204" pitchFamily="34" charset="-128"/>
            </a:endParaRPr>
          </a:p>
          <a:p>
            <a:pPr lvl="4">
              <a:lnSpc>
                <a:spcPct val="80000"/>
              </a:lnSpc>
            </a:pPr>
            <a:endParaRPr lang="en-US" altLang="it-IT" sz="600" dirty="0">
              <a:ea typeface="ＭＳ Ｐゴシック" panose="020B0600070205080204" pitchFamily="34" charset="-128"/>
            </a:endParaRPr>
          </a:p>
          <a:p>
            <a:pPr lvl="4">
              <a:lnSpc>
                <a:spcPct val="80000"/>
              </a:lnSpc>
            </a:pPr>
            <a:endParaRPr lang="en-US" altLang="it-IT" sz="600" dirty="0">
              <a:ea typeface="ＭＳ Ｐゴシック" panose="020B0600070205080204" pitchFamily="34" charset="-128"/>
            </a:endParaRPr>
          </a:p>
          <a:p>
            <a:pPr lvl="4">
              <a:lnSpc>
                <a:spcPct val="80000"/>
              </a:lnSpc>
            </a:pPr>
            <a:endParaRPr lang="en-US" altLang="it-IT" sz="600" dirty="0"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</a:pPr>
            <a:r>
              <a:rPr lang="en-US" altLang="it-IT" sz="2400" dirty="0">
                <a:ea typeface="ＭＳ Ｐゴシック" panose="020B0600070205080204" pitchFamily="34" charset="-128"/>
              </a:rPr>
              <a:t>Methods for estimating generalization errors:</a:t>
            </a:r>
          </a:p>
          <a:p>
            <a:pPr lvl="1">
              <a:lnSpc>
                <a:spcPct val="80000"/>
              </a:lnSpc>
            </a:pPr>
            <a:r>
              <a:rPr lang="en-US" altLang="it-IT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Pessimistic approach</a:t>
            </a:r>
          </a:p>
          <a:p>
            <a:pPr lvl="1">
              <a:lnSpc>
                <a:spcPct val="80000"/>
              </a:lnSpc>
            </a:pPr>
            <a:r>
              <a:rPr lang="en-US" altLang="it-IT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Optimistic approach</a:t>
            </a:r>
            <a:endParaRPr lang="en-US" altLang="it-IT" dirty="0">
              <a:ea typeface="ＭＳ Ｐゴシック" panose="020B0600070205080204" pitchFamily="34" charset="-128"/>
            </a:endParaRPr>
          </a:p>
          <a:p>
            <a:pPr lvl="1">
              <a:lnSpc>
                <a:spcPct val="80000"/>
              </a:lnSpc>
            </a:pPr>
            <a:r>
              <a:rPr lang="en-US" altLang="it-IT" dirty="0">
                <a:solidFill>
                  <a:srgbClr val="FF0000"/>
                </a:solidFill>
                <a:ea typeface="ＭＳ Ｐゴシック" panose="020B0600070205080204" pitchFamily="34" charset="-128"/>
                <a:sym typeface="Symbol" pitchFamily="2" charset="2"/>
              </a:rPr>
              <a:t>Reduced error pruning (REP):</a:t>
            </a:r>
          </a:p>
          <a:p>
            <a:pPr lvl="2">
              <a:lnSpc>
                <a:spcPct val="80000"/>
              </a:lnSpc>
            </a:pPr>
            <a:r>
              <a:rPr lang="en-US" altLang="it-IT" dirty="0">
                <a:ea typeface="ＭＳ Ｐゴシック" panose="020B0600070205080204" pitchFamily="34" charset="-128"/>
                <a:sym typeface="Symbol" pitchFamily="2" charset="2"/>
              </a:rPr>
              <a:t> uses validation data set to estimate generalization error</a:t>
            </a:r>
          </a:p>
        </p:txBody>
      </p:sp>
    </p:spTree>
    <p:extLst>
      <p:ext uri="{BB962C8B-B14F-4D97-AF65-F5344CB8AC3E}">
        <p14:creationId xmlns:p14="http://schemas.microsoft.com/office/powerpoint/2010/main" val="1130410499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Rectangle 2">
            <a:extLst>
              <a:ext uri="{FF2B5EF4-FFF2-40B4-BE49-F238E27FC236}">
                <a16:creationId xmlns:a16="http://schemas.microsoft.com/office/drawing/2014/main" id="{04AE5813-46BD-3D49-AC9C-421E178D52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t-IT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Estimating the Complexity of Decision Trees</a:t>
            </a:r>
            <a:endParaRPr lang="en-US" altLang="it-IT" dirty="0">
              <a:ea typeface="ＭＳ Ｐゴシック" panose="020B0600070205080204" pitchFamily="34" charset="-128"/>
            </a:endParaRPr>
          </a:p>
        </p:txBody>
      </p:sp>
      <p:sp>
        <p:nvSpPr>
          <p:cNvPr id="124930" name="Rectangle 3">
            <a:extLst>
              <a:ext uri="{FF2B5EF4-FFF2-40B4-BE49-F238E27FC236}">
                <a16:creationId xmlns:a16="http://schemas.microsoft.com/office/drawing/2014/main" id="{7C5540E8-C916-D640-8555-06008609AF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it-IT" b="1">
                <a:ea typeface="ＭＳ Ｐゴシック" panose="020B0600070205080204" pitchFamily="34" charset="-128"/>
              </a:rPr>
              <a:t>Pessimistic Error Estimate</a:t>
            </a:r>
            <a:r>
              <a:rPr lang="en-US" altLang="it-IT">
                <a:ea typeface="ＭＳ Ｐゴシック" panose="020B0600070205080204" pitchFamily="34" charset="-128"/>
              </a:rPr>
              <a:t> of decision tree </a:t>
            </a:r>
            <a:r>
              <a:rPr lang="en-US" altLang="it-IT" i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T </a:t>
            </a:r>
            <a:r>
              <a:rPr lang="en-US" altLang="it-IT">
                <a:ea typeface="ＭＳ Ｐゴシック" panose="020B0600070205080204" pitchFamily="34" charset="-128"/>
              </a:rPr>
              <a:t>with k leaf nodes:</a:t>
            </a:r>
          </a:p>
          <a:p>
            <a:pPr lvl="1"/>
            <a:endParaRPr lang="en-US" altLang="it-IT">
              <a:ea typeface="ＭＳ Ｐゴシック" panose="020B0600070205080204" pitchFamily="34" charset="-128"/>
            </a:endParaRPr>
          </a:p>
          <a:p>
            <a:pPr lvl="1"/>
            <a:endParaRPr lang="en-US" altLang="it-IT">
              <a:ea typeface="ＭＳ Ｐゴシック" panose="020B0600070205080204" pitchFamily="34" charset="-128"/>
            </a:endParaRPr>
          </a:p>
          <a:p>
            <a:pPr lvl="1"/>
            <a:endParaRPr lang="en-US" altLang="it-IT">
              <a:ea typeface="ＭＳ Ｐゴシック" panose="020B0600070205080204" pitchFamily="34" charset="-128"/>
            </a:endParaRPr>
          </a:p>
          <a:p>
            <a:pPr lvl="1"/>
            <a:r>
              <a:rPr lang="en-US" altLang="it-IT">
                <a:ea typeface="ＭＳ Ｐゴシック" panose="020B0600070205080204" pitchFamily="34" charset="-128"/>
                <a:sym typeface="Symbol" pitchFamily="2" charset="2"/>
              </a:rPr>
              <a:t>err(T): error rate on all training records </a:t>
            </a:r>
          </a:p>
          <a:p>
            <a:pPr lvl="1"/>
            <a:r>
              <a:rPr lang="en-US" altLang="it-IT">
                <a:ea typeface="ＭＳ Ｐゴシック" panose="020B0600070205080204" pitchFamily="34" charset="-128"/>
                <a:sym typeface="Symbol" pitchFamily="2" charset="2"/>
              </a:rPr>
              <a:t>: Relative cost of adding a leaf node</a:t>
            </a:r>
          </a:p>
          <a:p>
            <a:pPr lvl="1"/>
            <a:r>
              <a:rPr lang="en-US" altLang="it-IT">
                <a:ea typeface="ＭＳ Ｐゴシック" panose="020B0600070205080204" pitchFamily="34" charset="-128"/>
                <a:sym typeface="Symbol" pitchFamily="2" charset="2"/>
              </a:rPr>
              <a:t>k: number of leaf nodes</a:t>
            </a:r>
          </a:p>
          <a:p>
            <a:pPr lvl="1"/>
            <a:r>
              <a:rPr lang="en-US" altLang="it-IT">
                <a:ea typeface="ＭＳ Ｐゴシック" panose="020B0600070205080204" pitchFamily="34" charset="-128"/>
                <a:sym typeface="Symbol" pitchFamily="2" charset="2"/>
              </a:rPr>
              <a:t>N</a:t>
            </a:r>
            <a:r>
              <a:rPr lang="en-US" altLang="it-IT" baseline="-25000">
                <a:ea typeface="ＭＳ Ｐゴシック" panose="020B0600070205080204" pitchFamily="34" charset="-128"/>
                <a:sym typeface="Symbol" pitchFamily="2" charset="2"/>
              </a:rPr>
              <a:t>train</a:t>
            </a:r>
            <a:r>
              <a:rPr lang="en-US" altLang="it-IT">
                <a:ea typeface="ＭＳ Ｐゴシック" panose="020B0600070205080204" pitchFamily="34" charset="-128"/>
                <a:sym typeface="Symbol" pitchFamily="2" charset="2"/>
              </a:rPr>
              <a:t>: total number of training records</a:t>
            </a:r>
          </a:p>
        </p:txBody>
      </p:sp>
      <p:pic>
        <p:nvPicPr>
          <p:cNvPr id="124931" name="Immagine 1" descr="Screenshot 2018-11-03 21.58.32.png">
            <a:extLst>
              <a:ext uri="{FF2B5EF4-FFF2-40B4-BE49-F238E27FC236}">
                <a16:creationId xmlns:a16="http://schemas.microsoft.com/office/drawing/2014/main" id="{BA0D69CD-CDC3-7646-B153-8D68B6377C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2286000"/>
            <a:ext cx="6045200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14040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2">
            <a:extLst>
              <a:ext uri="{FF2B5EF4-FFF2-40B4-BE49-F238E27FC236}">
                <a16:creationId xmlns:a16="http://schemas.microsoft.com/office/drawing/2014/main" id="{3622D8BF-B9FE-CB40-96FB-73F397719B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t-IT" sz="3600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Estimating the Complexity of Decision Trees: Example</a:t>
            </a:r>
            <a:endParaRPr lang="en-US" altLang="it-IT" sz="3600" dirty="0">
              <a:ea typeface="ＭＳ Ｐゴシック" panose="020B0600070205080204" pitchFamily="34" charset="-128"/>
            </a:endParaRPr>
          </a:p>
        </p:txBody>
      </p:sp>
      <p:graphicFrame>
        <p:nvGraphicFramePr>
          <p:cNvPr id="125954" name="Object 4">
            <a:extLst>
              <a:ext uri="{FF2B5EF4-FFF2-40B4-BE49-F238E27FC236}">
                <a16:creationId xmlns:a16="http://schemas.microsoft.com/office/drawing/2014/main" id="{E28A29FA-7C6E-414B-AB5D-ADBAC2C1DC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697961"/>
              </p:ext>
            </p:extLst>
          </p:nvPr>
        </p:nvGraphicFramePr>
        <p:xfrm>
          <a:off x="1887893" y="1620837"/>
          <a:ext cx="6400800" cy="343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9715500" imgH="5207000" progId="Visio.Drawing.6">
                  <p:embed/>
                </p:oleObj>
              </mc:Choice>
              <mc:Fallback>
                <p:oleObj name="Visio" r:id="rId2" imgW="9715500" imgH="5207000" progId="Visio.Drawing.6">
                  <p:embed/>
                  <p:pic>
                    <p:nvPicPr>
                      <p:cNvPr id="125954" name="Object 4">
                        <a:extLst>
                          <a:ext uri="{FF2B5EF4-FFF2-40B4-BE49-F238E27FC236}">
                            <a16:creationId xmlns:a16="http://schemas.microsoft.com/office/drawing/2014/main" id="{E28A29FA-7C6E-414B-AB5D-ADBAC2C1DC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7893" y="1620837"/>
                        <a:ext cx="6400800" cy="343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125" name="Text Box 5">
            <a:extLst>
              <a:ext uri="{FF2B5EF4-FFF2-40B4-BE49-F238E27FC236}">
                <a16:creationId xmlns:a16="http://schemas.microsoft.com/office/drawing/2014/main" id="{5CBD37FD-3E94-C842-8FD2-5E19FDBA2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9693" y="2382837"/>
            <a:ext cx="1676400" cy="174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100000"/>
              </a:spcAft>
              <a:buClrTx/>
              <a:buSzTx/>
              <a:buFontTx/>
              <a:buNone/>
            </a:pPr>
            <a:r>
              <a:rPr lang="en-US" altLang="it-IT" sz="1800"/>
              <a:t>e(T</a:t>
            </a:r>
            <a:r>
              <a:rPr lang="en-US" altLang="it-IT" sz="1800" baseline="-25000"/>
              <a:t>L</a:t>
            </a:r>
            <a:r>
              <a:rPr lang="en-US" altLang="it-IT" sz="1800"/>
              <a:t>) = 4/24</a:t>
            </a:r>
          </a:p>
          <a:p>
            <a:pPr>
              <a:spcBef>
                <a:spcPct val="50000"/>
              </a:spcBef>
              <a:spcAft>
                <a:spcPct val="100000"/>
              </a:spcAft>
              <a:buClrTx/>
              <a:buSzTx/>
              <a:buFontTx/>
              <a:buNone/>
            </a:pPr>
            <a:r>
              <a:rPr lang="en-US" altLang="it-IT" sz="1800"/>
              <a:t>e(T</a:t>
            </a:r>
            <a:r>
              <a:rPr lang="en-US" altLang="it-IT" sz="1800" baseline="-25000"/>
              <a:t>R</a:t>
            </a:r>
            <a:r>
              <a:rPr lang="en-US" altLang="it-IT" sz="1800"/>
              <a:t>) = 6/24</a:t>
            </a:r>
          </a:p>
          <a:p>
            <a:pPr>
              <a:spcBef>
                <a:spcPct val="50000"/>
              </a:spcBef>
              <a:spcAft>
                <a:spcPct val="100000"/>
              </a:spcAft>
              <a:buClrTx/>
              <a:buSzTx/>
              <a:buFontTx/>
              <a:buNone/>
            </a:pPr>
            <a:r>
              <a:rPr lang="en-US" altLang="it-IT" sz="1800">
                <a:sym typeface="Symbol" pitchFamily="2" charset="2"/>
              </a:rPr>
              <a:t> = 1</a:t>
            </a:r>
          </a:p>
        </p:txBody>
      </p:sp>
      <p:sp>
        <p:nvSpPr>
          <p:cNvPr id="1029126" name="Text Box 6">
            <a:extLst>
              <a:ext uri="{FF2B5EF4-FFF2-40B4-BE49-F238E27FC236}">
                <a16:creationId xmlns:a16="http://schemas.microsoft.com/office/drawing/2014/main" id="{7F4D594D-968F-2447-A0E4-164370F4E3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9893" y="5430837"/>
            <a:ext cx="5257800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100000"/>
              </a:spcAft>
              <a:buClrTx/>
              <a:buSzTx/>
              <a:buFontTx/>
              <a:buNone/>
            </a:pPr>
            <a:r>
              <a:rPr lang="en-US" altLang="it-IT" sz="1800"/>
              <a:t>e</a:t>
            </a:r>
            <a:r>
              <a:rPr lang="en-US" altLang="it-IT" sz="1800" baseline="-25000"/>
              <a:t>gen</a:t>
            </a:r>
            <a:r>
              <a:rPr lang="en-US" altLang="it-IT" sz="1800"/>
              <a:t>(T</a:t>
            </a:r>
            <a:r>
              <a:rPr lang="en-US" altLang="it-IT" sz="1800" baseline="-25000"/>
              <a:t>L</a:t>
            </a:r>
            <a:r>
              <a:rPr lang="en-US" altLang="it-IT" sz="1800"/>
              <a:t>) = 4/24 + 1*7/24 = 11/24 = 0.458</a:t>
            </a:r>
          </a:p>
          <a:p>
            <a:pPr>
              <a:spcBef>
                <a:spcPct val="50000"/>
              </a:spcBef>
              <a:spcAft>
                <a:spcPct val="100000"/>
              </a:spcAft>
              <a:buClrTx/>
              <a:buSzTx/>
              <a:buFontTx/>
              <a:buNone/>
            </a:pPr>
            <a:r>
              <a:rPr lang="en-US" altLang="it-IT" sz="1800"/>
              <a:t>e</a:t>
            </a:r>
            <a:r>
              <a:rPr lang="en-US" altLang="it-IT" sz="1800" baseline="-25000"/>
              <a:t>gen</a:t>
            </a:r>
            <a:r>
              <a:rPr lang="en-US" altLang="it-IT" sz="1800"/>
              <a:t>(T</a:t>
            </a:r>
            <a:r>
              <a:rPr lang="en-US" altLang="it-IT" sz="1800" baseline="-25000"/>
              <a:t>R</a:t>
            </a:r>
            <a:r>
              <a:rPr lang="en-US" altLang="it-IT" sz="1800"/>
              <a:t>) = 6/24 + 1*4/24 = 10/24 = 0.417</a:t>
            </a:r>
          </a:p>
        </p:txBody>
      </p:sp>
      <p:pic>
        <p:nvPicPr>
          <p:cNvPr id="125957" name="Immagine 1" descr="Screenshot 2018-11-03 21.58.32.png">
            <a:extLst>
              <a:ext uri="{FF2B5EF4-FFF2-40B4-BE49-F238E27FC236}">
                <a16:creationId xmlns:a16="http://schemas.microsoft.com/office/drawing/2014/main" id="{4994FABD-2229-0542-94C1-2389AB50BB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607" y="5540375"/>
            <a:ext cx="3679825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8759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9125" grpId="0"/>
      <p:bldP spid="1029126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Rectangle 2">
            <a:extLst>
              <a:ext uri="{FF2B5EF4-FFF2-40B4-BE49-F238E27FC236}">
                <a16:creationId xmlns:a16="http://schemas.microsoft.com/office/drawing/2014/main" id="{1BA33B6B-FAA3-4949-AAEE-15F164C412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t-IT" sz="3600" dirty="0">
                <a:ea typeface="ＭＳ Ｐゴシック" panose="020B0600070205080204" pitchFamily="34" charset="-128"/>
              </a:rPr>
              <a:t>Estimating the Complexity of Decision Trees</a:t>
            </a:r>
          </a:p>
        </p:txBody>
      </p:sp>
      <p:sp>
        <p:nvSpPr>
          <p:cNvPr id="126978" name="Rectangle 3">
            <a:extLst>
              <a:ext uri="{FF2B5EF4-FFF2-40B4-BE49-F238E27FC236}">
                <a16:creationId xmlns:a16="http://schemas.microsoft.com/office/drawing/2014/main" id="{6ACDA67A-72DB-784D-AD0B-72739991EE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Re-substitution Estimate: </a:t>
            </a:r>
          </a:p>
          <a:p>
            <a:pPr lvl="1"/>
            <a:r>
              <a:rPr lang="en-US" altLang="it-IT">
                <a:ea typeface="ＭＳ Ｐゴシック" panose="020B0600070205080204" pitchFamily="34" charset="-128"/>
              </a:rPr>
              <a:t>Using training error as an </a:t>
            </a:r>
            <a:r>
              <a:rPr lang="en-US" altLang="it-IT" b="1">
                <a:solidFill>
                  <a:srgbClr val="FF0000"/>
                </a:solidFill>
                <a:ea typeface="ＭＳ Ｐゴシック" panose="020B0600070205080204" pitchFamily="34" charset="-128"/>
              </a:rPr>
              <a:t>optimistic</a:t>
            </a:r>
            <a:r>
              <a:rPr lang="en-US" altLang="it-IT">
                <a:solidFill>
                  <a:srgbClr val="FF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it-IT">
                <a:ea typeface="ＭＳ Ｐゴシック" panose="020B0600070205080204" pitchFamily="34" charset="-128"/>
              </a:rPr>
              <a:t>estimate of generalization error</a:t>
            </a:r>
          </a:p>
          <a:p>
            <a:pPr lvl="1"/>
            <a:r>
              <a:rPr lang="en-US" altLang="it-IT">
                <a:ea typeface="ＭＳ Ｐゴシック" panose="020B0600070205080204" pitchFamily="34" charset="-128"/>
              </a:rPr>
              <a:t>Referred to as optimistic error estimate</a:t>
            </a:r>
          </a:p>
        </p:txBody>
      </p:sp>
      <p:graphicFrame>
        <p:nvGraphicFramePr>
          <p:cNvPr id="126979" name="Object 4">
            <a:extLst>
              <a:ext uri="{FF2B5EF4-FFF2-40B4-BE49-F238E27FC236}">
                <a16:creationId xmlns:a16="http://schemas.microsoft.com/office/drawing/2014/main" id="{FFC9D987-92B6-224E-90C6-AD94DA0E2938}"/>
              </a:ext>
            </a:extLst>
          </p:cNvPr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209800" y="3138489"/>
          <a:ext cx="5943600" cy="318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9715500" imgH="5207000" progId="Visio.Drawing.6">
                  <p:embed/>
                </p:oleObj>
              </mc:Choice>
              <mc:Fallback>
                <p:oleObj name="Visio" r:id="rId2" imgW="9715500" imgH="5207000" progId="Visio.Drawing.6">
                  <p:embed/>
                  <p:pic>
                    <p:nvPicPr>
                      <p:cNvPr id="126979" name="Object 4">
                        <a:extLst>
                          <a:ext uri="{FF2B5EF4-FFF2-40B4-BE49-F238E27FC236}">
                            <a16:creationId xmlns:a16="http://schemas.microsoft.com/office/drawing/2014/main" id="{FFC9D987-92B6-224E-90C6-AD94DA0E2938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138489"/>
                        <a:ext cx="5943600" cy="318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2982" name="Text Box 6">
            <a:extLst>
              <a:ext uri="{FF2B5EF4-FFF2-40B4-BE49-F238E27FC236}">
                <a16:creationId xmlns:a16="http://schemas.microsoft.com/office/drawing/2014/main" id="{207DB21D-ECE4-754F-B057-A1B5ABB0E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8725" y="3206750"/>
            <a:ext cx="1676400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100000"/>
              </a:spcAft>
              <a:buClrTx/>
              <a:buSzTx/>
              <a:buFontTx/>
              <a:buNone/>
            </a:pPr>
            <a:r>
              <a:rPr lang="en-US" altLang="it-IT" sz="1800"/>
              <a:t>e(T</a:t>
            </a:r>
            <a:r>
              <a:rPr lang="en-US" altLang="it-IT" sz="1800" baseline="-25000"/>
              <a:t>L</a:t>
            </a:r>
            <a:r>
              <a:rPr lang="en-US" altLang="it-IT" sz="1800"/>
              <a:t>) = 4/24</a:t>
            </a:r>
          </a:p>
          <a:p>
            <a:pPr>
              <a:spcBef>
                <a:spcPct val="50000"/>
              </a:spcBef>
              <a:spcAft>
                <a:spcPct val="100000"/>
              </a:spcAft>
              <a:buClrTx/>
              <a:buSzTx/>
              <a:buFontTx/>
              <a:buNone/>
            </a:pPr>
            <a:r>
              <a:rPr lang="en-US" altLang="it-IT" sz="1800"/>
              <a:t>e(T</a:t>
            </a:r>
            <a:r>
              <a:rPr lang="en-US" altLang="it-IT" sz="1800" baseline="-25000"/>
              <a:t>R</a:t>
            </a:r>
            <a:r>
              <a:rPr lang="en-US" altLang="it-IT" sz="1800"/>
              <a:t>) = 6/24</a:t>
            </a:r>
          </a:p>
        </p:txBody>
      </p:sp>
    </p:spTree>
    <p:extLst>
      <p:ext uri="{BB962C8B-B14F-4D97-AF65-F5344CB8AC3E}">
        <p14:creationId xmlns:p14="http://schemas.microsoft.com/office/powerpoint/2010/main" val="4110667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2982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D76FAEB-F2C5-C244-B434-331BA345A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Given two models of similar generalization errors, </a:t>
            </a:r>
            <a:r>
              <a:rPr lang="en-US" dirty="0">
                <a:solidFill>
                  <a:srgbClr val="C00000"/>
                </a:solidFill>
              </a:rPr>
              <a:t>one should prefer the simpler model </a:t>
            </a:r>
            <a:r>
              <a:rPr lang="en-US" dirty="0"/>
              <a:t>over the more complex model</a:t>
            </a:r>
          </a:p>
          <a:p>
            <a:r>
              <a:rPr lang="en-US" dirty="0"/>
              <a:t>For complex models, there is a greater chance that it was fitted accidentally by errors in data</a:t>
            </a:r>
          </a:p>
          <a:p>
            <a:r>
              <a:rPr lang="en-US" dirty="0"/>
              <a:t>Therefore, one should include model complexity when evaluating a model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92ECA01-F858-AA47-B421-856A471E9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 dirty="0">
                <a:ea typeface="ＭＳ Ｐゴシック" panose="020B0600070205080204" pitchFamily="34" charset="-128"/>
              </a:rPr>
              <a:t>Occam</a:t>
            </a:r>
            <a:r>
              <a:rPr lang="ja-JP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dirty="0">
                <a:ea typeface="ＭＳ Ｐゴシック" panose="020B0600070205080204" pitchFamily="34" charset="-128"/>
              </a:rPr>
              <a:t>s Razor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29397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154" name="Rectangle 2">
            <a:extLst>
              <a:ext uri="{FF2B5EF4-FFF2-40B4-BE49-F238E27FC236}">
                <a16:creationId xmlns:a16="http://schemas.microsoft.com/office/drawing/2014/main" id="{F55C8F26-8146-BC44-8F5C-EFCF41749A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Minimum Description Length (MDL)</a:t>
            </a:r>
          </a:p>
        </p:txBody>
      </p:sp>
      <p:sp>
        <p:nvSpPr>
          <p:cNvPr id="945155" name="Rectangle 3">
            <a:extLst>
              <a:ext uri="{FF2B5EF4-FFF2-40B4-BE49-F238E27FC236}">
                <a16:creationId xmlns:a16="http://schemas.microsoft.com/office/drawing/2014/main" id="{485E9EF8-79FD-7C4B-AD71-C256540BAE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62539" y="4069313"/>
            <a:ext cx="8229600" cy="2533650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</a:rPr>
              <a:t>Cost(</a:t>
            </a:r>
            <a:r>
              <a:rPr lang="en-US" sz="2400" dirty="0" err="1">
                <a:solidFill>
                  <a:srgbClr val="FF0000"/>
                </a:solidFill>
              </a:rPr>
              <a:t>Model,Data</a:t>
            </a:r>
            <a:r>
              <a:rPr lang="en-US" sz="2400" dirty="0">
                <a:solidFill>
                  <a:srgbClr val="FF0000"/>
                </a:solidFill>
              </a:rPr>
              <a:t>) = Cost(</a:t>
            </a:r>
            <a:r>
              <a:rPr lang="en-US" sz="2400" dirty="0" err="1">
                <a:solidFill>
                  <a:srgbClr val="FF0000"/>
                </a:solidFill>
              </a:rPr>
              <a:t>Data|Model</a:t>
            </a:r>
            <a:r>
              <a:rPr lang="en-US" sz="2400" dirty="0">
                <a:solidFill>
                  <a:srgbClr val="FF0000"/>
                </a:solidFill>
              </a:rPr>
              <a:t>) + Cost(Model)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dirty="0"/>
              <a:t>Cost is the number of bits needed for encoding.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dirty="0"/>
              <a:t>Search for the least costly model.</a:t>
            </a:r>
          </a:p>
          <a:p>
            <a:pPr>
              <a:defRPr/>
            </a:pPr>
            <a:r>
              <a:rPr lang="en-US" sz="2400" dirty="0"/>
              <a:t>Cost(</a:t>
            </a:r>
            <a:r>
              <a:rPr lang="en-US" sz="2400" dirty="0" err="1"/>
              <a:t>Data|Model</a:t>
            </a:r>
            <a:r>
              <a:rPr lang="en-US" sz="2400" dirty="0"/>
              <a:t>) encodes the misclassification errors.</a:t>
            </a:r>
          </a:p>
          <a:p>
            <a:pPr>
              <a:defRPr/>
            </a:pPr>
            <a:r>
              <a:rPr lang="en-US" sz="2400" dirty="0"/>
              <a:t>Cost(Model) uses node encoding (number of children) plus splitting condition encoding.</a:t>
            </a:r>
          </a:p>
        </p:txBody>
      </p:sp>
      <p:graphicFrame>
        <p:nvGraphicFramePr>
          <p:cNvPr id="129027" name="Object 4">
            <a:extLst>
              <a:ext uri="{FF2B5EF4-FFF2-40B4-BE49-F238E27FC236}">
                <a16:creationId xmlns:a16="http://schemas.microsoft.com/office/drawing/2014/main" id="{437F10E9-0D15-B340-B3B9-7C56FE9263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9098961"/>
              </p:ext>
            </p:extLst>
          </p:nvPr>
        </p:nvGraphicFramePr>
        <p:xfrm>
          <a:off x="3715140" y="1497563"/>
          <a:ext cx="4392613" cy="240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8087300" imgH="20840700" progId="Visio.Drawing.6">
                  <p:embed/>
                </p:oleObj>
              </mc:Choice>
              <mc:Fallback>
                <p:oleObj name="VISIO" r:id="rId2" imgW="38087300" imgH="20840700" progId="Visio.Drawing.6">
                  <p:embed/>
                  <p:pic>
                    <p:nvPicPr>
                      <p:cNvPr id="129027" name="Object 4">
                        <a:extLst>
                          <a:ext uri="{FF2B5EF4-FFF2-40B4-BE49-F238E27FC236}">
                            <a16:creationId xmlns:a16="http://schemas.microsoft.com/office/drawing/2014/main" id="{437F10E9-0D15-B340-B3B9-7C56FE9263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5140" y="1497563"/>
                        <a:ext cx="4392613" cy="240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28" name="Object 5">
            <a:extLst>
              <a:ext uri="{FF2B5EF4-FFF2-40B4-BE49-F238E27FC236}">
                <a16:creationId xmlns:a16="http://schemas.microsoft.com/office/drawing/2014/main" id="{5308770E-A24D-2F42-ADF2-913261CDED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8911739"/>
              </p:ext>
            </p:extLst>
          </p:nvPr>
        </p:nvGraphicFramePr>
        <p:xfrm>
          <a:off x="2191139" y="1573763"/>
          <a:ext cx="1131888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168400" imgH="2057400" progId="Excel.Sheet.8">
                  <p:embed/>
                </p:oleObj>
              </mc:Choice>
              <mc:Fallback>
                <p:oleObj name="Worksheet" r:id="rId4" imgW="1168400" imgH="2057400" progId="Excel.Sheet.8">
                  <p:embed/>
                  <p:pic>
                    <p:nvPicPr>
                      <p:cNvPr id="129028" name="Object 5">
                        <a:extLst>
                          <a:ext uri="{FF2B5EF4-FFF2-40B4-BE49-F238E27FC236}">
                            <a16:creationId xmlns:a16="http://schemas.microsoft.com/office/drawing/2014/main" id="{5308770E-A24D-2F42-ADF2-913261CDED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1139" y="1573763"/>
                        <a:ext cx="1131888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29" name="Object 6">
            <a:extLst>
              <a:ext uri="{FF2B5EF4-FFF2-40B4-BE49-F238E27FC236}">
                <a16:creationId xmlns:a16="http://schemas.microsoft.com/office/drawing/2014/main" id="{659F732B-6CEB-414B-A211-BFF81BA30D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0102736"/>
              </p:ext>
            </p:extLst>
          </p:nvPr>
        </p:nvGraphicFramePr>
        <p:xfrm>
          <a:off x="8744339" y="1726163"/>
          <a:ext cx="1131888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glio di lavoro" r:id="rId6" imgW="1168400" imgH="2057400" progId="Excel.Sheet.8">
                  <p:embed/>
                </p:oleObj>
              </mc:Choice>
              <mc:Fallback>
                <p:oleObj name="Foglio di lavoro" r:id="rId6" imgW="1168400" imgH="2057400" progId="Excel.Sheet.8">
                  <p:embed/>
                  <p:pic>
                    <p:nvPicPr>
                      <p:cNvPr id="129029" name="Object 6">
                        <a:extLst>
                          <a:ext uri="{FF2B5EF4-FFF2-40B4-BE49-F238E27FC236}">
                            <a16:creationId xmlns:a16="http://schemas.microsoft.com/office/drawing/2014/main" id="{659F732B-6CEB-414B-A211-BFF81BA30D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4339" y="1726163"/>
                        <a:ext cx="1131888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302426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2">
            <a:extLst>
              <a:ext uri="{FF2B5EF4-FFF2-40B4-BE49-F238E27FC236}">
                <a16:creationId xmlns:a16="http://schemas.microsoft.com/office/drawing/2014/main" id="{3D796048-6123-8F44-AC71-C07AA4E6B0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Estimating Statistical Bounds</a:t>
            </a:r>
          </a:p>
        </p:txBody>
      </p:sp>
      <p:graphicFrame>
        <p:nvGraphicFramePr>
          <p:cNvPr id="130050" name="Object 5">
            <a:extLst>
              <a:ext uri="{FF2B5EF4-FFF2-40B4-BE49-F238E27FC236}">
                <a16:creationId xmlns:a16="http://schemas.microsoft.com/office/drawing/2014/main" id="{85E94C62-7F25-5248-AB70-96F8BAF6F827}"/>
              </a:ext>
            </a:extLst>
          </p:cNvPr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76834430"/>
              </p:ext>
            </p:extLst>
          </p:nvPr>
        </p:nvGraphicFramePr>
        <p:xfrm>
          <a:off x="2522182" y="3248610"/>
          <a:ext cx="1387475" cy="193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612900" imgH="2247900" progId="Visio.Drawing.6">
                  <p:embed/>
                </p:oleObj>
              </mc:Choice>
              <mc:Fallback>
                <p:oleObj name="Visio" r:id="rId2" imgW="1612900" imgH="2247900" progId="Visio.Drawing.6">
                  <p:embed/>
                  <p:pic>
                    <p:nvPicPr>
                      <p:cNvPr id="130050" name="Object 5">
                        <a:extLst>
                          <a:ext uri="{FF2B5EF4-FFF2-40B4-BE49-F238E27FC236}">
                            <a16:creationId xmlns:a16="http://schemas.microsoft.com/office/drawing/2014/main" id="{85E94C62-7F25-5248-AB70-96F8BAF6F827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2182" y="3248610"/>
                        <a:ext cx="1387475" cy="193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1175" name="Text Box 7">
            <a:extLst>
              <a:ext uri="{FF2B5EF4-FFF2-40B4-BE49-F238E27FC236}">
                <a16:creationId xmlns:a16="http://schemas.microsoft.com/office/drawing/2014/main" id="{1B85FCDA-831D-844F-8629-1EE38D740D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1506" y="3248610"/>
            <a:ext cx="5715000" cy="218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60000"/>
              </a:lnSpc>
              <a:spcBef>
                <a:spcPct val="50000"/>
              </a:spcBef>
              <a:spcAft>
                <a:spcPct val="100000"/>
              </a:spcAft>
              <a:buClrTx/>
              <a:buSzTx/>
              <a:buFontTx/>
              <a:buNone/>
            </a:pPr>
            <a:r>
              <a:rPr lang="en-US" altLang="it-IT" sz="1800"/>
              <a:t>Before splitting:   e = 2/7,   e’(7, 2/7, 0.25) = 0.503</a:t>
            </a:r>
            <a:br>
              <a:rPr lang="en-US" altLang="it-IT" sz="1800"/>
            </a:br>
            <a:br>
              <a:rPr lang="en-US" altLang="it-IT" sz="1800"/>
            </a:br>
            <a:r>
              <a:rPr lang="en-US" altLang="it-IT" sz="1800"/>
              <a:t>		e’(T) = 7 </a:t>
            </a:r>
            <a:r>
              <a:rPr lang="en-US" altLang="it-IT" sz="1800">
                <a:sym typeface="Symbol" pitchFamily="2" charset="2"/>
              </a:rPr>
              <a:t> 0.503 = 3.521</a:t>
            </a:r>
          </a:p>
          <a:p>
            <a:pPr>
              <a:lnSpc>
                <a:spcPct val="60000"/>
              </a:lnSpc>
              <a:spcBef>
                <a:spcPct val="50000"/>
              </a:spcBef>
              <a:spcAft>
                <a:spcPct val="100000"/>
              </a:spcAft>
              <a:buClrTx/>
              <a:buSzTx/>
              <a:buFontTx/>
              <a:buNone/>
            </a:pPr>
            <a:r>
              <a:rPr lang="en-US" altLang="it-IT" sz="1800"/>
              <a:t>After splitting:   </a:t>
            </a:r>
            <a:br>
              <a:rPr lang="en-US" altLang="it-IT" sz="1800"/>
            </a:br>
            <a:br>
              <a:rPr lang="en-US" altLang="it-IT" sz="1800"/>
            </a:br>
            <a:r>
              <a:rPr lang="en-US" altLang="it-IT" sz="1800"/>
              <a:t>	e(T</a:t>
            </a:r>
            <a:r>
              <a:rPr lang="en-US" altLang="it-IT" sz="1800" baseline="-25000"/>
              <a:t>L</a:t>
            </a:r>
            <a:r>
              <a:rPr lang="en-US" altLang="it-IT" sz="1800"/>
              <a:t>) = 1/4,   e’(4, 1/4, 0.25) = 0.537</a:t>
            </a:r>
            <a:br>
              <a:rPr lang="en-US" altLang="it-IT" sz="1800"/>
            </a:br>
            <a:br>
              <a:rPr lang="en-US" altLang="it-IT" sz="1800"/>
            </a:br>
            <a:r>
              <a:rPr lang="en-US" altLang="it-IT" sz="1800"/>
              <a:t>	e(T</a:t>
            </a:r>
            <a:r>
              <a:rPr lang="en-US" altLang="it-IT" sz="1800" baseline="-25000"/>
              <a:t>R</a:t>
            </a:r>
            <a:r>
              <a:rPr lang="en-US" altLang="it-IT" sz="1800"/>
              <a:t>) = 1/3,   e’(3, 1/3, 0.25) = 0.650</a:t>
            </a:r>
            <a:br>
              <a:rPr lang="en-US" altLang="it-IT" sz="1800"/>
            </a:br>
            <a:br>
              <a:rPr lang="en-US" altLang="it-IT" sz="1800"/>
            </a:br>
            <a:r>
              <a:rPr lang="en-US" altLang="it-IT" sz="1800"/>
              <a:t>	e’(T) = 4 </a:t>
            </a:r>
            <a:r>
              <a:rPr lang="en-US" altLang="it-IT" sz="1800">
                <a:sym typeface="Symbol" pitchFamily="2" charset="2"/>
              </a:rPr>
              <a:t> 0.537 + 3  0.650 = 4.098 </a:t>
            </a:r>
            <a:endParaRPr lang="en-US" altLang="it-IT" sz="1400">
              <a:sym typeface="Symbol" pitchFamily="2" charset="2"/>
            </a:endParaRPr>
          </a:p>
        </p:txBody>
      </p:sp>
      <p:graphicFrame>
        <p:nvGraphicFramePr>
          <p:cNvPr id="130052" name="Object 8">
            <a:extLst>
              <a:ext uri="{FF2B5EF4-FFF2-40B4-BE49-F238E27FC236}">
                <a16:creationId xmlns:a16="http://schemas.microsoft.com/office/drawing/2014/main" id="{6429E352-B1B9-0147-B0C6-12D11AFA0ECE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120447"/>
              </p:ext>
            </p:extLst>
          </p:nvPr>
        </p:nvGraphicFramePr>
        <p:xfrm>
          <a:off x="1769706" y="5229810"/>
          <a:ext cx="3886200" cy="119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2611000" imgH="19304000" progId="Equation.3">
                  <p:embed/>
                </p:oleObj>
              </mc:Choice>
              <mc:Fallback>
                <p:oleObj name="Equation" r:id="rId4" imgW="62611000" imgH="19304000" progId="Equation.3">
                  <p:embed/>
                  <p:pic>
                    <p:nvPicPr>
                      <p:cNvPr id="130052" name="Object 8">
                        <a:extLst>
                          <a:ext uri="{FF2B5EF4-FFF2-40B4-BE49-F238E27FC236}">
                            <a16:creationId xmlns:a16="http://schemas.microsoft.com/office/drawing/2014/main" id="{6429E352-B1B9-0147-B0C6-12D11AFA0ECE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9706" y="5229810"/>
                        <a:ext cx="3886200" cy="1198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1178" name="Text Box 10">
            <a:extLst>
              <a:ext uri="{FF2B5EF4-FFF2-40B4-BE49-F238E27FC236}">
                <a16:creationId xmlns:a16="http://schemas.microsoft.com/office/drawing/2014/main" id="{EEC7CCF8-3244-7845-A426-A0B0BB3971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9106" y="6296610"/>
            <a:ext cx="3124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100000"/>
              </a:spcAft>
              <a:buClrTx/>
              <a:buSzTx/>
              <a:buFontTx/>
              <a:buNone/>
            </a:pPr>
            <a:r>
              <a:rPr lang="en-US" altLang="it-IT" sz="2000">
                <a:sym typeface="Symbol" pitchFamily="2" charset="2"/>
              </a:rPr>
              <a:t>Therefore, do not split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4AD25454-3AE2-3F4E-8A45-21C4ECD5FD10}"/>
              </a:ext>
            </a:extLst>
          </p:cNvPr>
          <p:cNvSpPr/>
          <p:nvPr/>
        </p:nvSpPr>
        <p:spPr>
          <a:xfrm>
            <a:off x="2074506" y="1496009"/>
            <a:ext cx="7848600" cy="15382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Apply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a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statistical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correction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to the training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error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rate of the model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that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is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indicative of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its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model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complexity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. 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it-IT" dirty="0" err="1">
                <a:latin typeface="Arial" charset="0"/>
                <a:ea typeface="ＭＳ Ｐゴシック" charset="0"/>
                <a:cs typeface="ＭＳ Ｐゴシック" charset="0"/>
              </a:rPr>
              <a:t>Need</a:t>
            </a:r>
            <a:r>
              <a:rPr lang="it-IT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latin typeface="Arial" charset="0"/>
                <a:ea typeface="ＭＳ Ｐゴシック" charset="0"/>
                <a:cs typeface="ＭＳ Ｐゴシック" charset="0"/>
              </a:rPr>
              <a:t>probability</a:t>
            </a:r>
            <a:r>
              <a:rPr lang="it-IT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latin typeface="Arial" charset="0"/>
                <a:ea typeface="ＭＳ Ｐゴシック" charset="0"/>
                <a:cs typeface="ＭＳ Ｐゴシック" charset="0"/>
              </a:rPr>
              <a:t>distribution</a:t>
            </a:r>
            <a:r>
              <a:rPr lang="it-IT" dirty="0">
                <a:latin typeface="Arial" charset="0"/>
                <a:ea typeface="ＭＳ Ｐゴシック" charset="0"/>
                <a:cs typeface="ＭＳ Ｐゴシック" charset="0"/>
              </a:rPr>
              <a:t> of training </a:t>
            </a:r>
            <a:r>
              <a:rPr lang="it-IT" dirty="0" err="1">
                <a:latin typeface="Arial" charset="0"/>
                <a:ea typeface="ＭＳ Ｐゴシック" charset="0"/>
                <a:cs typeface="ＭＳ Ｐゴシック" charset="0"/>
              </a:rPr>
              <a:t>error</a:t>
            </a:r>
            <a:r>
              <a:rPr lang="it-IT" dirty="0">
                <a:latin typeface="Arial" charset="0"/>
                <a:ea typeface="ＭＳ Ｐゴシック" charset="0"/>
                <a:cs typeface="ＭＳ Ｐゴシック" charset="0"/>
              </a:rPr>
              <a:t>: </a:t>
            </a:r>
            <a:r>
              <a:rPr lang="it-IT" dirty="0" err="1">
                <a:latin typeface="Arial" charset="0"/>
                <a:ea typeface="ＭＳ Ｐゴシック" charset="0"/>
                <a:cs typeface="ＭＳ Ｐゴシック" charset="0"/>
              </a:rPr>
              <a:t>available</a:t>
            </a:r>
            <a:r>
              <a:rPr lang="it-IT" dirty="0">
                <a:latin typeface="Arial" charset="0"/>
                <a:ea typeface="ＭＳ Ｐゴシック" charset="0"/>
                <a:cs typeface="ＭＳ Ｐゴシック" charset="0"/>
              </a:rPr>
              <a:t> or </a:t>
            </a:r>
            <a:r>
              <a:rPr lang="it-IT" dirty="0" err="1">
                <a:latin typeface="Arial" charset="0"/>
                <a:ea typeface="ＭＳ Ｐゴシック" charset="0"/>
                <a:cs typeface="ＭＳ Ｐゴシック" charset="0"/>
              </a:rPr>
              <a:t>assumed</a:t>
            </a:r>
            <a:r>
              <a:rPr lang="it-IT" dirty="0">
                <a:latin typeface="Arial" charset="0"/>
                <a:ea typeface="ＭＳ Ｐゴシック" charset="0"/>
                <a:cs typeface="ＭＳ Ｐゴシック" charset="0"/>
              </a:rPr>
              <a:t>. 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it-IT" dirty="0">
                <a:latin typeface="Arial" charset="0"/>
                <a:ea typeface="ＭＳ Ｐゴシック" charset="0"/>
                <a:cs typeface="ＭＳ Ｐゴシック" charset="0"/>
              </a:rPr>
              <a:t>The </a:t>
            </a:r>
            <a:r>
              <a:rPr lang="it-IT" dirty="0" err="1">
                <a:latin typeface="Arial" charset="0"/>
                <a:ea typeface="ＭＳ Ｐゴシック" charset="0"/>
                <a:cs typeface="ＭＳ Ｐゴシック" charset="0"/>
              </a:rPr>
              <a:t>number</a:t>
            </a:r>
            <a:r>
              <a:rPr lang="it-IT" dirty="0">
                <a:latin typeface="Arial" charset="0"/>
                <a:ea typeface="ＭＳ Ｐゴシック" charset="0"/>
                <a:cs typeface="ＭＳ Ｐゴシック" charset="0"/>
              </a:rPr>
              <a:t> of </a:t>
            </a:r>
            <a:r>
              <a:rPr lang="it-IT" dirty="0" err="1">
                <a:latin typeface="Arial" charset="0"/>
                <a:ea typeface="ＭＳ Ｐゴシック" charset="0"/>
                <a:cs typeface="ＭＳ Ｐゴシック" charset="0"/>
              </a:rPr>
              <a:t>errors</a:t>
            </a:r>
            <a:r>
              <a:rPr lang="it-IT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latin typeface="Arial" charset="0"/>
                <a:ea typeface="ＭＳ Ｐゴシック" charset="0"/>
                <a:cs typeface="ＭＳ Ｐゴシック" charset="0"/>
              </a:rPr>
              <a:t>committed</a:t>
            </a:r>
            <a:r>
              <a:rPr lang="it-IT" dirty="0">
                <a:latin typeface="Arial" charset="0"/>
                <a:ea typeface="ＭＳ Ｐゴシック" charset="0"/>
                <a:cs typeface="ＭＳ Ｐゴシック" charset="0"/>
              </a:rPr>
              <a:t> by a </a:t>
            </a:r>
            <a:r>
              <a:rPr lang="it-IT" dirty="0" err="1">
                <a:latin typeface="Arial" charset="0"/>
                <a:ea typeface="ＭＳ Ｐゴシック" charset="0"/>
                <a:cs typeface="ＭＳ Ｐゴシック" charset="0"/>
              </a:rPr>
              <a:t>leaf</a:t>
            </a:r>
            <a:r>
              <a:rPr lang="it-IT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latin typeface="Arial" charset="0"/>
                <a:ea typeface="ＭＳ Ｐゴシック" charset="0"/>
                <a:cs typeface="ＭＳ Ｐゴシック" charset="0"/>
              </a:rPr>
              <a:t>node</a:t>
            </a:r>
            <a:r>
              <a:rPr lang="it-IT" dirty="0">
                <a:latin typeface="Arial" charset="0"/>
                <a:ea typeface="ＭＳ Ｐゴシック" charset="0"/>
                <a:cs typeface="ＭＳ Ｐゴシック" charset="0"/>
              </a:rPr>
              <a:t> in a </a:t>
            </a:r>
            <a:r>
              <a:rPr lang="it-IT" dirty="0" err="1">
                <a:latin typeface="Arial" charset="0"/>
                <a:ea typeface="ＭＳ Ｐゴシック" charset="0"/>
                <a:cs typeface="ＭＳ Ｐゴシック" charset="0"/>
              </a:rPr>
              <a:t>decision</a:t>
            </a:r>
            <a:r>
              <a:rPr lang="it-IT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latin typeface="Arial" charset="0"/>
                <a:ea typeface="ＭＳ Ｐゴシック" charset="0"/>
                <a:cs typeface="ＭＳ Ｐゴシック" charset="0"/>
              </a:rPr>
              <a:t>tree</a:t>
            </a:r>
            <a:r>
              <a:rPr lang="it-IT" dirty="0">
                <a:latin typeface="Arial" charset="0"/>
                <a:ea typeface="ＭＳ Ｐゴシック" charset="0"/>
                <a:cs typeface="ＭＳ Ｐゴシック" charset="0"/>
              </a:rPr>
              <a:t> can be </a:t>
            </a:r>
            <a:r>
              <a:rPr lang="it-IT" dirty="0" err="1">
                <a:latin typeface="Arial" charset="0"/>
                <a:ea typeface="ＭＳ Ｐゴシック" charset="0"/>
                <a:cs typeface="ＭＳ Ｐゴシック" charset="0"/>
              </a:rPr>
              <a:t>assumed</a:t>
            </a:r>
            <a:r>
              <a:rPr lang="it-IT" dirty="0">
                <a:latin typeface="Arial" charset="0"/>
                <a:ea typeface="ＭＳ Ｐゴシック" charset="0"/>
                <a:cs typeface="ＭＳ Ｐゴシック" charset="0"/>
              </a:rPr>
              <a:t> to </a:t>
            </a:r>
            <a:r>
              <a:rPr lang="it-IT" dirty="0" err="1">
                <a:latin typeface="Arial" charset="0"/>
                <a:ea typeface="ＭＳ Ｐゴシック" charset="0"/>
                <a:cs typeface="ＭＳ Ｐゴシック" charset="0"/>
              </a:rPr>
              <a:t>follow</a:t>
            </a:r>
            <a:r>
              <a:rPr lang="it-IT" dirty="0">
                <a:latin typeface="Arial" charset="0"/>
                <a:ea typeface="ＭＳ Ｐゴシック" charset="0"/>
                <a:cs typeface="ＭＳ Ｐゴシック" charset="0"/>
              </a:rPr>
              <a:t> a </a:t>
            </a:r>
            <a:r>
              <a:rPr lang="it-IT" dirty="0" err="1">
                <a:latin typeface="Arial" charset="0"/>
                <a:ea typeface="ＭＳ Ｐゴシック" charset="0"/>
                <a:cs typeface="ＭＳ Ｐゴシック" charset="0"/>
              </a:rPr>
              <a:t>binomial</a:t>
            </a:r>
            <a:r>
              <a:rPr lang="it-IT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dirty="0" err="1">
                <a:latin typeface="Arial" charset="0"/>
                <a:ea typeface="ＭＳ Ｐゴシック" charset="0"/>
                <a:cs typeface="ＭＳ Ｐゴシック" charset="0"/>
              </a:rPr>
              <a:t>distribution</a:t>
            </a:r>
            <a:r>
              <a:rPr lang="it-IT" dirty="0">
                <a:latin typeface="Arial" charset="0"/>
                <a:ea typeface="ＭＳ Ｐゴシック" charset="0"/>
                <a:cs typeface="ＭＳ Ｐゴシック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4384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1175" grpId="0" build="p"/>
      <p:bldP spid="1031178" grpId="0" build="p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Rectangle 2">
            <a:extLst>
              <a:ext uri="{FF2B5EF4-FFF2-40B4-BE49-F238E27FC236}">
                <a16:creationId xmlns:a16="http://schemas.microsoft.com/office/drawing/2014/main" id="{FD84D75B-4B29-7B4A-96D4-3FAD9A518B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How to Address Overfitting…</a:t>
            </a:r>
          </a:p>
        </p:txBody>
      </p:sp>
      <p:sp>
        <p:nvSpPr>
          <p:cNvPr id="131074" name="Rectangle 3">
            <a:extLst>
              <a:ext uri="{FF2B5EF4-FFF2-40B4-BE49-F238E27FC236}">
                <a16:creationId xmlns:a16="http://schemas.microsoft.com/office/drawing/2014/main" id="{1831C6F5-B1AA-3748-A124-E869EAD884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it-IT" sz="2400">
                <a:solidFill>
                  <a:srgbClr val="FF0000"/>
                </a:solidFill>
                <a:ea typeface="ＭＳ Ｐゴシック" panose="020B0600070205080204" pitchFamily="34" charset="-128"/>
              </a:rPr>
              <a:t>Pre-Pruning (Early Stopping Rule)</a:t>
            </a:r>
          </a:p>
          <a:p>
            <a:pPr lvl="1"/>
            <a:r>
              <a:rPr lang="en-US" altLang="it-IT">
                <a:ea typeface="ＭＳ Ｐゴシック" panose="020B0600070205080204" pitchFamily="34" charset="-128"/>
              </a:rPr>
              <a:t>Stop the algorithm before it becomes a fully-grown tree</a:t>
            </a:r>
          </a:p>
          <a:p>
            <a:pPr lvl="1"/>
            <a:r>
              <a:rPr lang="en-US" altLang="it-IT">
                <a:ea typeface="ＭＳ Ｐゴシック" panose="020B0600070205080204" pitchFamily="34" charset="-128"/>
              </a:rPr>
              <a:t>Typical stopping conditions for a node:</a:t>
            </a:r>
          </a:p>
          <a:p>
            <a:pPr lvl="2"/>
            <a:r>
              <a:rPr lang="en-US" altLang="it-IT">
                <a:ea typeface="ＭＳ Ｐゴシック" panose="020B0600070205080204" pitchFamily="34" charset="-128"/>
              </a:rPr>
              <a:t> Stop if all instances belong to the same class</a:t>
            </a:r>
          </a:p>
          <a:p>
            <a:pPr lvl="2"/>
            <a:r>
              <a:rPr lang="en-US" altLang="it-IT">
                <a:ea typeface="ＭＳ Ｐゴシック" panose="020B0600070205080204" pitchFamily="34" charset="-128"/>
              </a:rPr>
              <a:t> Stop if all the attribute values are the same</a:t>
            </a:r>
          </a:p>
          <a:p>
            <a:pPr lvl="1"/>
            <a:r>
              <a:rPr lang="en-US" altLang="it-IT">
                <a:ea typeface="ＭＳ Ｐゴシック" panose="020B0600070205080204" pitchFamily="34" charset="-128"/>
              </a:rPr>
              <a:t>More restrictive conditions:</a:t>
            </a:r>
          </a:p>
          <a:p>
            <a:pPr lvl="2"/>
            <a:r>
              <a:rPr lang="en-US" altLang="it-IT">
                <a:ea typeface="ＭＳ Ｐゴシック" panose="020B0600070205080204" pitchFamily="34" charset="-128"/>
              </a:rPr>
              <a:t> Stop if number of instances is less than some user-specified threshold</a:t>
            </a:r>
          </a:p>
          <a:p>
            <a:pPr lvl="2"/>
            <a:r>
              <a:rPr lang="en-US" altLang="it-IT">
                <a:ea typeface="ＭＳ Ｐゴシック" panose="020B0600070205080204" pitchFamily="34" charset="-128"/>
              </a:rPr>
              <a:t> Stop if class distribution of instances are independent of the available features (e.g., using </a:t>
            </a:r>
            <a:r>
              <a:rPr lang="en-US" altLang="it-IT">
                <a:ea typeface="ＭＳ Ｐゴシック" panose="020B0600070205080204" pitchFamily="34" charset="-128"/>
                <a:sym typeface="Symbol" pitchFamily="2" charset="2"/>
              </a:rPr>
              <a:t></a:t>
            </a:r>
            <a:r>
              <a:rPr lang="en-US" altLang="it-IT" baseline="30000">
                <a:ea typeface="ＭＳ Ｐゴシック" panose="020B0600070205080204" pitchFamily="34" charset="-128"/>
                <a:sym typeface="Symbol" pitchFamily="2" charset="2"/>
              </a:rPr>
              <a:t> 2</a:t>
            </a:r>
            <a:r>
              <a:rPr lang="en-US" altLang="it-IT">
                <a:ea typeface="ＭＳ Ｐゴシック" panose="020B0600070205080204" pitchFamily="34" charset="-128"/>
                <a:sym typeface="Symbol" pitchFamily="2" charset="2"/>
              </a:rPr>
              <a:t> test)</a:t>
            </a:r>
            <a:endParaRPr lang="en-US" altLang="it-IT" baseline="30000">
              <a:ea typeface="ＭＳ Ｐゴシック" panose="020B0600070205080204" pitchFamily="34" charset="-128"/>
            </a:endParaRPr>
          </a:p>
          <a:p>
            <a:pPr lvl="2"/>
            <a:r>
              <a:rPr lang="en-US" altLang="it-IT">
                <a:ea typeface="ＭＳ Ｐゴシック" panose="020B0600070205080204" pitchFamily="34" charset="-128"/>
              </a:rPr>
              <a:t> Stop if expanding the current node does not improve impurity</a:t>
            </a:r>
            <a:br>
              <a:rPr lang="en-US" altLang="it-IT">
                <a:ea typeface="ＭＳ Ｐゴシック" panose="020B0600070205080204" pitchFamily="34" charset="-128"/>
              </a:rPr>
            </a:br>
            <a:r>
              <a:rPr lang="en-US" altLang="it-IT">
                <a:ea typeface="ＭＳ Ｐゴシック" panose="020B0600070205080204" pitchFamily="34" charset="-128"/>
              </a:rPr>
              <a:t>    measures (e.g., Gini or information gain).</a:t>
            </a:r>
          </a:p>
          <a:p>
            <a:pPr lvl="2"/>
            <a:r>
              <a:rPr lang="en-US" altLang="it-IT">
                <a:ea typeface="ＭＳ Ｐゴシック" panose="020B0600070205080204" pitchFamily="34" charset="-128"/>
              </a:rPr>
              <a:t> Stop if estimated generalization error falls below certain threshold</a:t>
            </a:r>
          </a:p>
        </p:txBody>
      </p:sp>
    </p:spTree>
    <p:extLst>
      <p:ext uri="{BB962C8B-B14F-4D97-AF65-F5344CB8AC3E}">
        <p14:creationId xmlns:p14="http://schemas.microsoft.com/office/powerpoint/2010/main" val="745393666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2">
            <a:extLst>
              <a:ext uri="{FF2B5EF4-FFF2-40B4-BE49-F238E27FC236}">
                <a16:creationId xmlns:a16="http://schemas.microsoft.com/office/drawing/2014/main" id="{27572071-AF39-3947-B28A-0774A4110E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How to Address Overfitting…</a:t>
            </a:r>
          </a:p>
        </p:txBody>
      </p:sp>
      <p:sp>
        <p:nvSpPr>
          <p:cNvPr id="947203" name="Rectangle 3">
            <a:extLst>
              <a:ext uri="{FF2B5EF4-FFF2-40B4-BE49-F238E27FC236}">
                <a16:creationId xmlns:a16="http://schemas.microsoft.com/office/drawing/2014/main" id="{63471C3B-02BA-2B47-A09C-25E38AFB89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  <a:cs typeface="+mn-cs"/>
              </a:rPr>
              <a:t>Post-pruning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Grow decision tree to its entirety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Trim the nodes of the decision tree in a bottom-up fashion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If generalization error improves after trimming, replace sub-tree by a leaf node.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Class label of leaf node is determined from majority class of instances in the sub-tree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Can use MDL for post-pruning</a:t>
            </a:r>
          </a:p>
        </p:txBody>
      </p:sp>
    </p:spTree>
    <p:extLst>
      <p:ext uri="{BB962C8B-B14F-4D97-AF65-F5344CB8AC3E}">
        <p14:creationId xmlns:p14="http://schemas.microsoft.com/office/powerpoint/2010/main" val="846152219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226" name="Rectangle 2">
            <a:extLst>
              <a:ext uri="{FF2B5EF4-FFF2-40B4-BE49-F238E27FC236}">
                <a16:creationId xmlns:a16="http://schemas.microsoft.com/office/drawing/2014/main" id="{B87FEBA1-3901-524D-9D5F-DB60E59BB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Example of Post-Pruning</a:t>
            </a:r>
          </a:p>
        </p:txBody>
      </p:sp>
      <p:graphicFrame>
        <p:nvGraphicFramePr>
          <p:cNvPr id="133122" name="Object 3">
            <a:extLst>
              <a:ext uri="{FF2B5EF4-FFF2-40B4-BE49-F238E27FC236}">
                <a16:creationId xmlns:a16="http://schemas.microsoft.com/office/drawing/2014/main" id="{ADE1C427-6852-5346-AB8C-4D0CF5027D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1" y="3017839"/>
          <a:ext cx="4689475" cy="239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8092400" imgH="14351000" progId="Visio.Drawing.6">
                  <p:embed/>
                </p:oleObj>
              </mc:Choice>
              <mc:Fallback>
                <p:oleObj name="VISIO" r:id="rId2" imgW="28092400" imgH="14351000" progId="Visio.Drawing.6">
                  <p:embed/>
                  <p:pic>
                    <p:nvPicPr>
                      <p:cNvPr id="133122" name="Object 3">
                        <a:extLst>
                          <a:ext uri="{FF2B5EF4-FFF2-40B4-BE49-F238E27FC236}">
                            <a16:creationId xmlns:a16="http://schemas.microsoft.com/office/drawing/2014/main" id="{ADE1C427-6852-5346-AB8C-4D0CF5027D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1" y="3017839"/>
                        <a:ext cx="4689475" cy="239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8228" name="Group 4">
            <a:extLst>
              <a:ext uri="{FF2B5EF4-FFF2-40B4-BE49-F238E27FC236}">
                <a16:creationId xmlns:a16="http://schemas.microsoft.com/office/drawing/2014/main" id="{006DA9F0-594B-1C4A-9D6F-919A0CD78933}"/>
              </a:ext>
            </a:extLst>
          </p:cNvPr>
          <p:cNvGraphicFramePr>
            <a:graphicFrameLocks noGrp="1"/>
          </p:cNvGraphicFramePr>
          <p:nvPr/>
        </p:nvGraphicFramePr>
        <p:xfrm>
          <a:off x="2438400" y="1524000"/>
          <a:ext cx="1905000" cy="1219200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Class = Yes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Class = No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Error = 10/30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3136" name="Text Box 17">
            <a:extLst>
              <a:ext uri="{FF2B5EF4-FFF2-40B4-BE49-F238E27FC236}">
                <a16:creationId xmlns:a16="http://schemas.microsoft.com/office/drawing/2014/main" id="{CDE44754-3EE5-7243-9740-F18D45C96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2233" y="1665288"/>
            <a:ext cx="4648200" cy="243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 dirty="0"/>
              <a:t>Training Error (Before splitting) = 10/30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 dirty="0"/>
              <a:t>Pessimistic error = (10 + 0.5)/30 = 10.5/30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 dirty="0"/>
              <a:t>Training Error (After splitting) = 9/30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 dirty="0"/>
              <a:t>Pessimistic error (After splitting)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 dirty="0"/>
              <a:t>	= (9 + 4 </a:t>
            </a:r>
            <a:r>
              <a:rPr lang="en-US" altLang="it-IT" sz="1800" dirty="0">
                <a:sym typeface="Symbol" pitchFamily="2" charset="2"/>
              </a:rPr>
              <a:t> 0.5)/30 = 11/30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800" dirty="0"/>
              <a:t>	</a:t>
            </a:r>
            <a:r>
              <a:rPr lang="en-US" altLang="it-IT" sz="1800" dirty="0">
                <a:solidFill>
                  <a:srgbClr val="FF0000"/>
                </a:solidFill>
              </a:rPr>
              <a:t>PRUNE!</a:t>
            </a:r>
          </a:p>
        </p:txBody>
      </p:sp>
      <p:graphicFrame>
        <p:nvGraphicFramePr>
          <p:cNvPr id="948242" name="Group 18">
            <a:extLst>
              <a:ext uri="{FF2B5EF4-FFF2-40B4-BE49-F238E27FC236}">
                <a16:creationId xmlns:a16="http://schemas.microsoft.com/office/drawing/2014/main" id="{2D1AE5B2-CE31-6146-AC4C-E993F13D486B}"/>
              </a:ext>
            </a:extLst>
          </p:cNvPr>
          <p:cNvGraphicFramePr>
            <a:graphicFrameLocks noGrp="1"/>
          </p:cNvGraphicFramePr>
          <p:nvPr/>
        </p:nvGraphicFramePr>
        <p:xfrm>
          <a:off x="1676400" y="5456238"/>
          <a:ext cx="1752600" cy="715962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Class = Yes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8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74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Class = No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4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48253" name="Group 29">
            <a:extLst>
              <a:ext uri="{FF2B5EF4-FFF2-40B4-BE49-F238E27FC236}">
                <a16:creationId xmlns:a16="http://schemas.microsoft.com/office/drawing/2014/main" id="{502EC12E-6950-C64C-9B32-47BA161EE7FB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5456238"/>
          <a:ext cx="1752600" cy="715962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Class = Yes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3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74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Class = No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4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48264" name="Group 40">
            <a:extLst>
              <a:ext uri="{FF2B5EF4-FFF2-40B4-BE49-F238E27FC236}">
                <a16:creationId xmlns:a16="http://schemas.microsoft.com/office/drawing/2014/main" id="{F7FC3B2C-503C-D041-A371-E8AFE532AADB}"/>
              </a:ext>
            </a:extLst>
          </p:cNvPr>
          <p:cNvGraphicFramePr>
            <a:graphicFrameLocks noGrp="1"/>
          </p:cNvGraphicFramePr>
          <p:nvPr/>
        </p:nvGraphicFramePr>
        <p:xfrm>
          <a:off x="5334000" y="5456238"/>
          <a:ext cx="1752600" cy="715962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Class = Yes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4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74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Class = No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48275" name="Group 51">
            <a:extLst>
              <a:ext uri="{FF2B5EF4-FFF2-40B4-BE49-F238E27FC236}">
                <a16:creationId xmlns:a16="http://schemas.microsoft.com/office/drawing/2014/main" id="{663D9C92-6552-D649-9D94-6F8013CCF5AC}"/>
              </a:ext>
            </a:extLst>
          </p:cNvPr>
          <p:cNvGraphicFramePr>
            <a:graphicFrameLocks noGrp="1"/>
          </p:cNvGraphicFramePr>
          <p:nvPr/>
        </p:nvGraphicFramePr>
        <p:xfrm>
          <a:off x="7162800" y="5456238"/>
          <a:ext cx="1752600" cy="715962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Class = Yes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5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74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Class = No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592665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C3A3AC-3479-954B-8863-B2FCBFDCB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References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446C7E5-9491-8A4A-86AB-1AA2743CB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21605" cy="4351338"/>
          </a:xfrm>
        </p:spPr>
        <p:txBody>
          <a:bodyPr/>
          <a:lstStyle/>
          <a:p>
            <a:r>
              <a:rPr lang="en-IE" dirty="0"/>
              <a:t>Chapter 7 “Introduction to Data Mining”, </a:t>
            </a:r>
          </a:p>
          <a:p>
            <a:r>
              <a:rPr lang="en-US" noProof="0" dirty="0"/>
              <a:t>Hands-on Machine Learning with Scikit-Learn, </a:t>
            </a:r>
            <a:r>
              <a:rPr lang="en-US" noProof="0" dirty="0" err="1"/>
              <a:t>Keras</a:t>
            </a:r>
            <a:r>
              <a:rPr lang="en-US" noProof="0" dirty="0"/>
              <a:t> &amp; </a:t>
            </a:r>
            <a:r>
              <a:rPr lang="en-US" noProof="0" dirty="0" err="1"/>
              <a:t>Tensorflow</a:t>
            </a:r>
            <a:r>
              <a:rPr lang="en-US" noProof="0" dirty="0"/>
              <a:t>. A practical handbook to start wrestling with Machine Learning models (2nd ed).</a:t>
            </a:r>
          </a:p>
          <a:p>
            <a:endParaRPr lang="en-US" noProof="0" dirty="0"/>
          </a:p>
          <a:p>
            <a:endParaRPr lang="en-US" noProof="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F7071210-6483-7E4C-BDE3-DBB7686DB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3356" y="1471061"/>
            <a:ext cx="1841458" cy="2317168"/>
          </a:xfrm>
          <a:prstGeom prst="rect">
            <a:avLst/>
          </a:prstGeom>
        </p:spPr>
      </p:pic>
      <p:pic>
        <p:nvPicPr>
          <p:cNvPr id="5" name="Immagine 4" descr="Immagine che contiene animale, rettile, lucertola&#10;&#10;Descrizione generata automaticamente">
            <a:extLst>
              <a:ext uri="{FF2B5EF4-FFF2-40B4-BE49-F238E27FC236}">
                <a16:creationId xmlns:a16="http://schemas.microsoft.com/office/drawing/2014/main" id="{FD3DC371-5F96-9846-B924-87DAAA98A6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9805" y="2830443"/>
            <a:ext cx="1905000" cy="249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936857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F926752-1837-34F2-7896-72F33B807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Home work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F6573D7-9F21-774B-6216-7EF286B83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it-IT" dirty="0"/>
              <a:t>Es1:  </a:t>
            </a:r>
            <a:r>
              <a:rPr lang="it-IT" dirty="0" err="1"/>
              <a:t>Draw</a:t>
            </a:r>
            <a:r>
              <a:rPr lang="it-IT" dirty="0"/>
              <a:t> a </a:t>
            </a:r>
            <a:r>
              <a:rPr lang="it-IT" dirty="0" err="1"/>
              <a:t>decision</a:t>
            </a:r>
            <a:r>
              <a:rPr lang="it-IT" dirty="0"/>
              <a:t> </a:t>
            </a:r>
            <a:r>
              <a:rPr lang="it-IT" dirty="0" err="1"/>
              <a:t>tree</a:t>
            </a:r>
            <a:r>
              <a:rPr lang="it-IT" dirty="0"/>
              <a:t> for the </a:t>
            </a:r>
            <a:r>
              <a:rPr lang="it-IT" dirty="0" err="1"/>
              <a:t>problem</a:t>
            </a:r>
            <a:r>
              <a:rPr lang="it-IT" dirty="0"/>
              <a:t> of </a:t>
            </a:r>
            <a:r>
              <a:rPr lang="it-IT" dirty="0" err="1"/>
              <a:t>deciding</a:t>
            </a:r>
            <a:r>
              <a:rPr lang="it-IT" dirty="0"/>
              <a:t> </a:t>
            </a:r>
            <a:r>
              <a:rPr lang="it-IT" dirty="0" err="1"/>
              <a:t>whether</a:t>
            </a:r>
            <a:r>
              <a:rPr lang="it-IT" dirty="0"/>
              <a:t> to </a:t>
            </a:r>
            <a:r>
              <a:rPr lang="it-IT" dirty="0" err="1"/>
              <a:t>move</a:t>
            </a:r>
            <a:r>
              <a:rPr lang="it-IT" dirty="0"/>
              <a:t> </a:t>
            </a:r>
            <a:r>
              <a:rPr lang="it-IT" dirty="0" err="1"/>
              <a:t>forward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a road </a:t>
            </a:r>
            <a:r>
              <a:rPr lang="it-IT" dirty="0" err="1"/>
              <a:t>intersection</a:t>
            </a:r>
            <a:r>
              <a:rPr lang="it-IT" dirty="0"/>
              <a:t>, </a:t>
            </a:r>
            <a:r>
              <a:rPr lang="it-IT" dirty="0" err="1"/>
              <a:t>given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the light </a:t>
            </a:r>
            <a:r>
              <a:rPr lang="it-IT" dirty="0" err="1"/>
              <a:t>has</a:t>
            </a:r>
            <a:r>
              <a:rPr lang="it-IT" dirty="0"/>
              <a:t> just </a:t>
            </a:r>
            <a:r>
              <a:rPr lang="it-IT" dirty="0" err="1"/>
              <a:t>turned</a:t>
            </a:r>
            <a:r>
              <a:rPr lang="it-IT" dirty="0"/>
              <a:t> green. </a:t>
            </a:r>
          </a:p>
          <a:p>
            <a:r>
              <a:rPr lang="it-IT" dirty="0"/>
              <a:t>Suppose </a:t>
            </a:r>
            <a:r>
              <a:rPr lang="it-IT" dirty="0" err="1"/>
              <a:t>we</a:t>
            </a:r>
            <a:r>
              <a:rPr lang="it-IT" dirty="0"/>
              <a:t> generate a training set from a </a:t>
            </a:r>
            <a:r>
              <a:rPr lang="it-IT" dirty="0" err="1"/>
              <a:t>decision</a:t>
            </a:r>
            <a:r>
              <a:rPr lang="it-IT" dirty="0"/>
              <a:t> </a:t>
            </a:r>
            <a:r>
              <a:rPr lang="it-IT" dirty="0" err="1"/>
              <a:t>tree</a:t>
            </a:r>
            <a:r>
              <a:rPr lang="it-IT" dirty="0"/>
              <a:t> and </a:t>
            </a:r>
            <a:r>
              <a:rPr lang="it-IT" dirty="0" err="1"/>
              <a:t>then</a:t>
            </a:r>
            <a:r>
              <a:rPr lang="it-IT" dirty="0"/>
              <a:t> </a:t>
            </a:r>
            <a:r>
              <a:rPr lang="it-IT" dirty="0" err="1"/>
              <a:t>apply</a:t>
            </a:r>
            <a:r>
              <a:rPr lang="it-IT" dirty="0"/>
              <a:t> </a:t>
            </a:r>
            <a:r>
              <a:rPr lang="it-IT" dirty="0" err="1"/>
              <a:t>decision-tree</a:t>
            </a:r>
            <a:r>
              <a:rPr lang="it-IT" dirty="0"/>
              <a:t> learning to </a:t>
            </a:r>
            <a:r>
              <a:rPr lang="it-IT" dirty="0" err="1"/>
              <a:t>that</a:t>
            </a:r>
            <a:r>
              <a:rPr lang="it-IT" dirty="0"/>
              <a:t> training set.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the case </a:t>
            </a:r>
            <a:r>
              <a:rPr lang="it-IT" dirty="0" err="1"/>
              <a:t>that</a:t>
            </a:r>
            <a:r>
              <a:rPr lang="it-IT" dirty="0"/>
              <a:t> the learning </a:t>
            </a:r>
            <a:r>
              <a:rPr lang="it-IT" dirty="0" err="1"/>
              <a:t>algorithm</a:t>
            </a:r>
            <a:r>
              <a:rPr lang="it-IT" dirty="0"/>
              <a:t> </a:t>
            </a:r>
            <a:r>
              <a:rPr lang="it-IT" dirty="0" err="1"/>
              <a:t>will</a:t>
            </a:r>
            <a:r>
              <a:rPr lang="it-IT" dirty="0"/>
              <a:t> </a:t>
            </a:r>
            <a:r>
              <a:rPr lang="it-IT" dirty="0" err="1"/>
              <a:t>eventually</a:t>
            </a:r>
            <a:r>
              <a:rPr lang="it-IT" dirty="0"/>
              <a:t> </a:t>
            </a:r>
            <a:r>
              <a:rPr lang="it-IT" dirty="0" err="1"/>
              <a:t>return</a:t>
            </a:r>
            <a:r>
              <a:rPr lang="it-IT" dirty="0"/>
              <a:t> the </a:t>
            </a:r>
            <a:r>
              <a:rPr lang="it-IT" dirty="0" err="1"/>
              <a:t>correct</a:t>
            </a:r>
            <a:r>
              <a:rPr lang="it-IT" dirty="0"/>
              <a:t> </a:t>
            </a:r>
            <a:r>
              <a:rPr lang="it-IT" dirty="0" err="1"/>
              <a:t>tree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the training-set size </a:t>
            </a:r>
            <a:r>
              <a:rPr lang="it-IT" dirty="0" err="1"/>
              <a:t>goes</a:t>
            </a:r>
            <a:r>
              <a:rPr lang="it-IT" dirty="0"/>
              <a:t> to </a:t>
            </a:r>
            <a:r>
              <a:rPr lang="it-IT" dirty="0" err="1"/>
              <a:t>infinity</a:t>
            </a:r>
            <a:r>
              <a:rPr lang="it-IT" dirty="0"/>
              <a:t>? </a:t>
            </a:r>
            <a:r>
              <a:rPr lang="it-IT" dirty="0" err="1"/>
              <a:t>Why</a:t>
            </a:r>
            <a:r>
              <a:rPr lang="it-IT" dirty="0"/>
              <a:t> or </a:t>
            </a:r>
            <a:r>
              <a:rPr lang="it-IT" dirty="0" err="1"/>
              <a:t>why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? </a:t>
            </a:r>
            <a:br>
              <a:rPr lang="it-IT" dirty="0"/>
            </a:br>
            <a:endParaRPr lang="it-IT" dirty="0"/>
          </a:p>
          <a:p>
            <a:r>
              <a:rPr lang="it-IT" dirty="0"/>
              <a:t>In the recursive </a:t>
            </a:r>
            <a:r>
              <a:rPr lang="it-IT" dirty="0" err="1"/>
              <a:t>construction</a:t>
            </a:r>
            <a:r>
              <a:rPr lang="it-IT" dirty="0"/>
              <a:t> of </a:t>
            </a:r>
            <a:r>
              <a:rPr lang="it-IT" dirty="0" err="1"/>
              <a:t>decision</a:t>
            </a:r>
            <a:r>
              <a:rPr lang="it-IT" dirty="0"/>
              <a:t> </a:t>
            </a:r>
            <a:r>
              <a:rPr lang="it-IT" dirty="0" err="1"/>
              <a:t>trees</a:t>
            </a:r>
            <a:r>
              <a:rPr lang="it-IT" dirty="0"/>
              <a:t>,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sometimes</a:t>
            </a:r>
            <a:r>
              <a:rPr lang="it-IT" dirty="0"/>
              <a:t> </a:t>
            </a:r>
            <a:r>
              <a:rPr lang="it-IT" dirty="0" err="1"/>
              <a:t>happens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a mixed set of positive and negative </a:t>
            </a:r>
            <a:r>
              <a:rPr lang="it-IT" dirty="0" err="1"/>
              <a:t>examples</a:t>
            </a:r>
            <a:r>
              <a:rPr lang="it-IT" dirty="0"/>
              <a:t> </a:t>
            </a:r>
            <a:r>
              <a:rPr lang="it-IT" dirty="0" err="1"/>
              <a:t>remains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a </a:t>
            </a:r>
            <a:r>
              <a:rPr lang="it-IT" dirty="0" err="1"/>
              <a:t>leaf</a:t>
            </a:r>
            <a:r>
              <a:rPr lang="it-IT" dirty="0"/>
              <a:t> </a:t>
            </a:r>
            <a:r>
              <a:rPr lang="it-IT" dirty="0" err="1"/>
              <a:t>node</a:t>
            </a:r>
            <a:r>
              <a:rPr lang="it-IT" dirty="0"/>
              <a:t>, </a:t>
            </a:r>
            <a:r>
              <a:rPr lang="it-IT" dirty="0" err="1"/>
              <a:t>even</a:t>
            </a:r>
            <a:r>
              <a:rPr lang="it-IT" dirty="0"/>
              <a:t> after </a:t>
            </a:r>
            <a:r>
              <a:rPr lang="it-IT" dirty="0" err="1"/>
              <a:t>all</a:t>
            </a:r>
            <a:r>
              <a:rPr lang="it-IT" dirty="0"/>
              <a:t> the </a:t>
            </a:r>
            <a:r>
              <a:rPr lang="it-IT" dirty="0" err="1"/>
              <a:t>attributes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</a:t>
            </a:r>
            <a:r>
              <a:rPr lang="it-IT" dirty="0" err="1"/>
              <a:t>been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. Suppose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positive </a:t>
            </a:r>
            <a:r>
              <a:rPr lang="it-IT" dirty="0" err="1"/>
              <a:t>examples</a:t>
            </a:r>
            <a:r>
              <a:rPr lang="it-IT" dirty="0"/>
              <a:t> and negative </a:t>
            </a:r>
            <a:r>
              <a:rPr lang="it-IT" dirty="0" err="1"/>
              <a:t>examples</a:t>
            </a:r>
            <a:r>
              <a:rPr lang="it-IT" dirty="0"/>
              <a:t>. 1. Show </a:t>
            </a:r>
            <a:r>
              <a:rPr lang="it-IT" dirty="0" err="1"/>
              <a:t>that</a:t>
            </a:r>
            <a:r>
              <a:rPr lang="it-IT" dirty="0"/>
              <a:t> the </a:t>
            </a:r>
            <a:r>
              <a:rPr lang="it-IT" dirty="0" err="1"/>
              <a:t>solution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 by DECISION-TREE-LEARNING,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picks</a:t>
            </a:r>
            <a:r>
              <a:rPr lang="it-IT" dirty="0"/>
              <a:t> the </a:t>
            </a:r>
            <a:r>
              <a:rPr lang="it-IT" dirty="0" err="1"/>
              <a:t>majority</a:t>
            </a:r>
            <a:r>
              <a:rPr lang="it-IT" dirty="0"/>
              <a:t> </a:t>
            </a:r>
            <a:r>
              <a:rPr lang="it-IT" dirty="0" err="1"/>
              <a:t>classification</a:t>
            </a:r>
            <a:r>
              <a:rPr lang="it-IT" dirty="0"/>
              <a:t>, </a:t>
            </a:r>
            <a:r>
              <a:rPr lang="it-IT" dirty="0" err="1"/>
              <a:t>minimizes</a:t>
            </a:r>
            <a:r>
              <a:rPr lang="it-IT" dirty="0"/>
              <a:t> the </a:t>
            </a:r>
            <a:r>
              <a:rPr lang="it-IT" dirty="0" err="1"/>
              <a:t>absolute</a:t>
            </a:r>
            <a:r>
              <a:rPr lang="it-IT" dirty="0"/>
              <a:t> </a:t>
            </a:r>
            <a:r>
              <a:rPr lang="it-IT" dirty="0" err="1"/>
              <a:t>error</a:t>
            </a:r>
            <a:r>
              <a:rPr lang="it-IT" dirty="0"/>
              <a:t> over the set of </a:t>
            </a:r>
            <a:r>
              <a:rPr lang="it-IT" dirty="0" err="1"/>
              <a:t>examples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the </a:t>
            </a:r>
            <a:r>
              <a:rPr lang="it-IT" dirty="0" err="1"/>
              <a:t>leaf</a:t>
            </a:r>
            <a:r>
              <a:rPr lang="it-IT" dirty="0"/>
              <a:t>. 2. Show </a:t>
            </a:r>
            <a:r>
              <a:rPr lang="it-IT" dirty="0" err="1"/>
              <a:t>that</a:t>
            </a:r>
            <a:r>
              <a:rPr lang="it-IT" dirty="0"/>
              <a:t> the class </a:t>
            </a:r>
            <a:r>
              <a:rPr lang="it-IT" dirty="0" err="1"/>
              <a:t>probability</a:t>
            </a:r>
            <a:r>
              <a:rPr lang="it-IT" dirty="0"/>
              <a:t> </a:t>
            </a:r>
            <a:r>
              <a:rPr lang="it-IT" dirty="0" err="1"/>
              <a:t>minimizes</a:t>
            </a:r>
            <a:r>
              <a:rPr lang="it-IT" dirty="0"/>
              <a:t> the sum of </a:t>
            </a:r>
            <a:r>
              <a:rPr lang="it-IT" dirty="0" err="1"/>
              <a:t>squared</a:t>
            </a:r>
            <a:r>
              <a:rPr lang="it-IT" dirty="0"/>
              <a:t> </a:t>
            </a:r>
            <a:r>
              <a:rPr lang="it-IT" dirty="0" err="1"/>
              <a:t>errors</a:t>
            </a:r>
            <a:r>
              <a:rPr lang="it-IT" dirty="0"/>
              <a:t>. 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99100469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0E3A0A-5FA9-7842-CEF7-BF1C0722D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Home work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E90B49D-57E9-237A-01FA-089F21007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it-IT" dirty="0"/>
          </a:p>
          <a:p>
            <a:r>
              <a:rPr lang="it-IT" dirty="0"/>
              <a:t>1. In the recursive </a:t>
            </a:r>
            <a:r>
              <a:rPr lang="it-IT" dirty="0" err="1"/>
              <a:t>construction</a:t>
            </a:r>
            <a:r>
              <a:rPr lang="it-IT" dirty="0"/>
              <a:t> of </a:t>
            </a:r>
            <a:r>
              <a:rPr lang="it-IT" dirty="0" err="1"/>
              <a:t>decision</a:t>
            </a:r>
            <a:r>
              <a:rPr lang="it-IT" dirty="0"/>
              <a:t> </a:t>
            </a:r>
            <a:r>
              <a:rPr lang="it-IT" dirty="0" err="1"/>
              <a:t>trees</a:t>
            </a:r>
            <a:r>
              <a:rPr lang="it-IT" dirty="0"/>
              <a:t>,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sometimes</a:t>
            </a:r>
            <a:r>
              <a:rPr lang="it-IT" dirty="0"/>
              <a:t> </a:t>
            </a:r>
            <a:r>
              <a:rPr lang="it-IT" dirty="0" err="1"/>
              <a:t>happens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a mixed set of positive and negative </a:t>
            </a:r>
            <a:r>
              <a:rPr lang="it-IT" dirty="0" err="1"/>
              <a:t>examples</a:t>
            </a:r>
            <a:r>
              <a:rPr lang="it-IT" dirty="0"/>
              <a:t> </a:t>
            </a:r>
            <a:r>
              <a:rPr lang="it-IT" dirty="0" err="1"/>
              <a:t>remains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a </a:t>
            </a:r>
            <a:r>
              <a:rPr lang="it-IT" dirty="0" err="1"/>
              <a:t>leaf</a:t>
            </a:r>
            <a:r>
              <a:rPr lang="it-IT" dirty="0"/>
              <a:t> </a:t>
            </a:r>
            <a:r>
              <a:rPr lang="it-IT" dirty="0" err="1"/>
              <a:t>node</a:t>
            </a:r>
            <a:r>
              <a:rPr lang="it-IT" dirty="0"/>
              <a:t>, </a:t>
            </a:r>
            <a:r>
              <a:rPr lang="it-IT" dirty="0" err="1"/>
              <a:t>even</a:t>
            </a:r>
            <a:r>
              <a:rPr lang="it-IT" dirty="0"/>
              <a:t> after </a:t>
            </a:r>
            <a:r>
              <a:rPr lang="it-IT" dirty="0" err="1"/>
              <a:t>all</a:t>
            </a:r>
            <a:r>
              <a:rPr lang="it-IT" dirty="0"/>
              <a:t> the </a:t>
            </a:r>
            <a:r>
              <a:rPr lang="it-IT" dirty="0" err="1"/>
              <a:t>attributes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</a:t>
            </a:r>
            <a:r>
              <a:rPr lang="it-IT" dirty="0" err="1"/>
              <a:t>been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. Suppose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positive </a:t>
            </a:r>
            <a:r>
              <a:rPr lang="it-IT" dirty="0" err="1"/>
              <a:t>examples</a:t>
            </a:r>
            <a:r>
              <a:rPr lang="it-IT" dirty="0"/>
              <a:t> and negative </a:t>
            </a:r>
            <a:r>
              <a:rPr lang="it-IT" dirty="0" err="1"/>
              <a:t>examples</a:t>
            </a:r>
            <a:r>
              <a:rPr lang="it-IT" dirty="0"/>
              <a:t>. 1. Show </a:t>
            </a:r>
            <a:r>
              <a:rPr lang="it-IT" dirty="0" err="1"/>
              <a:t>that</a:t>
            </a:r>
            <a:r>
              <a:rPr lang="it-IT" dirty="0"/>
              <a:t> the </a:t>
            </a:r>
            <a:r>
              <a:rPr lang="it-IT" dirty="0" err="1"/>
              <a:t>solution</a:t>
            </a:r>
            <a:r>
              <a:rPr lang="it-IT" dirty="0"/>
              <a:t>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picks</a:t>
            </a:r>
            <a:r>
              <a:rPr lang="it-IT" dirty="0"/>
              <a:t> the </a:t>
            </a:r>
            <a:r>
              <a:rPr lang="it-IT" dirty="0" err="1"/>
              <a:t>majority</a:t>
            </a:r>
            <a:r>
              <a:rPr lang="it-IT" dirty="0"/>
              <a:t> </a:t>
            </a:r>
            <a:r>
              <a:rPr lang="it-IT" dirty="0" err="1"/>
              <a:t>classification</a:t>
            </a:r>
            <a:r>
              <a:rPr lang="it-IT" dirty="0"/>
              <a:t>, </a:t>
            </a:r>
            <a:r>
              <a:rPr lang="it-IT" dirty="0" err="1"/>
              <a:t>minimizes</a:t>
            </a:r>
            <a:r>
              <a:rPr lang="it-IT" dirty="0"/>
              <a:t> the </a:t>
            </a:r>
            <a:r>
              <a:rPr lang="it-IT" dirty="0" err="1"/>
              <a:t>absolute</a:t>
            </a:r>
            <a:r>
              <a:rPr lang="it-IT" dirty="0"/>
              <a:t> </a:t>
            </a:r>
            <a:r>
              <a:rPr lang="it-IT" dirty="0" err="1"/>
              <a:t>error</a:t>
            </a:r>
            <a:r>
              <a:rPr lang="it-IT" dirty="0"/>
              <a:t> over the set of </a:t>
            </a:r>
            <a:r>
              <a:rPr lang="it-IT" dirty="0" err="1"/>
              <a:t>examples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the </a:t>
            </a:r>
            <a:r>
              <a:rPr lang="it-IT" dirty="0" err="1"/>
              <a:t>leaf</a:t>
            </a:r>
            <a:r>
              <a:rPr lang="it-IT" dirty="0"/>
              <a:t>. </a:t>
            </a:r>
          </a:p>
          <a:p>
            <a:r>
              <a:rPr lang="it-IT" dirty="0"/>
              <a:t>2. Show </a:t>
            </a:r>
            <a:r>
              <a:rPr lang="it-IT" dirty="0" err="1"/>
              <a:t>that</a:t>
            </a:r>
            <a:r>
              <a:rPr lang="it-IT" dirty="0"/>
              <a:t> the class </a:t>
            </a:r>
            <a:r>
              <a:rPr lang="it-IT" dirty="0" err="1"/>
              <a:t>probability</a:t>
            </a:r>
            <a:r>
              <a:rPr lang="it-IT" dirty="0"/>
              <a:t> </a:t>
            </a:r>
            <a:r>
              <a:rPr lang="it-IT" dirty="0" err="1"/>
              <a:t>minimizes</a:t>
            </a:r>
            <a:r>
              <a:rPr lang="it-IT" dirty="0"/>
              <a:t> the sum of </a:t>
            </a:r>
            <a:r>
              <a:rPr lang="it-IT" dirty="0" err="1"/>
              <a:t>squared</a:t>
            </a:r>
            <a:r>
              <a:rPr lang="it-IT" dirty="0"/>
              <a:t> </a:t>
            </a:r>
            <a:r>
              <a:rPr lang="it-IT" dirty="0" err="1"/>
              <a:t>errors</a:t>
            </a:r>
            <a:r>
              <a:rPr lang="it-IT" dirty="0"/>
              <a:t>. 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627714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2BC6C9-C12A-CF0F-475C-50764D1C9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Home work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1727182-7AE6-8629-1F1E-70377CC4D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 </a:t>
            </a:r>
            <a:r>
              <a:rPr lang="it-IT" dirty="0" err="1"/>
              <a:t>Consider</a:t>
            </a:r>
            <a:r>
              <a:rPr lang="it-IT" dirty="0"/>
              <a:t> the following data set </a:t>
            </a:r>
            <a:r>
              <a:rPr lang="it-IT" dirty="0" err="1"/>
              <a:t>comprised</a:t>
            </a:r>
            <a:r>
              <a:rPr lang="it-IT" dirty="0"/>
              <a:t> of </a:t>
            </a:r>
            <a:r>
              <a:rPr lang="it-IT" dirty="0" err="1"/>
              <a:t>three</a:t>
            </a:r>
            <a:r>
              <a:rPr lang="it-IT" dirty="0"/>
              <a:t> </a:t>
            </a:r>
            <a:r>
              <a:rPr lang="it-IT" dirty="0" err="1"/>
              <a:t>binary</a:t>
            </a:r>
            <a:r>
              <a:rPr lang="it-IT" dirty="0"/>
              <a:t> input </a:t>
            </a:r>
            <a:r>
              <a:rPr lang="it-IT" dirty="0" err="1"/>
              <a:t>attributes</a:t>
            </a:r>
            <a:r>
              <a:rPr lang="it-IT" dirty="0"/>
              <a:t> and one </a:t>
            </a:r>
            <a:r>
              <a:rPr lang="it-IT" dirty="0" err="1"/>
              <a:t>binary</a:t>
            </a:r>
            <a:r>
              <a:rPr lang="it-IT" dirty="0"/>
              <a:t> output.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r>
              <a:rPr lang="it-IT" dirty="0"/>
              <a:t> </a:t>
            </a:r>
            <a:r>
              <a:rPr lang="it-IT" dirty="0" err="1"/>
              <a:t>Learn</a:t>
            </a:r>
            <a:r>
              <a:rPr lang="it-IT" dirty="0"/>
              <a:t> a </a:t>
            </a:r>
            <a:r>
              <a:rPr lang="it-IT" dirty="0" err="1"/>
              <a:t>decision</a:t>
            </a:r>
            <a:r>
              <a:rPr lang="it-IT" dirty="0"/>
              <a:t> </a:t>
            </a:r>
            <a:r>
              <a:rPr lang="it-IT" dirty="0" err="1"/>
              <a:t>tree</a:t>
            </a:r>
            <a:r>
              <a:rPr lang="it-IT" dirty="0"/>
              <a:t> for </a:t>
            </a:r>
            <a:r>
              <a:rPr lang="it-IT" dirty="0" err="1"/>
              <a:t>these</a:t>
            </a:r>
            <a:r>
              <a:rPr lang="it-IT" dirty="0"/>
              <a:t> data. Show the </a:t>
            </a:r>
            <a:r>
              <a:rPr lang="it-IT" dirty="0" err="1"/>
              <a:t>computations</a:t>
            </a:r>
            <a:r>
              <a:rPr lang="it-IT" dirty="0"/>
              <a:t> made to determine the </a:t>
            </a:r>
            <a:r>
              <a:rPr lang="it-IT" dirty="0" err="1"/>
              <a:t>attribute</a:t>
            </a:r>
            <a:r>
              <a:rPr lang="it-IT" dirty="0"/>
              <a:t> to split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node</a:t>
            </a:r>
            <a:r>
              <a:rPr lang="it-IT" dirty="0"/>
              <a:t>. </a:t>
            </a:r>
          </a:p>
          <a:p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E2F6BE8-A8FA-629A-1F89-86C16DBD5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92860"/>
            <a:ext cx="47625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636902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C3A3AC-3479-954B-8863-B2FCBFDCB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References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446C7E5-9491-8A4A-86AB-1AA2743CB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21605" cy="4351338"/>
          </a:xfrm>
        </p:spPr>
        <p:txBody>
          <a:bodyPr/>
          <a:lstStyle/>
          <a:p>
            <a:r>
              <a:rPr lang="en-US" dirty="0"/>
              <a:t>Chapter 3. Classification: Basic Concepts and Techniques.</a:t>
            </a:r>
            <a:endParaRPr lang="en-US" noProof="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F7071210-6483-7E4C-BDE3-DBB7686DB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0" y="2341563"/>
            <a:ext cx="3048000" cy="383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6787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utorial_template" id="{EADC5050-CE47-8043-A115-557F9EDEC139}" vid="{327DA43B-6BAE-AF4B-A031-340A272D65B2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2F56ABDEDC3044B30E8C8676A91964" ma:contentTypeVersion="3" ma:contentTypeDescription="Create a new document." ma:contentTypeScope="" ma:versionID="60f18a3f8ed5c10c259d19238dccd45b">
  <xsd:schema xmlns:xsd="http://www.w3.org/2001/XMLSchema" xmlns:xs="http://www.w3.org/2001/XMLSchema" xmlns:p="http://schemas.microsoft.com/office/2006/metadata/properties" xmlns:ns2="e17268a9-c167-4582-b3fd-10fdf2b0972b" targetNamespace="http://schemas.microsoft.com/office/2006/metadata/properties" ma:root="true" ma:fieldsID="2b28c83e30bba9edc264006bde1afadf" ns2:_="">
    <xsd:import namespace="e17268a9-c167-4582-b3fd-10fdf2b097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7268a9-c167-4582-b3fd-10fdf2b097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E4E2E14-3218-4848-82AE-0FFA45BEFE4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0E45053-B6DD-44ED-A2E3-B18447890CD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75C83FE-5C2E-4E4C-9098-DDCB9E2C06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7268a9-c167-4582-b3fd-10fdf2b0972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Tema di Office</Template>
  <TotalTime>41140</TotalTime>
  <Words>6653</Words>
  <Application>Microsoft Office PowerPoint</Application>
  <PresentationFormat>Widescreen</PresentationFormat>
  <Paragraphs>1144</Paragraphs>
  <Slides>130</Slides>
  <Notes>7</Notes>
  <HiddenSlides>5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130</vt:i4>
      </vt:variant>
    </vt:vector>
  </HeadingPairs>
  <TitlesOfParts>
    <vt:vector size="131" baseType="lpstr">
      <vt:lpstr>Tema di Office</vt:lpstr>
      <vt:lpstr>DATA MINING &amp; MACHINE LEARNING:  Machine Learning</vt:lpstr>
      <vt:lpstr>Supervised Learning </vt:lpstr>
      <vt:lpstr>What is Machine Learning?</vt:lpstr>
      <vt:lpstr>What is Machine Learning?</vt:lpstr>
      <vt:lpstr>Classical Programming vs Machine Learning</vt:lpstr>
      <vt:lpstr>Classical Programming vs Machine Learning</vt:lpstr>
      <vt:lpstr>Classical Programming vs Machine Learning</vt:lpstr>
      <vt:lpstr>Components of a classical AI System</vt:lpstr>
      <vt:lpstr>Components of the agent that may be improved by learning</vt:lpstr>
      <vt:lpstr>Boundary Factors of  Learning</vt:lpstr>
      <vt:lpstr>Forms of learning</vt:lpstr>
      <vt:lpstr>Types of input and output</vt:lpstr>
      <vt:lpstr>Types of learning based on feedback</vt:lpstr>
      <vt:lpstr>Supervised Learning</vt:lpstr>
      <vt:lpstr>How to choose a good H and h </vt:lpstr>
      <vt:lpstr>How to compare hypothesis spaces</vt:lpstr>
      <vt:lpstr>Classification</vt:lpstr>
      <vt:lpstr>Example: Spam Filter</vt:lpstr>
      <vt:lpstr>Example: Digit Recognition</vt:lpstr>
      <vt:lpstr>Other Classification Tasks</vt:lpstr>
      <vt:lpstr>Examples of Classification Task</vt:lpstr>
      <vt:lpstr>What is Classification?</vt:lpstr>
      <vt:lpstr>Classification problem</vt:lpstr>
      <vt:lpstr>Classification problem</vt:lpstr>
      <vt:lpstr>The most stupid classifier</vt:lpstr>
      <vt:lpstr>Classify by similarity</vt:lpstr>
      <vt:lpstr>Build a model</vt:lpstr>
      <vt:lpstr>Build a model</vt:lpstr>
      <vt:lpstr>Build a model</vt:lpstr>
      <vt:lpstr>Build a model</vt:lpstr>
      <vt:lpstr>From toys to real problems</vt:lpstr>
      <vt:lpstr>Training and Testing</vt:lpstr>
      <vt:lpstr>Empirical Risk Minimization</vt:lpstr>
      <vt:lpstr>General Approach for Building Classification Model</vt:lpstr>
      <vt:lpstr>General Approach for Building Classification M</vt:lpstr>
      <vt:lpstr>Important Concepts</vt:lpstr>
      <vt:lpstr>Classification Techniques</vt:lpstr>
      <vt:lpstr> Decision Tree</vt:lpstr>
      <vt:lpstr>Example of a Decision Tree</vt:lpstr>
      <vt:lpstr>Another Example of Decision Tree</vt:lpstr>
      <vt:lpstr>Apply Model to Test Data</vt:lpstr>
      <vt:lpstr>Apply Model to Test Data</vt:lpstr>
      <vt:lpstr>Apply Model to Test Data</vt:lpstr>
      <vt:lpstr>Apply Model to Test Data</vt:lpstr>
      <vt:lpstr>Apply Model to Test Data</vt:lpstr>
      <vt:lpstr>Apply Model to Test Data</vt:lpstr>
      <vt:lpstr>Decision Tree Classification Task</vt:lpstr>
      <vt:lpstr>Decision Tree Induction</vt:lpstr>
      <vt:lpstr>General Structure of Hunt’s Algorithm</vt:lpstr>
      <vt:lpstr>Hunt’s Algorithm</vt:lpstr>
      <vt:lpstr>Hunt’s Algorithm</vt:lpstr>
      <vt:lpstr>Hunt’s Algorithm</vt:lpstr>
      <vt:lpstr>Hunt’s Algorithm</vt:lpstr>
      <vt:lpstr>Design Issues of Decision Tree Induction</vt:lpstr>
      <vt:lpstr>Tree Induction</vt:lpstr>
      <vt:lpstr>Methods for Expressing Test Conditions</vt:lpstr>
      <vt:lpstr>Test Condition for Nominal Attributes</vt:lpstr>
      <vt:lpstr>Test Condition for Ordinal Attributes</vt:lpstr>
      <vt:lpstr>Test Condition for Continuous Attributes</vt:lpstr>
      <vt:lpstr>Splitting Based on Continuous Attributes</vt:lpstr>
      <vt:lpstr>How to determine the Best Split</vt:lpstr>
      <vt:lpstr>How to determine the Best Split</vt:lpstr>
      <vt:lpstr>Measures of Node Impurity</vt:lpstr>
      <vt:lpstr>Comparison among Impurity Measures</vt:lpstr>
      <vt:lpstr>Finding the Best Split</vt:lpstr>
      <vt:lpstr>Finding the Best Split</vt:lpstr>
      <vt:lpstr>Measure of Impurity: GINI</vt:lpstr>
      <vt:lpstr>Measure of Impurity: GINI</vt:lpstr>
      <vt:lpstr>Computing Gini Index of a Single Node</vt:lpstr>
      <vt:lpstr>Gini Index for a Collection of Nodes</vt:lpstr>
      <vt:lpstr>Binary Attributes: Computing GINI Index</vt:lpstr>
      <vt:lpstr>Categorical Attributes: Computing Gini Index</vt:lpstr>
      <vt:lpstr>Continuous Attributes: Computing Gini Index</vt:lpstr>
      <vt:lpstr>Continuous Attributes: Computing Gini Index...</vt:lpstr>
      <vt:lpstr>Continuous Attributes: Computing Gini Index...</vt:lpstr>
      <vt:lpstr>Continuous Attributes: Computing Gini Index...</vt:lpstr>
      <vt:lpstr>Continuous Attributes: Computing Gini Index...</vt:lpstr>
      <vt:lpstr>Continuous Attributes: Computing Gini Index...</vt:lpstr>
      <vt:lpstr>Measure of Impurity: Entropy</vt:lpstr>
      <vt:lpstr>Computing Entropy of a Single Node</vt:lpstr>
      <vt:lpstr>Computing Entropy of a Single Node</vt:lpstr>
      <vt:lpstr>Computing Information Gain After Splitting</vt:lpstr>
      <vt:lpstr>Problem with large number of partitions</vt:lpstr>
      <vt:lpstr>Solution</vt:lpstr>
      <vt:lpstr>Gain Ratio</vt:lpstr>
      <vt:lpstr>Gain Ratio</vt:lpstr>
      <vt:lpstr>Measure of Impurity: Classification Error</vt:lpstr>
      <vt:lpstr>Computing Error of a Single Node</vt:lpstr>
      <vt:lpstr>Comparison among Impurity Measures</vt:lpstr>
      <vt:lpstr>Misclassification Error vs Gini Index</vt:lpstr>
      <vt:lpstr>Misclassification Error vs Gini Index</vt:lpstr>
      <vt:lpstr>Stopping Criteria for Tree Induction</vt:lpstr>
      <vt:lpstr>Algorithms: ID3, C4.5, C5.0, CART </vt:lpstr>
      <vt:lpstr>Advantages of Decision Tree</vt:lpstr>
      <vt:lpstr>Decision Boundary</vt:lpstr>
      <vt:lpstr>Oblique Decision Trees</vt:lpstr>
      <vt:lpstr>Limitations of single attribute-based decision boundaries</vt:lpstr>
      <vt:lpstr>Practical Issues of Classification</vt:lpstr>
      <vt:lpstr>Classification Errors</vt:lpstr>
      <vt:lpstr>Underfitting and Overfitting</vt:lpstr>
      <vt:lpstr>Example Data Set</vt:lpstr>
      <vt:lpstr>Increasing number of nodes in Decision Trees</vt:lpstr>
      <vt:lpstr>Decision Tree with 4 nodes</vt:lpstr>
      <vt:lpstr>Decision Tree with 50 nodes</vt:lpstr>
      <vt:lpstr>Which tree is better?</vt:lpstr>
      <vt:lpstr>Model Overfitting</vt:lpstr>
      <vt:lpstr>Model Overfitting</vt:lpstr>
      <vt:lpstr>Model Overfitting</vt:lpstr>
      <vt:lpstr>Overfitting due to Insufficient Examples</vt:lpstr>
      <vt:lpstr>Overfitting due to Noise </vt:lpstr>
      <vt:lpstr>Notes on Overfitting</vt:lpstr>
      <vt:lpstr>Model Selection</vt:lpstr>
      <vt:lpstr>Model Selection Using Validation Set</vt:lpstr>
      <vt:lpstr>Data Partitioning</vt:lpstr>
      <vt:lpstr>Model Selection Incorporating Model Complexity</vt:lpstr>
      <vt:lpstr>Estimating Generalization Errors</vt:lpstr>
      <vt:lpstr>Estimating the Complexity of Decision Trees</vt:lpstr>
      <vt:lpstr>Estimating the Complexity of Decision Trees: Example</vt:lpstr>
      <vt:lpstr>Estimating the Complexity of Decision Trees</vt:lpstr>
      <vt:lpstr>Occam’s Razor</vt:lpstr>
      <vt:lpstr>Minimum Description Length (MDL)</vt:lpstr>
      <vt:lpstr>Estimating Statistical Bounds</vt:lpstr>
      <vt:lpstr>How to Address Overfitting…</vt:lpstr>
      <vt:lpstr>How to Address Overfitting…</vt:lpstr>
      <vt:lpstr>Example of Post-Pruning</vt:lpstr>
      <vt:lpstr>References</vt:lpstr>
      <vt:lpstr>Home work</vt:lpstr>
      <vt:lpstr>Home work</vt:lpstr>
      <vt:lpstr>Home work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Costabello, Luca</dc:creator>
  <cp:lastModifiedBy>FG-ITALY</cp:lastModifiedBy>
  <cp:revision>506</cp:revision>
  <cp:lastPrinted>2019-01-27T07:43:21Z</cp:lastPrinted>
  <dcterms:created xsi:type="dcterms:W3CDTF">2018-12-18T18:14:00Z</dcterms:created>
  <dcterms:modified xsi:type="dcterms:W3CDTF">2026-04-13T12:46:55Z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0x010100BB2F56ABDEDC3044B30E8C8676A91964</vt:lpwstr>
  </property>
</Properties>
</file>