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1166" r:id="rId2"/>
    <p:sldId id="1180" r:id="rId3"/>
    <p:sldId id="1189" r:id="rId4"/>
    <p:sldId id="1191" r:id="rId5"/>
    <p:sldId id="1192" r:id="rId6"/>
    <p:sldId id="1193" r:id="rId7"/>
    <p:sldId id="1194" r:id="rId8"/>
    <p:sldId id="1195" r:id="rId9"/>
    <p:sldId id="1196" r:id="rId10"/>
    <p:sldId id="1197" r:id="rId11"/>
    <p:sldId id="1198" r:id="rId12"/>
    <p:sldId id="1199" r:id="rId13"/>
    <p:sldId id="1200" r:id="rId14"/>
    <p:sldId id="1181" r:id="rId15"/>
    <p:sldId id="1188" r:id="rId16"/>
    <p:sldId id="1167" r:id="rId17"/>
    <p:sldId id="1177" r:id="rId18"/>
    <p:sldId id="1178" r:id="rId19"/>
    <p:sldId id="1179" r:id="rId20"/>
    <p:sldId id="1201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86395" autoAdjust="0"/>
  </p:normalViewPr>
  <p:slideViewPr>
    <p:cSldViewPr snapToGrid="0" snapToObjects="1">
      <p:cViewPr varScale="1">
        <p:scale>
          <a:sx n="105" d="100"/>
          <a:sy n="105" d="100"/>
        </p:scale>
        <p:origin x="72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382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11044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8051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642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Explainable-AI</a:t>
            </a:r>
            <a:r>
              <a:rPr lang="en-US" dirty="0"/>
              <a:t> explores and investigates methods to produce or complement </a:t>
            </a:r>
            <a:r>
              <a:rPr lang="en-US" b="1" dirty="0"/>
              <a:t>AI models </a:t>
            </a:r>
            <a:r>
              <a:rPr lang="en-US" dirty="0"/>
              <a:t>to make </a:t>
            </a:r>
            <a:r>
              <a:rPr lang="en-US" b="1" dirty="0"/>
              <a:t>accessible and interpretable </a:t>
            </a:r>
            <a:r>
              <a:rPr lang="en-US" dirty="0"/>
              <a:t>the internal logic and the outcome of the algorithms, making such process </a:t>
            </a:r>
            <a:r>
              <a:rPr lang="en-US" b="1" dirty="0"/>
              <a:t>understandable by humans</a:t>
            </a:r>
            <a:r>
              <a:rPr lang="en-US" dirty="0"/>
              <a:t>.</a:t>
            </a:r>
          </a:p>
          <a:p>
            <a:r>
              <a:rPr lang="en-US" b="1" dirty="0"/>
              <a:t>Explicability</a:t>
            </a:r>
            <a:r>
              <a:rPr lang="en-US" dirty="0"/>
              <a:t>, understood as incorporating both </a:t>
            </a:r>
            <a:r>
              <a:rPr lang="en-US" b="1" dirty="0"/>
              <a:t>intelligibility</a:t>
            </a:r>
            <a:r>
              <a:rPr lang="en-US" dirty="0"/>
              <a:t> </a:t>
            </a:r>
            <a:r>
              <a:rPr lang="en-US" i="1" dirty="0"/>
              <a:t>(“how does it work?”) </a:t>
            </a:r>
            <a:r>
              <a:rPr lang="en-US" dirty="0"/>
              <a:t>for non-experts, e.g., patients or business customers, and for experts, e.g., product designers or engineers) and </a:t>
            </a:r>
            <a:r>
              <a:rPr lang="en-US" b="1" dirty="0"/>
              <a:t>accountability</a:t>
            </a:r>
            <a:r>
              <a:rPr lang="en-US" dirty="0"/>
              <a:t> (</a:t>
            </a:r>
            <a:r>
              <a:rPr lang="en-US" i="1" dirty="0"/>
              <a:t>“who is responsible for”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8143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21/04/26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21/04/26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07" y="2176424"/>
            <a:ext cx="10693993" cy="226180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9193"/>
                </a:solidFill>
              </a:rPr>
              <a:t>D</a:t>
            </a:r>
            <a:r>
              <a:rPr lang="en-US" b="1" dirty="0"/>
              <a:t>ATA</a:t>
            </a:r>
            <a:r>
              <a:rPr lang="en-US" b="1" dirty="0">
                <a:solidFill>
                  <a:srgbClr val="00FB92"/>
                </a:solidFill>
              </a:rPr>
              <a:t>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INING </a:t>
            </a:r>
            <a:r>
              <a:rPr lang="en-US" b="1" dirty="0">
                <a:solidFill>
                  <a:srgbClr val="009193"/>
                </a:solidFill>
              </a:rPr>
              <a:t>1</a:t>
            </a:r>
            <a:br>
              <a:rPr lang="en-US" b="1" dirty="0"/>
            </a:br>
            <a:r>
              <a:rPr lang="en-US" b="1" dirty="0"/>
              <a:t>Probabilistic classification</a:t>
            </a:r>
            <a:br>
              <a:rPr lang="en-US" b="1" dirty="0"/>
            </a:br>
            <a:r>
              <a:rPr lang="en-US" sz="4800" b="1" dirty="0"/>
              <a:t>Naïve Bayes Classifiers</a:t>
            </a: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F5693D1-C37C-884D-ABF4-994E895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07" y="4727461"/>
            <a:ext cx="9144000" cy="1776205"/>
          </a:xfrm>
        </p:spPr>
        <p:txBody>
          <a:bodyPr>
            <a:normAutofit lnSpcReduction="1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 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dirty="0" err="1"/>
              <a:t>a.a.</a:t>
            </a:r>
            <a:r>
              <a:rPr lang="en-IE" dirty="0"/>
              <a:t> 2024/2025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1800" dirty="0"/>
              <a:t>Slides edited from Tan, Steinbach, Kumar, Introduction to Data Mining </a:t>
            </a:r>
            <a:r>
              <a:rPr lang="en-US" sz="1800" b="1" dirty="0"/>
              <a:t>(chapter 4 sez. 4)</a:t>
            </a:r>
            <a:endParaRPr lang="en-IE" sz="18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46B49F4-E551-D94E-86E8-3DE45848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086" y="5613359"/>
            <a:ext cx="1226608" cy="1112813"/>
          </a:xfrm>
          <a:prstGeom prst="rect">
            <a:avLst/>
          </a:prstGeom>
        </p:spPr>
      </p:pic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37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98D492-6C44-C54D-92D1-0F1CCA02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Probability Notions and Bayes Theorem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D1FE7A-0804-DF4D-8806-F82950160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A probabilistic framework for solving classification problems.</a:t>
            </a:r>
          </a:p>
          <a:p>
            <a:r>
              <a:rPr lang="en-US" noProof="0" dirty="0"/>
              <a:t>Let </a:t>
            </a:r>
            <a:r>
              <a:rPr lang="en-US" i="1" noProof="0" dirty="0"/>
              <a:t>P</a:t>
            </a:r>
            <a:r>
              <a:rPr lang="en-US" noProof="0" dirty="0"/>
              <a:t> be a probability function that assigns a number between 0 and 1 to events.</a:t>
            </a:r>
          </a:p>
          <a:p>
            <a:r>
              <a:rPr lang="en-US" i="1" noProof="0" dirty="0"/>
              <a:t>X = x </a:t>
            </a:r>
            <a:r>
              <a:rPr lang="en-US" noProof="0" dirty="0"/>
              <a:t>an events is happening.</a:t>
            </a:r>
          </a:p>
          <a:p>
            <a:r>
              <a:rPr lang="en-US" i="1" noProof="0" dirty="0"/>
              <a:t>P(X = x) </a:t>
            </a:r>
            <a:r>
              <a:rPr lang="en-US" noProof="0" dirty="0"/>
              <a:t>is the probability that events </a:t>
            </a:r>
            <a:r>
              <a:rPr lang="en-US" i="1" noProof="0" dirty="0"/>
              <a:t>X = x</a:t>
            </a:r>
            <a:r>
              <a:rPr lang="en-US" noProof="0" dirty="0"/>
              <a:t>.</a:t>
            </a:r>
          </a:p>
          <a:p>
            <a:r>
              <a:rPr lang="en-US" noProof="0" dirty="0"/>
              <a:t>Joint Probability </a:t>
            </a:r>
            <a:r>
              <a:rPr lang="en-US" i="1" noProof="0" dirty="0"/>
              <a:t>P(X = x, Y = y)</a:t>
            </a:r>
          </a:p>
          <a:p>
            <a:r>
              <a:rPr lang="en-US" noProof="0" dirty="0"/>
              <a:t>Conditional Probability </a:t>
            </a:r>
            <a:r>
              <a:rPr lang="en-US" i="1" noProof="0" dirty="0"/>
              <a:t>P(Y = y | X = x) </a:t>
            </a:r>
            <a:r>
              <a:rPr lang="en-US" i="1" dirty="0"/>
              <a:t>= P(X,Y)/ P(X) </a:t>
            </a:r>
            <a:endParaRPr lang="en-US" i="1" noProof="0" dirty="0"/>
          </a:p>
          <a:p>
            <a:r>
              <a:rPr lang="en-US" i="1" noProof="0" dirty="0">
                <a:solidFill>
                  <a:srgbClr val="FF0000"/>
                </a:solidFill>
              </a:rPr>
              <a:t>Notice that: P(X,Y) = P(Y|X) P(X) = P(X|Y) P(Y)</a:t>
            </a:r>
          </a:p>
          <a:p>
            <a:r>
              <a:rPr lang="en-US" noProof="0" dirty="0"/>
              <a:t>Bayes Theorem: </a:t>
            </a:r>
            <a:r>
              <a:rPr lang="en-US" i="1" noProof="0" dirty="0"/>
              <a:t>P(Y|X) = P(X|Y)P(Y) / P(X)</a:t>
            </a:r>
          </a:p>
          <a:p>
            <a:r>
              <a:rPr lang="en-US" dirty="0"/>
              <a:t>Another Useful Property: </a:t>
            </a:r>
            <a:r>
              <a:rPr lang="en-US" i="1" dirty="0"/>
              <a:t>P(X =x) = P(X=x, Y=0) + P(X=x, Y=1)</a:t>
            </a:r>
            <a:endParaRPr lang="en-US" i="1" noProof="0" dirty="0"/>
          </a:p>
        </p:txBody>
      </p:sp>
    </p:spTree>
    <p:extLst>
      <p:ext uri="{BB962C8B-B14F-4D97-AF65-F5344CB8AC3E}">
        <p14:creationId xmlns:p14="http://schemas.microsoft.com/office/powerpoint/2010/main" val="385740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4BFE2D-0300-674C-B1C3-8BE49786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Bayes Theorem: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E96B04-199C-EA41-9310-72B160A4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Consider a football game. </a:t>
            </a:r>
          </a:p>
          <a:p>
            <a:pPr lvl="1"/>
            <a:r>
              <a:rPr lang="en-US" noProof="0" dirty="0">
                <a:solidFill>
                  <a:srgbClr val="FF0000"/>
                </a:solidFill>
              </a:rPr>
              <a:t>Team 0 wins 65% of the time, </a:t>
            </a:r>
          </a:p>
          <a:p>
            <a:pPr lvl="1"/>
            <a:r>
              <a:rPr lang="en-US" noProof="0" dirty="0">
                <a:solidFill>
                  <a:srgbClr val="FF0000"/>
                </a:solidFill>
              </a:rPr>
              <a:t>Team 1 the remaining 35%. </a:t>
            </a:r>
          </a:p>
          <a:p>
            <a:pPr lvl="1"/>
            <a:r>
              <a:rPr lang="en-US" noProof="0" dirty="0">
                <a:solidFill>
                  <a:srgbClr val="FF0000"/>
                </a:solidFill>
              </a:rPr>
              <a:t>Among the game won by Team 1, 75% of them are won playing at home. </a:t>
            </a:r>
          </a:p>
          <a:p>
            <a:pPr lvl="1"/>
            <a:r>
              <a:rPr lang="en-US" noProof="0" dirty="0">
                <a:solidFill>
                  <a:srgbClr val="FF0000"/>
                </a:solidFill>
              </a:rPr>
              <a:t>Among the games won by Team 0, 30% of them are won at Team 1’s field.</a:t>
            </a:r>
          </a:p>
          <a:p>
            <a:r>
              <a:rPr lang="en-US" noProof="0" dirty="0"/>
              <a:t>If Team 1 is hosting the next match, which team will most likely win?</a:t>
            </a:r>
          </a:p>
          <a:p>
            <a:r>
              <a:rPr lang="en-US" noProof="0" dirty="0"/>
              <a:t>Team 0 wins: P(Y = 0) = 0.65</a:t>
            </a:r>
          </a:p>
          <a:p>
            <a:r>
              <a:rPr lang="en-US" noProof="0" dirty="0"/>
              <a:t>Team 1 wins: P(Y = 1) = 0.35</a:t>
            </a:r>
          </a:p>
          <a:p>
            <a:r>
              <a:rPr lang="en-US" noProof="0" dirty="0"/>
              <a:t>Team 1 hosted the match won by Team 1: P(X = 1|Y = 1) = 0.75</a:t>
            </a:r>
          </a:p>
          <a:p>
            <a:r>
              <a:rPr lang="en-US" noProof="0" dirty="0"/>
              <a:t>Team 1 hosted the match won by Team 0: P(X = 1|Y = 0) = 0.30</a:t>
            </a:r>
          </a:p>
          <a:p>
            <a:r>
              <a:rPr lang="en-US" noProof="0" dirty="0"/>
              <a:t>Objective P(Y = 1|X = 1)</a:t>
            </a:r>
          </a:p>
          <a:p>
            <a:pPr marL="0" indent="0">
              <a:buNone/>
            </a:pP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974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72A207-EB71-1845-B08E-88B196ED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Bayes Theorem: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9DE99A-B99C-E942-ADF9-112629A26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P(Y = 1|X = 1) = P(X = 1|Y = 1)P(Y = 1) / P(X = 1) =</a:t>
            </a:r>
          </a:p>
          <a:p>
            <a:r>
              <a:rPr lang="en-US" noProof="0" dirty="0"/>
              <a:t>   = 0.75 x 0.35 / (P(X = 1, Y = 1) + P(X = 1, Y = 0))</a:t>
            </a:r>
          </a:p>
          <a:p>
            <a:r>
              <a:rPr lang="en-US" noProof="0" dirty="0"/>
              <a:t>   = 0.75 x 0.35 / (P(X = 1|Y = 1)P(Y=1) + P(X = 1|Y = 0)P(Y=0))</a:t>
            </a:r>
          </a:p>
          <a:p>
            <a:r>
              <a:rPr lang="en-US" noProof="0" dirty="0"/>
              <a:t>   = 0.75 x 0.35 / (0.75 x 0.35 + 0.30 x 0.65)</a:t>
            </a:r>
          </a:p>
          <a:p>
            <a:r>
              <a:rPr lang="en-US" noProof="0" dirty="0"/>
              <a:t>   = 0.5738</a:t>
            </a:r>
          </a:p>
          <a:p>
            <a:endParaRPr lang="en-US" noProof="0" dirty="0"/>
          </a:p>
          <a:p>
            <a:r>
              <a:rPr lang="en-US" noProof="0" dirty="0"/>
              <a:t>Therefore Team 1 has a better chance to win the match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06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6307E5-2B78-EE40-8CA8-975A7C94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Bayes Theorem for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BE8FE18-BFDA-8240-A650-7E7510662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noProof="0" dirty="0"/>
                  <a:t>X</a:t>
                </a:r>
                <a:r>
                  <a:rPr lang="en-US" noProof="0" dirty="0"/>
                  <a:t> denotes the attribute sets, </a:t>
                </a:r>
                <a:r>
                  <a:rPr lang="en-US" i="1" noProof="0" dirty="0"/>
                  <a:t>X = {X</a:t>
                </a:r>
                <a:r>
                  <a:rPr lang="en-US" i="1" baseline="-25000" noProof="0" dirty="0"/>
                  <a:t>1</a:t>
                </a:r>
                <a:r>
                  <a:rPr lang="en-US" i="1" noProof="0" dirty="0"/>
                  <a:t>, X</a:t>
                </a:r>
                <a:r>
                  <a:rPr lang="en-US" i="1" baseline="-25000" noProof="0" dirty="0"/>
                  <a:t>2</a:t>
                </a:r>
                <a:r>
                  <a:rPr lang="en-US" i="1" noProof="0" dirty="0"/>
                  <a:t>, … </a:t>
                </a:r>
                <a:r>
                  <a:rPr lang="en-US" i="1" noProof="0" dirty="0" err="1"/>
                  <a:t>X</a:t>
                </a:r>
                <a:r>
                  <a:rPr lang="en-US" i="1" baseline="-25000" noProof="0" dirty="0" err="1"/>
                  <a:t>d</a:t>
                </a:r>
                <a:r>
                  <a:rPr lang="en-US" i="1" noProof="0" dirty="0"/>
                  <a:t>}</a:t>
                </a:r>
                <a:endParaRPr lang="en-US" i="1" baseline="-25000" noProof="0" dirty="0"/>
              </a:p>
              <a:p>
                <a:r>
                  <a:rPr lang="en-US" i="1" noProof="0" dirty="0"/>
                  <a:t>Y</a:t>
                </a:r>
                <a:r>
                  <a:rPr lang="en-US" noProof="0" dirty="0"/>
                  <a:t> denotes the class variable</a:t>
                </a:r>
              </a:p>
              <a:p>
                <a:r>
                  <a:rPr lang="en-US" noProof="0" dirty="0"/>
                  <a:t>We treat the relationship probabilistically using </a:t>
                </a:r>
                <a:r>
                  <a:rPr lang="en-US" i="1" noProof="0" dirty="0"/>
                  <a:t>P(Y|X)</a:t>
                </a:r>
              </a:p>
              <a:p>
                <a:endParaRPr lang="en-US" noProof="0" dirty="0"/>
              </a:p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noProof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BE8FE18-BFDA-8240-A650-7E7510662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141326-4C88-474E-BA2A-34F98AA8188F}"/>
              </a:ext>
            </a:extLst>
          </p:cNvPr>
          <p:cNvSpPr txBox="1"/>
          <p:nvPr/>
        </p:nvSpPr>
        <p:spPr>
          <a:xfrm>
            <a:off x="1051560" y="5314950"/>
            <a:ext cx="1195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Posterior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Probability</a:t>
            </a:r>
            <a:endParaRPr lang="it-IT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40D003DB-AFEF-004A-8DC3-F63146522AF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649384" y="4537710"/>
            <a:ext cx="133696" cy="777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6C8708-E230-624A-9062-192F6A469665}"/>
              </a:ext>
            </a:extLst>
          </p:cNvPr>
          <p:cNvSpPr txBox="1"/>
          <p:nvPr/>
        </p:nvSpPr>
        <p:spPr>
          <a:xfrm>
            <a:off x="4466012" y="3338076"/>
            <a:ext cx="1195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Prior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Probability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2E68E1F-F806-594C-AEE9-BFCB3EB7EAA0}"/>
              </a:ext>
            </a:extLst>
          </p:cNvPr>
          <p:cNvSpPr txBox="1"/>
          <p:nvPr/>
        </p:nvSpPr>
        <p:spPr>
          <a:xfrm>
            <a:off x="1940128" y="3354963"/>
            <a:ext cx="1140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Likelihood</a:t>
            </a:r>
            <a:endParaRPr lang="it-IT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DC397E-3D2C-A745-B2E5-3FC36ACE13DC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510445" y="3724295"/>
            <a:ext cx="907125" cy="1504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F6E8049-34EA-D642-A384-7FAC924A7B3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4297680" y="3984407"/>
            <a:ext cx="766156" cy="1285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2AAD06-81D1-2144-B48E-9C1BF6ADBAB9}"/>
              </a:ext>
            </a:extLst>
          </p:cNvPr>
          <p:cNvCxnSpPr>
            <a:cxnSpLocks/>
          </p:cNvCxnSpPr>
          <p:nvPr/>
        </p:nvCxnSpPr>
        <p:spPr>
          <a:xfrm flipH="1" flipV="1">
            <a:off x="3657600" y="4652010"/>
            <a:ext cx="331470" cy="5600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4FD6B08-7857-D842-B3E1-28C5A28EE819}"/>
              </a:ext>
            </a:extLst>
          </p:cNvPr>
          <p:cNvSpPr txBox="1"/>
          <p:nvPr/>
        </p:nvSpPr>
        <p:spPr>
          <a:xfrm>
            <a:off x="2551506" y="5272355"/>
            <a:ext cx="2927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Evidence</a:t>
            </a:r>
            <a:endParaRPr lang="it-IT" dirty="0"/>
          </a:p>
          <a:p>
            <a:pPr algn="ctr"/>
            <a:r>
              <a:rPr lang="it-IT" dirty="0"/>
              <a:t>(sum over alternative </a:t>
            </a:r>
            <a:r>
              <a:rPr lang="it-IT" dirty="0" err="1"/>
              <a:t>events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031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EF1262-0716-1146-8764-FF2CBDFD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Bayes Theorem for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A3BD84-F1E0-F84E-A32D-6311F3712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Learn the posterior </a:t>
            </a:r>
            <a:r>
              <a:rPr lang="en-US" i="1" noProof="0" dirty="0"/>
              <a:t>P(Y | X) </a:t>
            </a:r>
            <a:r>
              <a:rPr lang="en-US" noProof="0" dirty="0"/>
              <a:t>for every combination of </a:t>
            </a:r>
            <a:r>
              <a:rPr lang="en-US" i="1" noProof="0" dirty="0"/>
              <a:t>X</a:t>
            </a:r>
            <a:r>
              <a:rPr lang="en-US" noProof="0" dirty="0"/>
              <a:t> and </a:t>
            </a:r>
            <a:r>
              <a:rPr lang="en-US" i="1" noProof="0" dirty="0"/>
              <a:t>Y</a:t>
            </a:r>
            <a:r>
              <a:rPr lang="en-US" noProof="0" dirty="0"/>
              <a:t>.</a:t>
            </a:r>
          </a:p>
          <a:p>
            <a:r>
              <a:rPr lang="en-US" noProof="0" dirty="0"/>
              <a:t>By knowing these probabilities, a test record </a:t>
            </a:r>
            <a:r>
              <a:rPr lang="en-US" i="1" noProof="0" dirty="0"/>
              <a:t>X’</a:t>
            </a:r>
            <a:r>
              <a:rPr lang="en-US" noProof="0" dirty="0"/>
              <a:t> can be classified by finding the class </a:t>
            </a:r>
            <a:r>
              <a:rPr lang="en-US" i="1" noProof="0" dirty="0"/>
              <a:t>Y’</a:t>
            </a:r>
            <a:r>
              <a:rPr lang="en-US" noProof="0" dirty="0"/>
              <a:t> that maximizes the posterior probability </a:t>
            </a:r>
            <a:r>
              <a:rPr lang="en-US" i="1" noProof="0" dirty="0"/>
              <a:t>P(Y’|X’)</a:t>
            </a:r>
            <a:r>
              <a:rPr lang="en-US" noProof="0" dirty="0"/>
              <a:t>.</a:t>
            </a:r>
          </a:p>
          <a:p>
            <a:r>
              <a:rPr lang="en-US" noProof="0" dirty="0"/>
              <a:t>This is equivalent of choosing the value of </a:t>
            </a:r>
            <a:r>
              <a:rPr lang="en-US" i="1" noProof="0" dirty="0"/>
              <a:t>Y’</a:t>
            </a:r>
            <a:r>
              <a:rPr lang="en-US" noProof="0" dirty="0"/>
              <a:t> that maximizes </a:t>
            </a:r>
            <a:r>
              <a:rPr lang="en-US" i="1" noProof="0" dirty="0"/>
              <a:t>P(X’|Y’)P(Y’).</a:t>
            </a:r>
          </a:p>
          <a:p>
            <a:r>
              <a:rPr lang="en-US" noProof="0" dirty="0"/>
              <a:t>How to estimate it?</a:t>
            </a:r>
          </a:p>
        </p:txBody>
      </p:sp>
    </p:spTree>
    <p:extLst>
      <p:ext uri="{BB962C8B-B14F-4D97-AF65-F5344CB8AC3E}">
        <p14:creationId xmlns:p14="http://schemas.microsoft.com/office/powerpoint/2010/main" val="52601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AD85DE-25AE-744A-9C5D-DA8AAA12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Naïve 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3E20FC9-4632-3244-B7EF-9F34B5577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 dirty="0"/>
                  <a:t>It estimates the class-conditional probability by </a:t>
                </a:r>
                <a:r>
                  <a:rPr lang="en-US" b="1" i="1" noProof="0" dirty="0"/>
                  <a:t>assuming that the attributes are conditionally independent</a:t>
                </a:r>
                <a:r>
                  <a:rPr lang="en-US" noProof="0" dirty="0"/>
                  <a:t> given the class label </a:t>
                </a:r>
                <a:r>
                  <a:rPr lang="en-US" i="1" noProof="0" dirty="0"/>
                  <a:t>y</a:t>
                </a:r>
                <a:r>
                  <a:rPr lang="en-US" noProof="0" dirty="0"/>
                  <a:t>.</a:t>
                </a:r>
              </a:p>
              <a:p>
                <a:r>
                  <a:rPr lang="en-US" noProof="0" dirty="0"/>
                  <a:t>The conditional independence is stated as:</a:t>
                </a:r>
              </a:p>
              <a:p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noProof="0" dirty="0"/>
                  <a:t> </a:t>
                </a:r>
              </a:p>
              <a:p>
                <a:r>
                  <a:rPr lang="en-US" noProof="0" dirty="0"/>
                  <a:t>where each attribute set </a:t>
                </a:r>
                <a:r>
                  <a:rPr lang="en-US" i="1" noProof="0" dirty="0"/>
                  <a:t>X = {X</a:t>
                </a:r>
                <a:r>
                  <a:rPr lang="en-US" i="1" baseline="-25000" noProof="0" dirty="0"/>
                  <a:t>1</a:t>
                </a:r>
                <a:r>
                  <a:rPr lang="en-US" i="1" noProof="0" dirty="0"/>
                  <a:t>, X</a:t>
                </a:r>
                <a:r>
                  <a:rPr lang="en-US" i="1" baseline="-25000" noProof="0" dirty="0"/>
                  <a:t>2</a:t>
                </a:r>
                <a:r>
                  <a:rPr lang="en-US" i="1" noProof="0" dirty="0"/>
                  <a:t>, … </a:t>
                </a:r>
                <a:r>
                  <a:rPr lang="en-US" i="1" noProof="0" dirty="0" err="1"/>
                  <a:t>X</a:t>
                </a:r>
                <a:r>
                  <a:rPr lang="en-US" i="1" baseline="-25000" noProof="0" dirty="0" err="1"/>
                  <a:t>d</a:t>
                </a:r>
                <a:r>
                  <a:rPr lang="en-US" i="1" noProof="0" dirty="0"/>
                  <a:t>}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3E20FC9-4632-3244-B7EF-9F34B5577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67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E5BBED-B665-8848-9475-FA0CED72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Conditional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9375E0D-D403-0F4C-931B-C01100A7A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noProof="0" dirty="0"/>
                  <a:t>Given three variables </a:t>
                </a:r>
                <a:r>
                  <a:rPr lang="en-US" i="1" noProof="0" dirty="0"/>
                  <a:t>Y, X</a:t>
                </a:r>
                <a:r>
                  <a:rPr lang="en-US" i="1" baseline="-25000" noProof="0" dirty="0"/>
                  <a:t>1</a:t>
                </a:r>
                <a:r>
                  <a:rPr lang="en-US" i="1" noProof="0" dirty="0"/>
                  <a:t>, X</a:t>
                </a:r>
                <a:r>
                  <a:rPr lang="en-US" i="1" baseline="-25000" noProof="0" dirty="0"/>
                  <a:t>2</a:t>
                </a:r>
                <a:r>
                  <a:rPr lang="en-US" i="1" noProof="0" dirty="0"/>
                  <a:t> </a:t>
                </a:r>
                <a:r>
                  <a:rPr lang="en-US" noProof="0" dirty="0"/>
                  <a:t>we can say that </a:t>
                </a:r>
                <a:r>
                  <a:rPr lang="en-US" i="1" noProof="0" dirty="0"/>
                  <a:t>Y</a:t>
                </a:r>
                <a:r>
                  <a:rPr lang="en-US" noProof="0" dirty="0"/>
                  <a:t> is independent from </a:t>
                </a:r>
                <a:r>
                  <a:rPr lang="en-US" i="1" noProof="0" dirty="0"/>
                  <a:t>X</a:t>
                </a:r>
                <a:r>
                  <a:rPr lang="en-US" i="1" baseline="-25000" noProof="0" dirty="0"/>
                  <a:t>1</a:t>
                </a:r>
                <a:r>
                  <a:rPr lang="en-US" noProof="0" dirty="0"/>
                  <a:t> given </a:t>
                </a:r>
                <a:r>
                  <a:rPr lang="en-US" i="1" noProof="0" dirty="0"/>
                  <a:t>X</a:t>
                </a:r>
                <a:r>
                  <a:rPr lang="en-US" i="1" baseline="-25000" noProof="0" dirty="0"/>
                  <a:t>2</a:t>
                </a:r>
                <a:r>
                  <a:rPr lang="en-US" noProof="0" dirty="0"/>
                  <a:t> if the following condition holds:</a:t>
                </a:r>
              </a:p>
              <a:p>
                <a:r>
                  <a:rPr lang="en-US" i="1" noProof="0" dirty="0"/>
                  <a:t>P(Y | X</a:t>
                </a:r>
                <a:r>
                  <a:rPr lang="en-US" i="1" baseline="-25000" noProof="0" dirty="0"/>
                  <a:t>1</a:t>
                </a:r>
                <a:r>
                  <a:rPr lang="en-US" i="1" noProof="0" dirty="0"/>
                  <a:t>, X</a:t>
                </a:r>
                <a:r>
                  <a:rPr lang="en-US" i="1" baseline="-25000" noProof="0" dirty="0"/>
                  <a:t>2</a:t>
                </a:r>
                <a:r>
                  <a:rPr lang="en-US" i="1" noProof="0" dirty="0"/>
                  <a:t>) = P(Y|X</a:t>
                </a:r>
                <a:r>
                  <a:rPr lang="en-US" i="1" baseline="-25000" noProof="0" dirty="0"/>
                  <a:t>2</a:t>
                </a:r>
                <a:r>
                  <a:rPr lang="en-US" i="1" noProof="0" dirty="0"/>
                  <a:t>)</a:t>
                </a:r>
              </a:p>
              <a:p>
                <a:endParaRPr lang="en-US" noProof="0" dirty="0"/>
              </a:p>
              <a:p>
                <a:r>
                  <a:rPr lang="en-US" noProof="0" dirty="0"/>
                  <a:t>With the conditional independence assumption, instead of computing the class-conditional probability for every combination of </a:t>
                </a:r>
                <a:r>
                  <a:rPr lang="en-US" i="1" noProof="0" dirty="0"/>
                  <a:t>X</a:t>
                </a:r>
                <a:r>
                  <a:rPr lang="en-US" noProof="0" dirty="0"/>
                  <a:t> we only have to estimate the conditional probability of each </a:t>
                </a:r>
                <a:r>
                  <a:rPr lang="en-US" i="1" noProof="0" dirty="0"/>
                  <a:t>X</a:t>
                </a:r>
                <a:r>
                  <a:rPr lang="en-US" i="1" baseline="-25000" noProof="0" dirty="0"/>
                  <a:t>i</a:t>
                </a:r>
                <a:r>
                  <a:rPr lang="en-US" noProof="0" dirty="0"/>
                  <a:t> given </a:t>
                </a:r>
                <a:r>
                  <a:rPr lang="en-US" i="1" noProof="0" dirty="0"/>
                  <a:t>Y</a:t>
                </a:r>
                <a:r>
                  <a:rPr lang="en-US" noProof="0" dirty="0"/>
                  <a:t>.</a:t>
                </a:r>
              </a:p>
              <a:p>
                <a:r>
                  <a:rPr lang="en-US" noProof="0" dirty="0"/>
                  <a:t>Thus, to classify a record the naive Bayes classifier computes the posterior for each class </a:t>
                </a:r>
                <a:r>
                  <a:rPr lang="en-US" i="1" noProof="0" dirty="0"/>
                  <a:t>Y </a:t>
                </a:r>
                <a:r>
                  <a:rPr lang="en-US" noProof="0" dirty="0"/>
                  <a:t>and takes the maximum class as result</a:t>
                </a:r>
              </a:p>
              <a:p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nary>
                      <m:naryPr>
                        <m:chr m:val="∏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9375E0D-D403-0F4C-931B-C01100A7A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809" b="-20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o 7">
            <a:extLst>
              <a:ext uri="{FF2B5EF4-FFF2-40B4-BE49-F238E27FC236}">
                <a16:creationId xmlns:a16="http://schemas.microsoft.com/office/drawing/2014/main" id="{DB6F8A89-D190-664F-B031-1292555BC3C0}"/>
              </a:ext>
            </a:extLst>
          </p:cNvPr>
          <p:cNvGrpSpPr/>
          <p:nvPr/>
        </p:nvGrpSpPr>
        <p:grpSpPr>
          <a:xfrm>
            <a:off x="5377069" y="5976869"/>
            <a:ext cx="1892762" cy="687108"/>
            <a:chOff x="5377069" y="5976869"/>
            <a:chExt cx="1892762" cy="687108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CA8FF8A7-FDDD-214B-8959-B3CEC4F6A36B}"/>
                </a:ext>
              </a:extLst>
            </p:cNvPr>
            <p:cNvSpPr txBox="1"/>
            <p:nvPr/>
          </p:nvSpPr>
          <p:spPr>
            <a:xfrm>
              <a:off x="5377069" y="6294645"/>
              <a:ext cx="1892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How to estimate ?</a:t>
              </a:r>
            </a:p>
          </p:txBody>
        </p:sp>
        <p:cxnSp>
          <p:nvCxnSpPr>
            <p:cNvPr id="6" name="Connettore 2 5">
              <a:extLst>
                <a:ext uri="{FF2B5EF4-FFF2-40B4-BE49-F238E27FC236}">
                  <a16:creationId xmlns:a16="http://schemas.microsoft.com/office/drawing/2014/main" id="{C126DA3C-0061-914B-B974-33D423F25C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6096" y="5976869"/>
              <a:ext cx="559904" cy="3177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11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43E2E-8D72-0E44-9DB6-B615331D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Estimate Probability From 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23B550-FB72-894F-A9D5-9490939E9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4100" cy="4351338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Class P(Y) = N</a:t>
            </a:r>
            <a:r>
              <a:rPr lang="en-US" baseline="-25000" noProof="0" dirty="0"/>
              <a:t>y</a:t>
            </a:r>
            <a:r>
              <a:rPr lang="en-US" noProof="0" dirty="0"/>
              <a:t>/ N</a:t>
            </a:r>
          </a:p>
          <a:p>
            <a:r>
              <a:rPr lang="en-US" noProof="0" dirty="0"/>
              <a:t>N</a:t>
            </a:r>
            <a:r>
              <a:rPr lang="en-US" baseline="-25000" noProof="0" dirty="0"/>
              <a:t>y </a:t>
            </a:r>
            <a:r>
              <a:rPr lang="en-US" noProof="0" dirty="0"/>
              <a:t>number of records with outcome y</a:t>
            </a:r>
          </a:p>
          <a:p>
            <a:r>
              <a:rPr lang="en-US" noProof="0" dirty="0"/>
              <a:t>N number of records</a:t>
            </a:r>
          </a:p>
          <a:p>
            <a:r>
              <a:rPr lang="en-US" noProof="0" dirty="0"/>
              <a:t>Categorical attributes </a:t>
            </a:r>
          </a:p>
          <a:p>
            <a:r>
              <a:rPr lang="en-US" noProof="0" dirty="0"/>
              <a:t>P(X = x | Y = y) = </a:t>
            </a:r>
            <a:r>
              <a:rPr lang="en-US" noProof="0" dirty="0" err="1"/>
              <a:t>N</a:t>
            </a:r>
            <a:r>
              <a:rPr lang="en-US" baseline="-25000" noProof="0" dirty="0" err="1"/>
              <a:t>xy</a:t>
            </a:r>
            <a:r>
              <a:rPr lang="en-US" noProof="0" dirty="0"/>
              <a:t> / N</a:t>
            </a:r>
            <a:r>
              <a:rPr lang="en-US" baseline="-25000" noProof="0" dirty="0"/>
              <a:t>y</a:t>
            </a:r>
            <a:r>
              <a:rPr lang="en-US" noProof="0" dirty="0"/>
              <a:t> </a:t>
            </a:r>
          </a:p>
          <a:p>
            <a:r>
              <a:rPr lang="en-US" noProof="0" dirty="0" err="1"/>
              <a:t>N</a:t>
            </a:r>
            <a:r>
              <a:rPr lang="en-US" baseline="-25000" noProof="0" dirty="0" err="1"/>
              <a:t>xy</a:t>
            </a:r>
            <a:r>
              <a:rPr lang="en-US" baseline="-25000" noProof="0" dirty="0"/>
              <a:t> </a:t>
            </a:r>
            <a:r>
              <a:rPr lang="en-US" noProof="0" dirty="0"/>
              <a:t>records with value x and outcome y</a:t>
            </a:r>
          </a:p>
          <a:p>
            <a:endParaRPr lang="en-US" noProof="0" dirty="0"/>
          </a:p>
          <a:p>
            <a:r>
              <a:rPr lang="en-US" noProof="0" dirty="0"/>
              <a:t>P(Evade = Yes) = 3/10</a:t>
            </a:r>
          </a:p>
          <a:p>
            <a:r>
              <a:rPr lang="en-US" noProof="0" dirty="0"/>
              <a:t>P(Marital Status = </a:t>
            </a:r>
            <a:r>
              <a:rPr lang="en-US" noProof="0" dirty="0" err="1"/>
              <a:t>Single|Yes</a:t>
            </a:r>
            <a:r>
              <a:rPr lang="en-US" noProof="0" dirty="0"/>
              <a:t>) = 2/3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029E9FE-1268-6848-9028-A95671FB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602" y="1555274"/>
            <a:ext cx="4899062" cy="50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9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A51212-69C8-174E-9D35-4D7E02EC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Estimate Probability From 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1B250C-7F62-5C46-AB58-AE2457FE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/>
              <a:t>Continuous attributes</a:t>
            </a:r>
          </a:p>
          <a:p>
            <a:r>
              <a:rPr lang="en-US" noProof="0" dirty="0"/>
              <a:t>Discretize the range into bins</a:t>
            </a:r>
          </a:p>
          <a:p>
            <a:pPr lvl="1"/>
            <a:r>
              <a:rPr lang="en-US" noProof="0" dirty="0"/>
              <a:t>one ordinal attribute per bin</a:t>
            </a:r>
          </a:p>
          <a:p>
            <a:pPr lvl="1"/>
            <a:r>
              <a:rPr lang="en-US" noProof="0" dirty="0"/>
              <a:t>violates independence assumption</a:t>
            </a:r>
          </a:p>
          <a:p>
            <a:r>
              <a:rPr lang="en-US" noProof="0" dirty="0"/>
              <a:t>Two-way split: (X &lt; v) or (X &gt; v)</a:t>
            </a:r>
          </a:p>
          <a:p>
            <a:pPr lvl="1"/>
            <a:r>
              <a:rPr lang="en-US" noProof="0" dirty="0"/>
              <a:t>choose only one of the two splits as new attribute</a:t>
            </a:r>
          </a:p>
          <a:p>
            <a:r>
              <a:rPr lang="en-US" noProof="0" dirty="0"/>
              <a:t>Probability density estimation:</a:t>
            </a:r>
          </a:p>
          <a:p>
            <a:pPr lvl="1"/>
            <a:r>
              <a:rPr lang="en-US" noProof="0" dirty="0"/>
              <a:t>Assume attribute follows a normal distribution</a:t>
            </a:r>
          </a:p>
          <a:p>
            <a:pPr lvl="1"/>
            <a:r>
              <a:rPr lang="en-US" noProof="0" dirty="0"/>
              <a:t>Use data to estimate parameters of distribution (e.g., mean and standard deviation)</a:t>
            </a:r>
          </a:p>
          <a:p>
            <a:pPr lvl="1"/>
            <a:r>
              <a:rPr lang="en-US" noProof="0" dirty="0"/>
              <a:t>Once probability distribution is known, can use it to estimate the conditional probability P(</a:t>
            </a:r>
            <a:r>
              <a:rPr lang="en-US" noProof="0" dirty="0" err="1"/>
              <a:t>X|y</a:t>
            </a:r>
            <a:r>
              <a:rPr lang="en-US" noProof="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4918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AA1686-84C6-514D-B228-445E6D18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Estimate Probability From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4438431-D192-8E41-9262-00185FF32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59402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noProof="0" dirty="0"/>
                  <a:t>Normal distribution</a:t>
                </a:r>
              </a:p>
              <a:p>
                <a:r>
                  <a:rPr lang="en-US" noProof="0" dirty="0"/>
                  <a:t>P(X</a:t>
                </a:r>
                <a:r>
                  <a:rPr lang="en-US" baseline="-25000" noProof="0" dirty="0"/>
                  <a:t>i</a:t>
                </a:r>
                <a:r>
                  <a:rPr lang="en-US" noProof="0" dirty="0"/>
                  <a:t> = x</a:t>
                </a:r>
                <a:r>
                  <a:rPr lang="en-US" baseline="-25000" noProof="0" dirty="0"/>
                  <a:t>i</a:t>
                </a:r>
                <a:r>
                  <a:rPr lang="en-US" noProof="0" dirty="0"/>
                  <a:t> | Y = y)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</m:oMath>
                </a14:m>
                <a:endParaRPr lang="en-US" noProof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noProof="0" dirty="0"/>
                  <a:t> can be estimated as the mean of X</a:t>
                </a:r>
                <a:r>
                  <a:rPr lang="en-US" baseline="-25000" noProof="0" dirty="0"/>
                  <a:t>i</a:t>
                </a:r>
                <a:r>
                  <a:rPr lang="en-US" noProof="0" dirty="0"/>
                  <a:t> for the records that belongs to class </a:t>
                </a:r>
                <a:r>
                  <a:rPr lang="en-US" noProof="0" dirty="0" err="1"/>
                  <a:t>y</a:t>
                </a:r>
                <a:r>
                  <a:rPr lang="en-US" baseline="-25000" noProof="0" dirty="0" err="1"/>
                  <a:t>j</a:t>
                </a:r>
                <a:r>
                  <a:rPr lang="en-US" baseline="-25000" noProof="0" dirty="0"/>
                  <a:t>.</a:t>
                </a:r>
                <a:endParaRPr lang="en-US" noProof="0" dirty="0"/>
              </a:p>
              <a:p>
                <a:r>
                  <a:rPr lang="en-US" noProof="0" dirty="0"/>
                  <a:t>Similarly,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noProof="0" dirty="0"/>
                  <a:t> as the standard deviation.</a:t>
                </a:r>
              </a:p>
              <a:p>
                <a:r>
                  <a:rPr lang="en-US" noProof="0" dirty="0"/>
                  <a:t>P(Income = 120|No) = 0.0072</a:t>
                </a:r>
              </a:p>
              <a:p>
                <a:pPr lvl="1"/>
                <a:r>
                  <a:rPr lang="en-US" noProof="0" dirty="0"/>
                  <a:t>mean = 110</a:t>
                </a:r>
              </a:p>
              <a:p>
                <a:pPr lvl="1"/>
                <a:r>
                  <a:rPr lang="en-US" noProof="0" dirty="0"/>
                  <a:t>std dev = 54.54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4438431-D192-8E41-9262-00185FF32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59402" cy="4351338"/>
              </a:xfrm>
              <a:blipFill>
                <a:blip r:embed="rId3"/>
                <a:stretch>
                  <a:fillRect l="-1594" t="-35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E48125B9-8E21-3443-B6B5-98E36FCB5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602" y="1555274"/>
            <a:ext cx="4899062" cy="50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88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5FFCD3-3C05-024A-8538-DD84EDDC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734BBE-1D13-4947-ABDD-EEBCA35A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11490" cy="66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/>
              <a:t>Given X = {Refund = No, Married, Income = 120k}</a:t>
            </a:r>
          </a:p>
          <a:p>
            <a:endParaRPr lang="en-US" sz="2000" noProof="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8CF3B81-D8F8-204E-A5CE-D2C189D131B5}"/>
              </a:ext>
            </a:extLst>
          </p:cNvPr>
          <p:cNvSpPr txBox="1"/>
          <p:nvPr/>
        </p:nvSpPr>
        <p:spPr>
          <a:xfrm>
            <a:off x="248399" y="2458644"/>
            <a:ext cx="51092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</a:t>
            </a:r>
            <a:r>
              <a:rPr lang="it-IT" dirty="0" err="1"/>
              <a:t>Yes|No</a:t>
            </a:r>
            <a:r>
              <a:rPr lang="it-IT" dirty="0"/>
              <a:t>) = 3/7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</a:t>
            </a:r>
            <a:r>
              <a:rPr lang="it-IT" dirty="0" err="1"/>
              <a:t>No|No</a:t>
            </a:r>
            <a:r>
              <a:rPr lang="it-IT" dirty="0"/>
              <a:t>) = 4/7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</a:t>
            </a:r>
            <a:r>
              <a:rPr lang="it-IT" dirty="0" err="1"/>
              <a:t>Yes|Yes</a:t>
            </a:r>
            <a:r>
              <a:rPr lang="it-IT" dirty="0"/>
              <a:t>)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</a:t>
            </a:r>
            <a:r>
              <a:rPr lang="it-IT" dirty="0" err="1"/>
              <a:t>No|Yes</a:t>
            </a:r>
            <a:r>
              <a:rPr lang="it-IT" dirty="0"/>
              <a:t>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Single|No</a:t>
            </a:r>
            <a:r>
              <a:rPr lang="it-IT" dirty="0"/>
              <a:t>) = 2/7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Divorced|No</a:t>
            </a:r>
            <a:r>
              <a:rPr lang="it-IT" dirty="0"/>
              <a:t>)=1/7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Married|No</a:t>
            </a:r>
            <a:r>
              <a:rPr lang="it-IT" dirty="0"/>
              <a:t>) = 4/7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Single|Yes</a:t>
            </a:r>
            <a:r>
              <a:rPr lang="it-IT" dirty="0"/>
              <a:t>) = 2/3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Divorced|Yes</a:t>
            </a:r>
            <a:r>
              <a:rPr lang="it-IT" dirty="0"/>
              <a:t>)=1/3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Marital</a:t>
            </a:r>
            <a:r>
              <a:rPr lang="it-IT" dirty="0"/>
              <a:t> Status=</a:t>
            </a:r>
            <a:r>
              <a:rPr lang="it-IT" dirty="0" err="1"/>
              <a:t>Married|Yes</a:t>
            </a:r>
            <a:r>
              <a:rPr lang="it-IT" dirty="0"/>
              <a:t>) = 0/3</a:t>
            </a:r>
          </a:p>
          <a:p>
            <a:r>
              <a:rPr lang="it-IT" dirty="0"/>
              <a:t>For </a:t>
            </a:r>
            <a:r>
              <a:rPr lang="it-IT" dirty="0" err="1"/>
              <a:t>taxable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class</a:t>
            </a:r>
            <a:r>
              <a:rPr lang="it-IT" dirty="0"/>
              <a:t>=No: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mean</a:t>
            </a:r>
            <a:r>
              <a:rPr lang="it-IT" dirty="0"/>
              <a:t>=110, </a:t>
            </a:r>
            <a:r>
              <a:rPr lang="it-IT" dirty="0" err="1"/>
              <a:t>variance</a:t>
            </a:r>
            <a:r>
              <a:rPr lang="it-IT" dirty="0"/>
              <a:t>=2975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class</a:t>
            </a:r>
            <a:r>
              <a:rPr lang="it-IT" dirty="0"/>
              <a:t>=Yes: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 err="1"/>
              <a:t>mean</a:t>
            </a:r>
            <a:r>
              <a:rPr lang="it-IT" dirty="0"/>
              <a:t>=90, </a:t>
            </a:r>
            <a:r>
              <a:rPr lang="it-IT" dirty="0" err="1"/>
              <a:t>variance</a:t>
            </a:r>
            <a:r>
              <a:rPr lang="it-IT" dirty="0"/>
              <a:t>=25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0A6120-4D8B-0F41-B374-C8EF2E1625C5}"/>
              </a:ext>
            </a:extLst>
          </p:cNvPr>
          <p:cNvSpPr txBox="1"/>
          <p:nvPr/>
        </p:nvSpPr>
        <p:spPr>
          <a:xfrm>
            <a:off x="4245868" y="2458644"/>
            <a:ext cx="4412776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X|Class</a:t>
            </a:r>
            <a:r>
              <a:rPr lang="it-IT" dirty="0"/>
              <a:t>=No) =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</a:t>
            </a:r>
            <a:r>
              <a:rPr lang="it-IT" dirty="0" err="1"/>
              <a:t>No|Class</a:t>
            </a:r>
            <a:r>
              <a:rPr lang="it-IT" dirty="0"/>
              <a:t>=No)</a:t>
            </a:r>
          </a:p>
          <a:p>
            <a:r>
              <a:rPr lang="it-IT" dirty="0"/>
              <a:t>	×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Married</a:t>
            </a:r>
            <a:r>
              <a:rPr lang="it-IT" dirty="0"/>
              <a:t>| Class=No)</a:t>
            </a:r>
          </a:p>
          <a:p>
            <a:r>
              <a:rPr lang="it-IT" dirty="0"/>
              <a:t>	×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Income</a:t>
            </a:r>
            <a:r>
              <a:rPr lang="it-IT" dirty="0"/>
              <a:t>=120K| Class=No)</a:t>
            </a:r>
          </a:p>
          <a:p>
            <a:r>
              <a:rPr lang="it-IT" dirty="0"/>
              <a:t>	         = 4/7 × 4/7 × 0.0072 </a:t>
            </a:r>
          </a:p>
          <a:p>
            <a:r>
              <a:rPr lang="it-IT" dirty="0"/>
              <a:t>	= 0.0024</a:t>
            </a:r>
          </a:p>
          <a:p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X|Class</a:t>
            </a:r>
            <a:r>
              <a:rPr lang="it-IT" dirty="0"/>
              <a:t>=Yes) =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Refund</a:t>
            </a:r>
            <a:r>
              <a:rPr lang="it-IT" dirty="0"/>
              <a:t>=No| Class=Yes)</a:t>
            </a:r>
          </a:p>
          <a:p>
            <a:r>
              <a:rPr lang="it-IT" dirty="0"/>
              <a:t>	×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Married</a:t>
            </a:r>
            <a:r>
              <a:rPr lang="it-IT" dirty="0"/>
              <a:t>| Class=Yes)</a:t>
            </a:r>
          </a:p>
          <a:p>
            <a:r>
              <a:rPr lang="it-IT" dirty="0"/>
              <a:t>	×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Income</a:t>
            </a:r>
            <a:r>
              <a:rPr lang="it-IT" dirty="0"/>
              <a:t>=120K| Class=Yes)</a:t>
            </a:r>
          </a:p>
          <a:p>
            <a:r>
              <a:rPr lang="it-IT" dirty="0"/>
              <a:t>	          = 1 × 0 × 1.2 × 10-9 </a:t>
            </a:r>
          </a:p>
          <a:p>
            <a:r>
              <a:rPr lang="it-IT" dirty="0"/>
              <a:t>	= 0</a:t>
            </a:r>
          </a:p>
          <a:p>
            <a:endParaRPr lang="it-IT" dirty="0"/>
          </a:p>
          <a:p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X|No</a:t>
            </a:r>
            <a:r>
              <a:rPr lang="it-IT" dirty="0"/>
              <a:t>)</a:t>
            </a:r>
            <a:r>
              <a:rPr lang="it-IT" dirty="0" err="1"/>
              <a:t>P</a:t>
            </a:r>
            <a:r>
              <a:rPr lang="it-IT" dirty="0"/>
              <a:t>(No) &gt;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X|Yes</a:t>
            </a:r>
            <a:r>
              <a:rPr lang="it-IT" dirty="0"/>
              <a:t>)</a:t>
            </a:r>
            <a:r>
              <a:rPr lang="it-IT" dirty="0" err="1"/>
              <a:t>P</a:t>
            </a:r>
            <a:r>
              <a:rPr lang="it-IT" dirty="0"/>
              <a:t>(Yes)</a:t>
            </a:r>
          </a:p>
          <a:p>
            <a:endParaRPr lang="it-IT" dirty="0"/>
          </a:p>
          <a:p>
            <a:r>
              <a:rPr lang="it-IT" dirty="0" err="1"/>
              <a:t>Therefore</a:t>
            </a:r>
            <a:r>
              <a:rPr lang="it-IT" dirty="0"/>
              <a:t>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No|X</a:t>
            </a:r>
            <a:r>
              <a:rPr lang="it-IT" dirty="0"/>
              <a:t>) &gt; </a:t>
            </a:r>
            <a:r>
              <a:rPr lang="it-IT" dirty="0" err="1"/>
              <a:t>P</a:t>
            </a:r>
            <a:r>
              <a:rPr lang="it-IT" dirty="0"/>
              <a:t>(</a:t>
            </a:r>
            <a:r>
              <a:rPr lang="it-IT" dirty="0" err="1"/>
              <a:t>Yes|X</a:t>
            </a:r>
            <a:r>
              <a:rPr lang="it-IT" dirty="0"/>
              <a:t>)</a:t>
            </a:r>
          </a:p>
          <a:p>
            <a:r>
              <a:rPr lang="it-IT" dirty="0"/>
              <a:t>	=&gt; Class = No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53141DE-4E6E-E245-83CF-C85BEFC8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487" y="0"/>
            <a:ext cx="3880513" cy="39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12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7E19BD-61A7-EE41-BC7C-CF7AA123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M-estimate of 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9427352-98F1-D046-8EA3-0241A30F68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205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noProof="0" dirty="0"/>
                  <a:t>If one of the conditional probability is zero, then the entire expression becomes zero.</a:t>
                </a:r>
              </a:p>
              <a:p>
                <a:r>
                  <a:rPr lang="en-US" noProof="0" dirty="0"/>
                  <a:t>For example, given X = {Refund = Yes, Divorced, Income = 120k}, if P(</a:t>
                </a:r>
                <a:r>
                  <a:rPr lang="en-US" noProof="0" dirty="0" err="1"/>
                  <a:t>Divorced|No</a:t>
                </a:r>
                <a:r>
                  <a:rPr lang="en-US" noProof="0" dirty="0"/>
                  <a:t>) is zero instead of 1/7, then</a:t>
                </a:r>
              </a:p>
              <a:p>
                <a:pPr lvl="1"/>
                <a:r>
                  <a:rPr lang="en-US" noProof="0" dirty="0"/>
                  <a:t>P(</a:t>
                </a:r>
                <a:r>
                  <a:rPr lang="en-US" noProof="0" dirty="0" err="1"/>
                  <a:t>X|No</a:t>
                </a:r>
                <a:r>
                  <a:rPr lang="en-US" noProof="0" dirty="0"/>
                  <a:t>) = 3/7 x 0 x 0.00072 = 0</a:t>
                </a:r>
              </a:p>
              <a:p>
                <a:pPr lvl="1"/>
                <a:r>
                  <a:rPr lang="en-US" noProof="0" dirty="0"/>
                  <a:t>P(</a:t>
                </a:r>
                <a:r>
                  <a:rPr lang="en-US" noProof="0" dirty="0" err="1"/>
                  <a:t>X|Yes</a:t>
                </a:r>
                <a:r>
                  <a:rPr lang="en-US" noProof="0" dirty="0"/>
                  <a:t>) = 0 x 1/3 x 10</a:t>
                </a:r>
                <a:r>
                  <a:rPr lang="en-US" baseline="30000" noProof="0" dirty="0"/>
                  <a:t>-9</a:t>
                </a:r>
                <a:r>
                  <a:rPr lang="en-US" noProof="0" dirty="0"/>
                  <a:t> = 0</a:t>
                </a:r>
              </a:p>
              <a:p>
                <a:r>
                  <a:rPr lang="en-US" noProof="0" dirty="0"/>
                  <a:t>M-estimate P(X|Y)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𝑚𝑝</m:t>
                        </m:r>
                      </m:num>
                      <m:den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noProof="0" dirty="0"/>
                  <a:t>   (if P(X|Y)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noProof="0" dirty="0"/>
                  <a:t> is Laplacian estimation)</a:t>
                </a:r>
              </a:p>
              <a:p>
                <a:r>
                  <a:rPr lang="en-US" i="1" noProof="0" dirty="0"/>
                  <a:t>m</a:t>
                </a:r>
                <a:r>
                  <a:rPr lang="en-US" noProof="0" dirty="0"/>
                  <a:t> is a parameter, </a:t>
                </a:r>
                <a:r>
                  <a:rPr lang="en-US" i="1" noProof="0" dirty="0"/>
                  <a:t>p</a:t>
                </a:r>
                <a:r>
                  <a:rPr lang="en-US" noProof="0" dirty="0"/>
                  <a:t> is a user-specified parameter (e.g. probability of observing x</a:t>
                </a:r>
                <a:r>
                  <a:rPr lang="en-US" baseline="-25000" noProof="0" dirty="0"/>
                  <a:t>i</a:t>
                </a:r>
                <a:r>
                  <a:rPr lang="en-US" noProof="0" dirty="0"/>
                  <a:t> among records with class </a:t>
                </a:r>
                <a:r>
                  <a:rPr lang="en-US" noProof="0" dirty="0" err="1"/>
                  <a:t>y</a:t>
                </a:r>
                <a:r>
                  <a:rPr lang="en-US" baseline="-25000" noProof="0" dirty="0" err="1"/>
                  <a:t>j</a:t>
                </a:r>
                <a:r>
                  <a:rPr lang="en-US" noProof="0" dirty="0"/>
                  <a:t>.</a:t>
                </a:r>
              </a:p>
              <a:p>
                <a:r>
                  <a:rPr lang="en-US" noProof="0" dirty="0"/>
                  <a:t>In the example with </a:t>
                </a:r>
                <a:r>
                  <a:rPr lang="en-US" i="1" noProof="0" dirty="0"/>
                  <a:t>m = 3 </a:t>
                </a:r>
                <a:r>
                  <a:rPr lang="en-US" noProof="0" dirty="0"/>
                  <a:t>and </a:t>
                </a:r>
                <a:r>
                  <a:rPr lang="en-US" i="1" noProof="0" dirty="0"/>
                  <a:t>p = 1/m = 1/3 </a:t>
                </a:r>
                <a:r>
                  <a:rPr lang="en-US" sz="2200" noProof="0" dirty="0"/>
                  <a:t>(i.e., Laplacian estimation) </a:t>
                </a:r>
                <a:r>
                  <a:rPr lang="en-US" noProof="0" dirty="0"/>
                  <a:t>we have</a:t>
                </a:r>
              </a:p>
              <a:p>
                <a:r>
                  <a:rPr lang="en-US" noProof="0" dirty="0"/>
                  <a:t>P</a:t>
                </a:r>
                <a:r>
                  <a:rPr lang="en-US" dirty="0"/>
                  <a:t>(Divorced |</a:t>
                </a:r>
                <a:r>
                  <a:rPr lang="en-US" noProof="0" dirty="0" err="1"/>
                  <a:t>Yes</a:t>
                </a:r>
                <a:r>
                  <a:rPr lang="en-US" noProof="0" dirty="0"/>
                  <a:t>) = (0+3x1/3)/(3+3)  = 1/6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9427352-98F1-D046-8EA3-0241A30F6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20502"/>
              </a:xfrm>
              <a:blipFill>
                <a:blip r:embed="rId3"/>
                <a:stretch>
                  <a:fillRect l="-965" t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8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30C542-8923-F146-9682-B25B212D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Naïve Bayes Classifier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027AE1-8BD6-4845-8475-DB809E85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2374" cy="4351338"/>
          </a:xfrm>
        </p:spPr>
        <p:txBody>
          <a:bodyPr/>
          <a:lstStyle/>
          <a:p>
            <a:r>
              <a:rPr lang="en-US" noProof="0" dirty="0"/>
              <a:t>Robust to isolated noise points</a:t>
            </a:r>
          </a:p>
          <a:p>
            <a:r>
              <a:rPr lang="en-US" noProof="0" dirty="0"/>
              <a:t>Handle missing values by ignoring the instance during probability estimate calculations</a:t>
            </a:r>
          </a:p>
          <a:p>
            <a:r>
              <a:rPr lang="en-US" noProof="0" dirty="0"/>
              <a:t>Robust to irrelevant attributes</a:t>
            </a:r>
          </a:p>
          <a:p>
            <a:r>
              <a:rPr lang="en-US" noProof="0" dirty="0"/>
              <a:t>Independence assumption may not hold for some attributes</a:t>
            </a:r>
          </a:p>
          <a:p>
            <a:pPr lvl="1"/>
            <a:r>
              <a:rPr lang="en-US" noProof="0" dirty="0"/>
              <a:t>Use other techniques such as Bayesian Belief Networks (BBN, not treated in this course)</a:t>
            </a:r>
          </a:p>
        </p:txBody>
      </p:sp>
    </p:spTree>
    <p:extLst>
      <p:ext uri="{BB962C8B-B14F-4D97-AF65-F5344CB8AC3E}">
        <p14:creationId xmlns:p14="http://schemas.microsoft.com/office/powerpoint/2010/main" val="417405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Bayesian Classifiers. Chapter 5.3. 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0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DB3F4-586F-C84A-B8B4-A745B6E2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- NBC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9733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C6F1063-3C66-8344-9861-E408498C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98" y="0"/>
            <a:ext cx="9152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06B111A-F566-394C-AA19-D652EE8F0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04" y="0"/>
            <a:ext cx="9127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66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104F6F5-B15D-EF4F-B4C5-42DAF6D9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12700"/>
            <a:ext cx="9194800" cy="68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2296AC8-BC71-5341-9063-F621E5FC2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0"/>
            <a:ext cx="9182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247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F458F2-BCA1-4C4F-A351-14C71608FDA3}"/>
</file>

<file path=customXml/itemProps2.xml><?xml version="1.0" encoding="utf-8"?>
<ds:datastoreItem xmlns:ds="http://schemas.openxmlformats.org/officeDocument/2006/customXml" ds:itemID="{ED24EC17-D606-4A93-810B-AB28B361FFD4}"/>
</file>

<file path=customXml/itemProps3.xml><?xml version="1.0" encoding="utf-8"?>
<ds:datastoreItem xmlns:ds="http://schemas.openxmlformats.org/officeDocument/2006/customXml" ds:itemID="{BFEECF4B-C7D6-4EAC-AC2B-95A28779224F}"/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46116</TotalTime>
  <Words>1623</Words>
  <Application>Microsoft Macintosh PowerPoint</Application>
  <PresentationFormat>Widescreen</PresentationFormat>
  <Paragraphs>149</Paragraphs>
  <Slides>20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Tema di Office</vt:lpstr>
      <vt:lpstr>DATA MINING 1 Probabilistic classification Naïve Bayes Classifiers</vt:lpstr>
      <vt:lpstr>Probability Notions and Bayes Theorem</vt:lpstr>
      <vt:lpstr>Bayes Theorem: Example</vt:lpstr>
      <vt:lpstr>Bayes Theorem: Example</vt:lpstr>
      <vt:lpstr>Bayes Theorem for Classification</vt:lpstr>
      <vt:lpstr>Bayes Theorem for Classification</vt:lpstr>
      <vt:lpstr>Naïve Bayes Classifier</vt:lpstr>
      <vt:lpstr>Conditional Independence</vt:lpstr>
      <vt:lpstr>How to Estimate Probability From Data</vt:lpstr>
      <vt:lpstr>How to Estimate Probability From Data</vt:lpstr>
      <vt:lpstr>How to Estimate Probability From Data</vt:lpstr>
      <vt:lpstr>Example</vt:lpstr>
      <vt:lpstr>M-estimate of Conditional Probability</vt:lpstr>
      <vt:lpstr>Naïve Bayes Classifier</vt:lpstr>
      <vt:lpstr>References</vt:lpstr>
      <vt:lpstr>Exercises - NBC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Roberto Pellungrini</cp:lastModifiedBy>
  <cp:revision>472</cp:revision>
  <cp:lastPrinted>2019-01-27T07:43:21Z</cp:lastPrinted>
  <dcterms:created xsi:type="dcterms:W3CDTF">2018-12-18T18:14:00Z</dcterms:created>
  <dcterms:modified xsi:type="dcterms:W3CDTF">2026-04-21T07:19:52Z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